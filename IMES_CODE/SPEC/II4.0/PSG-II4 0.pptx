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60" r:id="rId3"/>
    <p:sldId id="261" r:id="rId4"/>
    <p:sldId id="263" r:id="rId5"/>
    <p:sldId id="257" r:id="rId6"/>
    <p:sldId id="270" r:id="rId7"/>
    <p:sldId id="265" r:id="rId8"/>
    <p:sldId id="273" r:id="rId9"/>
    <p:sldId id="289" r:id="rId10"/>
    <p:sldId id="266" r:id="rId11"/>
    <p:sldId id="274" r:id="rId12"/>
    <p:sldId id="275" r:id="rId13"/>
    <p:sldId id="290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9B15"/>
    <a:srgbClr val="488927"/>
    <a:srgbClr val="4A7EBB"/>
    <a:srgbClr val="00B0B4"/>
    <a:srgbClr val="3333CC"/>
    <a:srgbClr val="C0504D"/>
    <a:srgbClr val="CC3300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5088" autoAdjust="0"/>
  </p:normalViewPr>
  <p:slideViewPr>
    <p:cSldViewPr>
      <p:cViewPr>
        <p:scale>
          <a:sx n="64" d="100"/>
          <a:sy n="64" d="100"/>
        </p:scale>
        <p:origin x="69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681998-8A52-4682-8129-D3707E7BF2F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AA7C5D5A-2263-4A5F-9FE6-51068305937A}">
      <dgm:prSet phldrT="[文字]" custT="1"/>
      <dgm:spPr/>
      <dgm:t>
        <a:bodyPr/>
        <a:lstStyle/>
        <a:p>
          <a:pPr>
            <a:lnSpc>
              <a:spcPct val="100000"/>
            </a:lnSpc>
            <a:spcAft>
              <a:spcPct val="35000"/>
            </a:spcAft>
          </a:pPr>
          <a: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</a:t>
          </a:r>
          <a:b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2016/01-2016/06</a:t>
          </a:r>
          <a:endParaRPr lang="zh-TW" altLang="en-US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2502806-857A-495A-80FC-444EB7E767A7}" type="parTrans" cxnId="{4ED744B7-C69B-4912-9C19-7597F3D5E5DB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C431B58-F5AE-4C52-A907-A9BBFBD8CCE4}" type="sibTrans" cxnId="{4ED744B7-C69B-4912-9C19-7597F3D5E5DB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389E13D-EAA7-49A9-8AAF-5991D9C0EB58}">
      <dgm:prSet phldrT="[文字]" custT="1"/>
      <dgm:spPr/>
      <dgm:t>
        <a:bodyPr/>
        <a:lstStyle/>
        <a:p>
          <a: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III</a:t>
          </a:r>
          <a:b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2016/07-2016/12</a:t>
          </a:r>
          <a:endParaRPr lang="zh-TW" altLang="en-US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6A4A67B-8452-47D8-9C51-7E064AEF5904}" type="parTrans" cxnId="{AAB05592-223D-4124-8164-38272CEF32D4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9135A3D-F913-49EE-8D01-E1707F48E1BC}" type="sibTrans" cxnId="{AAB05592-223D-4124-8164-38272CEF32D4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A352A9E-2F3E-4E29-892F-4AEE0F795817}">
      <dgm:prSet phldrT="[文字]" custT="1"/>
      <dgm:spPr/>
      <dgm:t>
        <a:bodyPr/>
        <a:lstStyle/>
        <a:p>
          <a:pPr>
            <a:spcAft>
              <a:spcPts val="0"/>
            </a:spcAft>
          </a:pPr>
          <a:r>
            <a:rPr lang="en-US" alt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</a:t>
          </a:r>
        </a:p>
        <a:p>
          <a:pPr>
            <a:spcAft>
              <a:spcPct val="35000"/>
            </a:spcAft>
          </a:pPr>
          <a:r>
            <a:rPr lang="en-US" altLang="zh-TW" sz="16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2015/07-2015/12</a:t>
          </a:r>
          <a:endParaRPr lang="zh-TW" altLang="en-US" sz="16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C3E3903-9121-491C-8475-44DDA2FBDCEF}" type="parTrans" cxnId="{748C1A6B-ECFE-4549-9E23-40117EC7F56E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536C5F8-BC14-4595-B907-8DE86C8BC39E}" type="sibTrans" cxnId="{748C1A6B-ECFE-4549-9E23-40117EC7F56E}">
      <dgm:prSet/>
      <dgm:spPr/>
      <dgm:t>
        <a:bodyPr/>
        <a:lstStyle/>
        <a:p>
          <a:endParaRPr lang="zh-TW" altLang="en-US" sz="11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8237AA9-2CD5-4C02-BB56-83F85717BB31}" type="pres">
      <dgm:prSet presAssocID="{55681998-8A52-4682-8129-D3707E7BF2F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FA6EC96-6732-4525-822E-1A1039B48D7A}" type="pres">
      <dgm:prSet presAssocID="{0A352A9E-2F3E-4E29-892F-4AEE0F795817}" presName="parTxOnly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91FA392E-3A4F-4140-8E9F-F2224DB20F32}" type="pres">
      <dgm:prSet presAssocID="{1536C5F8-BC14-4595-B907-8DE86C8BC39E}" presName="parSpace" presStyleCnt="0"/>
      <dgm:spPr/>
    </dgm:pt>
    <dgm:pt modelId="{2C1FE7E2-AD88-4486-9D5E-00391ABF481A}" type="pres">
      <dgm:prSet presAssocID="{AA7C5D5A-2263-4A5F-9FE6-51068305937A}" presName="parTxOnly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3E7956B-05CA-4376-A7E9-923BCD2B56BE}" type="pres">
      <dgm:prSet presAssocID="{0C431B58-F5AE-4C52-A907-A9BBFBD8CCE4}" presName="parSpace" presStyleCnt="0"/>
      <dgm:spPr/>
    </dgm:pt>
    <dgm:pt modelId="{DB39D739-2426-4DCF-A177-9B84245A14DC}" type="pres">
      <dgm:prSet presAssocID="{8389E13D-EAA7-49A9-8AAF-5991D9C0EB58}" presName="parTxOnly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AAB05592-223D-4124-8164-38272CEF32D4}" srcId="{55681998-8A52-4682-8129-D3707E7BF2FE}" destId="{8389E13D-EAA7-49A9-8AAF-5991D9C0EB58}" srcOrd="2" destOrd="0" parTransId="{C6A4A67B-8452-47D8-9C51-7E064AEF5904}" sibTransId="{89135A3D-F913-49EE-8D01-E1707F48E1BC}"/>
    <dgm:cxn modelId="{074A73A1-94A3-4DFB-BA9D-8EB7BBF5A197}" type="presOf" srcId="{AA7C5D5A-2263-4A5F-9FE6-51068305937A}" destId="{2C1FE7E2-AD88-4486-9D5E-00391ABF481A}" srcOrd="0" destOrd="0" presId="urn:microsoft.com/office/officeart/2005/8/layout/hChevron3"/>
    <dgm:cxn modelId="{108D57E8-2DB2-42FB-9727-78D234A7B7B0}" type="presOf" srcId="{8389E13D-EAA7-49A9-8AAF-5991D9C0EB58}" destId="{DB39D739-2426-4DCF-A177-9B84245A14DC}" srcOrd="0" destOrd="0" presId="urn:microsoft.com/office/officeart/2005/8/layout/hChevron3"/>
    <dgm:cxn modelId="{C29DD1BF-101C-48A0-AD8B-CFF0DBCFA13E}" type="presOf" srcId="{55681998-8A52-4682-8129-D3707E7BF2FE}" destId="{88237AA9-2CD5-4C02-BB56-83F85717BB31}" srcOrd="0" destOrd="0" presId="urn:microsoft.com/office/officeart/2005/8/layout/hChevron3"/>
    <dgm:cxn modelId="{4ED744B7-C69B-4912-9C19-7597F3D5E5DB}" srcId="{55681998-8A52-4682-8129-D3707E7BF2FE}" destId="{AA7C5D5A-2263-4A5F-9FE6-51068305937A}" srcOrd="1" destOrd="0" parTransId="{92502806-857A-495A-80FC-444EB7E767A7}" sibTransId="{0C431B58-F5AE-4C52-A907-A9BBFBD8CCE4}"/>
    <dgm:cxn modelId="{397AB960-6A90-4DA5-B56B-2D18E751ED43}" type="presOf" srcId="{0A352A9E-2F3E-4E29-892F-4AEE0F795817}" destId="{CFA6EC96-6732-4525-822E-1A1039B48D7A}" srcOrd="0" destOrd="0" presId="urn:microsoft.com/office/officeart/2005/8/layout/hChevron3"/>
    <dgm:cxn modelId="{748C1A6B-ECFE-4549-9E23-40117EC7F56E}" srcId="{55681998-8A52-4682-8129-D3707E7BF2FE}" destId="{0A352A9E-2F3E-4E29-892F-4AEE0F795817}" srcOrd="0" destOrd="0" parTransId="{BC3E3903-9121-491C-8475-44DDA2FBDCEF}" sibTransId="{1536C5F8-BC14-4595-B907-8DE86C8BC39E}"/>
    <dgm:cxn modelId="{38B75D1D-15AE-461F-8055-B281E2CAE0B6}" type="presParOf" srcId="{88237AA9-2CD5-4C02-BB56-83F85717BB31}" destId="{CFA6EC96-6732-4525-822E-1A1039B48D7A}" srcOrd="0" destOrd="0" presId="urn:microsoft.com/office/officeart/2005/8/layout/hChevron3"/>
    <dgm:cxn modelId="{EBD4D402-81A6-43F3-A29D-1E7E15383FD7}" type="presParOf" srcId="{88237AA9-2CD5-4C02-BB56-83F85717BB31}" destId="{91FA392E-3A4F-4140-8E9F-F2224DB20F32}" srcOrd="1" destOrd="0" presId="urn:microsoft.com/office/officeart/2005/8/layout/hChevron3"/>
    <dgm:cxn modelId="{5A8F56FD-6655-4B77-975F-B973A3BEAFDC}" type="presParOf" srcId="{88237AA9-2CD5-4C02-BB56-83F85717BB31}" destId="{2C1FE7E2-AD88-4486-9D5E-00391ABF481A}" srcOrd="2" destOrd="0" presId="urn:microsoft.com/office/officeart/2005/8/layout/hChevron3"/>
    <dgm:cxn modelId="{2E19AD05-7BDC-4AAE-AEBE-7BD05BD9ACE9}" type="presParOf" srcId="{88237AA9-2CD5-4C02-BB56-83F85717BB31}" destId="{03E7956B-05CA-4376-A7E9-923BCD2B56BE}" srcOrd="3" destOrd="0" presId="urn:microsoft.com/office/officeart/2005/8/layout/hChevron3"/>
    <dgm:cxn modelId="{0E66BDBC-74C7-4C1B-85DD-B0513E40914B}" type="presParOf" srcId="{88237AA9-2CD5-4C02-BB56-83F85717BB31}" destId="{DB39D739-2426-4DCF-A177-9B84245A14DC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6EC96-6732-4525-822E-1A1039B48D7A}">
      <dsp:nvSpPr>
        <dsp:cNvPr id="0" name=""/>
        <dsp:cNvSpPr/>
      </dsp:nvSpPr>
      <dsp:spPr>
        <a:xfrm>
          <a:off x="3616" y="0"/>
          <a:ext cx="3162448" cy="89696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2015/07-2015/12</a:t>
          </a:r>
          <a:endParaRPr lang="zh-TW" altLang="en-US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616" y="0"/>
        <a:ext cx="2938207" cy="896963"/>
      </dsp:txXfrm>
    </dsp:sp>
    <dsp:sp modelId="{2C1FE7E2-AD88-4486-9D5E-00391ABF481A}">
      <dsp:nvSpPr>
        <dsp:cNvPr id="0" name=""/>
        <dsp:cNvSpPr/>
      </dsp:nvSpPr>
      <dsp:spPr>
        <a:xfrm>
          <a:off x="2533575" y="0"/>
          <a:ext cx="3162448" cy="8969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lvl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</a:t>
          </a:r>
          <a:b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2016/01-2016/06</a:t>
          </a:r>
          <a:endParaRPr lang="zh-TW" altLang="en-US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982057" y="0"/>
        <a:ext cx="2265485" cy="896963"/>
      </dsp:txXfrm>
    </dsp:sp>
    <dsp:sp modelId="{DB39D739-2426-4DCF-A177-9B84245A14DC}">
      <dsp:nvSpPr>
        <dsp:cNvPr id="0" name=""/>
        <dsp:cNvSpPr/>
      </dsp:nvSpPr>
      <dsp:spPr>
        <a:xfrm>
          <a:off x="5063534" y="0"/>
          <a:ext cx="3162448" cy="89696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Phase III</a:t>
          </a:r>
          <a:b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en-US" altLang="zh-TW" sz="16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2016/07-2016/12</a:t>
          </a:r>
          <a:endParaRPr lang="zh-TW" altLang="en-US" sz="16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512016" y="0"/>
        <a:ext cx="2265485" cy="8969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7CC3A-BB91-425C-9A7D-73F178023BD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2BAFA-8D2E-417A-9D3D-8D79F2EF1D6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22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2BAFA-8D2E-417A-9D3D-8D79F2EF1D6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839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2BAFA-8D2E-417A-9D3D-8D79F2EF1D6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93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Steve</a:t>
            </a:r>
          </a:p>
          <a:p>
            <a:r>
              <a:rPr lang="en-US" altLang="zh-TW" dirty="0" smtClean="0"/>
              <a:t>	SAP/SMT</a:t>
            </a:r>
            <a:r>
              <a:rPr lang="zh-TW" altLang="en-US" dirty="0" smtClean="0"/>
              <a:t>工單整合</a:t>
            </a:r>
          </a:p>
          <a:p>
            <a:r>
              <a:rPr lang="zh-TW" altLang="en-US" dirty="0" smtClean="0"/>
              <a:t>	成製工單整合</a:t>
            </a:r>
          </a:p>
          <a:p>
            <a:r>
              <a:rPr lang="zh-TW" altLang="en-US" dirty="0" smtClean="0"/>
              <a:t>		長短線</a:t>
            </a:r>
          </a:p>
          <a:p>
            <a:r>
              <a:rPr lang="zh-TW" altLang="en-US" dirty="0" smtClean="0"/>
              <a:t>		發料的點</a:t>
            </a:r>
          </a:p>
          <a:p>
            <a:r>
              <a:rPr lang="zh-TW" altLang="en-US" dirty="0" smtClean="0"/>
              <a:t>		成製</a:t>
            </a:r>
            <a:r>
              <a:rPr lang="en-US" altLang="zh-TW" dirty="0" smtClean="0"/>
              <a:t>BOM</a:t>
            </a:r>
            <a:r>
              <a:rPr lang="zh-TW" altLang="en-US" dirty="0" smtClean="0"/>
              <a:t>半自動</a:t>
            </a:r>
            <a:r>
              <a:rPr lang="en-US" altLang="zh-TW" dirty="0" smtClean="0"/>
              <a:t>, </a:t>
            </a:r>
            <a:r>
              <a:rPr lang="zh-TW" altLang="en-US" dirty="0" smtClean="0"/>
              <a:t>半手動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1310 Internal Forecast</a:t>
            </a:r>
          </a:p>
          <a:p>
            <a:r>
              <a:rPr lang="en-US" altLang="zh-TW" dirty="0" smtClean="0"/>
              <a:t>		User</a:t>
            </a:r>
          </a:p>
          <a:p>
            <a:r>
              <a:rPr lang="en-US" altLang="zh-TW" dirty="0" smtClean="0"/>
              <a:t>		Machine Learning</a:t>
            </a:r>
          </a:p>
          <a:p>
            <a:r>
              <a:rPr lang="en-US" altLang="zh-TW" dirty="0" smtClean="0"/>
              <a:t>	Auto Confirmation/EDI/PGI</a:t>
            </a:r>
          </a:p>
          <a:p>
            <a:r>
              <a:rPr lang="en-US" altLang="zh-TW" dirty="0" smtClean="0"/>
              <a:t>	B2B</a:t>
            </a:r>
            <a:r>
              <a:rPr lang="zh-TW" altLang="en-US" dirty="0" smtClean="0"/>
              <a:t>貨物追蹤</a:t>
            </a:r>
            <a:r>
              <a:rPr lang="en-US" altLang="zh-TW" dirty="0" smtClean="0"/>
              <a:t>, </a:t>
            </a:r>
            <a:r>
              <a:rPr lang="zh-TW" altLang="en-US" dirty="0" smtClean="0"/>
              <a:t>海關</a:t>
            </a:r>
            <a:r>
              <a:rPr lang="en-US" altLang="zh-TW" dirty="0" smtClean="0"/>
              <a:t>/</a:t>
            </a:r>
            <a:r>
              <a:rPr lang="zh-TW" altLang="en-US" dirty="0" smtClean="0"/>
              <a:t>卡口</a:t>
            </a:r>
            <a:r>
              <a:rPr lang="en-US" altLang="zh-TW" dirty="0" smtClean="0"/>
              <a:t>/</a:t>
            </a:r>
            <a:r>
              <a:rPr lang="zh-TW" altLang="en-US" dirty="0" smtClean="0"/>
              <a:t>廠區</a:t>
            </a:r>
          </a:p>
          <a:p>
            <a:r>
              <a:rPr lang="zh-TW" altLang="en-US" dirty="0" smtClean="0"/>
              <a:t>	客戶</a:t>
            </a:r>
            <a:r>
              <a:rPr lang="en-US" altLang="zh-TW" dirty="0" smtClean="0"/>
              <a:t>BOM-&gt;</a:t>
            </a:r>
            <a:r>
              <a:rPr lang="zh-TW" altLang="en-US" dirty="0" smtClean="0"/>
              <a:t>英業達</a:t>
            </a:r>
            <a:r>
              <a:rPr lang="en-US" altLang="zh-TW" dirty="0" smtClean="0"/>
              <a:t>BOM</a:t>
            </a:r>
          </a:p>
          <a:p>
            <a:r>
              <a:rPr lang="en-US" altLang="zh-TW" dirty="0" smtClean="0"/>
              <a:t>	</a:t>
            </a:r>
            <a:r>
              <a:rPr lang="zh-TW" altLang="en-US" dirty="0" smtClean="0"/>
              <a:t>發料</a:t>
            </a:r>
          </a:p>
          <a:p>
            <a:r>
              <a:rPr lang="zh-TW" altLang="en-US" dirty="0" smtClean="0"/>
              <a:t>產線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SMT</a:t>
            </a:r>
            <a:r>
              <a:rPr lang="zh-TW" altLang="en-US" dirty="0" smtClean="0"/>
              <a:t>檢測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SMT Test</a:t>
            </a:r>
          </a:p>
          <a:p>
            <a:r>
              <a:rPr lang="en-US" altLang="zh-TW" dirty="0" smtClean="0"/>
              <a:t>	</a:t>
            </a:r>
            <a:r>
              <a:rPr lang="zh-TW" altLang="en-US" dirty="0" smtClean="0"/>
              <a:t>自動倉儲</a:t>
            </a:r>
          </a:p>
          <a:p>
            <a:r>
              <a:rPr lang="zh-TW" altLang="en-US" dirty="0" smtClean="0"/>
              <a:t>	</a:t>
            </a:r>
            <a:r>
              <a:rPr lang="en-US" altLang="zh-TW" dirty="0" smtClean="0"/>
              <a:t>RFID</a:t>
            </a:r>
          </a:p>
          <a:p>
            <a:r>
              <a:rPr lang="en-US" altLang="zh-TW" dirty="0" smtClean="0"/>
              <a:t>	Sam </a:t>
            </a:r>
            <a:r>
              <a:rPr lang="en-US" altLang="zh-TW" dirty="0" err="1" smtClean="0"/>
              <a:t>Mento</a:t>
            </a:r>
            <a:r>
              <a:rPr lang="en-US" altLang="zh-TW" dirty="0" smtClean="0"/>
              <a:t> Graphic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C049EC-7034-489D-95F6-AD145483AD09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337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164"/>
              <a:t>标题文本</a:t>
            </a:r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9"/>
              <a:t>正文级别 1</a:t>
            </a:r>
          </a:p>
          <a:p>
            <a:pPr lvl="1">
              <a:defRPr sz="1800"/>
            </a:pPr>
            <a:r>
              <a:rPr sz="2309"/>
              <a:t>正文级别 2</a:t>
            </a:r>
          </a:p>
          <a:p>
            <a:pPr lvl="2">
              <a:defRPr sz="1800"/>
            </a:pPr>
            <a:r>
              <a:rPr sz="2309"/>
              <a:t>正文级别 3</a:t>
            </a:r>
          </a:p>
          <a:p>
            <a:pPr lvl="3">
              <a:defRPr sz="1800"/>
            </a:pPr>
            <a:r>
              <a:rPr sz="2309"/>
              <a:t>正文级别 4</a:t>
            </a:r>
          </a:p>
          <a:p>
            <a:pPr lvl="4">
              <a:defRPr sz="1800"/>
            </a:pPr>
            <a:r>
              <a:rPr sz="2309"/>
              <a:t>正文级别 5</a:t>
            </a:r>
          </a:p>
        </p:txBody>
      </p:sp>
    </p:spTree>
    <p:extLst>
      <p:ext uri="{BB962C8B-B14F-4D97-AF65-F5344CB8AC3E}">
        <p14:creationId xmlns:p14="http://schemas.microsoft.com/office/powerpoint/2010/main" val="340013628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83923" tIns="41962" rIns="83923" bIns="41962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0" lang="zh-TW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+mj-lt"/>
                <a:ea typeface="Arial Unicode MS" pitchFamily="34" charset="-120"/>
                <a:cs typeface="Arial Unicode MS" pitchFamily="34" charset="-120"/>
              </a:defRPr>
            </a:lvl1pPr>
          </a:lstStyle>
          <a:p>
            <a:r>
              <a:rPr lang="en-US" altLang="zh-TW" dirty="0" smtClean="0">
                <a:solidFill>
                  <a:srgbClr val="1C1C1C"/>
                </a:solidFill>
                <a:ea typeface="Arial Unicode MS" pitchFamily="34" charset="-120"/>
                <a:cs typeface="Arial Unicode MS" pitchFamily="34" charset="-120"/>
              </a:rPr>
              <a:t>Table of Contents(@34</a:t>
            </a:r>
            <a:r>
              <a:rPr lang="zh-TW" altLang="zh-TW" dirty="0" smtClean="0">
                <a:solidFill>
                  <a:srgbClr val="1C1C1C"/>
                </a:solidFill>
                <a:ea typeface="Arial Unicode MS" pitchFamily="34" charset="-120"/>
                <a:cs typeface="Arial Unicode MS" pitchFamily="34" charset="-120"/>
              </a:rPr>
              <a:t>pt)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1pPr>
            <a:lvl2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2pPr>
            <a:lvl3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3pPr>
            <a:lvl4pPr algn="l" rtl="0" eaLnBrk="1" fontAlgn="base" hangingPunct="1">
              <a:defRPr lang="zh-TW" altLang="en-US" sz="3200" kern="1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4pPr>
            <a:lvl5pPr algn="l" rtl="0" eaLnBrk="1" fontAlgn="base" hangingPunct="1">
              <a:defRPr lang="zh-TW" altLang="en-US" sz="3200" kern="1200" dirty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defRPr>
            </a:lvl5pPr>
          </a:lstStyle>
          <a:p>
            <a:pPr>
              <a:lnSpc>
                <a:spcPct val="150000"/>
              </a:lnSpc>
            </a:pPr>
            <a:r>
              <a:rPr lang="en-US" altLang="zh-TW" sz="3200" dirty="0" smtClean="0">
                <a:solidFill>
                  <a:srgbClr val="1C1C1C"/>
                </a:solidFill>
                <a:latin typeface="+mn-lt"/>
                <a:ea typeface="Arial Unicode MS" pitchFamily="34" charset="-120"/>
                <a:cs typeface="Arial Unicode MS" pitchFamily="34" charset="-120"/>
              </a:rPr>
              <a:t>First Chapter Headline(@32pt)</a:t>
            </a:r>
            <a:endParaRPr lang="zh-CN" altLang="en-US" sz="3200" dirty="0" smtClean="0">
              <a:latin typeface="+mn-lt"/>
              <a:ea typeface="Arial Unicode MS" pitchFamily="34" charset="-120"/>
              <a:cs typeface="Arial Unicode M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3200" dirty="0" smtClean="0">
                <a:solidFill>
                  <a:srgbClr val="969696"/>
                </a:solidFill>
                <a:latin typeface="+mn-lt"/>
                <a:ea typeface="Arial Unicode MS" pitchFamily="34" charset="-120"/>
                <a:cs typeface="Arial Unicode MS" pitchFamily="34" charset="-120"/>
              </a:rPr>
              <a:t>Second Chapter Headline(@32pt)</a:t>
            </a:r>
          </a:p>
        </p:txBody>
      </p:sp>
      <p:sp>
        <p:nvSpPr>
          <p:cNvPr id="8" name="頁尾版面配置區 6"/>
          <p:cNvSpPr>
            <a:spLocks noGrp="1"/>
          </p:cNvSpPr>
          <p:nvPr userDrawn="1">
            <p:ph type="ftr" sz="quarter" idx="11"/>
          </p:nvPr>
        </p:nvSpPr>
        <p:spPr>
          <a:xfrm>
            <a:off x="1" y="6356939"/>
            <a:ext cx="1551006" cy="36428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Inventec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732240" y="6356939"/>
            <a:ext cx="2311792" cy="364281"/>
          </a:xfrm>
        </p:spPr>
        <p:txBody>
          <a:bodyPr/>
          <a:lstStyle/>
          <a:p>
            <a:pPr>
              <a:defRPr/>
            </a:pPr>
            <a:fld id="{566B3443-88FF-483E-9A67-1965FD1BAB9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0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9B3C9-B3E5-4BA2-98AD-FA7033ED9513}" type="datetimeFigureOut">
              <a:rPr lang="zh-TW" altLang="en-US" smtClean="0"/>
              <a:pPr/>
              <a:t>2015/10/23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54BB7-9466-4121-9B58-E66B9D3777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2"/>
          <p:cNvSpPr>
            <a:spLocks noGrp="1"/>
          </p:cNvSpPr>
          <p:nvPr/>
        </p:nvSpPr>
        <p:spPr bwMode="auto">
          <a:xfrm>
            <a:off x="1979712" y="1468053"/>
            <a:ext cx="6236865" cy="1305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158" tIns="45582" rIns="91158" bIns="45582" numCol="1" anchor="t" anchorCtr="0" compatLnSpc="1">
            <a:prstTxWarp prst="textNoShape">
              <a:avLst/>
            </a:prstTxWarp>
            <a:normAutofit/>
          </a:bodyPr>
          <a:lstStyle>
            <a:lvl1pPr marL="338997" indent="-33899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9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1pPr>
            <a:lvl2pPr marL="738194" indent="-28197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2pPr>
            <a:lvl3pPr marL="113738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1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3pPr>
            <a:lvl4pPr marL="1593605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4pPr>
            <a:lvl5pPr marL="204824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chemeClr val="dk1"/>
                </a:solidFill>
                <a:latin typeface="+mj-lt"/>
                <a:ea typeface="微軟正黑體" pitchFamily="34" charset="-120"/>
                <a:cs typeface="+mn-cs"/>
              </a:defRPr>
            </a:lvl5pPr>
            <a:lvl6pPr marL="2506903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62706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18508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74312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endParaRPr lang="en-US" altLang="zh-TW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buNone/>
            </a:pPr>
            <a:endParaRPr lang="en-US" altLang="zh-TW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buNone/>
            </a:pPr>
            <a:endParaRPr lang="zh-TW" altLang="en-US" sz="3200" dirty="0"/>
          </a:p>
        </p:txBody>
      </p:sp>
      <p:sp>
        <p:nvSpPr>
          <p:cNvPr id="13" name="頁尾版面配置區 29"/>
          <p:cNvSpPr txBox="1">
            <a:spLocks noGrp="1"/>
          </p:cNvSpPr>
          <p:nvPr/>
        </p:nvSpPr>
        <p:spPr bwMode="auto">
          <a:xfrm>
            <a:off x="-10684" y="6060258"/>
            <a:ext cx="2258647" cy="21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23" tIns="47815" rIns="95623" bIns="47815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3053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09276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6549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171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110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3732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193547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49772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endParaRPr lang="zh-TW" altLang="en-US" sz="1400" dirty="0">
              <a:solidFill>
                <a:srgbClr val="898989"/>
              </a:solidFill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-468560" y="5013176"/>
            <a:ext cx="10009112" cy="1844824"/>
            <a:chOff x="-452794" y="4332823"/>
            <a:chExt cx="10055875" cy="2564628"/>
          </a:xfrm>
        </p:grpSpPr>
        <p:pic>
          <p:nvPicPr>
            <p:cNvPr id="18" name="圖片 17" descr="1.jpg"/>
            <p:cNvPicPr>
              <a:picLocks noChangeAspect="1"/>
            </p:cNvPicPr>
            <p:nvPr/>
          </p:nvPicPr>
          <p:blipFill>
            <a:blip r:embed="rId2" cstate="email"/>
            <a:stretch>
              <a:fillRect/>
            </a:stretch>
          </p:blipFill>
          <p:spPr>
            <a:xfrm>
              <a:off x="-610" y="4336198"/>
              <a:ext cx="1840823" cy="2554333"/>
            </a:xfrm>
            <a:prstGeom prst="rect">
              <a:avLst/>
            </a:prstGeom>
          </p:spPr>
        </p:pic>
        <p:pic>
          <p:nvPicPr>
            <p:cNvPr id="19" name="圖片 18" descr="2.jpg"/>
            <p:cNvPicPr>
              <a:picLocks noChangeAspect="1"/>
            </p:cNvPicPr>
            <p:nvPr/>
          </p:nvPicPr>
          <p:blipFill>
            <a:blip r:embed="rId3" cstate="email"/>
            <a:stretch>
              <a:fillRect/>
            </a:stretch>
          </p:blipFill>
          <p:spPr>
            <a:xfrm>
              <a:off x="1835696" y="4336198"/>
              <a:ext cx="1840823" cy="2554333"/>
            </a:xfrm>
            <a:prstGeom prst="rect">
              <a:avLst/>
            </a:prstGeom>
          </p:spPr>
        </p:pic>
        <p:pic>
          <p:nvPicPr>
            <p:cNvPr id="20" name="圖片 19" descr="3.jpg"/>
            <p:cNvPicPr>
              <a:picLocks noChangeAspect="1"/>
            </p:cNvPicPr>
            <p:nvPr/>
          </p:nvPicPr>
          <p:blipFill>
            <a:blip r:embed="rId4" cstate="email"/>
            <a:stretch>
              <a:fillRect/>
            </a:stretch>
          </p:blipFill>
          <p:spPr>
            <a:xfrm>
              <a:off x="3673373" y="4336198"/>
              <a:ext cx="1819785" cy="2554333"/>
            </a:xfrm>
            <a:prstGeom prst="rect">
              <a:avLst/>
            </a:prstGeom>
          </p:spPr>
        </p:pic>
        <p:pic>
          <p:nvPicPr>
            <p:cNvPr id="21" name="圖片 20" descr="4.jpg"/>
            <p:cNvPicPr>
              <a:picLocks noChangeAspect="1"/>
            </p:cNvPicPr>
            <p:nvPr/>
          </p:nvPicPr>
          <p:blipFill>
            <a:blip r:embed="rId5" cstate="email"/>
            <a:stretch>
              <a:fillRect/>
            </a:stretch>
          </p:blipFill>
          <p:spPr>
            <a:xfrm>
              <a:off x="5479739" y="4332823"/>
              <a:ext cx="1832400" cy="2564628"/>
            </a:xfrm>
            <a:prstGeom prst="rect">
              <a:avLst/>
            </a:prstGeom>
          </p:spPr>
        </p:pic>
        <p:pic>
          <p:nvPicPr>
            <p:cNvPr id="22" name="圖片 21" descr="5.jpg"/>
            <p:cNvPicPr>
              <a:picLocks noChangeAspect="1"/>
            </p:cNvPicPr>
            <p:nvPr/>
          </p:nvPicPr>
          <p:blipFill>
            <a:blip r:embed="rId6" cstate="email"/>
            <a:stretch>
              <a:fillRect/>
            </a:stretch>
          </p:blipFill>
          <p:spPr>
            <a:xfrm>
              <a:off x="7310075" y="4336198"/>
              <a:ext cx="1840823" cy="2554333"/>
            </a:xfrm>
            <a:prstGeom prst="rect">
              <a:avLst/>
            </a:prstGeom>
          </p:spPr>
        </p:pic>
        <p:sp>
          <p:nvSpPr>
            <p:cNvPr id="23" name="文字方塊 26"/>
            <p:cNvSpPr txBox="1"/>
            <p:nvPr/>
          </p:nvSpPr>
          <p:spPr>
            <a:xfrm>
              <a:off x="-452794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自主創新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Innovation Ownership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4" name="文字方塊 27"/>
            <p:cNvSpPr txBox="1"/>
            <p:nvPr/>
          </p:nvSpPr>
          <p:spPr>
            <a:xfrm>
              <a:off x="1383512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綠能環保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Sustainable Energy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5" name="文字方塊 28"/>
            <p:cNvSpPr txBox="1"/>
            <p:nvPr/>
          </p:nvSpPr>
          <p:spPr>
            <a:xfrm>
              <a:off x="3210670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雲端服務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Cloud Service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6" name="文字方塊 29"/>
            <p:cNvSpPr txBox="1"/>
            <p:nvPr/>
          </p:nvSpPr>
          <p:spPr>
            <a:xfrm>
              <a:off x="5019666" y="453750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無線寬頻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Mobile Broadband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  <p:sp>
          <p:nvSpPr>
            <p:cNvPr id="27" name="文字方塊 30"/>
            <p:cNvSpPr txBox="1"/>
            <p:nvPr/>
          </p:nvSpPr>
          <p:spPr>
            <a:xfrm>
              <a:off x="6857891" y="4533655"/>
              <a:ext cx="2745190" cy="1085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1pPr>
              <a:lvl2pPr marL="453053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2pPr>
              <a:lvl3pPr marL="909276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3pPr>
              <a:lvl4pPr marL="136549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4pPr>
              <a:lvl5pPr marL="1821715" indent="1588" algn="l" rtl="0" fontAlgn="base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5pPr>
              <a:lvl6pPr marL="228110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6pPr>
              <a:lvl7pPr marL="2737328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7pPr>
              <a:lvl8pPr marL="3193547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8pPr>
              <a:lvl9pPr marL="3649772" algn="l" defTabSz="912443" rtl="0" eaLnBrk="1" latinLnBrk="0" hangingPunct="1">
                <a:defRPr kumimoji="1" kern="1200">
                  <a:solidFill>
                    <a:schemeClr val="tx1"/>
                  </a:solidFill>
                  <a:latin typeface="Arial" charset="0"/>
                  <a:ea typeface="新細明體" charset="-120"/>
                  <a:cs typeface="+mn-cs"/>
                </a:defRPr>
              </a:lvl9pPr>
            </a:lstStyle>
            <a:p>
              <a:pPr algn="ctr"/>
              <a:r>
                <a:rPr lang="zh-TW" altLang="en-US" sz="27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imSun"/>
                  <a:ea typeface="微軟正黑體" pitchFamily="34" charset="-120"/>
                  <a:cs typeface="Calibri" pitchFamily="34" charset="0"/>
                </a:rPr>
                <a:t>新興市場</a:t>
              </a:r>
              <a:endParaRPr lang="en-US" altLang="zh-TW" sz="2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Sun"/>
                <a:ea typeface="微軟正黑體" pitchFamily="34" charset="-120"/>
                <a:cs typeface="Calibri" pitchFamily="34" charset="0"/>
              </a:endParaRPr>
            </a:p>
            <a:p>
              <a:pPr algn="ctr"/>
              <a:r>
                <a:rPr lang="en-US" altLang="zh-TW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ea typeface="微軟正黑體" pitchFamily="34" charset="-120"/>
                  <a:cs typeface="Arial" pitchFamily="34" charset="0"/>
                </a:rPr>
                <a:t>Emerging Market</a:t>
              </a:r>
              <a:endParaRPr lang="zh-TW" altLang="en-US" sz="1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軟正黑體" pitchFamily="34" charset="-120"/>
                <a:cs typeface="Arial" pitchFamily="34" charset="0"/>
              </a:endParaRPr>
            </a:p>
          </p:txBody>
        </p:sp>
      </p:grpSp>
      <p:pic>
        <p:nvPicPr>
          <p:cNvPr id="15" name="圖片 14" descr="Logo-英業達集團Inventec-TC.png"/>
          <p:cNvPicPr>
            <a:picLocks noChangeAspect="1"/>
          </p:cNvPicPr>
          <p:nvPr/>
        </p:nvPicPr>
        <p:blipFill>
          <a:blip r:embed="rId7" cstate="email"/>
          <a:stretch>
            <a:fillRect/>
          </a:stretch>
        </p:blipFill>
        <p:spPr>
          <a:xfrm>
            <a:off x="7308304" y="188640"/>
            <a:ext cx="1496780" cy="603448"/>
          </a:xfrm>
          <a:prstGeom prst="rect">
            <a:avLst/>
          </a:prstGeom>
        </p:spPr>
      </p:pic>
      <p:sp>
        <p:nvSpPr>
          <p:cNvPr id="17" name="文字方塊 3"/>
          <p:cNvSpPr txBox="1"/>
          <p:nvPr/>
        </p:nvSpPr>
        <p:spPr>
          <a:xfrm>
            <a:off x="1331640" y="1822200"/>
            <a:ext cx="6696743" cy="23083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lIns="91424" tIns="45712" rIns="91424" bIns="45712" rtlCol="0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1pPr>
            <a:lvl2pPr marL="453053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09276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6549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171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110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3732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193547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49772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pPr algn="ctr"/>
            <a:r>
              <a:rPr lang="en-US" altLang="zh-TW" sz="4800" b="1" u="sng" dirty="0"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en-US" altLang="zh-TW" sz="4800" b="1" dirty="0">
                <a:latin typeface="微軟正黑體" pitchFamily="34" charset="-120"/>
                <a:ea typeface="微軟正黑體" pitchFamily="34" charset="-120"/>
              </a:rPr>
              <a:t>nventec </a:t>
            </a:r>
            <a:r>
              <a:rPr lang="en-US" altLang="zh-TW" sz="4800" b="1" u="sng" dirty="0"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en-US" altLang="zh-TW" sz="4800" b="1" dirty="0">
                <a:latin typeface="微軟正黑體" pitchFamily="34" charset="-120"/>
                <a:ea typeface="微軟正黑體" pitchFamily="34" charset="-120"/>
              </a:rPr>
              <a:t>ndustry </a:t>
            </a:r>
            <a:r>
              <a:rPr lang="en-US" altLang="zh-TW" sz="4800" b="1" dirty="0" smtClean="0">
                <a:latin typeface="微軟正黑體" pitchFamily="34" charset="-120"/>
                <a:ea typeface="微軟正黑體" pitchFamily="34" charset="-120"/>
              </a:rPr>
              <a:t>4.0 (II4.0</a:t>
            </a:r>
            <a:r>
              <a:rPr lang="en-US" altLang="zh-TW" sz="4800" b="1" dirty="0">
                <a:latin typeface="微軟正黑體" pitchFamily="34" charset="-120"/>
                <a:ea typeface="微軟正黑體" pitchFamily="34" charset="-120"/>
              </a:rPr>
              <a:t>)</a:t>
            </a:r>
            <a:endParaRPr lang="zh-TW" altLang="en-US" sz="4800" b="1" dirty="0"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en-US" altLang="zh-TW" sz="4800" b="1" dirty="0" smtClean="0">
                <a:latin typeface="微軟正黑體" pitchFamily="34" charset="-120"/>
                <a:ea typeface="微軟正黑體" pitchFamily="34" charset="-120"/>
              </a:rPr>
              <a:t> Committee</a:t>
            </a:r>
            <a:endParaRPr lang="en-US" altLang="zh-TW" sz="4800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/>
        </p:nvSpPr>
        <p:spPr bwMode="auto">
          <a:xfrm>
            <a:off x="1619672" y="188640"/>
            <a:ext cx="5904656" cy="589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8" tIns="45582" rIns="91158" bIns="45582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chemeClr val="tx1"/>
                </a:solidFill>
                <a:latin typeface="+mj-lt"/>
                <a:ea typeface="微軟正黑體" pitchFamily="34" charset="-120"/>
                <a:cs typeface="微軟正黑體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微軟正黑體"/>
              </a:defRPr>
            </a:lvl5pPr>
            <a:lvl6pPr marL="455797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6pPr>
            <a:lvl7pPr marL="911603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7pPr>
            <a:lvl8pPr marL="1367402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8pPr>
            <a:lvl9pPr marL="1823202" algn="l" rtl="0" fontAlgn="base">
              <a:spcBef>
                <a:spcPct val="0"/>
              </a:spcBef>
              <a:spcAft>
                <a:spcPct val="0"/>
              </a:spcAft>
              <a:defRPr sz="3700" b="1">
                <a:solidFill>
                  <a:schemeClr val="tx1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pPr algn="ctr"/>
            <a:r>
              <a:rPr lang="zh-TW" altLang="en-US" sz="3200" dirty="0" smtClean="0">
                <a:latin typeface="微軟正黑體" pitchFamily="34" charset="-120"/>
              </a:rPr>
              <a:t> </a:t>
            </a:r>
            <a:r>
              <a:rPr lang="en-US" altLang="zh-TW" sz="3200" dirty="0" smtClean="0">
                <a:latin typeface="微軟正黑體" pitchFamily="34" charset="-120"/>
              </a:rPr>
              <a:t>II</a:t>
            </a:r>
            <a:r>
              <a:rPr lang="zh-TW" altLang="en-US" sz="3200" dirty="0" smtClean="0">
                <a:latin typeface="微軟正黑體" pitchFamily="34" charset="-120"/>
              </a:rPr>
              <a:t> </a:t>
            </a:r>
            <a:r>
              <a:rPr lang="en-US" altLang="zh-TW" sz="3200" dirty="0" smtClean="0">
                <a:latin typeface="微軟正黑體" pitchFamily="34" charset="-120"/>
              </a:rPr>
              <a:t>4.0 Committee</a:t>
            </a:r>
            <a:r>
              <a:rPr lang="zh-TW" altLang="en-US" sz="3200" dirty="0" smtClean="0">
                <a:latin typeface="微軟正黑體" pitchFamily="34" charset="-120"/>
              </a:rPr>
              <a:t> 使命與願景</a:t>
            </a:r>
            <a:endParaRPr lang="zh-TW" altLang="en-US" sz="3200" dirty="0">
              <a:latin typeface="微軟正黑體" pitchFamily="34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/>
        </p:nvSpPr>
        <p:spPr bwMode="auto">
          <a:xfrm>
            <a:off x="359024" y="692696"/>
            <a:ext cx="8533456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158" tIns="45582" rIns="91158" bIns="45582" numCol="1" anchor="t" anchorCtr="0" compatLnSpc="1">
            <a:prstTxWarp prst="textNoShape">
              <a:avLst/>
            </a:prstTxWarp>
          </a:bodyPr>
          <a:lstStyle>
            <a:lvl1pPr marL="338997" indent="-33899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900" kern="1200">
                <a:solidFill>
                  <a:schemeClr val="tx1"/>
                </a:solidFill>
                <a:latin typeface="+mj-lt"/>
                <a:ea typeface="微軟正黑體" pitchFamily="34" charset="-120"/>
                <a:cs typeface="微軟正黑體"/>
              </a:defRPr>
            </a:lvl1pPr>
            <a:lvl2pPr marL="738194" indent="-28197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rgbClr val="262626"/>
                </a:solidFill>
                <a:latin typeface="+mj-lt"/>
                <a:ea typeface="微軟正黑體" pitchFamily="34" charset="-120"/>
                <a:cs typeface="微軟正黑體"/>
              </a:defRPr>
            </a:lvl2pPr>
            <a:lvl3pPr marL="113738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100" kern="1200">
                <a:solidFill>
                  <a:srgbClr val="404040"/>
                </a:solidFill>
                <a:latin typeface="+mj-lt"/>
                <a:ea typeface="微軟正黑體" pitchFamily="34" charset="-120"/>
                <a:cs typeface="微軟正黑體"/>
              </a:defRPr>
            </a:lvl3pPr>
            <a:lvl4pPr marL="1593605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rgbClr val="595959"/>
                </a:solidFill>
                <a:latin typeface="+mj-lt"/>
                <a:ea typeface="微軟正黑體" pitchFamily="34" charset="-120"/>
                <a:cs typeface="微軟正黑體"/>
              </a:defRPr>
            </a:lvl4pPr>
            <a:lvl5pPr marL="2048244" indent="-224941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rgbClr val="7F7F7F"/>
                </a:solidFill>
                <a:latin typeface="+mj-lt"/>
                <a:ea typeface="微軟正黑體" pitchFamily="34" charset="-120"/>
                <a:cs typeface="微軟正黑體"/>
              </a:defRPr>
            </a:lvl5pPr>
            <a:lvl6pPr marL="2506903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706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508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74312" indent="-227899" algn="l" defTabSz="91160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n"/>
            </a:pPr>
            <a:r>
              <a:rPr kumimoji="1" lang="en-US" altLang="zh-CN" sz="2400" b="1" dirty="0" smtClean="0">
                <a:latin typeface="微軟正黑體" pitchFamily="34" charset="-120"/>
              </a:rPr>
              <a:t>2014</a:t>
            </a:r>
            <a:r>
              <a:rPr kumimoji="1" lang="zh-CN" altLang="en-US" sz="2400" b="1" dirty="0" smtClean="0">
                <a:latin typeface="微軟正黑體" pitchFamily="34" charset="-120"/>
              </a:rPr>
              <a:t>年，英業達集團成立 “</a:t>
            </a:r>
            <a:r>
              <a:rPr kumimoji="1" lang="en-US" altLang="zh-CN" sz="2400" b="1" dirty="0" smtClean="0">
                <a:latin typeface="微軟正黑體" pitchFamily="34" charset="-120"/>
              </a:rPr>
              <a:t>II40</a:t>
            </a:r>
            <a:r>
              <a:rPr kumimoji="1" lang="zh-CN" altLang="en-US" sz="2400" b="1" dirty="0" smtClean="0">
                <a:latin typeface="微軟正黑體" pitchFamily="34" charset="-120"/>
              </a:rPr>
              <a:t>委員會”</a:t>
            </a:r>
            <a:r>
              <a:rPr kumimoji="1" lang="en-US" altLang="zh-CN" sz="2400" b="1" dirty="0" smtClean="0">
                <a:latin typeface="微軟正黑體" pitchFamily="34" charset="-120"/>
              </a:rPr>
              <a:t>,</a:t>
            </a:r>
            <a:r>
              <a:rPr kumimoji="1" lang="zh-CN" altLang="en-US" sz="2400" b="1" dirty="0" smtClean="0">
                <a:latin typeface="微軟正黑體" pitchFamily="34" charset="-120"/>
              </a:rPr>
              <a:t>專注於</a:t>
            </a:r>
            <a:r>
              <a:rPr kumimoji="1" lang="zh-TW" altLang="en-US" sz="2400" b="1" dirty="0" smtClean="0">
                <a:latin typeface="微軟正黑體" pitchFamily="34" charset="-120"/>
              </a:rPr>
              <a:t>工業</a:t>
            </a:r>
            <a:r>
              <a:rPr kumimoji="1" lang="en-US" altLang="zh-TW" sz="2400" b="1" dirty="0" smtClean="0">
                <a:latin typeface="微軟正黑體" pitchFamily="34" charset="-120"/>
              </a:rPr>
              <a:t>4.0</a:t>
            </a:r>
            <a:r>
              <a:rPr kumimoji="1" lang="zh-TW" altLang="en-US" sz="2400" b="1" dirty="0" smtClean="0">
                <a:latin typeface="微軟正黑體" pitchFamily="34" charset="-120"/>
              </a:rPr>
              <a:t>科技應用時代</a:t>
            </a:r>
            <a:r>
              <a:rPr kumimoji="1" lang="en-US" altLang="zh-TW" sz="2400" b="1" dirty="0" smtClean="0">
                <a:latin typeface="微軟正黑體" pitchFamily="34" charset="-120"/>
              </a:rPr>
              <a:t>, </a:t>
            </a:r>
            <a:r>
              <a:rPr kumimoji="1" lang="zh-TW" altLang="en-US" sz="2400" b="1" dirty="0" smtClean="0">
                <a:latin typeface="微軟正黑體" pitchFamily="34" charset="-120"/>
              </a:rPr>
              <a:t>以</a:t>
            </a:r>
            <a:r>
              <a:rPr kumimoji="1" lang="zh-CN" altLang="en-US" sz="2400" b="1" dirty="0" smtClean="0">
                <a:latin typeface="微軟正黑體" pitchFamily="34" charset="-120"/>
              </a:rPr>
              <a:t>迎接製造業</a:t>
            </a:r>
            <a:r>
              <a:rPr kumimoji="1" lang="zh-TW" altLang="en-US" sz="2400" b="1" dirty="0" smtClean="0">
                <a:latin typeface="微軟正黑體" pitchFamily="34" charset="-120"/>
              </a:rPr>
              <a:t>未來發展和</a:t>
            </a:r>
            <a:r>
              <a:rPr kumimoji="1" lang="zh-CN" altLang="en-US" sz="2400" b="1" dirty="0" smtClean="0">
                <a:latin typeface="微軟正黑體" pitchFamily="34" charset="-120"/>
              </a:rPr>
              <a:t>挑戰</a:t>
            </a:r>
            <a:r>
              <a:rPr kumimoji="1" lang="en-US" altLang="zh-CN" sz="2400" b="1" dirty="0" smtClean="0">
                <a:latin typeface="微軟正黑體" pitchFamily="34" charset="-120"/>
              </a:rPr>
              <a:t>.</a:t>
            </a:r>
            <a:endParaRPr lang="en-US" altLang="zh-CN" b="1" dirty="0" smtClean="0">
              <a:latin typeface="微軟正黑體" pitchFamily="34" charset="-120"/>
            </a:endParaRPr>
          </a:p>
          <a:p>
            <a:pPr>
              <a:buFont typeface="Wingdings" pitchFamily="2" charset="2"/>
              <a:buChar char="n"/>
            </a:pPr>
            <a:r>
              <a:rPr lang="zh-CN" altLang="en-US" sz="2400" b="1" dirty="0" smtClean="0">
                <a:solidFill>
                  <a:srgbClr val="C00000"/>
                </a:solidFill>
                <a:latin typeface="微軟正黑體" pitchFamily="34" charset="-120"/>
              </a:rPr>
              <a:t>智慧工廠</a:t>
            </a:r>
            <a:r>
              <a:rPr lang="zh-CN" altLang="en-US" sz="2400" b="1" dirty="0" smtClean="0">
                <a:latin typeface="微軟正黑體" pitchFamily="34" charset="-120"/>
              </a:rPr>
              <a:t>成為發展的重要目標 </a:t>
            </a:r>
          </a:p>
          <a:p>
            <a:pPr lvl="1">
              <a:buFont typeface="Wingdings" pitchFamily="2" charset="2"/>
              <a:buChar char="l"/>
            </a:pPr>
            <a:r>
              <a:rPr lang="zh-CN" altLang="en-US" b="1" dirty="0" smtClean="0">
                <a:latin typeface="微軟正黑體" pitchFamily="34" charset="-120"/>
              </a:rPr>
              <a:t>高度的自動化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全方位整合的資訊化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標準化製造管理水準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精準密的</a:t>
            </a:r>
            <a:r>
              <a:rPr lang="zh-CN" altLang="en-US" b="1" dirty="0" smtClean="0">
                <a:latin typeface="微軟正黑體" pitchFamily="34" charset="-120"/>
              </a:rPr>
              <a:t>製造品質</a:t>
            </a:r>
            <a:endParaRPr lang="en-US" altLang="zh-CN" b="1" dirty="0" smtClean="0">
              <a:latin typeface="微軟正黑體" pitchFamily="34" charset="-120"/>
            </a:endParaRPr>
          </a:p>
          <a:p>
            <a:pPr lvl="1">
              <a:buFont typeface="Wingdings" pitchFamily="2" charset="2"/>
              <a:buChar char="l"/>
            </a:pPr>
            <a:r>
              <a:rPr lang="en-US" altLang="zh-CN" b="1" dirty="0" smtClean="0">
                <a:latin typeface="微軟正黑體" pitchFamily="34" charset="-120"/>
              </a:rPr>
              <a:t>Time to Market, Production On Demand</a:t>
            </a:r>
            <a:endParaRPr lang="zh-CN" altLang="en-US" b="1" dirty="0" smtClean="0">
              <a:latin typeface="微軟正黑體" pitchFamily="34" charset="-120"/>
            </a:endParaRPr>
          </a:p>
          <a:p>
            <a:pPr>
              <a:buFont typeface="Wingdings" pitchFamily="2" charset="2"/>
              <a:buChar char="n"/>
            </a:pPr>
            <a:r>
              <a:rPr lang="zh-TW" altLang="en-US" sz="2400" b="1" dirty="0" smtClean="0">
                <a:solidFill>
                  <a:srgbClr val="C00000"/>
                </a:solidFill>
                <a:latin typeface="微軟正黑體" pitchFamily="34" charset="-120"/>
              </a:rPr>
              <a:t>智能生產</a:t>
            </a:r>
            <a:r>
              <a:rPr lang="en-US" altLang="zh-TW" sz="2400" b="1" dirty="0" smtClean="0">
                <a:latin typeface="微軟正黑體" pitchFamily="34" charset="-120"/>
              </a:rPr>
              <a:t>-</a:t>
            </a:r>
            <a:r>
              <a:rPr lang="zh-CN" altLang="en-US" sz="2400" b="1" dirty="0" smtClean="0">
                <a:latin typeface="微軟正黑體" pitchFamily="34" charset="-120"/>
              </a:rPr>
              <a:t>利用自動化和資訊化手段改進製造流程 </a:t>
            </a:r>
          </a:p>
          <a:p>
            <a:pPr lvl="1">
              <a:buFont typeface="Wingdings" pitchFamily="2" charset="2"/>
              <a:buChar char="l"/>
            </a:pPr>
            <a:r>
              <a:rPr lang="zh-CN" altLang="en-US" b="1" dirty="0" smtClean="0">
                <a:latin typeface="微軟正黑體" pitchFamily="34" charset="-120"/>
              </a:rPr>
              <a:t>減少人工依賴</a:t>
            </a:r>
            <a:r>
              <a:rPr lang="en-US" altLang="zh-CN" b="1" dirty="0" smtClean="0">
                <a:latin typeface="微軟正黑體" pitchFamily="34" charset="-120"/>
              </a:rPr>
              <a:t>,</a:t>
            </a:r>
            <a:r>
              <a:rPr lang="zh-CN" altLang="en-US" b="1" dirty="0" smtClean="0">
                <a:latin typeface="微軟正黑體" pitchFamily="34" charset="-120"/>
              </a:rPr>
              <a:t>運用工業機器人與 </a:t>
            </a:r>
            <a:r>
              <a:rPr lang="en-US" altLang="zh-CN" b="1" dirty="0" smtClean="0">
                <a:latin typeface="微軟正黑體" pitchFamily="34" charset="-120"/>
              </a:rPr>
              <a:t>AGV</a:t>
            </a:r>
            <a:r>
              <a:rPr lang="zh-TW" altLang="en-US" b="1" dirty="0" smtClean="0">
                <a:latin typeface="微軟正黑體" pitchFamily="34" charset="-120"/>
              </a:rPr>
              <a:t>科技</a:t>
            </a:r>
            <a:endParaRPr lang="en-US" altLang="zh-CN" b="1" dirty="0" smtClean="0">
              <a:latin typeface="微軟正黑體" pitchFamily="34" charset="-120"/>
            </a:endParaRPr>
          </a:p>
          <a:p>
            <a:pPr lvl="1">
              <a:buNone/>
            </a:pPr>
            <a:r>
              <a:rPr lang="zh-TW" altLang="en-US" b="1" dirty="0" smtClean="0">
                <a:latin typeface="微軟正黑體" pitchFamily="34" charset="-120"/>
              </a:rPr>
              <a:t>    以</a:t>
            </a:r>
            <a:r>
              <a:rPr lang="zh-CN" altLang="en-US" b="1" dirty="0" smtClean="0">
                <a:latin typeface="微軟正黑體" pitchFamily="34" charset="-120"/>
              </a:rPr>
              <a:t>減少</a:t>
            </a:r>
            <a:r>
              <a:rPr lang="en-US" altLang="zh-CN" b="1" dirty="0" smtClean="0">
                <a:latin typeface="微軟正黑體" pitchFamily="34" charset="-120"/>
              </a:rPr>
              <a:t>30%-40% </a:t>
            </a:r>
            <a:r>
              <a:rPr lang="zh-CN" altLang="en-US" b="1" dirty="0" smtClean="0">
                <a:latin typeface="微軟正黑體" pitchFamily="34" charset="-120"/>
              </a:rPr>
              <a:t>的生產人力 </a:t>
            </a:r>
          </a:p>
          <a:p>
            <a:pPr lvl="1">
              <a:buFont typeface="Wingdings" pitchFamily="2" charset="2"/>
              <a:buChar char="l"/>
            </a:pPr>
            <a:r>
              <a:rPr lang="zh-CN" altLang="en-US" b="1" dirty="0" smtClean="0">
                <a:latin typeface="微軟正黑體" pitchFamily="34" charset="-120"/>
              </a:rPr>
              <a:t>提升產品一致性與品質 </a:t>
            </a:r>
          </a:p>
          <a:p>
            <a:pPr lvl="1">
              <a:buFont typeface="Wingdings" pitchFamily="2" charset="2"/>
              <a:buChar char="l"/>
            </a:pPr>
            <a:r>
              <a:rPr lang="zh-TW" altLang="en-US" b="1" dirty="0" smtClean="0">
                <a:latin typeface="微軟正黑體" pitchFamily="34" charset="-120"/>
              </a:rPr>
              <a:t>節能減排 </a:t>
            </a:r>
            <a:r>
              <a:rPr lang="en-US" altLang="zh-TW" b="1" dirty="0" smtClean="0">
                <a:latin typeface="微軟正黑體" pitchFamily="34" charset="-120"/>
              </a:rPr>
              <a:t>, </a:t>
            </a:r>
            <a:r>
              <a:rPr lang="zh-TW" altLang="en-US" b="1" dirty="0" smtClean="0">
                <a:latin typeface="微軟正黑體" pitchFamily="34" charset="-120"/>
              </a:rPr>
              <a:t>保護綠色環境</a:t>
            </a:r>
            <a:endParaRPr lang="en-US" altLang="zh-TW" sz="2400" b="1" dirty="0" smtClean="0">
              <a:latin typeface="微軟正黑體" pitchFamily="34" charset="-120"/>
            </a:endParaRPr>
          </a:p>
        </p:txBody>
      </p:sp>
      <p:sp>
        <p:nvSpPr>
          <p:cNvPr id="7" name="投影片編號版面配置區 3"/>
          <p:cNvSpPr>
            <a:spLocks noGrp="1"/>
          </p:cNvSpPr>
          <p:nvPr/>
        </p:nvSpPr>
        <p:spPr>
          <a:xfrm>
            <a:off x="7020299" y="6685381"/>
            <a:ext cx="2159270" cy="401637"/>
          </a:xfrm>
          <a:prstGeom prst="rect">
            <a:avLst/>
          </a:prstGeom>
        </p:spPr>
        <p:txBody>
          <a:bodyPr vert="horz" lIns="91158" tIns="45582" rIns="91158" bIns="45582" rtlCol="0" anchor="ctr"/>
          <a:lstStyle>
            <a:defPPr>
              <a:defRPr lang="zh-TW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kumimoji="0" sz="1100" kern="1200" smtClean="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  <a:cs typeface="+mn-cs"/>
              </a:defRPr>
            </a:lvl1pPr>
            <a:lvl2pPr marL="453053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2pPr>
            <a:lvl3pPr marL="909276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3pPr>
            <a:lvl4pPr marL="136549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4pPr>
            <a:lvl5pPr marL="1821715" indent="1588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5pPr>
            <a:lvl6pPr marL="228110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6pPr>
            <a:lvl7pPr marL="2737328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7pPr>
            <a:lvl8pPr marL="3193547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8pPr>
            <a:lvl9pPr marL="3649772" algn="l" defTabSz="912443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新細明體" charset="-120"/>
                <a:cs typeface="+mn-cs"/>
              </a:defRPr>
            </a:lvl9pPr>
          </a:lstStyle>
          <a:p>
            <a:pPr>
              <a:defRPr/>
            </a:pPr>
            <a:fld id="{20887CD1-F901-4B38-982F-83E4010D583E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23528" y="692696"/>
            <a:ext cx="8496944" cy="5832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692696"/>
            <a:ext cx="78123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雲計算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+Smart </a:t>
            </a:r>
            <a:r>
              <a:rPr kumimoji="1" lang="en-US" altLang="zh-CN" sz="2800" b="1" dirty="0" err="1" smtClean="0">
                <a:latin typeface="微軟正黑體" pitchFamily="34" charset="-120"/>
                <a:ea typeface="微軟正黑體" pitchFamily="34" charset="-120"/>
              </a:rPr>
              <a:t>Handhelds+Cloud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 Terminals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692696"/>
            <a:ext cx="8496944" cy="5976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045381" y="118373"/>
            <a:ext cx="4758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Cloud Product Suite</a:t>
            </a:r>
            <a:endParaRPr lang="zh-TW" altLang="en-US" sz="36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96752"/>
            <a:ext cx="388843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6224" y="1124744"/>
            <a:ext cx="4586858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6912386" y="6372036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1052736"/>
            <a:ext cx="4464496" cy="554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/>
        </p:nvSpPr>
        <p:spPr>
          <a:xfrm>
            <a:off x="1331640" y="692696"/>
            <a:ext cx="62646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雲計算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物聯網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移動互聯網</a:t>
            </a:r>
            <a:r>
              <a:rPr kumimoji="1" lang="en-US" altLang="zh-CN" sz="2800" b="1" dirty="0" smtClean="0">
                <a:latin typeface="微軟正黑體" pitchFamily="34" charset="-120"/>
                <a:ea typeface="微軟正黑體" pitchFamily="34" charset="-120"/>
              </a:rPr>
              <a:t>+</a:t>
            </a:r>
            <a:r>
              <a:rPr kumimoji="1" lang="zh-CN" altLang="en-US" sz="2800" b="1" dirty="0" smtClean="0">
                <a:latin typeface="微軟正黑體" pitchFamily="34" charset="-120"/>
                <a:ea typeface="微軟正黑體" pitchFamily="34" charset="-120"/>
              </a:rPr>
              <a:t>大數據</a:t>
            </a:r>
            <a:endParaRPr lang="zh-TW" altLang="en-US" sz="2800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692696"/>
            <a:ext cx="8496944" cy="5976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340267" y="44624"/>
            <a:ext cx="6064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u="sng" dirty="0" err="1" smtClean="0"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en-US" altLang="zh-TW" sz="3600" b="1" dirty="0" err="1" smtClean="0">
                <a:latin typeface="微軟正黑體" pitchFamily="34" charset="-120"/>
                <a:ea typeface="微軟正黑體" pitchFamily="34" charset="-120"/>
              </a:rPr>
              <a:t>nventec</a:t>
            </a:r>
            <a:r>
              <a:rPr lang="en-US" altLang="zh-TW" sz="3600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Service Roadmap</a:t>
            </a:r>
            <a:endParaRPr lang="zh-TW" altLang="en-US" sz="36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196752"/>
            <a:ext cx="3888432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6984394" y="6372036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92696"/>
            <a:ext cx="8568952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1733678" y="90237"/>
            <a:ext cx="5521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II</a:t>
            </a:r>
            <a:r>
              <a:rPr lang="zh-TW" altLang="en-US" sz="3600" b="1" dirty="0" smtClean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TW" sz="3600" b="1" dirty="0" smtClean="0">
                <a:latin typeface="微軟正黑體" pitchFamily="34" charset="-120"/>
                <a:ea typeface="微軟正黑體" pitchFamily="34" charset="-120"/>
              </a:rPr>
              <a:t>4.0</a:t>
            </a:r>
            <a:r>
              <a:rPr lang="zh-TW" altLang="en-US" sz="3600" b="1" dirty="0" smtClean="0">
                <a:latin typeface="微軟正黑體" pitchFamily="34" charset="-120"/>
                <a:ea typeface="微軟正黑體" pitchFamily="34" charset="-120"/>
              </a:rPr>
              <a:t> 關鍵資訊科技三構面</a:t>
            </a:r>
            <a:endParaRPr lang="zh-TW" altLang="en-US" sz="36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692696"/>
            <a:ext cx="8496944" cy="5832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err="1" smtClean="0">
                <a:solidFill>
                  <a:prstClr val="black">
                    <a:tint val="75000"/>
                  </a:prstClr>
                </a:solidFill>
              </a:rPr>
              <a:t>Inventec</a:t>
            </a:r>
            <a:r>
              <a:rPr lang="en-US" altLang="zh-TW" dirty="0" smtClean="0">
                <a:solidFill>
                  <a:prstClr val="black">
                    <a:tint val="75000"/>
                  </a:prstClr>
                </a:solidFill>
              </a:rPr>
              <a:t> Confidential</a:t>
            </a:r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B3443-88FF-483E-9A67-1965FD1BAB9A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92696"/>
            <a:ext cx="8784976" cy="554461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862276" y="5482734"/>
            <a:ext cx="2051720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prstClr val="white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31449" y="44624"/>
            <a:ext cx="45015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II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4.0 </a:t>
            </a:r>
            <a:r>
              <a:rPr lang="zh-TW" altLang="en-US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遵循</a:t>
            </a:r>
            <a:r>
              <a:rPr lang="en-US" altLang="zh-TW" sz="4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6M+6C</a:t>
            </a:r>
            <a:endParaRPr lang="zh-TW" altLang="en-US" sz="4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9512" y="692696"/>
            <a:ext cx="8784976" cy="55446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87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圓角矩形 104"/>
          <p:cNvSpPr/>
          <p:nvPr/>
        </p:nvSpPr>
        <p:spPr>
          <a:xfrm>
            <a:off x="755576" y="3659882"/>
            <a:ext cx="2592288" cy="1857350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圓角矩形 106"/>
          <p:cNvSpPr/>
          <p:nvPr/>
        </p:nvSpPr>
        <p:spPr>
          <a:xfrm>
            <a:off x="6228184" y="3659882"/>
            <a:ext cx="2592288" cy="1857350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AutoShape 454"/>
          <p:cNvSpPr>
            <a:spLocks noChangeArrowheads="1"/>
          </p:cNvSpPr>
          <p:nvPr/>
        </p:nvSpPr>
        <p:spPr bwMode="auto">
          <a:xfrm>
            <a:off x="1672194" y="3263627"/>
            <a:ext cx="586124" cy="381398"/>
          </a:xfrm>
          <a:prstGeom prst="upArrow">
            <a:avLst>
              <a:gd name="adj1" fmla="val 52833"/>
              <a:gd name="adj2" fmla="val 4594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  <a:ex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Gulim" pitchFamily="34" charset="-127"/>
            </a:endParaRPr>
          </a:p>
        </p:txBody>
      </p:sp>
      <p:sp>
        <p:nvSpPr>
          <p:cNvPr id="31" name="AutoShape 454"/>
          <p:cNvSpPr>
            <a:spLocks noChangeArrowheads="1"/>
          </p:cNvSpPr>
          <p:nvPr/>
        </p:nvSpPr>
        <p:spPr bwMode="auto">
          <a:xfrm>
            <a:off x="4596369" y="3168377"/>
            <a:ext cx="586124" cy="476648"/>
          </a:xfrm>
          <a:prstGeom prst="upArrow">
            <a:avLst>
              <a:gd name="adj1" fmla="val 52833"/>
              <a:gd name="adj2" fmla="val 4594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  <a:ex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Gulim" pitchFamily="34" charset="-127"/>
            </a:endParaRPr>
          </a:p>
        </p:txBody>
      </p:sp>
      <p:sp>
        <p:nvSpPr>
          <p:cNvPr id="37" name="AutoShape 454"/>
          <p:cNvSpPr>
            <a:spLocks noChangeArrowheads="1"/>
          </p:cNvSpPr>
          <p:nvPr/>
        </p:nvSpPr>
        <p:spPr bwMode="auto">
          <a:xfrm>
            <a:off x="7154228" y="3196951"/>
            <a:ext cx="586124" cy="448073"/>
          </a:xfrm>
          <a:prstGeom prst="upArrow">
            <a:avLst>
              <a:gd name="adj1" fmla="val 52833"/>
              <a:gd name="adj2" fmla="val 4594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  <a:ex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itchFamily="34" charset="-120"/>
              <a:ea typeface="Gulim" pitchFamily="34" charset="-127"/>
            </a:endParaRPr>
          </a:p>
        </p:txBody>
      </p:sp>
      <p:grpSp>
        <p:nvGrpSpPr>
          <p:cNvPr id="112" name="群組 111"/>
          <p:cNvGrpSpPr/>
          <p:nvPr/>
        </p:nvGrpSpPr>
        <p:grpSpPr>
          <a:xfrm>
            <a:off x="971600" y="4061219"/>
            <a:ext cx="1386126" cy="1239989"/>
            <a:chOff x="971600" y="4061219"/>
            <a:chExt cx="1386126" cy="1239989"/>
          </a:xfrm>
        </p:grpSpPr>
        <p:grpSp>
          <p:nvGrpSpPr>
            <p:cNvPr id="84" name="组合 35"/>
            <p:cNvGrpSpPr/>
            <p:nvPr/>
          </p:nvGrpSpPr>
          <p:grpSpPr>
            <a:xfrm>
              <a:off x="971600" y="4061219"/>
              <a:ext cx="1386126" cy="1239989"/>
              <a:chOff x="2768596" y="3009896"/>
              <a:chExt cx="2214578" cy="2214578"/>
            </a:xfrm>
            <a:solidFill>
              <a:schemeClr val="bg1">
                <a:lumMod val="50000"/>
              </a:schemeClr>
            </a:solidFill>
          </p:grpSpPr>
          <p:sp>
            <p:nvSpPr>
              <p:cNvPr id="86" name="椭圆 59"/>
              <p:cNvSpPr/>
              <p:nvPr/>
            </p:nvSpPr>
            <p:spPr>
              <a:xfrm>
                <a:off x="2768596" y="3009896"/>
                <a:ext cx="2214578" cy="2214578"/>
              </a:xfrm>
              <a:prstGeom prst="ellipse">
                <a:avLst/>
              </a:prstGeom>
              <a:grpFill/>
              <a:ln>
                <a:noFill/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87" name="椭圆 60"/>
              <p:cNvSpPr/>
              <p:nvPr/>
            </p:nvSpPr>
            <p:spPr>
              <a:xfrm>
                <a:off x="2984492" y="3279776"/>
                <a:ext cx="1214446" cy="100013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p:grpSp>
        <p:sp>
          <p:nvSpPr>
            <p:cNvPr id="85" name="Text Box 39"/>
            <p:cNvSpPr txBox="1">
              <a:spLocks noChangeArrowheads="1"/>
            </p:cNvSpPr>
            <p:nvPr/>
          </p:nvSpPr>
          <p:spPr bwMode="auto">
            <a:xfrm>
              <a:off x="1115616" y="4293096"/>
              <a:ext cx="1036687" cy="683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工業型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機器人</a:t>
              </a:r>
              <a:endParaRPr lang="zh-CN" altLang="en-US" sz="1600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111" name="群組 110"/>
          <p:cNvGrpSpPr/>
          <p:nvPr/>
        </p:nvGrpSpPr>
        <p:grpSpPr>
          <a:xfrm>
            <a:off x="4067944" y="4038550"/>
            <a:ext cx="1601662" cy="1406674"/>
            <a:chOff x="4067944" y="4038550"/>
            <a:chExt cx="1601662" cy="1406674"/>
          </a:xfrm>
        </p:grpSpPr>
        <p:sp>
          <p:nvSpPr>
            <p:cNvPr id="10" name="Oval 442"/>
            <p:cNvSpPr>
              <a:spLocks noChangeArrowheads="1"/>
            </p:cNvSpPr>
            <p:nvPr/>
          </p:nvSpPr>
          <p:spPr bwMode="auto">
            <a:xfrm>
              <a:off x="4267947" y="4045261"/>
              <a:ext cx="362147" cy="36295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67ABF5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軟正黑體" pitchFamily="34" charset="-120"/>
                <a:ea typeface="Gulim" pitchFamily="34" charset="-127"/>
              </a:endParaRPr>
            </a:p>
          </p:txBody>
        </p:sp>
        <p:grpSp>
          <p:nvGrpSpPr>
            <p:cNvPr id="14" name="Group 18"/>
            <p:cNvGrpSpPr>
              <a:grpSpLocks/>
            </p:cNvGrpSpPr>
            <p:nvPr/>
          </p:nvGrpSpPr>
          <p:grpSpPr bwMode="auto">
            <a:xfrm>
              <a:off x="4067944" y="4038550"/>
              <a:ext cx="1601662" cy="1406674"/>
              <a:chOff x="0" y="0"/>
              <a:chExt cx="1375" cy="1375"/>
            </a:xfrm>
            <a:solidFill>
              <a:schemeClr val="bg1"/>
            </a:solidFill>
          </p:grpSpPr>
          <p:sp>
            <p:nvSpPr>
              <p:cNvPr id="78" name="Text Box 20"/>
              <p:cNvSpPr txBox="1">
                <a:spLocks noChangeArrowheads="1"/>
              </p:cNvSpPr>
              <p:nvPr/>
            </p:nvSpPr>
            <p:spPr bwMode="auto">
              <a:xfrm>
                <a:off x="219" y="216"/>
                <a:ext cx="828" cy="824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  <a:extLst/>
            </p:spPr>
            <p:txBody>
              <a:bodyPr wrap="none" lIns="72000" tIns="0" rIns="72000" bIns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 algn="ctr" eaLnBrk="1" hangingPunct="1"/>
                <a:endParaRPr lang="ko-KR" altLang="en-US" sz="1100" b="0" smtClean="0">
                  <a:solidFill>
                    <a:srgbClr val="FFFFFF"/>
                  </a:solidFill>
                  <a:latin typeface="微軟正黑體" pitchFamily="34" charset="-120"/>
                  <a:ea typeface="Malgun Gothic" pitchFamily="34" charset="-127"/>
                </a:endParaRPr>
              </a:p>
            </p:txBody>
          </p:sp>
          <p:pic>
            <p:nvPicPr>
              <p:cNvPr id="79" name="Oval 441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375" cy="1375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  <a:extLst/>
            </p:spPr>
          </p:pic>
        </p:grpSp>
        <p:sp>
          <p:nvSpPr>
            <p:cNvPr id="15" name="Text Box 443"/>
            <p:cNvSpPr txBox="1">
              <a:spLocks noChangeArrowheads="1"/>
            </p:cNvSpPr>
            <p:nvPr/>
          </p:nvSpPr>
          <p:spPr bwMode="auto">
            <a:xfrm>
              <a:off x="4173549" y="4397371"/>
              <a:ext cx="126254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1600" dirty="0" smtClean="0">
                  <a:latin typeface="微軟正黑體" pitchFamily="34" charset="-120"/>
                  <a:ea typeface="微軟正黑體" pitchFamily="34" charset="-120"/>
                </a:rPr>
                <a:t>自動化制程</a:t>
              </a:r>
              <a:endParaRPr lang="en-US" altLang="zh-CN" sz="1600" dirty="0" smtClean="0">
                <a:latin typeface="微軟正黑體" pitchFamily="34" charset="-120"/>
                <a:ea typeface="微軟正黑體" pitchFamily="34" charset="-120"/>
              </a:endParaRPr>
            </a:p>
            <a:p>
              <a:pPr algn="ctr" eaLnBrk="1" latinLnBrk="1" hangingPunct="1"/>
              <a:r>
                <a:rPr lang="zh-CN" altLang="en-US" sz="1600" dirty="0" smtClean="0">
                  <a:latin typeface="微軟正黑體" pitchFamily="34" charset="-120"/>
                  <a:ea typeface="微軟正黑體" pitchFamily="34" charset="-120"/>
                </a:rPr>
                <a:t>軟體服務</a:t>
              </a:r>
              <a:endParaRPr lang="en-US" altLang="zh-CN" sz="1600" dirty="0" smtClean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7309868" y="3986014"/>
            <a:ext cx="1529654" cy="1368152"/>
            <a:chOff x="7093844" y="2769696"/>
            <a:chExt cx="1529654" cy="1601663"/>
          </a:xfrm>
        </p:grpSpPr>
        <p:grpSp>
          <p:nvGrpSpPr>
            <p:cNvPr id="18" name="Group 18"/>
            <p:cNvGrpSpPr>
              <a:grpSpLocks/>
            </p:cNvGrpSpPr>
            <p:nvPr/>
          </p:nvGrpSpPr>
          <p:grpSpPr bwMode="auto">
            <a:xfrm>
              <a:off x="7093844" y="2769696"/>
              <a:ext cx="1529654" cy="1601663"/>
              <a:chOff x="0" y="0"/>
              <a:chExt cx="1375" cy="1375"/>
            </a:xfrm>
          </p:grpSpPr>
          <p:sp>
            <p:nvSpPr>
              <p:cNvPr id="74" name="Text Box 20"/>
              <p:cNvSpPr txBox="1">
                <a:spLocks noChangeArrowheads="1"/>
              </p:cNvSpPr>
              <p:nvPr/>
            </p:nvSpPr>
            <p:spPr bwMode="auto">
              <a:xfrm>
                <a:off x="219" y="216"/>
                <a:ext cx="828" cy="8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2000" tIns="0" rIns="72000" bIns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tx1"/>
                    </a:solidFill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defRPr>
                </a:lvl9pPr>
              </a:lstStyle>
              <a:p>
                <a:pPr algn="ctr" eaLnBrk="1" hangingPunct="1"/>
                <a:endParaRPr lang="ko-KR" altLang="en-US" sz="1600" smtClean="0">
                  <a:solidFill>
                    <a:srgbClr val="FFFFFF"/>
                  </a:solidFill>
                  <a:latin typeface="微軟正黑體" pitchFamily="34" charset="-120"/>
                  <a:ea typeface="Malgun Gothic" pitchFamily="34" charset="-127"/>
                </a:endParaRPr>
              </a:p>
            </p:txBody>
          </p:sp>
          <p:pic>
            <p:nvPicPr>
              <p:cNvPr id="75" name="Oval 441"/>
              <p:cNvPicPr>
                <a:picLocks noChangeArrowheads="1"/>
              </p:cNvPicPr>
              <p:nvPr/>
            </p:nvPicPr>
            <p:blipFill>
              <a:blip r:embed="rId2" cstate="print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375" cy="1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" name="Text Box 443"/>
            <p:cNvSpPr txBox="1">
              <a:spLocks noChangeArrowheads="1"/>
            </p:cNvSpPr>
            <p:nvPr/>
          </p:nvSpPr>
          <p:spPr bwMode="auto">
            <a:xfrm>
              <a:off x="7485175" y="3330853"/>
              <a:ext cx="63426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其它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20" name="Text Box 443"/>
          <p:cNvSpPr txBox="1">
            <a:spLocks noChangeArrowheads="1"/>
          </p:cNvSpPr>
          <p:nvPr/>
        </p:nvSpPr>
        <p:spPr bwMode="auto">
          <a:xfrm>
            <a:off x="1273070" y="3662291"/>
            <a:ext cx="18314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latinLnBrk="1" hangingPunct="1"/>
            <a:r>
              <a:rPr lang="zh-TW" altLang="en-US" sz="16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智慧設備與系統</a:t>
            </a:r>
            <a:endParaRPr lang="en-US" altLang="zh-CN" sz="16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1" name="Text Box 443"/>
          <p:cNvSpPr txBox="1">
            <a:spLocks noChangeArrowheads="1"/>
          </p:cNvSpPr>
          <p:nvPr/>
        </p:nvSpPr>
        <p:spPr bwMode="auto">
          <a:xfrm>
            <a:off x="4088808" y="3671816"/>
            <a:ext cx="19223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latinLnBrk="1" hangingPunct="1"/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資料分析</a:t>
            </a:r>
            <a:r>
              <a:rPr lang="en-US" altLang="zh-CN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/</a:t>
            </a:r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資料採擷</a:t>
            </a:r>
            <a:endParaRPr lang="en-US" altLang="zh-CN" sz="14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2" name="Text Box 443"/>
          <p:cNvSpPr txBox="1">
            <a:spLocks noChangeArrowheads="1"/>
          </p:cNvSpPr>
          <p:nvPr/>
        </p:nvSpPr>
        <p:spPr bwMode="auto">
          <a:xfrm>
            <a:off x="6466064" y="3690866"/>
            <a:ext cx="192235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1" latinLnBrk="1" hangingPunct="1"/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人機協同</a:t>
            </a:r>
            <a:endParaRPr lang="en-US" altLang="zh-CN" sz="14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110" name="群組 109"/>
          <p:cNvGrpSpPr/>
          <p:nvPr/>
        </p:nvGrpSpPr>
        <p:grpSpPr>
          <a:xfrm>
            <a:off x="1410567" y="5636437"/>
            <a:ext cx="1905026" cy="1004348"/>
            <a:chOff x="1410567" y="5636437"/>
            <a:chExt cx="1905026" cy="1004348"/>
          </a:xfrm>
        </p:grpSpPr>
        <p:grpSp>
          <p:nvGrpSpPr>
            <p:cNvPr id="11" name="组合 13"/>
            <p:cNvGrpSpPr/>
            <p:nvPr/>
          </p:nvGrpSpPr>
          <p:grpSpPr>
            <a:xfrm>
              <a:off x="1410567" y="5636437"/>
              <a:ext cx="1905026" cy="1004348"/>
              <a:chOff x="428024" y="2907756"/>
              <a:chExt cx="3804678" cy="1774659"/>
            </a:xfrm>
            <a:effectLst/>
          </p:grpSpPr>
          <p:sp>
            <p:nvSpPr>
              <p:cNvPr id="88" name="Oval 30"/>
              <p:cNvSpPr>
                <a:spLocks noChangeArrowheads="1"/>
              </p:cNvSpPr>
              <p:nvPr/>
            </p:nvSpPr>
            <p:spPr bwMode="auto">
              <a:xfrm>
                <a:off x="428024" y="3105768"/>
                <a:ext cx="3804678" cy="157664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23000"/>
                  </a:srgbClr>
                </a:outerShdw>
              </a:effectLst>
              <a:scene3d>
                <a:camera prst="perspectiveRelaxedModerately"/>
                <a:lightRig rig="threePt" dir="t"/>
              </a:scene3d>
              <a:sp3d prstMaterial="metal">
                <a:bevelT w="260350" h="50800" prst="softRound"/>
                <a:bevelB w="88900"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2" indent="0" algn="ctr" font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tabLst>
                    <a:tab pos="136525" algn="l"/>
                  </a:tabLst>
                  <a:defRPr/>
                </a:pPr>
                <a:endParaRPr lang="zh-CN" altLang="zh-CN" sz="1100" b="0" smtClean="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grpSp>
            <p:nvGrpSpPr>
              <p:cNvPr id="89" name="组合 14"/>
              <p:cNvGrpSpPr/>
              <p:nvPr/>
            </p:nvGrpSpPr>
            <p:grpSpPr>
              <a:xfrm>
                <a:off x="642910" y="2907756"/>
                <a:ext cx="3391093" cy="1480517"/>
                <a:chOff x="714348" y="4424930"/>
                <a:chExt cx="3552978" cy="1764902"/>
              </a:xfrm>
              <a:scene3d>
                <a:camera prst="perspectiveRelaxedModerately"/>
                <a:lightRig rig="balanced" dir="t"/>
              </a:scene3d>
            </p:grpSpPr>
            <p:sp>
              <p:nvSpPr>
                <p:cNvPr id="90" name="Oval 32"/>
                <p:cNvSpPr>
                  <a:spLocks noChangeArrowheads="1"/>
                </p:cNvSpPr>
                <p:nvPr/>
              </p:nvSpPr>
              <p:spPr bwMode="auto">
                <a:xfrm>
                  <a:off x="714348" y="4424930"/>
                  <a:ext cx="3552978" cy="1764902"/>
                </a:xfrm>
                <a:prstGeom prst="ellipse">
                  <a:avLst/>
                </a:prstGeom>
                <a:gradFill flip="none" rotWithShape="1">
                  <a:gsLst>
                    <a:gs pos="99000">
                      <a:srgbClr val="FFC000"/>
                    </a:gs>
                    <a:gs pos="0">
                      <a:schemeClr val="accent6"/>
                    </a:gs>
                  </a:gsLst>
                  <a:lin ang="5400000" scaled="1"/>
                  <a:tileRect/>
                </a:gradFill>
                <a:ln w="4127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000"/>
                    </a:srgbClr>
                  </a:outerShdw>
                </a:effectLst>
                <a:sp3d extrusionH="38100" prstMaterial="plastic">
                  <a:bevelT w="260350" h="50800" prst="softRound"/>
                  <a:bevelB w="88900" h="1016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2" algn="ctr" fontAlgn="ctr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70000"/>
                    <a:buFont typeface="Wingdings" pitchFamily="2" charset="2"/>
                    <a:buChar char="u"/>
                    <a:tabLst>
                      <a:tab pos="136525" algn="l"/>
                    </a:tabLst>
                    <a:defRPr/>
                  </a:pPr>
                  <a:endParaRPr lang="zh-CN" altLang="zh-CN" sz="1100" b="0" dirty="0" smtClean="0">
                    <a:solidFill>
                      <a:schemeClr val="lt1"/>
                    </a:solidFill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91" name="Oval 33"/>
                <p:cNvSpPr>
                  <a:spLocks noChangeArrowheads="1"/>
                </p:cNvSpPr>
                <p:nvPr/>
              </p:nvSpPr>
              <p:spPr bwMode="auto">
                <a:xfrm>
                  <a:off x="1132105" y="4675725"/>
                  <a:ext cx="2742523" cy="1285882"/>
                </a:xfrm>
                <a:prstGeom prst="ellipse">
                  <a:avLst/>
                </a:prstGeom>
                <a:solidFill>
                  <a:schemeClr val="bg1">
                    <a:alpha val="8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non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zh-CN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</p:grpSp>
        </p:grpSp>
        <p:sp>
          <p:nvSpPr>
            <p:cNvPr id="23" name="Text Box 443"/>
            <p:cNvSpPr txBox="1">
              <a:spLocks noChangeArrowheads="1"/>
            </p:cNvSpPr>
            <p:nvPr/>
          </p:nvSpPr>
          <p:spPr bwMode="auto">
            <a:xfrm>
              <a:off x="1823087" y="5828006"/>
              <a:ext cx="11166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24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物聯網</a:t>
              </a:r>
              <a:endParaRPr lang="en-US" altLang="zh-CN" sz="2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24" name="Oval 17"/>
          <p:cNvSpPr>
            <a:spLocks noChangeArrowheads="1"/>
          </p:cNvSpPr>
          <p:nvPr/>
        </p:nvSpPr>
        <p:spPr bwMode="auto">
          <a:xfrm>
            <a:off x="2008287" y="1886616"/>
            <a:ext cx="674687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TW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自動倉儲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5" name="Oval 17"/>
          <p:cNvSpPr>
            <a:spLocks noChangeArrowheads="1"/>
          </p:cNvSpPr>
          <p:nvPr/>
        </p:nvSpPr>
        <p:spPr bwMode="auto">
          <a:xfrm>
            <a:off x="1269157" y="1890808"/>
            <a:ext cx="674687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自動發料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6" name="Oval 17"/>
          <p:cNvSpPr>
            <a:spLocks noChangeArrowheads="1"/>
          </p:cNvSpPr>
          <p:nvPr/>
        </p:nvSpPr>
        <p:spPr bwMode="auto">
          <a:xfrm>
            <a:off x="899694" y="2498547"/>
            <a:ext cx="669773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自動測試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7" name="Oval 17"/>
          <p:cNvSpPr>
            <a:spLocks noChangeArrowheads="1"/>
          </p:cNvSpPr>
          <p:nvPr/>
        </p:nvSpPr>
        <p:spPr bwMode="auto">
          <a:xfrm>
            <a:off x="1642644" y="2498547"/>
            <a:ext cx="669773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en-US" altLang="zh-CN" sz="1100" b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CCD</a:t>
            </a:r>
            <a:r>
              <a:rPr lang="zh-CN" altLang="en-US" sz="1100" b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檢測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8" name="Oval 17"/>
          <p:cNvSpPr>
            <a:spLocks noChangeArrowheads="1"/>
          </p:cNvSpPr>
          <p:nvPr/>
        </p:nvSpPr>
        <p:spPr bwMode="auto">
          <a:xfrm>
            <a:off x="2390059" y="2490986"/>
            <a:ext cx="669773" cy="674688"/>
          </a:xfrm>
          <a:prstGeom prst="ellipse">
            <a:avLst/>
          </a:prstGeom>
          <a:solidFill>
            <a:schemeClr val="tx2">
              <a:lumMod val="7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 eaLnBrk="0" latinLnBrk="0" hangingPunct="0">
              <a:lnSpc>
                <a:spcPct val="70000"/>
              </a:lnSpc>
            </a:pPr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自動封箱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69" name="Oval 27"/>
          <p:cNvSpPr>
            <a:spLocks noChangeArrowheads="1"/>
          </p:cNvSpPr>
          <p:nvPr/>
        </p:nvSpPr>
        <p:spPr bwMode="auto">
          <a:xfrm>
            <a:off x="4189487" y="1886616"/>
            <a:ext cx="647699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產能配置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0" name="Oval 27"/>
          <p:cNvSpPr>
            <a:spLocks noChangeArrowheads="1"/>
          </p:cNvSpPr>
          <p:nvPr/>
        </p:nvSpPr>
        <p:spPr bwMode="auto">
          <a:xfrm>
            <a:off x="4568087" y="2491628"/>
            <a:ext cx="642981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生產管控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1" name="Oval 27"/>
          <p:cNvSpPr>
            <a:spLocks noChangeArrowheads="1"/>
          </p:cNvSpPr>
          <p:nvPr/>
        </p:nvSpPr>
        <p:spPr bwMode="auto">
          <a:xfrm>
            <a:off x="4934844" y="1896141"/>
            <a:ext cx="647699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品質控管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2" name="Oval 27"/>
          <p:cNvSpPr>
            <a:spLocks noChangeArrowheads="1"/>
          </p:cNvSpPr>
          <p:nvPr/>
        </p:nvSpPr>
        <p:spPr bwMode="auto">
          <a:xfrm>
            <a:off x="5284991" y="2496961"/>
            <a:ext cx="642981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嫁動率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3" name="Oval 27"/>
          <p:cNvSpPr>
            <a:spLocks noChangeArrowheads="1"/>
          </p:cNvSpPr>
          <p:nvPr/>
        </p:nvSpPr>
        <p:spPr bwMode="auto">
          <a:xfrm>
            <a:off x="3841012" y="2496961"/>
            <a:ext cx="642981" cy="647699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物料配送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2" name="Oval 27"/>
          <p:cNvSpPr>
            <a:spLocks noChangeArrowheads="1"/>
          </p:cNvSpPr>
          <p:nvPr/>
        </p:nvSpPr>
        <p:spPr bwMode="auto">
          <a:xfrm>
            <a:off x="7116487" y="2462680"/>
            <a:ext cx="702868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智能診斷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3" name="Oval 27"/>
          <p:cNvSpPr>
            <a:spLocks noChangeArrowheads="1"/>
          </p:cNvSpPr>
          <p:nvPr/>
        </p:nvSpPr>
        <p:spPr bwMode="auto">
          <a:xfrm>
            <a:off x="6324399" y="2474735"/>
            <a:ext cx="702868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智能設計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4" name="Oval 27"/>
          <p:cNvSpPr>
            <a:spLocks noChangeArrowheads="1"/>
          </p:cNvSpPr>
          <p:nvPr/>
        </p:nvSpPr>
        <p:spPr bwMode="auto">
          <a:xfrm>
            <a:off x="6700862" y="1818800"/>
            <a:ext cx="708025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智能預測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5" name="Oval 27"/>
          <p:cNvSpPr>
            <a:spLocks noChangeArrowheads="1"/>
          </p:cNvSpPr>
          <p:nvPr/>
        </p:nvSpPr>
        <p:spPr bwMode="auto">
          <a:xfrm>
            <a:off x="7512000" y="1824133"/>
            <a:ext cx="708025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智能調度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6" name="Oval 27"/>
          <p:cNvSpPr>
            <a:spLocks noChangeArrowheads="1"/>
          </p:cNvSpPr>
          <p:nvPr/>
        </p:nvSpPr>
        <p:spPr bwMode="auto">
          <a:xfrm>
            <a:off x="7908575" y="2462680"/>
            <a:ext cx="702868" cy="708025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tx1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 algn="ctr"/>
            <a:r>
              <a:rPr lang="zh-CN" altLang="en-US" sz="1100" b="0" dirty="0" smtClean="0">
                <a:solidFill>
                  <a:srgbClr val="FFFFFF"/>
                </a:solidFill>
                <a:latin typeface="微軟正黑體" pitchFamily="34" charset="-120"/>
                <a:ea typeface="微軟正黑體" pitchFamily="34" charset="-120"/>
              </a:rPr>
              <a:t>智能決策</a:t>
            </a:r>
            <a:endParaRPr lang="en-US" altLang="ko-KR" sz="1100" b="0" dirty="0">
              <a:solidFill>
                <a:srgbClr val="FFFFFF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109" name="群組 108"/>
          <p:cNvGrpSpPr/>
          <p:nvPr/>
        </p:nvGrpSpPr>
        <p:grpSpPr>
          <a:xfrm>
            <a:off x="3630116" y="5655487"/>
            <a:ext cx="2031529" cy="1004348"/>
            <a:chOff x="3630116" y="5655487"/>
            <a:chExt cx="2031529" cy="1004348"/>
          </a:xfrm>
        </p:grpSpPr>
        <p:grpSp>
          <p:nvGrpSpPr>
            <p:cNvPr id="38" name="组合 13"/>
            <p:cNvGrpSpPr/>
            <p:nvPr/>
          </p:nvGrpSpPr>
          <p:grpSpPr>
            <a:xfrm>
              <a:off x="3675086" y="5655487"/>
              <a:ext cx="1905026" cy="1004348"/>
              <a:chOff x="428024" y="2907756"/>
              <a:chExt cx="3804678" cy="1774659"/>
            </a:xfrm>
            <a:effectLst/>
          </p:grpSpPr>
          <p:sp>
            <p:nvSpPr>
              <p:cNvPr id="64" name="Oval 30"/>
              <p:cNvSpPr>
                <a:spLocks noChangeArrowheads="1"/>
              </p:cNvSpPr>
              <p:nvPr/>
            </p:nvSpPr>
            <p:spPr bwMode="auto">
              <a:xfrm>
                <a:off x="428024" y="3105768"/>
                <a:ext cx="3804678" cy="157664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23000"/>
                  </a:srgbClr>
                </a:outerShdw>
              </a:effectLst>
              <a:scene3d>
                <a:camera prst="perspectiveRelaxedModerately"/>
                <a:lightRig rig="threePt" dir="t"/>
              </a:scene3d>
              <a:sp3d prstMaterial="metal">
                <a:bevelT w="260350" h="50800" prst="softRound"/>
                <a:bevelB w="88900"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2" indent="0" algn="ctr" font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tabLst>
                    <a:tab pos="136525" algn="l"/>
                  </a:tabLst>
                  <a:defRPr/>
                </a:pPr>
                <a:endParaRPr lang="zh-CN" altLang="zh-CN" sz="160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grpSp>
            <p:nvGrpSpPr>
              <p:cNvPr id="65" name="组合 14"/>
              <p:cNvGrpSpPr/>
              <p:nvPr/>
            </p:nvGrpSpPr>
            <p:grpSpPr>
              <a:xfrm>
                <a:off x="642910" y="2907756"/>
                <a:ext cx="3391093" cy="1480517"/>
                <a:chOff x="714348" y="4424930"/>
                <a:chExt cx="3552978" cy="1764902"/>
              </a:xfrm>
              <a:scene3d>
                <a:camera prst="perspectiveRelaxedModerately"/>
                <a:lightRig rig="balanced" dir="t"/>
              </a:scene3d>
            </p:grpSpPr>
            <p:sp>
              <p:nvSpPr>
                <p:cNvPr id="66" name="Oval 32"/>
                <p:cNvSpPr>
                  <a:spLocks noChangeArrowheads="1"/>
                </p:cNvSpPr>
                <p:nvPr/>
              </p:nvSpPr>
              <p:spPr bwMode="auto">
                <a:xfrm>
                  <a:off x="714348" y="4424930"/>
                  <a:ext cx="3552978" cy="1764902"/>
                </a:xfrm>
                <a:prstGeom prst="ellipse">
                  <a:avLst/>
                </a:prstGeom>
                <a:gradFill flip="none" rotWithShape="1">
                  <a:gsLst>
                    <a:gs pos="99000">
                      <a:srgbClr val="FFC000"/>
                    </a:gs>
                    <a:gs pos="0">
                      <a:schemeClr val="accent6"/>
                    </a:gs>
                  </a:gsLst>
                  <a:lin ang="5400000" scaled="1"/>
                  <a:tileRect/>
                </a:gradFill>
                <a:ln w="4127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000"/>
                    </a:srgbClr>
                  </a:outerShdw>
                </a:effectLst>
                <a:sp3d extrusionH="38100" prstMaterial="plastic">
                  <a:bevelT w="260350" h="50800" prst="softRound"/>
                  <a:bevelB w="88900" h="1016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2" algn="ctr" fontAlgn="ctr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70000"/>
                    <a:buFont typeface="Wingdings" pitchFamily="2" charset="2"/>
                    <a:buChar char="u"/>
                    <a:tabLst>
                      <a:tab pos="136525" algn="l"/>
                    </a:tabLst>
                    <a:defRPr/>
                  </a:pPr>
                  <a:endParaRPr lang="zh-CN" altLang="zh-CN" sz="1600" dirty="0" smtClean="0">
                    <a:solidFill>
                      <a:srgbClr val="C00000"/>
                    </a:solidFill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67" name="Oval 33"/>
                <p:cNvSpPr>
                  <a:spLocks noChangeArrowheads="1"/>
                </p:cNvSpPr>
                <p:nvPr/>
              </p:nvSpPr>
              <p:spPr bwMode="auto">
                <a:xfrm>
                  <a:off x="1132105" y="4675725"/>
                  <a:ext cx="2742523" cy="1285882"/>
                </a:xfrm>
                <a:prstGeom prst="ellipse">
                  <a:avLst/>
                </a:prstGeom>
                <a:solidFill>
                  <a:schemeClr val="bg1">
                    <a:alpha val="8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non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</p:grpSp>
        </p:grpSp>
        <p:sp>
          <p:nvSpPr>
            <p:cNvPr id="39" name="Text Box 443"/>
            <p:cNvSpPr txBox="1">
              <a:spLocks noChangeArrowheads="1"/>
            </p:cNvSpPr>
            <p:nvPr/>
          </p:nvSpPr>
          <p:spPr bwMode="auto">
            <a:xfrm>
              <a:off x="3630116" y="5705709"/>
              <a:ext cx="2031529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en-US" altLang="zh-CN" sz="20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IMES</a:t>
              </a:r>
            </a:p>
            <a:p>
              <a:pPr algn="ctr" eaLnBrk="1" latinLnBrk="1" hangingPunct="1"/>
              <a:r>
                <a:rPr lang="zh-TW" altLang="en-US" sz="18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（智慧系統）</a:t>
              </a:r>
              <a:endParaRPr lang="en-US" altLang="zh-CN" sz="18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108" name="群組 107"/>
          <p:cNvGrpSpPr/>
          <p:nvPr/>
        </p:nvGrpSpPr>
        <p:grpSpPr>
          <a:xfrm>
            <a:off x="6051350" y="5626912"/>
            <a:ext cx="1905026" cy="1004348"/>
            <a:chOff x="5907334" y="5665012"/>
            <a:chExt cx="1905026" cy="1004348"/>
          </a:xfrm>
        </p:grpSpPr>
        <p:grpSp>
          <p:nvGrpSpPr>
            <p:cNvPr id="40" name="组合 13"/>
            <p:cNvGrpSpPr/>
            <p:nvPr/>
          </p:nvGrpSpPr>
          <p:grpSpPr>
            <a:xfrm>
              <a:off x="5907334" y="5665012"/>
              <a:ext cx="1905026" cy="1004348"/>
              <a:chOff x="428024" y="2907756"/>
              <a:chExt cx="3804678" cy="1774659"/>
            </a:xfrm>
            <a:effectLst/>
          </p:grpSpPr>
          <p:sp>
            <p:nvSpPr>
              <p:cNvPr id="60" name="Oval 30"/>
              <p:cNvSpPr>
                <a:spLocks noChangeArrowheads="1"/>
              </p:cNvSpPr>
              <p:nvPr/>
            </p:nvSpPr>
            <p:spPr bwMode="auto">
              <a:xfrm>
                <a:off x="428024" y="3105768"/>
                <a:ext cx="3804678" cy="157664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23000"/>
                  </a:srgbClr>
                </a:outerShdw>
              </a:effectLst>
              <a:scene3d>
                <a:camera prst="perspectiveRelaxedModerately"/>
                <a:lightRig rig="threePt" dir="t"/>
              </a:scene3d>
              <a:sp3d prstMaterial="metal">
                <a:bevelT w="260350" h="50800" prst="softRound"/>
                <a:bevelB w="88900" h="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2" indent="0" algn="ctr" font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tabLst>
                    <a:tab pos="136525" algn="l"/>
                  </a:tabLst>
                  <a:defRPr/>
                </a:pPr>
                <a:endParaRPr lang="zh-CN" altLang="zh-CN" sz="160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grpSp>
            <p:nvGrpSpPr>
              <p:cNvPr id="61" name="组合 14"/>
              <p:cNvGrpSpPr/>
              <p:nvPr/>
            </p:nvGrpSpPr>
            <p:grpSpPr>
              <a:xfrm>
                <a:off x="642910" y="2907756"/>
                <a:ext cx="3391093" cy="1480517"/>
                <a:chOff x="714348" y="4424930"/>
                <a:chExt cx="3552978" cy="1764902"/>
              </a:xfrm>
              <a:scene3d>
                <a:camera prst="perspectiveRelaxedModerately"/>
                <a:lightRig rig="balanced" dir="t"/>
              </a:scene3d>
            </p:grpSpPr>
            <p:sp>
              <p:nvSpPr>
                <p:cNvPr id="62" name="Oval 32"/>
                <p:cNvSpPr>
                  <a:spLocks noChangeArrowheads="1"/>
                </p:cNvSpPr>
                <p:nvPr/>
              </p:nvSpPr>
              <p:spPr bwMode="auto">
                <a:xfrm>
                  <a:off x="714348" y="4424930"/>
                  <a:ext cx="3552978" cy="1764902"/>
                </a:xfrm>
                <a:prstGeom prst="ellipse">
                  <a:avLst/>
                </a:prstGeom>
                <a:gradFill flip="none" rotWithShape="1">
                  <a:gsLst>
                    <a:gs pos="99000">
                      <a:srgbClr val="FFC000"/>
                    </a:gs>
                    <a:gs pos="0">
                      <a:schemeClr val="accent6"/>
                    </a:gs>
                  </a:gsLst>
                  <a:lin ang="5400000" scaled="1"/>
                  <a:tileRect/>
                </a:gradFill>
                <a:ln w="4127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000"/>
                    </a:srgbClr>
                  </a:outerShdw>
                </a:effectLst>
                <a:sp3d extrusionH="38100" prstMaterial="plastic">
                  <a:bevelT w="260350" h="50800" prst="softRound"/>
                  <a:bevelB w="88900" h="101600" prst="softRound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lvl="2" algn="ctr" fontAlgn="ctr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FF0000"/>
                    </a:buClr>
                    <a:buSzPct val="70000"/>
                    <a:buFont typeface="Wingdings" pitchFamily="2" charset="2"/>
                    <a:buChar char="u"/>
                    <a:tabLst>
                      <a:tab pos="136525" algn="l"/>
                    </a:tabLst>
                    <a:defRPr/>
                  </a:pPr>
                  <a:endParaRPr lang="zh-CN" altLang="zh-CN" sz="1600" dirty="0" smtClean="0">
                    <a:solidFill>
                      <a:srgbClr val="C00000"/>
                    </a:solidFill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  <p:sp>
              <p:nvSpPr>
                <p:cNvPr id="63" name="Oval 33"/>
                <p:cNvSpPr>
                  <a:spLocks noChangeArrowheads="1"/>
                </p:cNvSpPr>
                <p:nvPr/>
              </p:nvSpPr>
              <p:spPr bwMode="auto">
                <a:xfrm>
                  <a:off x="1132105" y="4675725"/>
                  <a:ext cx="2742523" cy="1285882"/>
                </a:xfrm>
                <a:prstGeom prst="ellipse">
                  <a:avLst/>
                </a:prstGeom>
                <a:solidFill>
                  <a:schemeClr val="bg1">
                    <a:alpha val="89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non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zh-TW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5pPr>
                  <a:lvl6pPr marL="22860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6pPr>
                  <a:lvl7pPr marL="27432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7pPr>
                  <a:lvl8pPr marL="32004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8pPr>
                  <a:lvl9pPr marL="3657600" algn="l" defTabSz="914400" rtl="0" eaLnBrk="1" latinLnBrk="0" hangingPunct="1">
                    <a:defRPr kumimoji="1" sz="2800" b="1" kern="1200">
                      <a:solidFill>
                        <a:schemeClr val="tx1"/>
                      </a:solidFill>
                      <a:latin typeface="Arial Unicode MS" pitchFamily="34" charset="-120"/>
                      <a:ea typeface="Arial Unicode MS" pitchFamily="34" charset="-120"/>
                      <a:cs typeface="Arial Unicode MS" pitchFamily="34" charset="-120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zh-CN" sz="1600" i="0" u="none" strike="noStrike" cap="none" normalizeH="0" baseline="0" smtClean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微軟正黑體" pitchFamily="34" charset="-120"/>
                    <a:ea typeface="微軟正黑體" pitchFamily="34" charset="-120"/>
                  </a:endParaRPr>
                </a:p>
              </p:txBody>
            </p:sp>
          </p:grpSp>
        </p:grpSp>
        <p:sp>
          <p:nvSpPr>
            <p:cNvPr id="41" name="Text Box 443"/>
            <p:cNvSpPr txBox="1">
              <a:spLocks noChangeArrowheads="1"/>
            </p:cNvSpPr>
            <p:nvPr/>
          </p:nvSpPr>
          <p:spPr bwMode="auto">
            <a:xfrm>
              <a:off x="6138614" y="5869469"/>
              <a:ext cx="15297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zh-CN" altLang="en-US" sz="2000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智慧設備</a:t>
              </a:r>
              <a:endParaRPr lang="en-US" altLang="zh-CN" sz="20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45" name="圓角矩形 44"/>
          <p:cNvSpPr/>
          <p:nvPr/>
        </p:nvSpPr>
        <p:spPr bwMode="auto">
          <a:xfrm>
            <a:off x="611560" y="880341"/>
            <a:ext cx="704850" cy="676275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智慧</a:t>
            </a:r>
            <a:endParaRPr lang="en-US" altLang="zh-CN" sz="1400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工廠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6" name="圓角矩形 45"/>
          <p:cNvSpPr/>
          <p:nvPr/>
        </p:nvSpPr>
        <p:spPr bwMode="auto">
          <a:xfrm>
            <a:off x="1831974" y="855762"/>
            <a:ext cx="981075" cy="60960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智慧設備與系統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7" name="圓角矩形 46"/>
          <p:cNvSpPr/>
          <p:nvPr/>
        </p:nvSpPr>
        <p:spPr bwMode="auto">
          <a:xfrm>
            <a:off x="3127374" y="865289"/>
            <a:ext cx="981075" cy="704850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機器人</a:t>
            </a:r>
            <a:r>
              <a:rPr kumimoji="1" lang="en-US" altLang="zh-CN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/</a:t>
            </a:r>
            <a:r>
              <a:rPr kumimoji="1" lang="zh-CN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機器手臂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8" name="圓角矩形 47"/>
          <p:cNvSpPr/>
          <p:nvPr/>
        </p:nvSpPr>
        <p:spPr bwMode="auto">
          <a:xfrm>
            <a:off x="4423022" y="827187"/>
            <a:ext cx="657226" cy="7810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虛實工廠設計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49" name="圓角矩形 48"/>
          <p:cNvSpPr/>
          <p:nvPr/>
        </p:nvSpPr>
        <p:spPr bwMode="auto">
          <a:xfrm>
            <a:off x="5384799" y="827187"/>
            <a:ext cx="838201" cy="7810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自動化系統整合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50" name="圓角矩形 49"/>
          <p:cNvSpPr/>
          <p:nvPr/>
        </p:nvSpPr>
        <p:spPr bwMode="auto">
          <a:xfrm>
            <a:off x="6537324" y="808137"/>
            <a:ext cx="495301" cy="790576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物料網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51" name="圓角矩形 50"/>
          <p:cNvSpPr/>
          <p:nvPr/>
        </p:nvSpPr>
        <p:spPr bwMode="auto">
          <a:xfrm>
            <a:off x="7327899" y="817662"/>
            <a:ext cx="495301" cy="7810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大數據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sp>
        <p:nvSpPr>
          <p:cNvPr id="52" name="圓角矩形 51"/>
          <p:cNvSpPr/>
          <p:nvPr/>
        </p:nvSpPr>
        <p:spPr bwMode="auto">
          <a:xfrm>
            <a:off x="8156574" y="836712"/>
            <a:ext cx="476251" cy="742951"/>
          </a:xfrm>
          <a:prstGeom prst="round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28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40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微軟正黑體" pitchFamily="34" charset="-120"/>
                <a:ea typeface="微軟正黑體" pitchFamily="34" charset="-120"/>
                <a:cs typeface="Arial Unicode MS" pitchFamily="34" charset="-120"/>
              </a:rPr>
              <a:t>雲計算</a:t>
            </a:r>
            <a:endParaRPr kumimoji="1" lang="zh-TW" altLang="en-US" sz="140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微軟正黑體" pitchFamily="34" charset="-120"/>
              <a:ea typeface="微軟正黑體" pitchFamily="34" charset="-120"/>
              <a:cs typeface="Arial Unicode MS" pitchFamily="34" charset="-120"/>
            </a:endParaRPr>
          </a:p>
        </p:txBody>
      </p:sp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4300" y="1079601"/>
            <a:ext cx="400050" cy="2381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60675" y="108912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56075" y="108912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18100" y="1098651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70625" y="1098651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70725" y="108912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70825" y="1070076"/>
            <a:ext cx="228600" cy="2190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92" name="文字方塊 91"/>
          <p:cNvSpPr txBox="1"/>
          <p:nvPr/>
        </p:nvSpPr>
        <p:spPr>
          <a:xfrm>
            <a:off x="2915816" y="4462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 smtClean="0">
                <a:latin typeface="微軟正黑體" pitchFamily="34" charset="-120"/>
                <a:ea typeface="微軟正黑體" pitchFamily="34" charset="-120"/>
              </a:rPr>
              <a:t>智慧工廠示意圖</a:t>
            </a:r>
            <a:endParaRPr lang="zh-TW" altLang="en-US" sz="40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23528" y="692696"/>
            <a:ext cx="8640960" cy="6048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圓角矩形 105"/>
          <p:cNvSpPr/>
          <p:nvPr/>
        </p:nvSpPr>
        <p:spPr>
          <a:xfrm>
            <a:off x="3419872" y="3659882"/>
            <a:ext cx="2736304" cy="185735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4" name="群組 103"/>
          <p:cNvGrpSpPr/>
          <p:nvPr/>
        </p:nvGrpSpPr>
        <p:grpSpPr>
          <a:xfrm>
            <a:off x="5675362" y="4033639"/>
            <a:ext cx="1601662" cy="1296144"/>
            <a:chOff x="5508104" y="3933056"/>
            <a:chExt cx="1601662" cy="1601663"/>
          </a:xfrm>
        </p:grpSpPr>
        <p:sp>
          <p:nvSpPr>
            <p:cNvPr id="76" name="Text Box 20"/>
            <p:cNvSpPr txBox="1">
              <a:spLocks noChangeArrowheads="1"/>
            </p:cNvSpPr>
            <p:nvPr/>
          </p:nvSpPr>
          <p:spPr bwMode="auto">
            <a:xfrm>
              <a:off x="5745719" y="4215223"/>
              <a:ext cx="964492" cy="959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 anchor="ctr"/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hangingPunct="1"/>
              <a:endParaRPr lang="ko-KR" altLang="en-US" sz="1100" b="0" smtClean="0">
                <a:solidFill>
                  <a:srgbClr val="FFFFFF"/>
                </a:solidFill>
                <a:latin typeface="微軟正黑體" pitchFamily="34" charset="-120"/>
                <a:ea typeface="Malgun Gothic" pitchFamily="34" charset="-127"/>
              </a:endParaRPr>
            </a:p>
          </p:txBody>
        </p:sp>
        <p:pic>
          <p:nvPicPr>
            <p:cNvPr id="77" name="Oval 441"/>
            <p:cNvPicPr>
              <a:picLocks noChangeArrowheads="1"/>
            </p:cNvPicPr>
            <p:nvPr/>
          </p:nvPicPr>
          <p:blipFill>
            <a:blip r:embed="rId2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8104" y="3933056"/>
              <a:ext cx="1601662" cy="16016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xtLst/>
          </p:spPr>
        </p:pic>
        <p:sp>
          <p:nvSpPr>
            <p:cNvPr id="17" name="Text Box 443"/>
            <p:cNvSpPr txBox="1">
              <a:spLocks noChangeArrowheads="1"/>
            </p:cNvSpPr>
            <p:nvPr/>
          </p:nvSpPr>
          <p:spPr bwMode="auto">
            <a:xfrm>
              <a:off x="5686028" y="4374629"/>
              <a:ext cx="111669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 eaLnBrk="1" latinLnBrk="1" hangingPunct="1"/>
              <a:r>
                <a:rPr lang="en-US" altLang="zh-CN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Big Data</a:t>
              </a:r>
            </a:p>
            <a:p>
              <a:pPr algn="ctr" eaLnBrk="1" latinLnBrk="1" hangingPunct="1"/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雲計算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grpSp>
        <p:nvGrpSpPr>
          <p:cNvPr id="103" name="群組 102"/>
          <p:cNvGrpSpPr/>
          <p:nvPr/>
        </p:nvGrpSpPr>
        <p:grpSpPr>
          <a:xfrm>
            <a:off x="2555776" y="4038972"/>
            <a:ext cx="1386125" cy="1201310"/>
            <a:chOff x="2643717" y="4043989"/>
            <a:chExt cx="1386125" cy="1378409"/>
          </a:xfrm>
        </p:grpSpPr>
        <p:grpSp>
          <p:nvGrpSpPr>
            <p:cNvPr id="80" name="组合 35"/>
            <p:cNvGrpSpPr/>
            <p:nvPr/>
          </p:nvGrpSpPr>
          <p:grpSpPr>
            <a:xfrm>
              <a:off x="2643717" y="4043989"/>
              <a:ext cx="1386125" cy="1378409"/>
              <a:chOff x="2707733" y="3009896"/>
              <a:chExt cx="2214580" cy="2214578"/>
            </a:xfrm>
            <a:solidFill>
              <a:srgbClr val="002060"/>
            </a:solidFill>
          </p:grpSpPr>
          <p:sp>
            <p:nvSpPr>
              <p:cNvPr id="82" name="椭圆 74"/>
              <p:cNvSpPr/>
              <p:nvPr/>
            </p:nvSpPr>
            <p:spPr>
              <a:xfrm>
                <a:off x="2707733" y="3009896"/>
                <a:ext cx="2214580" cy="2214578"/>
              </a:xfrm>
              <a:prstGeom prst="ellipse">
                <a:avLst/>
              </a:prstGeom>
              <a:grpFill/>
              <a:ln>
                <a:noFill/>
              </a:ln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  <p:sp>
            <p:nvSpPr>
              <p:cNvPr id="83" name="椭圆 80"/>
              <p:cNvSpPr/>
              <p:nvPr/>
            </p:nvSpPr>
            <p:spPr>
              <a:xfrm>
                <a:off x="2984492" y="3279776"/>
                <a:ext cx="1214446" cy="100013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umimoji="1" sz="2800" b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sz="1600">
                  <a:latin typeface="微軟正黑體" pitchFamily="34" charset="-120"/>
                  <a:ea typeface="微軟正黑體" pitchFamily="34" charset="-120"/>
                </a:endParaRPr>
              </a:p>
            </p:txBody>
          </p:sp>
        </p:grpSp>
        <p:sp>
          <p:nvSpPr>
            <p:cNvPr id="81" name="Text Box 39"/>
            <p:cNvSpPr txBox="1">
              <a:spLocks noChangeArrowheads="1"/>
            </p:cNvSpPr>
            <p:nvPr/>
          </p:nvSpPr>
          <p:spPr bwMode="auto">
            <a:xfrm>
              <a:off x="2828551" y="4381946"/>
              <a:ext cx="1095377" cy="683264"/>
            </a:xfrm>
            <a:prstGeom prst="rect">
              <a:avLst/>
            </a:prstGeom>
            <a:solidFill>
              <a:srgbClr val="00206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自動化</a:t>
              </a:r>
              <a:endParaRPr lang="en-US" altLang="zh-CN" sz="1600" dirty="0" smtClean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600" dirty="0" smtClean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制程設備</a:t>
              </a:r>
              <a:endParaRPr lang="zh-CN" altLang="en-US" sz="1600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cxnSp>
        <p:nvCxnSpPr>
          <p:cNvPr id="115" name="直線接點 114"/>
          <p:cNvCxnSpPr/>
          <p:nvPr/>
        </p:nvCxnSpPr>
        <p:spPr>
          <a:xfrm>
            <a:off x="323528" y="1706141"/>
            <a:ext cx="86409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2824" y="623743"/>
            <a:ext cx="8784976" cy="6234257"/>
          </a:xfrm>
          <a:prstGeom prst="rect">
            <a:avLst/>
          </a:prstGeom>
        </p:spPr>
      </p:pic>
      <p:sp>
        <p:nvSpPr>
          <p:cNvPr id="63" name="文字方塊 62"/>
          <p:cNvSpPr txBox="1"/>
          <p:nvPr/>
        </p:nvSpPr>
        <p:spPr>
          <a:xfrm>
            <a:off x="6984394" y="6372036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22183"/>
          </a:xfrm>
        </p:spPr>
        <p:txBody>
          <a:bodyPr>
            <a:normAutofit fontScale="90000"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製造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應用階層</a:t>
            </a:r>
          </a:p>
        </p:txBody>
      </p:sp>
    </p:spTree>
    <p:extLst>
      <p:ext uri="{BB962C8B-B14F-4D97-AF65-F5344CB8AC3E}">
        <p14:creationId xmlns:p14="http://schemas.microsoft.com/office/powerpoint/2010/main" val="248962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直線接點 128"/>
          <p:cNvCxnSpPr/>
          <p:nvPr/>
        </p:nvCxnSpPr>
        <p:spPr bwMode="auto">
          <a:xfrm rot="16200000" flipH="1">
            <a:off x="7121172" y="5848380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1" name="直線接點 130"/>
          <p:cNvCxnSpPr/>
          <p:nvPr/>
        </p:nvCxnSpPr>
        <p:spPr bwMode="auto">
          <a:xfrm rot="16200000" flipH="1">
            <a:off x="5392980" y="5920388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3" name="直線接點 132"/>
          <p:cNvCxnSpPr/>
          <p:nvPr/>
        </p:nvCxnSpPr>
        <p:spPr bwMode="auto">
          <a:xfrm rot="16200000" flipH="1">
            <a:off x="3880812" y="5848380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8" name="等腰三角形 167"/>
          <p:cNvSpPr/>
          <p:nvPr/>
        </p:nvSpPr>
        <p:spPr>
          <a:xfrm>
            <a:off x="179512" y="908720"/>
            <a:ext cx="3024336" cy="5661248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>
              <a:solidFill>
                <a:schemeClr val="tx1"/>
              </a:solidFill>
            </a:endParaRPr>
          </a:p>
        </p:txBody>
      </p:sp>
      <p:sp>
        <p:nvSpPr>
          <p:cNvPr id="321" name="矩形 320"/>
          <p:cNvSpPr/>
          <p:nvPr/>
        </p:nvSpPr>
        <p:spPr>
          <a:xfrm>
            <a:off x="4079567" y="668655"/>
            <a:ext cx="1554931" cy="516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endParaRPr lang="en-US" altLang="zh-CN" sz="1300" dirty="0" smtClean="0">
              <a:solidFill>
                <a:schemeClr val="accent6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300" dirty="0" smtClean="0">
                <a:solidFill>
                  <a:schemeClr val="accent6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          </a:t>
            </a:r>
            <a:endParaRPr lang="en-US" altLang="zh-CN" sz="1300" dirty="0" smtClean="0">
              <a:solidFill>
                <a:schemeClr val="accent6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7" name="標題 1"/>
          <p:cNvSpPr txBox="1">
            <a:spLocks/>
          </p:cNvSpPr>
          <p:nvPr/>
        </p:nvSpPr>
        <p:spPr>
          <a:xfrm>
            <a:off x="518864" y="44624"/>
            <a:ext cx="8229600" cy="622183"/>
          </a:xfrm>
          <a:prstGeom prst="rect">
            <a:avLst/>
          </a:prstGeom>
        </p:spPr>
        <p:txBody>
          <a:bodyPr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zh-TW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智慧製造資訊應用階層</a:t>
            </a:r>
            <a:r>
              <a:rPr lang="en-US" altLang="zh-TW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CN" altLang="en-US" sz="3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示意图</a:t>
            </a:r>
            <a:endParaRPr kumimoji="0" lang="zh-TW" altLang="en-US" sz="3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j-cs"/>
            </a:endParaRPr>
          </a:p>
        </p:txBody>
      </p:sp>
      <p:cxnSp>
        <p:nvCxnSpPr>
          <p:cNvPr id="248" name="直線接點 247"/>
          <p:cNvCxnSpPr/>
          <p:nvPr/>
        </p:nvCxnSpPr>
        <p:spPr bwMode="auto">
          <a:xfrm rot="16200000" flipH="1">
            <a:off x="3890865" y="1933017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4" name="直線接點 253"/>
          <p:cNvCxnSpPr/>
          <p:nvPr/>
        </p:nvCxnSpPr>
        <p:spPr bwMode="auto">
          <a:xfrm rot="16200000" flipH="1">
            <a:off x="7049164" y="1933017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1" name="直線接點 240"/>
          <p:cNvCxnSpPr/>
          <p:nvPr/>
        </p:nvCxnSpPr>
        <p:spPr bwMode="auto">
          <a:xfrm rot="16200000" flipH="1">
            <a:off x="3890864" y="2806445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2" name="直線接點 241"/>
          <p:cNvCxnSpPr/>
          <p:nvPr/>
        </p:nvCxnSpPr>
        <p:spPr bwMode="auto">
          <a:xfrm rot="16200000" flipH="1">
            <a:off x="5320972" y="2806445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3" name="直線接點 242"/>
          <p:cNvCxnSpPr/>
          <p:nvPr/>
        </p:nvCxnSpPr>
        <p:spPr bwMode="auto">
          <a:xfrm rot="16200000" flipH="1">
            <a:off x="7049164" y="2806445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2" name="直線接點 231"/>
          <p:cNvCxnSpPr/>
          <p:nvPr/>
        </p:nvCxnSpPr>
        <p:spPr bwMode="auto">
          <a:xfrm rot="16200000" flipH="1">
            <a:off x="3880812" y="3555161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3" name="直線接點 232"/>
          <p:cNvCxnSpPr/>
          <p:nvPr/>
        </p:nvCxnSpPr>
        <p:spPr bwMode="auto">
          <a:xfrm rot="16200000" flipH="1">
            <a:off x="5320972" y="3555161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4" name="直線接點 233"/>
          <p:cNvCxnSpPr/>
          <p:nvPr/>
        </p:nvCxnSpPr>
        <p:spPr bwMode="auto">
          <a:xfrm rot="16200000" flipH="1">
            <a:off x="7049164" y="3555161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0" name="直線接點 229"/>
          <p:cNvCxnSpPr/>
          <p:nvPr/>
        </p:nvCxnSpPr>
        <p:spPr bwMode="auto">
          <a:xfrm rot="16200000" flipH="1" flipV="1">
            <a:off x="4670649" y="2089048"/>
            <a:ext cx="0" cy="561427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2" name="AutoShape 43"/>
          <p:cNvSpPr>
            <a:spLocks noChangeArrowheads="1"/>
          </p:cNvSpPr>
          <p:nvPr/>
        </p:nvSpPr>
        <p:spPr bwMode="gray">
          <a:xfrm>
            <a:off x="3635896" y="1196752"/>
            <a:ext cx="727486" cy="501645"/>
          </a:xfrm>
          <a:prstGeom prst="can">
            <a:avLst>
              <a:gd name="adj" fmla="val 32083"/>
            </a:avLst>
          </a:prstGeom>
          <a:solidFill>
            <a:schemeClr val="accent4">
              <a:lumMod val="75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4832156" y="1413295"/>
            <a:ext cx="851515" cy="33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3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資料倉庫</a:t>
            </a:r>
            <a:endParaRPr lang="en-US" altLang="zh-CN" sz="13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3" name="AutoShape 9"/>
          <p:cNvSpPr>
            <a:spLocks noChangeArrowheads="1"/>
          </p:cNvSpPr>
          <p:nvPr/>
        </p:nvSpPr>
        <p:spPr bwMode="auto">
          <a:xfrm>
            <a:off x="3538488" y="2920277"/>
            <a:ext cx="1080120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04" name="矩形 203"/>
          <p:cNvSpPr/>
          <p:nvPr/>
        </p:nvSpPr>
        <p:spPr>
          <a:xfrm>
            <a:off x="3559510" y="2978659"/>
            <a:ext cx="990977" cy="38779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SAP</a:t>
            </a:r>
            <a:r>
              <a:rPr lang="zh-CN" altLang="en-US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endParaRPr lang="en-US" altLang="zh-CN" sz="16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7652229" y="3056028"/>
            <a:ext cx="543739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品質</a:t>
            </a:r>
            <a:endParaRPr lang="en-US" altLang="zh-CN" sz="14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管理</a:t>
            </a:r>
            <a:endParaRPr lang="en-US" altLang="zh-CN" sz="1400" b="1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3" name="AutoShape 8"/>
          <p:cNvSpPr>
            <a:spLocks noChangeArrowheads="1"/>
          </p:cNvSpPr>
          <p:nvPr/>
        </p:nvSpPr>
        <p:spPr bwMode="auto">
          <a:xfrm>
            <a:off x="3491880" y="3645024"/>
            <a:ext cx="4392488" cy="436714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584D85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eaLnBrk="1" latinLnBrk="1" hangingPunct="1">
              <a:defRPr/>
            </a:pPr>
            <a:r>
              <a:rPr lang="en-US" altLang="zh-TW" sz="1600" b="1" i="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Shop Floor Control (iMES)</a:t>
            </a:r>
            <a:endParaRPr kumimoji="0" lang="ko-KR" altLang="en-US" sz="1600" b="1" i="1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88" name="AutoShape 9"/>
          <p:cNvSpPr>
            <a:spLocks noChangeArrowheads="1"/>
          </p:cNvSpPr>
          <p:nvPr/>
        </p:nvSpPr>
        <p:spPr bwMode="auto">
          <a:xfrm>
            <a:off x="4860032" y="2924944"/>
            <a:ext cx="1224136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89" name="矩形 288"/>
          <p:cNvSpPr/>
          <p:nvPr/>
        </p:nvSpPr>
        <p:spPr>
          <a:xfrm>
            <a:off x="4949944" y="2983326"/>
            <a:ext cx="969497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 latinLnBrk="1"/>
            <a:r>
              <a:rPr lang="zh-TW" altLang="en-US" sz="1600" b="1" spc="-7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流程引擎</a:t>
            </a:r>
            <a:endParaRPr lang="zh-CN" altLang="en-US" sz="1600" b="1" spc="-70" dirty="0" smtClean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1" name="AutoShape 9"/>
          <p:cNvSpPr>
            <a:spLocks noChangeArrowheads="1"/>
          </p:cNvSpPr>
          <p:nvPr/>
        </p:nvSpPr>
        <p:spPr bwMode="auto">
          <a:xfrm>
            <a:off x="6500100" y="2924944"/>
            <a:ext cx="1384268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292" name="矩形 291"/>
          <p:cNvSpPr/>
          <p:nvPr/>
        </p:nvSpPr>
        <p:spPr>
          <a:xfrm>
            <a:off x="6827546" y="3011462"/>
            <a:ext cx="623890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1600" b="1" dirty="0" smtClean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PLM</a:t>
            </a:r>
            <a:endParaRPr lang="en-US" altLang="zh-CN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3" name="AutoShape 9"/>
          <p:cNvSpPr>
            <a:spLocks noChangeArrowheads="1"/>
          </p:cNvSpPr>
          <p:nvPr/>
        </p:nvSpPr>
        <p:spPr bwMode="auto">
          <a:xfrm>
            <a:off x="3527189" y="2148351"/>
            <a:ext cx="998203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304" name="矩形 303"/>
          <p:cNvSpPr/>
          <p:nvPr/>
        </p:nvSpPr>
        <p:spPr>
          <a:xfrm>
            <a:off x="3681045" y="2170300"/>
            <a:ext cx="646332" cy="3877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SCM</a:t>
            </a:r>
          </a:p>
        </p:txBody>
      </p:sp>
      <p:sp>
        <p:nvSpPr>
          <p:cNvPr id="310" name="AutoShape 9"/>
          <p:cNvSpPr>
            <a:spLocks noChangeArrowheads="1"/>
          </p:cNvSpPr>
          <p:nvPr/>
        </p:nvSpPr>
        <p:spPr bwMode="auto">
          <a:xfrm>
            <a:off x="6526125" y="2148351"/>
            <a:ext cx="1358243" cy="436715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4F81BD">
                  <a:shade val="51000"/>
                  <a:satMod val="130000"/>
                </a:srgbClr>
              </a:gs>
              <a:gs pos="80000">
                <a:srgbClr val="4F81BD">
                  <a:shade val="93000"/>
                  <a:satMod val="130000"/>
                </a:srgbClr>
              </a:gs>
              <a:gs pos="100000">
                <a:srgbClr val="4F81BD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698E00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1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sp>
        <p:nvSpPr>
          <p:cNvPr id="311" name="矩形 310"/>
          <p:cNvSpPr/>
          <p:nvPr/>
        </p:nvSpPr>
        <p:spPr>
          <a:xfrm>
            <a:off x="6860076" y="2206733"/>
            <a:ext cx="572593" cy="38779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0"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B2B</a:t>
            </a:r>
          </a:p>
        </p:txBody>
      </p:sp>
      <p:cxnSp>
        <p:nvCxnSpPr>
          <p:cNvPr id="312" name="直線接點 311"/>
          <p:cNvCxnSpPr/>
          <p:nvPr/>
        </p:nvCxnSpPr>
        <p:spPr bwMode="auto">
          <a:xfrm rot="16200000" flipH="1" flipV="1">
            <a:off x="6235502" y="2089048"/>
            <a:ext cx="0" cy="561427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74" name="Picture 45" descr="建筑2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916832"/>
            <a:ext cx="835091" cy="718042"/>
          </a:xfrm>
          <a:prstGeom prst="rect">
            <a:avLst/>
          </a:prstGeom>
          <a:noFill/>
        </p:spPr>
      </p:pic>
      <p:sp>
        <p:nvSpPr>
          <p:cNvPr id="225" name="矩形 224"/>
          <p:cNvSpPr/>
          <p:nvPr/>
        </p:nvSpPr>
        <p:spPr>
          <a:xfrm>
            <a:off x="5436096" y="2420888"/>
            <a:ext cx="822192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供應商</a:t>
            </a:r>
            <a:endParaRPr lang="en-US" altLang="zh-CN" sz="12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7" name="直線接點 316"/>
          <p:cNvCxnSpPr/>
          <p:nvPr/>
        </p:nvCxnSpPr>
        <p:spPr bwMode="auto">
          <a:xfrm flipH="1">
            <a:off x="5148064" y="1484784"/>
            <a:ext cx="1080120" cy="1155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1" name="AutoShape 8"/>
          <p:cNvSpPr>
            <a:spLocks noChangeArrowheads="1"/>
          </p:cNvSpPr>
          <p:nvPr/>
        </p:nvSpPr>
        <p:spPr bwMode="auto">
          <a:xfrm>
            <a:off x="6310843" y="753325"/>
            <a:ext cx="2053436" cy="926035"/>
          </a:xfrm>
          <a:prstGeom prst="roundRect">
            <a:avLst>
              <a:gd name="adj" fmla="val 12343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eaLnBrk="1" latinLnBrk="1" hangingPunct="1">
              <a:defRPr/>
            </a:pPr>
            <a:r>
              <a:rPr lang="en-US" altLang="zh-CN" b="1" i="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IMP</a:t>
            </a:r>
            <a:r>
              <a:rPr lang="zh-TW" altLang="en-US" b="1" i="0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智慧製造平台</a:t>
            </a:r>
            <a:endParaRPr kumimoji="0" lang="ko-KR" altLang="en-US" b="1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cxnSp>
        <p:nvCxnSpPr>
          <p:cNvPr id="185" name="直線接點 184"/>
          <p:cNvCxnSpPr/>
          <p:nvPr/>
        </p:nvCxnSpPr>
        <p:spPr bwMode="auto">
          <a:xfrm rot="16200000" flipH="1">
            <a:off x="3808804" y="5056292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6" name="直線接點 185"/>
          <p:cNvCxnSpPr/>
          <p:nvPr/>
        </p:nvCxnSpPr>
        <p:spPr bwMode="auto">
          <a:xfrm rot="16200000" flipH="1">
            <a:off x="5320972" y="5056292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7" name="直線接點 186"/>
          <p:cNvCxnSpPr/>
          <p:nvPr/>
        </p:nvCxnSpPr>
        <p:spPr bwMode="auto">
          <a:xfrm rot="16200000" flipH="1">
            <a:off x="7049164" y="5101133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3" name="AutoShape 240"/>
          <p:cNvSpPr>
            <a:spLocks noChangeArrowheads="1"/>
          </p:cNvSpPr>
          <p:nvPr/>
        </p:nvSpPr>
        <p:spPr bwMode="gray">
          <a:xfrm>
            <a:off x="3491880" y="5224533"/>
            <a:ext cx="1060592" cy="436715"/>
          </a:xfrm>
          <a:prstGeom prst="roundRect">
            <a:avLst>
              <a:gd name="adj" fmla="val 16667"/>
            </a:avLst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4" name="Text Box 242"/>
          <p:cNvSpPr txBox="1">
            <a:spLocks noChangeArrowheads="1"/>
          </p:cNvSpPr>
          <p:nvPr/>
        </p:nvSpPr>
        <p:spPr bwMode="gray">
          <a:xfrm>
            <a:off x="3531806" y="5295532"/>
            <a:ext cx="980738" cy="338554"/>
          </a:xfrm>
          <a:prstGeom prst="rect">
            <a:avLst/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PLC</a:t>
            </a:r>
            <a:endParaRPr lang="en-US" altLang="zh-CN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AutoShape 240"/>
          <p:cNvSpPr>
            <a:spLocks noChangeArrowheads="1"/>
          </p:cNvSpPr>
          <p:nvPr/>
        </p:nvSpPr>
        <p:spPr bwMode="gray">
          <a:xfrm>
            <a:off x="5033197" y="5224533"/>
            <a:ext cx="1122979" cy="436715"/>
          </a:xfrm>
          <a:prstGeom prst="roundRect">
            <a:avLst>
              <a:gd name="adj" fmla="val 16667"/>
            </a:avLst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2" name="Text Box 242"/>
          <p:cNvSpPr txBox="1">
            <a:spLocks noChangeArrowheads="1"/>
          </p:cNvSpPr>
          <p:nvPr/>
        </p:nvSpPr>
        <p:spPr bwMode="gray">
          <a:xfrm>
            <a:off x="5075472" y="5295532"/>
            <a:ext cx="1038428" cy="338554"/>
          </a:xfrm>
          <a:prstGeom prst="rect">
            <a:avLst/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DCS</a:t>
            </a:r>
            <a:endParaRPr lang="en-US" altLang="zh-CN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9" name="AutoShape 240"/>
          <p:cNvSpPr>
            <a:spLocks noChangeArrowheads="1"/>
          </p:cNvSpPr>
          <p:nvPr/>
        </p:nvSpPr>
        <p:spPr bwMode="gray">
          <a:xfrm>
            <a:off x="6689381" y="5218264"/>
            <a:ext cx="1122979" cy="436715"/>
          </a:xfrm>
          <a:prstGeom prst="roundRect">
            <a:avLst>
              <a:gd name="adj" fmla="val 16667"/>
            </a:avLst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4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0" name="Text Box 242"/>
          <p:cNvSpPr txBox="1">
            <a:spLocks noChangeArrowheads="1"/>
          </p:cNvSpPr>
          <p:nvPr/>
        </p:nvSpPr>
        <p:spPr bwMode="gray">
          <a:xfrm>
            <a:off x="6731656" y="5289263"/>
            <a:ext cx="1038428" cy="338554"/>
          </a:xfrm>
          <a:prstGeom prst="rect">
            <a:avLst/>
          </a:prstGeom>
          <a:gradFill>
            <a:gsLst>
              <a:gs pos="80000">
                <a:srgbClr val="4A7EBB"/>
              </a:gs>
              <a:gs pos="100000">
                <a:srgbClr val="00B0B4"/>
              </a:gs>
            </a:gsLst>
            <a:lin ang="1620000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6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CNC</a:t>
            </a:r>
            <a:endParaRPr lang="zh-CN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6" name="AutoShape 240"/>
          <p:cNvSpPr>
            <a:spLocks noChangeArrowheads="1"/>
          </p:cNvSpPr>
          <p:nvPr/>
        </p:nvSpPr>
        <p:spPr bwMode="gray">
          <a:xfrm>
            <a:off x="3506888" y="5988254"/>
            <a:ext cx="1060592" cy="43671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7" name="Text Box 242"/>
          <p:cNvSpPr txBox="1">
            <a:spLocks noChangeArrowheads="1"/>
          </p:cNvSpPr>
          <p:nvPr/>
        </p:nvSpPr>
        <p:spPr bwMode="gray">
          <a:xfrm>
            <a:off x="3419872" y="6088940"/>
            <a:ext cx="1224136" cy="292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zh-CN" altLang="en-US" sz="13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自動鎖鏍絲機</a:t>
            </a:r>
            <a:endParaRPr lang="en-US" altLang="zh-CN" sz="13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9" name="AutoShape 240"/>
          <p:cNvSpPr>
            <a:spLocks noChangeArrowheads="1"/>
          </p:cNvSpPr>
          <p:nvPr/>
        </p:nvSpPr>
        <p:spPr bwMode="gray">
          <a:xfrm>
            <a:off x="4875768" y="6002318"/>
            <a:ext cx="1291089" cy="43671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0" name="Text Box 242"/>
          <p:cNvSpPr txBox="1">
            <a:spLocks noChangeArrowheads="1"/>
          </p:cNvSpPr>
          <p:nvPr/>
        </p:nvSpPr>
        <p:spPr bwMode="gray">
          <a:xfrm>
            <a:off x="4924371" y="6103008"/>
            <a:ext cx="1276546" cy="2923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/>
            <a:r>
              <a:rPr lang="en-US" altLang="zh-CN" sz="13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CCD</a:t>
            </a:r>
            <a:r>
              <a:rPr lang="zh-CN" altLang="en-US" sz="13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自動檢测 </a:t>
            </a:r>
            <a:endParaRPr lang="en-US" altLang="zh-CN" sz="13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2" name="AutoShape 240"/>
          <p:cNvSpPr>
            <a:spLocks noChangeArrowheads="1"/>
          </p:cNvSpPr>
          <p:nvPr/>
        </p:nvSpPr>
        <p:spPr bwMode="gray">
          <a:xfrm>
            <a:off x="6507707" y="6019609"/>
            <a:ext cx="1856571" cy="43671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79646">
                  <a:shade val="51000"/>
                  <a:satMod val="130000"/>
                </a:srgbClr>
              </a:gs>
              <a:gs pos="80000">
                <a:srgbClr val="F79646">
                  <a:shade val="93000"/>
                  <a:satMod val="130000"/>
                </a:srgbClr>
              </a:gs>
              <a:gs pos="100000">
                <a:srgbClr val="F79646">
                  <a:shade val="94000"/>
                  <a:satMod val="135000"/>
                </a:srgbClr>
              </a:gs>
            </a:gsLst>
            <a:lin ang="16200000" scaled="0"/>
          </a:gradFill>
          <a:ln w="12700" algn="ctr">
            <a:solidFill>
              <a:srgbClr val="FFFFFF"/>
            </a:solidFill>
            <a:round/>
            <a:headEnd/>
            <a:tailEnd/>
          </a:ln>
          <a:effectLst>
            <a:outerShdw dist="99190" dir="238833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3" name="Text Box 242"/>
          <p:cNvSpPr txBox="1">
            <a:spLocks noChangeArrowheads="1"/>
          </p:cNvSpPr>
          <p:nvPr/>
        </p:nvSpPr>
        <p:spPr bwMode="gray">
          <a:xfrm>
            <a:off x="6557739" y="6107364"/>
            <a:ext cx="1830686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RFID/Sensor/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Scanner</a:t>
            </a:r>
            <a:endParaRPr lang="zh-CN" altLang="en-US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92" name="直線接點 191"/>
          <p:cNvCxnSpPr/>
          <p:nvPr/>
        </p:nvCxnSpPr>
        <p:spPr bwMode="auto">
          <a:xfrm rot="16200000" flipH="1">
            <a:off x="3808804" y="4303814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3" name="直線接點 192"/>
          <p:cNvCxnSpPr/>
          <p:nvPr/>
        </p:nvCxnSpPr>
        <p:spPr bwMode="auto">
          <a:xfrm rot="16200000" flipH="1">
            <a:off x="5320972" y="4264204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4" name="直線接點 193"/>
          <p:cNvCxnSpPr/>
          <p:nvPr/>
        </p:nvCxnSpPr>
        <p:spPr bwMode="auto">
          <a:xfrm rot="16200000" flipH="1">
            <a:off x="7049164" y="4264204"/>
            <a:ext cx="37426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AutoShape 8"/>
          <p:cNvSpPr>
            <a:spLocks noChangeArrowheads="1"/>
          </p:cNvSpPr>
          <p:nvPr/>
        </p:nvSpPr>
        <p:spPr bwMode="auto">
          <a:xfrm>
            <a:off x="3491880" y="4428558"/>
            <a:ext cx="4392488" cy="436714"/>
          </a:xfrm>
          <a:prstGeom prst="roundRect">
            <a:avLst>
              <a:gd name="adj" fmla="val 12343"/>
            </a:avLst>
          </a:prstGeom>
          <a:gradFill>
            <a:gsLst>
              <a:gs pos="0">
                <a:srgbClr val="9BBB59">
                  <a:shade val="51000"/>
                  <a:satMod val="130000"/>
                </a:srgbClr>
              </a:gs>
              <a:gs pos="8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 w="9525" cmpd="sng">
            <a:round/>
            <a:headEnd/>
            <a:tailEnd/>
          </a:ln>
          <a:scene3d>
            <a:camera prst="legacyObliqueBottom"/>
            <a:lightRig rig="legacyFlat3" dir="b"/>
          </a:scene3d>
          <a:sp3d extrusionH="63500" prstMaterial="legacyMatte">
            <a:bevelT w="13500" h="13500" prst="angle"/>
            <a:bevelB w="13500" h="13500" prst="angle"/>
            <a:extrusionClr>
              <a:srgbClr val="1F9B15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lvl="0" algn="ctr" eaLnBrk="1" latinLnBrk="1" hangingPunct="1">
              <a:defRPr/>
            </a:pPr>
            <a:r>
              <a:rPr kumimoji="0" lang="en-US" altLang="ko-KR" sz="16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+mj-ea"/>
              </a:rPr>
              <a:t>Supervisory  Control</a:t>
            </a:r>
            <a:r>
              <a:rPr kumimoji="0" lang="en-US" altLang="ko-KR" sz="1600" b="1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+mj-ea"/>
              </a:rPr>
              <a:t> and Data Acquisition </a:t>
            </a:r>
            <a:endParaRPr kumimoji="0" lang="ko-KR" altLang="en-US" sz="16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+mj-ea"/>
            </a:endParaRPr>
          </a:p>
        </p:txBody>
      </p:sp>
      <p:cxnSp>
        <p:nvCxnSpPr>
          <p:cNvPr id="219" name="直線接點 218"/>
          <p:cNvCxnSpPr/>
          <p:nvPr/>
        </p:nvCxnSpPr>
        <p:spPr bwMode="auto">
          <a:xfrm>
            <a:off x="4572000" y="3140968"/>
            <a:ext cx="285724" cy="0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0" name="直接连接符 43"/>
          <p:cNvCxnSpPr/>
          <p:nvPr/>
        </p:nvCxnSpPr>
        <p:spPr>
          <a:xfrm>
            <a:off x="235396" y="5805264"/>
            <a:ext cx="8729091" cy="0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32" name="圆角矩形 41"/>
          <p:cNvSpPr/>
          <p:nvPr/>
        </p:nvSpPr>
        <p:spPr>
          <a:xfrm>
            <a:off x="467544" y="5877272"/>
            <a:ext cx="2376264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0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設備與自動化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6" name="圆角矩形 41"/>
          <p:cNvSpPr/>
          <p:nvPr/>
        </p:nvSpPr>
        <p:spPr>
          <a:xfrm>
            <a:off x="611560" y="5132584"/>
            <a:ext cx="2016224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1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單元控制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圆角矩形 41"/>
          <p:cNvSpPr/>
          <p:nvPr/>
        </p:nvSpPr>
        <p:spPr>
          <a:xfrm>
            <a:off x="827584" y="4365104"/>
            <a:ext cx="1728191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2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監控與資訊採集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8" name="圆角矩形 41"/>
          <p:cNvSpPr/>
          <p:nvPr/>
        </p:nvSpPr>
        <p:spPr>
          <a:xfrm>
            <a:off x="971600" y="3573016"/>
            <a:ext cx="1440160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00" cap="none" spc="0" normalizeH="0" baseline="0" noProof="0" dirty="0" smtClean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宋体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3</a:t>
            </a:r>
          </a:p>
          <a:p>
            <a:pPr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製程控制</a:t>
            </a:r>
            <a:endParaRPr lang="en-US" altLang="zh-CN" sz="1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圆角矩形 41"/>
          <p:cNvSpPr/>
          <p:nvPr/>
        </p:nvSpPr>
        <p:spPr>
          <a:xfrm>
            <a:off x="1090216" y="2852936"/>
            <a:ext cx="1224136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4</a:t>
            </a:r>
          </a:p>
          <a:p>
            <a:pPr algn="ctr">
              <a:defRPr/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ERP/PLM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宋体"/>
            </a:endParaRPr>
          </a:p>
        </p:txBody>
      </p:sp>
      <p:sp>
        <p:nvSpPr>
          <p:cNvPr id="140" name="圆角矩形 41"/>
          <p:cNvSpPr/>
          <p:nvPr/>
        </p:nvSpPr>
        <p:spPr>
          <a:xfrm>
            <a:off x="1196133" y="2060848"/>
            <a:ext cx="1008111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5</a:t>
            </a:r>
          </a:p>
          <a:p>
            <a:pPr lvl="0" algn="ctr">
              <a:defRPr/>
            </a:pPr>
            <a:r>
              <a:rPr lang="zh-CN" altLang="en-US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供應管理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1" name="圆角矩形 41"/>
          <p:cNvSpPr/>
          <p:nvPr/>
        </p:nvSpPr>
        <p:spPr>
          <a:xfrm>
            <a:off x="1287601" y="1222152"/>
            <a:ext cx="865931" cy="600672"/>
          </a:xfrm>
          <a:prstGeom prst="roundRect">
            <a:avLst/>
          </a:prstGeom>
          <a:gradFill rotWithShape="1">
            <a:gsLst>
              <a:gs pos="0">
                <a:srgbClr val="F79646">
                  <a:tint val="50000"/>
                  <a:satMod val="300000"/>
                </a:srgbClr>
              </a:gs>
              <a:gs pos="35000">
                <a:srgbClr val="F79646">
                  <a:tint val="37000"/>
                  <a:satMod val="300000"/>
                </a:srgbClr>
              </a:gs>
              <a:gs pos="100000">
                <a:srgbClr val="F7964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F79646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宋体"/>
              </a:rPr>
              <a:t>Level 6</a:t>
            </a:r>
          </a:p>
          <a:p>
            <a:pPr algn="ctr">
              <a:defRPr/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endParaRPr lang="zh-CN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42" name="直接连接符 43"/>
          <p:cNvCxnSpPr/>
          <p:nvPr/>
        </p:nvCxnSpPr>
        <p:spPr>
          <a:xfrm>
            <a:off x="258256" y="5076543"/>
            <a:ext cx="8706231" cy="8641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5" name="直接连接符 43"/>
          <p:cNvCxnSpPr/>
          <p:nvPr/>
        </p:nvCxnSpPr>
        <p:spPr>
          <a:xfrm>
            <a:off x="235396" y="3473906"/>
            <a:ext cx="8729091" cy="27102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6" name="直接连接符 43"/>
          <p:cNvCxnSpPr/>
          <p:nvPr/>
        </p:nvCxnSpPr>
        <p:spPr>
          <a:xfrm>
            <a:off x="235396" y="2726202"/>
            <a:ext cx="8585076" cy="8618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7" name="直接连接符 43"/>
          <p:cNvCxnSpPr/>
          <p:nvPr/>
        </p:nvCxnSpPr>
        <p:spPr>
          <a:xfrm>
            <a:off x="235397" y="1896670"/>
            <a:ext cx="8729091" cy="20162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49" name="直接连接符 43"/>
          <p:cNvCxnSpPr/>
          <p:nvPr/>
        </p:nvCxnSpPr>
        <p:spPr>
          <a:xfrm flipV="1">
            <a:off x="235396" y="6569968"/>
            <a:ext cx="8729091" cy="27384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64" name="直接连接符 43"/>
          <p:cNvCxnSpPr/>
          <p:nvPr/>
        </p:nvCxnSpPr>
        <p:spPr>
          <a:xfrm>
            <a:off x="235396" y="1107081"/>
            <a:ext cx="8729091" cy="17663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cxnSp>
        <p:nvCxnSpPr>
          <p:cNvPr id="134" name="直接连接符 43"/>
          <p:cNvCxnSpPr/>
          <p:nvPr/>
        </p:nvCxnSpPr>
        <p:spPr>
          <a:xfrm flipV="1">
            <a:off x="179512" y="980728"/>
            <a:ext cx="0" cy="5460397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65" name="文字方塊 164"/>
          <p:cNvSpPr txBox="1"/>
          <p:nvPr/>
        </p:nvSpPr>
        <p:spPr>
          <a:xfrm>
            <a:off x="5095967" y="1484784"/>
            <a:ext cx="1204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大數據分析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71" name="直線接點 170"/>
          <p:cNvCxnSpPr/>
          <p:nvPr/>
        </p:nvCxnSpPr>
        <p:spPr>
          <a:xfrm>
            <a:off x="323528" y="5805264"/>
            <a:ext cx="3096344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5" name="直線接點 174"/>
          <p:cNvCxnSpPr/>
          <p:nvPr/>
        </p:nvCxnSpPr>
        <p:spPr>
          <a:xfrm>
            <a:off x="179512" y="5085184"/>
            <a:ext cx="2736304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7" name="直線接點 176"/>
          <p:cNvCxnSpPr/>
          <p:nvPr/>
        </p:nvCxnSpPr>
        <p:spPr>
          <a:xfrm>
            <a:off x="395536" y="4221088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9" name="直線接點 188"/>
          <p:cNvCxnSpPr/>
          <p:nvPr/>
        </p:nvCxnSpPr>
        <p:spPr>
          <a:xfrm>
            <a:off x="971600" y="3501008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0" name="直線接點 189"/>
          <p:cNvCxnSpPr/>
          <p:nvPr/>
        </p:nvCxnSpPr>
        <p:spPr>
          <a:xfrm>
            <a:off x="1259632" y="2708920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1" name="直線接點 190"/>
          <p:cNvCxnSpPr/>
          <p:nvPr/>
        </p:nvCxnSpPr>
        <p:spPr>
          <a:xfrm>
            <a:off x="1331640" y="1916832"/>
            <a:ext cx="2520280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7" name="直接连接符 43"/>
          <p:cNvCxnSpPr/>
          <p:nvPr/>
        </p:nvCxnSpPr>
        <p:spPr>
          <a:xfrm flipV="1">
            <a:off x="8964488" y="1124744"/>
            <a:ext cx="0" cy="5460397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22" name="AutoShape 43"/>
          <p:cNvSpPr>
            <a:spLocks noChangeArrowheads="1"/>
          </p:cNvSpPr>
          <p:nvPr/>
        </p:nvSpPr>
        <p:spPr bwMode="gray">
          <a:xfrm>
            <a:off x="4355976" y="1196752"/>
            <a:ext cx="727486" cy="501645"/>
          </a:xfrm>
          <a:prstGeom prst="can">
            <a:avLst>
              <a:gd name="adj" fmla="val 32083"/>
            </a:avLst>
          </a:prstGeom>
          <a:solidFill>
            <a:schemeClr val="accent4">
              <a:lumMod val="75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 sz="13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3779912" y="132102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數據倉庫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4588832" y="6021288"/>
            <a:ext cx="38343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17" name="矩形 116"/>
          <p:cNvSpPr/>
          <p:nvPr/>
        </p:nvSpPr>
        <p:spPr>
          <a:xfrm>
            <a:off x="6162554" y="6042496"/>
            <a:ext cx="383438" cy="394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18" name="矩形 117"/>
          <p:cNvSpPr/>
          <p:nvPr/>
        </p:nvSpPr>
        <p:spPr>
          <a:xfrm>
            <a:off x="6267458" y="5301208"/>
            <a:ext cx="338554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119" name="矩形 118"/>
          <p:cNvSpPr/>
          <p:nvPr/>
        </p:nvSpPr>
        <p:spPr>
          <a:xfrm>
            <a:off x="4683282" y="5301208"/>
            <a:ext cx="338554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cxnSp>
        <p:nvCxnSpPr>
          <p:cNvPr id="150" name="直線接點 149"/>
          <p:cNvCxnSpPr>
            <a:stCxn id="291" idx="1"/>
          </p:cNvCxnSpPr>
          <p:nvPr/>
        </p:nvCxnSpPr>
        <p:spPr bwMode="auto">
          <a:xfrm flipH="1" flipV="1">
            <a:off x="6084168" y="3140968"/>
            <a:ext cx="415932" cy="2334"/>
          </a:xfrm>
          <a:prstGeom prst="line">
            <a:avLst/>
          </a:prstGeom>
          <a:ln w="25400">
            <a:solidFill>
              <a:srgbClr val="3333CC"/>
            </a:solidFill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5" name="直接连接符 43"/>
          <p:cNvCxnSpPr/>
          <p:nvPr/>
        </p:nvCxnSpPr>
        <p:spPr>
          <a:xfrm>
            <a:off x="163388" y="4185478"/>
            <a:ext cx="8778240" cy="0"/>
          </a:xfrm>
          <a:prstGeom prst="line">
            <a:avLst/>
          </a:prstGeom>
          <a:noFill/>
          <a:ln w="9525" cap="flat" cmpd="sng" algn="ctr">
            <a:solidFill>
              <a:srgbClr val="9BBB59">
                <a:lumMod val="75000"/>
              </a:srgbClr>
            </a:solidFill>
            <a:prstDash val="dash"/>
          </a:ln>
          <a:effectLst/>
        </p:spPr>
      </p:cxnSp>
      <p:sp>
        <p:nvSpPr>
          <p:cNvPr id="108" name="矩形 107"/>
          <p:cNvSpPr/>
          <p:nvPr/>
        </p:nvSpPr>
        <p:spPr>
          <a:xfrm>
            <a:off x="179511" y="692696"/>
            <a:ext cx="8784977" cy="60486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67" name="文字方塊 166"/>
          <p:cNvSpPr txBox="1"/>
          <p:nvPr/>
        </p:nvSpPr>
        <p:spPr>
          <a:xfrm>
            <a:off x="5202809" y="1196752"/>
            <a:ext cx="1025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資料挖</a:t>
            </a:r>
            <a:r>
              <a:rPr lang="zh-TW" altLang="en-US" sz="1600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掘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50825" y="1989732"/>
            <a:ext cx="8642350" cy="431958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116013" y="96838"/>
            <a:ext cx="655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en-US" altLang="zh-TW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II 4.0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資訊</a:t>
            </a:r>
            <a:r>
              <a:rPr lang="zh-TW" altLang="en-US" sz="4000" dirty="0">
                <a:solidFill>
                  <a:schemeClr val="tx1"/>
                </a:solidFill>
                <a:latin typeface="Arial Narrow" panose="020B0606020202030204" pitchFamily="34" charset="0"/>
              </a:rPr>
              <a:t>系統發展策略</a:t>
            </a:r>
            <a:endParaRPr lang="zh-TW" altLang="en-US" sz="4000" dirty="0">
              <a:solidFill>
                <a:schemeClr val="tx1"/>
              </a:solidFill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-757238" y="3720107"/>
            <a:ext cx="18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en-US" altLang="zh-TW" sz="1800" b="0">
              <a:solidFill>
                <a:schemeClr val="tx1"/>
              </a:solidFill>
              <a:ea typeface="新細明體" panose="02020500000000000000" pitchFamily="18" charset="-120"/>
            </a:endParaRPr>
          </a:p>
          <a:p>
            <a:pPr eaLnBrk="1" hangingPunct="1"/>
            <a:endParaRPr lang="en-US" altLang="zh-TW" sz="1800" b="0">
              <a:solidFill>
                <a:schemeClr val="bg1"/>
              </a:solidFill>
              <a:ea typeface="新細明體" panose="02020500000000000000" pitchFamily="18" charset="-120"/>
            </a:endParaRP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208213" y="692696"/>
            <a:ext cx="4292600" cy="457200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r>
              <a:rPr lang="en-US" altLang="zh-TW" sz="2400" dirty="0">
                <a:solidFill>
                  <a:schemeClr val="tx1"/>
                </a:solidFill>
              </a:rPr>
              <a:t>* </a:t>
            </a:r>
            <a:r>
              <a:rPr lang="zh-TW" altLang="en-US" sz="2400" dirty="0">
                <a:solidFill>
                  <a:schemeClr val="tx1"/>
                </a:solidFill>
              </a:rPr>
              <a:t>配合集團客戶業務需求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</a:rPr>
              <a:t>開</a:t>
            </a:r>
            <a:r>
              <a:rPr lang="zh-TW" altLang="en-US" sz="2400" dirty="0">
                <a:solidFill>
                  <a:schemeClr val="tx1"/>
                </a:solidFill>
              </a:rPr>
              <a:t>發</a:t>
            </a:r>
            <a:endParaRPr lang="zh-TW" altLang="en-US" sz="2400" dirty="0">
              <a:solidFill>
                <a:schemeClr val="tx1"/>
              </a:solidFill>
              <a:latin typeface="標楷體" panose="03000509000000000000" pitchFamily="65" charset="-120"/>
            </a:endParaRPr>
          </a:p>
        </p:txBody>
      </p:sp>
      <p:grpSp>
        <p:nvGrpSpPr>
          <p:cNvPr id="3078" name="Group 6"/>
          <p:cNvGrpSpPr>
            <a:grpSpLocks/>
          </p:cNvGrpSpPr>
          <p:nvPr/>
        </p:nvGrpSpPr>
        <p:grpSpPr bwMode="auto">
          <a:xfrm>
            <a:off x="468313" y="2061170"/>
            <a:ext cx="1439862" cy="3960812"/>
            <a:chOff x="295" y="1026"/>
            <a:chExt cx="544" cy="2404"/>
          </a:xfrm>
        </p:grpSpPr>
        <p:sp>
          <p:nvSpPr>
            <p:cNvPr id="3135" name="Rectangle 7"/>
            <p:cNvSpPr>
              <a:spLocks noChangeArrowheads="1"/>
            </p:cNvSpPr>
            <p:nvPr/>
          </p:nvSpPr>
          <p:spPr bwMode="auto">
            <a:xfrm>
              <a:off x="295" y="1026"/>
              <a:ext cx="544" cy="240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3136" name="Rectangle 8"/>
            <p:cNvSpPr>
              <a:spLocks noChangeArrowheads="1"/>
            </p:cNvSpPr>
            <p:nvPr/>
          </p:nvSpPr>
          <p:spPr bwMode="auto">
            <a:xfrm>
              <a:off x="355" y="1633"/>
              <a:ext cx="432" cy="52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endParaRPr lang="en-US" altLang="zh-TW" sz="2400">
                <a:solidFill>
                  <a:schemeClr val="tx1"/>
                </a:solidFill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</a:rPr>
                <a:t>質管</a:t>
              </a:r>
              <a:endParaRPr lang="en-US" altLang="zh-TW" sz="2400">
                <a:solidFill>
                  <a:schemeClr val="tx1"/>
                </a:solidFill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37" name="Rectangle 9"/>
            <p:cNvSpPr>
              <a:spLocks noChangeArrowheads="1"/>
            </p:cNvSpPr>
            <p:nvPr/>
          </p:nvSpPr>
          <p:spPr bwMode="auto">
            <a:xfrm>
              <a:off x="355" y="2209"/>
              <a:ext cx="432" cy="52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流程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en-US" altLang="zh-TW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38" name="Rectangle 10"/>
            <p:cNvSpPr>
              <a:spLocks noChangeArrowheads="1"/>
            </p:cNvSpPr>
            <p:nvPr/>
          </p:nvSpPr>
          <p:spPr bwMode="auto">
            <a:xfrm>
              <a:off x="355" y="1117"/>
              <a:ext cx="432" cy="48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製程</a:t>
              </a:r>
              <a:endParaRPr lang="en-US" altLang="zh-TW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39" name="Rectangle 11"/>
            <p:cNvSpPr>
              <a:spLocks noChangeArrowheads="1"/>
            </p:cNvSpPr>
            <p:nvPr/>
          </p:nvSpPr>
          <p:spPr bwMode="auto">
            <a:xfrm>
              <a:off x="355" y="2780"/>
              <a:ext cx="432" cy="528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 eaLnBrk="0" hangingPunct="0"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6600" b="1">
                  <a:solidFill>
                    <a:schemeClr val="tx2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系統</a:t>
              </a:r>
              <a:endParaRPr lang="en-US" altLang="zh-CN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  <a:p>
              <a:pPr algn="ctr" eaLnBrk="1" hangingPunct="1"/>
              <a:r>
                <a:rPr lang="zh-TW" altLang="en-US" sz="2400">
                  <a:solidFill>
                    <a:schemeClr val="tx1"/>
                  </a:solidFill>
                  <a:latin typeface="Tahoma" panose="020B0604030504040204" pitchFamily="34" charset="0"/>
                </a:rPr>
                <a:t>改善</a:t>
              </a:r>
              <a:endParaRPr lang="zh-CN" altLang="en-US" sz="240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79" name="Rectangle 12"/>
          <p:cNvSpPr>
            <a:spLocks noChangeArrowheads="1"/>
          </p:cNvSpPr>
          <p:nvPr/>
        </p:nvSpPr>
        <p:spPr bwMode="auto">
          <a:xfrm>
            <a:off x="468313" y="1340445"/>
            <a:ext cx="8280400" cy="576262"/>
          </a:xfrm>
          <a:prstGeom prst="rect">
            <a:avLst/>
          </a:prstGeom>
          <a:solidFill>
            <a:srgbClr val="33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80" name="Rectangle 13"/>
          <p:cNvSpPr>
            <a:spLocks noChangeArrowheads="1"/>
          </p:cNvSpPr>
          <p:nvPr/>
        </p:nvSpPr>
        <p:spPr bwMode="auto">
          <a:xfrm>
            <a:off x="4500563" y="1442045"/>
            <a:ext cx="2232025" cy="36036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建立系統步驟</a:t>
            </a:r>
          </a:p>
        </p:txBody>
      </p:sp>
      <p:sp>
        <p:nvSpPr>
          <p:cNvPr id="3081" name="Rectangle 14"/>
          <p:cNvSpPr>
            <a:spLocks noChangeArrowheads="1"/>
          </p:cNvSpPr>
          <p:nvPr/>
        </p:nvSpPr>
        <p:spPr bwMode="auto">
          <a:xfrm>
            <a:off x="2627313" y="2061170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細節</a:t>
            </a:r>
          </a:p>
        </p:txBody>
      </p:sp>
      <p:sp>
        <p:nvSpPr>
          <p:cNvPr id="3082" name="Rectangle 15"/>
          <p:cNvSpPr>
            <a:spLocks noChangeArrowheads="1"/>
          </p:cNvSpPr>
          <p:nvPr/>
        </p:nvSpPr>
        <p:spPr bwMode="auto">
          <a:xfrm>
            <a:off x="2627313" y="2940645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拆解</a:t>
            </a:r>
          </a:p>
        </p:txBody>
      </p:sp>
      <p:sp>
        <p:nvSpPr>
          <p:cNvPr id="3083" name="Rectangle 16"/>
          <p:cNvSpPr>
            <a:spLocks noChangeArrowheads="1"/>
          </p:cNvSpPr>
          <p:nvPr/>
        </p:nvSpPr>
        <p:spPr bwMode="auto">
          <a:xfrm>
            <a:off x="2627313" y="3832820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簡單化</a:t>
            </a:r>
          </a:p>
        </p:txBody>
      </p:sp>
      <p:sp>
        <p:nvSpPr>
          <p:cNvPr id="3084" name="Rectangle 17"/>
          <p:cNvSpPr>
            <a:spLocks noChangeArrowheads="1"/>
          </p:cNvSpPr>
          <p:nvPr/>
        </p:nvSpPr>
        <p:spPr bwMode="auto">
          <a:xfrm>
            <a:off x="2411413" y="5599707"/>
            <a:ext cx="1800225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貫徹執行力</a:t>
            </a:r>
          </a:p>
        </p:txBody>
      </p:sp>
      <p:sp>
        <p:nvSpPr>
          <p:cNvPr id="3085" name="AutoShape 18"/>
          <p:cNvSpPr>
            <a:spLocks noChangeArrowheads="1"/>
          </p:cNvSpPr>
          <p:nvPr/>
        </p:nvSpPr>
        <p:spPr bwMode="auto">
          <a:xfrm>
            <a:off x="2987675" y="2535832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86" name="AutoShape 19"/>
          <p:cNvSpPr>
            <a:spLocks noChangeArrowheads="1"/>
          </p:cNvSpPr>
          <p:nvPr/>
        </p:nvSpPr>
        <p:spPr bwMode="auto">
          <a:xfrm>
            <a:off x="2987675" y="3420070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3087" name="AutoShape 20"/>
          <p:cNvSpPr>
            <a:spLocks noChangeArrowheads="1"/>
          </p:cNvSpPr>
          <p:nvPr/>
        </p:nvSpPr>
        <p:spPr bwMode="auto">
          <a:xfrm>
            <a:off x="2987675" y="5202832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  <p:grpSp>
        <p:nvGrpSpPr>
          <p:cNvPr id="3088" name="Group 21"/>
          <p:cNvGrpSpPr>
            <a:grpSpLocks/>
          </p:cNvGrpSpPr>
          <p:nvPr/>
        </p:nvGrpSpPr>
        <p:grpSpPr bwMode="auto">
          <a:xfrm>
            <a:off x="4859338" y="2061170"/>
            <a:ext cx="1657350" cy="3941762"/>
            <a:chOff x="3016" y="1525"/>
            <a:chExt cx="1044" cy="2483"/>
          </a:xfrm>
        </p:grpSpPr>
        <p:grpSp>
          <p:nvGrpSpPr>
            <p:cNvPr id="3114" name="Group 22"/>
            <p:cNvGrpSpPr>
              <a:grpSpLocks/>
            </p:cNvGrpSpPr>
            <p:nvPr/>
          </p:nvGrpSpPr>
          <p:grpSpPr bwMode="auto">
            <a:xfrm>
              <a:off x="3016" y="1525"/>
              <a:ext cx="1044" cy="272"/>
              <a:chOff x="1927" y="1570"/>
              <a:chExt cx="1134" cy="272"/>
            </a:xfrm>
          </p:grpSpPr>
          <p:sp>
            <p:nvSpPr>
              <p:cNvPr id="3133" name="Rectangle 23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34" name="Rectangle 24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作業流程化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5" name="Group 25"/>
            <p:cNvGrpSpPr>
              <a:grpSpLocks/>
            </p:cNvGrpSpPr>
            <p:nvPr/>
          </p:nvGrpSpPr>
          <p:grpSpPr bwMode="auto">
            <a:xfrm>
              <a:off x="3016" y="1894"/>
              <a:ext cx="1044" cy="272"/>
              <a:chOff x="1927" y="1570"/>
              <a:chExt cx="1134" cy="272"/>
            </a:xfrm>
          </p:grpSpPr>
          <p:sp>
            <p:nvSpPr>
              <p:cNvPr id="3131" name="Rectangle 26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32" name="Rectangle 27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流程簡單化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6" name="Group 28"/>
            <p:cNvGrpSpPr>
              <a:grpSpLocks/>
            </p:cNvGrpSpPr>
            <p:nvPr/>
          </p:nvGrpSpPr>
          <p:grpSpPr bwMode="auto">
            <a:xfrm>
              <a:off x="3016" y="2281"/>
              <a:ext cx="1044" cy="272"/>
              <a:chOff x="1927" y="1570"/>
              <a:chExt cx="1134" cy="272"/>
            </a:xfrm>
          </p:grpSpPr>
          <p:sp>
            <p:nvSpPr>
              <p:cNvPr id="3129" name="Rectangle 29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30" name="Rectangle 30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流程合理化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7" name="Group 31"/>
            <p:cNvGrpSpPr>
              <a:grpSpLocks/>
            </p:cNvGrpSpPr>
            <p:nvPr/>
          </p:nvGrpSpPr>
          <p:grpSpPr bwMode="auto">
            <a:xfrm>
              <a:off x="3016" y="2650"/>
              <a:ext cx="1044" cy="272"/>
              <a:chOff x="1927" y="1570"/>
              <a:chExt cx="1134" cy="272"/>
            </a:xfrm>
          </p:grpSpPr>
          <p:sp>
            <p:nvSpPr>
              <p:cNvPr id="3127" name="Rectangle 32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8" name="Rectangle 33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流程標準化</a:t>
                </a:r>
                <a:endParaRPr lang="en-US" altLang="zh-CN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18" name="Group 34"/>
            <p:cNvGrpSpPr>
              <a:grpSpLocks/>
            </p:cNvGrpSpPr>
            <p:nvPr/>
          </p:nvGrpSpPr>
          <p:grpSpPr bwMode="auto">
            <a:xfrm>
              <a:off x="3016" y="3013"/>
              <a:ext cx="1044" cy="272"/>
              <a:chOff x="1927" y="1570"/>
              <a:chExt cx="1134" cy="272"/>
            </a:xfrm>
          </p:grpSpPr>
          <p:sp>
            <p:nvSpPr>
              <p:cNvPr id="3125" name="Rectangle 35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6" name="Rectangle 36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標準系統化</a:t>
                </a:r>
              </a:p>
            </p:txBody>
          </p:sp>
        </p:grpSp>
        <p:grpSp>
          <p:nvGrpSpPr>
            <p:cNvPr id="3119" name="Group 37"/>
            <p:cNvGrpSpPr>
              <a:grpSpLocks/>
            </p:cNvGrpSpPr>
            <p:nvPr/>
          </p:nvGrpSpPr>
          <p:grpSpPr bwMode="auto">
            <a:xfrm>
              <a:off x="3016" y="3376"/>
              <a:ext cx="1044" cy="272"/>
              <a:chOff x="1927" y="1570"/>
              <a:chExt cx="1134" cy="272"/>
            </a:xfrm>
          </p:grpSpPr>
          <p:sp>
            <p:nvSpPr>
              <p:cNvPr id="3123" name="Rectangle 38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4" name="Rectangle 39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系統資訊化</a:t>
                </a:r>
              </a:p>
            </p:txBody>
          </p:sp>
        </p:grpSp>
        <p:grpSp>
          <p:nvGrpSpPr>
            <p:cNvPr id="3120" name="Group 40"/>
            <p:cNvGrpSpPr>
              <a:grpSpLocks/>
            </p:cNvGrpSpPr>
            <p:nvPr/>
          </p:nvGrpSpPr>
          <p:grpSpPr bwMode="auto">
            <a:xfrm>
              <a:off x="3016" y="3736"/>
              <a:ext cx="1044" cy="272"/>
              <a:chOff x="1927" y="1570"/>
              <a:chExt cx="1134" cy="272"/>
            </a:xfrm>
          </p:grpSpPr>
          <p:sp>
            <p:nvSpPr>
              <p:cNvPr id="3121" name="Rectangle 41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22" name="Rectangle 42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000">
                    <a:solidFill>
                      <a:schemeClr val="tx1"/>
                    </a:solidFill>
                  </a:rPr>
                  <a:t>資訊網路化</a:t>
                </a:r>
              </a:p>
            </p:txBody>
          </p:sp>
        </p:grpSp>
      </p:grpSp>
      <p:sp>
        <p:nvSpPr>
          <p:cNvPr id="3089" name="Rectangle 43"/>
          <p:cNvSpPr>
            <a:spLocks noChangeArrowheads="1"/>
          </p:cNvSpPr>
          <p:nvPr/>
        </p:nvSpPr>
        <p:spPr bwMode="auto">
          <a:xfrm>
            <a:off x="7019925" y="1437282"/>
            <a:ext cx="1584325" cy="36036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系統要領</a:t>
            </a:r>
          </a:p>
        </p:txBody>
      </p:sp>
      <p:grpSp>
        <p:nvGrpSpPr>
          <p:cNvPr id="3090" name="Group 44"/>
          <p:cNvGrpSpPr>
            <a:grpSpLocks/>
          </p:cNvGrpSpPr>
          <p:nvPr/>
        </p:nvGrpSpPr>
        <p:grpSpPr bwMode="auto">
          <a:xfrm>
            <a:off x="7018338" y="2061170"/>
            <a:ext cx="1658937" cy="3960812"/>
            <a:chOff x="4421" y="1525"/>
            <a:chExt cx="1045" cy="2449"/>
          </a:xfrm>
        </p:grpSpPr>
        <p:grpSp>
          <p:nvGrpSpPr>
            <p:cNvPr id="3096" name="Group 45"/>
            <p:cNvGrpSpPr>
              <a:grpSpLocks/>
            </p:cNvGrpSpPr>
            <p:nvPr/>
          </p:nvGrpSpPr>
          <p:grpSpPr bwMode="auto">
            <a:xfrm>
              <a:off x="4421" y="1525"/>
              <a:ext cx="1044" cy="294"/>
              <a:chOff x="1927" y="1570"/>
              <a:chExt cx="1134" cy="272"/>
            </a:xfrm>
          </p:grpSpPr>
          <p:sp>
            <p:nvSpPr>
              <p:cNvPr id="3112" name="Rectangle 46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13" name="Rectangle 47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新技術</a:t>
                </a:r>
              </a:p>
            </p:txBody>
          </p:sp>
        </p:grpSp>
        <p:grpSp>
          <p:nvGrpSpPr>
            <p:cNvPr id="3097" name="Group 48"/>
            <p:cNvGrpSpPr>
              <a:grpSpLocks/>
            </p:cNvGrpSpPr>
            <p:nvPr/>
          </p:nvGrpSpPr>
          <p:grpSpPr bwMode="auto">
            <a:xfrm>
              <a:off x="4422" y="1933"/>
              <a:ext cx="1044" cy="294"/>
              <a:chOff x="1927" y="1570"/>
              <a:chExt cx="1134" cy="272"/>
            </a:xfrm>
          </p:grpSpPr>
          <p:sp>
            <p:nvSpPr>
              <p:cNvPr id="3110" name="Rectangle 49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11" name="Rectangle 50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新應用</a:t>
                </a:r>
              </a:p>
            </p:txBody>
          </p:sp>
        </p:grpSp>
        <p:grpSp>
          <p:nvGrpSpPr>
            <p:cNvPr id="3098" name="Group 51"/>
            <p:cNvGrpSpPr>
              <a:grpSpLocks/>
            </p:cNvGrpSpPr>
            <p:nvPr/>
          </p:nvGrpSpPr>
          <p:grpSpPr bwMode="auto">
            <a:xfrm>
              <a:off x="4422" y="2358"/>
              <a:ext cx="1044" cy="293"/>
              <a:chOff x="1927" y="1570"/>
              <a:chExt cx="1134" cy="272"/>
            </a:xfrm>
          </p:grpSpPr>
          <p:sp>
            <p:nvSpPr>
              <p:cNvPr id="3108" name="Rectangle 52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9" name="Rectangle 53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新發展</a:t>
                </a:r>
              </a:p>
            </p:txBody>
          </p:sp>
        </p:grpSp>
        <p:grpSp>
          <p:nvGrpSpPr>
            <p:cNvPr id="3099" name="Group 54"/>
            <p:cNvGrpSpPr>
              <a:grpSpLocks/>
            </p:cNvGrpSpPr>
            <p:nvPr/>
          </p:nvGrpSpPr>
          <p:grpSpPr bwMode="auto">
            <a:xfrm>
              <a:off x="4422" y="2798"/>
              <a:ext cx="1044" cy="294"/>
              <a:chOff x="1927" y="1570"/>
              <a:chExt cx="1134" cy="272"/>
            </a:xfrm>
          </p:grpSpPr>
          <p:sp>
            <p:nvSpPr>
              <p:cNvPr id="3106" name="Rectangle 55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7" name="Rectangle 56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新概念</a:t>
                </a:r>
              </a:p>
            </p:txBody>
          </p:sp>
        </p:grpSp>
        <p:grpSp>
          <p:nvGrpSpPr>
            <p:cNvPr id="3100" name="Group 57"/>
            <p:cNvGrpSpPr>
              <a:grpSpLocks/>
            </p:cNvGrpSpPr>
            <p:nvPr/>
          </p:nvGrpSpPr>
          <p:grpSpPr bwMode="auto">
            <a:xfrm>
              <a:off x="4422" y="3240"/>
              <a:ext cx="1044" cy="293"/>
              <a:chOff x="1927" y="1570"/>
              <a:chExt cx="1134" cy="272"/>
            </a:xfrm>
          </p:grpSpPr>
          <p:sp>
            <p:nvSpPr>
              <p:cNvPr id="3104" name="Rectangle 58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5" name="Rectangle 59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新服務</a:t>
                </a:r>
              </a:p>
            </p:txBody>
          </p:sp>
        </p:grpSp>
        <p:grpSp>
          <p:nvGrpSpPr>
            <p:cNvPr id="3101" name="Group 60"/>
            <p:cNvGrpSpPr>
              <a:grpSpLocks/>
            </p:cNvGrpSpPr>
            <p:nvPr/>
          </p:nvGrpSpPr>
          <p:grpSpPr bwMode="auto">
            <a:xfrm>
              <a:off x="4422" y="3680"/>
              <a:ext cx="1044" cy="294"/>
              <a:chOff x="1927" y="1570"/>
              <a:chExt cx="1134" cy="272"/>
            </a:xfrm>
          </p:grpSpPr>
          <p:sp>
            <p:nvSpPr>
              <p:cNvPr id="3102" name="Rectangle 61"/>
              <p:cNvSpPr>
                <a:spLocks noChangeArrowheads="1"/>
              </p:cNvSpPr>
              <p:nvPr/>
            </p:nvSpPr>
            <p:spPr bwMode="auto">
              <a:xfrm>
                <a:off x="1927" y="1570"/>
                <a:ext cx="1134" cy="272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3103" name="Rectangle 62"/>
              <p:cNvSpPr>
                <a:spLocks noChangeArrowheads="1"/>
              </p:cNvSpPr>
              <p:nvPr/>
            </p:nvSpPr>
            <p:spPr bwMode="auto">
              <a:xfrm>
                <a:off x="2052" y="1611"/>
                <a:ext cx="901" cy="187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1pPr>
                <a:lvl2pPr marL="742950" indent="-28575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2pPr>
                <a:lvl3pPr marL="11430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3pPr>
                <a:lvl4pPr marL="16002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4pPr>
                <a:lvl5pPr marL="2057400" indent="-228600" eaLnBrk="0" hangingPunct="0"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6600" b="1">
                    <a:solidFill>
                      <a:schemeClr val="tx2"/>
                    </a:solidFill>
                    <a:latin typeface="Arial" panose="020B0604020202020204" pitchFamily="34" charset="0"/>
                    <a:ea typeface="標楷體" panose="03000509000000000000" pitchFamily="65" charset="-120"/>
                  </a:defRPr>
                </a:lvl9pPr>
              </a:lstStyle>
              <a:p>
                <a:pPr algn="ctr" eaLnBrk="1" hangingPunct="1"/>
                <a:r>
                  <a:rPr lang="zh-TW" altLang="en-US" sz="2400">
                    <a:solidFill>
                      <a:schemeClr val="tx1"/>
                    </a:solidFill>
                  </a:rPr>
                  <a:t>新商機</a:t>
                </a:r>
              </a:p>
            </p:txBody>
          </p:sp>
        </p:grpSp>
      </p:grpSp>
      <p:sp>
        <p:nvSpPr>
          <p:cNvPr id="3091" name="Rectangle 63"/>
          <p:cNvSpPr>
            <a:spLocks noChangeArrowheads="1"/>
          </p:cNvSpPr>
          <p:nvPr/>
        </p:nvSpPr>
        <p:spPr bwMode="auto">
          <a:xfrm>
            <a:off x="2124075" y="1442045"/>
            <a:ext cx="2087563" cy="36036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流程管理</a:t>
            </a:r>
          </a:p>
        </p:txBody>
      </p:sp>
      <p:sp>
        <p:nvSpPr>
          <p:cNvPr id="3092" name="Rectangle 64"/>
          <p:cNvSpPr>
            <a:spLocks noChangeArrowheads="1"/>
          </p:cNvSpPr>
          <p:nvPr/>
        </p:nvSpPr>
        <p:spPr bwMode="auto">
          <a:xfrm>
            <a:off x="611188" y="1442045"/>
            <a:ext cx="1223962" cy="36036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400">
                <a:solidFill>
                  <a:schemeClr val="tx1"/>
                </a:solidFill>
              </a:rPr>
              <a:t>新系統</a:t>
            </a:r>
          </a:p>
        </p:txBody>
      </p:sp>
      <p:sp>
        <p:nvSpPr>
          <p:cNvPr id="3093" name="Line 65"/>
          <p:cNvSpPr>
            <a:spLocks noChangeShapeType="1"/>
          </p:cNvSpPr>
          <p:nvPr/>
        </p:nvSpPr>
        <p:spPr bwMode="auto">
          <a:xfrm>
            <a:off x="4643438" y="2205632"/>
            <a:ext cx="0" cy="3743325"/>
          </a:xfrm>
          <a:prstGeom prst="line">
            <a:avLst/>
          </a:prstGeom>
          <a:noFill/>
          <a:ln w="82550">
            <a:solidFill>
              <a:schemeClr val="tx1"/>
            </a:solidFill>
            <a:prstDash val="lg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094" name="Rectangle 66"/>
          <p:cNvSpPr>
            <a:spLocks noChangeArrowheads="1"/>
          </p:cNvSpPr>
          <p:nvPr/>
        </p:nvSpPr>
        <p:spPr bwMode="auto">
          <a:xfrm>
            <a:off x="2627313" y="4715470"/>
            <a:ext cx="1223962" cy="4318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2800">
                <a:solidFill>
                  <a:schemeClr val="bg1"/>
                </a:solidFill>
              </a:rPr>
              <a:t>標準化</a:t>
            </a:r>
          </a:p>
        </p:txBody>
      </p:sp>
      <p:sp>
        <p:nvSpPr>
          <p:cNvPr id="3095" name="AutoShape 67"/>
          <p:cNvSpPr>
            <a:spLocks noChangeArrowheads="1"/>
          </p:cNvSpPr>
          <p:nvPr/>
        </p:nvSpPr>
        <p:spPr bwMode="auto">
          <a:xfrm>
            <a:off x="2987675" y="4312245"/>
            <a:ext cx="576263" cy="3683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37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"/>
          <p:cNvSpPr>
            <a:spLocks noChangeArrowheads="1"/>
          </p:cNvSpPr>
          <p:nvPr/>
        </p:nvSpPr>
        <p:spPr bwMode="auto">
          <a:xfrm>
            <a:off x="1116013" y="96838"/>
            <a:ext cx="655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en-US" altLang="zh-TW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II 4.0</a:t>
            </a:r>
            <a:r>
              <a:rPr lang="zh-TW" altLang="en-US" sz="40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的物聯網創新生態</a:t>
            </a:r>
            <a:endParaRPr lang="zh-TW" altLang="en-US" sz="4000" dirty="0">
              <a:solidFill>
                <a:schemeClr val="tx1"/>
              </a:solidFill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323528" y="692696"/>
            <a:ext cx="8496944" cy="5832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3212976"/>
            <a:ext cx="8124825" cy="3240360"/>
          </a:xfrm>
          <a:prstGeom prst="rect">
            <a:avLst/>
          </a:prstGeom>
        </p:spPr>
      </p:pic>
      <p:sp>
        <p:nvSpPr>
          <p:cNvPr id="52" name="文本框 54"/>
          <p:cNvSpPr txBox="1"/>
          <p:nvPr/>
        </p:nvSpPr>
        <p:spPr>
          <a:xfrm>
            <a:off x="395536" y="836712"/>
            <a:ext cx="4392488" cy="2244499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4596" tIns="44596" rIns="44596" bIns="44596" numCol="1" spcCol="43461" rtlCol="0" anchor="t">
            <a:spAutoFit/>
          </a:bodyPr>
          <a:lstStyle/>
          <a:p>
            <a:pPr defTabSz="891917" latinLnBrk="1" hangingPunct="0"/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智慧生產的未來挑戰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-Time to market</a:t>
            </a:r>
          </a:p>
          <a:p>
            <a:pPr defTabSz="891917" latinLnBrk="1" hangingPunct="0"/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資訊經濟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物聯網與大數據合併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創客經濟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支援創意的新商業模式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整合經濟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協同製造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價值創新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endParaRPr lang="en-US" altLang="zh-CN" sz="2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實踐 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Production On Demand</a:t>
            </a:r>
            <a:endParaRPr lang="zh-CN" altLang="en-US" sz="2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文本框 54"/>
          <p:cNvSpPr txBox="1"/>
          <p:nvPr/>
        </p:nvSpPr>
        <p:spPr>
          <a:xfrm>
            <a:off x="4956696" y="824461"/>
            <a:ext cx="3719760" cy="2244499"/>
          </a:xfrm>
          <a:prstGeom prst="rect">
            <a:avLst/>
          </a:prstGeom>
          <a:noFill/>
          <a:ln w="12700" cap="flat">
            <a:solidFill>
              <a:srgbClr val="FF0000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4596" tIns="44596" rIns="44596" bIns="44596" numCol="1" spcCol="43461" rtlCol="0" anchor="t">
            <a:spAutoFit/>
          </a:bodyPr>
          <a:lstStyle/>
          <a:p>
            <a:pPr defTabSz="891917" latinLnBrk="1" hangingPunct="0"/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zh-TW" altLang="en-US" sz="2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的未來挑戰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資訊技術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 H2M, M2H, </a:t>
            </a:r>
          </a:p>
          <a:p>
            <a:pPr defTabSz="891917" latinLnBrk="1" hangingPunct="0"/>
            <a:r>
              <a:rPr lang="en-US" altLang="zh-TW" sz="2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Internet of Every thing</a:t>
            </a: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知識管理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社群網站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資料探勘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 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雲端運用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</a:p>
          <a:p>
            <a:pPr defTabSz="891917" latinLnBrk="1" hangingPunct="0"/>
            <a:r>
              <a:rPr lang="en-US" altLang="zh-TW" sz="20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Ubiquitous Computing</a:t>
            </a:r>
            <a:endParaRPr lang="zh-CN" altLang="en-US" sz="2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文本框 54"/>
          <p:cNvSpPr txBox="1"/>
          <p:nvPr/>
        </p:nvSpPr>
        <p:spPr>
          <a:xfrm>
            <a:off x="395536" y="4863879"/>
            <a:ext cx="2448272" cy="1013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4596" tIns="44596" rIns="44596" bIns="44596" numCol="1" spcCol="43461" rtlCol="0" anchor="t">
            <a:spAutoFit/>
          </a:bodyPr>
          <a:lstStyle/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緊密供應鏈調度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流程</a:t>
            </a:r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系統再造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defTabSz="891917" latinLnBrk="1" hangingPunct="0"/>
            <a:r>
              <a:rPr lang="en-US" altLang="zh-TW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20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智慧決策智能系統</a:t>
            </a:r>
            <a:endParaRPr lang="en-US" altLang="zh-TW" sz="20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6732240" y="5877272"/>
            <a:ext cx="190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Ref : IAC David Ho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2103662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71600" y="168821"/>
            <a:ext cx="734441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6600" b="1">
                <a:solidFill>
                  <a:schemeClr val="tx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/>
            <a:r>
              <a:rPr lang="zh-TW" altLang="en-US" sz="4000" dirty="0">
                <a:solidFill>
                  <a:schemeClr val="tx1"/>
                </a:solidFill>
                <a:latin typeface="Arial Narrow" panose="020B0606020202030204" pitchFamily="34" charset="0"/>
              </a:rPr>
              <a:t>智慧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製造</a:t>
            </a:r>
            <a:r>
              <a:rPr lang="en-US" altLang="zh-TW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-</a:t>
            </a:r>
            <a:r>
              <a:rPr lang="zh-TW" altLang="en-US" sz="4000" dirty="0" smtClean="0">
                <a:solidFill>
                  <a:schemeClr val="tx1"/>
                </a:solidFill>
                <a:latin typeface="Arial Narrow" panose="020B0606020202030204" pitchFamily="34" charset="0"/>
              </a:rPr>
              <a:t>達成大量客製化生產</a:t>
            </a:r>
            <a:endParaRPr lang="zh-TW" altLang="en-US" sz="4000" dirty="0">
              <a:solidFill>
                <a:schemeClr val="tx1"/>
              </a:solidFill>
              <a:latin typeface="Arial Narrow" panose="020B060602020203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980728"/>
            <a:ext cx="2160240" cy="14401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工廠導入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智慧化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2780928"/>
            <a:ext cx="2160240" cy="8640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導入物聯網促進人機協同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達成少樣多樣生產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536" y="3789040"/>
            <a:ext cx="2160240" cy="8640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導入巨量資料分析生產流程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進行預防管理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5536" y="4797152"/>
            <a:ext cx="2160240" cy="8640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導入工業用機器人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並自行開發系統工具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491880" y="980728"/>
            <a:ext cx="2160240" cy="14401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生產方式革新</a:t>
            </a:r>
            <a:endParaRPr lang="zh-TW" altLang="en-US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88224" y="980728"/>
            <a:ext cx="2160240" cy="144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大量客製化</a:t>
            </a:r>
            <a:endParaRPr lang="en-US" altLang="zh-TW" sz="2400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</a:t>
            </a:r>
            <a:endParaRPr lang="zh-TW" altLang="en-US" sz="2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91880" y="2780928"/>
            <a:ext cx="2160240" cy="10801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強調及時生產 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在必要時刻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生產必要東西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只生產必要的量</a:t>
            </a:r>
            <a:endParaRPr lang="zh-TW" altLang="en-US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491880" y="4005064"/>
            <a:ext cx="2160240" cy="64807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多樣少量生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</a:t>
            </a:r>
          </a:p>
        </p:txBody>
      </p:sp>
      <p:sp>
        <p:nvSpPr>
          <p:cNvPr id="13" name="矩形 12"/>
          <p:cNvSpPr/>
          <p:nvPr/>
        </p:nvSpPr>
        <p:spPr>
          <a:xfrm>
            <a:off x="3491880" y="4797152"/>
            <a:ext cx="2160240" cy="8640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混流生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</a:t>
            </a:r>
          </a:p>
        </p:txBody>
      </p:sp>
      <p:sp>
        <p:nvSpPr>
          <p:cNvPr id="14" name="矩形 13"/>
          <p:cNvSpPr/>
          <p:nvPr/>
        </p:nvSpPr>
        <p:spPr>
          <a:xfrm>
            <a:off x="6588224" y="2780928"/>
            <a:ext cx="2159991" cy="10801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多客戶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多機種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algn="ctr">
              <a:buFont typeface="Wingdings" panose="05000000000000000000" pitchFamily="2" charset="2"/>
              <a:buChar char="l"/>
            </a:pP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多機型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產能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年產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2500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萬台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588224" y="3861048"/>
            <a:ext cx="2160240" cy="79208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客戶來源 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HP/FJ/TSB </a:t>
            </a:r>
            <a:r>
              <a:rPr lang="en-US" altLang="zh-TW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88224" y="4797152"/>
            <a:ext cx="2160240" cy="8640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多樣少量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混流生產</a:t>
            </a:r>
            <a:endParaRPr lang="en-US" altLang="zh-TW" b="1" dirty="0" smtClean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加號 16"/>
          <p:cNvSpPr/>
          <p:nvPr/>
        </p:nvSpPr>
        <p:spPr>
          <a:xfrm>
            <a:off x="2627784" y="1340768"/>
            <a:ext cx="792088" cy="792088"/>
          </a:xfrm>
          <a:prstGeom prst="mathPlus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等於 17"/>
          <p:cNvSpPr/>
          <p:nvPr/>
        </p:nvSpPr>
        <p:spPr>
          <a:xfrm>
            <a:off x="5796136" y="1412776"/>
            <a:ext cx="648072" cy="720080"/>
          </a:xfrm>
          <a:prstGeom prst="mathEqual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9512" y="764704"/>
            <a:ext cx="8784976" cy="51845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5868144" y="3068960"/>
            <a:ext cx="543739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彈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性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製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造</a:t>
            </a:r>
            <a:endParaRPr lang="zh-TW" altLang="en-US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771800" y="3068960"/>
            <a:ext cx="543739" cy="181588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統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</a:t>
            </a:r>
          </a:p>
        </p:txBody>
      </p:sp>
    </p:spTree>
    <p:extLst>
      <p:ext uri="{BB962C8B-B14F-4D97-AF65-F5344CB8AC3E}">
        <p14:creationId xmlns:p14="http://schemas.microsoft.com/office/powerpoint/2010/main" val="26139745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347864" y="1628800"/>
            <a:ext cx="2736304" cy="4032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084168" y="1628800"/>
            <a:ext cx="2602632" cy="4032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7544" y="1628800"/>
            <a:ext cx="2880320" cy="40324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    2015/07-2016/12  Project Plan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/>
          </p:nvPr>
        </p:nvGraphicFramePr>
        <p:xfrm>
          <a:off x="518864" y="620688"/>
          <a:ext cx="8229600" cy="89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矩形 7"/>
          <p:cNvSpPr/>
          <p:nvPr/>
        </p:nvSpPr>
        <p:spPr>
          <a:xfrm>
            <a:off x="539552" y="1844824"/>
            <a:ext cx="274664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BOP</a:t>
            </a: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可行性分析 </a:t>
            </a:r>
            <a:endParaRPr lang="en-US" altLang="zh-CN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現場設備數據需求定義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客戶 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Part/BOM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資料轉換工具開發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廠商</a:t>
            </a:r>
            <a:r>
              <a:rPr lang="zh-TW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來料追蹤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SMT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作業流程改善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- </a:t>
            </a: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電子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倉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</a:b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- </a:t>
            </a:r>
            <a:r>
              <a:rPr lang="en-US" altLang="zh-CN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SMT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程式作業改善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CN" altLang="en-US" b="1" dirty="0" smtClean="0">
                <a:latin typeface="微軟正黑體" pitchFamily="34" charset="-120"/>
                <a:ea typeface="微軟正黑體" pitchFamily="34" charset="-120"/>
              </a:rPr>
              <a:t>半制</a:t>
            </a:r>
            <a:r>
              <a:rPr lang="en-US" altLang="zh-TW" b="1" dirty="0" smtClean="0">
                <a:latin typeface="微軟正黑體" pitchFamily="34" charset="-120"/>
                <a:ea typeface="微軟正黑體" pitchFamily="34" charset="-120"/>
              </a:rPr>
              <a:t>RFID</a:t>
            </a:r>
            <a:r>
              <a:rPr lang="zh-CN" altLang="en-US" b="1" dirty="0" smtClean="0">
                <a:latin typeface="微軟正黑體" pitchFamily="34" charset="-120"/>
                <a:ea typeface="微軟正黑體" pitchFamily="34" charset="-120"/>
              </a:rPr>
              <a:t>追踪</a:t>
            </a:r>
            <a:endParaRPr lang="en-US" altLang="zh-CN" b="1" dirty="0" smtClean="0"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產線自動化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專案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(image D/L)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工時效率系統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endParaRPr lang="en-US" altLang="zh-TW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endParaRPr lang="en-US" altLang="zh-TW" b="1" dirty="0" smtClean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47864" y="1844824"/>
            <a:ext cx="273630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BOP</a:t>
            </a:r>
            <a:endParaRPr lang="zh-TW" altLang="en-US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PCA Internal Forecast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IQC NCMR</a:t>
            </a: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作業簡化</a:t>
            </a:r>
            <a:endParaRPr lang="zh-TW" altLang="en-US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WMS </a:t>
            </a: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導入</a:t>
            </a:r>
            <a:r>
              <a:rPr lang="en-US" altLang="zh-CN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CQ 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VMI</a:t>
            </a:r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b="1" dirty="0">
                <a:latin typeface="微軟正黑體" pitchFamily="34" charset="-120"/>
                <a:ea typeface="微軟正黑體" pitchFamily="34" charset="-120"/>
              </a:rPr>
              <a:t>by MO </a:t>
            </a:r>
            <a:r>
              <a:rPr lang="zh-CN" altLang="en-US" b="1" dirty="0" smtClean="0">
                <a:latin typeface="微軟正黑體" pitchFamily="34" charset="-120"/>
                <a:ea typeface="微軟正黑體" pitchFamily="34" charset="-120"/>
              </a:rPr>
              <a:t>備料</a:t>
            </a:r>
            <a:endParaRPr lang="en-US" altLang="zh-CN" b="1" dirty="0" smtClean="0"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成</a:t>
            </a:r>
            <a:r>
              <a:rPr lang="zh-CN" altLang="en-US" b="1" dirty="0" smtClean="0">
                <a:latin typeface="微軟正黑體" pitchFamily="34" charset="-120"/>
                <a:ea typeface="微軟正黑體" pitchFamily="34" charset="-120"/>
              </a:rPr>
              <a:t>製</a:t>
            </a:r>
            <a:r>
              <a:rPr lang="en-US" altLang="zh-TW" b="1" dirty="0" smtClean="0">
                <a:latin typeface="微軟正黑體" pitchFamily="34" charset="-120"/>
                <a:ea typeface="微軟正黑體" pitchFamily="34" charset="-120"/>
              </a:rPr>
              <a:t>RFID</a:t>
            </a:r>
            <a:r>
              <a:rPr lang="zh-CN" altLang="en-US" b="1" dirty="0" smtClean="0">
                <a:latin typeface="微軟正黑體" pitchFamily="34" charset="-120"/>
                <a:ea typeface="微軟正黑體" pitchFamily="34" charset="-120"/>
              </a:rPr>
              <a:t>追踪</a:t>
            </a:r>
            <a:endParaRPr lang="en-US" altLang="zh-CN" b="1" dirty="0" smtClean="0"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產</a:t>
            </a:r>
            <a:r>
              <a:rPr lang="zh-TW" altLang="en-US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線自動化</a:t>
            </a: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專案</a:t>
            </a: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635000" lvl="1" indent="-177800">
              <a:buFont typeface="Arial" pitchFamily="34" charset="0"/>
              <a:buChar char="•"/>
            </a:pPr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IMES </a:t>
            </a:r>
            <a:r>
              <a:rPr lang="zh-CN" altLang="en-US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大整合</a:t>
            </a:r>
            <a:endParaRPr lang="en-US" altLang="zh-TW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635000" lvl="1" indent="-177800">
              <a:buFont typeface="Arial" pitchFamily="34" charset="0"/>
              <a:buChar char="•"/>
            </a:pPr>
            <a:r>
              <a:rPr lang="zh-CN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現場設備數據收集分析</a:t>
            </a:r>
            <a:endParaRPr lang="en-US" altLang="zh-TW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635000" lvl="1" indent="-177800">
              <a:buFont typeface="Arial" pitchFamily="34" charset="0"/>
              <a:buChar char="•"/>
            </a:pPr>
            <a:endParaRPr lang="en-US" altLang="zh-TW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en-US" altLang="zh-TW" b="1" dirty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endParaRPr lang="en-US" altLang="zh-TW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endParaRPr lang="zh-TW" altLang="en-US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endParaRPr lang="zh-TW" altLang="zh-TW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endParaRPr lang="zh-TW" altLang="en-US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84168" y="1796623"/>
            <a:ext cx="26642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buFont typeface="Arial" pitchFamily="34" charset="0"/>
              <a:buChar char="•"/>
            </a:pPr>
            <a:r>
              <a:rPr lang="en-US" altLang="zh-TW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MO </a:t>
            </a:r>
            <a:r>
              <a:rPr lang="en-US" altLang="zh-CN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auto confirm</a:t>
            </a:r>
            <a:endParaRPr lang="zh-TW" altLang="en-US" b="1" dirty="0" smtClean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大數據分析</a:t>
            </a:r>
          </a:p>
          <a:p>
            <a:pPr marL="177800" indent="-177800">
              <a:buFont typeface="Arial" pitchFamily="34" charset="0"/>
              <a:buChar char="•"/>
            </a:pPr>
            <a:r>
              <a:rPr lang="zh-TW" altLang="en-US" b="1" dirty="0" smtClean="0">
                <a:solidFill>
                  <a:prstClr val="black"/>
                </a:solidFill>
                <a:latin typeface="微軟正黑體" pitchFamily="34" charset="-120"/>
                <a:ea typeface="微軟正黑體" pitchFamily="34" charset="-120"/>
              </a:rPr>
              <a:t>產線自動化專案</a:t>
            </a:r>
            <a:endParaRPr lang="zh-TW" altLang="en-US" b="1" dirty="0">
              <a:solidFill>
                <a:prstClr val="black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3550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</TotalTime>
  <Words>864</Words>
  <Application>Microsoft Office PowerPoint</Application>
  <PresentationFormat>全屏显示(4:3)</PresentationFormat>
  <Paragraphs>256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 Narrow</vt:lpstr>
      <vt:lpstr>Arial Unicode MS</vt:lpstr>
      <vt:lpstr>標楷體</vt:lpstr>
      <vt:lpstr>Gulim</vt:lpstr>
      <vt:lpstr>맑은 고딕</vt:lpstr>
      <vt:lpstr>맑은 고딕</vt:lpstr>
      <vt:lpstr>微軟正黑體</vt:lpstr>
      <vt:lpstr>新細明體</vt:lpstr>
      <vt:lpstr>SimSun</vt:lpstr>
      <vt:lpstr>SimSun</vt:lpstr>
      <vt:lpstr>微软雅黑</vt:lpstr>
      <vt:lpstr>Arial</vt:lpstr>
      <vt:lpstr>Calibri</vt:lpstr>
      <vt:lpstr>Tahoma</vt:lpstr>
      <vt:lpstr>Wingdings</vt:lpstr>
      <vt:lpstr>Office 佈景主題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智慧製造資訊應用階層</vt:lpstr>
      <vt:lpstr>PowerPoint 演示文稿</vt:lpstr>
      <vt:lpstr>PowerPoint 演示文稿</vt:lpstr>
      <vt:lpstr>PowerPoint 演示文稿</vt:lpstr>
      <vt:lpstr>PowerPoint 演示文稿</vt:lpstr>
      <vt:lpstr>    2015/07-2016/12  Project Plan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iec000381</dc:creator>
  <cp:lastModifiedBy>Wu.Wen-chun 武文春 ICC</cp:lastModifiedBy>
  <cp:revision>121</cp:revision>
  <dcterms:created xsi:type="dcterms:W3CDTF">2015-06-25T01:35:07Z</dcterms:created>
  <dcterms:modified xsi:type="dcterms:W3CDTF">2015-10-23T05:28:39Z</dcterms:modified>
</cp:coreProperties>
</file>