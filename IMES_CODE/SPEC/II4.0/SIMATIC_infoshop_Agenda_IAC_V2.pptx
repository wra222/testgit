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53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  <p:sp>
        <p:nvSpPr>
          <p:cNvPr id="4" name="Rectangle 16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5" name="Rectangle 16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6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5" name="Rectangle 16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6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5" name="Rectangle 16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412875"/>
            <a:ext cx="4025900" cy="4749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8050" y="1412875"/>
            <a:ext cx="4027488" cy="4749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6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6" name="Rectangle 16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6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8" name="Rectangle 16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6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4" name="Rectangle 16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3" name="Rectangle 16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6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6" name="Rectangle 16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6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6" name="Rectangle 16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6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5" name="Rectangle 16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6267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6267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6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5" name="Rectangle 16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 userDrawn="1"/>
        </p:nvSpPr>
        <p:spPr bwMode="gray">
          <a:xfrm>
            <a:off x="0" y="0"/>
            <a:ext cx="9144000" cy="1268413"/>
          </a:xfrm>
          <a:prstGeom prst="rect">
            <a:avLst/>
          </a:prstGeom>
          <a:solidFill>
            <a:srgbClr val="ADBECB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TW" altLang="en-US" b="1">
              <a:solidFill>
                <a:srgbClr val="000000"/>
              </a:solidFill>
            </a:endParaRPr>
          </a:p>
        </p:txBody>
      </p:sp>
      <p:sp>
        <p:nvSpPr>
          <p:cNvPr id="3075" name="Rectangle 115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26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40000" tIns="396000" rIns="2124000" bIns="234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Mastertitelformat bearbeiten</a:t>
            </a:r>
          </a:p>
        </p:txBody>
      </p:sp>
      <p:sp>
        <p:nvSpPr>
          <p:cNvPr id="3076" name="Rectangle 1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12875"/>
            <a:ext cx="8205788" cy="474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Mastertextformat bearbeiten</a:t>
            </a:r>
          </a:p>
          <a:p>
            <a:pPr lvl="1"/>
            <a:r>
              <a:rPr lang="en-US" altLang="zh-TW" smtClean="0"/>
              <a:t>Zweite Ebene</a:t>
            </a:r>
          </a:p>
          <a:p>
            <a:pPr lvl="2"/>
            <a:r>
              <a:rPr lang="en-US" altLang="zh-TW" smtClean="0"/>
              <a:t>Dritte Ebene</a:t>
            </a:r>
          </a:p>
          <a:p>
            <a:pPr lvl="3"/>
            <a:r>
              <a:rPr lang="en-US" altLang="zh-TW" smtClean="0"/>
              <a:t>Vierte Ebene</a:t>
            </a:r>
          </a:p>
          <a:p>
            <a:pPr lvl="4"/>
            <a:r>
              <a:rPr lang="en-US" altLang="zh-TW" smtClean="0"/>
              <a:t>Fünfte Ebene</a:t>
            </a:r>
          </a:p>
        </p:txBody>
      </p:sp>
      <p:sp>
        <p:nvSpPr>
          <p:cNvPr id="16" name="Rectangle 16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74788" y="6597650"/>
            <a:ext cx="1081087" cy="144463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kumimoji="0" sz="1000" b="0">
                <a:latin typeface="Arial" charset="0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000000"/>
                </a:solidFill>
              </a:rPr>
              <a:t>20XX-XX-XX</a:t>
            </a:r>
          </a:p>
        </p:txBody>
      </p:sp>
      <p:sp>
        <p:nvSpPr>
          <p:cNvPr id="17" name="Rectangle 16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00338" y="6597650"/>
            <a:ext cx="6048375" cy="144463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kumimoji="0" sz="1000" b="0">
                <a:latin typeface="Arial" charset="0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000000"/>
                </a:solidFill>
              </a:rPr>
              <a:t>Author / Department</a:t>
            </a:r>
          </a:p>
        </p:txBody>
      </p:sp>
      <p:sp>
        <p:nvSpPr>
          <p:cNvPr id="14" name="Text Box 133"/>
          <p:cNvSpPr txBox="1">
            <a:spLocks noChangeArrowheads="1"/>
          </p:cNvSpPr>
          <p:nvPr/>
        </p:nvSpPr>
        <p:spPr bwMode="auto">
          <a:xfrm>
            <a:off x="0" y="6165850"/>
            <a:ext cx="91440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lIns="540000" tIns="144000" rIns="2124000" bIns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TW" sz="1000" b="1" dirty="0">
                <a:solidFill>
                  <a:srgbClr val="FF3300"/>
                </a:solidFill>
              </a:rPr>
              <a:t>Classification</a:t>
            </a:r>
            <a:r>
              <a:rPr lang="en-US" altLang="zh-TW" sz="1000" b="1" dirty="0">
                <a:solidFill>
                  <a:srgbClr val="879BAA"/>
                </a:solidFill>
              </a:rPr>
              <a:t> © Siemens Taiwan </a:t>
            </a:r>
            <a:r>
              <a:rPr lang="en-US" altLang="zh-TW" sz="1000" b="1" dirty="0" smtClean="0">
                <a:solidFill>
                  <a:srgbClr val="879BAA"/>
                </a:solidFill>
              </a:rPr>
              <a:t>2014. </a:t>
            </a:r>
            <a:r>
              <a:rPr lang="en-US" altLang="zh-TW" sz="1000" b="1" dirty="0">
                <a:solidFill>
                  <a:srgbClr val="879BAA"/>
                </a:solidFill>
              </a:rPr>
              <a:t>All rights reserved.                                                                                                                               </a:t>
            </a:r>
          </a:p>
        </p:txBody>
      </p:sp>
      <p:pic>
        <p:nvPicPr>
          <p:cNvPr id="3080" name="Picture 15" descr="SIE_Logo_Layer_Petrol_RGB_A3_76mm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308850" y="0"/>
            <a:ext cx="1439863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1" name="圖片 1"/>
          <p:cNvPicPr>
            <a:picLocks noChangeAspect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451725" y="5445125"/>
            <a:ext cx="1319213" cy="73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167"/>
          <p:cNvSpPr>
            <a:spLocks noChangeArrowheads="1"/>
          </p:cNvSpPr>
          <p:nvPr/>
        </p:nvSpPr>
        <p:spPr bwMode="auto">
          <a:xfrm>
            <a:off x="538163" y="6597650"/>
            <a:ext cx="1081087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lIns="0" tIns="0" rIns="0" bIns="0" anchor="b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000">
                <a:solidFill>
                  <a:srgbClr val="000000"/>
                </a:solidFill>
              </a:rPr>
              <a:t>Page </a:t>
            </a:r>
            <a:fld id="{10E32CB3-6862-430E-8362-C1985E299F1F}" type="slidenum">
              <a:rPr lang="en-US" altLang="zh-TW" sz="10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TW" sz="1000">
              <a:solidFill>
                <a:srgbClr val="000000"/>
              </a:solidFill>
            </a:endParaRPr>
          </a:p>
        </p:txBody>
      </p:sp>
      <p:sp>
        <p:nvSpPr>
          <p:cNvPr id="13" name="Rectangle 167"/>
          <p:cNvSpPr>
            <a:spLocks noChangeArrowheads="1"/>
          </p:cNvSpPr>
          <p:nvPr userDrawn="1"/>
        </p:nvSpPr>
        <p:spPr bwMode="auto">
          <a:xfrm>
            <a:off x="7812088" y="6381750"/>
            <a:ext cx="1081087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lIns="0" tIns="0" rIns="0" bIns="0" anchor="b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zh-TW" sz="1000" b="1" dirty="0">
                <a:solidFill>
                  <a:srgbClr val="000000"/>
                </a:solidFill>
              </a:rPr>
              <a:t>D</a:t>
            </a:r>
            <a:r>
              <a:rPr lang="en-US" altLang="zh-TW" sz="1000" b="1" dirty="0">
                <a:solidFill>
                  <a:srgbClr val="000000"/>
                </a:solidFill>
              </a:rPr>
              <a:t>F</a:t>
            </a:r>
            <a:r>
              <a:rPr lang="zh-TW" altLang="en-US" sz="1000" b="1" dirty="0">
                <a:solidFill>
                  <a:srgbClr val="000000"/>
                </a:solidFill>
              </a:rPr>
              <a:t> </a:t>
            </a:r>
            <a:r>
              <a:rPr lang="en-US" altLang="zh-TW" sz="1000" b="1" dirty="0">
                <a:solidFill>
                  <a:srgbClr val="000000"/>
                </a:solidFill>
              </a:rPr>
              <a:t>&amp;</a:t>
            </a:r>
            <a:r>
              <a:rPr lang="zh-TW" altLang="en-US" sz="1000" b="1" dirty="0">
                <a:solidFill>
                  <a:srgbClr val="000000"/>
                </a:solidFill>
              </a:rPr>
              <a:t> </a:t>
            </a:r>
            <a:r>
              <a:rPr lang="en-US" altLang="zh-TW" sz="1000" b="1" dirty="0">
                <a:solidFill>
                  <a:srgbClr val="000000"/>
                </a:solidFill>
              </a:rPr>
              <a:t>PD Taiwan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MS PGothic" charset="0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MS PGothic" charset="0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MS PGothic" charset="0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MS PGothic" charset="0"/>
          <a:cs typeface="MS PGothic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MS PGothic" charset="0"/>
          <a:cs typeface="MS PGothic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MS PGothic" charset="0"/>
          <a:cs typeface="MS PGothic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MS PGothic" charset="0"/>
          <a:cs typeface="MS PGothic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MS PGothic" charset="0"/>
          <a:cs typeface="MS PGothic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Font typeface="Wingdings" pitchFamily="2" charset="2"/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71755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1174750" indent="-177800" algn="l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1631950" indent="-177800" algn="l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2089150" indent="-177800" algn="l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2546350" indent="-177800" algn="l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7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SIEMENS Automation </a:t>
            </a:r>
            <a:r>
              <a:rPr lang="en-US" altLang="zh-TW" dirty="0" err="1" smtClean="0"/>
              <a:t>infoshop</a:t>
            </a:r>
            <a:r>
              <a:rPr lang="en-US" altLang="zh-TW" dirty="0" smtClean="0"/>
              <a:t> for IAC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1000" y="1371600"/>
          <a:ext cx="8382000" cy="407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371600"/>
                <a:gridCol w="4642338"/>
                <a:gridCol w="1225062"/>
              </a:tblGrid>
              <a:tr h="535420">
                <a:tc>
                  <a:txBody>
                    <a:bodyPr/>
                    <a:lstStyle/>
                    <a:p>
                      <a:r>
                        <a:rPr lang="en-US" altLang="zh-TW" sz="2000" dirty="0" smtClean="0"/>
                        <a:t>Date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/>
                        <a:t>Time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/>
                        <a:t>Topic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/>
                        <a:t>Resp.</a:t>
                      </a:r>
                      <a:endParaRPr lang="zh-TW" altLang="en-US" sz="2000" dirty="0"/>
                    </a:p>
                  </a:txBody>
                  <a:tcPr/>
                </a:tc>
              </a:tr>
              <a:tr h="289560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10/27</a:t>
                      </a:r>
                    </a:p>
                    <a:p>
                      <a:pPr algn="ctr"/>
                      <a:r>
                        <a:rPr lang="en-US" altLang="zh-TW" sz="1600" dirty="0" smtClean="0"/>
                        <a:t>(Day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zh-TW" sz="18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altLang="zh-TW" sz="1800" b="1" dirty="0" smtClean="0"/>
                        <a:t>Siemens Automation product 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1" dirty="0" smtClean="0"/>
                        <a:t>Siemens</a:t>
                      </a:r>
                    </a:p>
                  </a:txBody>
                  <a:tcPr/>
                </a:tc>
              </a:tr>
              <a:tr h="28956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0900~1100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SIMATIC Product Overview &amp; PROFINET (2</a:t>
                      </a:r>
                      <a:r>
                        <a:rPr lang="en-US" altLang="zh-TW" sz="1600" b="0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h)</a:t>
                      </a:r>
                      <a:endParaRPr lang="zh-TW" altLang="zh-TW" sz="1600" b="0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Angus Luo</a:t>
                      </a:r>
                    </a:p>
                  </a:txBody>
                  <a:tcPr/>
                </a:tc>
              </a:tr>
              <a:tr h="304800">
                <a:tc vMerge="1">
                  <a:txBody>
                    <a:bodyPr/>
                    <a:lstStyle/>
                    <a:p>
                      <a:pPr algn="ctr"/>
                      <a:endParaRPr lang="en-US" altLang="zh-TW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1100~1200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altLang="zh-TW" sz="1600" b="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Motion/Drive (1 h)</a:t>
                      </a:r>
                      <a:endParaRPr lang="zh-TW" altLang="zh-TW" sz="1600" b="0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Ewen Chi</a:t>
                      </a:r>
                      <a:endParaRPr lang="zh-TW" altLang="en-US" sz="1600" dirty="0"/>
                    </a:p>
                  </a:txBody>
                  <a:tcPr/>
                </a:tc>
              </a:tr>
              <a:tr h="396240">
                <a:tc vMerge="1"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1330~1430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600" b="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Vision &amp; RFID (1</a:t>
                      </a:r>
                      <a:r>
                        <a:rPr lang="en-US" altLang="zh-TW" sz="1600" b="0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h)</a:t>
                      </a:r>
                      <a:endParaRPr lang="zh-TW" altLang="zh-TW" sz="1600" b="0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Fanny Lin</a:t>
                      </a:r>
                      <a:endParaRPr lang="zh-TW" altLang="en-US" sz="1600" dirty="0"/>
                    </a:p>
                  </a:txBody>
                  <a:tcPr/>
                </a:tc>
              </a:tr>
              <a:tr h="622820">
                <a:tc vMerge="1"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1430~1700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1" dirty="0" smtClean="0"/>
                        <a:t>- IAC production line visiting 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(Deeply understanding of the application &amp; requirement)</a:t>
                      </a:r>
                      <a:endParaRPr lang="zh-TW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1" dirty="0" smtClean="0"/>
                        <a:t>IAC</a:t>
                      </a:r>
                      <a:endParaRPr lang="zh-TW" altLang="en-US" sz="1800" b="1" dirty="0"/>
                    </a:p>
                  </a:txBody>
                  <a:tcPr/>
                </a:tc>
              </a:tr>
              <a:tr h="79548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10/28</a:t>
                      </a:r>
                    </a:p>
                    <a:p>
                      <a:pPr algn="ctr"/>
                      <a:r>
                        <a:rPr lang="en-US" altLang="zh-TW" dirty="0" smtClean="0"/>
                        <a:t>(Day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0900~1200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altLang="zh-TW" b="1" dirty="0" smtClean="0"/>
                        <a:t>SIMATIC product portfolio detail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(Deeply</a:t>
                      </a:r>
                      <a:r>
                        <a:rPr lang="en-US" altLang="zh-TW" sz="1400" baseline="0" dirty="0" smtClean="0">
                          <a:solidFill>
                            <a:srgbClr val="0070C0"/>
                          </a:solidFill>
                        </a:rPr>
                        <a:t> understanding of the functionality of SIMATIC product)</a:t>
                      </a:r>
                      <a:endParaRPr lang="en-US" altLang="zh-TW" sz="1400" dirty="0" smtClean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Siemens</a:t>
                      </a:r>
                      <a:endParaRPr lang="zh-TW" altLang="en-US" b="1" dirty="0"/>
                    </a:p>
                  </a:txBody>
                  <a:tcPr/>
                </a:tc>
              </a:tr>
              <a:tr h="68839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1330~1630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altLang="zh-TW" b="1" dirty="0" smtClean="0"/>
                        <a:t>Conclusion</a:t>
                      </a:r>
                      <a:r>
                        <a:rPr lang="en-US" altLang="zh-TW" b="1" baseline="0" dirty="0" smtClean="0"/>
                        <a:t> &amp; Proposal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en-US" altLang="zh-TW" sz="1400" baseline="0" dirty="0" smtClean="0">
                          <a:solidFill>
                            <a:srgbClr val="0070C0"/>
                          </a:solidFill>
                        </a:rPr>
                        <a:t>(wrap-up &amp; follow-up</a:t>
                      </a:r>
                      <a:r>
                        <a:rPr lang="en-US" altLang="zh-TW" sz="1400" baseline="0" dirty="0" smtClean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zh-TW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IAC</a:t>
                      </a:r>
                    </a:p>
                    <a:p>
                      <a:r>
                        <a:rPr lang="en-US" altLang="zh-TW" b="1" dirty="0" smtClean="0"/>
                        <a:t>Siemens</a:t>
                      </a:r>
                      <a:endParaRPr lang="zh-TW" altLang="en-US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emens 2013 – 4:3">
  <a:themeElements>
    <a:clrScheme name="Siemens 2013 – 4:3 1">
      <a:dk1>
        <a:srgbClr val="000000"/>
      </a:dk1>
      <a:lt1>
        <a:srgbClr val="FFFFFF"/>
      </a:lt1>
      <a:dk2>
        <a:srgbClr val="000000"/>
      </a:dk2>
      <a:lt2>
        <a:srgbClr val="879BAA"/>
      </a:lt2>
      <a:accent1>
        <a:srgbClr val="879BAA"/>
      </a:accent1>
      <a:accent2>
        <a:srgbClr val="BECDD7"/>
      </a:accent2>
      <a:accent3>
        <a:srgbClr val="FFFFFF"/>
      </a:accent3>
      <a:accent4>
        <a:srgbClr val="000000"/>
      </a:accent4>
      <a:accent5>
        <a:srgbClr val="C3CBD2"/>
      </a:accent5>
      <a:accent6>
        <a:srgbClr val="ACBAC3"/>
      </a:accent6>
      <a:hlink>
        <a:srgbClr val="EB780A"/>
      </a:hlink>
      <a:folHlink>
        <a:srgbClr val="641946"/>
      </a:folHlink>
    </a:clrScheme>
    <a:fontScheme name="Siemens 2013 – 4:3">
      <a:majorFont>
        <a:latin typeface="Arial"/>
        <a:ea typeface="MS PGothic"/>
        <a:cs typeface="MS PGothic"/>
      </a:majorFont>
      <a:minorFont>
        <a:latin typeface="Arial"/>
        <a:ea typeface="MS PGothic"/>
        <a:cs typeface="MS 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0"/>
            <a:cs typeface="新細明體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0"/>
            <a:cs typeface="新細明體" charset="0"/>
          </a:defRPr>
        </a:defPPr>
      </a:lstStyle>
    </a:lnDef>
  </a:objectDefaults>
  <a:extraClrSchemeLst>
    <a:extraClrScheme>
      <a:clrScheme name="Siemens 2013 – 4:3 1">
        <a:dk1>
          <a:srgbClr val="000000"/>
        </a:dk1>
        <a:lt1>
          <a:srgbClr val="FFFFFF"/>
        </a:lt1>
        <a:dk2>
          <a:srgbClr val="000000"/>
        </a:dk2>
        <a:lt2>
          <a:srgbClr val="879BAA"/>
        </a:lt2>
        <a:accent1>
          <a:srgbClr val="879BAA"/>
        </a:accent1>
        <a:accent2>
          <a:srgbClr val="BECDD7"/>
        </a:accent2>
        <a:accent3>
          <a:srgbClr val="FFFFFF"/>
        </a:accent3>
        <a:accent4>
          <a:srgbClr val="000000"/>
        </a:accent4>
        <a:accent5>
          <a:srgbClr val="C3CBD2"/>
        </a:accent5>
        <a:accent6>
          <a:srgbClr val="ACBAC3"/>
        </a:accent6>
        <a:hlink>
          <a:srgbClr val="EB780A"/>
        </a:hlink>
        <a:folHlink>
          <a:srgbClr val="6419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2013 – 4:3 2">
        <a:dk1>
          <a:srgbClr val="000000"/>
        </a:dk1>
        <a:lt1>
          <a:srgbClr val="FFFFFF"/>
        </a:lt1>
        <a:dk2>
          <a:srgbClr val="641946"/>
        </a:dk2>
        <a:lt2>
          <a:srgbClr val="EB780A"/>
        </a:lt2>
        <a:accent1>
          <a:srgbClr val="879BAA"/>
        </a:accent1>
        <a:accent2>
          <a:srgbClr val="BECDD7"/>
        </a:accent2>
        <a:accent3>
          <a:srgbClr val="FFFFFF"/>
        </a:accent3>
        <a:accent4>
          <a:srgbClr val="000000"/>
        </a:accent4>
        <a:accent5>
          <a:srgbClr val="C3CBD2"/>
        </a:accent5>
        <a:accent6>
          <a:srgbClr val="ACBAC3"/>
        </a:accent6>
        <a:hlink>
          <a:srgbClr val="006487"/>
        </a:hlink>
        <a:folHlink>
          <a:srgbClr val="647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98</Words>
  <Application>Microsoft Office PowerPoint</Application>
  <PresentationFormat>On-screen Show (4:3)</PresentationFormat>
  <Paragraphs>33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Siemens 2013 – 4:3</vt:lpstr>
      <vt:lpstr>SIEMENS Automation infoshop for IAC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Lo, Benny</dc:creator>
  <cp:keywords>C_Unrestricted</cp:keywords>
  <cp:lastModifiedBy>tpe00417</cp:lastModifiedBy>
  <cp:revision>56</cp:revision>
  <dcterms:created xsi:type="dcterms:W3CDTF">2006-08-16T00:00:00Z</dcterms:created>
  <dcterms:modified xsi:type="dcterms:W3CDTF">2015-10-06T05:23:50Z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Confidentiality">
    <vt:lpwstr>Unrestricted</vt:lpwstr>
  </property>
  <property fmtid="{D5CDD505-2E9C-101B-9397-08002B2CF9AE}" pid="4" name="_NewReviewCycle">
    <vt:lpwstr/>
  </property>
</Properties>
</file>