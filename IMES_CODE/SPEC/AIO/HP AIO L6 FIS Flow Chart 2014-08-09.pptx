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85" r:id="rId5"/>
    <p:sldId id="450" r:id="rId6"/>
    <p:sldId id="405" r:id="rId7"/>
    <p:sldId id="408" r:id="rId8"/>
    <p:sldId id="458" r:id="rId9"/>
    <p:sldId id="423" r:id="rId10"/>
    <p:sldId id="453" r:id="rId11"/>
    <p:sldId id="455" r:id="rId12"/>
    <p:sldId id="457" r:id="rId13"/>
    <p:sldId id="456" r:id="rId14"/>
    <p:sldId id="454" r:id="rId15"/>
    <p:sldId id="389" r:id="rId1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FF3300"/>
    <a:srgbClr val="0000CC"/>
  </p:clrMru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10" autoAdjust="0"/>
    <p:restoredTop sz="88669" autoAdjust="0"/>
  </p:normalViewPr>
  <p:slideViewPr>
    <p:cSldViewPr>
      <p:cViewPr>
        <p:scale>
          <a:sx n="62" d="100"/>
          <a:sy n="62" d="100"/>
        </p:scale>
        <p:origin x="-1860" y="-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1878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0EED4D6-141D-4751-8284-02CE51AE0FEF}" type="datetimeFigureOut">
              <a:rPr lang="zh-TW" altLang="en-US"/>
              <a:pPr>
                <a:defRPr/>
              </a:pPr>
              <a:t>2014/8/18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44E8457-280D-4D74-852E-1E2366FFC3F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D5F7833-F972-4D97-A670-D97B11A7A13F}" type="datetimeFigureOut">
              <a:rPr lang="zh-TW" altLang="en-US"/>
              <a:pPr>
                <a:defRPr/>
              </a:pPr>
              <a:t>2014/8/18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29F06BB-101D-455D-B7E8-187DA60A04D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1536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6531B5F-40EF-4539-9C5F-AB193D60DAAC}" type="slidenum">
              <a:rPr lang="zh-TW" altLang="en-US" smtClean="0">
                <a:latin typeface="Arial" charset="0"/>
              </a:rPr>
              <a:pPr/>
              <a:t>12</a:t>
            </a:fld>
            <a:endParaRPr lang="zh-TW" alt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0"/>
            <a:ext cx="9144000" cy="421481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>
              <a:latin typeface="+mj-lt"/>
              <a:ea typeface="微軟正黑體" pitchFamily="34" charset="-120"/>
            </a:endParaRPr>
          </a:p>
        </p:txBody>
      </p:sp>
      <p:sp>
        <p:nvSpPr>
          <p:cNvPr id="5" name="矩形 4"/>
          <p:cNvSpPr/>
          <p:nvPr userDrawn="1"/>
        </p:nvSpPr>
        <p:spPr>
          <a:xfrm flipV="1">
            <a:off x="0" y="3571875"/>
            <a:ext cx="9144000" cy="328612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</a:schemeClr>
              </a:gs>
              <a:gs pos="50000">
                <a:schemeClr val="bg1"/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>
              <a:latin typeface="+mj-lt"/>
              <a:ea typeface="微軟正黑體" pitchFamily="34" charset="-120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072063"/>
            <a:ext cx="9144000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內容版面配置區 5" descr="Inventec Logo_Min.wmf"/>
          <p:cNvPicPr>
            <a:picLocks noChangeAspect="1"/>
          </p:cNvPicPr>
          <p:nvPr userDrawn="1"/>
        </p:nvPicPr>
        <p:blipFill>
          <a:blip r:embed="rId3" cstate="print"/>
          <a:srcRect t="28120" b="31445"/>
          <a:stretch>
            <a:fillRect/>
          </a:stretch>
        </p:blipFill>
        <p:spPr bwMode="auto">
          <a:xfrm>
            <a:off x="0" y="2714625"/>
            <a:ext cx="437197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286248" y="2786058"/>
            <a:ext cx="4857752" cy="655633"/>
          </a:xfrm>
          <a:effectLst/>
        </p:spPr>
        <p:txBody>
          <a:bodyPr>
            <a:noAutofit/>
          </a:bodyPr>
          <a:lstStyle>
            <a:lvl1pPr algn="l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7158" y="3714752"/>
            <a:ext cx="4857752" cy="785818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  <a:lvl2pPr>
              <a:defRPr>
                <a:latin typeface="+mj-lt"/>
                <a:ea typeface="微軟正黑體" pitchFamily="34" charset="-120"/>
              </a:defRPr>
            </a:lvl2pPr>
            <a:lvl3pPr>
              <a:defRPr>
                <a:latin typeface="+mj-lt"/>
                <a:ea typeface="微軟正黑體" pitchFamily="34" charset="-120"/>
              </a:defRPr>
            </a:lvl3pPr>
            <a:lvl4pPr>
              <a:defRPr>
                <a:latin typeface="+mj-lt"/>
                <a:ea typeface="微軟正黑體" pitchFamily="34" charset="-120"/>
              </a:defRPr>
            </a:lvl4pPr>
            <a:lvl5pPr>
              <a:defRPr>
                <a:latin typeface="+mj-lt"/>
                <a:ea typeface="微軟正黑體" pitchFamily="34" charset="-120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FFEF5-4877-4EC2-A034-C505EAAC24DE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426D36-188A-45AD-8781-D4BBFB79FBDF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background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lum bright="-10000"/>
            <a:grayscl/>
          </a:blip>
          <a:srcRect l="3947" t="1276" r="1305"/>
          <a:stretch>
            <a:fillRect/>
          </a:stretch>
        </p:blipFill>
        <p:spPr bwMode="auto">
          <a:xfrm>
            <a:off x="280988" y="819150"/>
            <a:ext cx="8637587" cy="5399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36561" y="3308345"/>
            <a:ext cx="7786742" cy="714380"/>
          </a:xfrm>
          <a:effectLst/>
        </p:spPr>
        <p:txBody>
          <a:bodyPr anchor="t"/>
          <a:lstStyle>
            <a:lvl1pPr algn="l">
              <a:defRPr sz="4000" b="1" cap="all">
                <a:solidFill>
                  <a:srgbClr val="FF0000"/>
                </a:solidFill>
                <a:latin typeface="+mj-lt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28596" y="4071942"/>
            <a:ext cx="7786742" cy="450849"/>
          </a:xfrm>
        </p:spPr>
        <p:txBody>
          <a:bodyPr anchor="b"/>
          <a:lstStyle>
            <a:lvl1pPr marL="0" indent="0" algn="l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fld id="{489146EC-3FE8-413D-9502-8FFA9FF62770}" type="datetimeFigureOut">
              <a:rPr lang="zh-TW" altLang="en-US"/>
              <a:pPr>
                <a:defRPr/>
              </a:pPr>
              <a:t>2014/8/18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>
                <a:latin typeface="+mj-lt"/>
              </a:defRPr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fld id="{29B102B1-19D7-4C8D-8EB5-92AABEDE78E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3713D8-D829-4356-9954-6854D51719A9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C1FDD-4A38-4E70-A719-CB502D4CFE91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DDCF2-6B7A-4F2F-8E76-CBFEC8D2267A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B2BE0-06DA-4428-9282-802A81BBB3E2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26BD01-A86B-42BC-86B3-3D82423FB5C0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5CDDFA-E10A-461A-881A-5B33B748E947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B9066-715D-4886-AB6C-AD24A6972CE9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0B17B-DD07-4F72-A9D2-6FE328B37FE5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B4ECEE-8D75-4AFA-8235-1B47CB75CBBA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D37AB7-368B-4611-A1B8-ABB6C6A04193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AA411-34E9-4B9A-BCD2-2BEF1FF85CEB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3DE12-5E2F-4C79-9ADF-C5F15FBAE8D2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96785-64CF-4C27-9A8D-C30B3365E6EE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C908C-A061-4E62-B95A-C4CD1B90A5D8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EF6C1D-BF2F-4868-BF8E-69BEE5ABD545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27449-D4E7-429B-B3AB-F79B228E9646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群組 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矩形 7"/>
            <p:cNvSpPr/>
            <p:nvPr userDrawn="1"/>
          </p:nvSpPr>
          <p:spPr>
            <a:xfrm>
              <a:off x="0" y="0"/>
              <a:ext cx="9144000" cy="642937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lin ang="16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6357958"/>
              <a:ext cx="9144000" cy="50004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zh-TW" altLang="en-US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027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85875"/>
            <a:ext cx="8229600" cy="484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fld id="{80459FCF-7C29-4A62-8352-E352BC62FC69}" type="datetimeFigureOut">
              <a:rPr lang="zh-TW" altLang="en-US"/>
              <a:pPr>
                <a:defRPr/>
              </a:pPr>
              <a:t>2014/8/18</a:t>
            </a:fld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dirty="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r>
              <a:rPr lang="en-US" altLang="zh-TW" dirty="0"/>
              <a:t>Inventec Confidential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j-lt"/>
                <a:ea typeface="微軟正黑體" pitchFamily="34" charset="-120"/>
              </a:defRPr>
            </a:lvl1pPr>
          </a:lstStyle>
          <a:p>
            <a:pPr>
              <a:defRPr/>
            </a:pPr>
            <a:fld id="{1F26FEE5-CC36-4B02-8444-0379BC408EC4}" type="slidenum">
              <a:rPr lang="zh-TW" altLang="en-US"/>
              <a:pPr>
                <a:defRPr/>
              </a:pPr>
              <a:t>‹#›</a:t>
            </a:fld>
            <a:endParaRPr lang="zh-TW" altLang="en-US" dirty="0"/>
          </a:p>
        </p:txBody>
      </p:sp>
      <p:pic>
        <p:nvPicPr>
          <p:cNvPr id="1032" name="內容版面配置區 5" descr="Inventec Logo_Min.wmf"/>
          <p:cNvPicPr>
            <a:picLocks noChangeAspect="1"/>
          </p:cNvPicPr>
          <p:nvPr/>
        </p:nvPicPr>
        <p:blipFill>
          <a:blip r:embed="rId13" cstate="print"/>
          <a:srcRect t="28120" b="31445"/>
          <a:stretch>
            <a:fillRect/>
          </a:stretch>
        </p:blipFill>
        <p:spPr bwMode="auto">
          <a:xfrm>
            <a:off x="7429500" y="6429375"/>
            <a:ext cx="1714500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微軟正黑體" pitchFamily="34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j-lt"/>
          <a:ea typeface="微軟正黑體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rgbClr val="262626"/>
          </a:solidFill>
          <a:latin typeface="+mj-lt"/>
          <a:ea typeface="微軟正黑體" pitchFamily="34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rgbClr val="404040"/>
          </a:solidFill>
          <a:latin typeface="+mj-lt"/>
          <a:ea typeface="微軟正黑體" pitchFamily="34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rgbClr val="595959"/>
          </a:solidFill>
          <a:latin typeface="+mj-lt"/>
          <a:ea typeface="微軟正黑體" pitchFamily="34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rgbClr val="7F7F7F"/>
          </a:solidFill>
          <a:latin typeface="+mj-lt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192.168.202.7/FIS-HP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內容版面配置區 5" descr="Inventec Logo_Min.wmf"/>
          <p:cNvPicPr>
            <a:picLocks noChangeAspect="1"/>
          </p:cNvPicPr>
          <p:nvPr/>
        </p:nvPicPr>
        <p:blipFill>
          <a:blip r:embed="rId2" cstate="print"/>
          <a:srcRect t="28120" b="31445"/>
          <a:stretch>
            <a:fillRect/>
          </a:stretch>
        </p:blipFill>
        <p:spPr bwMode="auto">
          <a:xfrm>
            <a:off x="0" y="2714625"/>
            <a:ext cx="437197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副標題 2"/>
          <p:cNvSpPr txBox="1">
            <a:spLocks/>
          </p:cNvSpPr>
          <p:nvPr/>
        </p:nvSpPr>
        <p:spPr bwMode="auto">
          <a:xfrm>
            <a:off x="4427984" y="3170362"/>
            <a:ext cx="4660900" cy="1410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noAutofit/>
          </a:bodyPr>
          <a:lstStyle/>
          <a:p>
            <a:pPr algn="r">
              <a:spcBef>
                <a:spcPct val="20000"/>
              </a:spcBef>
              <a:buFont typeface="Arial" charset="0"/>
              <a:buNone/>
              <a:defRPr/>
            </a:pPr>
            <a:r>
              <a:rPr kumimoji="0"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itchFamily="34" charset="-120"/>
              </a:rPr>
              <a:t>HP L6 AIO FIS Flow Chart</a:t>
            </a:r>
          </a:p>
          <a:p>
            <a:pPr algn="r">
              <a:spcBef>
                <a:spcPct val="20000"/>
              </a:spcBef>
              <a:buFont typeface="Arial" charset="0"/>
              <a:buNone/>
              <a:defRPr/>
            </a:pPr>
            <a:r>
              <a:rPr kumimoji="0" lang="en-US" altLang="zh-TW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itchFamily="34" charset="-120"/>
              </a:rPr>
              <a:t>Aug 09</a:t>
            </a:r>
            <a:r>
              <a:rPr kumimoji="0" lang="en-US" altLang="zh-TW" sz="2400" b="1" baseline="30000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itchFamily="34" charset="-120"/>
              </a:rPr>
              <a:t>th</a:t>
            </a:r>
            <a:r>
              <a:rPr kumimoji="0" lang="en-US" altLang="zh-TW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itchFamily="34" charset="-120"/>
              </a:rPr>
              <a:t> 2014</a:t>
            </a:r>
          </a:p>
          <a:p>
            <a:pPr algn="r">
              <a:spcBef>
                <a:spcPct val="20000"/>
              </a:spcBef>
              <a:buFont typeface="Arial" charset="0"/>
              <a:buNone/>
              <a:defRPr/>
            </a:pPr>
            <a:r>
              <a:rPr kumimoji="0" lang="en-US" altLang="zh-TW" sz="24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itchFamily="34" charset="-120"/>
              </a:rPr>
              <a:t>Cao.Jill</a:t>
            </a:r>
            <a:endParaRPr kumimoji="0" lang="zh-TW" altLang="en-US" sz="2400" b="1" dirty="0" smtClean="0">
              <a:solidFill>
                <a:schemeClr val="accent1">
                  <a:lumMod val="75000"/>
                </a:schemeClr>
              </a:solidFill>
              <a:latin typeface="+mj-lt"/>
              <a:ea typeface="微軟正黑體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012EB-EEB4-430F-A8E2-5210D3FDFDEB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03311" y="44624"/>
            <a:ext cx="8573145" cy="566936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icrosoft JhengHei" pitchFamily="34" charset="-120"/>
                <a:cs typeface="+mj-cs"/>
              </a:rPr>
              <a:t>Change List</a:t>
            </a:r>
            <a:endParaRPr kumimoji="0" lang="zh-TW" alt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icrosoft JhengHei" pitchFamily="34" charset="-120"/>
              <a:cs typeface="+mj-cs"/>
            </a:endParaRPr>
          </a:p>
        </p:txBody>
      </p:sp>
      <p:graphicFrame>
        <p:nvGraphicFramePr>
          <p:cNvPr id="5" name="Group 104"/>
          <p:cNvGraphicFramePr>
            <a:graphicFrameLocks noGrp="1"/>
          </p:cNvGraphicFramePr>
          <p:nvPr/>
        </p:nvGraphicFramePr>
        <p:xfrm>
          <a:off x="256852" y="836712"/>
          <a:ext cx="8707636" cy="5423299"/>
        </p:xfrm>
        <a:graphic>
          <a:graphicData uri="http://schemas.openxmlformats.org/drawingml/2006/table">
            <a:tbl>
              <a:tblPr/>
              <a:tblGrid>
                <a:gridCol w="1290812"/>
                <a:gridCol w="617241"/>
                <a:gridCol w="846038"/>
                <a:gridCol w="999457"/>
                <a:gridCol w="4954088"/>
              </a:tblGrid>
              <a:tr h="4306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更新日期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版本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申請人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更新頁數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修改內容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</a:tr>
              <a:tr h="5240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2014/06/20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1.00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曹静</a:t>
                      </a:r>
                      <a:endParaRPr kumimoji="1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全部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初版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2014/06/20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2.00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孙晋军</a:t>
                      </a:r>
                      <a:endParaRPr kumimoji="1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FA/PA</a:t>
                      </a:r>
                      <a:endParaRPr kumimoji="1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新增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L6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机型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2014/08/09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3.00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曹静</a:t>
                      </a:r>
                      <a:endParaRPr kumimoji="1" lang="zh-TW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TW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全部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删除</a:t>
                      </a: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L10</a:t>
                      </a:r>
                      <a:r>
                        <a:rPr kumimoji="1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Arial Unicode MS" pitchFamily="34" charset="-120"/>
                          <a:cs typeface="Arial Unicode MS" pitchFamily="34" charset="-120"/>
                        </a:rPr>
                        <a:t>机型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en-US" altLang="zh-TW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579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18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77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02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1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Arial Unicode MS" pitchFamily="34" charset="-120"/>
                        <a:cs typeface="Arial Unicode MS" pitchFamily="34" charset="-12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26D36-188A-45AD-8781-D4BBFB79FBDF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539552" y="1268760"/>
            <a:ext cx="7992888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9263" indent="-449263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  <a:buFont typeface="Arial" pitchFamily="34" charset="0"/>
              <a:buChar char="–"/>
              <a:tabLst>
                <a:tab pos="449263" algn="l"/>
              </a:tabLst>
            </a:pPr>
            <a:r>
              <a:rPr lang="en-US" altLang="zh-TW" sz="2800" dirty="0" smtClean="0"/>
              <a:t>L6</a:t>
            </a:r>
            <a:r>
              <a:rPr lang="zh-CN" altLang="en-US" sz="2800" dirty="0" smtClean="0"/>
              <a:t>机型</a:t>
            </a:r>
            <a:r>
              <a:rPr lang="en-US" altLang="zh-CN" sz="2800" dirty="0" smtClean="0"/>
              <a:t>FIS</a:t>
            </a:r>
            <a:r>
              <a:rPr lang="zh-CN" altLang="en-US" sz="2800" dirty="0" smtClean="0"/>
              <a:t>操作页面与标签</a:t>
            </a:r>
            <a:endParaRPr lang="en-US" altLang="zh-TW" sz="2800" dirty="0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82203" y="476672"/>
            <a:ext cx="52419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zh-CN" altLang="en-US" sz="3200" b="1" dirty="0" smtClean="0">
                <a:solidFill>
                  <a:srgbClr val="1C1C1C"/>
                </a:solidFill>
                <a:latin typeface="+mn-lt"/>
              </a:rPr>
              <a:t>简报纲要</a:t>
            </a:r>
            <a:endParaRPr lang="en-US" altLang="zh-TW" sz="3200" b="1" dirty="0">
              <a:solidFill>
                <a:srgbClr val="1C1C1C"/>
              </a:solidFill>
              <a:latin typeface="+mn-lt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662608" y="1052736"/>
            <a:ext cx="6480000" cy="0"/>
          </a:xfrm>
          <a:prstGeom prst="line">
            <a:avLst/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  <a:defRPr/>
            </a:pPr>
            <a:endParaRPr lang="zh-TW" altLang="en-US" sz="1800" b="0">
              <a:latin typeface="Arial" charset="0"/>
              <a:ea typeface="新細明體" pitchFamily="18" charset="-12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26D36-188A-45AD-8781-D4BBFB79FBDF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9512" y="1014571"/>
            <a:ext cx="83884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None/>
            </a:pPr>
            <a:r>
              <a:rPr lang="en-US" altLang="zh-CN" sz="2400" b="1" dirty="0" smtClean="0">
                <a:latin typeface="+mn-lt"/>
                <a:ea typeface="+mj-ea"/>
              </a:rPr>
              <a:t>OA FIS:    http://10.99.73.206/FIS-HP/</a:t>
            </a:r>
          </a:p>
          <a:p>
            <a:pPr marL="514350" indent="-514350">
              <a:buNone/>
            </a:pPr>
            <a:r>
              <a:rPr lang="zh-CN" altLang="en-US" sz="2400" b="1" dirty="0" smtClean="0">
                <a:latin typeface="+mn-lt"/>
                <a:ea typeface="+mj-ea"/>
              </a:rPr>
              <a:t>产线</a:t>
            </a:r>
            <a:r>
              <a:rPr lang="en-US" altLang="zh-CN" sz="2400" b="1" dirty="0" smtClean="0">
                <a:latin typeface="+mn-lt"/>
                <a:ea typeface="+mj-ea"/>
              </a:rPr>
              <a:t>FIS:  </a:t>
            </a:r>
            <a:r>
              <a:rPr lang="en-US" altLang="zh-CN" sz="2400" b="1" dirty="0" smtClean="0">
                <a:latin typeface="+mn-lt"/>
                <a:ea typeface="+mj-ea"/>
                <a:hlinkClick r:id="rId2"/>
              </a:rPr>
              <a:t>http://192.168.202.7/FIS-HP/</a:t>
            </a:r>
            <a:endParaRPr lang="en-US" altLang="zh-CN" sz="2400" b="1" dirty="0" smtClean="0">
              <a:latin typeface="+mn-lt"/>
              <a:ea typeface="+mj-ea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 bwMode="auto">
          <a:xfrm>
            <a:off x="107504" y="44624"/>
            <a:ext cx="8213105" cy="1080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hangingPunct="0">
              <a:defRPr/>
            </a:pPr>
            <a:r>
              <a:rPr kumimoji="0" lang="en-US" altLang="zh-TW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itchFamily="34" charset="-120"/>
                <a:cs typeface="+mj-cs"/>
              </a:rPr>
              <a:t>FIS Website</a:t>
            </a:r>
            <a:endParaRPr kumimoji="0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微軟正黑體" pitchFamily="34" charset="-120"/>
              <a:cs typeface="+mj-cs"/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 bwMode="auto">
          <a:xfrm>
            <a:off x="103311" y="2420144"/>
            <a:ext cx="8213105" cy="1080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hangingPunct="0">
              <a:defRPr/>
            </a:pPr>
            <a:r>
              <a:rPr kumimoji="0" lang="en-US" altLang="zh-TW" sz="3200" b="1" dirty="0" smtClean="0">
                <a:solidFill>
                  <a:schemeClr val="accent1">
                    <a:lumMod val="75000"/>
                  </a:schemeClr>
                </a:solidFill>
                <a:latin typeface="+mn-lt"/>
                <a:ea typeface="微軟正黑體" pitchFamily="34" charset="-120"/>
                <a:cs typeface="+mj-cs"/>
              </a:rPr>
              <a:t>SQL</a:t>
            </a:r>
            <a:endParaRPr kumimoji="0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微軟正黑體" pitchFamily="34" charset="-120"/>
              <a:cs typeface="+mj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9512" y="3246075"/>
            <a:ext cx="83884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TW" sz="2400" dirty="0" smtClean="0"/>
              <a:t>HP:10.99.73.204\HP</a:t>
            </a:r>
            <a:endParaRPr lang="zh-TW" altLang="zh-TW" sz="2400" dirty="0" smtClean="0"/>
          </a:p>
          <a:p>
            <a:pPr marL="514350" indent="-514350">
              <a:buNone/>
            </a:pPr>
            <a:r>
              <a:rPr lang="en-US" altLang="zh-CN" sz="2400" dirty="0" smtClean="0">
                <a:latin typeface="+mn-lt"/>
                <a:ea typeface="+mj-ea"/>
              </a:rPr>
              <a:t>PASSWORD:</a:t>
            </a:r>
            <a:r>
              <a:rPr lang="en-US" altLang="zh-TW" sz="2400" dirty="0" smtClean="0"/>
              <a:t> </a:t>
            </a:r>
            <a:r>
              <a:rPr lang="en-US" altLang="zh-TW" sz="2400" dirty="0" err="1" smtClean="0"/>
              <a:t>FisReadOnly</a:t>
            </a:r>
            <a:endParaRPr lang="en-US" altLang="zh-CN" sz="2400" dirty="0" smtClean="0">
              <a:latin typeface="+mn-lt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26D36-188A-45AD-8781-D4BBFB79FBDF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623" y="44624"/>
            <a:ext cx="7841753" cy="720824"/>
          </a:xfrm>
        </p:spPr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FA FIS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Flow Chart</a:t>
            </a: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4982996" y="3571777"/>
            <a:ext cx="40529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sp>
        <p:nvSpPr>
          <p:cNvPr id="33" name="AutoShape 14"/>
          <p:cNvSpPr>
            <a:spLocks noChangeArrowheads="1"/>
          </p:cNvSpPr>
          <p:nvPr/>
        </p:nvSpPr>
        <p:spPr bwMode="auto">
          <a:xfrm>
            <a:off x="3571686" y="1819766"/>
            <a:ext cx="1497754" cy="29355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zh-TW" sz="1200" b="1" dirty="0" smtClean="0">
                <a:latin typeface="+mn-lt"/>
              </a:rPr>
              <a:t>FA Cosmetic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3809424" y="1480101"/>
            <a:ext cx="55156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FF0000"/>
                </a:solidFill>
                <a:latin typeface="+mn-lt"/>
                <a:ea typeface="細明體" pitchFamily="49" charset="-120"/>
                <a:cs typeface="Arial" pitchFamily="34" charset="0"/>
              </a:rPr>
              <a:t>PASS</a:t>
            </a:r>
          </a:p>
        </p:txBody>
      </p:sp>
      <p:sp>
        <p:nvSpPr>
          <p:cNvPr id="55" name="Text Box 31"/>
          <p:cNvSpPr txBox="1">
            <a:spLocks noChangeArrowheads="1"/>
          </p:cNvSpPr>
          <p:nvPr/>
        </p:nvSpPr>
        <p:spPr bwMode="auto">
          <a:xfrm>
            <a:off x="3264575" y="5744271"/>
            <a:ext cx="40529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cxnSp>
        <p:nvCxnSpPr>
          <p:cNvPr id="58" name="AutoShape 34"/>
          <p:cNvCxnSpPr>
            <a:cxnSpLocks noChangeShapeType="1"/>
            <a:stCxn id="43" idx="3"/>
          </p:cNvCxnSpPr>
          <p:nvPr/>
        </p:nvCxnSpPr>
        <p:spPr bwMode="auto">
          <a:xfrm>
            <a:off x="5136481" y="1154002"/>
            <a:ext cx="1226233" cy="52560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60" name="AutoShape 35"/>
          <p:cNvCxnSpPr>
            <a:cxnSpLocks noChangeShapeType="1"/>
            <a:stCxn id="91" idx="3"/>
          </p:cNvCxnSpPr>
          <p:nvPr/>
        </p:nvCxnSpPr>
        <p:spPr bwMode="auto">
          <a:xfrm flipV="1">
            <a:off x="5121791" y="1778582"/>
            <a:ext cx="682051" cy="2083995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66" name="AutoShape 43"/>
          <p:cNvSpPr>
            <a:spLocks noChangeArrowheads="1"/>
          </p:cNvSpPr>
          <p:nvPr/>
        </p:nvSpPr>
        <p:spPr bwMode="auto">
          <a:xfrm>
            <a:off x="3571686" y="5396984"/>
            <a:ext cx="1497754" cy="26265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Image </a:t>
            </a: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D\L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68" name="AutoShape 46"/>
          <p:cNvSpPr>
            <a:spLocks noChangeArrowheads="1"/>
          </p:cNvSpPr>
          <p:nvPr/>
        </p:nvSpPr>
        <p:spPr bwMode="auto">
          <a:xfrm>
            <a:off x="1181833" y="5534271"/>
            <a:ext cx="1383479" cy="42024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zh-TW" sz="1200" b="1" dirty="0" smtClean="0">
                <a:latin typeface="+mn-lt"/>
              </a:rPr>
              <a:t>Generate SN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cxnSp>
        <p:nvCxnSpPr>
          <p:cNvPr id="69" name="AutoShape 48"/>
          <p:cNvCxnSpPr>
            <a:cxnSpLocks noChangeShapeType="1"/>
          </p:cNvCxnSpPr>
          <p:nvPr/>
        </p:nvCxnSpPr>
        <p:spPr bwMode="auto">
          <a:xfrm rot="5400000" flipH="1" flipV="1">
            <a:off x="608218" y="2300791"/>
            <a:ext cx="4905087" cy="2462227"/>
          </a:xfrm>
          <a:prstGeom prst="bentConnector5">
            <a:avLst>
              <a:gd name="adj1" fmla="val -7000"/>
              <a:gd name="adj2" fmla="val 47463"/>
              <a:gd name="adj3" fmla="val 106731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70" name="AutoShape 49"/>
          <p:cNvSpPr>
            <a:spLocks noChangeArrowheads="1"/>
          </p:cNvSpPr>
          <p:nvPr/>
        </p:nvSpPr>
        <p:spPr bwMode="auto">
          <a:xfrm>
            <a:off x="5458921" y="5862483"/>
            <a:ext cx="1633359" cy="302821"/>
          </a:xfrm>
          <a:prstGeom prst="diamond">
            <a:avLst/>
          </a:prstGeom>
          <a:gradFill rotWithShape="0">
            <a:gsLst>
              <a:gs pos="0">
                <a:srgbClr val="FF6600"/>
              </a:gs>
              <a:gs pos="50000">
                <a:srgbClr val="FFFFCC"/>
              </a:gs>
              <a:gs pos="100000">
                <a:srgbClr val="FF6600"/>
              </a:gs>
            </a:gsLst>
            <a:lin ang="5400000" scaled="1"/>
          </a:gra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PA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cxnSp>
        <p:nvCxnSpPr>
          <p:cNvPr id="73" name="AutoShape 57"/>
          <p:cNvCxnSpPr>
            <a:cxnSpLocks noChangeShapeType="1"/>
          </p:cNvCxnSpPr>
          <p:nvPr/>
        </p:nvCxnSpPr>
        <p:spPr bwMode="auto">
          <a:xfrm rot="16200000" flipV="1">
            <a:off x="5486821" y="-211958"/>
            <a:ext cx="700805" cy="3086176"/>
          </a:xfrm>
          <a:prstGeom prst="bentConnector3">
            <a:avLst>
              <a:gd name="adj1" fmla="val 131746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cxnSp>
        <p:nvCxnSpPr>
          <p:cNvPr id="74" name="AutoShape 61"/>
          <p:cNvCxnSpPr>
            <a:cxnSpLocks noChangeShapeType="1"/>
            <a:stCxn id="70" idx="2"/>
          </p:cNvCxnSpPr>
          <p:nvPr/>
        </p:nvCxnSpPr>
        <p:spPr bwMode="auto">
          <a:xfrm rot="5400000" flipH="1">
            <a:off x="4595709" y="4485413"/>
            <a:ext cx="648071" cy="2711712"/>
          </a:xfrm>
          <a:prstGeom prst="bentConnector4">
            <a:avLst>
              <a:gd name="adj1" fmla="val -25868"/>
              <a:gd name="adj2" fmla="val 11001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76" name="Text Box 63"/>
          <p:cNvSpPr txBox="1">
            <a:spLocks noChangeArrowheads="1"/>
          </p:cNvSpPr>
          <p:nvPr/>
        </p:nvSpPr>
        <p:spPr bwMode="auto">
          <a:xfrm>
            <a:off x="6480345" y="5253299"/>
            <a:ext cx="55156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PASS</a:t>
            </a:r>
          </a:p>
        </p:txBody>
      </p:sp>
      <p:sp>
        <p:nvSpPr>
          <p:cNvPr id="77" name="Text Box 64"/>
          <p:cNvSpPr txBox="1">
            <a:spLocks noChangeArrowheads="1"/>
          </p:cNvSpPr>
          <p:nvPr/>
        </p:nvSpPr>
        <p:spPr bwMode="auto">
          <a:xfrm>
            <a:off x="5339459" y="908720"/>
            <a:ext cx="40376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sp>
        <p:nvSpPr>
          <p:cNvPr id="78" name="Text Box 65"/>
          <p:cNvSpPr txBox="1">
            <a:spLocks noChangeArrowheads="1"/>
          </p:cNvSpPr>
          <p:nvPr/>
        </p:nvSpPr>
        <p:spPr bwMode="auto">
          <a:xfrm>
            <a:off x="5013707" y="4733910"/>
            <a:ext cx="38396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cxnSp>
        <p:nvCxnSpPr>
          <p:cNvPr id="83" name="AutoShape 68"/>
          <p:cNvCxnSpPr>
            <a:cxnSpLocks noChangeShapeType="1"/>
          </p:cNvCxnSpPr>
          <p:nvPr/>
        </p:nvCxnSpPr>
        <p:spPr bwMode="auto">
          <a:xfrm flipH="1">
            <a:off x="1872954" y="1469364"/>
            <a:ext cx="143" cy="25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87" name="AutoShape 71"/>
          <p:cNvCxnSpPr>
            <a:cxnSpLocks noChangeShapeType="1"/>
            <a:stCxn id="66" idx="2"/>
          </p:cNvCxnSpPr>
          <p:nvPr/>
        </p:nvCxnSpPr>
        <p:spPr bwMode="auto">
          <a:xfrm rot="16200000" flipH="1">
            <a:off x="4237883" y="5743075"/>
            <a:ext cx="168406" cy="152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9" name="AutoShape 45"/>
          <p:cNvSpPr>
            <a:spLocks noChangeArrowheads="1"/>
          </p:cNvSpPr>
          <p:nvPr/>
        </p:nvSpPr>
        <p:spPr bwMode="auto">
          <a:xfrm>
            <a:off x="1170405" y="1049122"/>
            <a:ext cx="1381956" cy="42024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Travel </a:t>
            </a: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Card Print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91" name="AutoShape 7"/>
          <p:cNvSpPr>
            <a:spLocks noChangeArrowheads="1"/>
          </p:cNvSpPr>
          <p:nvPr/>
        </p:nvSpPr>
        <p:spPr bwMode="auto">
          <a:xfrm>
            <a:off x="3462531" y="3711938"/>
            <a:ext cx="1659260" cy="301276"/>
          </a:xfrm>
          <a:prstGeom prst="diamond">
            <a:avLst/>
          </a:prstGeom>
          <a:gradFill rotWithShape="0">
            <a:gsLst>
              <a:gs pos="0">
                <a:srgbClr val="FF6600"/>
              </a:gs>
              <a:gs pos="50000">
                <a:srgbClr val="FFFFCC"/>
              </a:gs>
              <a:gs pos="100000">
                <a:srgbClr val="FF6600"/>
              </a:gs>
            </a:gsLst>
            <a:lin ang="5400000" scaled="1"/>
          </a:gra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Run In Stations</a:t>
            </a:r>
          </a:p>
        </p:txBody>
      </p:sp>
      <p:sp>
        <p:nvSpPr>
          <p:cNvPr id="94" name="AutoShape 52"/>
          <p:cNvSpPr>
            <a:spLocks noChangeArrowheads="1"/>
          </p:cNvSpPr>
          <p:nvPr/>
        </p:nvSpPr>
        <p:spPr bwMode="auto">
          <a:xfrm>
            <a:off x="5521965" y="5393894"/>
            <a:ext cx="914193" cy="261106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EOQC </a:t>
            </a:r>
          </a:p>
        </p:txBody>
      </p:sp>
      <p:sp>
        <p:nvSpPr>
          <p:cNvPr id="95" name="AutoShape 22"/>
          <p:cNvSpPr>
            <a:spLocks noChangeArrowheads="1"/>
          </p:cNvSpPr>
          <p:nvPr/>
        </p:nvSpPr>
        <p:spPr bwMode="auto">
          <a:xfrm>
            <a:off x="6490462" y="4839237"/>
            <a:ext cx="1257016" cy="302821"/>
          </a:xfrm>
          <a:prstGeom prst="diamond">
            <a:avLst/>
          </a:prstGeom>
          <a:gradFill rotWithShape="0">
            <a:gsLst>
              <a:gs pos="0">
                <a:srgbClr val="FF6600"/>
              </a:gs>
              <a:gs pos="50000">
                <a:srgbClr val="FFFFCC"/>
              </a:gs>
              <a:gs pos="100000">
                <a:srgbClr val="FF6600"/>
              </a:gs>
            </a:gsLst>
            <a:lin ang="5400000" scaled="1"/>
          </a:gra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EOQC</a:t>
            </a:r>
          </a:p>
        </p:txBody>
      </p:sp>
      <p:sp>
        <p:nvSpPr>
          <p:cNvPr id="99" name="Text Box 65"/>
          <p:cNvSpPr txBox="1">
            <a:spLocks noChangeArrowheads="1"/>
          </p:cNvSpPr>
          <p:nvPr/>
        </p:nvSpPr>
        <p:spPr bwMode="auto">
          <a:xfrm>
            <a:off x="6660232" y="4304129"/>
            <a:ext cx="4113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cxnSp>
        <p:nvCxnSpPr>
          <p:cNvPr id="102" name="肘形接點 83"/>
          <p:cNvCxnSpPr>
            <a:cxnSpLocks noChangeShapeType="1"/>
            <a:stCxn id="95" idx="2"/>
            <a:endCxn id="94" idx="3"/>
          </p:cNvCxnSpPr>
          <p:nvPr/>
        </p:nvCxnSpPr>
        <p:spPr bwMode="auto">
          <a:xfrm rot="5400000">
            <a:off x="6586370" y="4991847"/>
            <a:ext cx="382389" cy="682812"/>
          </a:xfrm>
          <a:prstGeom prst="bentConnector2">
            <a:avLst/>
          </a:prstGeom>
          <a:noFill/>
          <a:ln w="127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2" name="Text Box 3"/>
          <p:cNvSpPr txBox="1">
            <a:spLocks noChangeArrowheads="1"/>
          </p:cNvSpPr>
          <p:nvPr/>
        </p:nvSpPr>
        <p:spPr bwMode="auto">
          <a:xfrm>
            <a:off x="4993900" y="2310329"/>
            <a:ext cx="40376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cxnSp>
        <p:nvCxnSpPr>
          <p:cNvPr id="114" name="AutoShape 11"/>
          <p:cNvCxnSpPr>
            <a:cxnSpLocks noChangeShapeType="1"/>
          </p:cNvCxnSpPr>
          <p:nvPr/>
        </p:nvCxnSpPr>
        <p:spPr bwMode="auto">
          <a:xfrm rot="16200000" flipH="1">
            <a:off x="4207458" y="5292514"/>
            <a:ext cx="245254" cy="76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15" name="AutoShape 25"/>
          <p:cNvSpPr>
            <a:spLocks noChangeArrowheads="1"/>
          </p:cNvSpPr>
          <p:nvPr/>
        </p:nvSpPr>
        <p:spPr bwMode="auto">
          <a:xfrm>
            <a:off x="1180595" y="3944863"/>
            <a:ext cx="1383479" cy="42024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1200" b="1" dirty="0" smtClean="0">
                <a:latin typeface="+mn-lt"/>
              </a:rPr>
              <a:t>Collection Initial</a:t>
            </a:r>
            <a:endParaRPr kumimoji="0" lang="en-US" altLang="zh-CN" sz="1200" b="1" dirty="0" smtClean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116" name="AutoShape 25"/>
          <p:cNvSpPr>
            <a:spLocks noChangeArrowheads="1"/>
          </p:cNvSpPr>
          <p:nvPr/>
        </p:nvSpPr>
        <p:spPr bwMode="auto">
          <a:xfrm>
            <a:off x="1180595" y="4736951"/>
            <a:ext cx="1383479" cy="42024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  <a:defRPr/>
            </a:pPr>
            <a:r>
              <a:rPr lang="en-US" altLang="zh-TW" sz="1200" b="1" dirty="0" smtClean="0">
                <a:latin typeface="+mn-lt"/>
              </a:rPr>
              <a:t>Collection Final</a:t>
            </a:r>
            <a:endParaRPr kumimoji="0" lang="en-US" altLang="zh-CN" sz="1200" b="1" dirty="0" smtClean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121" name="AutoShape 24"/>
          <p:cNvSpPr>
            <a:spLocks noChangeArrowheads="1"/>
          </p:cNvSpPr>
          <p:nvPr/>
        </p:nvSpPr>
        <p:spPr bwMode="auto">
          <a:xfrm>
            <a:off x="1180595" y="2360687"/>
            <a:ext cx="1383479" cy="42024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Board </a:t>
            </a: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Input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cxnSp>
        <p:nvCxnSpPr>
          <p:cNvPr id="123" name="AutoShape 68"/>
          <p:cNvCxnSpPr>
            <a:cxnSpLocks noChangeShapeType="1"/>
          </p:cNvCxnSpPr>
          <p:nvPr/>
        </p:nvCxnSpPr>
        <p:spPr bwMode="auto">
          <a:xfrm flipH="1">
            <a:off x="1872954" y="3573016"/>
            <a:ext cx="143" cy="36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4" name="AutoShape 68"/>
          <p:cNvCxnSpPr>
            <a:cxnSpLocks noChangeShapeType="1"/>
          </p:cNvCxnSpPr>
          <p:nvPr/>
        </p:nvCxnSpPr>
        <p:spPr bwMode="auto">
          <a:xfrm flipH="1">
            <a:off x="1872954" y="4365144"/>
            <a:ext cx="143" cy="36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25" name="AutoShape 68"/>
          <p:cNvCxnSpPr>
            <a:cxnSpLocks noChangeShapeType="1"/>
          </p:cNvCxnSpPr>
          <p:nvPr/>
        </p:nvCxnSpPr>
        <p:spPr bwMode="auto">
          <a:xfrm flipH="1">
            <a:off x="1872954" y="5157232"/>
            <a:ext cx="143" cy="36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35" name="AutoShape 68"/>
          <p:cNvCxnSpPr>
            <a:cxnSpLocks noChangeShapeType="1"/>
          </p:cNvCxnSpPr>
          <p:nvPr/>
        </p:nvCxnSpPr>
        <p:spPr bwMode="auto">
          <a:xfrm flipH="1">
            <a:off x="4291732" y="1329203"/>
            <a:ext cx="143" cy="4905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37" name="AutoShape 42"/>
          <p:cNvSpPr>
            <a:spLocks noChangeArrowheads="1"/>
          </p:cNvSpPr>
          <p:nvPr/>
        </p:nvSpPr>
        <p:spPr bwMode="auto">
          <a:xfrm>
            <a:off x="3554354" y="3081214"/>
            <a:ext cx="1497754" cy="29355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FA Test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43" name="AutoShape 21"/>
          <p:cNvSpPr>
            <a:spLocks noChangeArrowheads="1"/>
          </p:cNvSpPr>
          <p:nvPr/>
        </p:nvSpPr>
        <p:spPr bwMode="auto">
          <a:xfrm>
            <a:off x="3462531" y="978800"/>
            <a:ext cx="1673950" cy="350402"/>
          </a:xfrm>
          <a:prstGeom prst="diamond">
            <a:avLst/>
          </a:prstGeom>
          <a:gradFill rotWithShape="0">
            <a:gsLst>
              <a:gs pos="0">
                <a:srgbClr val="FF6600"/>
              </a:gs>
              <a:gs pos="50000">
                <a:srgbClr val="FFFFCC"/>
              </a:gs>
              <a:gs pos="100000">
                <a:srgbClr val="FF6600"/>
              </a:gs>
            </a:gsLst>
            <a:lin ang="5400000" scaled="1"/>
          </a:gra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Cosmetic</a:t>
            </a:r>
          </a:p>
        </p:txBody>
      </p:sp>
      <p:sp>
        <p:nvSpPr>
          <p:cNvPr id="144" name="AutoShape 21"/>
          <p:cNvSpPr>
            <a:spLocks noChangeArrowheads="1"/>
          </p:cNvSpPr>
          <p:nvPr/>
        </p:nvSpPr>
        <p:spPr bwMode="auto">
          <a:xfrm>
            <a:off x="1043609" y="1700808"/>
            <a:ext cx="1673950" cy="350402"/>
          </a:xfrm>
          <a:prstGeom prst="flowChartTerminator">
            <a:avLst/>
          </a:prstGeom>
          <a:gradFill rotWithShape="0">
            <a:gsLst>
              <a:gs pos="0">
                <a:srgbClr val="FF6600"/>
              </a:gs>
              <a:gs pos="50000">
                <a:srgbClr val="FFFFCC"/>
              </a:gs>
              <a:gs pos="100000">
                <a:srgbClr val="FF6600"/>
              </a:gs>
            </a:gsLst>
            <a:lin ang="5400000" scaled="1"/>
          </a:gra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FA Cosmetic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cxnSp>
        <p:nvCxnSpPr>
          <p:cNvPr id="145" name="AutoShape 68"/>
          <p:cNvCxnSpPr>
            <a:cxnSpLocks noChangeShapeType="1"/>
          </p:cNvCxnSpPr>
          <p:nvPr/>
        </p:nvCxnSpPr>
        <p:spPr bwMode="auto">
          <a:xfrm flipH="1">
            <a:off x="1872954" y="2096880"/>
            <a:ext cx="143" cy="25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50" name="AutoShape 7"/>
          <p:cNvSpPr>
            <a:spLocks noChangeArrowheads="1"/>
          </p:cNvSpPr>
          <p:nvPr/>
        </p:nvSpPr>
        <p:spPr bwMode="auto">
          <a:xfrm>
            <a:off x="3462531" y="4833226"/>
            <a:ext cx="1659260" cy="301276"/>
          </a:xfrm>
          <a:prstGeom prst="diamond">
            <a:avLst/>
          </a:prstGeom>
          <a:gradFill rotWithShape="0">
            <a:gsLst>
              <a:gs pos="0">
                <a:srgbClr val="FF6600"/>
              </a:gs>
              <a:gs pos="50000">
                <a:srgbClr val="FFFFCC"/>
              </a:gs>
              <a:gs pos="100000">
                <a:srgbClr val="FF6600"/>
              </a:gs>
            </a:gsLst>
            <a:lin ang="5400000" scaled="1"/>
          </a:gra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D/L </a:t>
            </a: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Stations</a:t>
            </a:r>
          </a:p>
        </p:txBody>
      </p:sp>
      <p:sp>
        <p:nvSpPr>
          <p:cNvPr id="152" name="AutoShape 7"/>
          <p:cNvSpPr>
            <a:spLocks noChangeArrowheads="1"/>
          </p:cNvSpPr>
          <p:nvPr/>
        </p:nvSpPr>
        <p:spPr bwMode="auto">
          <a:xfrm>
            <a:off x="3462531" y="2450490"/>
            <a:ext cx="1659260" cy="301276"/>
          </a:xfrm>
          <a:prstGeom prst="diamond">
            <a:avLst/>
          </a:prstGeom>
          <a:gradFill rotWithShape="0">
            <a:gsLst>
              <a:gs pos="0">
                <a:srgbClr val="FF6600"/>
              </a:gs>
              <a:gs pos="50000">
                <a:srgbClr val="FFFFCC"/>
              </a:gs>
              <a:gs pos="100000">
                <a:srgbClr val="FF6600"/>
              </a:gs>
            </a:gsLst>
            <a:lin ang="5400000" scaled="1"/>
          </a:gra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D/L </a:t>
            </a: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Stations</a:t>
            </a:r>
          </a:p>
        </p:txBody>
      </p:sp>
      <p:cxnSp>
        <p:nvCxnSpPr>
          <p:cNvPr id="159" name="肘形接點 158"/>
          <p:cNvCxnSpPr/>
          <p:nvPr/>
        </p:nvCxnSpPr>
        <p:spPr>
          <a:xfrm rot="16200000" flipH="1">
            <a:off x="4127295" y="2285623"/>
            <a:ext cx="329448" cy="2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肘形接點 159"/>
          <p:cNvCxnSpPr/>
          <p:nvPr/>
        </p:nvCxnSpPr>
        <p:spPr>
          <a:xfrm rot="16200000" flipH="1">
            <a:off x="4127295" y="2895393"/>
            <a:ext cx="329448" cy="2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肘形接點 160"/>
          <p:cNvCxnSpPr/>
          <p:nvPr/>
        </p:nvCxnSpPr>
        <p:spPr>
          <a:xfrm rot="16200000" flipH="1">
            <a:off x="4127295" y="3547071"/>
            <a:ext cx="329448" cy="2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接點 161"/>
          <p:cNvCxnSpPr/>
          <p:nvPr/>
        </p:nvCxnSpPr>
        <p:spPr>
          <a:xfrm rot="16200000" flipH="1">
            <a:off x="4127008" y="4156841"/>
            <a:ext cx="329448" cy="2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肘形接點 162"/>
          <p:cNvCxnSpPr/>
          <p:nvPr/>
        </p:nvCxnSpPr>
        <p:spPr>
          <a:xfrm rot="16200000" flipH="1">
            <a:off x="4127295" y="4668358"/>
            <a:ext cx="329448" cy="28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utoShape 42"/>
          <p:cNvSpPr>
            <a:spLocks noChangeArrowheads="1"/>
          </p:cNvSpPr>
          <p:nvPr/>
        </p:nvSpPr>
        <p:spPr bwMode="auto">
          <a:xfrm>
            <a:off x="3554354" y="4329433"/>
            <a:ext cx="1497754" cy="29355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Run in Test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cxnSp>
        <p:nvCxnSpPr>
          <p:cNvPr id="167" name="肘形接點 166"/>
          <p:cNvCxnSpPr>
            <a:stCxn id="152" idx="3"/>
          </p:cNvCxnSpPr>
          <p:nvPr/>
        </p:nvCxnSpPr>
        <p:spPr>
          <a:xfrm flipV="1">
            <a:off x="5121791" y="2590651"/>
            <a:ext cx="344989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AutoShape 56"/>
          <p:cNvCxnSpPr>
            <a:cxnSpLocks noChangeShapeType="1"/>
          </p:cNvCxnSpPr>
          <p:nvPr/>
        </p:nvCxnSpPr>
        <p:spPr bwMode="auto">
          <a:xfrm>
            <a:off x="6588224" y="1819766"/>
            <a:ext cx="208740" cy="30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0" name="肘形接點 179"/>
          <p:cNvCxnSpPr>
            <a:stCxn id="66" idx="3"/>
            <a:endCxn id="94" idx="1"/>
          </p:cNvCxnSpPr>
          <p:nvPr/>
        </p:nvCxnSpPr>
        <p:spPr>
          <a:xfrm flipV="1">
            <a:off x="5069440" y="5524447"/>
            <a:ext cx="452525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圖案 183"/>
          <p:cNvCxnSpPr>
            <a:stCxn id="150" idx="3"/>
          </p:cNvCxnSpPr>
          <p:nvPr/>
        </p:nvCxnSpPr>
        <p:spPr>
          <a:xfrm flipV="1">
            <a:off x="5121791" y="3852099"/>
            <a:ext cx="344989" cy="1131765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19"/>
          <p:cNvSpPr>
            <a:spLocks noChangeArrowheads="1"/>
          </p:cNvSpPr>
          <p:nvPr/>
        </p:nvSpPr>
        <p:spPr bwMode="auto">
          <a:xfrm>
            <a:off x="6804247" y="1679605"/>
            <a:ext cx="824297" cy="241021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FFCC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Repair </a:t>
            </a:r>
          </a:p>
        </p:txBody>
      </p:sp>
      <p:sp>
        <p:nvSpPr>
          <p:cNvPr id="64" name="AutoShape 20"/>
          <p:cNvSpPr>
            <a:spLocks noChangeArrowheads="1"/>
          </p:cNvSpPr>
          <p:nvPr/>
        </p:nvSpPr>
        <p:spPr bwMode="auto">
          <a:xfrm>
            <a:off x="5796136" y="1679605"/>
            <a:ext cx="796872" cy="28119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FIS</a:t>
            </a:r>
          </a:p>
        </p:txBody>
      </p:sp>
      <p:sp>
        <p:nvSpPr>
          <p:cNvPr id="65" name="Text Box 27"/>
          <p:cNvSpPr txBox="1">
            <a:spLocks noChangeArrowheads="1"/>
          </p:cNvSpPr>
          <p:nvPr/>
        </p:nvSpPr>
        <p:spPr bwMode="auto">
          <a:xfrm>
            <a:off x="6948264" y="1196752"/>
            <a:ext cx="55156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FF0000"/>
                </a:solidFill>
                <a:latin typeface="+mn-lt"/>
                <a:ea typeface="細明體" pitchFamily="49" charset="-120"/>
                <a:cs typeface="Arial" pitchFamily="34" charset="0"/>
              </a:rPr>
              <a:t>PASS</a:t>
            </a:r>
          </a:p>
        </p:txBody>
      </p:sp>
      <p:cxnSp>
        <p:nvCxnSpPr>
          <p:cNvPr id="79" name="肘形接點 78"/>
          <p:cNvCxnSpPr>
            <a:stCxn id="95" idx="0"/>
            <a:endCxn id="64" idx="2"/>
          </p:cNvCxnSpPr>
          <p:nvPr/>
        </p:nvCxnSpPr>
        <p:spPr>
          <a:xfrm rot="16200000" flipV="1">
            <a:off x="5217551" y="2937818"/>
            <a:ext cx="2878441" cy="9243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utoShape 24"/>
          <p:cNvSpPr>
            <a:spLocks noChangeArrowheads="1"/>
          </p:cNvSpPr>
          <p:nvPr/>
        </p:nvSpPr>
        <p:spPr bwMode="auto">
          <a:xfrm>
            <a:off x="1172297" y="3152775"/>
            <a:ext cx="1383479" cy="42024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5400000" scaled="0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zh-TW" sz="1200" b="1" dirty="0" smtClean="0"/>
              <a:t>Tooling Input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cxnSp>
        <p:nvCxnSpPr>
          <p:cNvPr id="67" name="AutoShape 68"/>
          <p:cNvCxnSpPr>
            <a:cxnSpLocks noChangeShapeType="1"/>
          </p:cNvCxnSpPr>
          <p:nvPr/>
        </p:nvCxnSpPr>
        <p:spPr bwMode="auto">
          <a:xfrm flipH="1">
            <a:off x="1864656" y="2780968"/>
            <a:ext cx="143" cy="360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75" name="AutoShape 24"/>
          <p:cNvSpPr>
            <a:spLocks noChangeArrowheads="1"/>
          </p:cNvSpPr>
          <p:nvPr/>
        </p:nvSpPr>
        <p:spPr bwMode="auto">
          <a:xfrm>
            <a:off x="3692577" y="5805264"/>
            <a:ext cx="1383479" cy="42024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3399FF"/>
              </a:gs>
              <a:gs pos="16000">
                <a:srgbClr val="00CCCC"/>
              </a:gs>
              <a:gs pos="47000">
                <a:srgbClr val="9999FF"/>
              </a:gs>
              <a:gs pos="60001">
                <a:srgbClr val="2E6792"/>
              </a:gs>
              <a:gs pos="71001">
                <a:srgbClr val="3333CC"/>
              </a:gs>
              <a:gs pos="81000">
                <a:srgbClr val="1170FF"/>
              </a:gs>
              <a:gs pos="100000">
                <a:srgbClr val="006699"/>
              </a:gs>
            </a:gsLst>
            <a:lin ang="5400000" scaled="0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zh-TW" sz="1200" b="1" dirty="0" smtClean="0"/>
              <a:t>Tooling </a:t>
            </a:r>
            <a:r>
              <a:rPr lang="en-US" altLang="zh-TW" sz="1200" b="1" dirty="0" smtClean="0"/>
              <a:t>O</a:t>
            </a:r>
            <a:r>
              <a:rPr lang="en-US" altLang="zh-CN" sz="1200" b="1" dirty="0" smtClean="0"/>
              <a:t>ut</a:t>
            </a:r>
            <a:r>
              <a:rPr lang="en-US" altLang="zh-TW" sz="1200" b="1" dirty="0" smtClean="0"/>
              <a:t>put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cxnSp>
        <p:nvCxnSpPr>
          <p:cNvPr id="96" name="直線單箭頭接點 95"/>
          <p:cNvCxnSpPr>
            <a:stCxn id="75" idx="3"/>
            <a:endCxn id="70" idx="1"/>
          </p:cNvCxnSpPr>
          <p:nvPr/>
        </p:nvCxnSpPr>
        <p:spPr>
          <a:xfrm flipV="1">
            <a:off x="5076056" y="6013894"/>
            <a:ext cx="382865" cy="149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844824"/>
            <a:ext cx="4896544" cy="2281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18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7F426D36-188A-45AD-8781-D4BBFB79FBDF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sp>
        <p:nvSpPr>
          <p:cNvPr id="20" name="內容版面配置區 2"/>
          <p:cNvSpPr>
            <a:spLocks noGrp="1"/>
          </p:cNvSpPr>
          <p:nvPr>
            <p:ph idx="1"/>
          </p:nvPr>
        </p:nvSpPr>
        <p:spPr>
          <a:xfrm>
            <a:off x="179512" y="908720"/>
            <a:ext cx="8229600" cy="4896544"/>
          </a:xfrm>
        </p:spPr>
        <p:txBody>
          <a:bodyPr/>
          <a:lstStyle/>
          <a:p>
            <a:pPr marL="514350" indent="-514350">
              <a:buFont typeface="+mj-lt"/>
              <a:buAutoNum type="arabicPeriod" startAt="5"/>
            </a:pPr>
            <a:r>
              <a:rPr lang="en-US" altLang="zh-TW" sz="2400" dirty="0" smtClean="0"/>
              <a:t>Generate SN</a:t>
            </a:r>
          </a:p>
          <a:p>
            <a:pPr marL="514350" indent="-514350">
              <a:buNone/>
            </a:pPr>
            <a:r>
              <a:rPr lang="zh-TW" altLang="en-US" dirty="0" smtClean="0">
                <a:solidFill>
                  <a:schemeClr val="tx1"/>
                </a:solidFill>
              </a:rPr>
              <a:t>路徑</a:t>
            </a:r>
            <a:r>
              <a:rPr lang="en-US" altLang="zh-TW" dirty="0" smtClean="0">
                <a:solidFill>
                  <a:schemeClr val="tx1"/>
                </a:solidFill>
              </a:rPr>
              <a:t>:FA/ FA Operation/06.</a:t>
            </a:r>
            <a:r>
              <a:rPr lang="en-US" altLang="zh-TW" dirty="0" smtClean="0"/>
              <a:t> Generate SN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514350" indent="-514350">
              <a:buNone/>
            </a:pPr>
            <a:r>
              <a:rPr lang="en-US" altLang="zh-CN" sz="2400" dirty="0" smtClean="0"/>
              <a:t> </a:t>
            </a:r>
          </a:p>
          <a:p>
            <a:pPr marL="514350" indent="-514350">
              <a:buNone/>
            </a:pPr>
            <a:endParaRPr lang="zh-TW" altLang="en-US" sz="2400" i="1" dirty="0"/>
          </a:p>
        </p:txBody>
      </p:sp>
      <p:sp>
        <p:nvSpPr>
          <p:cNvPr id="21" name="流程圖: 接點 20"/>
          <p:cNvSpPr/>
          <p:nvPr/>
        </p:nvSpPr>
        <p:spPr>
          <a:xfrm>
            <a:off x="3074730" y="1970447"/>
            <a:ext cx="417150" cy="306425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流程圖: 接點 21"/>
          <p:cNvSpPr/>
          <p:nvPr/>
        </p:nvSpPr>
        <p:spPr>
          <a:xfrm>
            <a:off x="3002722" y="3410607"/>
            <a:ext cx="417150" cy="306425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標題 1"/>
          <p:cNvSpPr txBox="1">
            <a:spLocks/>
          </p:cNvSpPr>
          <p:nvPr/>
        </p:nvSpPr>
        <p:spPr bwMode="auto">
          <a:xfrm>
            <a:off x="179512" y="11179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FA FIS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Station</a:t>
            </a: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652120" y="1628800"/>
            <a:ext cx="3312368" cy="43924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smtClean="0">
                <a:solidFill>
                  <a:schemeClr val="tx1"/>
                </a:solidFill>
              </a:rPr>
              <a:t>Input</a:t>
            </a:r>
            <a:r>
              <a:rPr lang="zh-CN" altLang="en-US" b="1" dirty="0" smtClean="0">
                <a:solidFill>
                  <a:schemeClr val="tx1"/>
                </a:solidFill>
              </a:rPr>
              <a:t>：</a:t>
            </a:r>
            <a:endParaRPr lang="en-US" altLang="zh-CN" b="1" dirty="0" smtClean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>
                <a:solidFill>
                  <a:schemeClr val="tx1"/>
                </a:solidFill>
              </a:rPr>
              <a:t>线别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班别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err="1" smtClean="0">
                <a:solidFill>
                  <a:schemeClr val="tx1"/>
                </a:solidFill>
              </a:rPr>
              <a:t>ProdID</a:t>
            </a:r>
            <a:r>
              <a:rPr lang="en-US" altLang="zh-CN" dirty="0" smtClean="0">
                <a:solidFill>
                  <a:schemeClr val="tx1"/>
                </a:solidFill>
              </a:rPr>
              <a:t>/Model NO.</a:t>
            </a:r>
          </a:p>
          <a:p>
            <a:pPr marL="342900" indent="-342900"/>
            <a:r>
              <a:rPr lang="en-US" altLang="zh-CN" b="1" dirty="0" smtClean="0">
                <a:solidFill>
                  <a:schemeClr val="tx1"/>
                </a:solidFill>
              </a:rPr>
              <a:t>Output</a:t>
            </a:r>
            <a:r>
              <a:rPr lang="zh-CN" altLang="en-US" b="1" dirty="0" smtClean="0">
                <a:solidFill>
                  <a:schemeClr val="tx1"/>
                </a:solidFill>
              </a:rPr>
              <a:t>：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TW" dirty="0" smtClean="0">
                <a:solidFill>
                  <a:schemeClr val="tx1"/>
                </a:solidFill>
              </a:rPr>
              <a:t>L6-SN Label </a:t>
            </a:r>
            <a:r>
              <a:rPr lang="en-US" altLang="zh-TW" dirty="0" smtClean="0">
                <a:solidFill>
                  <a:srgbClr val="FF0000"/>
                </a:solidFill>
              </a:rPr>
              <a:t>2</a:t>
            </a:r>
            <a:r>
              <a:rPr lang="en-US" altLang="zh-TW" dirty="0" smtClean="0">
                <a:solidFill>
                  <a:schemeClr val="tx1"/>
                </a:solidFill>
              </a:rPr>
              <a:t>/L6-CHASSISSN-Label </a:t>
            </a:r>
            <a:r>
              <a:rPr lang="en-US" altLang="zh-TW" dirty="0" smtClean="0">
                <a:solidFill>
                  <a:srgbClr val="FF0000"/>
                </a:solidFill>
              </a:rPr>
              <a:t>1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>
                <a:solidFill>
                  <a:schemeClr val="tx1"/>
                </a:solidFill>
              </a:rPr>
              <a:t>每个</a:t>
            </a:r>
            <a:r>
              <a:rPr lang="en-US" altLang="zh-CN" dirty="0" smtClean="0">
                <a:solidFill>
                  <a:schemeClr val="tx1"/>
                </a:solidFill>
              </a:rPr>
              <a:t>Family</a:t>
            </a:r>
            <a:r>
              <a:rPr lang="zh-CN" altLang="en-US" dirty="0" smtClean="0">
                <a:solidFill>
                  <a:schemeClr val="tx1"/>
                </a:solidFill>
              </a:rPr>
              <a:t>需要贴附的需求都不一致</a:t>
            </a:r>
            <a:r>
              <a:rPr lang="en-US" altLang="zh-CN" dirty="0" smtClean="0">
                <a:solidFill>
                  <a:schemeClr val="tx1"/>
                </a:solidFill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</a:rPr>
              <a:t>正常打印数量为</a:t>
            </a:r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</a:rPr>
              <a:t>张</a:t>
            </a:r>
            <a:r>
              <a:rPr lang="en-US" altLang="zh-CN" dirty="0" smtClean="0">
                <a:solidFill>
                  <a:schemeClr val="tx1"/>
                </a:solidFill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</a:rPr>
              <a:t>流程卡、机器前框、铁盘各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张</a:t>
            </a:r>
            <a:r>
              <a:rPr lang="en-US" altLang="zh-CN" dirty="0" smtClean="0">
                <a:solidFill>
                  <a:schemeClr val="tx1"/>
                </a:solidFill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</a:rPr>
              <a:t>试产时</a:t>
            </a:r>
            <a:r>
              <a:rPr lang="en-US" altLang="zh-CN" dirty="0" smtClean="0">
                <a:solidFill>
                  <a:schemeClr val="tx1"/>
                </a:solidFill>
              </a:rPr>
              <a:t>PM</a:t>
            </a:r>
            <a:r>
              <a:rPr lang="zh-CN" altLang="en-US" dirty="0" smtClean="0">
                <a:solidFill>
                  <a:schemeClr val="tx1"/>
                </a:solidFill>
              </a:rPr>
              <a:t>特别要求外箱加贴一张</a:t>
            </a:r>
            <a:r>
              <a:rPr lang="en-US" altLang="zh-CN" dirty="0" smtClean="0">
                <a:solidFill>
                  <a:schemeClr val="tx1"/>
                </a:solidFill>
              </a:rPr>
              <a:t>SN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Label,</a:t>
            </a:r>
            <a:r>
              <a:rPr lang="zh-CN" altLang="en-US" dirty="0" smtClean="0">
                <a:solidFill>
                  <a:schemeClr val="tx1"/>
                </a:solidFill>
              </a:rPr>
              <a:t>届时只需要更改模板数量即可</a:t>
            </a:r>
            <a:r>
              <a:rPr lang="en-US" altLang="zh-CN" dirty="0" smtClean="0">
                <a:solidFill>
                  <a:schemeClr val="tx1"/>
                </a:solidFill>
              </a:rPr>
              <a:t>.</a:t>
            </a:r>
            <a:r>
              <a:rPr lang="zh-CN" altLang="en-US" dirty="0" smtClean="0">
                <a:solidFill>
                  <a:schemeClr val="tx1"/>
                </a:solidFill>
              </a:rPr>
              <a:t>生产完毕后</a:t>
            </a:r>
            <a:r>
              <a:rPr lang="en-US" altLang="zh-CN" dirty="0" smtClean="0">
                <a:solidFill>
                  <a:schemeClr val="tx1"/>
                </a:solidFill>
              </a:rPr>
              <a:t>,</a:t>
            </a:r>
            <a:r>
              <a:rPr lang="zh-CN" altLang="en-US" dirty="0" smtClean="0">
                <a:solidFill>
                  <a:schemeClr val="tx1"/>
                </a:solidFill>
              </a:rPr>
              <a:t>模板数量改回</a:t>
            </a:r>
            <a:r>
              <a:rPr lang="en-US" altLang="zh-CN" dirty="0" smtClean="0">
                <a:solidFill>
                  <a:schemeClr val="tx1"/>
                </a:solidFill>
              </a:rPr>
              <a:t>.</a:t>
            </a:r>
            <a:endParaRPr lang="en-US" altLang="zh-TW" dirty="0" smtClean="0">
              <a:solidFill>
                <a:schemeClr val="tx1"/>
              </a:solidFill>
            </a:endParaRPr>
          </a:p>
          <a:p>
            <a:pPr marL="342900" indent="-342900"/>
            <a:endParaRPr lang="en-US" altLang="zh-TW" dirty="0" smtClean="0">
              <a:solidFill>
                <a:schemeClr val="tx1"/>
              </a:solidFill>
            </a:endParaRPr>
          </a:p>
        </p:txBody>
      </p:sp>
      <p:sp>
        <p:nvSpPr>
          <p:cNvPr id="25" name="流程圖: 程序 24"/>
          <p:cNvSpPr/>
          <p:nvPr/>
        </p:nvSpPr>
        <p:spPr>
          <a:xfrm>
            <a:off x="35496" y="4221088"/>
            <a:ext cx="9073008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3200" b="1" dirty="0" smtClean="0">
                <a:solidFill>
                  <a:schemeClr val="tx1"/>
                </a:solidFill>
              </a:rPr>
              <a:t>L6-SN Label/ L6-CHASSISSN-Label</a:t>
            </a:r>
            <a:endParaRPr lang="zh-TW" altLang="en-US" sz="3200" b="1" dirty="0">
              <a:solidFill>
                <a:schemeClr val="tx1"/>
              </a:solidFill>
            </a:endParaRPr>
          </a:p>
        </p:txBody>
      </p:sp>
      <p:pic>
        <p:nvPicPr>
          <p:cNvPr id="2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4797152"/>
            <a:ext cx="2802993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93145" y="4797152"/>
            <a:ext cx="2802991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70C0"/>
                </a:solidFill>
              </a:rPr>
              <a:t>SN L</a:t>
            </a:r>
            <a:r>
              <a:rPr lang="en-US" altLang="zh-CN" dirty="0" smtClean="0">
                <a:solidFill>
                  <a:srgbClr val="0070C0"/>
                </a:solidFill>
              </a:rPr>
              <a:t>abel/</a:t>
            </a:r>
            <a:r>
              <a:rPr lang="en-US" altLang="zh-TW" dirty="0" smtClean="0">
                <a:solidFill>
                  <a:srgbClr val="0070C0"/>
                </a:solidFill>
              </a:rPr>
              <a:t>CHASSISSN Label</a:t>
            </a:r>
            <a:r>
              <a:rPr lang="zh-CN" altLang="en-US" dirty="0" smtClean="0">
                <a:solidFill>
                  <a:srgbClr val="0070C0"/>
                </a:solidFill>
              </a:rPr>
              <a:t>贴附位置</a:t>
            </a:r>
            <a:endParaRPr lang="zh-TW" altLang="en-US" dirty="0">
              <a:solidFill>
                <a:srgbClr val="0070C0"/>
              </a:solidFill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26D36-188A-45AD-8781-D4BBFB79FBDF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pic>
        <p:nvPicPr>
          <p:cNvPr id="8" name="圖片 7" descr="流程卡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9592" y="1196752"/>
            <a:ext cx="2736304" cy="1539171"/>
          </a:xfrm>
          <a:prstGeom prst="rect">
            <a:avLst/>
          </a:prstGeom>
        </p:spPr>
      </p:pic>
      <p:pic>
        <p:nvPicPr>
          <p:cNvPr id="9" name="圖片 8" descr="前框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9592" y="2924944"/>
            <a:ext cx="2736304" cy="1539171"/>
          </a:xfrm>
          <a:prstGeom prst="rect">
            <a:avLst/>
          </a:prstGeom>
        </p:spPr>
      </p:pic>
      <p:pic>
        <p:nvPicPr>
          <p:cNvPr id="10" name="圖片 9" descr="铁盘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99592" y="4581128"/>
            <a:ext cx="2736304" cy="1539172"/>
          </a:xfrm>
          <a:prstGeom prst="rect">
            <a:avLst/>
          </a:prstGeom>
        </p:spPr>
      </p:pic>
      <p:cxnSp>
        <p:nvCxnSpPr>
          <p:cNvPr id="12" name="直線單箭頭接點 11"/>
          <p:cNvCxnSpPr/>
          <p:nvPr/>
        </p:nvCxnSpPr>
        <p:spPr>
          <a:xfrm>
            <a:off x="4211960" y="1988840"/>
            <a:ext cx="1368152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>
            <a:off x="4211960" y="3789040"/>
            <a:ext cx="1368152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>
            <a:off x="4139952" y="5445224"/>
            <a:ext cx="1368152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標題 1"/>
          <p:cNvSpPr txBox="1">
            <a:spLocks/>
          </p:cNvSpPr>
          <p:nvPr/>
        </p:nvSpPr>
        <p:spPr bwMode="auto">
          <a:xfrm>
            <a:off x="5652120" y="1412776"/>
            <a:ext cx="3240360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SN</a:t>
            </a:r>
            <a:r>
              <a:rPr kumimoji="0" lang="en-US" altLang="zh-TW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L</a:t>
            </a:r>
            <a:r>
              <a:rPr kumimoji="0" lang="en-US" altLang="zh-CN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abel</a:t>
            </a:r>
            <a:r>
              <a:rPr kumimoji="0" lang="zh-CN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贴附流程卡位置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sp>
        <p:nvSpPr>
          <p:cNvPr id="18" name="標題 1"/>
          <p:cNvSpPr txBox="1">
            <a:spLocks/>
          </p:cNvSpPr>
          <p:nvPr/>
        </p:nvSpPr>
        <p:spPr bwMode="auto">
          <a:xfrm>
            <a:off x="5724128" y="3212976"/>
            <a:ext cx="3240360" cy="108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SN</a:t>
            </a:r>
            <a:r>
              <a:rPr kumimoji="0" lang="en-US" altLang="zh-TW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L</a:t>
            </a:r>
            <a:r>
              <a:rPr kumimoji="0" lang="en-US" altLang="zh-CN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abel</a:t>
            </a:r>
            <a:r>
              <a:rPr kumimoji="0" lang="zh-CN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贴附前框位置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sp>
        <p:nvSpPr>
          <p:cNvPr id="19" name="標題 1"/>
          <p:cNvSpPr txBox="1">
            <a:spLocks/>
          </p:cNvSpPr>
          <p:nvPr/>
        </p:nvSpPr>
        <p:spPr bwMode="auto">
          <a:xfrm>
            <a:off x="5652120" y="4797152"/>
            <a:ext cx="3528392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0" hangingPunct="0"/>
            <a:r>
              <a:rPr lang="en-US" altLang="zh-TW" sz="2000" dirty="0" smtClean="0">
                <a:latin typeface="+mj-lt"/>
              </a:rPr>
              <a:t>CHASSISSN</a:t>
            </a:r>
            <a:r>
              <a:rPr kumimoji="0" lang="en-US" altLang="zh-TW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L</a:t>
            </a:r>
            <a:r>
              <a:rPr kumimoji="0" lang="en-US" altLang="zh-CN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abel</a:t>
            </a:r>
            <a:r>
              <a:rPr kumimoji="0" lang="zh-CN" altLang="en-US" sz="2000" b="1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贴附铁盘位置</a:t>
            </a:r>
            <a:endParaRPr kumimoji="0" lang="zh-TW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8229600" cy="796925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L6 FIS BOM DATA Special Maintenance 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5CDDFA-E10A-461A-881A-5B33B748E947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708920"/>
            <a:ext cx="685800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79512" y="2276872"/>
            <a:ext cx="525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14350" indent="-514350">
              <a:buNone/>
            </a:pPr>
            <a:r>
              <a:rPr lang="zh-TW" altLang="en-US" dirty="0" smtClean="0"/>
              <a:t>路徑</a:t>
            </a:r>
            <a:r>
              <a:rPr lang="en-US" altLang="zh-TW" dirty="0" smtClean="0"/>
              <a:t>:</a:t>
            </a:r>
            <a:r>
              <a:rPr lang="en-US" altLang="zh-TW" b="1" dirty="0" smtClean="0"/>
              <a:t>Maintain DATA/Local Maintain/T</a:t>
            </a:r>
            <a:r>
              <a:rPr lang="en-US" altLang="zh-CN" b="1" dirty="0" smtClean="0"/>
              <a:t>ooling</a:t>
            </a:r>
            <a:r>
              <a:rPr lang="zh-CN" altLang="en-US" b="1" dirty="0" smtClean="0"/>
              <a:t> </a:t>
            </a:r>
            <a:r>
              <a:rPr lang="en-US" altLang="zh-CN" b="1" dirty="0" smtClean="0"/>
              <a:t>KP</a:t>
            </a:r>
            <a:endParaRPr lang="en-US" altLang="zh-TW" dirty="0" smtClean="0"/>
          </a:p>
        </p:txBody>
      </p:sp>
      <p:sp>
        <p:nvSpPr>
          <p:cNvPr id="7" name="矩形 6"/>
          <p:cNvSpPr/>
          <p:nvPr/>
        </p:nvSpPr>
        <p:spPr>
          <a:xfrm>
            <a:off x="179512" y="1268760"/>
            <a:ext cx="8964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None/>
            </a:pPr>
            <a:r>
              <a:rPr lang="zh-CN" altLang="en-US" dirty="0" smtClean="0"/>
              <a:t>每新增一个</a:t>
            </a:r>
            <a:r>
              <a:rPr lang="en-US" altLang="zh-CN" dirty="0" smtClean="0"/>
              <a:t>L6 Family</a:t>
            </a:r>
            <a:r>
              <a:rPr lang="zh-CN" altLang="en-US" dirty="0" smtClean="0"/>
              <a:t>时需要维护</a:t>
            </a:r>
            <a:r>
              <a:rPr lang="en-US" altLang="zh-CN" dirty="0" smtClean="0"/>
              <a:t>Tooling KP</a:t>
            </a:r>
            <a:r>
              <a:rPr lang="zh-CN" altLang="en-US" dirty="0" smtClean="0"/>
              <a:t>治具</a:t>
            </a:r>
            <a:r>
              <a:rPr lang="en-US" altLang="zh-CN" dirty="0" smtClean="0"/>
              <a:t>,</a:t>
            </a:r>
            <a:r>
              <a:rPr lang="zh-CN" altLang="en-US" dirty="0" smtClean="0"/>
              <a:t>在</a:t>
            </a:r>
            <a:r>
              <a:rPr lang="en-US" altLang="zh-CN" dirty="0" smtClean="0"/>
              <a:t>SP/MVB</a:t>
            </a:r>
            <a:r>
              <a:rPr lang="zh-CN" altLang="en-US" dirty="0" smtClean="0"/>
              <a:t>时通知</a:t>
            </a:r>
            <a:r>
              <a:rPr lang="en-US" altLang="zh-CN" dirty="0" smtClean="0"/>
              <a:t>FIS </a:t>
            </a:r>
          </a:p>
          <a:p>
            <a:pPr marL="514350" indent="-514350">
              <a:buNone/>
            </a:pPr>
            <a:r>
              <a:rPr lang="en-US" altLang="zh-CN" dirty="0" smtClean="0"/>
              <a:t>Team</a:t>
            </a:r>
            <a:r>
              <a:rPr lang="zh-CN" altLang="en-US" dirty="0" smtClean="0"/>
              <a:t>在</a:t>
            </a:r>
            <a:r>
              <a:rPr lang="en-US" altLang="zh-CN" dirty="0" smtClean="0"/>
              <a:t>FIS </a:t>
            </a:r>
            <a:r>
              <a:rPr lang="zh-CN" altLang="en-US" dirty="0" smtClean="0"/>
              <a:t>后台维护一段程式</a:t>
            </a:r>
            <a:r>
              <a:rPr lang="en-US" altLang="zh-CN" dirty="0" smtClean="0"/>
              <a:t>.</a:t>
            </a:r>
            <a:r>
              <a:rPr lang="zh-CN" altLang="en-US" dirty="0" smtClean="0"/>
              <a:t> 需维护治具分别是：</a:t>
            </a:r>
            <a:r>
              <a:rPr lang="en-US" altLang="zh-CN" dirty="0" smtClean="0"/>
              <a:t>Heat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MEM</a:t>
            </a:r>
            <a:r>
              <a:rPr lang="zh-CN" altLang="en-US" dirty="0" smtClean="0"/>
              <a:t>、</a:t>
            </a:r>
            <a:endParaRPr lang="en-US" altLang="zh-CN" dirty="0" smtClean="0"/>
          </a:p>
          <a:p>
            <a:pPr marL="514350" indent="-514350">
              <a:buNone/>
            </a:pPr>
            <a:r>
              <a:rPr lang="en-US" altLang="zh-CN" dirty="0" smtClean="0"/>
              <a:t>HDD.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2615" y="-27384"/>
            <a:ext cx="7841753" cy="720824"/>
          </a:xfrm>
        </p:spPr>
        <p:txBody>
          <a:bodyPr/>
          <a:lstStyle/>
          <a:p>
            <a:pPr>
              <a:defRPr/>
            </a:pP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PA FIS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Flow Chart</a:t>
            </a:r>
          </a:p>
        </p:txBody>
      </p:sp>
      <p:sp>
        <p:nvSpPr>
          <p:cNvPr id="62" name="AutoShape 3"/>
          <p:cNvSpPr>
            <a:spLocks noChangeArrowheads="1"/>
          </p:cNvSpPr>
          <p:nvPr/>
        </p:nvSpPr>
        <p:spPr bwMode="auto">
          <a:xfrm>
            <a:off x="1764764" y="1671967"/>
            <a:ext cx="1950305" cy="434869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PA Cosmetic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63" name="Rectangle 4"/>
          <p:cNvSpPr>
            <a:spLocks noChangeArrowheads="1"/>
          </p:cNvSpPr>
          <p:nvPr/>
        </p:nvSpPr>
        <p:spPr bwMode="auto">
          <a:xfrm>
            <a:off x="4147389" y="3059888"/>
            <a:ext cx="1170861" cy="297104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FFCC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PA/QC check</a:t>
            </a:r>
          </a:p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71" name="Line 16"/>
          <p:cNvSpPr>
            <a:spLocks noChangeShapeType="1"/>
          </p:cNvSpPr>
          <p:nvPr/>
        </p:nvSpPr>
        <p:spPr bwMode="auto">
          <a:xfrm>
            <a:off x="3570935" y="3212976"/>
            <a:ext cx="57637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200" b="1">
              <a:latin typeface="+mn-lt"/>
            </a:endParaRPr>
          </a:p>
        </p:txBody>
      </p:sp>
      <p:sp>
        <p:nvSpPr>
          <p:cNvPr id="82" name="AutoShape 37"/>
          <p:cNvSpPr>
            <a:spLocks noChangeArrowheads="1"/>
          </p:cNvSpPr>
          <p:nvPr/>
        </p:nvSpPr>
        <p:spPr bwMode="auto">
          <a:xfrm>
            <a:off x="1874797" y="990228"/>
            <a:ext cx="1702916" cy="395033"/>
          </a:xfrm>
          <a:prstGeom prst="diamond">
            <a:avLst/>
          </a:prstGeom>
          <a:solidFill>
            <a:srgbClr val="FFCC99">
              <a:alpha val="67058"/>
            </a:srgbClr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PA Cosmetic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84" name="Line 38"/>
          <p:cNvSpPr>
            <a:spLocks noChangeShapeType="1"/>
          </p:cNvSpPr>
          <p:nvPr/>
        </p:nvSpPr>
        <p:spPr bwMode="auto">
          <a:xfrm>
            <a:off x="2727102" y="2123433"/>
            <a:ext cx="0" cy="22573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200" b="1">
              <a:latin typeface="+mn-lt"/>
            </a:endParaRPr>
          </a:p>
        </p:txBody>
      </p:sp>
      <p:grpSp>
        <p:nvGrpSpPr>
          <p:cNvPr id="2" name="群組 77"/>
          <p:cNvGrpSpPr>
            <a:grpSpLocks/>
          </p:cNvGrpSpPr>
          <p:nvPr/>
        </p:nvGrpSpPr>
        <p:grpSpPr bwMode="auto">
          <a:xfrm>
            <a:off x="2288241" y="1378182"/>
            <a:ext cx="547306" cy="283827"/>
            <a:chOff x="2887065" y="695067"/>
            <a:chExt cx="512762" cy="271654"/>
          </a:xfrm>
        </p:grpSpPr>
        <p:sp>
          <p:nvSpPr>
            <p:cNvPr id="92" name="Line 6"/>
            <p:cNvSpPr>
              <a:spLocks noChangeShapeType="1"/>
            </p:cNvSpPr>
            <p:nvPr/>
          </p:nvSpPr>
          <p:spPr bwMode="auto">
            <a:xfrm>
              <a:off x="3298825" y="750721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 sz="1200" b="1">
                <a:latin typeface="+mn-lt"/>
              </a:endParaRPr>
            </a:p>
          </p:txBody>
        </p:sp>
        <p:sp>
          <p:nvSpPr>
            <p:cNvPr id="93" name="Text Box 40"/>
            <p:cNvSpPr txBox="1">
              <a:spLocks noChangeArrowheads="1"/>
            </p:cNvSpPr>
            <p:nvPr/>
          </p:nvSpPr>
          <p:spPr bwMode="auto">
            <a:xfrm>
              <a:off x="2887065" y="695067"/>
              <a:ext cx="512762" cy="265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0" lang="en-US" altLang="zh-TW" sz="1200" b="1" dirty="0">
                  <a:solidFill>
                    <a:srgbClr val="FF0000"/>
                  </a:solidFill>
                  <a:latin typeface="+mn-lt"/>
                  <a:ea typeface="細明體" pitchFamily="49" charset="-120"/>
                  <a:cs typeface="Arial" pitchFamily="34" charset="0"/>
                </a:rPr>
                <a:t>Pass</a:t>
              </a:r>
            </a:p>
          </p:txBody>
        </p:sp>
      </p:grpSp>
      <p:sp>
        <p:nvSpPr>
          <p:cNvPr id="111" name="AutoShape 10"/>
          <p:cNvSpPr>
            <a:spLocks noChangeArrowheads="1"/>
          </p:cNvSpPr>
          <p:nvPr/>
        </p:nvSpPr>
        <p:spPr bwMode="auto">
          <a:xfrm>
            <a:off x="1751103" y="3013088"/>
            <a:ext cx="1921499" cy="41329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PIZZA </a:t>
            </a:r>
            <a:r>
              <a:rPr kumimoji="0" lang="en-US" altLang="zh-TW" sz="1200" b="1" dirty="0" smtClean="0">
                <a:latin typeface="+mn-lt"/>
                <a:cs typeface="Arial" pitchFamily="34" charset="0"/>
              </a:rPr>
              <a:t>Combine&amp;</a:t>
            </a:r>
            <a:br>
              <a:rPr kumimoji="0" lang="en-US" altLang="zh-TW" sz="1200" b="1" dirty="0" smtClean="0">
                <a:latin typeface="+mn-lt"/>
                <a:cs typeface="Arial" pitchFamily="34" charset="0"/>
              </a:rPr>
            </a:br>
            <a:r>
              <a:rPr kumimoji="0" lang="en-US" altLang="zh-TW" sz="1200" b="1" dirty="0" smtClean="0">
                <a:latin typeface="+mn-lt"/>
                <a:cs typeface="Arial" pitchFamily="34" charset="0"/>
              </a:rPr>
              <a:t>Label Print</a:t>
            </a: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 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118" name="Line 6"/>
          <p:cNvSpPr>
            <a:spLocks noChangeShapeType="1"/>
          </p:cNvSpPr>
          <p:nvPr/>
        </p:nvSpPr>
        <p:spPr bwMode="auto">
          <a:xfrm>
            <a:off x="2717574" y="2784089"/>
            <a:ext cx="0" cy="2256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200" b="1">
              <a:latin typeface="+mn-lt"/>
            </a:endParaRPr>
          </a:p>
        </p:txBody>
      </p:sp>
      <p:grpSp>
        <p:nvGrpSpPr>
          <p:cNvPr id="3" name="群組 90"/>
          <p:cNvGrpSpPr>
            <a:grpSpLocks/>
          </p:cNvGrpSpPr>
          <p:nvPr/>
        </p:nvGrpSpPr>
        <p:grpSpPr bwMode="auto">
          <a:xfrm>
            <a:off x="1764658" y="3423059"/>
            <a:ext cx="1921499" cy="635705"/>
            <a:chOff x="2397380" y="2651107"/>
            <a:chExt cx="1800000" cy="608979"/>
          </a:xfrm>
        </p:grpSpPr>
        <p:sp>
          <p:nvSpPr>
            <p:cNvPr id="122" name="AutoShape 10"/>
            <p:cNvSpPr>
              <a:spLocks noChangeArrowheads="1"/>
            </p:cNvSpPr>
            <p:nvPr/>
          </p:nvSpPr>
          <p:spPr bwMode="auto">
            <a:xfrm>
              <a:off x="2397380" y="2864170"/>
              <a:ext cx="1800000" cy="395916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99FF"/>
                </a:gs>
                <a:gs pos="50000">
                  <a:schemeClr val="bg1"/>
                </a:gs>
                <a:gs pos="100000">
                  <a:srgbClr val="6699FF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0" lang="en-US" altLang="zh-TW" sz="1200" b="1" dirty="0" smtClean="0">
                  <a:latin typeface="+mn-lt"/>
                  <a:ea typeface="細明體" pitchFamily="49" charset="-120"/>
                  <a:cs typeface="Arial" pitchFamily="34" charset="0"/>
                </a:rPr>
                <a:t>C</a:t>
              </a:r>
              <a:r>
                <a:rPr kumimoji="0" lang="en-US" altLang="zh-CN" sz="1200" b="1" dirty="0" smtClean="0">
                  <a:latin typeface="+mn-lt"/>
                  <a:ea typeface="細明體" pitchFamily="49" charset="-120"/>
                  <a:cs typeface="Arial" pitchFamily="34" charset="0"/>
                </a:rPr>
                <a:t>arton label Print</a:t>
              </a:r>
              <a:endPara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endParaRPr>
            </a:p>
          </p:txBody>
        </p:sp>
        <p:sp>
          <p:nvSpPr>
            <p:cNvPr id="126" name="Line 11"/>
            <p:cNvSpPr>
              <a:spLocks noChangeShapeType="1"/>
            </p:cNvSpPr>
            <p:nvPr/>
          </p:nvSpPr>
          <p:spPr bwMode="auto">
            <a:xfrm>
              <a:off x="3302598" y="2651107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 sz="1200" b="1">
                <a:latin typeface="+mn-lt"/>
              </a:endParaRPr>
            </a:p>
          </p:txBody>
        </p:sp>
      </p:grpSp>
      <p:grpSp>
        <p:nvGrpSpPr>
          <p:cNvPr id="5" name="群組 91"/>
          <p:cNvGrpSpPr>
            <a:grpSpLocks/>
          </p:cNvGrpSpPr>
          <p:nvPr/>
        </p:nvGrpSpPr>
        <p:grpSpPr bwMode="auto">
          <a:xfrm>
            <a:off x="1756186" y="5311915"/>
            <a:ext cx="1921499" cy="637365"/>
            <a:chOff x="2397380" y="2651107"/>
            <a:chExt cx="1800000" cy="608979"/>
          </a:xfrm>
        </p:grpSpPr>
        <p:sp>
          <p:nvSpPr>
            <p:cNvPr id="128" name="AutoShape 10"/>
            <p:cNvSpPr>
              <a:spLocks noChangeArrowheads="1"/>
            </p:cNvSpPr>
            <p:nvPr/>
          </p:nvSpPr>
          <p:spPr bwMode="auto">
            <a:xfrm>
              <a:off x="2397380" y="2863615"/>
              <a:ext cx="1800000" cy="396471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99FF"/>
                </a:gs>
                <a:gs pos="50000">
                  <a:schemeClr val="bg1"/>
                </a:gs>
                <a:gs pos="100000">
                  <a:srgbClr val="6699FF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0" lang="en-US" altLang="zh-TW" sz="1200" b="1" dirty="0" smtClean="0">
                  <a:latin typeface="+mn-lt"/>
                  <a:ea typeface="細明體" pitchFamily="49" charset="-120"/>
                  <a:cs typeface="Arial" pitchFamily="34" charset="0"/>
                </a:rPr>
                <a:t>PLT Label Print</a:t>
              </a:r>
              <a:endPara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endParaRPr>
            </a:p>
          </p:txBody>
        </p:sp>
        <p:sp>
          <p:nvSpPr>
            <p:cNvPr id="129" name="Line 11"/>
            <p:cNvSpPr>
              <a:spLocks noChangeShapeType="1"/>
            </p:cNvSpPr>
            <p:nvPr/>
          </p:nvSpPr>
          <p:spPr bwMode="auto">
            <a:xfrm>
              <a:off x="3302598" y="2651107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 sz="1200" b="1">
                <a:latin typeface="+mn-lt"/>
              </a:endParaRPr>
            </a:p>
          </p:txBody>
        </p:sp>
      </p:grpSp>
      <p:grpSp>
        <p:nvGrpSpPr>
          <p:cNvPr id="6" name="群組 94"/>
          <p:cNvGrpSpPr>
            <a:grpSpLocks/>
          </p:cNvGrpSpPr>
          <p:nvPr/>
        </p:nvGrpSpPr>
        <p:grpSpPr bwMode="auto">
          <a:xfrm>
            <a:off x="1747714" y="4077022"/>
            <a:ext cx="1921499" cy="637365"/>
            <a:chOff x="2397380" y="2651107"/>
            <a:chExt cx="1800000" cy="608979"/>
          </a:xfrm>
        </p:grpSpPr>
        <p:sp>
          <p:nvSpPr>
            <p:cNvPr id="131" name="AutoShape 10"/>
            <p:cNvSpPr>
              <a:spLocks noChangeArrowheads="1"/>
            </p:cNvSpPr>
            <p:nvPr/>
          </p:nvSpPr>
          <p:spPr bwMode="auto">
            <a:xfrm>
              <a:off x="2397380" y="2863615"/>
              <a:ext cx="1800000" cy="396471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99FF"/>
                </a:gs>
                <a:gs pos="50000">
                  <a:schemeClr val="bg1"/>
                </a:gs>
                <a:gs pos="100000">
                  <a:srgbClr val="6699FF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0" lang="en-US" altLang="zh-TW" sz="1200" b="1" dirty="0" smtClean="0">
                  <a:latin typeface="+mn-lt"/>
                  <a:ea typeface="細明體" pitchFamily="49" charset="-120"/>
                  <a:cs typeface="Arial" pitchFamily="34" charset="0"/>
                </a:rPr>
                <a:t>HP S</a:t>
              </a:r>
              <a:r>
                <a:rPr kumimoji="0" lang="en-US" altLang="zh-CN" sz="1200" b="1" dirty="0" smtClean="0">
                  <a:latin typeface="+mn-lt"/>
                  <a:ea typeface="細明體" pitchFamily="49" charset="-120"/>
                  <a:cs typeface="Arial" pitchFamily="34" charset="0"/>
                </a:rPr>
                <a:t>can</a:t>
              </a:r>
              <a:endPara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endParaRPr>
            </a:p>
          </p:txBody>
        </p:sp>
        <p:sp>
          <p:nvSpPr>
            <p:cNvPr id="132" name="Line 11"/>
            <p:cNvSpPr>
              <a:spLocks noChangeShapeType="1"/>
            </p:cNvSpPr>
            <p:nvPr/>
          </p:nvSpPr>
          <p:spPr bwMode="auto">
            <a:xfrm>
              <a:off x="3302598" y="2651107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 sz="1200" b="1">
                <a:latin typeface="+mn-lt"/>
              </a:endParaRPr>
            </a:p>
          </p:txBody>
        </p:sp>
      </p:grpSp>
      <p:grpSp>
        <p:nvGrpSpPr>
          <p:cNvPr id="7" name="群組 108"/>
          <p:cNvGrpSpPr>
            <a:grpSpLocks/>
          </p:cNvGrpSpPr>
          <p:nvPr/>
        </p:nvGrpSpPr>
        <p:grpSpPr bwMode="auto">
          <a:xfrm>
            <a:off x="1747714" y="4692809"/>
            <a:ext cx="1921499" cy="637365"/>
            <a:chOff x="2397380" y="2651107"/>
            <a:chExt cx="1800000" cy="608979"/>
          </a:xfrm>
        </p:grpSpPr>
        <p:sp>
          <p:nvSpPr>
            <p:cNvPr id="139" name="AutoShape 10"/>
            <p:cNvSpPr>
              <a:spLocks noChangeArrowheads="1"/>
            </p:cNvSpPr>
            <p:nvPr/>
          </p:nvSpPr>
          <p:spPr bwMode="auto">
            <a:xfrm>
              <a:off x="2397380" y="2863615"/>
              <a:ext cx="1800000" cy="396471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99FF"/>
                </a:gs>
                <a:gs pos="50000">
                  <a:schemeClr val="bg1"/>
                </a:gs>
                <a:gs pos="100000">
                  <a:srgbClr val="6699FF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0" lang="en-US" altLang="zh-TW" sz="1200" b="1" dirty="0" smtClean="0">
                  <a:latin typeface="+mn-lt"/>
                  <a:ea typeface="細明體" pitchFamily="49" charset="-120"/>
                  <a:cs typeface="Arial" pitchFamily="34" charset="0"/>
                </a:rPr>
                <a:t>Carton Weight</a:t>
              </a:r>
              <a:endPara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endParaRPr>
            </a:p>
          </p:txBody>
        </p:sp>
        <p:sp>
          <p:nvSpPr>
            <p:cNvPr id="140" name="Line 11"/>
            <p:cNvSpPr>
              <a:spLocks noChangeShapeType="1"/>
            </p:cNvSpPr>
            <p:nvPr/>
          </p:nvSpPr>
          <p:spPr bwMode="auto">
            <a:xfrm>
              <a:off x="3302598" y="2651107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 sz="1200" b="1">
                <a:latin typeface="+mn-lt"/>
              </a:endParaRPr>
            </a:p>
          </p:txBody>
        </p:sp>
      </p:grpSp>
      <p:grpSp>
        <p:nvGrpSpPr>
          <p:cNvPr id="9" name="群組 111"/>
          <p:cNvGrpSpPr>
            <a:grpSpLocks/>
          </p:cNvGrpSpPr>
          <p:nvPr/>
        </p:nvGrpSpPr>
        <p:grpSpPr bwMode="auto">
          <a:xfrm>
            <a:off x="5453990" y="4493684"/>
            <a:ext cx="1919804" cy="637365"/>
            <a:chOff x="2397380" y="2651107"/>
            <a:chExt cx="1800000" cy="608979"/>
          </a:xfrm>
        </p:grpSpPr>
        <p:sp>
          <p:nvSpPr>
            <p:cNvPr id="143" name="AutoShape 10"/>
            <p:cNvSpPr>
              <a:spLocks noChangeArrowheads="1"/>
            </p:cNvSpPr>
            <p:nvPr/>
          </p:nvSpPr>
          <p:spPr bwMode="auto">
            <a:xfrm>
              <a:off x="2397380" y="2863615"/>
              <a:ext cx="1800000" cy="396471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rgbClr val="6699FF"/>
                </a:gs>
                <a:gs pos="50000">
                  <a:schemeClr val="bg1"/>
                </a:gs>
                <a:gs pos="100000">
                  <a:srgbClr val="6699FF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0" lang="en-US" altLang="zh-TW" sz="1200" b="1" dirty="0" smtClean="0">
                  <a:latin typeface="+mn-lt"/>
                  <a:ea typeface="細明體" pitchFamily="49" charset="-120"/>
                  <a:cs typeface="Arial" pitchFamily="34" charset="0"/>
                </a:rPr>
                <a:t>PLT 9S Label print</a:t>
              </a:r>
              <a:endPara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endParaRPr>
            </a:p>
          </p:txBody>
        </p:sp>
        <p:sp>
          <p:nvSpPr>
            <p:cNvPr id="146" name="Line 11"/>
            <p:cNvSpPr>
              <a:spLocks noChangeShapeType="1"/>
            </p:cNvSpPr>
            <p:nvPr/>
          </p:nvSpPr>
          <p:spPr bwMode="auto">
            <a:xfrm>
              <a:off x="3302598" y="2651107"/>
              <a:ext cx="0" cy="2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TW" altLang="en-US" sz="1200" b="1">
                <a:latin typeface="+mn-lt"/>
              </a:endParaRPr>
            </a:p>
          </p:txBody>
        </p:sp>
      </p:grpSp>
      <p:cxnSp>
        <p:nvCxnSpPr>
          <p:cNvPr id="157" name="肘形接點 137"/>
          <p:cNvCxnSpPr>
            <a:cxnSpLocks noChangeShapeType="1"/>
          </p:cNvCxnSpPr>
          <p:nvPr/>
        </p:nvCxnSpPr>
        <p:spPr bwMode="auto">
          <a:xfrm flipV="1">
            <a:off x="3686236" y="4302884"/>
            <a:ext cx="1767754" cy="1354726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212" name="AutoShape 10"/>
          <p:cNvSpPr>
            <a:spLocks noChangeArrowheads="1"/>
          </p:cNvSpPr>
          <p:nvPr/>
        </p:nvSpPr>
        <p:spPr bwMode="auto">
          <a:xfrm>
            <a:off x="5453990" y="4073572"/>
            <a:ext cx="1921499" cy="41495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PLT Weight&amp;</a:t>
            </a:r>
            <a:b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</a:b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Label Print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214" name="AutoShape 3"/>
          <p:cNvSpPr>
            <a:spLocks noChangeArrowheads="1"/>
          </p:cNvSpPr>
          <p:nvPr/>
        </p:nvSpPr>
        <p:spPr bwMode="auto">
          <a:xfrm>
            <a:off x="1764764" y="2362263"/>
            <a:ext cx="1950305" cy="434869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 </a:t>
            </a:r>
            <a:r>
              <a:rPr kumimoji="0" lang="zh-CN" altLang="en-US" sz="1200" b="1" dirty="0">
                <a:latin typeface="+mn-lt"/>
                <a:ea typeface="細明體" pitchFamily="49" charset="-120"/>
                <a:cs typeface="Arial" pitchFamily="34" charset="0"/>
              </a:rPr>
              <a:t>结合</a:t>
            </a: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COA &amp; </a:t>
            </a:r>
            <a:r>
              <a:rPr kumimoji="0" lang="en-US" altLang="zh-TW" sz="1200" b="1" dirty="0" smtClean="0">
                <a:latin typeface="+mn-lt"/>
                <a:ea typeface="細明體" pitchFamily="49" charset="-120"/>
                <a:cs typeface="Arial" pitchFamily="34" charset="0"/>
              </a:rPr>
              <a:t>DN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231" name="AutoShape 37"/>
          <p:cNvSpPr>
            <a:spLocks noChangeArrowheads="1"/>
          </p:cNvSpPr>
          <p:nvPr/>
        </p:nvSpPr>
        <p:spPr bwMode="auto">
          <a:xfrm>
            <a:off x="5595687" y="5356912"/>
            <a:ext cx="1702916" cy="395033"/>
          </a:xfrm>
          <a:prstGeom prst="diamond">
            <a:avLst/>
          </a:prstGeom>
          <a:solidFill>
            <a:srgbClr val="FFCC99">
              <a:alpha val="67058"/>
            </a:srgbClr>
          </a:solidFill>
          <a:ln w="9525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40000"/>
              </a:lnSpc>
              <a:spcBef>
                <a:spcPct val="50000"/>
              </a:spcBef>
            </a:pPr>
            <a:r>
              <a:rPr kumimoji="0" lang="zh-CN" altLang="en-US" sz="1200" b="1" dirty="0" smtClean="0">
                <a:latin typeface="+mn-lt"/>
                <a:ea typeface="細明體" pitchFamily="49" charset="-120"/>
                <a:cs typeface="Arial" pitchFamily="34" charset="0"/>
              </a:rPr>
              <a:t>出货口</a:t>
            </a:r>
            <a:endParaRPr kumimoji="0" lang="en-US" altLang="zh-TW" sz="1200" b="1" dirty="0">
              <a:latin typeface="+mn-lt"/>
              <a:ea typeface="細明體" pitchFamily="49" charset="-120"/>
              <a:cs typeface="Arial" pitchFamily="34" charset="0"/>
            </a:endParaRPr>
          </a:p>
        </p:txBody>
      </p:sp>
      <p:sp>
        <p:nvSpPr>
          <p:cNvPr id="232" name="Line 11"/>
          <p:cNvSpPr>
            <a:spLocks noChangeShapeType="1"/>
          </p:cNvSpPr>
          <p:nvPr/>
        </p:nvSpPr>
        <p:spPr bwMode="auto">
          <a:xfrm>
            <a:off x="6453156" y="5131049"/>
            <a:ext cx="0" cy="22606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200" b="1">
              <a:latin typeface="+mn-lt"/>
            </a:endParaRPr>
          </a:p>
        </p:txBody>
      </p:sp>
      <p:sp>
        <p:nvSpPr>
          <p:cNvPr id="244" name="AutoShape 45"/>
          <p:cNvSpPr>
            <a:spLocks noChangeArrowheads="1"/>
          </p:cNvSpPr>
          <p:nvPr/>
        </p:nvSpPr>
        <p:spPr bwMode="auto">
          <a:xfrm>
            <a:off x="4338338" y="620688"/>
            <a:ext cx="896974" cy="37440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6699FF"/>
              </a:gs>
              <a:gs pos="50000">
                <a:schemeClr val="bg1"/>
              </a:gs>
              <a:gs pos="100000">
                <a:srgbClr val="6699FF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>
              <a:spcBef>
                <a:spcPct val="50000"/>
              </a:spcBef>
            </a:pPr>
            <a:r>
              <a:rPr kumimoji="0" lang="zh-TW" altLang="en-US" sz="1200" b="1" dirty="0" smtClean="0">
                <a:ea typeface="細明體" pitchFamily="49" charset="-120"/>
                <a:cs typeface="Arial" pitchFamily="34" charset="0"/>
              </a:rPr>
              <a:t>不良刷入</a:t>
            </a:r>
            <a:r>
              <a:rPr kumimoji="0" lang="en-US" altLang="zh-TW" sz="1200" b="1" dirty="0" smtClean="0">
                <a:ea typeface="細明體" pitchFamily="49" charset="-120"/>
                <a:cs typeface="Arial" pitchFamily="34" charset="0"/>
              </a:rPr>
              <a:t>FIS</a:t>
            </a:r>
            <a:endParaRPr kumimoji="0" lang="en-US" altLang="zh-TW" sz="1200" b="1" dirty="0">
              <a:ea typeface="細明體" pitchFamily="49" charset="-120"/>
              <a:cs typeface="Arial" pitchFamily="34" charset="0"/>
            </a:endParaRPr>
          </a:p>
        </p:txBody>
      </p:sp>
      <p:sp>
        <p:nvSpPr>
          <p:cNvPr id="245" name="AutoShape 3"/>
          <p:cNvSpPr>
            <a:spLocks noChangeArrowheads="1"/>
          </p:cNvSpPr>
          <p:nvPr/>
        </p:nvSpPr>
        <p:spPr bwMode="auto">
          <a:xfrm>
            <a:off x="7010012" y="673092"/>
            <a:ext cx="1162388" cy="322002"/>
          </a:xfrm>
          <a:prstGeom prst="roundRect">
            <a:avLst>
              <a:gd name="adj" fmla="val 16667"/>
            </a:avLst>
          </a:prstGeom>
          <a:solidFill>
            <a:srgbClr val="3366FF">
              <a:alpha val="25098"/>
            </a:srgbClr>
          </a:solidFill>
          <a:ln w="12700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Re FA Flow</a:t>
            </a:r>
          </a:p>
        </p:txBody>
      </p:sp>
      <p:sp>
        <p:nvSpPr>
          <p:cNvPr id="246" name="Line 39"/>
          <p:cNvSpPr>
            <a:spLocks noChangeShapeType="1"/>
          </p:cNvSpPr>
          <p:nvPr/>
        </p:nvSpPr>
        <p:spPr bwMode="auto">
          <a:xfrm>
            <a:off x="6588224" y="844519"/>
            <a:ext cx="3846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200" b="1">
              <a:latin typeface="+mn-lt"/>
            </a:endParaRPr>
          </a:p>
        </p:txBody>
      </p:sp>
      <p:sp>
        <p:nvSpPr>
          <p:cNvPr id="247" name="Line 39"/>
          <p:cNvSpPr>
            <a:spLocks noChangeShapeType="1"/>
          </p:cNvSpPr>
          <p:nvPr/>
        </p:nvSpPr>
        <p:spPr bwMode="auto">
          <a:xfrm>
            <a:off x="5220072" y="844519"/>
            <a:ext cx="38463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 sz="1200" b="1">
              <a:latin typeface="+mn-lt"/>
            </a:endParaRPr>
          </a:p>
        </p:txBody>
      </p:sp>
      <p:sp>
        <p:nvSpPr>
          <p:cNvPr id="260" name="Text Box 3"/>
          <p:cNvSpPr txBox="1">
            <a:spLocks noChangeArrowheads="1"/>
          </p:cNvSpPr>
          <p:nvPr/>
        </p:nvSpPr>
        <p:spPr bwMode="auto">
          <a:xfrm>
            <a:off x="5203093" y="2707337"/>
            <a:ext cx="449027" cy="289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cxnSp>
        <p:nvCxnSpPr>
          <p:cNvPr id="49" name="肘形接點 48"/>
          <p:cNvCxnSpPr/>
          <p:nvPr/>
        </p:nvCxnSpPr>
        <p:spPr>
          <a:xfrm flipH="1" flipV="1">
            <a:off x="2727741" y="1451569"/>
            <a:ext cx="2590509" cy="1772111"/>
          </a:xfrm>
          <a:prstGeom prst="bentConnector4">
            <a:avLst>
              <a:gd name="adj1" fmla="val -8825"/>
              <a:gd name="adj2" fmla="val 99423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圖案 50"/>
          <p:cNvCxnSpPr>
            <a:stCxn id="82" idx="0"/>
          </p:cNvCxnSpPr>
          <p:nvPr/>
        </p:nvCxnSpPr>
        <p:spPr>
          <a:xfrm rot="5400000" flipH="1" flipV="1">
            <a:off x="3446749" y="97818"/>
            <a:ext cx="171916" cy="161290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3"/>
          <p:cNvSpPr txBox="1">
            <a:spLocks noChangeArrowheads="1"/>
          </p:cNvSpPr>
          <p:nvPr/>
        </p:nvSpPr>
        <p:spPr bwMode="auto">
          <a:xfrm>
            <a:off x="3347864" y="835129"/>
            <a:ext cx="449027" cy="289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sp>
        <p:nvSpPr>
          <p:cNvPr id="60" name="Rectangle 43"/>
          <p:cNvSpPr>
            <a:spLocks noChangeArrowheads="1"/>
          </p:cNvSpPr>
          <p:nvPr/>
        </p:nvSpPr>
        <p:spPr bwMode="auto">
          <a:xfrm>
            <a:off x="5665917" y="620688"/>
            <a:ext cx="922307" cy="376438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FFCC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99C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lnSpc>
                <a:spcPct val="50000"/>
              </a:lnSpc>
              <a:spcBef>
                <a:spcPct val="50000"/>
              </a:spcBef>
            </a:pPr>
            <a:r>
              <a:rPr kumimoji="0" lang="en-US" altLang="zh-TW" sz="1200" b="1" dirty="0">
                <a:latin typeface="+mn-lt"/>
                <a:ea typeface="細明體" pitchFamily="49" charset="-120"/>
                <a:cs typeface="Arial" pitchFamily="34" charset="0"/>
              </a:rPr>
              <a:t>Repair </a:t>
            </a:r>
          </a:p>
        </p:txBody>
      </p:sp>
      <p:cxnSp>
        <p:nvCxnSpPr>
          <p:cNvPr id="64" name="肘形接點 63"/>
          <p:cNvCxnSpPr>
            <a:stCxn id="231" idx="3"/>
            <a:endCxn id="82" idx="3"/>
          </p:cNvCxnSpPr>
          <p:nvPr/>
        </p:nvCxnSpPr>
        <p:spPr>
          <a:xfrm flipH="1" flipV="1">
            <a:off x="3577713" y="1187745"/>
            <a:ext cx="3720890" cy="4366684"/>
          </a:xfrm>
          <a:prstGeom prst="bentConnector3">
            <a:avLst>
              <a:gd name="adj1" fmla="val -6144"/>
            </a:avLst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Box 3"/>
          <p:cNvSpPr txBox="1">
            <a:spLocks noChangeArrowheads="1"/>
          </p:cNvSpPr>
          <p:nvPr/>
        </p:nvSpPr>
        <p:spPr bwMode="auto">
          <a:xfrm>
            <a:off x="7507349" y="3068960"/>
            <a:ext cx="449027" cy="289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0" lang="en-US" altLang="zh-TW" sz="1200" b="1" dirty="0">
                <a:solidFill>
                  <a:srgbClr val="CC3300"/>
                </a:solidFill>
                <a:latin typeface="+mn-lt"/>
                <a:ea typeface="細明體" pitchFamily="49" charset="-120"/>
                <a:cs typeface="Arial" pitchFamily="34" charset="0"/>
              </a:rPr>
              <a:t>NG</a:t>
            </a:r>
          </a:p>
        </p:txBody>
      </p:sp>
      <p:sp>
        <p:nvSpPr>
          <p:cNvPr id="4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7F426D36-188A-45AD-8781-D4BBFB79FBDF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44624"/>
            <a:ext cx="8229600" cy="796925"/>
          </a:xfrm>
        </p:spPr>
        <p:txBody>
          <a:bodyPr/>
          <a:lstStyle/>
          <a:p>
            <a:pPr lvl="0"/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PA FIS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Station Special Maintenance</a:t>
            </a:r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426D36-188A-45AD-8781-D4BBFB79FBDF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44824"/>
            <a:ext cx="6627212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/>
          <p:cNvSpPr/>
          <p:nvPr/>
        </p:nvSpPr>
        <p:spPr>
          <a:xfrm>
            <a:off x="395536" y="692696"/>
            <a:ext cx="6624736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/>
            <a:r>
              <a:rPr lang="en-US" altLang="zh-CN" sz="2800" dirty="0" smtClean="0">
                <a:solidFill>
                  <a:schemeClr val="tx1"/>
                </a:solidFill>
              </a:rPr>
              <a:t>Special Maintenance </a:t>
            </a:r>
            <a:r>
              <a:rPr lang="zh-CN" altLang="en-US" sz="2800" dirty="0" smtClean="0">
                <a:solidFill>
                  <a:schemeClr val="tx1"/>
                </a:solidFill>
                <a:latin typeface="+mj-lt"/>
                <a:ea typeface="標楷體" pitchFamily="65" charset="-120"/>
              </a:rPr>
              <a:t>：</a:t>
            </a:r>
            <a:endParaRPr lang="en-US" altLang="zh-CN" sz="2800" dirty="0" smtClean="0">
              <a:solidFill>
                <a:schemeClr val="tx1"/>
              </a:solidFill>
              <a:latin typeface="+mj-lt"/>
              <a:ea typeface="標楷體" pitchFamily="65" charset="-120"/>
            </a:endParaRPr>
          </a:p>
          <a:p>
            <a:pPr marL="342900" indent="-342900"/>
            <a:endParaRPr lang="en-US" altLang="zh-CN" sz="2400" dirty="0" smtClean="0">
              <a:solidFill>
                <a:schemeClr val="tx1"/>
              </a:solidFill>
              <a:latin typeface="+mj-lt"/>
              <a:ea typeface="標楷體" pitchFamily="65" charset="-120"/>
            </a:endParaRPr>
          </a:p>
          <a:p>
            <a:pPr marL="342900" indent="-342900"/>
            <a:endParaRPr lang="en-US" altLang="zh-CN" sz="2400" dirty="0" smtClean="0">
              <a:solidFill>
                <a:schemeClr val="tx1"/>
              </a:solidFill>
              <a:latin typeface="+mj-lt"/>
              <a:ea typeface="標楷體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5536" y="1484784"/>
            <a:ext cx="8136904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/>
            <a:r>
              <a:rPr lang="en-US" altLang="zh-TW" dirty="0" smtClean="0">
                <a:solidFill>
                  <a:schemeClr val="tx1"/>
                </a:solidFill>
              </a:rPr>
              <a:t>1.L6 </a:t>
            </a:r>
            <a:r>
              <a:rPr lang="zh-CN" altLang="en-US" dirty="0" smtClean="0">
                <a:solidFill>
                  <a:schemeClr val="tx1"/>
                </a:solidFill>
              </a:rPr>
              <a:t>出货不需要</a:t>
            </a:r>
            <a:r>
              <a:rPr lang="en-US" altLang="zh-CN" dirty="0" smtClean="0">
                <a:solidFill>
                  <a:schemeClr val="tx1"/>
                </a:solidFill>
              </a:rPr>
              <a:t>Manual,</a:t>
            </a:r>
            <a:r>
              <a:rPr lang="zh-CN" altLang="en-US" dirty="0" smtClean="0">
                <a:solidFill>
                  <a:schemeClr val="tx1"/>
                </a:solidFill>
              </a:rPr>
              <a:t>需特别维护</a:t>
            </a:r>
            <a:r>
              <a:rPr lang="en-US" altLang="zh-CN" dirty="0" smtClean="0">
                <a:solidFill>
                  <a:schemeClr val="tx1"/>
                </a:solidFill>
              </a:rPr>
              <a:t>,No Manual</a:t>
            </a:r>
            <a:r>
              <a:rPr lang="zh-CN" altLang="en-US" dirty="0" smtClean="0">
                <a:solidFill>
                  <a:schemeClr val="tx1"/>
                </a:solidFill>
              </a:rPr>
              <a:t>是根据</a:t>
            </a:r>
            <a:r>
              <a:rPr lang="en-US" altLang="zh-CN" dirty="0" smtClean="0">
                <a:solidFill>
                  <a:schemeClr val="tx1"/>
                </a:solidFill>
              </a:rPr>
              <a:t>Mode</a:t>
            </a:r>
            <a:r>
              <a:rPr lang="zh-CN" altLang="en-US" dirty="0" smtClean="0">
                <a:solidFill>
                  <a:schemeClr val="tx1"/>
                </a:solidFill>
              </a:rPr>
              <a:t>进行维护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342900" indent="-342900"/>
            <a:endParaRPr lang="en-US" altLang="zh-TW" dirty="0" smtClean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395536" y="5157192"/>
            <a:ext cx="6624736" cy="576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/>
            <a:r>
              <a:rPr lang="en-US" altLang="zh-TW" dirty="0" smtClean="0">
                <a:solidFill>
                  <a:schemeClr val="tx1"/>
                </a:solidFill>
              </a:rPr>
              <a:t>2.L6</a:t>
            </a:r>
            <a:r>
              <a:rPr lang="zh-CN" altLang="en-US" dirty="0" smtClean="0">
                <a:solidFill>
                  <a:schemeClr val="tx1"/>
                </a:solidFill>
              </a:rPr>
              <a:t>出</a:t>
            </a:r>
            <a:r>
              <a:rPr lang="en-US" altLang="zh-CN" dirty="0" smtClean="0">
                <a:solidFill>
                  <a:schemeClr val="tx1"/>
                </a:solidFill>
              </a:rPr>
              <a:t>EMEA</a:t>
            </a:r>
            <a:r>
              <a:rPr lang="zh-CN" altLang="en-US" dirty="0" smtClean="0">
                <a:solidFill>
                  <a:schemeClr val="tx1"/>
                </a:solidFill>
              </a:rPr>
              <a:t>区域不需要附带</a:t>
            </a:r>
            <a:r>
              <a:rPr lang="en-US" altLang="zh-CN" dirty="0" smtClean="0">
                <a:solidFill>
                  <a:schemeClr val="tx1"/>
                </a:solidFill>
              </a:rPr>
              <a:t>PWC,</a:t>
            </a:r>
            <a:r>
              <a:rPr lang="zh-CN" altLang="en-US" dirty="0" smtClean="0">
                <a:solidFill>
                  <a:schemeClr val="tx1"/>
                </a:solidFill>
              </a:rPr>
              <a:t>每日产销排程有出货区域</a:t>
            </a:r>
            <a:r>
              <a:rPr lang="en-US" altLang="zh-CN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/>
            <a:endParaRPr lang="en-US" altLang="zh-TW" dirty="0" smtClean="0">
              <a:solidFill>
                <a:schemeClr val="tx1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3055" y="5589240"/>
            <a:ext cx="5739145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395536" y="1052736"/>
            <a:ext cx="6624736" cy="4320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/>
            <a:r>
              <a:rPr lang="zh-CN" altLang="en-US" sz="2400" dirty="0" smtClean="0">
                <a:solidFill>
                  <a:schemeClr val="tx1"/>
                </a:solidFill>
                <a:latin typeface="+mj-lt"/>
                <a:ea typeface="標楷體" pitchFamily="65" charset="-120"/>
              </a:rPr>
              <a:t>路径：</a:t>
            </a:r>
            <a:r>
              <a:rPr lang="en-US" altLang="zh-TW" sz="2200" b="1" dirty="0" smtClean="0">
                <a:solidFill>
                  <a:schemeClr val="tx1"/>
                </a:solidFill>
              </a:rPr>
              <a:t>Maintain DATA/Local Maintain/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r>
              <a:rPr lang="en-US" altLang="zh-CN" sz="2200" b="1" dirty="0" smtClean="0">
                <a:solidFill>
                  <a:schemeClr val="tx1"/>
                </a:solidFill>
              </a:rPr>
              <a:t>No Manual</a:t>
            </a:r>
            <a:endParaRPr lang="en-US" altLang="zh-CN" sz="2200" b="1" dirty="0" smtClean="0">
              <a:solidFill>
                <a:schemeClr val="tx1"/>
              </a:solidFill>
              <a:latin typeface="+mj-lt"/>
              <a:ea typeface="標楷體" pitchFamily="65" charset="-120"/>
            </a:endParaRPr>
          </a:p>
          <a:p>
            <a:pPr marL="342900" indent="-342900"/>
            <a:endParaRPr lang="en-US" altLang="zh-CN" sz="2400" dirty="0" smtClean="0">
              <a:solidFill>
                <a:schemeClr val="tx1"/>
              </a:solidFill>
              <a:latin typeface="+mj-lt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尾版面配置區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 smtClean="0"/>
              <a:t>Inventec Confidential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90B17B-DD07-4F72-A9D2-6FE328B37FE5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943100"/>
            <a:ext cx="4248472" cy="226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內容版面配置區 2"/>
          <p:cNvSpPr txBox="1">
            <a:spLocks/>
          </p:cNvSpPr>
          <p:nvPr/>
        </p:nvSpPr>
        <p:spPr>
          <a:xfrm>
            <a:off x="179512" y="908720"/>
            <a:ext cx="8229600" cy="4896544"/>
          </a:xfrm>
          <a:prstGeom prst="rect">
            <a:avLst/>
          </a:prstGeom>
        </p:spPr>
        <p:txBody>
          <a:bodyPr/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  <a:defRPr/>
            </a:pPr>
            <a:r>
              <a:rPr kumimoji="0" lang="en-US" altLang="zh-TW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n-cs"/>
              </a:rPr>
              <a:t>Shipping Label Print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n-cs"/>
              </a:rPr>
              <a:t>路徑</a:t>
            </a:r>
            <a:r>
              <a:rPr kumimoji="0" lang="en-US" altLang="zh-TW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n-cs"/>
              </a:rPr>
              <a:t>:PA/ PA Operation/04. Shipping Label Print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n-cs"/>
              </a:rPr>
              <a:t>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TW" alt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微軟正黑體" pitchFamily="34" charset="-120"/>
              <a:cs typeface="+mn-cs"/>
            </a:endParaRPr>
          </a:p>
        </p:txBody>
      </p:sp>
      <p:sp>
        <p:nvSpPr>
          <p:cNvPr id="6" name="流程圖: 接點 5"/>
          <p:cNvSpPr/>
          <p:nvPr/>
        </p:nvSpPr>
        <p:spPr>
          <a:xfrm>
            <a:off x="3002723" y="1970448"/>
            <a:ext cx="368352" cy="239963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流程圖: 接點 6"/>
          <p:cNvSpPr/>
          <p:nvPr/>
        </p:nvSpPr>
        <p:spPr>
          <a:xfrm>
            <a:off x="2627785" y="3573016"/>
            <a:ext cx="368352" cy="239963"/>
          </a:xfrm>
          <a:prstGeom prst="flowChartConnec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 bwMode="auto">
          <a:xfrm>
            <a:off x="179512" y="111795"/>
            <a:ext cx="8229600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1" dirty="0" smtClean="0">
                <a:solidFill>
                  <a:schemeClr val="accent1">
                    <a:lumMod val="75000"/>
                  </a:schemeClr>
                </a:solidFill>
                <a:latin typeface="+mj-lt"/>
                <a:ea typeface="微軟正黑體" pitchFamily="34" charset="-120"/>
                <a:cs typeface="+mj-cs"/>
              </a:rPr>
              <a:t>P</a:t>
            </a:r>
            <a:r>
              <a:rPr kumimoji="0" lang="en-US" altLang="zh-TW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A FIS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j-lt"/>
                <a:ea typeface="微軟正黑體" pitchFamily="34" charset="-120"/>
                <a:cs typeface="+mj-cs"/>
              </a:rPr>
              <a:t>Station</a:t>
            </a:r>
            <a:endParaRPr kumimoji="0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j-lt"/>
              <a:ea typeface="微軟正黑體" pitchFamily="34" charset="-120"/>
              <a:cs typeface="+mj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12160" y="2204864"/>
            <a:ext cx="2808312" cy="2520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Input</a:t>
            </a:r>
            <a:r>
              <a:rPr lang="zh-CN" altLang="en-US" dirty="0" smtClean="0">
                <a:solidFill>
                  <a:schemeClr val="tx1"/>
                </a:solidFill>
              </a:rPr>
              <a:t>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>
                <a:solidFill>
                  <a:schemeClr val="tx1"/>
                </a:solidFill>
              </a:rPr>
              <a:t>线别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班别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 smtClean="0">
                <a:solidFill>
                  <a:schemeClr val="tx1"/>
                </a:solidFill>
              </a:rPr>
              <a:t>SN NO./</a:t>
            </a:r>
            <a:r>
              <a:rPr lang="zh-CN" altLang="en-US" dirty="0" smtClean="0">
                <a:solidFill>
                  <a:schemeClr val="tx1"/>
                </a:solidFill>
              </a:rPr>
              <a:t>良品</a:t>
            </a:r>
            <a:r>
              <a:rPr lang="en-US" altLang="zh-CN" dirty="0" smtClean="0">
                <a:solidFill>
                  <a:schemeClr val="tx1"/>
                </a:solidFill>
              </a:rPr>
              <a:t>code</a:t>
            </a:r>
          </a:p>
          <a:p>
            <a:pPr marL="342900" indent="-342900"/>
            <a:r>
              <a:rPr lang="en-US" altLang="zh-CN" dirty="0" smtClean="0">
                <a:solidFill>
                  <a:schemeClr val="tx1"/>
                </a:solidFill>
              </a:rPr>
              <a:t>Output</a:t>
            </a:r>
            <a:r>
              <a:rPr lang="zh-CN" altLang="en-US" dirty="0" smtClean="0">
                <a:solidFill>
                  <a:schemeClr val="tx1"/>
                </a:solidFill>
              </a:rPr>
              <a:t>：</a:t>
            </a:r>
          </a:p>
          <a:p>
            <a:pPr marL="342900" indent="-342900"/>
            <a:r>
              <a:rPr lang="en-US" altLang="zh-TW" dirty="0" smtClean="0">
                <a:solidFill>
                  <a:schemeClr val="tx1"/>
                </a:solidFill>
              </a:rPr>
              <a:t>1.    L6-SHIPPING-Label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4581128"/>
            <a:ext cx="4176464" cy="175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流程圖: 程序 11"/>
          <p:cNvSpPr/>
          <p:nvPr/>
        </p:nvSpPr>
        <p:spPr>
          <a:xfrm>
            <a:off x="251520" y="4221088"/>
            <a:ext cx="3960440" cy="432048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000" b="1" dirty="0" smtClean="0">
                <a:solidFill>
                  <a:schemeClr val="tx1"/>
                </a:solidFill>
              </a:rPr>
              <a:t>L6-SH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IPPING</a:t>
            </a:r>
            <a:r>
              <a:rPr lang="en-US" altLang="zh-TW" sz="2000" b="1" dirty="0" smtClean="0">
                <a:solidFill>
                  <a:schemeClr val="tx1"/>
                </a:solidFill>
              </a:rPr>
              <a:t>-Label :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3" name="圖片 12" descr="外箱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92080" y="4581128"/>
            <a:ext cx="3168352" cy="1782198"/>
          </a:xfrm>
          <a:prstGeom prst="rect">
            <a:avLst/>
          </a:prstGeom>
        </p:spPr>
      </p:pic>
      <p:sp>
        <p:nvSpPr>
          <p:cNvPr id="14" name="流程圖: 程序 13"/>
          <p:cNvSpPr/>
          <p:nvPr/>
        </p:nvSpPr>
        <p:spPr>
          <a:xfrm>
            <a:off x="5148064" y="4221088"/>
            <a:ext cx="3960440" cy="432048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 smtClean="0">
                <a:solidFill>
                  <a:schemeClr val="tx1"/>
                </a:solidFill>
              </a:rPr>
              <a:t>外箱贴附位置：</a:t>
            </a:r>
            <a:endParaRPr lang="zh-TW" altLang="en-US" sz="20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91781" y="2528900"/>
            <a:ext cx="3150350" cy="7143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 smtClean="0"/>
              <a:t>Thank YOU!</a:t>
            </a:r>
            <a:endParaRPr lang="zh-TW" altLang="en-US" dirty="0"/>
          </a:p>
        </p:txBody>
      </p:sp>
      <p:sp>
        <p:nvSpPr>
          <p:cNvPr id="13315" name="文字版面配置區 2"/>
          <p:cNvSpPr>
            <a:spLocks noGrp="1"/>
          </p:cNvSpPr>
          <p:nvPr>
            <p:ph type="body" idx="1"/>
          </p:nvPr>
        </p:nvSpPr>
        <p:spPr>
          <a:xfrm>
            <a:off x="2583842" y="3292488"/>
            <a:ext cx="3150350" cy="450850"/>
          </a:xfrm>
        </p:spPr>
        <p:txBody>
          <a:bodyPr/>
          <a:lstStyle/>
          <a:p>
            <a:pPr eaLnBrk="1" hangingPunct="1"/>
            <a:r>
              <a:rPr lang="en-US" altLang="zh-TW" smtClean="0"/>
              <a:t>Questions and Answers</a:t>
            </a:r>
            <a:endParaRPr lang="zh-TW" altLang="en-US" smtClean="0"/>
          </a:p>
        </p:txBody>
      </p:sp>
      <p:sp>
        <p:nvSpPr>
          <p:cNvPr id="18436" name="投影片編號版面配置區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F6C548-6A08-404E-B314-A26A2095B497}" type="slidenum">
              <a:rPr lang="zh-TW" altLang="en-US" smtClean="0">
                <a:solidFill>
                  <a:srgbClr val="89898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zh-TW" altLang="en-US" smtClean="0">
              <a:solidFill>
                <a:srgbClr val="898989"/>
              </a:solidFill>
            </a:endParaRPr>
          </a:p>
        </p:txBody>
      </p:sp>
      <p:sp>
        <p:nvSpPr>
          <p:cNvPr id="18437" name="頁尾版面配置區 4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TW" smtClean="0">
                <a:solidFill>
                  <a:srgbClr val="898989"/>
                </a:solidFill>
              </a:rPr>
              <a:t>Inventec Confidential</a:t>
            </a:r>
            <a:endParaRPr lang="zh-TW" altLang="en-US" smtClean="0">
              <a:solidFill>
                <a:srgbClr val="89898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9DC7256F36A704BA3A0487E40FADA7F" ma:contentTypeVersion="0" ma:contentTypeDescription="建立新的文件。" ma:contentTypeScope="" ma:versionID="6163c73c9075b994e9852417a085090d">
  <xsd:schema xmlns:xsd="http://www.w3.org/2001/XMLSchema" xmlns:p="http://schemas.microsoft.com/office/2006/metadata/properties" targetNamespace="http://schemas.microsoft.com/office/2006/metadata/properties" ma:root="true" ma:fieldsID="b8ca951d90cafeb83d4a03d140f1bad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 ma:readOnly="true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448B8F-5E61-42CA-BA60-36D53B9389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3BD45AFB-B048-4FA5-85D7-BBA37F70E44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A759DDE4-F014-42CB-9217-AD755ABC04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13364</TotalTime>
  <Words>526</Words>
  <Application>Microsoft Office PowerPoint</Application>
  <PresentationFormat>如螢幕大小 (4:3)</PresentationFormat>
  <Paragraphs>149</Paragraphs>
  <Slides>12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佈景主題</vt:lpstr>
      <vt:lpstr>投影片 1</vt:lpstr>
      <vt:lpstr>投影片 2</vt:lpstr>
      <vt:lpstr>投影片 3</vt:lpstr>
      <vt:lpstr>投影片 4</vt:lpstr>
      <vt:lpstr>FA FIS Flow Chart</vt:lpstr>
      <vt:lpstr>投影片 6</vt:lpstr>
      <vt:lpstr>SN Label/CHASSISSN Label贴附位置</vt:lpstr>
      <vt:lpstr>L6 FIS BOM DATA Special Maintenance </vt:lpstr>
      <vt:lpstr>PA FIS Flow Chart</vt:lpstr>
      <vt:lpstr>PA FIS Station Special Maintenance</vt:lpstr>
      <vt:lpstr>投影片 11</vt:lpstr>
      <vt:lpstr>Thank YOU!</vt:lpstr>
    </vt:vector>
  </TitlesOfParts>
  <Company>Inventec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IEC970760</dc:creator>
  <cp:lastModifiedBy>ies032317</cp:lastModifiedBy>
  <cp:revision>1268</cp:revision>
  <dcterms:created xsi:type="dcterms:W3CDTF">2009-02-10T10:12:43Z</dcterms:created>
  <dcterms:modified xsi:type="dcterms:W3CDTF">2014-08-19T02:23:54Z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/>
  </property>
  <property fmtid="{D5CDD505-2E9C-101B-9397-08002B2CF9AE}" pid="3" name="SPSDescription">
    <vt:lpwstr/>
  </property>
  <property fmtid="{D5CDD505-2E9C-101B-9397-08002B2CF9AE}" pid="4" name="Status">
    <vt:lpwstr/>
  </property>
  <property fmtid="{D5CDD505-2E9C-101B-9397-08002B2CF9AE}" pid="5" name="ContentTypeId">
    <vt:lpwstr>0x010100D9DC7256F36A704BA3A0487E40FADA7F</vt:lpwstr>
  </property>
</Properties>
</file>