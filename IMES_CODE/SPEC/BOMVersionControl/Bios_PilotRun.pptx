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96" r:id="rId2"/>
    <p:sldId id="433" r:id="rId3"/>
    <p:sldId id="425" r:id="rId4"/>
  </p:sldIdLst>
  <p:sldSz cx="9864725" cy="6858000"/>
  <p:notesSz cx="6954838" cy="93091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07214" indent="-30116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815738" indent="-61541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224261" indent="-92966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631475" indent="-123081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1885493" algn="l" defTabSz="754197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262591" algn="l" defTabSz="754197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2639690" algn="l" defTabSz="754197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016788" algn="l" defTabSz="754197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19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FFF66"/>
    <a:srgbClr val="3C3CCB"/>
    <a:srgbClr val="969696"/>
    <a:srgbClr val="18187C"/>
    <a:srgbClr val="2222A3"/>
    <a:srgbClr val="5F5F5F"/>
    <a:srgbClr val="FFFFCC"/>
    <a:srgbClr val="FFFF99"/>
    <a:srgbClr val="2F2F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24" autoAdjust="0"/>
    <p:restoredTop sz="99477" autoAdjust="0"/>
  </p:normalViewPr>
  <p:slideViewPr>
    <p:cSldViewPr>
      <p:cViewPr varScale="1">
        <p:scale>
          <a:sx n="69" d="100"/>
          <a:sy n="69" d="100"/>
        </p:scale>
        <p:origin x="1133" y="72"/>
      </p:cViewPr>
      <p:guideLst>
        <p:guide orient="horz" pos="2160"/>
        <p:guide pos="31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50" d="100"/>
          <a:sy n="150" d="100"/>
        </p:scale>
        <p:origin x="-576" y="5508"/>
      </p:cViewPr>
      <p:guideLst>
        <p:guide orient="horz" pos="2932"/>
        <p:guide pos="219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5" y="4"/>
            <a:ext cx="3013763" cy="465455"/>
          </a:xfrm>
          <a:prstGeom prst="rect">
            <a:avLst/>
          </a:prstGeom>
        </p:spPr>
        <p:txBody>
          <a:bodyPr vert="horz" lIns="98243" tIns="49122" rIns="98243" bIns="49122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939471" y="4"/>
            <a:ext cx="3013763" cy="465455"/>
          </a:xfrm>
          <a:prstGeom prst="rect">
            <a:avLst/>
          </a:prstGeom>
        </p:spPr>
        <p:txBody>
          <a:bodyPr vert="horz" lIns="98243" tIns="49122" rIns="98243" bIns="49122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8E70883B-0366-43FB-AB96-83A5DD81E155}" type="datetime1">
              <a:rPr lang="zh-CN" altLang="en-US"/>
              <a:pPr>
                <a:defRPr/>
              </a:pPr>
              <a:t>2014/12/25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5" y="8842033"/>
            <a:ext cx="3013763" cy="465455"/>
          </a:xfrm>
          <a:prstGeom prst="rect">
            <a:avLst/>
          </a:prstGeom>
        </p:spPr>
        <p:txBody>
          <a:bodyPr vert="horz" lIns="98243" tIns="49122" rIns="98243" bIns="49122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939471" y="8842033"/>
            <a:ext cx="3013763" cy="465455"/>
          </a:xfrm>
          <a:prstGeom prst="rect">
            <a:avLst/>
          </a:prstGeom>
        </p:spPr>
        <p:txBody>
          <a:bodyPr vert="horz" lIns="98243" tIns="49122" rIns="98243" bIns="49122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6698F91F-B81E-42F0-B9FA-2BDCA204830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3609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5" y="4"/>
            <a:ext cx="3013763" cy="465455"/>
          </a:xfrm>
          <a:prstGeom prst="rect">
            <a:avLst/>
          </a:prstGeom>
        </p:spPr>
        <p:txBody>
          <a:bodyPr vert="horz" lIns="98243" tIns="49122" rIns="98243" bIns="49122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939471" y="4"/>
            <a:ext cx="3013763" cy="465455"/>
          </a:xfrm>
          <a:prstGeom prst="rect">
            <a:avLst/>
          </a:prstGeom>
        </p:spPr>
        <p:txBody>
          <a:bodyPr vert="horz" lIns="98243" tIns="49122" rIns="98243" bIns="49122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D1D8F231-9D25-45F9-97D1-D1B29317D77D}" type="datetime1">
              <a:rPr lang="zh-CN" altLang="en-US"/>
              <a:pPr>
                <a:defRPr/>
              </a:pPr>
              <a:t>2014/12/25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698500"/>
            <a:ext cx="5021262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243" tIns="49122" rIns="98243" bIns="49122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1159126" y="4363640"/>
            <a:ext cx="4709038" cy="4247278"/>
          </a:xfrm>
          <a:prstGeom prst="rect">
            <a:avLst/>
          </a:prstGeom>
        </p:spPr>
        <p:txBody>
          <a:bodyPr vert="horz" lIns="98243" tIns="49122" rIns="98243" bIns="49122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5" y="8842033"/>
            <a:ext cx="3013763" cy="465455"/>
          </a:xfrm>
          <a:prstGeom prst="rect">
            <a:avLst/>
          </a:prstGeom>
        </p:spPr>
        <p:txBody>
          <a:bodyPr vert="horz" lIns="98243" tIns="49122" rIns="98243" bIns="49122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939471" y="8842033"/>
            <a:ext cx="3013763" cy="465455"/>
          </a:xfrm>
          <a:prstGeom prst="rect">
            <a:avLst/>
          </a:prstGeom>
        </p:spPr>
        <p:txBody>
          <a:bodyPr vert="horz" lIns="98243" tIns="49122" rIns="98243" bIns="49122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6562F04E-86B6-4C1E-B584-DCB014B4349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70152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07214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15738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24261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631475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040857" algn="l" defTabSz="81634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449029" algn="l" defTabSz="81634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857200" algn="l" defTabSz="81634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265372" algn="l" defTabSz="81634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62F04E-86B6-4C1E-B584-DCB014B43497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8766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6788" y="698500"/>
            <a:ext cx="5021262" cy="34909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62F04E-86B6-4C1E-B584-DCB014B43497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8503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9864725" cy="421432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50000">
                <a:schemeClr val="bg1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5" tIns="40817" rIns="81635" bIns="4081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>
              <a:latin typeface="+mj-lt"/>
              <a:ea typeface="微軟正黑體" pitchFamily="34" charset="-120"/>
            </a:endParaRPr>
          </a:p>
        </p:txBody>
      </p:sp>
      <p:sp>
        <p:nvSpPr>
          <p:cNvPr id="5" name="矩形 4"/>
          <p:cNvSpPr/>
          <p:nvPr userDrawn="1"/>
        </p:nvSpPr>
        <p:spPr>
          <a:xfrm flipV="1">
            <a:off x="0" y="3571388"/>
            <a:ext cx="9864725" cy="328661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50000">
                <a:schemeClr val="bg1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5" tIns="40817" rIns="81635" bIns="4081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>
              <a:latin typeface="+mj-lt"/>
              <a:ea typeface="微軟正黑體" pitchFamily="34" charset="-12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71575"/>
            <a:ext cx="9864725" cy="178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內容版面配置區 5" descr="Inventec Logo_Min.wmf"/>
          <p:cNvPicPr>
            <a:picLocks noChangeAspect="1"/>
          </p:cNvPicPr>
          <p:nvPr userDrawn="1"/>
        </p:nvPicPr>
        <p:blipFill>
          <a:blip r:embed="rId3" cstate="print"/>
          <a:srcRect t="28120" b="31445"/>
          <a:stretch>
            <a:fillRect/>
          </a:stretch>
        </p:blipFill>
        <p:spPr bwMode="auto">
          <a:xfrm>
            <a:off x="4" y="2714140"/>
            <a:ext cx="4716537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624088" y="2786061"/>
            <a:ext cx="5240637" cy="655633"/>
          </a:xfrm>
          <a:effectLst/>
        </p:spPr>
        <p:txBody>
          <a:bodyPr>
            <a:noAutofit/>
          </a:bodyPr>
          <a:lstStyle>
            <a:lvl1pPr algn="l">
              <a:defRPr sz="25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85309" y="3714752"/>
            <a:ext cx="5240637" cy="785818"/>
          </a:xfrm>
        </p:spPr>
        <p:txBody>
          <a:bodyPr>
            <a:normAutofit/>
          </a:bodyPr>
          <a:lstStyle>
            <a:lvl1pPr marL="0" indent="0" algn="l"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408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6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4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2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40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90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53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 smtClean="0"/>
              <a:t>按一下以編輯母片副標題樣式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 bwMode="auto">
          <a:xfrm>
            <a:off x="-3161" y="-5871"/>
            <a:ext cx="9859981" cy="371377"/>
          </a:xfrm>
          <a:prstGeom prst="rect">
            <a:avLst/>
          </a:prstGeom>
          <a:gradFill>
            <a:gsLst>
              <a:gs pos="0">
                <a:srgbClr val="18187C"/>
              </a:gs>
              <a:gs pos="80000">
                <a:srgbClr val="2222A3"/>
              </a:gs>
              <a:gs pos="100000">
                <a:srgbClr val="3C3CCB"/>
              </a:gs>
            </a:gsLst>
          </a:gradFill>
          <a:ln>
            <a:solidFill>
              <a:srgbClr val="2F2F9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5420" tIns="37710" rIns="75420" bIns="37710" anchor="ctr"/>
          <a:lstStyle/>
          <a:p>
            <a:pPr algn="ctr">
              <a:defRPr/>
            </a:pPr>
            <a:endParaRPr lang="zh-CN" altLang="en-US" sz="1600" dirty="0">
              <a:solidFill>
                <a:srgbClr val="FFFFFF"/>
              </a:solidFill>
              <a:latin typeface="Futura Hv" pitchFamily="34" charset="0"/>
            </a:endParaRPr>
          </a:p>
        </p:txBody>
      </p:sp>
      <p:sp>
        <p:nvSpPr>
          <p:cNvPr id="5" name="对角圆角矩形 4">
            <a:hlinkClick r:id="" action="ppaction://noaction"/>
          </p:cNvPr>
          <p:cNvSpPr/>
          <p:nvPr userDrawn="1"/>
        </p:nvSpPr>
        <p:spPr bwMode="auto">
          <a:xfrm>
            <a:off x="165195" y="81169"/>
            <a:ext cx="642390" cy="215033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B050"/>
          </a:solidFill>
          <a:ln>
            <a:noFill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81635" tIns="40817" rIns="81635" bIns="40817" anchor="ctr"/>
          <a:lstStyle/>
          <a:p>
            <a:pPr algn="ctr">
              <a:defRPr/>
            </a:pPr>
            <a:r>
              <a:rPr lang="en-US" altLang="zh-CN" sz="1100" dirty="0" smtClean="0">
                <a:solidFill>
                  <a:schemeClr val="bg1"/>
                </a:solidFill>
                <a:latin typeface="Impact" pitchFamily="34" charset="0"/>
              </a:rPr>
              <a:t>HOME</a:t>
            </a:r>
            <a:endParaRPr lang="zh-CN" altLang="en-US" sz="1100" dirty="0">
              <a:solidFill>
                <a:schemeClr val="bg1"/>
              </a:solidFill>
              <a:latin typeface="Impact" pitchFamily="34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627870" y="21587"/>
            <a:ext cx="4581350" cy="33027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81635" tIns="40817" rIns="81635" bIns="40817" numCol="1" anchor="ctr" anchorCtr="0" compatLnSpc="1">
            <a:prstTxWarp prst="textNoShape">
              <a:avLst/>
            </a:prstTxWarp>
          </a:bodyPr>
          <a:lstStyle>
            <a:lvl1pPr>
              <a:def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innerShdw blurRad="63500" dist="25400" dir="135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Futura Bk" pitchFamily="34" charset="0"/>
                <a:ea typeface="微軟正黑體" pitchFamily="34" charset="-120"/>
                <a:cs typeface="+mj-cs"/>
              </a:defRPr>
            </a:lvl1pPr>
          </a:lstStyle>
          <a:p>
            <a:pPr marL="0" marR="0" lvl="0" indent="0" algn="ctr" defTabSz="75419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  <a:lvl2pPr>
              <a:defRPr>
                <a:latin typeface="+mj-lt"/>
                <a:ea typeface="微軟正黑體" pitchFamily="34" charset="-120"/>
              </a:defRPr>
            </a:lvl2pPr>
            <a:lvl3pPr>
              <a:defRPr>
                <a:latin typeface="+mj-lt"/>
                <a:ea typeface="微軟正黑體" pitchFamily="34" charset="-120"/>
              </a:defRPr>
            </a:lvl3pPr>
            <a:lvl4pPr>
              <a:defRPr>
                <a:latin typeface="+mj-lt"/>
                <a:ea typeface="微軟正黑體" pitchFamily="34" charset="-120"/>
              </a:defRPr>
            </a:lvl4pPr>
            <a:lvl5pPr>
              <a:defRPr>
                <a:latin typeface="+mj-lt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ackground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lum bright="-10000"/>
            <a:grayscl/>
          </a:blip>
          <a:srcRect l="3947" t="1276" r="1305"/>
          <a:stretch>
            <a:fillRect/>
          </a:stretch>
        </p:blipFill>
        <p:spPr bwMode="auto">
          <a:xfrm>
            <a:off x="303579" y="819085"/>
            <a:ext cx="9317651" cy="5398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0970" y="3308349"/>
            <a:ext cx="8400489" cy="714379"/>
          </a:xfrm>
          <a:effectLst/>
        </p:spPr>
        <p:txBody>
          <a:bodyPr anchor="t"/>
          <a:lstStyle>
            <a:lvl1pPr algn="l">
              <a:defRPr sz="3500" b="1" cap="all">
                <a:solidFill>
                  <a:srgbClr val="FF0000"/>
                </a:solidFill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62378" y="4071945"/>
            <a:ext cx="8400489" cy="450849"/>
          </a:xfrm>
        </p:spPr>
        <p:txBody>
          <a:bodyPr anchor="b"/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  <a:lvl2pPr marL="40817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163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245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3268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408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4902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57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6537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w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群組 6"/>
          <p:cNvGrpSpPr>
            <a:grpSpLocks/>
          </p:cNvGrpSpPr>
          <p:nvPr/>
        </p:nvGrpSpPr>
        <p:grpSpPr bwMode="auto">
          <a:xfrm>
            <a:off x="0" y="-42570"/>
            <a:ext cx="9864725" cy="6900570"/>
            <a:chOff x="0" y="0"/>
            <a:chExt cx="9144000" cy="6900301"/>
          </a:xfrm>
        </p:grpSpPr>
        <p:sp>
          <p:nvSpPr>
            <p:cNvPr id="8" name="矩形 7"/>
            <p:cNvSpPr/>
            <p:nvPr userDrawn="1"/>
          </p:nvSpPr>
          <p:spPr>
            <a:xfrm>
              <a:off x="0" y="0"/>
              <a:ext cx="9144000" cy="649077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 dirty="0"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0" y="6467561"/>
              <a:ext cx="9144000" cy="43274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 dirty="0"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sp>
        <p:nvSpPr>
          <p:cNvPr id="1027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93319" y="274500"/>
            <a:ext cx="8878094" cy="797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1635" tIns="40817" rIns="81635" bIns="408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93319" y="1285876"/>
            <a:ext cx="8878094" cy="4839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1635" tIns="40817" rIns="81635" bIns="408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pic>
        <p:nvPicPr>
          <p:cNvPr id="1031" name="內容版面配置區 5" descr="Inventec Logo_Min.wmf"/>
          <p:cNvPicPr>
            <a:picLocks noChangeAspect="1"/>
          </p:cNvPicPr>
          <p:nvPr/>
        </p:nvPicPr>
        <p:blipFill>
          <a:blip r:embed="rId5" cstate="print"/>
          <a:srcRect t="28120" b="31445"/>
          <a:stretch>
            <a:fillRect/>
          </a:stretch>
        </p:blipFill>
        <p:spPr bwMode="auto">
          <a:xfrm>
            <a:off x="8014796" y="6533598"/>
            <a:ext cx="1849933" cy="252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页脚占位符 3"/>
          <p:cNvSpPr txBox="1">
            <a:spLocks/>
          </p:cNvSpPr>
          <p:nvPr userDrawn="1"/>
        </p:nvSpPr>
        <p:spPr>
          <a:xfrm>
            <a:off x="3575040" y="6492495"/>
            <a:ext cx="3122750" cy="365505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900" kern="1200" noProof="0" dirty="0" smtClean="0">
                <a:solidFill>
                  <a:srgbClr val="898989"/>
                </a:solidFill>
                <a:latin typeface="Century Gothic" pitchFamily="34" charset="0"/>
                <a:ea typeface="新細明體" pitchFamily="18" charset="-120"/>
                <a:cs typeface="+mn-cs"/>
              </a:rPr>
              <a:t>Inventec Confidential</a:t>
            </a:r>
            <a:endParaRPr kumimoji="0" lang="zh-TW" altLang="en-US" sz="900" kern="1200" noProof="0" dirty="0">
              <a:solidFill>
                <a:srgbClr val="898989"/>
              </a:solidFill>
              <a:latin typeface="Century Gothic" pitchFamily="34" charset="0"/>
              <a:ea typeface="新細明體" pitchFamily="18" charset="-12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03" r:id="rId1"/>
    <p:sldLayoutId id="2147484905" r:id="rId2"/>
    <p:sldLayoutId id="2147484914" r:id="rId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+mj-lt"/>
          <a:ea typeface="微軟正黑體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  <a:ea typeface="微軟正黑體" pitchFamily="34" charset="-120"/>
        </a:defRPr>
      </a:lvl5pPr>
      <a:lvl6pPr marL="408171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  <a:ea typeface="微軟正黑體" pitchFamily="34" charset="-120"/>
        </a:defRPr>
      </a:lvl6pPr>
      <a:lvl7pPr marL="816343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  <a:ea typeface="微軟正黑體" pitchFamily="34" charset="-120"/>
        </a:defRPr>
      </a:lvl7pPr>
      <a:lvl8pPr marL="122451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  <a:ea typeface="微軟正黑體" pitchFamily="34" charset="-120"/>
        </a:defRPr>
      </a:lvl8pPr>
      <a:lvl9pPr marL="1632686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  <a:ea typeface="微軟正黑體" pitchFamily="34" charset="-120"/>
        </a:defRPr>
      </a:lvl9pPr>
    </p:titleStyle>
    <p:bodyStyle>
      <a:lvl1pPr marL="305084" indent="-30508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500" kern="1200">
          <a:solidFill>
            <a:schemeClr val="tx1"/>
          </a:solidFill>
          <a:latin typeface="+mj-lt"/>
          <a:ea typeface="微軟正黑體" pitchFamily="34" charset="-120"/>
          <a:cs typeface="+mn-cs"/>
        </a:defRPr>
      </a:lvl1pPr>
      <a:lvl2pPr marL="662541" indent="-25401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rgbClr val="262626"/>
          </a:solidFill>
          <a:latin typeface="+mj-lt"/>
          <a:ea typeface="微軟正黑體" pitchFamily="34" charset="-120"/>
          <a:cs typeface="+mn-cs"/>
        </a:defRPr>
      </a:lvl2pPr>
      <a:lvl3pPr marL="1020000" indent="-2029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rgbClr val="404040"/>
          </a:solidFill>
          <a:latin typeface="+mj-lt"/>
          <a:ea typeface="微軟正黑體" pitchFamily="34" charset="-120"/>
          <a:cs typeface="+mn-cs"/>
        </a:defRPr>
      </a:lvl3pPr>
      <a:lvl4pPr marL="1428523" indent="-2029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rgbClr val="595959"/>
          </a:solidFill>
          <a:latin typeface="+mj-lt"/>
          <a:ea typeface="微軟正黑體" pitchFamily="34" charset="-120"/>
          <a:cs typeface="+mn-cs"/>
        </a:defRPr>
      </a:lvl4pPr>
      <a:lvl5pPr marL="1835737" indent="-2029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800" kern="1200">
          <a:solidFill>
            <a:srgbClr val="7F7F7F"/>
          </a:solidFill>
          <a:latin typeface="+mj-lt"/>
          <a:ea typeface="微軟正黑體" pitchFamily="34" charset="-120"/>
          <a:cs typeface="+mn-cs"/>
        </a:defRPr>
      </a:lvl5pPr>
      <a:lvl6pPr marL="2244943" indent="-204086" algn="l" defTabSz="8163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3114" indent="-204086" algn="l" defTabSz="8163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61286" indent="-204086" algn="l" defTabSz="8163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458" indent="-204086" algn="l" defTabSz="8163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81634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171" algn="l" defTabSz="81634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343" algn="l" defTabSz="81634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515" algn="l" defTabSz="81634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686" algn="l" defTabSz="81634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857" algn="l" defTabSz="81634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9029" algn="l" defTabSz="81634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200" algn="l" defTabSz="81634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5372" algn="l" defTabSz="81634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430307" y="2852936"/>
            <a:ext cx="5434418" cy="513318"/>
          </a:xfrm>
          <a:effectLst>
            <a:outerShdw blurRad="25400" dist="12700" dir="5400000" algn="ctr" rotWithShape="0">
              <a:schemeClr val="bg1">
                <a:alpha val="85000"/>
              </a:scheme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kumimoji="1" lang="en-US" altLang="zh-CN" sz="2800" dirty="0" smtClean="0">
                <a:ea typeface="华文细黑" pitchFamily="2" charset="-122"/>
                <a:cs typeface="Arial" pitchFamily="34" charset="0"/>
              </a:rPr>
              <a:t>IMES  </a:t>
            </a:r>
            <a:r>
              <a:rPr lang="en-US" altLang="zh-TW" sz="2800" dirty="0" smtClean="0"/>
              <a:t>Recording System</a:t>
            </a:r>
            <a:endParaRPr kumimoji="1" lang="en-US" altLang="zh-TW" sz="2800" dirty="0" smtClean="0">
              <a:ea typeface="华文细黑" pitchFamily="2" charset="-122"/>
              <a:cs typeface="Arial" pitchFamily="34" charset="0"/>
            </a:endParaRPr>
          </a:p>
        </p:txBody>
      </p:sp>
      <p:sp>
        <p:nvSpPr>
          <p:cNvPr id="4" name="副標題 2"/>
          <p:cNvSpPr>
            <a:spLocks noGrp="1"/>
          </p:cNvSpPr>
          <p:nvPr>
            <p:ph type="subTitle" idx="4294967295"/>
          </p:nvPr>
        </p:nvSpPr>
        <p:spPr>
          <a:xfrm>
            <a:off x="3003536" y="4338649"/>
            <a:ext cx="6505575" cy="733425"/>
          </a:xfrm>
        </p:spPr>
        <p:txBody>
          <a:bodyPr>
            <a:normAutofit fontScale="92500" lnSpcReduction="20000"/>
          </a:bodyPr>
          <a:lstStyle/>
          <a:p>
            <a:pPr marL="274320" indent="-274320"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altLang="zh-TW" dirty="0" err="1" smtClean="0">
                <a:latin typeface="+mn-lt"/>
                <a:cs typeface="Arial" pitchFamily="34" charset="0"/>
              </a:rPr>
              <a:t>Shen.Qinquan</a:t>
            </a:r>
            <a:endParaRPr lang="en-US" altLang="zh-TW" dirty="0" smtClean="0">
              <a:latin typeface="+mn-lt"/>
              <a:cs typeface="Arial" pitchFamily="34" charset="0"/>
            </a:endParaRPr>
          </a:p>
          <a:p>
            <a:pPr marL="274320" indent="-274320"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altLang="zh-TW" dirty="0" smtClean="0">
                <a:latin typeface="+mn-lt"/>
                <a:cs typeface="Arial" pitchFamily="34" charset="0"/>
              </a:rPr>
              <a:t>2014-11-</a:t>
            </a:r>
            <a:r>
              <a:rPr lang="en-US" altLang="zh-CN" dirty="0" smtClean="0">
                <a:latin typeface="+mn-lt"/>
                <a:cs typeface="Arial" pitchFamily="34" charset="0"/>
              </a:rPr>
              <a:t>21</a:t>
            </a:r>
            <a:endParaRPr lang="zh-TW" altLang="en-US" dirty="0">
              <a:latin typeface="+mn-lt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7870" y="19460"/>
            <a:ext cx="4581350" cy="330278"/>
          </a:xfrm>
        </p:spPr>
        <p:txBody>
          <a:bodyPr/>
          <a:lstStyle/>
          <a:p>
            <a:pPr algn="ctr"/>
            <a:r>
              <a:rPr lang="en-US" altLang="zh-CN" dirty="0" smtClean="0">
                <a:effectLst/>
              </a:rPr>
              <a:t>BIOS   P/R</a:t>
            </a:r>
            <a:endParaRPr lang="zh-CN" altLang="en-US" dirty="0">
              <a:effectLst/>
            </a:endParaRPr>
          </a:p>
        </p:txBody>
      </p:sp>
      <p:sp>
        <p:nvSpPr>
          <p:cNvPr id="94" name="Line 261"/>
          <p:cNvSpPr>
            <a:spLocks noChangeShapeType="1"/>
          </p:cNvSpPr>
          <p:nvPr/>
        </p:nvSpPr>
        <p:spPr bwMode="auto">
          <a:xfrm>
            <a:off x="2067896" y="6996006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5420" tIns="37710" rIns="75420" bIns="37710" anchor="ctr"/>
          <a:lstStyle/>
          <a:p>
            <a:endParaRPr lang="zh-CN" altLang="en-US" dirty="0"/>
          </a:p>
        </p:txBody>
      </p:sp>
      <p:cxnSp>
        <p:nvCxnSpPr>
          <p:cNvPr id="91" name="直線單箭頭接點 129"/>
          <p:cNvCxnSpPr>
            <a:stCxn id="101" idx="2"/>
            <a:endCxn id="116" idx="0"/>
          </p:cNvCxnSpPr>
          <p:nvPr/>
        </p:nvCxnSpPr>
        <p:spPr bwMode="auto">
          <a:xfrm flipH="1">
            <a:off x="1256396" y="3291108"/>
            <a:ext cx="7116" cy="42592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AutoShape 145"/>
          <p:cNvSpPr>
            <a:spLocks noChangeArrowheads="1"/>
          </p:cNvSpPr>
          <p:nvPr/>
        </p:nvSpPr>
        <p:spPr bwMode="auto">
          <a:xfrm>
            <a:off x="402974" y="2924944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zh-CN" altLang="en-US" sz="900" b="1" dirty="0" smtClean="0">
                <a:solidFill>
                  <a:schemeClr val="bg1"/>
                </a:solidFill>
                <a:latin typeface="Century Gothic" pitchFamily="34" charset="0"/>
              </a:rPr>
              <a:t>產銷提交機型</a:t>
            </a: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P/R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16" name="AutoShape 267"/>
          <p:cNvSpPr>
            <a:spLocks noChangeArrowheads="1"/>
          </p:cNvSpPr>
          <p:nvPr/>
        </p:nvSpPr>
        <p:spPr bwMode="auto">
          <a:xfrm>
            <a:off x="395858" y="3717032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zh-CN" altLang="zh-TW" sz="900" dirty="0" smtClean="0"/>
              <a:t>阮祥梅</a:t>
            </a:r>
            <a:r>
              <a:rPr lang="zh-CN" altLang="en-US" sz="900" dirty="0" smtClean="0"/>
              <a:t>安排生產綫別提交表單</a:t>
            </a:r>
            <a:endParaRPr lang="en-US" altLang="zh-CN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119" name="直線單箭頭接點 129"/>
          <p:cNvCxnSpPr>
            <a:stCxn id="39" idx="2"/>
          </p:cNvCxnSpPr>
          <p:nvPr/>
        </p:nvCxnSpPr>
        <p:spPr bwMode="auto">
          <a:xfrm flipH="1">
            <a:off x="1252838" y="4803276"/>
            <a:ext cx="3558" cy="41980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AutoShape 145"/>
          <p:cNvSpPr>
            <a:spLocks noChangeArrowheads="1"/>
          </p:cNvSpPr>
          <p:nvPr/>
        </p:nvSpPr>
        <p:spPr bwMode="auto">
          <a:xfrm>
            <a:off x="467866" y="1412776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PM</a:t>
            </a:r>
            <a:r>
              <a:rPr lang="zh-CN" altLang="en-US" sz="900" b="1" dirty="0" smtClean="0">
                <a:solidFill>
                  <a:schemeClr val="bg1"/>
                </a:solidFill>
                <a:latin typeface="Century Gothic" pitchFamily="34" charset="0"/>
              </a:rPr>
              <a:t>填寫表單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31" name="直線單箭頭接點 146"/>
          <p:cNvCxnSpPr/>
          <p:nvPr/>
        </p:nvCxnSpPr>
        <p:spPr bwMode="auto">
          <a:xfrm>
            <a:off x="1331962" y="1772816"/>
            <a:ext cx="3558" cy="49793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右大括号 16"/>
          <p:cNvSpPr/>
          <p:nvPr/>
        </p:nvSpPr>
        <p:spPr>
          <a:xfrm rot="10800000">
            <a:off x="2196058" y="1340768"/>
            <a:ext cx="216024" cy="576064"/>
          </a:xfrm>
          <a:prstGeom prst="rightBrace">
            <a:avLst>
              <a:gd name="adj1" fmla="val 26790"/>
              <a:gd name="adj2" fmla="val 50000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AutoShape 267"/>
          <p:cNvSpPr>
            <a:spLocks noChangeArrowheads="1"/>
          </p:cNvSpPr>
          <p:nvPr/>
        </p:nvSpPr>
        <p:spPr bwMode="auto">
          <a:xfrm>
            <a:off x="395858" y="4437112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zh-CN" altLang="en-US" sz="900" b="1" dirty="0" smtClean="0">
                <a:solidFill>
                  <a:schemeClr val="bg1"/>
                </a:solidFill>
                <a:latin typeface="Century Gothic" pitchFamily="34" charset="0"/>
              </a:rPr>
              <a:t>生產綫投入</a:t>
            </a:r>
            <a:endParaRPr lang="en-US" altLang="zh-CN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32" name="文字方塊 31"/>
          <p:cNvSpPr txBox="1"/>
          <p:nvPr/>
        </p:nvSpPr>
        <p:spPr bwMode="auto">
          <a:xfrm>
            <a:off x="2484090" y="1340768"/>
            <a:ext cx="3672408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sz="1200" b="1" dirty="0" smtClean="0">
                <a:latin typeface="+mn-ea"/>
                <a:ea typeface="+mn-ea"/>
              </a:rPr>
              <a:t>(1)</a:t>
            </a:r>
            <a:r>
              <a:rPr kumimoji="0" lang="zh-CN" altLang="en-US" sz="1200" b="1" dirty="0" smtClean="0">
                <a:latin typeface="+mn-ea"/>
                <a:ea typeface="+mn-ea"/>
              </a:rPr>
              <a:t>填寫</a:t>
            </a:r>
            <a:r>
              <a:rPr kumimoji="0" lang="en-US" altLang="zh-CN" sz="1200" b="1" dirty="0" smtClean="0">
                <a:latin typeface="+mn-ea"/>
                <a:ea typeface="+mn-ea"/>
              </a:rPr>
              <a:t>P/R</a:t>
            </a:r>
            <a:r>
              <a:rPr kumimoji="0" lang="zh-CN" altLang="en-US" sz="1200" b="1" dirty="0" smtClean="0">
                <a:latin typeface="+mn-ea"/>
                <a:ea typeface="+mn-ea"/>
              </a:rPr>
              <a:t>原因</a:t>
            </a:r>
            <a:endParaRPr kumimoji="0" lang="zh-TW" altLang="en-US" sz="1200" b="1" dirty="0" smtClean="0">
              <a:latin typeface="+mn-ea"/>
              <a:ea typeface="+mn-ea"/>
            </a:endParaRPr>
          </a:p>
        </p:txBody>
      </p:sp>
      <p:sp>
        <p:nvSpPr>
          <p:cNvPr id="19" name="AutoShape 145"/>
          <p:cNvSpPr>
            <a:spLocks noChangeArrowheads="1"/>
          </p:cNvSpPr>
          <p:nvPr/>
        </p:nvSpPr>
        <p:spPr bwMode="auto">
          <a:xfrm>
            <a:off x="467866" y="2204864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PM</a:t>
            </a:r>
            <a:r>
              <a:rPr lang="zh-CN" altLang="en-US" sz="900" b="1" dirty="0" smtClean="0">
                <a:solidFill>
                  <a:schemeClr val="bg1"/>
                </a:solidFill>
                <a:latin typeface="Century Gothic" pitchFamily="34" charset="0"/>
              </a:rPr>
              <a:t>主管審核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20" name="直線單箭頭接點 129"/>
          <p:cNvCxnSpPr/>
          <p:nvPr/>
        </p:nvCxnSpPr>
        <p:spPr bwMode="auto">
          <a:xfrm flipH="1">
            <a:off x="1259954" y="2564904"/>
            <a:ext cx="7116" cy="42592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右大括号 16"/>
          <p:cNvSpPr/>
          <p:nvPr/>
        </p:nvSpPr>
        <p:spPr>
          <a:xfrm rot="10800000">
            <a:off x="2124050" y="2852936"/>
            <a:ext cx="216024" cy="504056"/>
          </a:xfrm>
          <a:prstGeom prst="rightBrace">
            <a:avLst>
              <a:gd name="adj1" fmla="val 26790"/>
              <a:gd name="adj2" fmla="val 50000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字方塊 22"/>
          <p:cNvSpPr txBox="1"/>
          <p:nvPr/>
        </p:nvSpPr>
        <p:spPr bwMode="auto">
          <a:xfrm>
            <a:off x="2340074" y="2996952"/>
            <a:ext cx="27363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sz="1200" b="1" dirty="0" smtClean="0">
                <a:latin typeface="+mn-ea"/>
              </a:rPr>
              <a:t>(1)</a:t>
            </a:r>
            <a:r>
              <a:rPr kumimoji="0" lang="zh-CN" altLang="en-US" sz="1200" b="1" dirty="0" smtClean="0">
                <a:latin typeface="+mn-ea"/>
              </a:rPr>
              <a:t>在綫提交</a:t>
            </a:r>
            <a:r>
              <a:rPr kumimoji="0" lang="en-US" altLang="zh-CN" sz="1200" b="1" dirty="0" smtClean="0">
                <a:latin typeface="+mn-ea"/>
              </a:rPr>
              <a:t>P/R</a:t>
            </a:r>
            <a:r>
              <a:rPr kumimoji="0" lang="zh-CN" altLang="en-US" sz="1200" b="1" dirty="0" smtClean="0">
                <a:latin typeface="+mn-ea"/>
              </a:rPr>
              <a:t>的日期、機型、數量</a:t>
            </a:r>
            <a:endParaRPr kumimoji="0" lang="zh-TW" altLang="en-US" sz="1200" b="1" dirty="0" smtClean="0">
              <a:latin typeface="+mn-ea"/>
            </a:endParaRPr>
          </a:p>
        </p:txBody>
      </p:sp>
      <p:sp>
        <p:nvSpPr>
          <p:cNvPr id="29" name="AutoShape 267"/>
          <p:cNvSpPr>
            <a:spLocks noChangeArrowheads="1"/>
          </p:cNvSpPr>
          <p:nvPr/>
        </p:nvSpPr>
        <p:spPr bwMode="auto">
          <a:xfrm>
            <a:off x="395858" y="5157192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zh-TW" altLang="en-US" sz="900" b="1" dirty="0" smtClean="0">
                <a:solidFill>
                  <a:schemeClr val="bg1"/>
                </a:solidFill>
                <a:latin typeface="Century Gothic" pitchFamily="34" charset="0"/>
              </a:rPr>
              <a:t>修復分析員</a:t>
            </a:r>
            <a:r>
              <a:rPr lang="zh-CN" altLang="en-US" sz="900" b="1" dirty="0" smtClean="0">
                <a:solidFill>
                  <a:schemeClr val="bg1"/>
                </a:solidFill>
                <a:latin typeface="Century Gothic" pitchFamily="34" charset="0"/>
              </a:rPr>
              <a:t>分析</a:t>
            </a:r>
            <a:endParaRPr lang="en-US" altLang="zh-CN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38" name="直線單箭頭接點 129"/>
          <p:cNvCxnSpPr>
            <a:stCxn id="116" idx="2"/>
          </p:cNvCxnSpPr>
          <p:nvPr/>
        </p:nvCxnSpPr>
        <p:spPr bwMode="auto">
          <a:xfrm>
            <a:off x="1256396" y="4083196"/>
            <a:ext cx="3558" cy="35391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AutoShape 145"/>
          <p:cNvSpPr>
            <a:spLocks noChangeArrowheads="1"/>
          </p:cNvSpPr>
          <p:nvPr/>
        </p:nvSpPr>
        <p:spPr bwMode="auto">
          <a:xfrm>
            <a:off x="539874" y="548680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zh-CN" altLang="en-US" sz="900" b="1" dirty="0" smtClean="0">
                <a:solidFill>
                  <a:schemeClr val="bg1"/>
                </a:solidFill>
                <a:latin typeface="Century Gothic" pitchFamily="34" charset="0"/>
              </a:rPr>
              <a:t>臺北發出</a:t>
            </a: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P/R</a:t>
            </a:r>
            <a:r>
              <a:rPr lang="zh-CN" altLang="en-US" sz="900" b="1" dirty="0" smtClean="0">
                <a:solidFill>
                  <a:schemeClr val="bg1"/>
                </a:solidFill>
                <a:latin typeface="Century Gothic" pitchFamily="34" charset="0"/>
              </a:rPr>
              <a:t>需求</a:t>
            </a:r>
            <a:endParaRPr lang="en-US" altLang="zh-TW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40" name="文字方塊 39"/>
          <p:cNvSpPr txBox="1"/>
          <p:nvPr/>
        </p:nvSpPr>
        <p:spPr bwMode="auto">
          <a:xfrm>
            <a:off x="2484090" y="1628800"/>
            <a:ext cx="3672408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sz="1200" b="1" dirty="0" smtClean="0">
                <a:latin typeface="+mn-ea"/>
                <a:ea typeface="+mn-ea"/>
              </a:rPr>
              <a:t>(2)</a:t>
            </a:r>
            <a:r>
              <a:rPr kumimoji="0" lang="zh-CN" altLang="en-US" sz="1200" b="1" dirty="0" smtClean="0">
                <a:latin typeface="+mn-ea"/>
                <a:ea typeface="+mn-ea"/>
              </a:rPr>
              <a:t>填寫</a:t>
            </a:r>
            <a:r>
              <a:rPr kumimoji="0" lang="en-US" altLang="zh-CN" sz="1200" b="1" dirty="0" smtClean="0">
                <a:latin typeface="+mn-ea"/>
                <a:ea typeface="+mn-ea"/>
              </a:rPr>
              <a:t>P/R</a:t>
            </a:r>
            <a:r>
              <a:rPr kumimoji="0" lang="zh-CN" altLang="en-US" sz="1200" b="1" dirty="0" smtClean="0">
                <a:latin typeface="+mn-ea"/>
                <a:ea typeface="+mn-ea"/>
              </a:rPr>
              <a:t>平臺、數量、料號</a:t>
            </a:r>
            <a:endParaRPr kumimoji="0" lang="zh-TW" altLang="en-US" sz="1200" b="1" dirty="0" smtClean="0">
              <a:latin typeface="+mn-ea"/>
              <a:ea typeface="+mn-ea"/>
            </a:endParaRPr>
          </a:p>
        </p:txBody>
      </p:sp>
      <p:cxnSp>
        <p:nvCxnSpPr>
          <p:cNvPr id="41" name="直線單箭頭接點 146"/>
          <p:cNvCxnSpPr/>
          <p:nvPr/>
        </p:nvCxnSpPr>
        <p:spPr bwMode="auto">
          <a:xfrm>
            <a:off x="1331962" y="908720"/>
            <a:ext cx="3558" cy="49793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 bwMode="auto">
          <a:xfrm>
            <a:off x="2556098" y="2204864"/>
            <a:ext cx="410445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sz="1200" b="1" dirty="0" smtClean="0">
                <a:latin typeface="+mn-ea"/>
                <a:ea typeface="+mn-ea"/>
              </a:rPr>
              <a:t>(1)</a:t>
            </a:r>
            <a:r>
              <a:rPr kumimoji="0" lang="zh-CN" altLang="en-US" sz="1200" b="1" dirty="0" smtClean="0">
                <a:latin typeface="+mn-ea"/>
                <a:ea typeface="+mn-ea"/>
              </a:rPr>
              <a:t>接到郵件提醒后   頁面選擇 “</a:t>
            </a:r>
            <a:r>
              <a:rPr kumimoji="0" lang="zh-CN" altLang="en-US" sz="1200" b="1" dirty="0" smtClean="0">
                <a:solidFill>
                  <a:srgbClr val="00CC00"/>
                </a:solidFill>
                <a:latin typeface="+mn-ea"/>
                <a:ea typeface="+mn-ea"/>
              </a:rPr>
              <a:t>同意</a:t>
            </a:r>
            <a:r>
              <a:rPr kumimoji="0" lang="zh-CN" altLang="en-US" sz="1200" b="1" dirty="0" smtClean="0">
                <a:latin typeface="+mn-ea"/>
                <a:ea typeface="+mn-ea"/>
              </a:rPr>
              <a:t>”或者“</a:t>
            </a:r>
            <a:r>
              <a:rPr kumimoji="0" lang="zh-CN" altLang="en-US" sz="1200" b="1" dirty="0" smtClean="0">
                <a:solidFill>
                  <a:srgbClr val="FF0000"/>
                </a:solidFill>
                <a:latin typeface="+mn-ea"/>
                <a:ea typeface="+mn-ea"/>
              </a:rPr>
              <a:t>拒絕</a:t>
            </a:r>
            <a:r>
              <a:rPr kumimoji="0" lang="zh-CN" altLang="en-US" sz="1200" b="1" dirty="0" smtClean="0">
                <a:latin typeface="+mn-ea"/>
                <a:ea typeface="+mn-ea"/>
              </a:rPr>
              <a:t>”</a:t>
            </a:r>
            <a:endParaRPr kumimoji="0" lang="zh-TW" altLang="en-US" sz="1200" b="1" dirty="0" smtClean="0">
              <a:latin typeface="+mn-ea"/>
              <a:ea typeface="+mn-ea"/>
            </a:endParaRPr>
          </a:p>
        </p:txBody>
      </p:sp>
      <p:sp>
        <p:nvSpPr>
          <p:cNvPr id="44" name="文字方塊 43"/>
          <p:cNvSpPr txBox="1"/>
          <p:nvPr/>
        </p:nvSpPr>
        <p:spPr bwMode="auto">
          <a:xfrm>
            <a:off x="2556098" y="2492896"/>
            <a:ext cx="388843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sz="1200" b="1" dirty="0" smtClean="0">
                <a:latin typeface="+mn-ea"/>
                <a:ea typeface="+mn-ea"/>
              </a:rPr>
              <a:t>(2)</a:t>
            </a:r>
            <a:r>
              <a:rPr kumimoji="0" lang="zh-CN" altLang="en-US" sz="1200" b="1" dirty="0" smtClean="0">
                <a:latin typeface="+mn-ea"/>
                <a:ea typeface="+mn-ea"/>
              </a:rPr>
              <a:t>“</a:t>
            </a:r>
            <a:r>
              <a:rPr kumimoji="0" lang="zh-CN" altLang="en-US" sz="1200" b="1" dirty="0" smtClean="0">
                <a:solidFill>
                  <a:srgbClr val="FF0000"/>
                </a:solidFill>
                <a:latin typeface="+mn-ea"/>
                <a:ea typeface="+mn-ea"/>
              </a:rPr>
              <a:t>拒絕</a:t>
            </a:r>
            <a:r>
              <a:rPr kumimoji="0" lang="zh-CN" altLang="en-US" sz="1200" b="1" dirty="0" smtClean="0">
                <a:latin typeface="+mn-ea"/>
                <a:ea typeface="+mn-ea"/>
              </a:rPr>
              <a:t>”后直接結案並郵件通知申請人</a:t>
            </a:r>
            <a:endParaRPr kumimoji="0" lang="zh-TW" altLang="en-US" sz="1200" b="1" dirty="0" smtClean="0">
              <a:latin typeface="+mn-ea"/>
              <a:ea typeface="+mn-ea"/>
            </a:endParaRPr>
          </a:p>
        </p:txBody>
      </p:sp>
      <p:sp>
        <p:nvSpPr>
          <p:cNvPr id="45" name="右大括号 16"/>
          <p:cNvSpPr/>
          <p:nvPr/>
        </p:nvSpPr>
        <p:spPr>
          <a:xfrm rot="10800000">
            <a:off x="2196058" y="2132856"/>
            <a:ext cx="216024" cy="576064"/>
          </a:xfrm>
          <a:prstGeom prst="rightBrace">
            <a:avLst>
              <a:gd name="adj1" fmla="val 26790"/>
              <a:gd name="adj2" fmla="val 50000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右大括号 16"/>
          <p:cNvSpPr/>
          <p:nvPr/>
        </p:nvSpPr>
        <p:spPr>
          <a:xfrm rot="10800000">
            <a:off x="2124050" y="4365104"/>
            <a:ext cx="216024" cy="504056"/>
          </a:xfrm>
          <a:prstGeom prst="rightBrace">
            <a:avLst>
              <a:gd name="adj1" fmla="val 26790"/>
              <a:gd name="adj2" fmla="val 50000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字方塊 47"/>
          <p:cNvSpPr txBox="1"/>
          <p:nvPr/>
        </p:nvSpPr>
        <p:spPr bwMode="auto">
          <a:xfrm>
            <a:off x="2340074" y="4797152"/>
            <a:ext cx="27363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sz="1200" b="1" dirty="0" smtClean="0">
                <a:latin typeface="+mn-ea"/>
              </a:rPr>
              <a:t>(3)</a:t>
            </a:r>
            <a:r>
              <a:rPr kumimoji="0" lang="zh-CN" altLang="en-US" sz="1200" b="1" dirty="0" smtClean="0">
                <a:latin typeface="+mn-ea"/>
              </a:rPr>
              <a:t>該綫課長提交表單</a:t>
            </a:r>
            <a:endParaRPr kumimoji="0" lang="zh-TW" altLang="en-US" sz="1200" b="1" dirty="0" smtClean="0">
              <a:latin typeface="+mn-ea"/>
            </a:endParaRPr>
          </a:p>
        </p:txBody>
      </p:sp>
      <p:sp>
        <p:nvSpPr>
          <p:cNvPr id="49" name="右大括号 16"/>
          <p:cNvSpPr/>
          <p:nvPr/>
        </p:nvSpPr>
        <p:spPr>
          <a:xfrm rot="10800000">
            <a:off x="2196058" y="3717032"/>
            <a:ext cx="216024" cy="504056"/>
          </a:xfrm>
          <a:prstGeom prst="rightBrace">
            <a:avLst>
              <a:gd name="adj1" fmla="val 26790"/>
              <a:gd name="adj2" fmla="val 50000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字方塊 49"/>
          <p:cNvSpPr txBox="1"/>
          <p:nvPr/>
        </p:nvSpPr>
        <p:spPr bwMode="auto">
          <a:xfrm>
            <a:off x="2340074" y="3861048"/>
            <a:ext cx="27363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sz="1200" b="1" dirty="0" smtClean="0">
                <a:latin typeface="+mn-ea"/>
              </a:rPr>
              <a:t>(1)</a:t>
            </a:r>
            <a:r>
              <a:rPr kumimoji="0" lang="zh-CN" altLang="en-US" sz="1200" b="1" dirty="0" smtClean="0">
                <a:latin typeface="+mn-ea"/>
              </a:rPr>
              <a:t>提醒生產綫注意事項</a:t>
            </a:r>
            <a:endParaRPr kumimoji="0" lang="zh-TW" altLang="en-US" sz="1200" b="1" dirty="0" smtClean="0">
              <a:latin typeface="+mn-ea"/>
            </a:endParaRPr>
          </a:p>
        </p:txBody>
      </p:sp>
      <p:sp>
        <p:nvSpPr>
          <p:cNvPr id="51" name="文字方塊 50"/>
          <p:cNvSpPr txBox="1"/>
          <p:nvPr/>
        </p:nvSpPr>
        <p:spPr bwMode="auto">
          <a:xfrm>
            <a:off x="2340074" y="5157192"/>
            <a:ext cx="27363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sz="1200" b="1" dirty="0" smtClean="0">
                <a:latin typeface="+mn-ea"/>
              </a:rPr>
              <a:t>(1)</a:t>
            </a:r>
            <a:r>
              <a:rPr kumimoji="0" lang="zh-CN" altLang="en-US" sz="1200" b="1" dirty="0" smtClean="0">
                <a:latin typeface="+mn-ea"/>
              </a:rPr>
              <a:t>若  </a:t>
            </a:r>
            <a:r>
              <a:rPr kumimoji="0" lang="en-US" altLang="zh-CN" sz="1200" b="1" dirty="0" smtClean="0">
                <a:solidFill>
                  <a:srgbClr val="00CC00"/>
                </a:solidFill>
                <a:latin typeface="+mn-ea"/>
              </a:rPr>
              <a:t>PASS  </a:t>
            </a:r>
            <a:r>
              <a:rPr kumimoji="0" lang="zh-CN" altLang="en-US" sz="1200" b="1" dirty="0" smtClean="0">
                <a:latin typeface="+mn-ea"/>
              </a:rPr>
              <a:t>通知繼續流綫</a:t>
            </a:r>
            <a:endParaRPr kumimoji="0" lang="zh-TW" altLang="en-US" sz="1200" b="1" dirty="0" smtClean="0">
              <a:latin typeface="+mn-ea"/>
            </a:endParaRPr>
          </a:p>
        </p:txBody>
      </p:sp>
      <p:sp>
        <p:nvSpPr>
          <p:cNvPr id="52" name="文字方塊 51"/>
          <p:cNvSpPr txBox="1"/>
          <p:nvPr/>
        </p:nvSpPr>
        <p:spPr bwMode="auto">
          <a:xfrm>
            <a:off x="2340074" y="4581128"/>
            <a:ext cx="27363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sz="1200" b="1" dirty="0" smtClean="0">
                <a:latin typeface="+mn-ea"/>
              </a:rPr>
              <a:t>(2)</a:t>
            </a:r>
            <a:r>
              <a:rPr kumimoji="0" lang="zh-CN" altLang="en-US" sz="1200" b="1" dirty="0" smtClean="0">
                <a:latin typeface="+mn-ea"/>
              </a:rPr>
              <a:t>填寫生產綫別</a:t>
            </a:r>
            <a:endParaRPr kumimoji="0" lang="zh-TW" altLang="en-US" sz="1200" b="1" dirty="0" smtClean="0">
              <a:latin typeface="+mn-ea"/>
            </a:endParaRPr>
          </a:p>
        </p:txBody>
      </p:sp>
      <p:sp>
        <p:nvSpPr>
          <p:cNvPr id="53" name="右大括号 16"/>
          <p:cNvSpPr/>
          <p:nvPr/>
        </p:nvSpPr>
        <p:spPr>
          <a:xfrm rot="10800000">
            <a:off x="2124050" y="5085184"/>
            <a:ext cx="216024" cy="648072"/>
          </a:xfrm>
          <a:prstGeom prst="rightBrace">
            <a:avLst>
              <a:gd name="adj1" fmla="val 26790"/>
              <a:gd name="adj2" fmla="val 50000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字方塊 53"/>
          <p:cNvSpPr txBox="1"/>
          <p:nvPr/>
        </p:nvSpPr>
        <p:spPr bwMode="auto">
          <a:xfrm>
            <a:off x="2340074" y="5373216"/>
            <a:ext cx="27363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sz="1200" b="1" dirty="0" smtClean="0">
                <a:latin typeface="+mn-ea"/>
              </a:rPr>
              <a:t>(2)</a:t>
            </a:r>
            <a:r>
              <a:rPr kumimoji="0" lang="zh-CN" altLang="en-US" sz="1200" b="1" dirty="0" smtClean="0">
                <a:latin typeface="+mn-ea"/>
              </a:rPr>
              <a:t>若  </a:t>
            </a:r>
            <a:r>
              <a:rPr kumimoji="0" lang="en-US" altLang="zh-CN" sz="1200" b="1" dirty="0" smtClean="0">
                <a:solidFill>
                  <a:srgbClr val="FF0000"/>
                </a:solidFill>
                <a:latin typeface="+mn-ea"/>
              </a:rPr>
              <a:t>Fail </a:t>
            </a:r>
            <a:r>
              <a:rPr kumimoji="0" lang="en-US" altLang="zh-CN" sz="1200" b="1" dirty="0" smtClean="0">
                <a:latin typeface="+mn-ea"/>
              </a:rPr>
              <a:t> </a:t>
            </a:r>
            <a:r>
              <a:rPr kumimoji="0" lang="zh-CN" altLang="en-US" sz="1200" b="1" dirty="0" smtClean="0">
                <a:latin typeface="+mn-ea"/>
              </a:rPr>
              <a:t>通知</a:t>
            </a:r>
            <a:r>
              <a:rPr kumimoji="0" lang="en-US" altLang="zh-CN" sz="1200" b="1" dirty="0" smtClean="0">
                <a:latin typeface="+mn-ea"/>
              </a:rPr>
              <a:t>PE</a:t>
            </a:r>
            <a:r>
              <a:rPr kumimoji="0" lang="zh-CN" altLang="en-US" sz="1200" b="1" dirty="0" smtClean="0">
                <a:latin typeface="+mn-ea"/>
              </a:rPr>
              <a:t>負責人</a:t>
            </a:r>
            <a:endParaRPr kumimoji="0" lang="zh-TW" altLang="en-US" sz="1200" b="1" dirty="0" smtClean="0">
              <a:latin typeface="+mn-ea"/>
            </a:endParaRPr>
          </a:p>
        </p:txBody>
      </p:sp>
      <p:sp>
        <p:nvSpPr>
          <p:cNvPr id="55" name="文字方塊 54"/>
          <p:cNvSpPr txBox="1"/>
          <p:nvPr/>
        </p:nvSpPr>
        <p:spPr bwMode="auto">
          <a:xfrm>
            <a:off x="2340074" y="4365104"/>
            <a:ext cx="27363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sz="1200" b="1" dirty="0" smtClean="0">
                <a:latin typeface="+mn-ea"/>
              </a:rPr>
              <a:t>(1)P/R</a:t>
            </a:r>
            <a:r>
              <a:rPr kumimoji="0" lang="zh-CN" altLang="en-US" sz="1200" b="1" dirty="0" smtClean="0">
                <a:latin typeface="+mn-ea"/>
              </a:rPr>
              <a:t>機器需做好特殊標記</a:t>
            </a:r>
            <a:endParaRPr kumimoji="0" lang="zh-TW" altLang="en-US" sz="1200" b="1" dirty="0" smtClean="0">
              <a:latin typeface="+mn-ea"/>
            </a:endParaRPr>
          </a:p>
        </p:txBody>
      </p:sp>
      <p:sp>
        <p:nvSpPr>
          <p:cNvPr id="56" name="文字方塊 55"/>
          <p:cNvSpPr txBox="1"/>
          <p:nvPr/>
        </p:nvSpPr>
        <p:spPr bwMode="auto">
          <a:xfrm>
            <a:off x="2484090" y="1844824"/>
            <a:ext cx="36724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sz="1200" b="1" dirty="0" smtClean="0">
                <a:latin typeface="+mn-ea"/>
                <a:ea typeface="+mn-ea"/>
              </a:rPr>
              <a:t>(3)</a:t>
            </a:r>
            <a:r>
              <a:rPr kumimoji="0" lang="zh-CN" altLang="en-US" sz="1200" b="1" dirty="0" smtClean="0">
                <a:latin typeface="+mn-ea"/>
                <a:ea typeface="+mn-ea"/>
              </a:rPr>
              <a:t>指派</a:t>
            </a:r>
            <a:r>
              <a:rPr kumimoji="0" lang="en-US" altLang="zh-CN" sz="1200" b="1" dirty="0" smtClean="0">
                <a:latin typeface="+mn-ea"/>
              </a:rPr>
              <a:t>PE</a:t>
            </a:r>
            <a:r>
              <a:rPr kumimoji="0" lang="zh-CN" altLang="en-US" sz="1200" b="1" dirty="0" smtClean="0">
                <a:latin typeface="+mn-ea"/>
              </a:rPr>
              <a:t>負責人</a:t>
            </a:r>
            <a:endParaRPr kumimoji="0" lang="zh-TW" altLang="en-US" sz="1200" b="1" dirty="0" smtClean="0">
              <a:latin typeface="+mn-ea"/>
            </a:endParaRPr>
          </a:p>
          <a:p>
            <a:pPr eaLnBrk="0" hangingPunct="0">
              <a:spcBef>
                <a:spcPct val="50000"/>
              </a:spcBef>
            </a:pPr>
            <a:endParaRPr kumimoji="0" lang="zh-TW" altLang="en-US" sz="1200" b="1" dirty="0" smtClean="0">
              <a:latin typeface="+mn-ea"/>
              <a:ea typeface="+mn-ea"/>
            </a:endParaRPr>
          </a:p>
        </p:txBody>
      </p:sp>
      <p:sp>
        <p:nvSpPr>
          <p:cNvPr id="57" name="文字方塊 56"/>
          <p:cNvSpPr txBox="1"/>
          <p:nvPr/>
        </p:nvSpPr>
        <p:spPr bwMode="auto">
          <a:xfrm>
            <a:off x="2340074" y="5589240"/>
            <a:ext cx="27363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sz="1200" b="1" dirty="0" smtClean="0">
                <a:latin typeface="+mn-ea"/>
              </a:rPr>
              <a:t>(3)</a:t>
            </a:r>
            <a:r>
              <a:rPr kumimoji="0" lang="zh-CN" altLang="en-US" sz="1200" b="1" dirty="0" smtClean="0">
                <a:latin typeface="+mn-ea"/>
              </a:rPr>
              <a:t>提交表單</a:t>
            </a:r>
            <a:endParaRPr kumimoji="0" lang="zh-TW" altLang="en-US" sz="1200" b="1" dirty="0" smtClean="0">
              <a:latin typeface="+mn-ea"/>
            </a:endParaRPr>
          </a:p>
        </p:txBody>
      </p:sp>
      <p:sp>
        <p:nvSpPr>
          <p:cNvPr id="58" name="AutoShape 267"/>
          <p:cNvSpPr>
            <a:spLocks noChangeArrowheads="1"/>
          </p:cNvSpPr>
          <p:nvPr/>
        </p:nvSpPr>
        <p:spPr bwMode="auto">
          <a:xfrm>
            <a:off x="395858" y="5877272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EPIA</a:t>
            </a:r>
            <a:r>
              <a:rPr lang="zh-CN" altLang="en-US" sz="900" b="1" dirty="0" smtClean="0">
                <a:solidFill>
                  <a:schemeClr val="bg1"/>
                </a:solidFill>
                <a:latin typeface="Century Gothic" pitchFamily="34" charset="0"/>
              </a:rPr>
              <a:t>檢驗</a:t>
            </a:r>
            <a:endParaRPr lang="en-US" altLang="zh-CN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59" name="直線單箭頭接點 129"/>
          <p:cNvCxnSpPr/>
          <p:nvPr/>
        </p:nvCxnSpPr>
        <p:spPr bwMode="auto">
          <a:xfrm flipH="1">
            <a:off x="1259954" y="5517232"/>
            <a:ext cx="3558" cy="41980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文字方塊 61"/>
          <p:cNvSpPr txBox="1"/>
          <p:nvPr/>
        </p:nvSpPr>
        <p:spPr bwMode="auto">
          <a:xfrm>
            <a:off x="2340074" y="5805264"/>
            <a:ext cx="27363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sz="1200" b="1" dirty="0" smtClean="0">
                <a:latin typeface="+mn-ea"/>
              </a:rPr>
              <a:t>(1)</a:t>
            </a:r>
            <a:r>
              <a:rPr kumimoji="0" lang="zh-CN" altLang="en-US" sz="1200" b="1" dirty="0" smtClean="0">
                <a:latin typeface="+mn-ea"/>
              </a:rPr>
              <a:t>若  </a:t>
            </a:r>
            <a:r>
              <a:rPr kumimoji="0" lang="en-US" altLang="zh-CN" sz="1200" b="1" dirty="0" smtClean="0">
                <a:solidFill>
                  <a:srgbClr val="00CC00"/>
                </a:solidFill>
                <a:latin typeface="+mn-ea"/>
              </a:rPr>
              <a:t>PASS  </a:t>
            </a:r>
            <a:r>
              <a:rPr kumimoji="0" lang="zh-CN" altLang="en-US" sz="1200" b="1" dirty="0" smtClean="0">
                <a:latin typeface="+mn-ea"/>
              </a:rPr>
              <a:t>通知繼續流綫</a:t>
            </a:r>
            <a:endParaRPr kumimoji="0" lang="zh-TW" altLang="en-US" sz="1200" b="1" dirty="0" smtClean="0">
              <a:latin typeface="+mn-ea"/>
            </a:endParaRPr>
          </a:p>
        </p:txBody>
      </p:sp>
      <p:sp>
        <p:nvSpPr>
          <p:cNvPr id="63" name="右大括号 16"/>
          <p:cNvSpPr/>
          <p:nvPr/>
        </p:nvSpPr>
        <p:spPr>
          <a:xfrm rot="10800000">
            <a:off x="2124050" y="5733256"/>
            <a:ext cx="216024" cy="648072"/>
          </a:xfrm>
          <a:prstGeom prst="rightBrace">
            <a:avLst>
              <a:gd name="adj1" fmla="val 26790"/>
              <a:gd name="adj2" fmla="val 50000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字方塊 63"/>
          <p:cNvSpPr txBox="1"/>
          <p:nvPr/>
        </p:nvSpPr>
        <p:spPr bwMode="auto">
          <a:xfrm>
            <a:off x="6948586" y="5949280"/>
            <a:ext cx="27363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sz="1200" b="1" dirty="0" smtClean="0">
                <a:latin typeface="+mn-ea"/>
              </a:rPr>
              <a:t>(2)</a:t>
            </a:r>
            <a:r>
              <a:rPr kumimoji="0" lang="zh-CN" altLang="en-US" sz="1200" b="1" dirty="0" smtClean="0">
                <a:latin typeface="+mn-ea"/>
              </a:rPr>
              <a:t>若  </a:t>
            </a:r>
            <a:r>
              <a:rPr kumimoji="0" lang="en-US" altLang="zh-CN" sz="1200" b="1" dirty="0" smtClean="0">
                <a:solidFill>
                  <a:srgbClr val="FF0000"/>
                </a:solidFill>
                <a:latin typeface="+mn-ea"/>
              </a:rPr>
              <a:t>Fail </a:t>
            </a:r>
            <a:r>
              <a:rPr kumimoji="0" lang="zh-CN" altLang="en-US" sz="1200" b="1" dirty="0" smtClean="0">
                <a:solidFill>
                  <a:srgbClr val="FF0000"/>
                </a:solidFill>
                <a:latin typeface="+mn-ea"/>
              </a:rPr>
              <a:t>再根據實際情況處理</a:t>
            </a:r>
            <a:endParaRPr kumimoji="0" lang="zh-TW" altLang="en-US" sz="1200" b="1" dirty="0" smtClean="0">
              <a:latin typeface="+mn-ea"/>
            </a:endParaRPr>
          </a:p>
        </p:txBody>
      </p:sp>
      <p:sp>
        <p:nvSpPr>
          <p:cNvPr id="65" name="文字方塊 64"/>
          <p:cNvSpPr txBox="1"/>
          <p:nvPr/>
        </p:nvSpPr>
        <p:spPr bwMode="auto">
          <a:xfrm>
            <a:off x="2340074" y="6237312"/>
            <a:ext cx="27363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sz="1200" b="1" dirty="0" smtClean="0">
                <a:latin typeface="+mn-ea"/>
              </a:rPr>
              <a:t>(3)</a:t>
            </a:r>
            <a:r>
              <a:rPr kumimoji="0" lang="zh-CN" altLang="en-US" sz="1200" b="1" dirty="0" smtClean="0">
                <a:latin typeface="+mn-ea"/>
              </a:rPr>
              <a:t>提交表單</a:t>
            </a:r>
            <a:endParaRPr kumimoji="0" lang="zh-TW" altLang="en-US" sz="1200" b="1" dirty="0" smtClean="0">
              <a:latin typeface="+mn-ea"/>
            </a:endParaRPr>
          </a:p>
        </p:txBody>
      </p:sp>
      <p:cxnSp>
        <p:nvCxnSpPr>
          <p:cNvPr id="66" name="直線單箭頭接點 129"/>
          <p:cNvCxnSpPr/>
          <p:nvPr/>
        </p:nvCxnSpPr>
        <p:spPr bwMode="auto">
          <a:xfrm>
            <a:off x="4356298" y="5877272"/>
            <a:ext cx="716522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AutoShape 267"/>
          <p:cNvSpPr>
            <a:spLocks noChangeArrowheads="1"/>
          </p:cNvSpPr>
          <p:nvPr/>
        </p:nvSpPr>
        <p:spPr bwMode="auto">
          <a:xfrm>
            <a:off x="5076378" y="5661248"/>
            <a:ext cx="1721076" cy="366164"/>
          </a:xfrm>
          <a:prstGeom prst="roundRect">
            <a:avLst>
              <a:gd name="adj" fmla="val 16667"/>
            </a:avLst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0" hangingPunct="0">
              <a:defRPr/>
            </a:pPr>
            <a:r>
              <a:rPr lang="en-US" altLang="zh-CN" sz="900" b="1" dirty="0" smtClean="0">
                <a:solidFill>
                  <a:schemeClr val="bg1"/>
                </a:solidFill>
                <a:latin typeface="Century Gothic" pitchFamily="34" charset="0"/>
              </a:rPr>
              <a:t>EE</a:t>
            </a:r>
            <a:r>
              <a:rPr lang="zh-CN" altLang="en-US" sz="900" b="1" dirty="0" smtClean="0">
                <a:solidFill>
                  <a:schemeClr val="bg1"/>
                </a:solidFill>
                <a:latin typeface="Century Gothic" pitchFamily="34" charset="0"/>
              </a:rPr>
              <a:t>審核</a:t>
            </a:r>
            <a:endParaRPr lang="en-US" altLang="zh-CN" sz="9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69" name="右大括号 16"/>
          <p:cNvSpPr/>
          <p:nvPr/>
        </p:nvSpPr>
        <p:spPr>
          <a:xfrm rot="10800000">
            <a:off x="6804570" y="5589240"/>
            <a:ext cx="216024" cy="648072"/>
          </a:xfrm>
          <a:prstGeom prst="rightBrace">
            <a:avLst>
              <a:gd name="adj1" fmla="val 26790"/>
              <a:gd name="adj2" fmla="val 50000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字方塊 69"/>
          <p:cNvSpPr txBox="1"/>
          <p:nvPr/>
        </p:nvSpPr>
        <p:spPr bwMode="auto">
          <a:xfrm>
            <a:off x="6948586" y="5589240"/>
            <a:ext cx="27363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sz="1200" b="1" dirty="0" smtClean="0">
                <a:latin typeface="+mn-ea"/>
              </a:rPr>
              <a:t>(1)</a:t>
            </a:r>
            <a:r>
              <a:rPr kumimoji="0" lang="zh-CN" altLang="en-US" sz="1200" b="1" dirty="0" smtClean="0">
                <a:latin typeface="+mn-ea"/>
              </a:rPr>
              <a:t>若  </a:t>
            </a:r>
            <a:r>
              <a:rPr kumimoji="0" lang="en-US" altLang="zh-CN" sz="1200" b="1" dirty="0" smtClean="0">
                <a:solidFill>
                  <a:srgbClr val="00CC00"/>
                </a:solidFill>
                <a:latin typeface="+mn-ea"/>
              </a:rPr>
              <a:t>PASS  </a:t>
            </a:r>
            <a:r>
              <a:rPr kumimoji="0" lang="zh-CN" altLang="en-US" sz="1200" b="1" dirty="0" smtClean="0">
                <a:latin typeface="+mn-ea"/>
              </a:rPr>
              <a:t>通知繼續流綫</a:t>
            </a:r>
            <a:endParaRPr kumimoji="0" lang="zh-TW" altLang="en-US" sz="1200" b="1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Century Gothic" pitchFamily="34" charset="0"/>
              </a:rPr>
              <a:t>Thank YOU!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latin typeface="Century Gothic" pitchFamily="34" charset="0"/>
              </a:rPr>
              <a:t>Questions and Answers</a:t>
            </a:r>
            <a:endParaRPr lang="zh-TW" altLang="en-US" dirty="0" smtClean="0">
              <a:latin typeface="Century Gothic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>
        <a:spAutoFit/>
      </a:bodyPr>
      <a:lstStyle>
        <a:defPPr algn="ctr" eaLnBrk="0" hangingPunct="0">
          <a:spcBef>
            <a:spcPct val="50000"/>
          </a:spcBef>
          <a:defRPr kumimoji="0" sz="700" dirty="0" smtClean="0">
            <a:solidFill>
              <a:schemeClr val="accent3">
                <a:lumMod val="75000"/>
              </a:schemeClr>
            </a:solidFill>
            <a:latin typeface="Century Gothic" pitchFamily="34" charset="0"/>
            <a:ea typeface="細明體" pitchFamily="49" charset="-12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26081</TotalTime>
  <Words>200</Words>
  <Application>Microsoft Office PowerPoint</Application>
  <PresentationFormat>自訂</PresentationFormat>
  <Paragraphs>34</Paragraphs>
  <Slides>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5" baseType="lpstr">
      <vt:lpstr>Futura Bk</vt:lpstr>
      <vt:lpstr>Futura Hv</vt:lpstr>
      <vt:lpstr>宋体</vt:lpstr>
      <vt:lpstr>华文细黑</vt:lpstr>
      <vt:lpstr>微軟正黑體</vt:lpstr>
      <vt:lpstr>新細明體</vt:lpstr>
      <vt:lpstr>Arial</vt:lpstr>
      <vt:lpstr>Calibri</vt:lpstr>
      <vt:lpstr>Century Gothic</vt:lpstr>
      <vt:lpstr>Impact</vt:lpstr>
      <vt:lpstr>Wingdings 3</vt:lpstr>
      <vt:lpstr>Office 佈景主題</vt:lpstr>
      <vt:lpstr>IMES  Recording System</vt:lpstr>
      <vt:lpstr>BIOS   P/R</vt:lpstr>
      <vt:lpstr>Thank YOU!</vt:lpstr>
    </vt:vector>
  </TitlesOfParts>
  <Company>Inventec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IEC970760</dc:creator>
  <cp:lastModifiedBy>Lee.VincentKS 李坤樹 IEC1</cp:lastModifiedBy>
  <cp:revision>2304</cp:revision>
  <cp:lastPrinted>2011-07-21T10:17:21Z</cp:lastPrinted>
  <dcterms:created xsi:type="dcterms:W3CDTF">2009-02-10T10:12:43Z</dcterms:created>
  <dcterms:modified xsi:type="dcterms:W3CDTF">2014-12-25T02:02:52Z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/>
  </property>
  <property fmtid="{D5CDD505-2E9C-101B-9397-08002B2CF9AE}" pid="3" name="SPSDescription">
    <vt:lpwstr/>
  </property>
  <property fmtid="{D5CDD505-2E9C-101B-9397-08002B2CF9AE}" pid="4" name="Status">
    <vt:lpwstr/>
  </property>
</Properties>
</file>