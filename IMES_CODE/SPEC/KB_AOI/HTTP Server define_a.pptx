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5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4FB067-3344-44C7-A746-10064332E31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3982EC-3543-4AE8-960B-42C4ADBD0A4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72812-5CAB-44AB-AF21-762F3A17ACA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25BA65-B844-44EF-A601-257500406642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53D6CB-E775-49B2-880A-0AB6113D491D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1ECD13-0BE5-47C0-B78B-ECBCC37902CF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CB00AE-2D5D-4A4F-ABBA-4281A0D8711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022D7-56B8-49EB-BEC0-41004E14FB8A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7CD4A9-CB4A-4067-8716-BE0D24E992A9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B32208-5FDB-4B7C-9A75-E546E152F64B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347116-710D-4C13-99AC-4C9FF4E3955B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3DD2D8B9-8269-4A7D-88F6-ED3211E8A57C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686/AOI?SN=CNU1234567&amp;KBPartNo=698694-041&amp;LabelPartNo" TargetMode="External"/><Relationship Id="rId2" Type="http://schemas.openxmlformats.org/officeDocument/2006/relationships/hyperlink" Target="http://localhost:8686/AOI?S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686/AOI?SN=CNU1234567&amp;KBPartNo=698694-041&amp;LabelPartNo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990600" y="798513"/>
            <a:ext cx="1987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chemeClr val="accent2"/>
                </a:solidFill>
              </a:rPr>
              <a:t>KB AOI Program</a:t>
            </a:r>
          </a:p>
          <a:p>
            <a:r>
              <a:rPr lang="en-US" altLang="zh-TW" b="1" dirty="0">
                <a:solidFill>
                  <a:schemeClr val="accent2"/>
                </a:solidFill>
              </a:rPr>
              <a:t>  (HTTP Server)</a:t>
            </a: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4800600" y="806450"/>
            <a:ext cx="299085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chemeClr val="accent2"/>
                </a:solidFill>
              </a:rPr>
              <a:t>Label Inspection Program</a:t>
            </a:r>
          </a:p>
          <a:p>
            <a:r>
              <a:rPr lang="en-US" altLang="zh-TW" b="1" dirty="0">
                <a:solidFill>
                  <a:schemeClr val="accent2"/>
                </a:solidFill>
              </a:rPr>
              <a:t>  </a:t>
            </a:r>
            <a:r>
              <a:rPr lang="en-US" altLang="zh-TW" b="1" dirty="0" smtClean="0">
                <a:solidFill>
                  <a:schemeClr val="accent2"/>
                </a:solidFill>
              </a:rPr>
              <a:t>          (</a:t>
            </a:r>
            <a:r>
              <a:rPr lang="en-US" altLang="zh-TW" b="1" dirty="0">
                <a:solidFill>
                  <a:schemeClr val="accent2"/>
                </a:solidFill>
              </a:rPr>
              <a:t>Client Side)</a:t>
            </a:r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981200" y="1447800"/>
            <a:ext cx="0" cy="518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 flipH="1">
            <a:off x="6305550" y="1371600"/>
            <a:ext cx="19050" cy="518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4105" name="Line 9"/>
          <p:cNvSpPr>
            <a:spLocks noChangeShapeType="1"/>
          </p:cNvSpPr>
          <p:nvPr/>
        </p:nvSpPr>
        <p:spPr bwMode="auto">
          <a:xfrm flipH="1">
            <a:off x="1962150" y="2895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1219200" y="2557046"/>
            <a:ext cx="5570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1600" dirty="0">
                <a:hlinkClick r:id="rId2"/>
              </a:rPr>
              <a:t>http://</a:t>
            </a:r>
            <a:r>
              <a:rPr lang="en-US" altLang="zh-TW" sz="1600" dirty="0" smtClean="0">
                <a:hlinkClick r:id="rId2"/>
              </a:rPr>
              <a:t>localhost:8686/AOI?SN</a:t>
            </a:r>
            <a:r>
              <a:rPr lang="en-US" altLang="zh-TW" sz="1600" dirty="0" smtClean="0">
                <a:hlinkClick r:id="rId2"/>
              </a:rPr>
              <a:t>= &amp;</a:t>
            </a:r>
            <a:r>
              <a:rPr lang="en-US" altLang="zh-TW" sz="1600" dirty="0" err="1" smtClean="0">
                <a:hlinkClick r:id="rId2"/>
              </a:rPr>
              <a:t>KBPartNo</a:t>
            </a:r>
            <a:r>
              <a:rPr lang="en-US" altLang="zh-TW" sz="1600" dirty="0" smtClean="0">
                <a:hlinkClick r:id="rId2"/>
              </a:rPr>
              <a:t>=&amp;</a:t>
            </a:r>
            <a:r>
              <a:rPr lang="en-US" altLang="zh-TW" sz="1600" dirty="0" err="1" smtClean="0">
                <a:hlinkClick r:id="rId3"/>
              </a:rPr>
              <a:t>LabelPartNo</a:t>
            </a:r>
            <a:r>
              <a:rPr lang="en-US" altLang="zh-TW" sz="1600" dirty="0" smtClean="0">
                <a:hlinkClick r:id="rId2"/>
              </a:rPr>
              <a:t>=</a:t>
            </a:r>
            <a:endParaRPr lang="en-US" altLang="zh-TW" sz="1600" dirty="0">
              <a:hlinkClick r:id="rId2"/>
            </a:endParaRPr>
          </a:p>
        </p:txBody>
      </p:sp>
      <p:sp>
        <p:nvSpPr>
          <p:cNvPr id="4107" name="Line 11"/>
          <p:cNvSpPr>
            <a:spLocks noChangeShapeType="1"/>
          </p:cNvSpPr>
          <p:nvPr/>
        </p:nvSpPr>
        <p:spPr bwMode="auto">
          <a:xfrm>
            <a:off x="1962150" y="6172200"/>
            <a:ext cx="4362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3200400" y="6324600"/>
            <a:ext cx="213667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1200" b="1" dirty="0" smtClean="0"/>
              <a:t>Validation Pass/Fail Result</a:t>
            </a:r>
            <a:endParaRPr lang="en-US" altLang="zh-TW" sz="1200" dirty="0"/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441325" y="265113"/>
            <a:ext cx="8045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b="1"/>
              <a:t>Program communication definition between HTTP server and Client side</a:t>
            </a:r>
          </a:p>
        </p:txBody>
      </p:sp>
      <p:sp>
        <p:nvSpPr>
          <p:cNvPr id="14" name="矩形 13"/>
          <p:cNvSpPr/>
          <p:nvPr/>
        </p:nvSpPr>
        <p:spPr>
          <a:xfrm>
            <a:off x="590550" y="3048000"/>
            <a:ext cx="2743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dirty="0" smtClean="0">
                <a:solidFill>
                  <a:schemeClr val="tx1"/>
                </a:solidFill>
              </a:rPr>
              <a:t>Get the SN and start the KB vision </a:t>
            </a:r>
            <a:r>
              <a:rPr lang="en-US" altLang="zh-TW" sz="1400" dirty="0" smtClean="0">
                <a:solidFill>
                  <a:schemeClr val="tx1"/>
                </a:solidFill>
              </a:rPr>
              <a:t>inspection</a:t>
            </a:r>
            <a:endParaRPr lang="en-US" altLang="zh-TW" sz="1400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95800" y="1676400"/>
            <a:ext cx="3657600" cy="8382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dirty="0" smtClean="0">
                <a:solidFill>
                  <a:schemeClr val="tx1"/>
                </a:solidFill>
              </a:rPr>
              <a:t>Generate xml included  SN ,KB </a:t>
            </a:r>
            <a:r>
              <a:rPr lang="en-US" altLang="zh-TW" sz="1400" dirty="0" err="1" smtClean="0">
                <a:solidFill>
                  <a:schemeClr val="tx1"/>
                </a:solidFill>
              </a:rPr>
              <a:t>PartNo</a:t>
            </a:r>
            <a:r>
              <a:rPr lang="en-US" altLang="zh-TW" sz="1400" dirty="0" smtClean="0">
                <a:solidFill>
                  <a:schemeClr val="tx1"/>
                </a:solidFill>
              </a:rPr>
              <a:t> and Label </a:t>
            </a:r>
            <a:r>
              <a:rPr lang="en-US" altLang="zh-TW" sz="1400" dirty="0" err="1" smtClean="0">
                <a:solidFill>
                  <a:schemeClr val="tx1"/>
                </a:solidFill>
              </a:rPr>
              <a:t>PartNo</a:t>
            </a:r>
            <a:r>
              <a:rPr lang="en-US" altLang="zh-TW" sz="1400" dirty="0">
                <a:solidFill>
                  <a:schemeClr val="tx1"/>
                </a:solidFill>
              </a:rPr>
              <a:t> </a:t>
            </a:r>
            <a:r>
              <a:rPr lang="en-US" altLang="zh-TW" sz="1400" dirty="0" smtClean="0">
                <a:solidFill>
                  <a:schemeClr val="tx1"/>
                </a:solidFill>
              </a:rPr>
              <a:t>(page2)</a:t>
            </a:r>
            <a:endParaRPr lang="en-US" altLang="zh-TW" sz="14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90550" y="5105400"/>
            <a:ext cx="2743200" cy="8382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dirty="0" smtClean="0">
                <a:solidFill>
                  <a:schemeClr val="tx1"/>
                </a:solidFill>
              </a:rPr>
              <a:t>Generate xml included test result (Page3)</a:t>
            </a:r>
            <a:endParaRPr lang="en-US" altLang="zh-TW" sz="1400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600" y="4114800"/>
            <a:ext cx="2743200" cy="838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dirty="0" smtClean="0">
                <a:solidFill>
                  <a:schemeClr val="tx1"/>
                </a:solidFill>
              </a:rPr>
              <a:t>Tool Inspection </a:t>
            </a:r>
            <a:r>
              <a:rPr lang="en-US" altLang="zh-TW" sz="1400" dirty="0" err="1" smtClean="0">
                <a:solidFill>
                  <a:schemeClr val="tx1"/>
                </a:solidFill>
              </a:rPr>
              <a:t>KeyBoard</a:t>
            </a:r>
            <a:r>
              <a:rPr lang="en-US" altLang="zh-TW" sz="1400" dirty="0" smtClean="0">
                <a:solidFill>
                  <a:schemeClr val="tx1"/>
                </a:solidFill>
              </a:rPr>
              <a:t> &amp; Label Process</a:t>
            </a:r>
            <a:endParaRPr lang="en-US" altLang="zh-TW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TW" sz="3600" dirty="0" smtClean="0"/>
              <a:t>Http Client </a:t>
            </a:r>
            <a:r>
              <a:rPr lang="en-US" altLang="zh-TW" sz="3600" dirty="0" smtClean="0"/>
              <a:t>Post/Get </a:t>
            </a:r>
            <a:r>
              <a:rPr lang="en-US" altLang="zh-TW" sz="3600" dirty="0" smtClean="0"/>
              <a:t>Mode XML Format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 altLang="zh-TW" sz="2400" dirty="0" err="1" smtClean="0"/>
              <a:t>RequestHeader</a:t>
            </a:r>
            <a:endParaRPr lang="en-US" altLang="zh-TW" sz="2400" dirty="0" smtClean="0"/>
          </a:p>
          <a:p>
            <a:pPr lvl="1"/>
            <a:r>
              <a:rPr lang="en-US" altLang="zh-TW" sz="2000" dirty="0" smtClean="0"/>
              <a:t>"Content-Type", "application/xml; </a:t>
            </a:r>
            <a:r>
              <a:rPr lang="en-US" altLang="zh-TW" sz="2000" dirty="0" err="1" smtClean="0"/>
              <a:t>charset</a:t>
            </a:r>
            <a:r>
              <a:rPr lang="en-US" altLang="zh-TW" sz="2000" dirty="0" smtClean="0"/>
              <a:t>=utf-8“</a:t>
            </a:r>
          </a:p>
          <a:p>
            <a:pPr lvl="1"/>
            <a:endParaRPr lang="en-US" altLang="zh-TW" sz="2000" dirty="0" smtClean="0"/>
          </a:p>
          <a:p>
            <a:r>
              <a:rPr lang="en-US" altLang="zh-TW" sz="2400" dirty="0" smtClean="0"/>
              <a:t>Request URL parameter</a:t>
            </a:r>
          </a:p>
          <a:p>
            <a:pPr lvl="1"/>
            <a:r>
              <a:rPr lang="en-US" altLang="zh-TW" sz="2000" dirty="0" smtClean="0"/>
              <a:t>Request  Parameter</a:t>
            </a:r>
          </a:p>
          <a:p>
            <a:pPr lvl="2"/>
            <a:r>
              <a:rPr lang="en-US" altLang="zh-TW" sz="1600" dirty="0" smtClean="0"/>
              <a:t>SN: Customer SN</a:t>
            </a:r>
          </a:p>
          <a:p>
            <a:pPr lvl="2"/>
            <a:r>
              <a:rPr lang="en-US" altLang="zh-TW" sz="1600" dirty="0" err="1" smtClean="0"/>
              <a:t>KBPartNo</a:t>
            </a:r>
            <a:r>
              <a:rPr lang="en-US" altLang="zh-TW" sz="1600" dirty="0" smtClean="0"/>
              <a:t>: keyboard part Number</a:t>
            </a:r>
          </a:p>
          <a:p>
            <a:pPr lvl="2"/>
            <a:r>
              <a:rPr lang="en-US" altLang="zh-TW" sz="1600" dirty="0" err="1" smtClean="0"/>
              <a:t>LabelPartNo</a:t>
            </a:r>
            <a:r>
              <a:rPr lang="en-US" altLang="zh-TW" sz="1600" dirty="0" smtClean="0"/>
              <a:t>: if more than one label part then the </a:t>
            </a:r>
            <a:r>
              <a:rPr lang="en-US" altLang="zh-TW" sz="1600" dirty="0" err="1" smtClean="0"/>
              <a:t>delimeter</a:t>
            </a:r>
            <a:r>
              <a:rPr lang="en-US" altLang="zh-TW" sz="1600" dirty="0" smtClean="0"/>
              <a:t> is ‘,’ </a:t>
            </a:r>
            <a:endParaRPr lang="en-US" altLang="zh-TW" sz="1600" dirty="0" smtClean="0"/>
          </a:p>
          <a:p>
            <a:pPr lvl="2"/>
            <a:endParaRPr lang="en-US" altLang="zh-TW" sz="1600" dirty="0" smtClean="0">
              <a:hlinkClick r:id="rId2"/>
            </a:endParaRPr>
          </a:p>
          <a:p>
            <a:pPr lvl="1"/>
            <a:r>
              <a:rPr lang="en-US" altLang="zh-TW" sz="2000" dirty="0" smtClean="0">
                <a:hlinkClick r:id="rId2"/>
              </a:rPr>
              <a:t>http</a:t>
            </a:r>
            <a:r>
              <a:rPr lang="en-US" altLang="zh-TW" sz="2000" dirty="0" smtClean="0">
                <a:hlinkClick r:id="rId2"/>
              </a:rPr>
              <a:t>://</a:t>
            </a:r>
            <a:r>
              <a:rPr lang="en-US" altLang="zh-TW" sz="2000" dirty="0" smtClean="0">
                <a:hlinkClick r:id="rId2"/>
              </a:rPr>
              <a:t>localhost:8686/AOI?SN=CNU1234567&amp;KBPartNo=6986941&amp;LabelPartNo=6054B1146103​,6060B1469901​,6Z60B1226101</a:t>
            </a:r>
          </a:p>
          <a:p>
            <a:pPr marL="342900" lvl="1" indent="-342900">
              <a:buChar char="•"/>
            </a:pPr>
            <a:endParaRPr lang="zh-TW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 smtClean="0"/>
              <a:t>Http Server response XML Format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800" dirty="0" smtClean="0"/>
              <a:t>Response Header</a:t>
            </a:r>
          </a:p>
          <a:p>
            <a:pPr lvl="1">
              <a:buNone/>
            </a:pPr>
            <a:r>
              <a:rPr lang="en-US" altLang="zh-TW" sz="1400" dirty="0" smtClean="0"/>
              <a:t>HTTP/1.1 200 OK</a:t>
            </a:r>
          </a:p>
          <a:p>
            <a:pPr lvl="1">
              <a:buNone/>
            </a:pPr>
            <a:r>
              <a:rPr lang="en-US" altLang="zh-TW" sz="1400" dirty="0" smtClean="0"/>
              <a:t>Content-Type: text/html</a:t>
            </a:r>
          </a:p>
          <a:p>
            <a:pPr lvl="1">
              <a:buNone/>
            </a:pPr>
            <a:r>
              <a:rPr lang="en-US" altLang="zh-TW" sz="1400" dirty="0" smtClean="0"/>
              <a:t>Content-Length: 149</a:t>
            </a:r>
          </a:p>
          <a:p>
            <a:pPr lvl="1">
              <a:buNone/>
            </a:pPr>
            <a:r>
              <a:rPr lang="en-US" altLang="zh-TW" sz="1400" dirty="0" smtClean="0"/>
              <a:t>Accept-Ranges: bytes</a:t>
            </a:r>
          </a:p>
          <a:p>
            <a:pPr lvl="1">
              <a:buNone/>
            </a:pPr>
            <a:r>
              <a:rPr lang="en-US" altLang="zh-TW" sz="1400" dirty="0" smtClean="0"/>
              <a:t>Access-Control-Allow-Origin: *</a:t>
            </a:r>
          </a:p>
          <a:p>
            <a:pPr lvl="1">
              <a:buNone/>
            </a:pPr>
            <a:r>
              <a:rPr lang="en-US" altLang="zh-TW" sz="1400" dirty="0" smtClean="0"/>
              <a:t>Connection: close</a:t>
            </a:r>
          </a:p>
          <a:p>
            <a:r>
              <a:rPr lang="en-US" altLang="zh-TW" sz="1800" dirty="0" smtClean="0"/>
              <a:t>Response </a:t>
            </a:r>
            <a:r>
              <a:rPr lang="en-US" altLang="zh-TW" sz="1800" dirty="0" smtClean="0"/>
              <a:t>Content </a:t>
            </a:r>
          </a:p>
          <a:p>
            <a:pPr lvl="1">
              <a:buNone/>
            </a:pPr>
            <a:r>
              <a:rPr lang="en-US" altLang="zh-TW" sz="1600" dirty="0" smtClean="0"/>
              <a:t>&lt;?xml version=“1.0" encoding="utf-8"?&gt;</a:t>
            </a:r>
          </a:p>
          <a:p>
            <a:pPr lvl="1">
              <a:buNone/>
            </a:pPr>
            <a:r>
              <a:rPr lang="en-US" altLang="zh-TW" sz="1600" dirty="0" smtClean="0"/>
              <a:t>&lt;Device&gt;</a:t>
            </a:r>
          </a:p>
          <a:p>
            <a:pPr lvl="1">
              <a:buNone/>
            </a:pPr>
            <a:r>
              <a:rPr lang="en-US" altLang="zh-TW" sz="1600" dirty="0" smtClean="0"/>
              <a:t>    &lt;SN&gt;Serial Number &lt;/SN&gt;</a:t>
            </a:r>
          </a:p>
          <a:p>
            <a:pPr lvl="1">
              <a:buNone/>
            </a:pPr>
            <a:r>
              <a:rPr lang="zh-TW" altLang="en-US" sz="1600" dirty="0" smtClean="0"/>
              <a:t>    </a:t>
            </a:r>
            <a:r>
              <a:rPr lang="en-US" altLang="zh-TW" sz="1600" dirty="0" smtClean="0"/>
              <a:t>&lt;Result&gt;Pass or Fail &lt;/Result &gt; </a:t>
            </a:r>
            <a:r>
              <a:rPr lang="en-US" altLang="zh-TW" sz="1600" dirty="0" smtClean="0">
                <a:solidFill>
                  <a:srgbClr val="FF0000"/>
                </a:solidFill>
              </a:rPr>
              <a:t>=&gt; </a:t>
            </a:r>
            <a:r>
              <a:rPr lang="zh-TW" altLang="en-US" sz="1600" dirty="0" smtClean="0">
                <a:solidFill>
                  <a:srgbClr val="FF0000"/>
                </a:solidFill>
              </a:rPr>
              <a:t>有分大小寫</a:t>
            </a:r>
            <a:r>
              <a:rPr lang="en-US" altLang="zh-TW" sz="1600" dirty="0" smtClean="0">
                <a:solidFill>
                  <a:srgbClr val="FF0000"/>
                </a:solidFill>
              </a:rPr>
              <a:t>Pass </a:t>
            </a:r>
            <a:r>
              <a:rPr lang="zh-TW" altLang="en-US" sz="1600" dirty="0" smtClean="0">
                <a:solidFill>
                  <a:srgbClr val="FF0000"/>
                </a:solidFill>
              </a:rPr>
              <a:t>或 </a:t>
            </a:r>
            <a:r>
              <a:rPr lang="en-US" altLang="zh-TW" sz="1600" dirty="0" smtClean="0">
                <a:solidFill>
                  <a:srgbClr val="FF0000"/>
                </a:solidFill>
              </a:rPr>
              <a:t>Fail</a:t>
            </a:r>
          </a:p>
          <a:p>
            <a:pPr lvl="1">
              <a:buNone/>
            </a:pPr>
            <a:r>
              <a:rPr lang="en-US" altLang="zh-TW" sz="1600" dirty="0" smtClean="0"/>
              <a:t>    &lt;</a:t>
            </a:r>
            <a:r>
              <a:rPr lang="en-US" altLang="zh-TW" sz="1600" dirty="0" err="1" smtClean="0"/>
              <a:t>ErrorCode</a:t>
            </a:r>
            <a:r>
              <a:rPr lang="en-US" altLang="zh-TW" sz="1600" dirty="0" smtClean="0"/>
              <a:t>&gt; Error Code&lt;/</a:t>
            </a:r>
            <a:r>
              <a:rPr lang="en-US" altLang="zh-TW" sz="1600" dirty="0" err="1" smtClean="0"/>
              <a:t>ErrorCode</a:t>
            </a:r>
            <a:r>
              <a:rPr lang="en-US" altLang="zh-TW" sz="1600" dirty="0" smtClean="0"/>
              <a:t>&gt;</a:t>
            </a:r>
          </a:p>
          <a:p>
            <a:pPr lvl="1">
              <a:buNone/>
            </a:pPr>
            <a:r>
              <a:rPr lang="en-US" altLang="zh-TW" sz="1600" dirty="0"/>
              <a:t> </a:t>
            </a:r>
            <a:r>
              <a:rPr lang="en-US" altLang="zh-TW" sz="1600" dirty="0" smtClean="0"/>
              <a:t>   &lt;</a:t>
            </a:r>
            <a:r>
              <a:rPr lang="en-US" altLang="zh-TW" sz="1600" dirty="0" err="1" smtClean="0"/>
              <a:t>ErrorDescr</a:t>
            </a:r>
            <a:r>
              <a:rPr lang="en-US" altLang="zh-TW" sz="1600" dirty="0" smtClean="0"/>
              <a:t>&gt;Error Description &lt;/</a:t>
            </a:r>
            <a:r>
              <a:rPr lang="en-US" altLang="zh-TW" sz="1600" dirty="0" err="1" smtClean="0"/>
              <a:t>ErrorDescr</a:t>
            </a:r>
            <a:r>
              <a:rPr lang="en-US" altLang="zh-TW" sz="1600" dirty="0" smtClean="0"/>
              <a:t>&gt;</a:t>
            </a:r>
          </a:p>
          <a:p>
            <a:pPr lvl="1">
              <a:buNone/>
            </a:pPr>
            <a:r>
              <a:rPr lang="en-US" altLang="zh-TW" sz="1600" dirty="0" smtClean="0"/>
              <a:t>&lt;/Device&gt;</a:t>
            </a:r>
            <a:endParaRPr lang="zh-TW" altLang="en-US" sz="1600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</TotalTime>
  <Words>206</Words>
  <Application>Microsoft Office PowerPoint</Application>
  <PresentationFormat>如螢幕大小 (4:3)</PresentationFormat>
  <Paragraphs>38</Paragraphs>
  <Slides>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預設簡報設計</vt:lpstr>
      <vt:lpstr>投影片 1</vt:lpstr>
      <vt:lpstr>Http Client Post/Get Mode XML Format</vt:lpstr>
      <vt:lpstr>Http Server response XML Format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Lee, Vincent K.S. (李坤樹 IEC1)</dc:creator>
  <cp:lastModifiedBy>IEC990282</cp:lastModifiedBy>
  <cp:revision>28</cp:revision>
  <cp:lastPrinted>1601-01-01T00:00:00Z</cp:lastPrinted>
  <dcterms:created xsi:type="dcterms:W3CDTF">1601-01-01T00:00:00Z</dcterms:created>
  <dcterms:modified xsi:type="dcterms:W3CDTF">2014-01-20T05:39:39Z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