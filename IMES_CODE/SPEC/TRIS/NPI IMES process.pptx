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96" r:id="rId2"/>
    <p:sldId id="428" r:id="rId3"/>
    <p:sldId id="432" r:id="rId4"/>
    <p:sldId id="430" r:id="rId5"/>
    <p:sldId id="431" r:id="rId6"/>
    <p:sldId id="425" r:id="rId7"/>
  </p:sldIdLst>
  <p:sldSz cx="9864725" cy="6858000"/>
  <p:notesSz cx="6954838" cy="93091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07214" indent="-30116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815738" indent="-61541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224261" indent="-92966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631475" indent="-123081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1885493" algn="l" defTabSz="754197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262591" algn="l" defTabSz="754197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2639690" algn="l" defTabSz="754197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016788" algn="l" defTabSz="754197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66"/>
    <a:srgbClr val="3C3CCB"/>
    <a:srgbClr val="969696"/>
    <a:srgbClr val="00CC00"/>
    <a:srgbClr val="18187C"/>
    <a:srgbClr val="2222A3"/>
    <a:srgbClr val="5F5F5F"/>
    <a:srgbClr val="FFFFCC"/>
    <a:srgbClr val="FFFF99"/>
    <a:srgbClr val="2F2F9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24" autoAdjust="0"/>
    <p:restoredTop sz="99477" autoAdjust="0"/>
  </p:normalViewPr>
  <p:slideViewPr>
    <p:cSldViewPr>
      <p:cViewPr>
        <p:scale>
          <a:sx n="80" d="100"/>
          <a:sy n="80" d="100"/>
        </p:scale>
        <p:origin x="-990" y="-204"/>
      </p:cViewPr>
      <p:guideLst>
        <p:guide orient="horz" pos="2160"/>
        <p:guide pos="31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50" d="100"/>
          <a:sy n="150" d="100"/>
        </p:scale>
        <p:origin x="-576" y="5508"/>
      </p:cViewPr>
      <p:guideLst>
        <p:guide orient="horz" pos="2932"/>
        <p:guide pos="219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939471" y="4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8E70883B-0366-43FB-AB96-83A5DD81E155}" type="datetime1">
              <a:rPr lang="zh-CN" altLang="en-US"/>
              <a:pPr>
                <a:defRPr/>
              </a:pPr>
              <a:t>2015/5/26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5" y="8842033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939471" y="8842033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6698F91F-B81E-42F0-B9FA-2BDCA204830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943609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939471" y="4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D1D8F231-9D25-45F9-97D1-D1B29317D77D}" type="datetime1">
              <a:rPr lang="zh-CN" altLang="en-US"/>
              <a:pPr>
                <a:defRPr/>
              </a:pPr>
              <a:t>2015/5/26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698500"/>
            <a:ext cx="50212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243" tIns="49122" rIns="98243" bIns="49122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159126" y="4363640"/>
            <a:ext cx="4709038" cy="4247278"/>
          </a:xfrm>
          <a:prstGeom prst="rect">
            <a:avLst/>
          </a:prstGeom>
        </p:spPr>
        <p:txBody>
          <a:bodyPr vert="horz" lIns="98243" tIns="49122" rIns="98243" bIns="49122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5" y="8842033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939471" y="8842033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6562F04E-86B6-4C1E-B584-DCB014B4349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270152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07214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15738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24261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31475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40857" algn="l" defTabSz="81634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9029" algn="l" defTabSz="81634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57200" algn="l" defTabSz="81634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65372" algn="l" defTabSz="81634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62F04E-86B6-4C1E-B584-DCB014B43497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62F04E-86B6-4C1E-B584-DCB014B43497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62F04E-86B6-4C1E-B584-DCB014B43497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6788" y="698500"/>
            <a:ext cx="5021262" cy="34909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62F04E-86B6-4C1E-B584-DCB014B43497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9864725" cy="421432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5" tIns="40817" rIns="81635" bIns="408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latin typeface="+mj-lt"/>
              <a:ea typeface="微軟正黑體" pitchFamily="34" charset="-120"/>
            </a:endParaRPr>
          </a:p>
        </p:txBody>
      </p:sp>
      <p:sp>
        <p:nvSpPr>
          <p:cNvPr id="5" name="矩形 4"/>
          <p:cNvSpPr/>
          <p:nvPr userDrawn="1"/>
        </p:nvSpPr>
        <p:spPr>
          <a:xfrm flipV="1">
            <a:off x="0" y="3571388"/>
            <a:ext cx="9864725" cy="328661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5" tIns="40817" rIns="81635" bIns="408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latin typeface="+mj-lt"/>
              <a:ea typeface="微軟正黑體" pitchFamily="34" charset="-12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71575"/>
            <a:ext cx="9864725" cy="178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內容版面配置區 5" descr="Inventec Logo_Min.wmf"/>
          <p:cNvPicPr>
            <a:picLocks noChangeAspect="1"/>
          </p:cNvPicPr>
          <p:nvPr userDrawn="1"/>
        </p:nvPicPr>
        <p:blipFill>
          <a:blip r:embed="rId3" cstate="print"/>
          <a:srcRect t="28120" b="31445"/>
          <a:stretch>
            <a:fillRect/>
          </a:stretch>
        </p:blipFill>
        <p:spPr bwMode="auto">
          <a:xfrm>
            <a:off x="4" y="2714140"/>
            <a:ext cx="4716537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24088" y="2786061"/>
            <a:ext cx="5240637" cy="655633"/>
          </a:xfrm>
          <a:effectLst/>
        </p:spPr>
        <p:txBody>
          <a:bodyPr>
            <a:noAutofit/>
          </a:bodyPr>
          <a:lstStyle>
            <a:lvl1pPr algn="l">
              <a:defRPr sz="25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85309" y="3714752"/>
            <a:ext cx="5240637" cy="785818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08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6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4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2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40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9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5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 bwMode="auto">
          <a:xfrm>
            <a:off x="-3161" y="-5871"/>
            <a:ext cx="9859981" cy="371377"/>
          </a:xfrm>
          <a:prstGeom prst="rect">
            <a:avLst/>
          </a:prstGeom>
          <a:gradFill>
            <a:gsLst>
              <a:gs pos="0">
                <a:srgbClr val="18187C"/>
              </a:gs>
              <a:gs pos="80000">
                <a:srgbClr val="2222A3"/>
              </a:gs>
              <a:gs pos="100000">
                <a:srgbClr val="3C3CCB"/>
              </a:gs>
            </a:gsLst>
          </a:gradFill>
          <a:ln>
            <a:solidFill>
              <a:srgbClr val="2F2F9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>
              <a:defRPr/>
            </a:pPr>
            <a:endParaRPr lang="zh-CN" altLang="en-US" sz="1600" dirty="0">
              <a:solidFill>
                <a:srgbClr val="FFFFFF"/>
              </a:solidFill>
              <a:latin typeface="Futura Hv" pitchFamily="34" charset="0"/>
            </a:endParaRPr>
          </a:p>
        </p:txBody>
      </p:sp>
      <p:sp>
        <p:nvSpPr>
          <p:cNvPr id="5" name="对角圆角矩形 4">
            <a:hlinkClick r:id="rId2" action="ppaction://hlinksldjump"/>
          </p:cNvPr>
          <p:cNvSpPr/>
          <p:nvPr userDrawn="1"/>
        </p:nvSpPr>
        <p:spPr bwMode="auto">
          <a:xfrm>
            <a:off x="165195" y="81169"/>
            <a:ext cx="642390" cy="215033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B050"/>
          </a:solidFill>
          <a:ln>
            <a:noFill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81635" tIns="40817" rIns="81635" bIns="40817" anchor="ctr"/>
          <a:lstStyle/>
          <a:p>
            <a:pPr algn="ctr">
              <a:defRPr/>
            </a:pPr>
            <a:r>
              <a:rPr lang="en-US" altLang="zh-CN" sz="1100" dirty="0" smtClean="0">
                <a:solidFill>
                  <a:schemeClr val="bg1"/>
                </a:solidFill>
                <a:latin typeface="Impact" pitchFamily="34" charset="0"/>
              </a:rPr>
              <a:t>HOME</a:t>
            </a:r>
            <a:endParaRPr lang="zh-CN" altLang="en-US" sz="1100" dirty="0">
              <a:solidFill>
                <a:schemeClr val="bg1"/>
              </a:solidFill>
              <a:latin typeface="Impact" pitchFamily="34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627870" y="21587"/>
            <a:ext cx="4581350" cy="33027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81635" tIns="40817" rIns="81635" bIns="40817" numCol="1" anchor="ctr" anchorCtr="0" compatLnSpc="1">
            <a:prstTxWarp prst="textNoShape">
              <a:avLst/>
            </a:prstTxWarp>
          </a:bodyPr>
          <a:lstStyle>
            <a:lvl1pPr>
              <a:def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innerShdw blurRad="63500" dist="254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Futura Bk" pitchFamily="34" charset="0"/>
                <a:ea typeface="微軟正黑體" pitchFamily="34" charset="-120"/>
                <a:cs typeface="+mj-cs"/>
              </a:defRPr>
            </a:lvl1pPr>
          </a:lstStyle>
          <a:p>
            <a:pPr marL="0" marR="0" lvl="0" indent="0" algn="ctr" defTabSz="75419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ckground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lum bright="-10000"/>
            <a:grayscl/>
          </a:blip>
          <a:srcRect l="3947" t="1276" r="1305"/>
          <a:stretch>
            <a:fillRect/>
          </a:stretch>
        </p:blipFill>
        <p:spPr bwMode="auto">
          <a:xfrm>
            <a:off x="303579" y="819085"/>
            <a:ext cx="9317651" cy="5398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0970" y="3308349"/>
            <a:ext cx="8400489" cy="714379"/>
          </a:xfrm>
          <a:effectLst/>
        </p:spPr>
        <p:txBody>
          <a:bodyPr anchor="t"/>
          <a:lstStyle>
            <a:lvl1pPr algn="l">
              <a:defRPr sz="3500" b="1" cap="all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62378" y="4071945"/>
            <a:ext cx="8400489" cy="450849"/>
          </a:xfrm>
        </p:spPr>
        <p:txBody>
          <a:bodyPr anchor="b"/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081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163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245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326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408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4902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6537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w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群組 6"/>
          <p:cNvGrpSpPr>
            <a:grpSpLocks/>
          </p:cNvGrpSpPr>
          <p:nvPr/>
        </p:nvGrpSpPr>
        <p:grpSpPr bwMode="auto">
          <a:xfrm>
            <a:off x="0" y="-42570"/>
            <a:ext cx="9864725" cy="6900570"/>
            <a:chOff x="0" y="0"/>
            <a:chExt cx="9144000" cy="6900301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0"/>
              <a:ext cx="9144000" cy="649077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6467561"/>
              <a:ext cx="9144000" cy="43274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93319" y="274500"/>
            <a:ext cx="8878094" cy="79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1635" tIns="40817" rIns="81635" bIns="408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93319" y="1285876"/>
            <a:ext cx="8878094" cy="48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1635" tIns="40817" rIns="81635" bIns="408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pic>
        <p:nvPicPr>
          <p:cNvPr id="1031" name="內容版面配置區 5" descr="Inventec Logo_Min.wmf"/>
          <p:cNvPicPr>
            <a:picLocks noChangeAspect="1"/>
          </p:cNvPicPr>
          <p:nvPr/>
        </p:nvPicPr>
        <p:blipFill>
          <a:blip r:embed="rId5" cstate="print"/>
          <a:srcRect t="28120" b="31445"/>
          <a:stretch>
            <a:fillRect/>
          </a:stretch>
        </p:blipFill>
        <p:spPr bwMode="auto">
          <a:xfrm>
            <a:off x="8014796" y="6533598"/>
            <a:ext cx="1849933" cy="252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页脚占位符 3"/>
          <p:cNvSpPr txBox="1">
            <a:spLocks/>
          </p:cNvSpPr>
          <p:nvPr userDrawn="1"/>
        </p:nvSpPr>
        <p:spPr>
          <a:xfrm>
            <a:off x="3575040" y="6492495"/>
            <a:ext cx="3122750" cy="365505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900" kern="1200" noProof="0" dirty="0" smtClean="0">
                <a:solidFill>
                  <a:srgbClr val="898989"/>
                </a:solidFill>
                <a:latin typeface="Century Gothic" pitchFamily="34" charset="0"/>
                <a:ea typeface="新細明體" pitchFamily="18" charset="-120"/>
                <a:cs typeface="+mn-cs"/>
              </a:rPr>
              <a:t>Inventec Confidential</a:t>
            </a:r>
            <a:endParaRPr kumimoji="0" lang="zh-TW" altLang="en-US" sz="900" kern="1200" noProof="0" dirty="0">
              <a:solidFill>
                <a:srgbClr val="898989"/>
              </a:solidFill>
              <a:latin typeface="Century Gothic" pitchFamily="34" charset="0"/>
              <a:ea typeface="新細明體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3" r:id="rId1"/>
    <p:sldLayoutId id="2147484905" r:id="rId2"/>
    <p:sldLayoutId id="2147484914" r:id="rId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5pPr>
      <a:lvl6pPr marL="408171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6pPr>
      <a:lvl7pPr marL="816343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7pPr>
      <a:lvl8pPr marL="122451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8pPr>
      <a:lvl9pPr marL="1632686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9pPr>
    </p:titleStyle>
    <p:bodyStyle>
      <a:lvl1pPr marL="305084" indent="-30508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+mj-lt"/>
          <a:ea typeface="微軟正黑體" pitchFamily="34" charset="-120"/>
          <a:cs typeface="+mn-cs"/>
        </a:defRPr>
      </a:lvl1pPr>
      <a:lvl2pPr marL="662541" indent="-25401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rgbClr val="262626"/>
          </a:solidFill>
          <a:latin typeface="+mj-lt"/>
          <a:ea typeface="微軟正黑體" pitchFamily="34" charset="-120"/>
          <a:cs typeface="+mn-cs"/>
        </a:defRPr>
      </a:lvl2pPr>
      <a:lvl3pPr marL="1020000" indent="-2029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rgbClr val="404040"/>
          </a:solidFill>
          <a:latin typeface="+mj-lt"/>
          <a:ea typeface="微軟正黑體" pitchFamily="34" charset="-120"/>
          <a:cs typeface="+mn-cs"/>
        </a:defRPr>
      </a:lvl3pPr>
      <a:lvl4pPr marL="1428523" indent="-2029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rgbClr val="595959"/>
          </a:solidFill>
          <a:latin typeface="+mj-lt"/>
          <a:ea typeface="微軟正黑體" pitchFamily="34" charset="-120"/>
          <a:cs typeface="+mn-cs"/>
        </a:defRPr>
      </a:lvl4pPr>
      <a:lvl5pPr marL="1835737" indent="-2029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rgbClr val="7F7F7F"/>
          </a:solidFill>
          <a:latin typeface="+mj-lt"/>
          <a:ea typeface="微軟正黑體" pitchFamily="34" charset="-120"/>
          <a:cs typeface="+mn-cs"/>
        </a:defRPr>
      </a:lvl5pPr>
      <a:lvl6pPr marL="2244943" indent="-204086" algn="l" defTabSz="8163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114" indent="-204086" algn="l" defTabSz="8163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286" indent="-204086" algn="l" defTabSz="8163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58" indent="-204086" algn="l" defTabSz="8163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171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343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515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686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57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029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200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372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46610" y="2890410"/>
            <a:ext cx="5072098" cy="574874"/>
          </a:xfrm>
          <a:effectLst>
            <a:outerShdw blurRad="25400" dist="12700" dir="5400000" algn="ctr" rotWithShape="0">
              <a:schemeClr val="bg1">
                <a:alpha val="85000"/>
              </a:scheme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CN" sz="3200" dirty="0" smtClean="0">
                <a:ea typeface="华文细黑" pitchFamily="2" charset="-122"/>
                <a:cs typeface="Arial" pitchFamily="34" charset="0"/>
              </a:rPr>
              <a:t>HP NPI IMES FLOW CHART</a:t>
            </a:r>
            <a:endParaRPr kumimoji="1" lang="en-US" altLang="zh-TW" sz="3200" dirty="0" smtClean="0">
              <a:ea typeface="华文细黑" pitchFamily="2" charset="-122"/>
              <a:cs typeface="Arial" pitchFamily="34" charset="0"/>
            </a:endParaRPr>
          </a:p>
        </p:txBody>
      </p:sp>
      <p:sp>
        <p:nvSpPr>
          <p:cNvPr id="4" name="副標題 2"/>
          <p:cNvSpPr>
            <a:spLocks noGrp="1"/>
          </p:cNvSpPr>
          <p:nvPr>
            <p:ph type="subTitle" idx="4294967295"/>
          </p:nvPr>
        </p:nvSpPr>
        <p:spPr>
          <a:xfrm>
            <a:off x="3003536" y="4338649"/>
            <a:ext cx="6505575" cy="733425"/>
          </a:xfrm>
        </p:spPr>
        <p:txBody>
          <a:bodyPr>
            <a:normAutofit fontScale="92500" lnSpcReduction="20000"/>
          </a:bodyPr>
          <a:lstStyle/>
          <a:p>
            <a:pPr marL="274320" indent="-274320"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altLang="zh-TW" dirty="0" smtClean="0">
                <a:latin typeface="+mn-lt"/>
                <a:cs typeface="Arial" pitchFamily="34" charset="0"/>
              </a:rPr>
              <a:t>Yao, Moon</a:t>
            </a:r>
          </a:p>
          <a:p>
            <a:pPr marL="274320" indent="-274320"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altLang="zh-TW" dirty="0" smtClean="0">
                <a:latin typeface="+mn-lt"/>
                <a:cs typeface="Arial" pitchFamily="34" charset="0"/>
              </a:rPr>
              <a:t>2015-05-21</a:t>
            </a:r>
            <a:endParaRPr lang="zh-TW" altLang="en-US" dirty="0">
              <a:latin typeface="+mn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7870" y="19460"/>
            <a:ext cx="4581350" cy="33027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81635" tIns="40817" rIns="81635" bIns="40817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zh-TW" dirty="0" smtClean="0">
                <a:effectLst/>
                <a:latin typeface="Century Gothic" pitchFamily="34" charset="0"/>
              </a:rPr>
              <a:t>NPI IMES R</a:t>
            </a:r>
            <a:r>
              <a:rPr lang="en-US" altLang="zh-CN" dirty="0" smtClean="0">
                <a:effectLst/>
                <a:latin typeface="Century Gothic" pitchFamily="34" charset="0"/>
              </a:rPr>
              <a:t>ule</a:t>
            </a:r>
            <a:r>
              <a:rPr lang="en-US" altLang="zh-TW" dirty="0" smtClean="0">
                <a:effectLst/>
                <a:latin typeface="Century Gothic" pitchFamily="34" charset="0"/>
              </a:rPr>
              <a:t> </a:t>
            </a:r>
            <a:r>
              <a:rPr lang="en-US" altLang="zh-CN" dirty="0" smtClean="0">
                <a:effectLst/>
                <a:latin typeface="Century Gothic" pitchFamily="34" charset="0"/>
              </a:rPr>
              <a:t>Description</a:t>
            </a:r>
            <a:endParaRPr lang="zh-CN" dirty="0" smtClean="0">
              <a:effectLst/>
              <a:latin typeface="Century Gothic" pitchFamily="34" charset="0"/>
            </a:endParaRPr>
          </a:p>
        </p:txBody>
      </p:sp>
      <p:grpSp>
        <p:nvGrpSpPr>
          <p:cNvPr id="3" name="组合 58"/>
          <p:cNvGrpSpPr/>
          <p:nvPr/>
        </p:nvGrpSpPr>
        <p:grpSpPr>
          <a:xfrm>
            <a:off x="-536" y="4857758"/>
            <a:ext cx="1003807" cy="1428762"/>
            <a:chOff x="-536" y="4857758"/>
            <a:chExt cx="1003807" cy="1428762"/>
          </a:xfrm>
        </p:grpSpPr>
        <p:sp>
          <p:nvSpPr>
            <p:cNvPr id="74" name="同侧圆角矩形 73"/>
            <p:cNvSpPr/>
            <p:nvPr/>
          </p:nvSpPr>
          <p:spPr>
            <a:xfrm rot="5400000">
              <a:off x="-213013" y="5070235"/>
              <a:ext cx="1428762" cy="100380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21787" y="5509575"/>
              <a:ext cx="325647" cy="109710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REPAIR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78" name="Rectangle 41"/>
            <p:cNvSpPr>
              <a:spLocks noChangeArrowheads="1"/>
            </p:cNvSpPr>
            <p:nvPr/>
          </p:nvSpPr>
          <p:spPr bwMode="auto">
            <a:xfrm>
              <a:off x="76987" y="5745977"/>
              <a:ext cx="143423" cy="13211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rPr>
                <a:t>A</a:t>
              </a:r>
              <a:endParaRPr lang="zh-TW" altLang="en-US" sz="700" b="1" dirty="0" smtClean="0">
                <a:solidFill>
                  <a:schemeClr val="bg1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21787" y="5700726"/>
              <a:ext cx="541257" cy="21431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NOT </a:t>
              </a:r>
            </a:p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1787" y="4986346"/>
              <a:ext cx="533637" cy="107722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21787" y="5200660"/>
              <a:ext cx="533638" cy="221626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Off-line</a:t>
              </a:r>
            </a:p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93" name="AutoShape 6"/>
            <p:cNvSpPr>
              <a:spLocks noChangeArrowheads="1"/>
            </p:cNvSpPr>
            <p:nvPr/>
          </p:nvSpPr>
          <p:spPr bwMode="auto">
            <a:xfrm>
              <a:off x="76987" y="5242527"/>
              <a:ext cx="143423" cy="132111"/>
            </a:xfrm>
            <a:prstGeom prst="roundRect">
              <a:avLst>
                <a:gd name="adj" fmla="val 16667"/>
              </a:avLst>
            </a:prstGeom>
            <a:ln w="19050"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effectLst>
                    <a:innerShdw blurRad="25400" dist="127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rPr>
                <a:t>A</a:t>
              </a:r>
              <a:endParaRPr lang="en-US" altLang="zh-TW" sz="700" b="1" dirty="0">
                <a:solidFill>
                  <a:schemeClr val="bg1"/>
                </a:solidFill>
                <a:effectLst>
                  <a:innerShdw blurRad="25400" dist="12700" dir="162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</a:endParaRPr>
            </a:p>
          </p:txBody>
        </p:sp>
        <p:sp>
          <p:nvSpPr>
            <p:cNvPr id="94" name="AutoShape 6"/>
            <p:cNvSpPr>
              <a:spLocks noChangeArrowheads="1"/>
            </p:cNvSpPr>
            <p:nvPr/>
          </p:nvSpPr>
          <p:spPr bwMode="auto">
            <a:xfrm>
              <a:off x="76987" y="6004891"/>
              <a:ext cx="143423" cy="132111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>
                    <a:shade val="51000"/>
                    <a:satMod val="130000"/>
                    <a:alpha val="50000"/>
                  </a:schemeClr>
                </a:gs>
                <a:gs pos="80000">
                  <a:schemeClr val="accent1">
                    <a:shade val="93000"/>
                    <a:satMod val="130000"/>
                    <a:alpha val="50000"/>
                  </a:schemeClr>
                </a:gs>
                <a:gs pos="100000">
                  <a:schemeClr val="accent1">
                    <a:shade val="94000"/>
                    <a:satMod val="135000"/>
                    <a:alpha val="50000"/>
                  </a:schemeClr>
                </a:gs>
              </a:gsLst>
            </a:gra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latin typeface="Century Gothic" pitchFamily="34" charset="0"/>
                </a:rPr>
                <a:t>A</a:t>
              </a:r>
              <a:endParaRPr lang="en-US" altLang="zh-TW" sz="700" b="1" dirty="0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21787" y="5961077"/>
              <a:ext cx="541257" cy="21544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Special  Demand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grpSp>
          <p:nvGrpSpPr>
            <p:cNvPr id="4" name="组合 117"/>
            <p:cNvGrpSpPr/>
            <p:nvPr/>
          </p:nvGrpSpPr>
          <p:grpSpPr>
            <a:xfrm>
              <a:off x="76987" y="4964909"/>
              <a:ext cx="142876" cy="160503"/>
              <a:chOff x="107919" y="4764885"/>
              <a:chExt cx="142876" cy="160503"/>
            </a:xfrm>
          </p:grpSpPr>
          <p:sp>
            <p:nvSpPr>
              <p:cNvPr id="98" name="同侧圆角矩形 97"/>
              <p:cNvSpPr/>
              <p:nvPr/>
            </p:nvSpPr>
            <p:spPr>
              <a:xfrm>
                <a:off x="107919" y="4764885"/>
                <a:ext cx="142876" cy="71438"/>
              </a:xfrm>
              <a:prstGeom prst="round2SameRect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eaLnBrk="0" hangingPunct="0">
                  <a:defRPr/>
                </a:pPr>
                <a:endParaRPr lang="zh-CN" altLang="en-US" sz="300" b="1" dirty="0">
                  <a:solidFill>
                    <a:schemeClr val="bg1"/>
                  </a:solidFill>
                  <a:effectLst>
                    <a:innerShdw blurRad="25400" dist="127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endParaRPr>
              </a:p>
            </p:txBody>
          </p:sp>
          <p:sp>
            <p:nvSpPr>
              <p:cNvPr id="99" name="同侧圆角矩形 98"/>
              <p:cNvSpPr/>
              <p:nvPr/>
            </p:nvSpPr>
            <p:spPr>
              <a:xfrm flipV="1">
                <a:off x="107919" y="4853950"/>
                <a:ext cx="142876" cy="71438"/>
              </a:xfrm>
              <a:prstGeom prst="round2SameRect">
                <a:avLst/>
              </a:prstGeom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 sz="900" b="1" dirty="0" smtClean="0">
                  <a:latin typeface="Century Gothic" pitchFamily="34" charset="0"/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 bwMode="auto">
              <a:xfrm>
                <a:off x="107919" y="4791085"/>
                <a:ext cx="142876" cy="1077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0" lang="en-US" altLang="zh-CN" sz="700" b="1" dirty="0" smtClean="0">
                    <a:solidFill>
                      <a:schemeClr val="bg1"/>
                    </a:solidFill>
                    <a:latin typeface="Century Gothic" pitchFamily="34" charset="0"/>
                    <a:ea typeface="細明體" pitchFamily="49" charset="-120"/>
                  </a:rPr>
                  <a:t>A</a:t>
                </a:r>
                <a:endParaRPr kumimoji="0" lang="zh-CN" altLang="en-US" sz="700" b="1" dirty="0" smtClean="0">
                  <a:solidFill>
                    <a:schemeClr val="bg1"/>
                  </a:solidFill>
                  <a:latin typeface="Century Gothic" pitchFamily="34" charset="0"/>
                  <a:ea typeface="細明體" pitchFamily="49" charset="-120"/>
                </a:endParaRPr>
              </a:p>
            </p:txBody>
          </p:sp>
        </p:grpSp>
        <p:sp>
          <p:nvSpPr>
            <p:cNvPr id="97" name="流程图: 手动操作 96"/>
            <p:cNvSpPr/>
            <p:nvPr/>
          </p:nvSpPr>
          <p:spPr>
            <a:xfrm>
              <a:off x="73454" y="5500700"/>
              <a:ext cx="144000" cy="108000"/>
            </a:xfrm>
            <a:prstGeom prst="flowChartManualOperation">
              <a:avLst/>
            </a:prstGeom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latin typeface="Century Gothic" pitchFamily="34" charset="0"/>
                </a:rPr>
                <a:t>A</a:t>
              </a:r>
              <a:endParaRPr lang="zh-CN" altLang="en-US" sz="700" b="1" dirty="0" smtClean="0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</p:grpSp>
      <p:sp>
        <p:nvSpPr>
          <p:cNvPr id="59" name="內容版面配置區 2"/>
          <p:cNvSpPr>
            <a:spLocks noGrp="1"/>
          </p:cNvSpPr>
          <p:nvPr>
            <p:ph idx="1"/>
          </p:nvPr>
        </p:nvSpPr>
        <p:spPr>
          <a:xfrm>
            <a:off x="467866" y="676944"/>
            <a:ext cx="8712968" cy="4840288"/>
          </a:xfrm>
        </p:spPr>
        <p:txBody>
          <a:bodyPr/>
          <a:lstStyle/>
          <a:p>
            <a:pPr>
              <a:buNone/>
            </a:pPr>
            <a:r>
              <a:rPr lang="zh-CN" altLang="en-US" sz="2000" dirty="0" smtClean="0">
                <a:latin typeface="微軟正黑體" pitchFamily="34" charset="-120"/>
              </a:rPr>
              <a:t>数据库：整合到</a:t>
            </a:r>
            <a:r>
              <a:rPr lang="en-US" altLang="zh-CN" sz="2000" dirty="0" smtClean="0">
                <a:latin typeface="微軟正黑體" pitchFamily="34" charset="-120"/>
              </a:rPr>
              <a:t>IMES</a:t>
            </a:r>
            <a:r>
              <a:rPr lang="zh-CN" altLang="en-US" sz="2000" dirty="0" smtClean="0">
                <a:latin typeface="微軟正黑體" pitchFamily="34" charset="-120"/>
              </a:rPr>
              <a:t>服务器，建立独立的</a:t>
            </a:r>
            <a:r>
              <a:rPr lang="en-US" altLang="zh-CN" sz="2000" dirty="0" smtClean="0">
                <a:latin typeface="微軟正黑體" pitchFamily="34" charset="-120"/>
              </a:rPr>
              <a:t>TRIS</a:t>
            </a:r>
            <a:r>
              <a:rPr lang="zh-CN" altLang="en-US" sz="2000" dirty="0" smtClean="0">
                <a:latin typeface="微軟正黑體" pitchFamily="34" charset="-120"/>
              </a:rPr>
              <a:t>数据库。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zh-CN" altLang="en-US" sz="2000" dirty="0" smtClean="0">
                <a:latin typeface="微軟正黑體" pitchFamily="34" charset="-120"/>
              </a:rPr>
              <a:t>页面模块：在</a:t>
            </a:r>
            <a:r>
              <a:rPr lang="en-US" altLang="zh-CN" sz="2000" dirty="0" smtClean="0">
                <a:latin typeface="微軟正黑體" pitchFamily="34" charset="-120"/>
              </a:rPr>
              <a:t>IMES</a:t>
            </a:r>
            <a:r>
              <a:rPr lang="zh-CN" altLang="en-US" sz="2000" dirty="0" smtClean="0">
                <a:latin typeface="微軟正黑體" pitchFamily="34" charset="-120"/>
              </a:rPr>
              <a:t>框架下，建立独立的</a:t>
            </a:r>
            <a:r>
              <a:rPr lang="en-US" altLang="zh-CN" sz="2000" dirty="0" smtClean="0">
                <a:latin typeface="微軟正黑體" pitchFamily="34" charset="-120"/>
              </a:rPr>
              <a:t>TRIS</a:t>
            </a:r>
            <a:r>
              <a:rPr lang="zh-CN" altLang="en-US" sz="2000" dirty="0" smtClean="0">
                <a:latin typeface="微軟正黑體" pitchFamily="34" charset="-120"/>
              </a:rPr>
              <a:t>模块，结构参照</a:t>
            </a:r>
            <a:r>
              <a:rPr lang="en-US" altLang="zh-CN" sz="2000" dirty="0" smtClean="0">
                <a:latin typeface="微軟正黑體" pitchFamily="34" charset="-120"/>
              </a:rPr>
              <a:t>docking</a:t>
            </a:r>
            <a:r>
              <a:rPr lang="zh-CN" altLang="en-US" sz="2000" dirty="0" smtClean="0">
                <a:latin typeface="微軟正黑體" pitchFamily="34" charset="-120"/>
              </a:rPr>
              <a:t>模块。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zh-CN" altLang="en-US" sz="2000" dirty="0" smtClean="0">
                <a:latin typeface="微軟正黑體" pitchFamily="34" charset="-120"/>
              </a:rPr>
              <a:t>标签打印：建立</a:t>
            </a:r>
            <a:r>
              <a:rPr lang="en-US" altLang="zh-CN" sz="2000" dirty="0" smtClean="0">
                <a:latin typeface="微軟正黑體" pitchFamily="34" charset="-120"/>
              </a:rPr>
              <a:t>IMES</a:t>
            </a:r>
            <a:r>
              <a:rPr lang="zh-CN" altLang="en-US" sz="2000" dirty="0" smtClean="0">
                <a:latin typeface="微軟正黑體" pitchFamily="34" charset="-120"/>
              </a:rPr>
              <a:t> </a:t>
            </a:r>
            <a:r>
              <a:rPr lang="en-US" altLang="zh-CN" sz="2000" dirty="0" smtClean="0">
                <a:latin typeface="微軟正黑體" pitchFamily="34" charset="-120"/>
              </a:rPr>
              <a:t>label template</a:t>
            </a:r>
            <a:r>
              <a:rPr lang="zh-CN" altLang="en-US" sz="2000" dirty="0" smtClean="0">
                <a:latin typeface="微軟正黑體" pitchFamily="34" charset="-120"/>
              </a:rPr>
              <a:t>，设计新的流程卡。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zh-CN" altLang="en-US" sz="2000" dirty="0" smtClean="0">
                <a:latin typeface="微軟正黑體" pitchFamily="34" charset="-120"/>
              </a:rPr>
              <a:t>功能模块：</a:t>
            </a:r>
            <a:r>
              <a:rPr lang="en-US" altLang="zh-CN" sz="2000" dirty="0" smtClean="0">
                <a:latin typeface="微軟正黑體" pitchFamily="34" charset="-120"/>
              </a:rPr>
              <a:t>SA</a:t>
            </a:r>
            <a:r>
              <a:rPr lang="zh-CN" altLang="en-US" sz="2000" dirty="0" smtClean="0">
                <a:latin typeface="微軟正黑體" pitchFamily="34" charset="-120"/>
              </a:rPr>
              <a:t>主板流程，</a:t>
            </a:r>
            <a:r>
              <a:rPr lang="en-US" altLang="zh-CN" sz="2000" dirty="0" smtClean="0">
                <a:latin typeface="微軟正黑體" pitchFamily="34" charset="-120"/>
              </a:rPr>
              <a:t>FA</a:t>
            </a:r>
            <a:r>
              <a:rPr lang="zh-CN" altLang="en-US" sz="2000" dirty="0" smtClean="0">
                <a:latin typeface="微軟正黑體" pitchFamily="34" charset="-120"/>
              </a:rPr>
              <a:t>整机流程，</a:t>
            </a:r>
            <a:r>
              <a:rPr lang="en-US" altLang="zh-CN" sz="2000" dirty="0" smtClean="0">
                <a:latin typeface="微軟正黑體" pitchFamily="34" charset="-120"/>
              </a:rPr>
              <a:t>Maintain</a:t>
            </a:r>
            <a:r>
              <a:rPr lang="zh-CN" altLang="en-US" sz="2000" dirty="0" smtClean="0">
                <a:latin typeface="微軟正黑體" pitchFamily="34" charset="-120"/>
              </a:rPr>
              <a:t>模块，</a:t>
            </a:r>
            <a:r>
              <a:rPr lang="en-US" altLang="zh-CN" sz="2000" dirty="0" smtClean="0">
                <a:latin typeface="微軟正黑體" pitchFamily="34" charset="-120"/>
              </a:rPr>
              <a:t>Query</a:t>
            </a:r>
            <a:r>
              <a:rPr lang="zh-CN" altLang="en-US" sz="2000" dirty="0" smtClean="0">
                <a:latin typeface="微軟正黑體" pitchFamily="34" charset="-120"/>
              </a:rPr>
              <a:t>模</a:t>
            </a:r>
            <a:r>
              <a:rPr lang="zh-CN" altLang="en-US" sz="2000" dirty="0" smtClean="0">
                <a:latin typeface="微軟正黑體" pitchFamily="34" charset="-120"/>
              </a:rPr>
              <a:t>块</a:t>
            </a:r>
            <a:r>
              <a:rPr lang="zh-CN" altLang="en-US" sz="2000" dirty="0" smtClean="0">
                <a:latin typeface="微軟正黑體" pitchFamily="34" charset="-120"/>
              </a:rPr>
              <a:t>。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zh-CN" altLang="en-US" sz="2000" dirty="0" smtClean="0">
                <a:latin typeface="微軟正黑體" pitchFamily="34" charset="-120"/>
              </a:rPr>
              <a:t>数</a:t>
            </a:r>
            <a:r>
              <a:rPr lang="zh-CN" altLang="en-US" sz="2000" dirty="0" smtClean="0">
                <a:latin typeface="微軟正黑體" pitchFamily="34" charset="-120"/>
              </a:rPr>
              <a:t>据交互：</a:t>
            </a:r>
            <a:r>
              <a:rPr lang="en-US" altLang="zh-CN" sz="2000" dirty="0" smtClean="0">
                <a:latin typeface="微軟正黑體" pitchFamily="34" charset="-120"/>
              </a:rPr>
              <a:t>image DL</a:t>
            </a:r>
            <a:r>
              <a:rPr lang="zh-CN" altLang="en-US" sz="2000" dirty="0" smtClean="0">
                <a:latin typeface="微軟正黑體" pitchFamily="34" charset="-120"/>
              </a:rPr>
              <a:t>上传</a:t>
            </a:r>
            <a:r>
              <a:rPr lang="en-US" altLang="zh-CN" sz="2000" dirty="0" smtClean="0">
                <a:latin typeface="微軟正黑體" pitchFamily="34" charset="-120"/>
              </a:rPr>
              <a:t>6P</a:t>
            </a:r>
            <a:r>
              <a:rPr lang="zh-CN" altLang="en-US" sz="2000" dirty="0" smtClean="0">
                <a:latin typeface="微軟正黑體" pitchFamily="34" charset="-120"/>
              </a:rPr>
              <a:t>记录，其他</a:t>
            </a:r>
            <a:r>
              <a:rPr lang="en-US" altLang="zh-CN" sz="2000" dirty="0" smtClean="0">
                <a:latin typeface="微軟正黑體" pitchFamily="34" charset="-120"/>
              </a:rPr>
              <a:t>function</a:t>
            </a:r>
            <a:r>
              <a:rPr lang="zh-CN" altLang="en-US" sz="2000" dirty="0" smtClean="0">
                <a:latin typeface="微軟正黑體" pitchFamily="34" charset="-120"/>
              </a:rPr>
              <a:t>暂时不做数据交互管控</a:t>
            </a:r>
            <a:r>
              <a:rPr lang="zh-CN" altLang="en-US" sz="2000" dirty="0" smtClean="0">
                <a:latin typeface="微軟正黑體" pitchFamily="34" charset="-120"/>
              </a:rPr>
              <a:t>。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zh-CN" altLang="en-US" sz="2000" dirty="0" smtClean="0">
                <a:latin typeface="微軟正黑體" pitchFamily="34" charset="-120"/>
              </a:rPr>
              <a:t>建</a:t>
            </a:r>
            <a:r>
              <a:rPr lang="en-US" altLang="zh-CN" sz="2000" dirty="0" smtClean="0">
                <a:latin typeface="微軟正黑體" pitchFamily="34" charset="-120"/>
              </a:rPr>
              <a:t>BOM</a:t>
            </a:r>
            <a:r>
              <a:rPr lang="zh-CN" altLang="en-US" sz="2000" dirty="0" smtClean="0">
                <a:latin typeface="微軟正黑體" pitchFamily="34" charset="-120"/>
              </a:rPr>
              <a:t>方式：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2000" dirty="0" smtClean="0">
                <a:latin typeface="微軟正黑體" pitchFamily="34" charset="-120"/>
              </a:rPr>
              <a:t>1.SIE</a:t>
            </a:r>
            <a:r>
              <a:rPr lang="zh-CN" altLang="en-US" sz="2000" dirty="0" smtClean="0">
                <a:latin typeface="微軟正黑體" pitchFamily="34" charset="-120"/>
              </a:rPr>
              <a:t>手动建立，可照搬</a:t>
            </a:r>
            <a:r>
              <a:rPr lang="en-US" altLang="zh-CN" sz="2000" dirty="0" smtClean="0">
                <a:latin typeface="微軟正黑體" pitchFamily="34" charset="-120"/>
              </a:rPr>
              <a:t>docking</a:t>
            </a:r>
            <a:r>
              <a:rPr lang="zh-CN" altLang="en-US" sz="2000" dirty="0" smtClean="0">
                <a:latin typeface="微軟正黑體" pitchFamily="34" charset="-120"/>
              </a:rPr>
              <a:t>建</a:t>
            </a:r>
            <a:r>
              <a:rPr lang="en-US" altLang="zh-CN" sz="2000" dirty="0" smtClean="0">
                <a:latin typeface="微軟正黑體" pitchFamily="34" charset="-120"/>
              </a:rPr>
              <a:t>BOM</a:t>
            </a:r>
            <a:r>
              <a:rPr lang="zh-CN" altLang="en-US" sz="2000" dirty="0" smtClean="0">
                <a:latin typeface="微軟正黑體" pitchFamily="34" charset="-120"/>
              </a:rPr>
              <a:t>页面。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2000" dirty="0" smtClean="0">
                <a:latin typeface="微軟正黑體" pitchFamily="34" charset="-120"/>
              </a:rPr>
              <a:t>2.</a:t>
            </a:r>
            <a:r>
              <a:rPr lang="zh-CN" altLang="en-US" sz="2000" dirty="0" smtClean="0">
                <a:latin typeface="微軟正黑體" pitchFamily="34" charset="-120"/>
              </a:rPr>
              <a:t>只建立</a:t>
            </a:r>
            <a:r>
              <a:rPr lang="en-US" altLang="zh-CN" sz="2000" dirty="0" err="1" smtClean="0">
                <a:latin typeface="微軟正黑體" pitchFamily="34" charset="-120"/>
              </a:rPr>
              <a:t>Keyparts</a:t>
            </a:r>
            <a:r>
              <a:rPr lang="zh-CN" altLang="en-US" sz="2000" dirty="0" smtClean="0">
                <a:latin typeface="微軟正黑體" pitchFamily="34" charset="-120"/>
              </a:rPr>
              <a:t>物料，建</a:t>
            </a:r>
            <a:r>
              <a:rPr lang="en-US" altLang="zh-CN" sz="2000" dirty="0" smtClean="0">
                <a:latin typeface="微軟正黑體" pitchFamily="34" charset="-120"/>
              </a:rPr>
              <a:t>TPM</a:t>
            </a:r>
            <a:r>
              <a:rPr lang="zh-CN" altLang="en-US" sz="2000" dirty="0" smtClean="0">
                <a:latin typeface="微軟正黑體" pitchFamily="34" charset="-120"/>
              </a:rPr>
              <a:t>类，只建立一阶料号。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zh-CN" altLang="en-US" sz="2000" dirty="0" smtClean="0">
                <a:latin typeface="微軟正黑體" pitchFamily="34" charset="-120"/>
              </a:rPr>
              <a:t>编码规则：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2000" dirty="0" smtClean="0">
                <a:latin typeface="微軟正黑體" pitchFamily="34" charset="-120"/>
              </a:rPr>
              <a:t>1.ProductID</a:t>
            </a:r>
            <a:r>
              <a:rPr lang="zh-CN" altLang="en-US" sz="2000" dirty="0" smtClean="0">
                <a:latin typeface="微軟正黑體" pitchFamily="34" charset="-120"/>
              </a:rPr>
              <a:t>：沿用现有规则</a:t>
            </a:r>
            <a:endParaRPr lang="en-US" altLang="zh-CN" sz="20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2000" dirty="0" smtClean="0">
                <a:latin typeface="微軟正黑體" pitchFamily="34" charset="-120"/>
              </a:rPr>
              <a:t>2.CUSTSN</a:t>
            </a:r>
            <a:r>
              <a:rPr lang="zh-CN" altLang="en-US" sz="2000" dirty="0" smtClean="0">
                <a:latin typeface="微軟正黑體" pitchFamily="34" charset="-120"/>
              </a:rPr>
              <a:t>：</a:t>
            </a:r>
            <a:r>
              <a:rPr lang="en-US" altLang="zh-CN" sz="2000" dirty="0" smtClean="0">
                <a:latin typeface="微軟正黑體" pitchFamily="34" charset="-120"/>
              </a:rPr>
              <a:t>5CNXXXXXXX</a:t>
            </a:r>
            <a:endParaRPr lang="zh-TW" altLang="en-US" sz="2000" dirty="0">
              <a:latin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7870" y="19460"/>
            <a:ext cx="4581350" cy="330278"/>
          </a:xfrm>
        </p:spPr>
        <p:txBody>
          <a:bodyPr/>
          <a:lstStyle/>
          <a:p>
            <a:pPr algn="ctr"/>
            <a:r>
              <a:rPr lang="en-US" altLang="zh-TW" dirty="0" smtClean="0">
                <a:effectLst/>
                <a:latin typeface="Century Gothic" pitchFamily="34" charset="0"/>
              </a:rPr>
              <a:t>NPI IMES </a:t>
            </a:r>
            <a:r>
              <a:rPr lang="en-US" altLang="zh-TW" dirty="0" smtClean="0">
                <a:effectLst/>
                <a:latin typeface="Century Gothic" pitchFamily="34" charset="0"/>
              </a:rPr>
              <a:t>SA Flow </a:t>
            </a:r>
            <a:r>
              <a:rPr lang="en-US" altLang="zh-TW" dirty="0" smtClean="0">
                <a:effectLst/>
                <a:latin typeface="Century Gothic" pitchFamily="34" charset="0"/>
              </a:rPr>
              <a:t>Chart</a:t>
            </a:r>
            <a:endParaRPr lang="zh-CN" altLang="en-US" dirty="0">
              <a:effectLst/>
            </a:endParaRPr>
          </a:p>
        </p:txBody>
      </p: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2555252" y="2420888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cxnSp>
        <p:nvCxnSpPr>
          <p:cNvPr id="211" name="形状 210"/>
          <p:cNvCxnSpPr>
            <a:stCxn id="118" idx="1"/>
            <a:endCxn id="110" idx="2"/>
          </p:cNvCxnSpPr>
          <p:nvPr/>
        </p:nvCxnSpPr>
        <p:spPr>
          <a:xfrm rot="10800000" flipV="1">
            <a:off x="1040426" y="2243929"/>
            <a:ext cx="586132" cy="170739"/>
          </a:xfrm>
          <a:prstGeom prst="bentConnector4">
            <a:avLst>
              <a:gd name="adj1" fmla="val 14684"/>
              <a:gd name="adj2" fmla="val 241118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3" name="Text Box 10"/>
          <p:cNvSpPr txBox="1">
            <a:spLocks noChangeArrowheads="1"/>
          </p:cNvSpPr>
          <p:nvPr/>
        </p:nvSpPr>
        <p:spPr bwMode="auto">
          <a:xfrm>
            <a:off x="1259954" y="3789040"/>
            <a:ext cx="305963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700" dirty="0" smtClean="0">
                <a:solidFill>
                  <a:schemeClr val="accent2"/>
                </a:solidFill>
                <a:latin typeface="Century Gothic" pitchFamily="34" charset="0"/>
                <a:ea typeface="細明體" pitchFamily="49" charset="-120"/>
              </a:rPr>
              <a:t>NG</a:t>
            </a:r>
            <a:endParaRPr kumimoji="0" lang="en-US" altLang="zh-TW" sz="700" dirty="0">
              <a:solidFill>
                <a:schemeClr val="accent2"/>
              </a:solidFill>
              <a:latin typeface="Century Gothic" pitchFamily="34" charset="0"/>
              <a:ea typeface="細明體" pitchFamily="49" charset="-120"/>
            </a:endParaRPr>
          </a:p>
        </p:txBody>
      </p:sp>
      <p:cxnSp>
        <p:nvCxnSpPr>
          <p:cNvPr id="247" name="AutoShape 149"/>
          <p:cNvCxnSpPr>
            <a:cxnSpLocks noChangeShapeType="1"/>
            <a:stCxn id="118" idx="2"/>
            <a:endCxn id="176" idx="0"/>
          </p:cNvCxnSpPr>
          <p:nvPr/>
        </p:nvCxnSpPr>
        <p:spPr bwMode="auto">
          <a:xfrm>
            <a:off x="2487096" y="2427012"/>
            <a:ext cx="4069" cy="20377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流程图: 手动操作 109"/>
          <p:cNvSpPr/>
          <p:nvPr/>
        </p:nvSpPr>
        <p:spPr>
          <a:xfrm>
            <a:off x="626426" y="2234669"/>
            <a:ext cx="828000" cy="180000"/>
          </a:xfrm>
          <a:prstGeom prst="flowChartManualOperation">
            <a:avLst/>
          </a:prstGeom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 eaLnBrk="0" hangingPunct="0">
              <a:defRPr/>
            </a:pPr>
            <a:r>
              <a:rPr lang="en-US" altLang="zh-TW" sz="800" b="1" dirty="0" smtClean="0">
                <a:solidFill>
                  <a:schemeClr val="bg1"/>
                </a:solidFill>
                <a:latin typeface="Century Gothic" pitchFamily="34" charset="0"/>
              </a:rPr>
              <a:t>FA REPAIR</a:t>
            </a:r>
            <a:endParaRPr lang="zh-CN" altLang="en-US" sz="800" b="1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18" name="AutoShape 148"/>
          <p:cNvSpPr>
            <a:spLocks noChangeArrowheads="1"/>
          </p:cNvSpPr>
          <p:nvPr/>
        </p:nvSpPr>
        <p:spPr bwMode="auto">
          <a:xfrm>
            <a:off x="1626558" y="2060848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ICT TEST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91" name="直線單箭頭接點 129"/>
          <p:cNvCxnSpPr>
            <a:stCxn id="101" idx="2"/>
            <a:endCxn id="116" idx="0"/>
          </p:cNvCxnSpPr>
          <p:nvPr/>
        </p:nvCxnSpPr>
        <p:spPr bwMode="auto">
          <a:xfrm rot="5400000">
            <a:off x="2392710" y="1424710"/>
            <a:ext cx="189876" cy="158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線單箭頭接點 146"/>
          <p:cNvCxnSpPr>
            <a:stCxn id="103" idx="2"/>
            <a:endCxn id="101" idx="0"/>
          </p:cNvCxnSpPr>
          <p:nvPr/>
        </p:nvCxnSpPr>
        <p:spPr bwMode="auto">
          <a:xfrm rot="5400000">
            <a:off x="2391258" y="867218"/>
            <a:ext cx="192780" cy="158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線單箭頭接點 146"/>
          <p:cNvCxnSpPr>
            <a:stCxn id="104" idx="3"/>
            <a:endCxn id="103" idx="1"/>
          </p:cNvCxnSpPr>
          <p:nvPr/>
        </p:nvCxnSpPr>
        <p:spPr bwMode="auto">
          <a:xfrm flipV="1">
            <a:off x="1355377" y="587746"/>
            <a:ext cx="271733" cy="514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AutoShape 145"/>
          <p:cNvSpPr>
            <a:spLocks noChangeArrowheads="1"/>
          </p:cNvSpPr>
          <p:nvPr/>
        </p:nvSpPr>
        <p:spPr bwMode="auto">
          <a:xfrm>
            <a:off x="1627110" y="963608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SMT</a:t>
            </a:r>
            <a:endParaRPr lang="en-US" altLang="zh-CN" sz="900" b="1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03" name="AutoShape 144"/>
          <p:cNvSpPr>
            <a:spLocks noChangeArrowheads="1"/>
          </p:cNvSpPr>
          <p:nvPr/>
        </p:nvSpPr>
        <p:spPr bwMode="auto">
          <a:xfrm>
            <a:off x="1627110" y="404664"/>
            <a:ext cx="1721076" cy="366164"/>
          </a:xfrm>
          <a:prstGeom prst="roundRect">
            <a:avLst>
              <a:gd name="adj" fmla="val 16667"/>
            </a:avLst>
          </a:prstGeom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MB L</a:t>
            </a: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abel print</a:t>
            </a:r>
            <a:endParaRPr lang="en-US" altLang="zh-TW" sz="900" b="1" dirty="0" smtClean="0">
              <a:solidFill>
                <a:schemeClr val="bg1"/>
              </a:solidFill>
              <a:latin typeface="Century Gothic" pitchFamily="34" charset="0"/>
            </a:endParaRPr>
          </a:p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(P0</a:t>
            </a: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)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04" name="AutoShape 144"/>
          <p:cNvSpPr>
            <a:spLocks noChangeArrowheads="1"/>
          </p:cNvSpPr>
          <p:nvPr/>
        </p:nvSpPr>
        <p:spPr bwMode="auto">
          <a:xfrm>
            <a:off x="478665" y="426450"/>
            <a:ext cx="876712" cy="332877"/>
          </a:xfrm>
          <a:prstGeom prst="roundRect">
            <a:avLst>
              <a:gd name="adj" fmla="val 16667"/>
            </a:avLst>
          </a:prstGeom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MO DATA INPUT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16" name="AutoShape 267"/>
          <p:cNvSpPr>
            <a:spLocks noChangeArrowheads="1"/>
          </p:cNvSpPr>
          <p:nvPr/>
        </p:nvSpPr>
        <p:spPr bwMode="auto">
          <a:xfrm>
            <a:off x="1627110" y="1519648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ECR label</a:t>
            </a:r>
          </a:p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(10)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19" name="直線單箭頭接點 129"/>
          <p:cNvCxnSpPr>
            <a:stCxn id="116" idx="2"/>
            <a:endCxn id="118" idx="0"/>
          </p:cNvCxnSpPr>
          <p:nvPr/>
        </p:nvCxnSpPr>
        <p:spPr bwMode="auto">
          <a:xfrm flipH="1">
            <a:off x="2487096" y="1885812"/>
            <a:ext cx="552" cy="17503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流程图: 联系 164"/>
          <p:cNvSpPr/>
          <p:nvPr/>
        </p:nvSpPr>
        <p:spPr>
          <a:xfrm>
            <a:off x="969748" y="1925236"/>
            <a:ext cx="141357" cy="150302"/>
          </a:xfrm>
          <a:prstGeom prst="flowChartConnector">
            <a:avLst/>
          </a:prstGeom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 eaLnBrk="0" hangingPunct="0"/>
            <a:endParaRPr lang="zh-CN" altLang="en-US" sz="800" b="1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66" name="直接箭头连接符 165"/>
          <p:cNvCxnSpPr/>
          <p:nvPr/>
        </p:nvCxnSpPr>
        <p:spPr>
          <a:xfrm flipV="1">
            <a:off x="1040427" y="2068112"/>
            <a:ext cx="0" cy="17255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组合 29"/>
          <p:cNvGrpSpPr/>
          <p:nvPr/>
        </p:nvGrpSpPr>
        <p:grpSpPr>
          <a:xfrm>
            <a:off x="-537" y="4757043"/>
            <a:ext cx="1003807" cy="1656185"/>
            <a:chOff x="-537" y="4581128"/>
            <a:chExt cx="1003807" cy="1656185"/>
          </a:xfrm>
        </p:grpSpPr>
        <p:sp>
          <p:nvSpPr>
            <p:cNvPr id="98" name="同侧圆角矩形 97"/>
            <p:cNvSpPr/>
            <p:nvPr/>
          </p:nvSpPr>
          <p:spPr>
            <a:xfrm rot="5400000">
              <a:off x="-326726" y="4907317"/>
              <a:ext cx="1656185" cy="100380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21787" y="5232946"/>
              <a:ext cx="325647" cy="109710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REPAIR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06" name="Rectangle 41"/>
            <p:cNvSpPr>
              <a:spLocks noChangeArrowheads="1"/>
            </p:cNvSpPr>
            <p:nvPr/>
          </p:nvSpPr>
          <p:spPr bwMode="auto">
            <a:xfrm>
              <a:off x="76987" y="5469348"/>
              <a:ext cx="143423" cy="13211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rPr>
                <a:t>A</a:t>
              </a:r>
              <a:endParaRPr lang="zh-TW" altLang="en-US" sz="700" b="1" dirty="0" smtClean="0">
                <a:solidFill>
                  <a:schemeClr val="bg1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21787" y="5424097"/>
              <a:ext cx="541257" cy="21431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NOT </a:t>
              </a:r>
            </a:p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21787" y="4709717"/>
              <a:ext cx="533637" cy="107722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21787" y="4924031"/>
              <a:ext cx="533638" cy="221626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Off-line</a:t>
              </a:r>
            </a:p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44" name="AutoShape 6"/>
            <p:cNvSpPr>
              <a:spLocks noChangeArrowheads="1"/>
            </p:cNvSpPr>
            <p:nvPr/>
          </p:nvSpPr>
          <p:spPr bwMode="auto">
            <a:xfrm>
              <a:off x="76987" y="4965898"/>
              <a:ext cx="143423" cy="132111"/>
            </a:xfrm>
            <a:prstGeom prst="roundRect">
              <a:avLst>
                <a:gd name="adj" fmla="val 16667"/>
              </a:avLst>
            </a:prstGeom>
            <a:ln w="19050"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effectLst>
                    <a:innerShdw blurRad="25400" dist="127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rPr>
                <a:t>A</a:t>
              </a:r>
              <a:endParaRPr lang="en-US" altLang="zh-TW" sz="700" b="1" dirty="0">
                <a:solidFill>
                  <a:schemeClr val="bg1"/>
                </a:solidFill>
                <a:effectLst>
                  <a:innerShdw blurRad="25400" dist="12700" dir="162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</a:endParaRPr>
            </a:p>
          </p:txBody>
        </p:sp>
        <p:sp>
          <p:nvSpPr>
            <p:cNvPr id="146" name="AutoShape 6"/>
            <p:cNvSpPr>
              <a:spLocks noChangeArrowheads="1"/>
            </p:cNvSpPr>
            <p:nvPr/>
          </p:nvSpPr>
          <p:spPr bwMode="auto">
            <a:xfrm>
              <a:off x="76987" y="5728262"/>
              <a:ext cx="143423" cy="132111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>
                    <a:shade val="51000"/>
                    <a:satMod val="130000"/>
                    <a:alpha val="50000"/>
                  </a:schemeClr>
                </a:gs>
                <a:gs pos="80000">
                  <a:schemeClr val="accent1">
                    <a:shade val="93000"/>
                    <a:satMod val="130000"/>
                    <a:alpha val="50000"/>
                  </a:schemeClr>
                </a:gs>
                <a:gs pos="100000">
                  <a:schemeClr val="accent1">
                    <a:shade val="94000"/>
                    <a:satMod val="135000"/>
                    <a:alpha val="50000"/>
                  </a:schemeClr>
                </a:gs>
              </a:gsLst>
            </a:gra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latin typeface="Century Gothic" pitchFamily="34" charset="0"/>
                </a:rPr>
                <a:t>A</a:t>
              </a:r>
              <a:endParaRPr lang="en-US" altLang="zh-TW" sz="700" b="1" dirty="0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1787" y="5684448"/>
              <a:ext cx="541257" cy="21544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Special  Demand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grpSp>
          <p:nvGrpSpPr>
            <p:cNvPr id="4" name="组合 117"/>
            <p:cNvGrpSpPr/>
            <p:nvPr/>
          </p:nvGrpSpPr>
          <p:grpSpPr>
            <a:xfrm>
              <a:off x="76987" y="4688280"/>
              <a:ext cx="142876" cy="160503"/>
              <a:chOff x="107919" y="4764885"/>
              <a:chExt cx="142876" cy="160503"/>
            </a:xfrm>
          </p:grpSpPr>
          <p:sp>
            <p:nvSpPr>
              <p:cNvPr id="150" name="同侧圆角矩形 149"/>
              <p:cNvSpPr/>
              <p:nvPr/>
            </p:nvSpPr>
            <p:spPr>
              <a:xfrm>
                <a:off x="107919" y="4764885"/>
                <a:ext cx="142876" cy="71438"/>
              </a:xfrm>
              <a:prstGeom prst="round2SameRect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eaLnBrk="0" hangingPunct="0">
                  <a:defRPr/>
                </a:pPr>
                <a:endParaRPr lang="zh-CN" altLang="en-US" sz="300" b="1" dirty="0">
                  <a:solidFill>
                    <a:schemeClr val="bg1"/>
                  </a:solidFill>
                  <a:effectLst>
                    <a:innerShdw blurRad="25400" dist="127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endParaRPr>
              </a:p>
            </p:txBody>
          </p:sp>
          <p:sp>
            <p:nvSpPr>
              <p:cNvPr id="151" name="同侧圆角矩形 150"/>
              <p:cNvSpPr/>
              <p:nvPr/>
            </p:nvSpPr>
            <p:spPr>
              <a:xfrm flipV="1">
                <a:off x="107919" y="4853950"/>
                <a:ext cx="142876" cy="71438"/>
              </a:xfrm>
              <a:prstGeom prst="round2SameRect">
                <a:avLst/>
              </a:prstGeom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 sz="900" b="1" dirty="0" smtClean="0">
                  <a:latin typeface="Century Gothic" pitchFamily="34" charset="0"/>
                </a:endParaRPr>
              </a:p>
            </p:txBody>
          </p:sp>
          <p:sp>
            <p:nvSpPr>
              <p:cNvPr id="152" name="TextBox 151"/>
              <p:cNvSpPr txBox="1"/>
              <p:nvPr/>
            </p:nvSpPr>
            <p:spPr bwMode="auto">
              <a:xfrm>
                <a:off x="107919" y="4791085"/>
                <a:ext cx="142876" cy="1077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0" lang="en-US" altLang="zh-CN" sz="700" b="1" dirty="0" smtClean="0">
                    <a:solidFill>
                      <a:schemeClr val="bg1"/>
                    </a:solidFill>
                    <a:latin typeface="Century Gothic" pitchFamily="34" charset="0"/>
                    <a:ea typeface="細明體" pitchFamily="49" charset="-120"/>
                  </a:rPr>
                  <a:t>A</a:t>
                </a:r>
                <a:endParaRPr kumimoji="0" lang="zh-CN" altLang="en-US" sz="700" b="1" dirty="0" smtClean="0">
                  <a:solidFill>
                    <a:schemeClr val="bg1"/>
                  </a:solidFill>
                  <a:latin typeface="Century Gothic" pitchFamily="34" charset="0"/>
                  <a:ea typeface="細明體" pitchFamily="49" charset="-120"/>
                </a:endParaRPr>
              </a:p>
            </p:txBody>
          </p:sp>
        </p:grpSp>
        <p:sp>
          <p:nvSpPr>
            <p:cNvPr id="149" name="流程图: 手动操作 148"/>
            <p:cNvSpPr/>
            <p:nvPr/>
          </p:nvSpPr>
          <p:spPr>
            <a:xfrm>
              <a:off x="73454" y="5224071"/>
              <a:ext cx="144000" cy="108000"/>
            </a:xfrm>
            <a:prstGeom prst="flowChartManualOperation">
              <a:avLst/>
            </a:prstGeom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latin typeface="Century Gothic" pitchFamily="34" charset="0"/>
                </a:rPr>
                <a:t>A</a:t>
              </a:r>
              <a:endParaRPr lang="zh-CN" altLang="en-US" sz="700" b="1" dirty="0" smtClean="0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171" name="流程图: 联系 170"/>
            <p:cNvSpPr/>
            <p:nvPr/>
          </p:nvSpPr>
          <p:spPr>
            <a:xfrm>
              <a:off x="73454" y="5981851"/>
              <a:ext cx="141357" cy="150302"/>
            </a:xfrm>
            <a:prstGeom prst="flowChartConnector">
              <a:avLst/>
            </a:prstGeom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 eaLnBrk="0" hangingPunct="0"/>
              <a:endParaRPr lang="zh-CN" altLang="en-US" sz="800" b="1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314167" y="5949280"/>
              <a:ext cx="541257" cy="21544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Repair Unit Reflow 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</p:grpSp>
      <p:sp>
        <p:nvSpPr>
          <p:cNvPr id="111" name="AutoShape 148"/>
          <p:cNvSpPr>
            <a:spLocks noChangeArrowheads="1"/>
          </p:cNvSpPr>
          <p:nvPr/>
        </p:nvSpPr>
        <p:spPr bwMode="auto">
          <a:xfrm>
            <a:off x="1627110" y="3782916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Function test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43" name="Text Box 10"/>
          <p:cNvSpPr txBox="1">
            <a:spLocks noChangeArrowheads="1"/>
          </p:cNvSpPr>
          <p:nvPr/>
        </p:nvSpPr>
        <p:spPr bwMode="auto">
          <a:xfrm>
            <a:off x="2556098" y="4149080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sp>
        <p:nvSpPr>
          <p:cNvPr id="176" name="AutoShape 267"/>
          <p:cNvSpPr>
            <a:spLocks noChangeArrowheads="1"/>
          </p:cNvSpPr>
          <p:nvPr/>
        </p:nvSpPr>
        <p:spPr bwMode="auto">
          <a:xfrm>
            <a:off x="1630627" y="2630788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ICT TEST(10A)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88" name="AutoShape 149"/>
          <p:cNvCxnSpPr>
            <a:cxnSpLocks noChangeShapeType="1"/>
          </p:cNvCxnSpPr>
          <p:nvPr/>
        </p:nvCxnSpPr>
        <p:spPr bwMode="auto">
          <a:xfrm>
            <a:off x="2484090" y="2996952"/>
            <a:ext cx="4069" cy="2099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AutoShape 149"/>
          <p:cNvCxnSpPr>
            <a:cxnSpLocks noChangeShapeType="1"/>
            <a:stCxn id="64" idx="2"/>
            <a:endCxn id="111" idx="0"/>
          </p:cNvCxnSpPr>
          <p:nvPr/>
        </p:nvCxnSpPr>
        <p:spPr bwMode="auto">
          <a:xfrm>
            <a:off x="2480532" y="3579140"/>
            <a:ext cx="7116" cy="20377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AutoShape 267"/>
          <p:cNvSpPr>
            <a:spLocks noChangeArrowheads="1"/>
          </p:cNvSpPr>
          <p:nvPr/>
        </p:nvSpPr>
        <p:spPr bwMode="auto">
          <a:xfrm>
            <a:off x="1631869" y="4424799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Function </a:t>
            </a: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test(15)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93" name="AutoShape 149"/>
          <p:cNvCxnSpPr>
            <a:cxnSpLocks noChangeShapeType="1"/>
            <a:stCxn id="111" idx="2"/>
            <a:endCxn id="191" idx="0"/>
          </p:cNvCxnSpPr>
          <p:nvPr/>
        </p:nvCxnSpPr>
        <p:spPr bwMode="auto">
          <a:xfrm>
            <a:off x="2487648" y="4149080"/>
            <a:ext cx="4759" cy="27571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6" name="Text Box 10"/>
          <p:cNvSpPr txBox="1">
            <a:spLocks noChangeArrowheads="1"/>
          </p:cNvSpPr>
          <p:nvPr/>
        </p:nvSpPr>
        <p:spPr bwMode="auto">
          <a:xfrm>
            <a:off x="2700114" y="2996952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cxnSp>
        <p:nvCxnSpPr>
          <p:cNvPr id="224" name="圖案 223"/>
          <p:cNvCxnSpPr>
            <a:stCxn id="111" idx="1"/>
            <a:endCxn id="110" idx="2"/>
          </p:cNvCxnSpPr>
          <p:nvPr/>
        </p:nvCxnSpPr>
        <p:spPr>
          <a:xfrm rot="10800000">
            <a:off x="1040426" y="2414670"/>
            <a:ext cx="586684" cy="1551329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內容版面配置區 2"/>
          <p:cNvSpPr>
            <a:spLocks noGrp="1"/>
          </p:cNvSpPr>
          <p:nvPr>
            <p:ph idx="1"/>
          </p:nvPr>
        </p:nvSpPr>
        <p:spPr>
          <a:xfrm>
            <a:off x="3492202" y="764704"/>
            <a:ext cx="6336704" cy="4840288"/>
          </a:xfrm>
        </p:spPr>
        <p:txBody>
          <a:bodyPr/>
          <a:lstStyle/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P0-MB label</a:t>
            </a:r>
            <a:r>
              <a:rPr lang="zh-CN" altLang="en-US" sz="1600" dirty="0" smtClean="0">
                <a:latin typeface="微軟正黑體" pitchFamily="34" charset="-120"/>
              </a:rPr>
              <a:t>：</a:t>
            </a:r>
            <a:r>
              <a:rPr lang="en-US" altLang="zh-CN" sz="1600" dirty="0" smtClean="0">
                <a:latin typeface="微軟正黑體" pitchFamily="34" charset="-120"/>
              </a:rPr>
              <a:t>SIE</a:t>
            </a:r>
            <a:r>
              <a:rPr lang="zh-CN" altLang="en-US" sz="1600" dirty="0" smtClean="0">
                <a:latin typeface="微軟正黑體" pitchFamily="34" charset="-120"/>
              </a:rPr>
              <a:t>建</a:t>
            </a:r>
            <a:r>
              <a:rPr lang="en-US" altLang="zh-CN" sz="1600" dirty="0" smtClean="0">
                <a:latin typeface="微軟正黑體" pitchFamily="34" charset="-120"/>
              </a:rPr>
              <a:t>BOM</a:t>
            </a:r>
            <a:r>
              <a:rPr lang="zh-CN" altLang="en-US" sz="1600" dirty="0" smtClean="0">
                <a:latin typeface="微軟正黑體" pitchFamily="34" charset="-120"/>
              </a:rPr>
              <a:t>资料，生管开</a:t>
            </a:r>
            <a:r>
              <a:rPr lang="en-US" altLang="zh-CN" sz="1600" dirty="0" smtClean="0">
                <a:latin typeface="微軟正黑體" pitchFamily="34" charset="-120"/>
              </a:rPr>
              <a:t>MO</a:t>
            </a:r>
            <a:r>
              <a:rPr lang="zh-CN" altLang="en-US" sz="1600" dirty="0" smtClean="0">
                <a:latin typeface="微軟正黑體" pitchFamily="34" charset="-120"/>
              </a:rPr>
              <a:t>方</a:t>
            </a:r>
            <a:r>
              <a:rPr lang="zh-CN" altLang="en-US" sz="1600" dirty="0" smtClean="0">
                <a:latin typeface="微軟正黑體" pitchFamily="34" charset="-120"/>
              </a:rPr>
              <a:t>可打印</a:t>
            </a:r>
            <a:r>
              <a:rPr lang="zh-CN" altLang="en-US" sz="1600" dirty="0" smtClean="0">
                <a:latin typeface="微軟正黑體" pitchFamily="34" charset="-120"/>
              </a:rPr>
              <a:t>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10-ECR label</a:t>
            </a:r>
            <a:r>
              <a:rPr lang="zh-CN" altLang="en-US" sz="1600" dirty="0" smtClean="0">
                <a:latin typeface="微軟正黑體" pitchFamily="34" charset="-120"/>
              </a:rPr>
              <a:t>：暂时保留</a:t>
            </a:r>
            <a:r>
              <a:rPr lang="en-US" altLang="zh-CN" sz="1600" dirty="0" smtClean="0">
                <a:latin typeface="微軟正黑體" pitchFamily="34" charset="-120"/>
              </a:rPr>
              <a:t>ECR</a:t>
            </a:r>
            <a:r>
              <a:rPr lang="zh-CN" altLang="en-US" sz="1600" dirty="0" smtClean="0">
                <a:latin typeface="微軟正黑體" pitchFamily="34" charset="-120"/>
              </a:rPr>
              <a:t>功能，不管控</a:t>
            </a:r>
            <a:r>
              <a:rPr lang="en-US" altLang="zh-CN" sz="1600" dirty="0" smtClean="0">
                <a:latin typeface="微軟正黑體" pitchFamily="34" charset="-120"/>
              </a:rPr>
              <a:t>ICT</a:t>
            </a:r>
            <a:r>
              <a:rPr lang="zh-CN" altLang="en-US" sz="1600" dirty="0" smtClean="0">
                <a:latin typeface="微軟正黑體" pitchFamily="34" charset="-120"/>
              </a:rPr>
              <a:t>测试记录。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10A-ICT Test</a:t>
            </a:r>
            <a:r>
              <a:rPr lang="zh-CN" altLang="en-US" sz="1600" dirty="0" smtClean="0">
                <a:latin typeface="微軟正黑體" pitchFamily="34" charset="-120"/>
              </a:rPr>
              <a:t>：</a:t>
            </a:r>
            <a:r>
              <a:rPr lang="zh-CN" altLang="en-US" sz="1600" dirty="0" smtClean="0">
                <a:latin typeface="微軟正黑體" pitchFamily="34" charset="-120"/>
              </a:rPr>
              <a:t>暂</a:t>
            </a:r>
            <a:r>
              <a:rPr lang="zh-CN" altLang="en-US" sz="1600" dirty="0" smtClean="0">
                <a:latin typeface="微軟正黑體" pitchFamily="34" charset="-120"/>
              </a:rPr>
              <a:t>时保留此站，良品刷入和不良刷入。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14-online </a:t>
            </a:r>
            <a:r>
              <a:rPr lang="en-US" altLang="zh-CN" sz="1600" dirty="0" smtClean="0">
                <a:latin typeface="微軟正黑體" pitchFamily="34" charset="-120"/>
              </a:rPr>
              <a:t>Repair</a:t>
            </a:r>
            <a:r>
              <a:rPr lang="zh-CN" altLang="en-US" sz="1600" dirty="0" smtClean="0">
                <a:latin typeface="微軟正黑體" pitchFamily="34" charset="-120"/>
              </a:rPr>
              <a:t>：</a:t>
            </a:r>
            <a:r>
              <a:rPr lang="en-US" altLang="zh-CN" sz="1600" dirty="0" smtClean="0">
                <a:latin typeface="微軟正黑體" pitchFamily="34" charset="-120"/>
              </a:rPr>
              <a:t>ICT</a:t>
            </a:r>
            <a:r>
              <a:rPr lang="zh-CN" altLang="en-US" sz="1600" dirty="0" smtClean="0">
                <a:latin typeface="微軟正黑體" pitchFamily="34" charset="-120"/>
              </a:rPr>
              <a:t>不良在线修复，完成后进入</a:t>
            </a:r>
            <a:r>
              <a:rPr lang="en-US" altLang="zh-CN" sz="1600" dirty="0" smtClean="0">
                <a:latin typeface="微軟正黑體" pitchFamily="34" charset="-120"/>
              </a:rPr>
              <a:t>10A</a:t>
            </a:r>
            <a:r>
              <a:rPr lang="zh-CN" altLang="en-US" sz="1600" dirty="0" smtClean="0">
                <a:latin typeface="微軟正黑體" pitchFamily="34" charset="-120"/>
              </a:rPr>
              <a:t>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15-Function Test</a:t>
            </a:r>
            <a:r>
              <a:rPr lang="zh-CN" altLang="en-US" sz="1600" dirty="0" smtClean="0">
                <a:latin typeface="微軟正黑體" pitchFamily="34" charset="-120"/>
              </a:rPr>
              <a:t>：</a:t>
            </a:r>
            <a:r>
              <a:rPr lang="zh-CN" altLang="en-US" sz="1600" dirty="0" smtClean="0">
                <a:latin typeface="微軟正黑體" pitchFamily="34" charset="-120"/>
              </a:rPr>
              <a:t>良</a:t>
            </a:r>
            <a:r>
              <a:rPr lang="zh-CN" altLang="en-US" sz="1600" dirty="0" smtClean="0">
                <a:latin typeface="微軟正黑體" pitchFamily="34" charset="-120"/>
              </a:rPr>
              <a:t>品刷入，</a:t>
            </a:r>
            <a:r>
              <a:rPr lang="en-US" altLang="zh-CN" sz="1600" dirty="0" smtClean="0">
                <a:latin typeface="微軟正黑體" pitchFamily="34" charset="-120"/>
              </a:rPr>
              <a:t>SA</a:t>
            </a:r>
            <a:r>
              <a:rPr lang="zh-CN" altLang="en-US" sz="1600" dirty="0" smtClean="0">
                <a:latin typeface="微軟正黑體" pitchFamily="34" charset="-120"/>
              </a:rPr>
              <a:t>流程完结。不良刷入进修复</a:t>
            </a:r>
            <a:r>
              <a:rPr lang="zh-CN" altLang="en-US" sz="1600" dirty="0" smtClean="0">
                <a:latin typeface="微軟正黑體" pitchFamily="34" charset="-120"/>
              </a:rPr>
              <a:t>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18-online Repair</a:t>
            </a:r>
            <a:r>
              <a:rPr lang="zh-CN" altLang="en-US" sz="1600" dirty="0" smtClean="0">
                <a:latin typeface="微軟正黑體" pitchFamily="34" charset="-120"/>
              </a:rPr>
              <a:t>：</a:t>
            </a:r>
            <a:r>
              <a:rPr lang="en-US" altLang="zh-CN" sz="1600" dirty="0" smtClean="0">
                <a:latin typeface="微軟正黑體" pitchFamily="34" charset="-120"/>
              </a:rPr>
              <a:t>Function test</a:t>
            </a:r>
            <a:r>
              <a:rPr lang="zh-CN" altLang="en-US" sz="1600" dirty="0" smtClean="0">
                <a:latin typeface="微軟正黑體" pitchFamily="34" charset="-120"/>
              </a:rPr>
              <a:t>在</a:t>
            </a:r>
            <a:r>
              <a:rPr lang="zh-CN" altLang="en-US" sz="1600" dirty="0" smtClean="0">
                <a:latin typeface="微軟正黑體" pitchFamily="34" charset="-120"/>
              </a:rPr>
              <a:t>线修复，完成后进入</a:t>
            </a:r>
            <a:r>
              <a:rPr lang="en-US" altLang="zh-CN" sz="1600" dirty="0" smtClean="0">
                <a:latin typeface="微軟正黑體" pitchFamily="34" charset="-120"/>
              </a:rPr>
              <a:t>15</a:t>
            </a:r>
            <a:r>
              <a:rPr lang="zh-CN" altLang="en-US" sz="1600" dirty="0" smtClean="0">
                <a:latin typeface="微軟正黑體" pitchFamily="34" charset="-120"/>
              </a:rPr>
              <a:t>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Offline IMES </a:t>
            </a:r>
            <a:r>
              <a:rPr lang="zh-CN" altLang="en-US" sz="1600" dirty="0" smtClean="0">
                <a:latin typeface="微軟正黑體" pitchFamily="34" charset="-120"/>
              </a:rPr>
              <a:t>页面：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TW" sz="1600" dirty="0" smtClean="0"/>
              <a:t>Generate SMT MO</a:t>
            </a:r>
            <a:r>
              <a:rPr lang="zh-CN" altLang="en-US" sz="1600" dirty="0" smtClean="0">
                <a:latin typeface="微軟正黑體" pitchFamily="34" charset="-120"/>
              </a:rPr>
              <a:t>，</a:t>
            </a:r>
            <a:r>
              <a:rPr lang="en-US" altLang="zh-CN" sz="1600" dirty="0" smtClean="0">
                <a:latin typeface="微軟正黑體" pitchFamily="34" charset="-120"/>
              </a:rPr>
              <a:t>ECR Maintain</a:t>
            </a:r>
            <a:r>
              <a:rPr lang="zh-CN" altLang="en-US" sz="1600" dirty="0" smtClean="0">
                <a:latin typeface="微軟正黑體" pitchFamily="34" charset="-120"/>
              </a:rPr>
              <a:t>，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MB TRIS TO IMES</a:t>
            </a:r>
            <a:r>
              <a:rPr lang="zh-CN" altLang="en-US" sz="1600" dirty="0" smtClean="0">
                <a:latin typeface="微軟正黑體" pitchFamily="34" charset="-120"/>
              </a:rPr>
              <a:t>（将</a:t>
            </a:r>
            <a:r>
              <a:rPr lang="en-US" altLang="zh-CN" sz="1600" dirty="0" smtClean="0">
                <a:latin typeface="微軟正黑體" pitchFamily="34" charset="-120"/>
              </a:rPr>
              <a:t>PV</a:t>
            </a:r>
            <a:r>
              <a:rPr lang="zh-CN" altLang="en-US" sz="1600" dirty="0" smtClean="0">
                <a:latin typeface="微軟正黑體" pitchFamily="34" charset="-120"/>
              </a:rPr>
              <a:t>主</a:t>
            </a:r>
            <a:r>
              <a:rPr lang="zh-CN" altLang="en-US" sz="1600" dirty="0" smtClean="0">
                <a:latin typeface="微軟正黑體" pitchFamily="34" charset="-120"/>
              </a:rPr>
              <a:t>板转为量产板使用）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</p:txBody>
      </p:sp>
      <p:sp>
        <p:nvSpPr>
          <p:cNvPr id="64" name="AutoShape 267"/>
          <p:cNvSpPr>
            <a:spLocks noChangeArrowheads="1"/>
          </p:cNvSpPr>
          <p:nvPr/>
        </p:nvSpPr>
        <p:spPr bwMode="auto">
          <a:xfrm>
            <a:off x="1619994" y="3212976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MB assembly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7870" y="19460"/>
            <a:ext cx="4581350" cy="330278"/>
          </a:xfrm>
        </p:spPr>
        <p:txBody>
          <a:bodyPr/>
          <a:lstStyle/>
          <a:p>
            <a:pPr algn="ctr"/>
            <a:r>
              <a:rPr lang="en-US" altLang="zh-TW" dirty="0" smtClean="0">
                <a:effectLst/>
                <a:latin typeface="Century Gothic" pitchFamily="34" charset="0"/>
              </a:rPr>
              <a:t>NPI IMES </a:t>
            </a:r>
            <a:r>
              <a:rPr lang="en-US" altLang="zh-TW" dirty="0" smtClean="0">
                <a:effectLst/>
                <a:latin typeface="Century Gothic" pitchFamily="34" charset="0"/>
              </a:rPr>
              <a:t>FA Flow </a:t>
            </a:r>
            <a:r>
              <a:rPr lang="en-US" altLang="zh-TW" dirty="0" smtClean="0">
                <a:effectLst/>
                <a:latin typeface="Century Gothic" pitchFamily="34" charset="0"/>
              </a:rPr>
              <a:t>Chart</a:t>
            </a:r>
            <a:endParaRPr lang="zh-CN" altLang="en-US" dirty="0">
              <a:effectLst/>
            </a:endParaRPr>
          </a:p>
        </p:txBody>
      </p:sp>
      <p:sp>
        <p:nvSpPr>
          <p:cNvPr id="94" name="Line 261"/>
          <p:cNvSpPr>
            <a:spLocks noChangeShapeType="1"/>
          </p:cNvSpPr>
          <p:nvPr/>
        </p:nvSpPr>
        <p:spPr bwMode="auto">
          <a:xfrm>
            <a:off x="2067896" y="5826874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5420" tIns="37710" rIns="75420" bIns="37710" anchor="ctr"/>
          <a:lstStyle/>
          <a:p>
            <a:endParaRPr lang="zh-CN" altLang="en-US" dirty="0"/>
          </a:p>
        </p:txBody>
      </p:sp>
      <p:cxnSp>
        <p:nvCxnSpPr>
          <p:cNvPr id="240" name="形状 176"/>
          <p:cNvCxnSpPr>
            <a:stCxn id="227" idx="1"/>
            <a:endCxn id="121" idx="1"/>
          </p:cNvCxnSpPr>
          <p:nvPr/>
        </p:nvCxnSpPr>
        <p:spPr bwMode="auto">
          <a:xfrm rot="10800000">
            <a:off x="1619994" y="5046118"/>
            <a:ext cx="12156" cy="560528"/>
          </a:xfrm>
          <a:prstGeom prst="bentConnector3">
            <a:avLst>
              <a:gd name="adj1" fmla="val 1980553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2555252" y="2420888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cxnSp>
        <p:nvCxnSpPr>
          <p:cNvPr id="211" name="形状 210"/>
          <p:cNvCxnSpPr>
            <a:stCxn id="118" idx="1"/>
            <a:endCxn id="110" idx="2"/>
          </p:cNvCxnSpPr>
          <p:nvPr/>
        </p:nvCxnSpPr>
        <p:spPr>
          <a:xfrm rot="10800000" flipV="1">
            <a:off x="1040426" y="2243929"/>
            <a:ext cx="586132" cy="170739"/>
          </a:xfrm>
          <a:prstGeom prst="bentConnector4">
            <a:avLst>
              <a:gd name="adj1" fmla="val 14684"/>
              <a:gd name="adj2" fmla="val 241118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3" name="Text Box 10"/>
          <p:cNvSpPr txBox="1">
            <a:spLocks noChangeArrowheads="1"/>
          </p:cNvSpPr>
          <p:nvPr/>
        </p:nvSpPr>
        <p:spPr bwMode="auto">
          <a:xfrm>
            <a:off x="1547986" y="2399228"/>
            <a:ext cx="305963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700" dirty="0" smtClean="0">
                <a:solidFill>
                  <a:schemeClr val="accent2"/>
                </a:solidFill>
                <a:latin typeface="Century Gothic" pitchFamily="34" charset="0"/>
                <a:ea typeface="細明體" pitchFamily="49" charset="-120"/>
              </a:rPr>
              <a:t>NG</a:t>
            </a:r>
            <a:endParaRPr kumimoji="0" lang="en-US" altLang="zh-TW" sz="700" dirty="0">
              <a:solidFill>
                <a:schemeClr val="accent2"/>
              </a:solidFill>
              <a:latin typeface="Century Gothic" pitchFamily="34" charset="0"/>
              <a:ea typeface="細明體" pitchFamily="49" charset="-120"/>
            </a:endParaRPr>
          </a:p>
        </p:txBody>
      </p:sp>
      <p:cxnSp>
        <p:nvCxnSpPr>
          <p:cNvPr id="247" name="AutoShape 149"/>
          <p:cNvCxnSpPr>
            <a:cxnSpLocks noChangeShapeType="1"/>
            <a:stCxn id="118" idx="2"/>
            <a:endCxn id="176" idx="0"/>
          </p:cNvCxnSpPr>
          <p:nvPr/>
        </p:nvCxnSpPr>
        <p:spPr bwMode="auto">
          <a:xfrm>
            <a:off x="2487096" y="2427012"/>
            <a:ext cx="4069" cy="20377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3" name="Text Box 10"/>
          <p:cNvSpPr txBox="1">
            <a:spLocks noChangeArrowheads="1"/>
          </p:cNvSpPr>
          <p:nvPr/>
        </p:nvSpPr>
        <p:spPr bwMode="auto">
          <a:xfrm>
            <a:off x="1432220" y="5445224"/>
            <a:ext cx="28575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800" b="1" dirty="0" smtClean="0">
                <a:solidFill>
                  <a:schemeClr val="accent2"/>
                </a:solidFill>
                <a:latin typeface="Century Gothic" pitchFamily="34" charset="0"/>
                <a:ea typeface="細明體" pitchFamily="49" charset="-120"/>
              </a:rPr>
              <a:t>NG</a:t>
            </a:r>
            <a:endParaRPr kumimoji="0" lang="en-US" altLang="zh-TW" sz="800" b="1" dirty="0">
              <a:solidFill>
                <a:schemeClr val="accent2"/>
              </a:solidFill>
              <a:latin typeface="Century Gothic" pitchFamily="34" charset="0"/>
              <a:ea typeface="細明體" pitchFamily="49" charset="-120"/>
            </a:endParaRPr>
          </a:p>
        </p:txBody>
      </p:sp>
      <p:sp>
        <p:nvSpPr>
          <p:cNvPr id="227" name="AutoShape 220"/>
          <p:cNvSpPr>
            <a:spLocks noChangeArrowheads="1"/>
          </p:cNvSpPr>
          <p:nvPr/>
        </p:nvSpPr>
        <p:spPr bwMode="auto">
          <a:xfrm>
            <a:off x="1632150" y="5423564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PA </a:t>
            </a: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cosmetic</a:t>
            </a:r>
          </a:p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(69)</a:t>
            </a:r>
          </a:p>
        </p:txBody>
      </p:sp>
      <p:sp>
        <p:nvSpPr>
          <p:cNvPr id="285" name="Text Box 10"/>
          <p:cNvSpPr txBox="1">
            <a:spLocks noChangeArrowheads="1"/>
          </p:cNvSpPr>
          <p:nvPr/>
        </p:nvSpPr>
        <p:spPr bwMode="auto">
          <a:xfrm>
            <a:off x="2481900" y="5805264"/>
            <a:ext cx="431959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b="1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sp>
        <p:nvSpPr>
          <p:cNvPr id="287" name="线形标注 2(带强调线) 286"/>
          <p:cNvSpPr/>
          <p:nvPr/>
        </p:nvSpPr>
        <p:spPr>
          <a:xfrm>
            <a:off x="3564210" y="5589240"/>
            <a:ext cx="936104" cy="216024"/>
          </a:xfrm>
          <a:prstGeom prst="accentCallout2">
            <a:avLst>
              <a:gd name="adj1" fmla="val 51195"/>
              <a:gd name="adj2" fmla="val -5229"/>
              <a:gd name="adj3" fmla="val 50308"/>
              <a:gd name="adj4" fmla="val -12448"/>
              <a:gd name="adj5" fmla="val 497"/>
              <a:gd name="adj6" fmla="val -27051"/>
            </a:avLst>
          </a:prstGeom>
          <a:noFill/>
          <a:ln w="19050">
            <a:tailEnd type="oval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altLang="zh-TW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itchFamily="34" charset="0"/>
                <a:ea typeface="新細明體" pitchFamily="18" charset="-120"/>
              </a:rPr>
              <a:t>Check  the</a:t>
            </a:r>
            <a:r>
              <a:rPr lang="en-US" altLang="zh-TW" sz="700" b="1" dirty="0" smtClean="0">
                <a:solidFill>
                  <a:srgbClr val="FF0000"/>
                </a:solidFill>
                <a:latin typeface="Century Gothic" pitchFamily="34" charset="0"/>
                <a:ea typeface="新細明體" pitchFamily="18" charset="-120"/>
              </a:rPr>
              <a:t> 6P </a:t>
            </a:r>
            <a:r>
              <a:rPr lang="en-US" altLang="zh-CN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itchFamily="34" charset="0"/>
                <a:ea typeface="新細明體" pitchFamily="18" charset="-120"/>
              </a:rPr>
              <a:t>log,</a:t>
            </a:r>
          </a:p>
        </p:txBody>
      </p:sp>
      <p:cxnSp>
        <p:nvCxnSpPr>
          <p:cNvPr id="239" name="AutoShape 149"/>
          <p:cNvCxnSpPr>
            <a:cxnSpLocks noChangeShapeType="1"/>
            <a:endCxn id="227" idx="0"/>
          </p:cNvCxnSpPr>
          <p:nvPr/>
        </p:nvCxnSpPr>
        <p:spPr bwMode="auto">
          <a:xfrm flipH="1">
            <a:off x="2492688" y="5205870"/>
            <a:ext cx="474" cy="21769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 Box 10"/>
          <p:cNvSpPr txBox="1">
            <a:spLocks noChangeArrowheads="1"/>
          </p:cNvSpPr>
          <p:nvPr/>
        </p:nvSpPr>
        <p:spPr bwMode="auto">
          <a:xfrm>
            <a:off x="1692002" y="3140968"/>
            <a:ext cx="222018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700" dirty="0" smtClean="0">
                <a:solidFill>
                  <a:schemeClr val="accent2"/>
                </a:solidFill>
                <a:latin typeface="Century Gothic" pitchFamily="34" charset="0"/>
                <a:ea typeface="細明體" pitchFamily="49" charset="-120"/>
              </a:rPr>
              <a:t>NG</a:t>
            </a:r>
            <a:endParaRPr kumimoji="0" lang="en-US" altLang="zh-TW" sz="700" dirty="0">
              <a:solidFill>
                <a:schemeClr val="accent2"/>
              </a:solidFill>
              <a:latin typeface="Century Gothic" pitchFamily="34" charset="0"/>
              <a:ea typeface="細明體" pitchFamily="49" charset="-120"/>
            </a:endParaRPr>
          </a:p>
        </p:txBody>
      </p:sp>
      <p:sp>
        <p:nvSpPr>
          <p:cNvPr id="110" name="流程图: 手动操作 109"/>
          <p:cNvSpPr/>
          <p:nvPr/>
        </p:nvSpPr>
        <p:spPr>
          <a:xfrm>
            <a:off x="626426" y="2234669"/>
            <a:ext cx="828000" cy="180000"/>
          </a:xfrm>
          <a:prstGeom prst="flowChartManualOperation">
            <a:avLst/>
          </a:prstGeom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 eaLnBrk="0" hangingPunct="0">
              <a:defRPr/>
            </a:pPr>
            <a:r>
              <a:rPr lang="en-US" altLang="zh-TW" sz="800" b="1" dirty="0" smtClean="0">
                <a:solidFill>
                  <a:schemeClr val="bg1"/>
                </a:solidFill>
                <a:latin typeface="Century Gothic" pitchFamily="34" charset="0"/>
              </a:rPr>
              <a:t>FA REPAIR</a:t>
            </a:r>
            <a:endParaRPr lang="zh-CN" altLang="en-US" sz="800" b="1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18" name="AutoShape 148"/>
          <p:cNvSpPr>
            <a:spLocks noChangeArrowheads="1"/>
          </p:cNvSpPr>
          <p:nvPr/>
        </p:nvSpPr>
        <p:spPr bwMode="auto">
          <a:xfrm>
            <a:off x="1626558" y="2060848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Function-TEST(50)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21" name="AutoShape 148"/>
          <p:cNvSpPr>
            <a:spLocks noChangeArrowheads="1"/>
          </p:cNvSpPr>
          <p:nvPr/>
        </p:nvSpPr>
        <p:spPr bwMode="auto">
          <a:xfrm>
            <a:off x="1619994" y="4863036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Image D/L(6P)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91" name="直線單箭頭接點 129"/>
          <p:cNvCxnSpPr>
            <a:stCxn id="101" idx="2"/>
            <a:endCxn id="116" idx="0"/>
          </p:cNvCxnSpPr>
          <p:nvPr/>
        </p:nvCxnSpPr>
        <p:spPr bwMode="auto">
          <a:xfrm rot="5400000">
            <a:off x="2392710" y="1424710"/>
            <a:ext cx="189876" cy="158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線單箭頭接點 146"/>
          <p:cNvCxnSpPr>
            <a:stCxn id="103" idx="2"/>
            <a:endCxn id="101" idx="0"/>
          </p:cNvCxnSpPr>
          <p:nvPr/>
        </p:nvCxnSpPr>
        <p:spPr bwMode="auto">
          <a:xfrm rot="5400000">
            <a:off x="2391258" y="867218"/>
            <a:ext cx="192780" cy="158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線單箭頭接點 146"/>
          <p:cNvCxnSpPr>
            <a:stCxn id="104" idx="3"/>
            <a:endCxn id="103" idx="1"/>
          </p:cNvCxnSpPr>
          <p:nvPr/>
        </p:nvCxnSpPr>
        <p:spPr bwMode="auto">
          <a:xfrm flipV="1">
            <a:off x="1355377" y="587746"/>
            <a:ext cx="271733" cy="514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AutoShape 145"/>
          <p:cNvSpPr>
            <a:spLocks noChangeArrowheads="1"/>
          </p:cNvSpPr>
          <p:nvPr/>
        </p:nvSpPr>
        <p:spPr bwMode="auto">
          <a:xfrm>
            <a:off x="1627110" y="963608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BOARD INPUT(40)</a:t>
            </a:r>
            <a:endParaRPr lang="en-US" altLang="zh-CN" sz="900" b="1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03" name="AutoShape 144"/>
          <p:cNvSpPr>
            <a:spLocks noChangeArrowheads="1"/>
          </p:cNvSpPr>
          <p:nvPr/>
        </p:nvSpPr>
        <p:spPr bwMode="auto">
          <a:xfrm>
            <a:off x="1627110" y="404664"/>
            <a:ext cx="1721076" cy="366164"/>
          </a:xfrm>
          <a:prstGeom prst="roundRect">
            <a:avLst>
              <a:gd name="adj" fmla="val 16667"/>
            </a:avLst>
          </a:prstGeom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TRAVEL CARD PRINT</a:t>
            </a:r>
          </a:p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(F0)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04" name="AutoShape 144"/>
          <p:cNvSpPr>
            <a:spLocks noChangeArrowheads="1"/>
          </p:cNvSpPr>
          <p:nvPr/>
        </p:nvSpPr>
        <p:spPr bwMode="auto">
          <a:xfrm>
            <a:off x="478665" y="426450"/>
            <a:ext cx="876712" cy="332877"/>
          </a:xfrm>
          <a:prstGeom prst="roundRect">
            <a:avLst>
              <a:gd name="adj" fmla="val 16667"/>
            </a:avLst>
          </a:prstGeom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MO DATA INPUT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16" name="AutoShape 267"/>
          <p:cNvSpPr>
            <a:spLocks noChangeArrowheads="1"/>
          </p:cNvSpPr>
          <p:nvPr/>
        </p:nvSpPr>
        <p:spPr bwMode="auto">
          <a:xfrm>
            <a:off x="1627110" y="1519648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CONFIG label(4C)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19" name="直線單箭頭接點 129"/>
          <p:cNvCxnSpPr>
            <a:stCxn id="116" idx="2"/>
            <a:endCxn id="118" idx="0"/>
          </p:cNvCxnSpPr>
          <p:nvPr/>
        </p:nvCxnSpPr>
        <p:spPr bwMode="auto">
          <a:xfrm flipH="1">
            <a:off x="2487096" y="1885812"/>
            <a:ext cx="552" cy="17503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線單箭頭接點 146"/>
          <p:cNvCxnSpPr>
            <a:stCxn id="145" idx="3"/>
          </p:cNvCxnSpPr>
          <p:nvPr/>
        </p:nvCxnSpPr>
        <p:spPr bwMode="auto">
          <a:xfrm>
            <a:off x="1403826" y="1712090"/>
            <a:ext cx="251092" cy="155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AutoShape 137"/>
          <p:cNvSpPr>
            <a:spLocks noChangeArrowheads="1"/>
          </p:cNvSpPr>
          <p:nvPr/>
        </p:nvSpPr>
        <p:spPr bwMode="auto">
          <a:xfrm>
            <a:off x="107826" y="1529008"/>
            <a:ext cx="1296000" cy="366164"/>
          </a:xfrm>
          <a:prstGeom prst="roundRect">
            <a:avLst>
              <a:gd name="adj" fmla="val 16667"/>
            </a:avLst>
          </a:prstGeom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OFFLINE PRINT PN</a:t>
            </a:r>
          </a:p>
        </p:txBody>
      </p:sp>
      <p:sp>
        <p:nvSpPr>
          <p:cNvPr id="165" name="流程图: 联系 164"/>
          <p:cNvSpPr/>
          <p:nvPr/>
        </p:nvSpPr>
        <p:spPr>
          <a:xfrm>
            <a:off x="969748" y="1925236"/>
            <a:ext cx="141357" cy="150302"/>
          </a:xfrm>
          <a:prstGeom prst="flowChartConnector">
            <a:avLst/>
          </a:prstGeom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 eaLnBrk="0" hangingPunct="0"/>
            <a:endParaRPr lang="zh-CN" altLang="en-US" sz="800" b="1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66" name="直接箭头连接符 165"/>
          <p:cNvCxnSpPr/>
          <p:nvPr/>
        </p:nvCxnSpPr>
        <p:spPr>
          <a:xfrm flipV="1">
            <a:off x="1040427" y="2068112"/>
            <a:ext cx="0" cy="17255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组合 29"/>
          <p:cNvGrpSpPr/>
          <p:nvPr/>
        </p:nvGrpSpPr>
        <p:grpSpPr>
          <a:xfrm>
            <a:off x="-537" y="4757043"/>
            <a:ext cx="1003807" cy="1656185"/>
            <a:chOff x="-537" y="4581128"/>
            <a:chExt cx="1003807" cy="1656185"/>
          </a:xfrm>
        </p:grpSpPr>
        <p:sp>
          <p:nvSpPr>
            <p:cNvPr id="98" name="同侧圆角矩形 97"/>
            <p:cNvSpPr/>
            <p:nvPr/>
          </p:nvSpPr>
          <p:spPr>
            <a:xfrm rot="5400000">
              <a:off x="-326726" y="4907317"/>
              <a:ext cx="1656185" cy="100380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21787" y="5232946"/>
              <a:ext cx="325647" cy="109710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REPAIR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06" name="Rectangle 41"/>
            <p:cNvSpPr>
              <a:spLocks noChangeArrowheads="1"/>
            </p:cNvSpPr>
            <p:nvPr/>
          </p:nvSpPr>
          <p:spPr bwMode="auto">
            <a:xfrm>
              <a:off x="76987" y="5469348"/>
              <a:ext cx="143423" cy="13211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rPr>
                <a:t>A</a:t>
              </a:r>
              <a:endParaRPr lang="zh-TW" altLang="en-US" sz="700" b="1" dirty="0" smtClean="0">
                <a:solidFill>
                  <a:schemeClr val="bg1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21787" y="5424097"/>
              <a:ext cx="541257" cy="21431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NOT </a:t>
              </a:r>
            </a:p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21787" y="4709717"/>
              <a:ext cx="533637" cy="107722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21787" y="4924031"/>
              <a:ext cx="533638" cy="221626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Off-line</a:t>
              </a:r>
            </a:p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44" name="AutoShape 6"/>
            <p:cNvSpPr>
              <a:spLocks noChangeArrowheads="1"/>
            </p:cNvSpPr>
            <p:nvPr/>
          </p:nvSpPr>
          <p:spPr bwMode="auto">
            <a:xfrm>
              <a:off x="76987" y="4965898"/>
              <a:ext cx="143423" cy="132111"/>
            </a:xfrm>
            <a:prstGeom prst="roundRect">
              <a:avLst>
                <a:gd name="adj" fmla="val 16667"/>
              </a:avLst>
            </a:prstGeom>
            <a:ln w="19050"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effectLst>
                    <a:innerShdw blurRad="25400" dist="127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rPr>
                <a:t>A</a:t>
              </a:r>
              <a:endParaRPr lang="en-US" altLang="zh-TW" sz="700" b="1" dirty="0">
                <a:solidFill>
                  <a:schemeClr val="bg1"/>
                </a:solidFill>
                <a:effectLst>
                  <a:innerShdw blurRad="25400" dist="12700" dir="162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</a:endParaRPr>
            </a:p>
          </p:txBody>
        </p:sp>
        <p:sp>
          <p:nvSpPr>
            <p:cNvPr id="146" name="AutoShape 6"/>
            <p:cNvSpPr>
              <a:spLocks noChangeArrowheads="1"/>
            </p:cNvSpPr>
            <p:nvPr/>
          </p:nvSpPr>
          <p:spPr bwMode="auto">
            <a:xfrm>
              <a:off x="76987" y="5728262"/>
              <a:ext cx="143423" cy="132111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>
                    <a:shade val="51000"/>
                    <a:satMod val="130000"/>
                    <a:alpha val="50000"/>
                  </a:schemeClr>
                </a:gs>
                <a:gs pos="80000">
                  <a:schemeClr val="accent1">
                    <a:shade val="93000"/>
                    <a:satMod val="130000"/>
                    <a:alpha val="50000"/>
                  </a:schemeClr>
                </a:gs>
                <a:gs pos="100000">
                  <a:schemeClr val="accent1">
                    <a:shade val="94000"/>
                    <a:satMod val="135000"/>
                    <a:alpha val="50000"/>
                  </a:schemeClr>
                </a:gs>
              </a:gsLst>
            </a:gra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latin typeface="Century Gothic" pitchFamily="34" charset="0"/>
                </a:rPr>
                <a:t>A</a:t>
              </a:r>
              <a:endParaRPr lang="en-US" altLang="zh-TW" sz="700" b="1" dirty="0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1787" y="5684448"/>
              <a:ext cx="541257" cy="21544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Special  Demand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grpSp>
          <p:nvGrpSpPr>
            <p:cNvPr id="4" name="组合 117"/>
            <p:cNvGrpSpPr/>
            <p:nvPr/>
          </p:nvGrpSpPr>
          <p:grpSpPr>
            <a:xfrm>
              <a:off x="76987" y="4688280"/>
              <a:ext cx="142876" cy="160503"/>
              <a:chOff x="107919" y="4764885"/>
              <a:chExt cx="142876" cy="160503"/>
            </a:xfrm>
          </p:grpSpPr>
          <p:sp>
            <p:nvSpPr>
              <p:cNvPr id="150" name="同侧圆角矩形 149"/>
              <p:cNvSpPr/>
              <p:nvPr/>
            </p:nvSpPr>
            <p:spPr>
              <a:xfrm>
                <a:off x="107919" y="4764885"/>
                <a:ext cx="142876" cy="71438"/>
              </a:xfrm>
              <a:prstGeom prst="round2SameRect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eaLnBrk="0" hangingPunct="0">
                  <a:defRPr/>
                </a:pPr>
                <a:endParaRPr lang="zh-CN" altLang="en-US" sz="300" b="1" dirty="0">
                  <a:solidFill>
                    <a:schemeClr val="bg1"/>
                  </a:solidFill>
                  <a:effectLst>
                    <a:innerShdw blurRad="25400" dist="127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endParaRPr>
              </a:p>
            </p:txBody>
          </p:sp>
          <p:sp>
            <p:nvSpPr>
              <p:cNvPr id="151" name="同侧圆角矩形 150"/>
              <p:cNvSpPr/>
              <p:nvPr/>
            </p:nvSpPr>
            <p:spPr>
              <a:xfrm flipV="1">
                <a:off x="107919" y="4853950"/>
                <a:ext cx="142876" cy="71438"/>
              </a:xfrm>
              <a:prstGeom prst="round2SameRect">
                <a:avLst/>
              </a:prstGeom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 sz="900" b="1" dirty="0" smtClean="0">
                  <a:latin typeface="Century Gothic" pitchFamily="34" charset="0"/>
                </a:endParaRPr>
              </a:p>
            </p:txBody>
          </p:sp>
          <p:sp>
            <p:nvSpPr>
              <p:cNvPr id="152" name="TextBox 151"/>
              <p:cNvSpPr txBox="1"/>
              <p:nvPr/>
            </p:nvSpPr>
            <p:spPr bwMode="auto">
              <a:xfrm>
                <a:off x="107919" y="4791085"/>
                <a:ext cx="142876" cy="1077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0" lang="en-US" altLang="zh-CN" sz="700" b="1" dirty="0" smtClean="0">
                    <a:solidFill>
                      <a:schemeClr val="bg1"/>
                    </a:solidFill>
                    <a:latin typeface="Century Gothic" pitchFamily="34" charset="0"/>
                    <a:ea typeface="細明體" pitchFamily="49" charset="-120"/>
                  </a:rPr>
                  <a:t>A</a:t>
                </a:r>
                <a:endParaRPr kumimoji="0" lang="zh-CN" altLang="en-US" sz="700" b="1" dirty="0" smtClean="0">
                  <a:solidFill>
                    <a:schemeClr val="bg1"/>
                  </a:solidFill>
                  <a:latin typeface="Century Gothic" pitchFamily="34" charset="0"/>
                  <a:ea typeface="細明體" pitchFamily="49" charset="-120"/>
                </a:endParaRPr>
              </a:p>
            </p:txBody>
          </p:sp>
        </p:grpSp>
        <p:sp>
          <p:nvSpPr>
            <p:cNvPr id="149" name="流程图: 手动操作 148"/>
            <p:cNvSpPr/>
            <p:nvPr/>
          </p:nvSpPr>
          <p:spPr>
            <a:xfrm>
              <a:off x="73454" y="5224071"/>
              <a:ext cx="144000" cy="108000"/>
            </a:xfrm>
            <a:prstGeom prst="flowChartManualOperation">
              <a:avLst/>
            </a:prstGeom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latin typeface="Century Gothic" pitchFamily="34" charset="0"/>
                </a:rPr>
                <a:t>A</a:t>
              </a:r>
              <a:endParaRPr lang="zh-CN" altLang="en-US" sz="700" b="1" dirty="0" smtClean="0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171" name="流程图: 联系 170"/>
            <p:cNvSpPr/>
            <p:nvPr/>
          </p:nvSpPr>
          <p:spPr>
            <a:xfrm>
              <a:off x="73454" y="5981851"/>
              <a:ext cx="141357" cy="150302"/>
            </a:xfrm>
            <a:prstGeom prst="flowChartConnector">
              <a:avLst/>
            </a:prstGeom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 eaLnBrk="0" hangingPunct="0"/>
              <a:endParaRPr lang="zh-CN" altLang="en-US" sz="800" b="1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314167" y="5949280"/>
              <a:ext cx="541257" cy="21544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Repair Unit Reflow 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</p:grpSp>
      <p:sp>
        <p:nvSpPr>
          <p:cNvPr id="196" name="AutoShape 220"/>
          <p:cNvSpPr>
            <a:spLocks noChangeArrowheads="1"/>
          </p:cNvSpPr>
          <p:nvPr/>
        </p:nvSpPr>
        <p:spPr bwMode="auto">
          <a:xfrm>
            <a:off x="1619994" y="3717032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endParaRPr lang="en-US" altLang="zh-TW" sz="800" b="1" dirty="0" smtClean="0">
              <a:solidFill>
                <a:schemeClr val="bg1"/>
              </a:solidFill>
              <a:latin typeface="Century Gothic" pitchFamily="34" charset="0"/>
            </a:endParaRPr>
          </a:p>
          <a:p>
            <a:pPr algn="ctr" eaLnBrk="0" hangingPunct="0">
              <a:defRPr/>
            </a:pPr>
            <a:r>
              <a:rPr lang="en-US" altLang="zh-TW" sz="800" b="1" dirty="0" smtClean="0">
                <a:solidFill>
                  <a:schemeClr val="bg1"/>
                </a:solidFill>
                <a:latin typeface="Century Gothic" pitchFamily="34" charset="0"/>
              </a:rPr>
              <a:t>RUN-IN</a:t>
            </a:r>
          </a:p>
          <a:p>
            <a:pPr algn="ctr" eaLnBrk="0" hangingPunct="0">
              <a:defRPr/>
            </a:pPr>
            <a:r>
              <a:rPr lang="en-US" altLang="zh-TW" sz="800" b="1" dirty="0" smtClean="0">
                <a:solidFill>
                  <a:schemeClr val="bg1"/>
                </a:solidFill>
                <a:latin typeface="Century Gothic" pitchFamily="34" charset="0"/>
              </a:rPr>
              <a:t>TEST(6R)</a:t>
            </a:r>
          </a:p>
          <a:p>
            <a:pPr algn="ctr" eaLnBrk="0" hangingPunct="0">
              <a:defRPr/>
            </a:pPr>
            <a:endParaRPr lang="en-US" altLang="zh-TW" sz="800" b="1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11" name="AutoShape 148"/>
          <p:cNvSpPr>
            <a:spLocks noChangeArrowheads="1"/>
          </p:cNvSpPr>
          <p:nvPr/>
        </p:nvSpPr>
        <p:spPr bwMode="auto">
          <a:xfrm>
            <a:off x="1626558" y="3167985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Shipping check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43" name="Text Box 10"/>
          <p:cNvSpPr txBox="1">
            <a:spLocks noChangeArrowheads="1"/>
          </p:cNvSpPr>
          <p:nvPr/>
        </p:nvSpPr>
        <p:spPr bwMode="auto">
          <a:xfrm>
            <a:off x="2555252" y="3525175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sp>
        <p:nvSpPr>
          <p:cNvPr id="176" name="AutoShape 267"/>
          <p:cNvSpPr>
            <a:spLocks noChangeArrowheads="1"/>
          </p:cNvSpPr>
          <p:nvPr/>
        </p:nvSpPr>
        <p:spPr bwMode="auto">
          <a:xfrm>
            <a:off x="1630627" y="2630788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Function test(50)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88" name="AutoShape 149"/>
          <p:cNvCxnSpPr>
            <a:cxnSpLocks noChangeShapeType="1"/>
          </p:cNvCxnSpPr>
          <p:nvPr/>
        </p:nvCxnSpPr>
        <p:spPr bwMode="auto">
          <a:xfrm>
            <a:off x="2484090" y="2996952"/>
            <a:ext cx="4069" cy="2099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AutoShape 149"/>
          <p:cNvCxnSpPr>
            <a:cxnSpLocks noChangeShapeType="1"/>
          </p:cNvCxnSpPr>
          <p:nvPr/>
        </p:nvCxnSpPr>
        <p:spPr bwMode="auto">
          <a:xfrm flipH="1">
            <a:off x="2480532" y="3501008"/>
            <a:ext cx="3558" cy="21924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AutoShape 267"/>
          <p:cNvSpPr>
            <a:spLocks noChangeArrowheads="1"/>
          </p:cNvSpPr>
          <p:nvPr/>
        </p:nvSpPr>
        <p:spPr bwMode="auto">
          <a:xfrm>
            <a:off x="1619994" y="4293096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Function test(60)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93" name="AutoShape 149"/>
          <p:cNvCxnSpPr>
            <a:cxnSpLocks noChangeShapeType="1"/>
            <a:stCxn id="196" idx="2"/>
          </p:cNvCxnSpPr>
          <p:nvPr/>
        </p:nvCxnSpPr>
        <p:spPr bwMode="auto">
          <a:xfrm>
            <a:off x="2480532" y="4083196"/>
            <a:ext cx="0" cy="20667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AutoShape 149"/>
          <p:cNvCxnSpPr>
            <a:cxnSpLocks noChangeShapeType="1"/>
            <a:stCxn id="191" idx="2"/>
          </p:cNvCxnSpPr>
          <p:nvPr/>
        </p:nvCxnSpPr>
        <p:spPr bwMode="auto">
          <a:xfrm>
            <a:off x="2480532" y="4659260"/>
            <a:ext cx="3558" cy="22221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AutoShape 267"/>
          <p:cNvSpPr>
            <a:spLocks noChangeArrowheads="1"/>
          </p:cNvSpPr>
          <p:nvPr/>
        </p:nvSpPr>
        <p:spPr bwMode="auto">
          <a:xfrm>
            <a:off x="1619994" y="6021288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PA label(81)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204" name="AutoShape 149"/>
          <p:cNvCxnSpPr>
            <a:cxnSpLocks noChangeShapeType="1"/>
            <a:stCxn id="227" idx="2"/>
          </p:cNvCxnSpPr>
          <p:nvPr/>
        </p:nvCxnSpPr>
        <p:spPr bwMode="auto">
          <a:xfrm flipH="1">
            <a:off x="2487648" y="5789728"/>
            <a:ext cx="5040" cy="23774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6" name="Text Box 10"/>
          <p:cNvSpPr txBox="1">
            <a:spLocks noChangeArrowheads="1"/>
          </p:cNvSpPr>
          <p:nvPr/>
        </p:nvSpPr>
        <p:spPr bwMode="auto">
          <a:xfrm>
            <a:off x="2700114" y="2996952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cxnSp>
        <p:nvCxnSpPr>
          <p:cNvPr id="224" name="圖案 223"/>
          <p:cNvCxnSpPr>
            <a:stCxn id="111" idx="1"/>
            <a:endCxn id="110" idx="2"/>
          </p:cNvCxnSpPr>
          <p:nvPr/>
        </p:nvCxnSpPr>
        <p:spPr>
          <a:xfrm rot="10800000">
            <a:off x="1040426" y="2414669"/>
            <a:ext cx="586132" cy="936398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圖案 228"/>
          <p:cNvCxnSpPr>
            <a:stCxn id="196" idx="1"/>
            <a:endCxn id="110" idx="2"/>
          </p:cNvCxnSpPr>
          <p:nvPr/>
        </p:nvCxnSpPr>
        <p:spPr>
          <a:xfrm rot="10800000">
            <a:off x="1040426" y="2414670"/>
            <a:ext cx="579568" cy="1485445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內容版面配置區 2"/>
          <p:cNvSpPr>
            <a:spLocks noGrp="1"/>
          </p:cNvSpPr>
          <p:nvPr>
            <p:ph idx="1"/>
          </p:nvPr>
        </p:nvSpPr>
        <p:spPr>
          <a:xfrm>
            <a:off x="3492202" y="764704"/>
            <a:ext cx="6336704" cy="4840288"/>
          </a:xfrm>
        </p:spPr>
        <p:txBody>
          <a:bodyPr/>
          <a:lstStyle/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F0-</a:t>
            </a:r>
            <a:r>
              <a:rPr lang="zh-CN" altLang="en-US" sz="1600" dirty="0" smtClean="0">
                <a:latin typeface="微軟正黑體" pitchFamily="34" charset="-120"/>
              </a:rPr>
              <a:t>流程卡：沿用整机开</a:t>
            </a:r>
            <a:r>
              <a:rPr lang="en-US" altLang="zh-CN" sz="1600" dirty="0" smtClean="0">
                <a:latin typeface="微軟正黑體" pitchFamily="34" charset="-120"/>
              </a:rPr>
              <a:t>MO</a:t>
            </a:r>
            <a:r>
              <a:rPr lang="zh-CN" altLang="en-US" sz="1600" dirty="0" smtClean="0">
                <a:latin typeface="微軟正黑體" pitchFamily="34" charset="-120"/>
              </a:rPr>
              <a:t>打印流程卡模式，流程卡独立设计。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40-</a:t>
            </a:r>
            <a:r>
              <a:rPr lang="zh-CN" altLang="en-US" sz="1600" dirty="0" smtClean="0">
                <a:latin typeface="微軟正黑體" pitchFamily="34" charset="-120"/>
              </a:rPr>
              <a:t>主板投入：</a:t>
            </a:r>
            <a:r>
              <a:rPr lang="en-US" altLang="zh-CN" sz="1600" dirty="0" smtClean="0">
                <a:latin typeface="微軟正黑體" pitchFamily="34" charset="-120"/>
              </a:rPr>
              <a:t>SA</a:t>
            </a:r>
            <a:r>
              <a:rPr lang="zh-CN" altLang="en-US" sz="1600" dirty="0" smtClean="0">
                <a:latin typeface="微軟正黑體" pitchFamily="34" charset="-120"/>
              </a:rPr>
              <a:t>流程同步搬入</a:t>
            </a:r>
            <a:r>
              <a:rPr lang="en-US" altLang="zh-CN" sz="1600" dirty="0" smtClean="0">
                <a:latin typeface="微軟正黑體" pitchFamily="34" charset="-120"/>
              </a:rPr>
              <a:t>IMES TRIS</a:t>
            </a:r>
            <a:r>
              <a:rPr lang="zh-CN" altLang="en-US" sz="1600" dirty="0" smtClean="0">
                <a:latin typeface="微軟正黑體" pitchFamily="34" charset="-120"/>
              </a:rPr>
              <a:t>模块，主板投入站管控</a:t>
            </a:r>
            <a:r>
              <a:rPr lang="en-US" altLang="zh-CN" sz="1600" dirty="0" smtClean="0">
                <a:latin typeface="微軟正黑體" pitchFamily="34" charset="-120"/>
              </a:rPr>
              <a:t>SA</a:t>
            </a:r>
            <a:r>
              <a:rPr lang="zh-CN" altLang="en-US" sz="1600" dirty="0" smtClean="0">
                <a:latin typeface="微軟正黑體" pitchFamily="34" charset="-120"/>
              </a:rPr>
              <a:t>流程是否完成。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4C-Config label</a:t>
            </a:r>
            <a:r>
              <a:rPr lang="zh-CN" altLang="en-US" sz="1600" dirty="0" smtClean="0">
                <a:latin typeface="微軟正黑體" pitchFamily="34" charset="-120"/>
              </a:rPr>
              <a:t>：设计两个页面：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combine </a:t>
            </a:r>
            <a:r>
              <a:rPr lang="en-US" altLang="zh-CN" sz="1600" dirty="0" err="1" smtClean="0">
                <a:latin typeface="微軟正黑體" pitchFamily="34" charset="-120"/>
              </a:rPr>
              <a:t>keyparts</a:t>
            </a:r>
            <a:r>
              <a:rPr lang="en-US" altLang="zh-CN" sz="1600" dirty="0" smtClean="0">
                <a:latin typeface="微軟正黑體" pitchFamily="34" charset="-120"/>
              </a:rPr>
              <a:t> print label</a:t>
            </a:r>
            <a:r>
              <a:rPr lang="zh-CN" altLang="en-US" sz="1600" dirty="0" smtClean="0">
                <a:latin typeface="微軟正黑體" pitchFamily="34" charset="-120"/>
              </a:rPr>
              <a:t>，</a:t>
            </a:r>
            <a:r>
              <a:rPr lang="en-US" altLang="zh-CN" sz="1600" dirty="0" smtClean="0">
                <a:latin typeface="微軟正黑體" pitchFamily="34" charset="-120"/>
              </a:rPr>
              <a:t>IMESBOM</a:t>
            </a:r>
            <a:r>
              <a:rPr lang="zh-CN" altLang="en-US" sz="1600" dirty="0" smtClean="0">
                <a:latin typeface="微軟正黑體" pitchFamily="34" charset="-120"/>
              </a:rPr>
              <a:t>只展一阶比对。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No check </a:t>
            </a:r>
            <a:r>
              <a:rPr lang="en-US" altLang="zh-CN" sz="1600" dirty="0" err="1" smtClean="0">
                <a:latin typeface="微軟正黑體" pitchFamily="34" charset="-120"/>
              </a:rPr>
              <a:t>keyparts</a:t>
            </a:r>
            <a:r>
              <a:rPr lang="en-US" altLang="zh-CN" sz="1600" dirty="0" smtClean="0">
                <a:latin typeface="微軟正黑體" pitchFamily="34" charset="-120"/>
              </a:rPr>
              <a:t> print </a:t>
            </a:r>
            <a:r>
              <a:rPr lang="en-US" altLang="zh-CN" sz="1600" dirty="0" err="1" smtClean="0">
                <a:latin typeface="微軟正黑體" pitchFamily="34" charset="-120"/>
              </a:rPr>
              <a:t>labal</a:t>
            </a:r>
            <a:r>
              <a:rPr lang="zh-CN" altLang="en-US" sz="1600" dirty="0" smtClean="0">
                <a:latin typeface="微軟正黑體" pitchFamily="34" charset="-120"/>
              </a:rPr>
              <a:t>，直接展</a:t>
            </a:r>
            <a:r>
              <a:rPr lang="en-US" altLang="zh-CN" sz="1600" dirty="0" smtClean="0">
                <a:latin typeface="微軟正黑體" pitchFamily="34" charset="-120"/>
              </a:rPr>
              <a:t>BOM</a:t>
            </a:r>
            <a:r>
              <a:rPr lang="zh-CN" altLang="en-US" sz="1600" dirty="0" smtClean="0">
                <a:latin typeface="微軟正黑體" pitchFamily="34" charset="-120"/>
              </a:rPr>
              <a:t>抓取资料打印。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zh-CN" altLang="en-US" sz="1600" dirty="0" smtClean="0">
                <a:latin typeface="微軟正黑體" pitchFamily="34" charset="-120"/>
              </a:rPr>
              <a:t>需要分配</a:t>
            </a:r>
            <a:r>
              <a:rPr lang="en-US" altLang="zh-CN" sz="1600" dirty="0" smtClean="0">
                <a:latin typeface="微軟正黑體" pitchFamily="34" charset="-120"/>
              </a:rPr>
              <a:t>CUSTSN</a:t>
            </a:r>
            <a:r>
              <a:rPr lang="zh-CN" altLang="en-US" sz="1600" dirty="0" smtClean="0">
                <a:latin typeface="微軟正黑體" pitchFamily="34" charset="-120"/>
              </a:rPr>
              <a:t>，</a:t>
            </a:r>
            <a:r>
              <a:rPr lang="en-US" altLang="zh-CN" sz="1600" dirty="0" smtClean="0">
                <a:latin typeface="微軟正黑體" pitchFamily="34" charset="-120"/>
              </a:rPr>
              <a:t>5CNXXXXXXX</a:t>
            </a: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50-Test</a:t>
            </a:r>
            <a:r>
              <a:rPr lang="zh-CN" altLang="en-US" sz="1600" dirty="0" smtClean="0">
                <a:latin typeface="微軟正黑體" pitchFamily="34" charset="-120"/>
              </a:rPr>
              <a:t>：可以刷入良品，可以刷入不良。增加下拉选项：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50 function test</a:t>
            </a:r>
            <a:r>
              <a:rPr lang="zh-CN" altLang="en-US" sz="1600" dirty="0" smtClean="0">
                <a:latin typeface="微軟正黑體" pitchFamily="34" charset="-120"/>
              </a:rPr>
              <a:t>，</a:t>
            </a:r>
            <a:r>
              <a:rPr lang="en-US" altLang="zh-CN" sz="1600" dirty="0" smtClean="0">
                <a:latin typeface="微軟正黑體" pitchFamily="34" charset="-120"/>
              </a:rPr>
              <a:t>60 run in test</a:t>
            </a: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(61 DL Fail;62 2PP fail;63 </a:t>
            </a:r>
            <a:r>
              <a:rPr lang="en-US" altLang="zh-CN" sz="1600" dirty="0" err="1" smtClean="0">
                <a:latin typeface="微軟正黑體" pitchFamily="34" charset="-120"/>
              </a:rPr>
              <a:t>runin</a:t>
            </a:r>
            <a:r>
              <a:rPr lang="en-US" altLang="zh-CN" sz="1600" dirty="0" smtClean="0">
                <a:latin typeface="微軟正黑體" pitchFamily="34" charset="-120"/>
              </a:rPr>
              <a:t> fail;64 OA3 fail)</a:t>
            </a:r>
          </a:p>
          <a:p>
            <a:pPr>
              <a:buNone/>
            </a:pP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TW" sz="1600" dirty="0" smtClean="0">
                <a:latin typeface="微軟正黑體" pitchFamily="34" charset="-120"/>
              </a:rPr>
              <a:t>69-Cosmetic</a:t>
            </a:r>
            <a:r>
              <a:rPr lang="zh-CN" altLang="en-US" sz="1600" dirty="0" smtClean="0">
                <a:latin typeface="微軟正黑體" pitchFamily="34" charset="-120"/>
              </a:rPr>
              <a:t>：可以刷入良品，可以刷入外观不良。管控</a:t>
            </a:r>
            <a:r>
              <a:rPr lang="en-US" altLang="zh-CN" sz="1600" dirty="0" smtClean="0">
                <a:latin typeface="微軟正黑體" pitchFamily="34" charset="-120"/>
              </a:rPr>
              <a:t>6P</a:t>
            </a:r>
            <a:r>
              <a:rPr lang="zh-CN" altLang="en-US" sz="1600" dirty="0" smtClean="0">
                <a:latin typeface="微軟正黑體" pitchFamily="34" charset="-120"/>
              </a:rPr>
              <a:t>记录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TW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TW" sz="1600" dirty="0" smtClean="0">
                <a:latin typeface="微軟正黑體" pitchFamily="34" charset="-120"/>
              </a:rPr>
              <a:t>81</a:t>
            </a:r>
            <a:r>
              <a:rPr lang="en-US" altLang="zh-CN" sz="1600" dirty="0" smtClean="0">
                <a:latin typeface="微軟正黑體" pitchFamily="34" charset="-120"/>
              </a:rPr>
              <a:t>-PA label</a:t>
            </a:r>
            <a:r>
              <a:rPr lang="zh-CN" altLang="en-US" sz="1600" dirty="0" smtClean="0">
                <a:latin typeface="微軟正黑體" pitchFamily="34" charset="-120"/>
              </a:rPr>
              <a:t>：刷入</a:t>
            </a:r>
            <a:r>
              <a:rPr lang="en-US" altLang="zh-CN" sz="1600" dirty="0" smtClean="0">
                <a:latin typeface="微軟正黑體" pitchFamily="34" charset="-120"/>
              </a:rPr>
              <a:t>SN</a:t>
            </a:r>
            <a:r>
              <a:rPr lang="zh-CN" altLang="en-US" sz="1600" dirty="0" smtClean="0">
                <a:latin typeface="微軟正黑體" pitchFamily="34" charset="-120"/>
              </a:rPr>
              <a:t>打印</a:t>
            </a:r>
            <a:r>
              <a:rPr lang="en-US" altLang="zh-CN" sz="1600" dirty="0" err="1" smtClean="0">
                <a:latin typeface="微軟正黑體" pitchFamily="34" charset="-120"/>
              </a:rPr>
              <a:t>config</a:t>
            </a:r>
            <a:r>
              <a:rPr lang="en-US" altLang="zh-CN" sz="1600" dirty="0" smtClean="0">
                <a:latin typeface="微軟正黑體" pitchFamily="34" charset="-120"/>
              </a:rPr>
              <a:t> label</a:t>
            </a:r>
            <a:r>
              <a:rPr lang="zh-CN" altLang="en-US" sz="1600" dirty="0" smtClean="0">
                <a:latin typeface="微軟正黑體" pitchFamily="34" charset="-120"/>
              </a:rPr>
              <a:t>。</a:t>
            </a:r>
            <a:endParaRPr lang="zh-TW" altLang="en-US" sz="1600" dirty="0">
              <a:latin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7870" y="19460"/>
            <a:ext cx="4581350" cy="330278"/>
          </a:xfrm>
        </p:spPr>
        <p:txBody>
          <a:bodyPr/>
          <a:lstStyle/>
          <a:p>
            <a:pPr algn="ctr"/>
            <a:r>
              <a:rPr lang="en-US" altLang="zh-TW" dirty="0" smtClean="0">
                <a:effectLst/>
                <a:latin typeface="Century Gothic" pitchFamily="34" charset="0"/>
              </a:rPr>
              <a:t>NPI IMES R</a:t>
            </a:r>
            <a:r>
              <a:rPr lang="en-US" altLang="zh-CN" dirty="0" smtClean="0">
                <a:effectLst/>
                <a:latin typeface="Century Gothic" pitchFamily="34" charset="0"/>
              </a:rPr>
              <a:t>epair</a:t>
            </a:r>
            <a:r>
              <a:rPr lang="en-US" altLang="zh-TW" dirty="0" smtClean="0">
                <a:effectLst/>
                <a:latin typeface="Century Gothic" pitchFamily="34" charset="0"/>
              </a:rPr>
              <a:t> Flow Chart</a:t>
            </a:r>
            <a:endParaRPr lang="zh-CN" altLang="en-US" dirty="0">
              <a:effectLst/>
            </a:endParaRPr>
          </a:p>
        </p:txBody>
      </p:sp>
      <p:sp>
        <p:nvSpPr>
          <p:cNvPr id="94" name="Line 261"/>
          <p:cNvSpPr>
            <a:spLocks noChangeShapeType="1"/>
          </p:cNvSpPr>
          <p:nvPr/>
        </p:nvSpPr>
        <p:spPr bwMode="auto">
          <a:xfrm>
            <a:off x="2067896" y="582075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5420" tIns="37710" rIns="75420" bIns="37710" anchor="ctr"/>
          <a:lstStyle/>
          <a:p>
            <a:endParaRPr lang="zh-CN" altLang="en-US" dirty="0"/>
          </a:p>
        </p:txBody>
      </p:sp>
      <p:cxnSp>
        <p:nvCxnSpPr>
          <p:cNvPr id="240" name="形状 176"/>
          <p:cNvCxnSpPr>
            <a:stCxn id="227" idx="1"/>
            <a:endCxn id="121" idx="1"/>
          </p:cNvCxnSpPr>
          <p:nvPr/>
        </p:nvCxnSpPr>
        <p:spPr bwMode="auto">
          <a:xfrm rot="10800000">
            <a:off x="1619994" y="5039994"/>
            <a:ext cx="12156" cy="560528"/>
          </a:xfrm>
          <a:prstGeom prst="bentConnector3">
            <a:avLst>
              <a:gd name="adj1" fmla="val 1980553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Text Box 10"/>
          <p:cNvSpPr txBox="1">
            <a:spLocks noChangeArrowheads="1"/>
          </p:cNvSpPr>
          <p:nvPr/>
        </p:nvSpPr>
        <p:spPr bwMode="auto">
          <a:xfrm>
            <a:off x="2555252" y="2414764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cxnSp>
        <p:nvCxnSpPr>
          <p:cNvPr id="211" name="形状 210"/>
          <p:cNvCxnSpPr>
            <a:stCxn id="118" idx="1"/>
            <a:endCxn id="110" idx="2"/>
          </p:cNvCxnSpPr>
          <p:nvPr/>
        </p:nvCxnSpPr>
        <p:spPr>
          <a:xfrm rot="10800000" flipV="1">
            <a:off x="1040426" y="2237805"/>
            <a:ext cx="586132" cy="170739"/>
          </a:xfrm>
          <a:prstGeom prst="bentConnector4">
            <a:avLst>
              <a:gd name="adj1" fmla="val 14684"/>
              <a:gd name="adj2" fmla="val 241118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3" name="Text Box 10"/>
          <p:cNvSpPr txBox="1">
            <a:spLocks noChangeArrowheads="1"/>
          </p:cNvSpPr>
          <p:nvPr/>
        </p:nvSpPr>
        <p:spPr bwMode="auto">
          <a:xfrm>
            <a:off x="1547986" y="2393104"/>
            <a:ext cx="305963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700" dirty="0" smtClean="0">
                <a:solidFill>
                  <a:schemeClr val="accent2"/>
                </a:solidFill>
                <a:latin typeface="Century Gothic" pitchFamily="34" charset="0"/>
                <a:ea typeface="細明體" pitchFamily="49" charset="-120"/>
              </a:rPr>
              <a:t>NG</a:t>
            </a:r>
            <a:endParaRPr kumimoji="0" lang="en-US" altLang="zh-TW" sz="700" dirty="0">
              <a:solidFill>
                <a:schemeClr val="accent2"/>
              </a:solidFill>
              <a:latin typeface="Century Gothic" pitchFamily="34" charset="0"/>
              <a:ea typeface="細明體" pitchFamily="49" charset="-120"/>
            </a:endParaRPr>
          </a:p>
        </p:txBody>
      </p:sp>
      <p:cxnSp>
        <p:nvCxnSpPr>
          <p:cNvPr id="247" name="AutoShape 149"/>
          <p:cNvCxnSpPr>
            <a:cxnSpLocks noChangeShapeType="1"/>
            <a:stCxn id="118" idx="2"/>
            <a:endCxn id="176" idx="0"/>
          </p:cNvCxnSpPr>
          <p:nvPr/>
        </p:nvCxnSpPr>
        <p:spPr bwMode="auto">
          <a:xfrm>
            <a:off x="2487096" y="2420888"/>
            <a:ext cx="4069" cy="20377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3" name="Text Box 10"/>
          <p:cNvSpPr txBox="1">
            <a:spLocks noChangeArrowheads="1"/>
          </p:cNvSpPr>
          <p:nvPr/>
        </p:nvSpPr>
        <p:spPr bwMode="auto">
          <a:xfrm>
            <a:off x="1432220" y="5439100"/>
            <a:ext cx="28575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800" b="1" dirty="0" smtClean="0">
                <a:solidFill>
                  <a:schemeClr val="accent2"/>
                </a:solidFill>
                <a:latin typeface="Century Gothic" pitchFamily="34" charset="0"/>
                <a:ea typeface="細明體" pitchFamily="49" charset="-120"/>
              </a:rPr>
              <a:t>NG</a:t>
            </a:r>
            <a:endParaRPr kumimoji="0" lang="en-US" altLang="zh-TW" sz="800" b="1" dirty="0">
              <a:solidFill>
                <a:schemeClr val="accent2"/>
              </a:solidFill>
              <a:latin typeface="Century Gothic" pitchFamily="34" charset="0"/>
              <a:ea typeface="細明體" pitchFamily="49" charset="-120"/>
            </a:endParaRPr>
          </a:p>
        </p:txBody>
      </p:sp>
      <p:sp>
        <p:nvSpPr>
          <p:cNvPr id="227" name="AutoShape 220"/>
          <p:cNvSpPr>
            <a:spLocks noChangeArrowheads="1"/>
          </p:cNvSpPr>
          <p:nvPr/>
        </p:nvSpPr>
        <p:spPr bwMode="auto">
          <a:xfrm>
            <a:off x="1632150" y="5417440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PA </a:t>
            </a: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cosmetic</a:t>
            </a:r>
          </a:p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(69)</a:t>
            </a:r>
          </a:p>
        </p:txBody>
      </p:sp>
      <p:sp>
        <p:nvSpPr>
          <p:cNvPr id="285" name="Text Box 10"/>
          <p:cNvSpPr txBox="1">
            <a:spLocks noChangeArrowheads="1"/>
          </p:cNvSpPr>
          <p:nvPr/>
        </p:nvSpPr>
        <p:spPr bwMode="auto">
          <a:xfrm>
            <a:off x="2481900" y="5799140"/>
            <a:ext cx="431959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b="1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sp>
        <p:nvSpPr>
          <p:cNvPr id="287" name="线形标注 2(带强调线) 286"/>
          <p:cNvSpPr/>
          <p:nvPr/>
        </p:nvSpPr>
        <p:spPr>
          <a:xfrm>
            <a:off x="3564210" y="5661248"/>
            <a:ext cx="936104" cy="216024"/>
          </a:xfrm>
          <a:prstGeom prst="accentCallout2">
            <a:avLst>
              <a:gd name="adj1" fmla="val 51195"/>
              <a:gd name="adj2" fmla="val -5229"/>
              <a:gd name="adj3" fmla="val 50308"/>
              <a:gd name="adj4" fmla="val -12448"/>
              <a:gd name="adj5" fmla="val 497"/>
              <a:gd name="adj6" fmla="val -27051"/>
            </a:avLst>
          </a:prstGeom>
          <a:noFill/>
          <a:ln w="19050">
            <a:tailEnd type="oval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altLang="zh-TW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itchFamily="34" charset="0"/>
                <a:ea typeface="新細明體" pitchFamily="18" charset="-120"/>
              </a:rPr>
              <a:t>Check  the</a:t>
            </a:r>
            <a:r>
              <a:rPr lang="en-US" altLang="zh-TW" sz="700" b="1" dirty="0" smtClean="0">
                <a:solidFill>
                  <a:srgbClr val="FF0000"/>
                </a:solidFill>
                <a:latin typeface="Century Gothic" pitchFamily="34" charset="0"/>
                <a:ea typeface="新細明體" pitchFamily="18" charset="-120"/>
              </a:rPr>
              <a:t> 6P </a:t>
            </a:r>
            <a:r>
              <a:rPr lang="en-US" altLang="zh-CN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itchFamily="34" charset="0"/>
                <a:ea typeface="新細明體" pitchFamily="18" charset="-120"/>
              </a:rPr>
              <a:t>log,</a:t>
            </a:r>
          </a:p>
        </p:txBody>
      </p:sp>
      <p:cxnSp>
        <p:nvCxnSpPr>
          <p:cNvPr id="239" name="AutoShape 149"/>
          <p:cNvCxnSpPr>
            <a:cxnSpLocks noChangeShapeType="1"/>
            <a:endCxn id="227" idx="0"/>
          </p:cNvCxnSpPr>
          <p:nvPr/>
        </p:nvCxnSpPr>
        <p:spPr bwMode="auto">
          <a:xfrm flipH="1">
            <a:off x="2492688" y="5199746"/>
            <a:ext cx="474" cy="21769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 Box 10"/>
          <p:cNvSpPr txBox="1">
            <a:spLocks noChangeArrowheads="1"/>
          </p:cNvSpPr>
          <p:nvPr/>
        </p:nvSpPr>
        <p:spPr bwMode="auto">
          <a:xfrm>
            <a:off x="1692002" y="3134844"/>
            <a:ext cx="222018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700" dirty="0" smtClean="0">
                <a:solidFill>
                  <a:schemeClr val="accent2"/>
                </a:solidFill>
                <a:latin typeface="Century Gothic" pitchFamily="34" charset="0"/>
                <a:ea typeface="細明體" pitchFamily="49" charset="-120"/>
              </a:rPr>
              <a:t>NG</a:t>
            </a:r>
            <a:endParaRPr kumimoji="0" lang="en-US" altLang="zh-TW" sz="700" dirty="0">
              <a:solidFill>
                <a:schemeClr val="accent2"/>
              </a:solidFill>
              <a:latin typeface="Century Gothic" pitchFamily="34" charset="0"/>
              <a:ea typeface="細明體" pitchFamily="49" charset="-120"/>
            </a:endParaRPr>
          </a:p>
        </p:txBody>
      </p:sp>
      <p:sp>
        <p:nvSpPr>
          <p:cNvPr id="110" name="流程图: 手动操作 109"/>
          <p:cNvSpPr/>
          <p:nvPr/>
        </p:nvSpPr>
        <p:spPr>
          <a:xfrm>
            <a:off x="626426" y="2228545"/>
            <a:ext cx="828000" cy="180000"/>
          </a:xfrm>
          <a:prstGeom prst="flowChartManualOperation">
            <a:avLst/>
          </a:prstGeom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 eaLnBrk="0" hangingPunct="0">
              <a:defRPr/>
            </a:pPr>
            <a:r>
              <a:rPr lang="en-US" altLang="zh-TW" sz="800" b="1" dirty="0" smtClean="0">
                <a:solidFill>
                  <a:schemeClr val="bg1"/>
                </a:solidFill>
                <a:latin typeface="Century Gothic" pitchFamily="34" charset="0"/>
              </a:rPr>
              <a:t>FA REPAIR</a:t>
            </a:r>
            <a:endParaRPr lang="zh-CN" altLang="en-US" sz="800" b="1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18" name="AutoShape 148"/>
          <p:cNvSpPr>
            <a:spLocks noChangeArrowheads="1"/>
          </p:cNvSpPr>
          <p:nvPr/>
        </p:nvSpPr>
        <p:spPr bwMode="auto">
          <a:xfrm>
            <a:off x="1626558" y="2054724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Function-TEST(50)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21" name="AutoShape 148"/>
          <p:cNvSpPr>
            <a:spLocks noChangeArrowheads="1"/>
          </p:cNvSpPr>
          <p:nvPr/>
        </p:nvSpPr>
        <p:spPr bwMode="auto">
          <a:xfrm>
            <a:off x="1619994" y="4856912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Image D/L(6P)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91" name="直線單箭頭接點 129"/>
          <p:cNvCxnSpPr>
            <a:stCxn id="64" idx="2"/>
            <a:endCxn id="101" idx="0"/>
          </p:cNvCxnSpPr>
          <p:nvPr/>
        </p:nvCxnSpPr>
        <p:spPr bwMode="auto">
          <a:xfrm>
            <a:off x="2480532" y="1058860"/>
            <a:ext cx="7116" cy="34779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線單箭頭接點 146"/>
          <p:cNvCxnSpPr>
            <a:stCxn id="64" idx="3"/>
            <a:endCxn id="71" idx="1"/>
          </p:cNvCxnSpPr>
          <p:nvPr/>
        </p:nvCxnSpPr>
        <p:spPr bwMode="auto">
          <a:xfrm>
            <a:off x="3341070" y="875778"/>
            <a:ext cx="37427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線單箭頭接點 146"/>
          <p:cNvCxnSpPr>
            <a:stCxn id="104" idx="3"/>
          </p:cNvCxnSpPr>
          <p:nvPr/>
        </p:nvCxnSpPr>
        <p:spPr bwMode="auto">
          <a:xfrm flipV="1">
            <a:off x="1355377" y="875778"/>
            <a:ext cx="271733" cy="514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AutoShape 145"/>
          <p:cNvSpPr>
            <a:spLocks noChangeArrowheads="1"/>
          </p:cNvSpPr>
          <p:nvPr/>
        </p:nvSpPr>
        <p:spPr bwMode="auto">
          <a:xfrm>
            <a:off x="1627110" y="1406652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Repair Key in(45)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04" name="AutoShape 144"/>
          <p:cNvSpPr>
            <a:spLocks noChangeArrowheads="1"/>
          </p:cNvSpPr>
          <p:nvPr/>
        </p:nvSpPr>
        <p:spPr bwMode="auto">
          <a:xfrm>
            <a:off x="478665" y="714482"/>
            <a:ext cx="876712" cy="332877"/>
          </a:xfrm>
          <a:prstGeom prst="roundRect">
            <a:avLst>
              <a:gd name="adj" fmla="val 16667"/>
            </a:avLst>
          </a:prstGeom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Online NG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65" name="流程图: 联系 164"/>
          <p:cNvSpPr/>
          <p:nvPr/>
        </p:nvSpPr>
        <p:spPr>
          <a:xfrm>
            <a:off x="969748" y="1910546"/>
            <a:ext cx="141357" cy="150302"/>
          </a:xfrm>
          <a:prstGeom prst="flowChartConnector">
            <a:avLst/>
          </a:prstGeom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 eaLnBrk="0" hangingPunct="0"/>
            <a:endParaRPr lang="zh-CN" altLang="en-US" sz="800" b="1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66" name="直接箭头连接符 165"/>
          <p:cNvCxnSpPr/>
          <p:nvPr/>
        </p:nvCxnSpPr>
        <p:spPr>
          <a:xfrm flipV="1">
            <a:off x="1040427" y="2061988"/>
            <a:ext cx="0" cy="17255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组合 29"/>
          <p:cNvGrpSpPr/>
          <p:nvPr/>
        </p:nvGrpSpPr>
        <p:grpSpPr>
          <a:xfrm>
            <a:off x="-537" y="4757043"/>
            <a:ext cx="1003807" cy="1656185"/>
            <a:chOff x="-537" y="4581128"/>
            <a:chExt cx="1003807" cy="1656185"/>
          </a:xfrm>
        </p:grpSpPr>
        <p:sp>
          <p:nvSpPr>
            <p:cNvPr id="98" name="同侧圆角矩形 97"/>
            <p:cNvSpPr/>
            <p:nvPr/>
          </p:nvSpPr>
          <p:spPr>
            <a:xfrm rot="5400000">
              <a:off x="-326726" y="4907317"/>
              <a:ext cx="1656185" cy="100380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21787" y="5232946"/>
              <a:ext cx="325647" cy="109710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REPAIR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06" name="Rectangle 41"/>
            <p:cNvSpPr>
              <a:spLocks noChangeArrowheads="1"/>
            </p:cNvSpPr>
            <p:nvPr/>
          </p:nvSpPr>
          <p:spPr bwMode="auto">
            <a:xfrm>
              <a:off x="76987" y="5469348"/>
              <a:ext cx="143423" cy="13211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rPr>
                <a:t>A</a:t>
              </a:r>
              <a:endParaRPr lang="zh-TW" altLang="en-US" sz="700" b="1" dirty="0" smtClean="0">
                <a:solidFill>
                  <a:schemeClr val="bg1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21787" y="5424097"/>
              <a:ext cx="541257" cy="21431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NOT </a:t>
              </a:r>
            </a:p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21787" y="4709717"/>
              <a:ext cx="533637" cy="107722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21787" y="4924031"/>
              <a:ext cx="533638" cy="221626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Off-line</a:t>
              </a:r>
            </a:p>
            <a:p>
              <a:r>
                <a:rPr lang="en-US" altLang="zh-CN" sz="700" dirty="0" smtClean="0">
                  <a:latin typeface="Century Gothic" pitchFamily="34" charset="0"/>
                </a:rPr>
                <a:t>FIS STATION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sp>
          <p:nvSpPr>
            <p:cNvPr id="144" name="AutoShape 6"/>
            <p:cNvSpPr>
              <a:spLocks noChangeArrowheads="1"/>
            </p:cNvSpPr>
            <p:nvPr/>
          </p:nvSpPr>
          <p:spPr bwMode="auto">
            <a:xfrm>
              <a:off x="76987" y="4965898"/>
              <a:ext cx="143423" cy="132111"/>
            </a:xfrm>
            <a:prstGeom prst="roundRect">
              <a:avLst>
                <a:gd name="adj" fmla="val 16667"/>
              </a:avLst>
            </a:prstGeom>
            <a:ln w="19050"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effectLst>
                    <a:innerShdw blurRad="25400" dist="127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rPr>
                <a:t>A</a:t>
              </a:r>
              <a:endParaRPr lang="en-US" altLang="zh-TW" sz="700" b="1" dirty="0">
                <a:solidFill>
                  <a:schemeClr val="bg1"/>
                </a:solidFill>
                <a:effectLst>
                  <a:innerShdw blurRad="25400" dist="12700" dir="162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</a:endParaRPr>
            </a:p>
          </p:txBody>
        </p:sp>
        <p:sp>
          <p:nvSpPr>
            <p:cNvPr id="146" name="AutoShape 6"/>
            <p:cNvSpPr>
              <a:spLocks noChangeArrowheads="1"/>
            </p:cNvSpPr>
            <p:nvPr/>
          </p:nvSpPr>
          <p:spPr bwMode="auto">
            <a:xfrm>
              <a:off x="76987" y="5728262"/>
              <a:ext cx="143423" cy="132111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>
                    <a:shade val="51000"/>
                    <a:satMod val="130000"/>
                    <a:alpha val="50000"/>
                  </a:schemeClr>
                </a:gs>
                <a:gs pos="80000">
                  <a:schemeClr val="accent1">
                    <a:shade val="93000"/>
                    <a:satMod val="130000"/>
                    <a:alpha val="50000"/>
                  </a:schemeClr>
                </a:gs>
                <a:gs pos="100000">
                  <a:schemeClr val="accent1">
                    <a:shade val="94000"/>
                    <a:satMod val="135000"/>
                    <a:alpha val="50000"/>
                  </a:schemeClr>
                </a:gs>
              </a:gsLst>
            </a:gra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latin typeface="Century Gothic" pitchFamily="34" charset="0"/>
                </a:rPr>
                <a:t>A</a:t>
              </a:r>
              <a:endParaRPr lang="en-US" altLang="zh-TW" sz="700" b="1" dirty="0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1787" y="5684448"/>
              <a:ext cx="541257" cy="21544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Special  Demand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  <p:grpSp>
          <p:nvGrpSpPr>
            <p:cNvPr id="4" name="组合 117"/>
            <p:cNvGrpSpPr/>
            <p:nvPr/>
          </p:nvGrpSpPr>
          <p:grpSpPr>
            <a:xfrm>
              <a:off x="76987" y="4688280"/>
              <a:ext cx="142876" cy="160503"/>
              <a:chOff x="107919" y="4764885"/>
              <a:chExt cx="142876" cy="160503"/>
            </a:xfrm>
          </p:grpSpPr>
          <p:sp>
            <p:nvSpPr>
              <p:cNvPr id="150" name="同侧圆角矩形 149"/>
              <p:cNvSpPr/>
              <p:nvPr/>
            </p:nvSpPr>
            <p:spPr>
              <a:xfrm>
                <a:off x="107919" y="4764885"/>
                <a:ext cx="142876" cy="71438"/>
              </a:xfrm>
              <a:prstGeom prst="round2SameRect">
                <a:avLst/>
              </a:prstGeom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eaLnBrk="0" hangingPunct="0">
                  <a:defRPr/>
                </a:pPr>
                <a:endParaRPr lang="zh-CN" altLang="en-US" sz="300" b="1" dirty="0">
                  <a:solidFill>
                    <a:schemeClr val="bg1"/>
                  </a:solidFill>
                  <a:effectLst>
                    <a:innerShdw blurRad="25400" dist="12700" dir="16200000">
                      <a:prstClr val="black">
                        <a:alpha val="50000"/>
                      </a:prstClr>
                    </a:innerShdw>
                  </a:effectLst>
                  <a:latin typeface="Century Gothic" pitchFamily="34" charset="0"/>
                </a:endParaRPr>
              </a:p>
            </p:txBody>
          </p:sp>
          <p:sp>
            <p:nvSpPr>
              <p:cNvPr id="151" name="同侧圆角矩形 150"/>
              <p:cNvSpPr/>
              <p:nvPr/>
            </p:nvSpPr>
            <p:spPr>
              <a:xfrm flipV="1">
                <a:off x="107919" y="4853950"/>
                <a:ext cx="142876" cy="71438"/>
              </a:xfrm>
              <a:prstGeom prst="round2SameRect">
                <a:avLst/>
              </a:prstGeom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 sz="900" b="1" dirty="0" smtClean="0">
                  <a:latin typeface="Century Gothic" pitchFamily="34" charset="0"/>
                </a:endParaRPr>
              </a:p>
            </p:txBody>
          </p:sp>
          <p:sp>
            <p:nvSpPr>
              <p:cNvPr id="152" name="TextBox 151"/>
              <p:cNvSpPr txBox="1"/>
              <p:nvPr/>
            </p:nvSpPr>
            <p:spPr bwMode="auto">
              <a:xfrm>
                <a:off x="107919" y="4791085"/>
                <a:ext cx="142876" cy="1077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0" lang="en-US" altLang="zh-CN" sz="700" b="1" dirty="0" smtClean="0">
                    <a:solidFill>
                      <a:schemeClr val="bg1"/>
                    </a:solidFill>
                    <a:latin typeface="Century Gothic" pitchFamily="34" charset="0"/>
                    <a:ea typeface="細明體" pitchFamily="49" charset="-120"/>
                  </a:rPr>
                  <a:t>A</a:t>
                </a:r>
                <a:endParaRPr kumimoji="0" lang="zh-CN" altLang="en-US" sz="700" b="1" dirty="0" smtClean="0">
                  <a:solidFill>
                    <a:schemeClr val="bg1"/>
                  </a:solidFill>
                  <a:latin typeface="Century Gothic" pitchFamily="34" charset="0"/>
                  <a:ea typeface="細明體" pitchFamily="49" charset="-120"/>
                </a:endParaRPr>
              </a:p>
            </p:txBody>
          </p:sp>
        </p:grpSp>
        <p:sp>
          <p:nvSpPr>
            <p:cNvPr id="149" name="流程图: 手动操作 148"/>
            <p:cNvSpPr/>
            <p:nvPr/>
          </p:nvSpPr>
          <p:spPr>
            <a:xfrm>
              <a:off x="73454" y="5224071"/>
              <a:ext cx="144000" cy="108000"/>
            </a:xfrm>
            <a:prstGeom prst="flowChartManualOperation">
              <a:avLst/>
            </a:prstGeom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r" eaLnBrk="0" hangingPunct="0">
                <a:defRPr/>
              </a:pPr>
              <a:r>
                <a:rPr lang="en-US" altLang="zh-TW" sz="700" b="1" dirty="0" smtClean="0">
                  <a:solidFill>
                    <a:schemeClr val="bg1"/>
                  </a:solidFill>
                  <a:latin typeface="Century Gothic" pitchFamily="34" charset="0"/>
                </a:rPr>
                <a:t>A</a:t>
              </a:r>
              <a:endParaRPr lang="zh-CN" altLang="en-US" sz="700" b="1" dirty="0" smtClean="0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171" name="流程图: 联系 170"/>
            <p:cNvSpPr/>
            <p:nvPr/>
          </p:nvSpPr>
          <p:spPr>
            <a:xfrm>
              <a:off x="73454" y="5981851"/>
              <a:ext cx="141357" cy="150302"/>
            </a:xfrm>
            <a:prstGeom prst="flowChartConnector">
              <a:avLst/>
            </a:prstGeom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anchor="ctr">
              <a:noAutofit/>
            </a:bodyPr>
            <a:lstStyle/>
            <a:p>
              <a:pPr algn="ctr" eaLnBrk="0" hangingPunct="0"/>
              <a:endParaRPr lang="zh-CN" altLang="en-US" sz="800" b="1">
                <a:solidFill>
                  <a:schemeClr val="bg1"/>
                </a:solidFill>
                <a:latin typeface="Century Gothic" pitchFamily="34" charset="0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314167" y="5949280"/>
              <a:ext cx="541257" cy="215444"/>
            </a:xfrm>
            <a:prstGeom prst="rect">
              <a:avLst/>
            </a:prstGeom>
            <a:noFill/>
            <a:ln cap="sq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700" dirty="0" smtClean="0">
                  <a:latin typeface="Century Gothic" pitchFamily="34" charset="0"/>
                </a:rPr>
                <a:t>Repair Unit Reflow </a:t>
              </a:r>
              <a:endParaRPr lang="zh-CN" altLang="en-US" sz="700" dirty="0" smtClean="0">
                <a:latin typeface="Century Gothic" pitchFamily="34" charset="0"/>
              </a:endParaRPr>
            </a:p>
          </p:txBody>
        </p:sp>
      </p:grpSp>
      <p:sp>
        <p:nvSpPr>
          <p:cNvPr id="196" name="AutoShape 220"/>
          <p:cNvSpPr>
            <a:spLocks noChangeArrowheads="1"/>
          </p:cNvSpPr>
          <p:nvPr/>
        </p:nvSpPr>
        <p:spPr bwMode="auto">
          <a:xfrm>
            <a:off x="1619994" y="3710908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endParaRPr lang="en-US" altLang="zh-TW" sz="800" b="1" dirty="0" smtClean="0">
              <a:solidFill>
                <a:schemeClr val="bg1"/>
              </a:solidFill>
              <a:latin typeface="Century Gothic" pitchFamily="34" charset="0"/>
            </a:endParaRPr>
          </a:p>
          <a:p>
            <a:pPr algn="ctr" eaLnBrk="0" hangingPunct="0">
              <a:defRPr/>
            </a:pPr>
            <a:r>
              <a:rPr lang="en-US" altLang="zh-TW" sz="800" b="1" dirty="0" smtClean="0">
                <a:solidFill>
                  <a:schemeClr val="bg1"/>
                </a:solidFill>
                <a:latin typeface="Century Gothic" pitchFamily="34" charset="0"/>
              </a:rPr>
              <a:t>RUN-IN</a:t>
            </a:r>
          </a:p>
          <a:p>
            <a:pPr algn="ctr" eaLnBrk="0" hangingPunct="0">
              <a:defRPr/>
            </a:pPr>
            <a:r>
              <a:rPr lang="en-US" altLang="zh-TW" sz="800" b="1" dirty="0" smtClean="0">
                <a:solidFill>
                  <a:schemeClr val="bg1"/>
                </a:solidFill>
                <a:latin typeface="Century Gothic" pitchFamily="34" charset="0"/>
              </a:rPr>
              <a:t>TEST(6R)</a:t>
            </a:r>
          </a:p>
          <a:p>
            <a:pPr algn="ctr" eaLnBrk="0" hangingPunct="0">
              <a:defRPr/>
            </a:pPr>
            <a:endParaRPr lang="en-US" altLang="zh-TW" sz="800" b="1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11" name="AutoShape 148"/>
          <p:cNvSpPr>
            <a:spLocks noChangeArrowheads="1"/>
          </p:cNvSpPr>
          <p:nvPr/>
        </p:nvSpPr>
        <p:spPr bwMode="auto">
          <a:xfrm>
            <a:off x="1626558" y="3161861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Shipping check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43" name="Text Box 10"/>
          <p:cNvSpPr txBox="1">
            <a:spLocks noChangeArrowheads="1"/>
          </p:cNvSpPr>
          <p:nvPr/>
        </p:nvSpPr>
        <p:spPr bwMode="auto">
          <a:xfrm>
            <a:off x="2555252" y="3519051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sp>
        <p:nvSpPr>
          <p:cNvPr id="176" name="AutoShape 267"/>
          <p:cNvSpPr>
            <a:spLocks noChangeArrowheads="1"/>
          </p:cNvSpPr>
          <p:nvPr/>
        </p:nvSpPr>
        <p:spPr bwMode="auto">
          <a:xfrm>
            <a:off x="1630627" y="2624664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Function test(50)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88" name="AutoShape 149"/>
          <p:cNvCxnSpPr>
            <a:cxnSpLocks noChangeShapeType="1"/>
          </p:cNvCxnSpPr>
          <p:nvPr/>
        </p:nvCxnSpPr>
        <p:spPr bwMode="auto">
          <a:xfrm>
            <a:off x="2484090" y="2990828"/>
            <a:ext cx="4069" cy="2099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AutoShape 149"/>
          <p:cNvCxnSpPr>
            <a:cxnSpLocks noChangeShapeType="1"/>
          </p:cNvCxnSpPr>
          <p:nvPr/>
        </p:nvCxnSpPr>
        <p:spPr bwMode="auto">
          <a:xfrm flipH="1">
            <a:off x="2480532" y="3494884"/>
            <a:ext cx="3558" cy="21924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AutoShape 267"/>
          <p:cNvSpPr>
            <a:spLocks noChangeArrowheads="1"/>
          </p:cNvSpPr>
          <p:nvPr/>
        </p:nvSpPr>
        <p:spPr bwMode="auto">
          <a:xfrm>
            <a:off x="1619994" y="4286972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Function test(60)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93" name="AutoShape 149"/>
          <p:cNvCxnSpPr>
            <a:cxnSpLocks noChangeShapeType="1"/>
            <a:stCxn id="196" idx="2"/>
          </p:cNvCxnSpPr>
          <p:nvPr/>
        </p:nvCxnSpPr>
        <p:spPr bwMode="auto">
          <a:xfrm>
            <a:off x="2480532" y="4077072"/>
            <a:ext cx="0" cy="20667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AutoShape 149"/>
          <p:cNvCxnSpPr>
            <a:cxnSpLocks noChangeShapeType="1"/>
            <a:stCxn id="191" idx="2"/>
          </p:cNvCxnSpPr>
          <p:nvPr/>
        </p:nvCxnSpPr>
        <p:spPr bwMode="auto">
          <a:xfrm>
            <a:off x="2480532" y="4653136"/>
            <a:ext cx="3558" cy="22221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AutoShape 267"/>
          <p:cNvSpPr>
            <a:spLocks noChangeArrowheads="1"/>
          </p:cNvSpPr>
          <p:nvPr/>
        </p:nvSpPr>
        <p:spPr bwMode="auto">
          <a:xfrm>
            <a:off x="1619994" y="6015164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PA label(81)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204" name="AutoShape 149"/>
          <p:cNvCxnSpPr>
            <a:cxnSpLocks noChangeShapeType="1"/>
            <a:stCxn id="227" idx="2"/>
          </p:cNvCxnSpPr>
          <p:nvPr/>
        </p:nvCxnSpPr>
        <p:spPr bwMode="auto">
          <a:xfrm flipH="1">
            <a:off x="2487648" y="5783604"/>
            <a:ext cx="5040" cy="23774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6" name="Text Box 10"/>
          <p:cNvSpPr txBox="1">
            <a:spLocks noChangeArrowheads="1"/>
          </p:cNvSpPr>
          <p:nvPr/>
        </p:nvSpPr>
        <p:spPr bwMode="auto">
          <a:xfrm>
            <a:off x="2700114" y="2990828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cxnSp>
        <p:nvCxnSpPr>
          <p:cNvPr id="224" name="圖案 223"/>
          <p:cNvCxnSpPr>
            <a:stCxn id="111" idx="1"/>
            <a:endCxn id="110" idx="2"/>
          </p:cNvCxnSpPr>
          <p:nvPr/>
        </p:nvCxnSpPr>
        <p:spPr>
          <a:xfrm rot="10800000">
            <a:off x="1040426" y="2408545"/>
            <a:ext cx="586132" cy="936398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圖案 228"/>
          <p:cNvCxnSpPr>
            <a:stCxn id="196" idx="1"/>
            <a:endCxn id="110" idx="2"/>
          </p:cNvCxnSpPr>
          <p:nvPr/>
        </p:nvCxnSpPr>
        <p:spPr>
          <a:xfrm rot="10800000">
            <a:off x="1040426" y="2408546"/>
            <a:ext cx="579568" cy="1485445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內容版面配置區 2"/>
          <p:cNvSpPr>
            <a:spLocks noGrp="1"/>
          </p:cNvSpPr>
          <p:nvPr>
            <p:ph idx="1"/>
          </p:nvPr>
        </p:nvSpPr>
        <p:spPr>
          <a:xfrm>
            <a:off x="5508426" y="2852936"/>
            <a:ext cx="3852243" cy="3168352"/>
          </a:xfrm>
        </p:spPr>
        <p:txBody>
          <a:bodyPr/>
          <a:lstStyle/>
          <a:p>
            <a:pPr>
              <a:buNone/>
            </a:pPr>
            <a:r>
              <a:rPr lang="en-US" altLang="zh-TW" sz="1600" dirty="0" smtClean="0">
                <a:latin typeface="微軟正黑體" pitchFamily="34" charset="-120"/>
              </a:rPr>
              <a:t>45-R</a:t>
            </a:r>
            <a:r>
              <a:rPr lang="en-US" altLang="zh-CN" sz="1600" dirty="0" smtClean="0">
                <a:latin typeface="微軟正黑體" pitchFamily="34" charset="-120"/>
              </a:rPr>
              <a:t>epair</a:t>
            </a:r>
            <a:r>
              <a:rPr lang="zh-CN" altLang="en-US" sz="1600" dirty="0" smtClean="0">
                <a:latin typeface="微軟正黑體" pitchFamily="34" charset="-120"/>
              </a:rPr>
              <a:t>：参照量产逻辑，导入量产</a:t>
            </a:r>
            <a:r>
              <a:rPr lang="en-US" altLang="zh-CN" sz="1600" dirty="0" smtClean="0">
                <a:latin typeface="微軟正黑體" pitchFamily="34" charset="-120"/>
              </a:rPr>
              <a:t>defect</a:t>
            </a:r>
            <a:r>
              <a:rPr lang="zh-CN" altLang="en-US" sz="1600" dirty="0" smtClean="0">
                <a:latin typeface="微軟正黑體" pitchFamily="34" charset="-120"/>
              </a:rPr>
              <a:t>管控；</a:t>
            </a:r>
            <a:r>
              <a:rPr lang="en-US" altLang="zh-CN" sz="1600" dirty="0" smtClean="0">
                <a:latin typeface="微軟正黑體" pitchFamily="34" charset="-120"/>
              </a:rPr>
              <a:t>FA</a:t>
            </a:r>
            <a:r>
              <a:rPr lang="zh-CN" altLang="en-US" sz="1600" dirty="0" smtClean="0">
                <a:latin typeface="微軟正黑體" pitchFamily="34" charset="-120"/>
              </a:rPr>
              <a:t>段统一返回</a:t>
            </a:r>
            <a:r>
              <a:rPr lang="en-US" altLang="zh-CN" sz="1600" dirty="0" smtClean="0">
                <a:latin typeface="微軟正黑體" pitchFamily="34" charset="-120"/>
              </a:rPr>
              <a:t>50</a:t>
            </a:r>
            <a:r>
              <a:rPr lang="zh-CN" altLang="en-US" sz="1600" dirty="0" smtClean="0">
                <a:latin typeface="微軟正黑體" pitchFamily="34" charset="-120"/>
              </a:rPr>
              <a:t>站，如果包装外观进入修复，可设定指定</a:t>
            </a:r>
            <a:r>
              <a:rPr lang="en-US" altLang="zh-CN" sz="1600" dirty="0" smtClean="0">
                <a:latin typeface="微軟正黑體" pitchFamily="34" charset="-120"/>
              </a:rPr>
              <a:t>Code,</a:t>
            </a:r>
            <a:r>
              <a:rPr lang="zh-CN" altLang="en-US" sz="1600" dirty="0" smtClean="0">
                <a:latin typeface="微軟正黑體" pitchFamily="34" charset="-120"/>
              </a:rPr>
              <a:t>返回</a:t>
            </a:r>
            <a:r>
              <a:rPr lang="en-US" altLang="zh-CN" sz="1600" dirty="0" smtClean="0">
                <a:latin typeface="微軟正黑體" pitchFamily="34" charset="-120"/>
              </a:rPr>
              <a:t>69</a:t>
            </a:r>
            <a:r>
              <a:rPr lang="zh-CN" altLang="en-US" sz="1600" dirty="0" smtClean="0">
                <a:latin typeface="微軟正黑體" pitchFamily="34" charset="-120"/>
              </a:rPr>
              <a:t>站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endParaRPr lang="en-US" altLang="zh-TW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en-US" altLang="zh-CN" sz="1600" dirty="0" smtClean="0">
                <a:latin typeface="微軟正黑體" pitchFamily="34" charset="-120"/>
              </a:rPr>
              <a:t>4W-Waive</a:t>
            </a:r>
            <a:r>
              <a:rPr lang="zh-CN" altLang="en-US" sz="1600" dirty="0" smtClean="0">
                <a:latin typeface="微軟正黑體" pitchFamily="34" charset="-120"/>
              </a:rPr>
              <a:t>：可以批量上传</a:t>
            </a:r>
            <a:r>
              <a:rPr lang="en-US" altLang="zh-CN" sz="1600" dirty="0" smtClean="0">
                <a:latin typeface="微軟正黑體" pitchFamily="34" charset="-120"/>
              </a:rPr>
              <a:t>SN</a:t>
            </a:r>
            <a:r>
              <a:rPr lang="zh-CN" altLang="en-US" sz="1600" dirty="0" smtClean="0">
                <a:latin typeface="微軟正黑體" pitchFamily="34" charset="-120"/>
              </a:rPr>
              <a:t>，并选择返回站点。同时更新</a:t>
            </a:r>
            <a:r>
              <a:rPr lang="en-US" altLang="zh-CN" sz="1600" dirty="0" smtClean="0">
                <a:latin typeface="微軟正黑體" pitchFamily="34" charset="-120"/>
              </a:rPr>
              <a:t>repair</a:t>
            </a:r>
            <a:r>
              <a:rPr lang="zh-CN" altLang="en-US" sz="1600" dirty="0" smtClean="0">
                <a:latin typeface="微軟正黑體" pitchFamily="34" charset="-120"/>
              </a:rPr>
              <a:t>数据：执行人，</a:t>
            </a:r>
            <a:r>
              <a:rPr lang="en-US" altLang="zh-CN" sz="1600" dirty="0" smtClean="0">
                <a:latin typeface="微軟正黑體" pitchFamily="34" charset="-120"/>
              </a:rPr>
              <a:t>waive</a:t>
            </a:r>
            <a:r>
              <a:rPr lang="zh-CN" altLang="en-US" sz="1600" dirty="0" smtClean="0">
                <a:latin typeface="微軟正黑體" pitchFamily="34" charset="-120"/>
              </a:rPr>
              <a:t>原因，</a:t>
            </a:r>
            <a:r>
              <a:rPr lang="en-US" altLang="zh-CN" sz="1600" dirty="0" smtClean="0">
                <a:latin typeface="微軟正黑體" pitchFamily="34" charset="-120"/>
              </a:rPr>
              <a:t>waive</a:t>
            </a:r>
            <a:r>
              <a:rPr lang="zh-CN" altLang="en-US" sz="1600" dirty="0" smtClean="0">
                <a:latin typeface="微軟正黑體" pitchFamily="34" charset="-120"/>
              </a:rPr>
              <a:t>指令来源。</a:t>
            </a:r>
            <a:endParaRPr lang="en-US" altLang="zh-CN" sz="1600" dirty="0" smtClean="0">
              <a:latin typeface="微軟正黑體" pitchFamily="34" charset="-120"/>
            </a:endParaRPr>
          </a:p>
          <a:p>
            <a:pPr>
              <a:buNone/>
            </a:pPr>
            <a:r>
              <a:rPr lang="zh-CN" altLang="en-US" sz="1600" dirty="0" smtClean="0">
                <a:latin typeface="微軟正黑體" pitchFamily="34" charset="-120"/>
              </a:rPr>
              <a:t>      此</a:t>
            </a:r>
            <a:r>
              <a:rPr lang="en-US" altLang="zh-CN" sz="1600" dirty="0" smtClean="0">
                <a:latin typeface="微軟正黑體" pitchFamily="34" charset="-120"/>
              </a:rPr>
              <a:t>IMES</a:t>
            </a:r>
            <a:r>
              <a:rPr lang="zh-CN" altLang="en-US" sz="1600" dirty="0" smtClean="0">
                <a:latin typeface="微軟正黑體" pitchFamily="34" charset="-120"/>
              </a:rPr>
              <a:t>页面权限可由</a:t>
            </a:r>
            <a:r>
              <a:rPr lang="en-US" altLang="zh-CN" sz="1600" dirty="0" smtClean="0">
                <a:latin typeface="微軟正黑體" pitchFamily="34" charset="-120"/>
              </a:rPr>
              <a:t>SIE</a:t>
            </a:r>
            <a:r>
              <a:rPr lang="zh-CN" altLang="en-US" sz="1600" dirty="0" smtClean="0">
                <a:latin typeface="微軟正黑體" pitchFamily="34" charset="-120"/>
              </a:rPr>
              <a:t>掌控。</a:t>
            </a:r>
            <a:endParaRPr lang="zh-TW" altLang="en-US" sz="1600" dirty="0">
              <a:latin typeface="微軟正黑體" pitchFamily="34" charset="-120"/>
            </a:endParaRPr>
          </a:p>
        </p:txBody>
      </p:sp>
      <p:sp>
        <p:nvSpPr>
          <p:cNvPr id="64" name="AutoShape 148"/>
          <p:cNvSpPr>
            <a:spLocks noChangeArrowheads="1"/>
          </p:cNvSpPr>
          <p:nvPr/>
        </p:nvSpPr>
        <p:spPr bwMode="auto">
          <a:xfrm>
            <a:off x="1619994" y="692696"/>
            <a:ext cx="1721076" cy="366164"/>
          </a:xfrm>
          <a:prstGeom prst="diamond">
            <a:avLst/>
          </a:prstGeom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Repair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69" name="Text Box 10"/>
          <p:cNvSpPr txBox="1">
            <a:spLocks noChangeArrowheads="1"/>
          </p:cNvSpPr>
          <p:nvPr/>
        </p:nvSpPr>
        <p:spPr bwMode="auto">
          <a:xfrm>
            <a:off x="2484090" y="1069493"/>
            <a:ext cx="439668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PASS</a:t>
            </a:r>
          </a:p>
        </p:txBody>
      </p:sp>
      <p:sp>
        <p:nvSpPr>
          <p:cNvPr id="71" name="AutoShape 145"/>
          <p:cNvSpPr>
            <a:spLocks noChangeArrowheads="1"/>
          </p:cNvSpPr>
          <p:nvPr/>
        </p:nvSpPr>
        <p:spPr bwMode="auto">
          <a:xfrm>
            <a:off x="3715342" y="692696"/>
            <a:ext cx="1217020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Upload SN</a:t>
            </a:r>
          </a:p>
          <a:p>
            <a:pPr algn="ctr" eaLnBrk="0" hangingPunct="0">
              <a:defRPr/>
            </a:pPr>
            <a:r>
              <a:rPr lang="en-US" altLang="zh-TW" sz="900" b="1" dirty="0" smtClean="0">
                <a:solidFill>
                  <a:schemeClr val="bg1"/>
                </a:solidFill>
                <a:latin typeface="Century Gothic" pitchFamily="34" charset="0"/>
              </a:rPr>
              <a:t>(4W)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76" name="直線單箭頭接點 129"/>
          <p:cNvCxnSpPr>
            <a:stCxn id="101" idx="2"/>
            <a:endCxn id="118" idx="0"/>
          </p:cNvCxnSpPr>
          <p:nvPr/>
        </p:nvCxnSpPr>
        <p:spPr bwMode="auto">
          <a:xfrm flipH="1">
            <a:off x="2487096" y="1772816"/>
            <a:ext cx="552" cy="28190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3204170" y="637445"/>
            <a:ext cx="576064" cy="199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5420" tIns="37710" rIns="75420" bIns="3771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800" dirty="0" smtClean="0">
                <a:solidFill>
                  <a:schemeClr val="accent3">
                    <a:lumMod val="75000"/>
                  </a:schemeClr>
                </a:solidFill>
                <a:latin typeface="Century Gothic" pitchFamily="34" charset="0"/>
                <a:ea typeface="細明體" pitchFamily="49" charset="-120"/>
              </a:rPr>
              <a:t>waive</a:t>
            </a:r>
            <a:endParaRPr kumimoji="0" lang="en-US" altLang="zh-TW" sz="800" dirty="0">
              <a:solidFill>
                <a:schemeClr val="accent3">
                  <a:lumMod val="75000"/>
                </a:schemeClr>
              </a:solidFill>
              <a:latin typeface="Century Gothic" pitchFamily="34" charset="0"/>
              <a:ea typeface="細明體" pitchFamily="49" charset="-120"/>
            </a:endParaRPr>
          </a:p>
        </p:txBody>
      </p:sp>
      <p:cxnSp>
        <p:nvCxnSpPr>
          <p:cNvPr id="81" name="圖案 80"/>
          <p:cNvCxnSpPr>
            <a:stCxn id="71" idx="2"/>
            <a:endCxn id="176" idx="3"/>
          </p:cNvCxnSpPr>
          <p:nvPr/>
        </p:nvCxnSpPr>
        <p:spPr>
          <a:xfrm rot="5400000">
            <a:off x="2963335" y="1447229"/>
            <a:ext cx="1748886" cy="97214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圖案 85"/>
          <p:cNvCxnSpPr>
            <a:stCxn id="71" idx="2"/>
            <a:endCxn id="191" idx="3"/>
          </p:cNvCxnSpPr>
          <p:nvPr/>
        </p:nvCxnSpPr>
        <p:spPr>
          <a:xfrm rot="5400000">
            <a:off x="2126864" y="2273066"/>
            <a:ext cx="3411194" cy="98278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圖案 87"/>
          <p:cNvCxnSpPr>
            <a:stCxn id="71" idx="2"/>
            <a:endCxn id="227" idx="3"/>
          </p:cNvCxnSpPr>
          <p:nvPr/>
        </p:nvCxnSpPr>
        <p:spPr>
          <a:xfrm rot="5400000">
            <a:off x="1567708" y="2844378"/>
            <a:ext cx="4541662" cy="97062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Century Gothic" pitchFamily="34" charset="0"/>
              </a:rPr>
              <a:t>Thank YOU!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latin typeface="Century Gothic" pitchFamily="34" charset="0"/>
              </a:rPr>
              <a:t>Questions and Answers</a:t>
            </a:r>
            <a:endParaRPr lang="zh-TW" altLang="en-US" dirty="0" smtClean="0">
              <a:latin typeface="Century Gothic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>
        <a:spAutoFit/>
      </a:bodyPr>
      <a:lstStyle>
        <a:defPPr algn="ctr" eaLnBrk="0" hangingPunct="0">
          <a:spcBef>
            <a:spcPct val="50000"/>
          </a:spcBef>
          <a:defRPr kumimoji="0" sz="700" dirty="0" smtClean="0">
            <a:solidFill>
              <a:schemeClr val="accent3">
                <a:lumMod val="75000"/>
              </a:schemeClr>
            </a:solidFill>
            <a:latin typeface="Century Gothic" pitchFamily="34" charset="0"/>
            <a:ea typeface="細明體" pitchFamily="49" charset="-12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26000</TotalTime>
  <Words>795</Words>
  <Application>Microsoft Office PowerPoint</Application>
  <PresentationFormat>自訂</PresentationFormat>
  <Paragraphs>178</Paragraphs>
  <Slides>6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HP NPI IMES FLOW CHART</vt:lpstr>
      <vt:lpstr>NPI IMES Rule Description</vt:lpstr>
      <vt:lpstr>NPI IMES SA Flow Chart</vt:lpstr>
      <vt:lpstr>NPI IMES FA Flow Chart</vt:lpstr>
      <vt:lpstr>NPI IMES Repair Flow Chart</vt:lpstr>
      <vt:lpstr>Thank YOU!</vt:lpstr>
    </vt:vector>
  </TitlesOfParts>
  <Company>Inventec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IEC970760</dc:creator>
  <cp:lastModifiedBy>inventec</cp:lastModifiedBy>
  <cp:revision>2253</cp:revision>
  <cp:lastPrinted>2011-07-21T10:17:21Z</cp:lastPrinted>
  <dcterms:created xsi:type="dcterms:W3CDTF">2009-02-10T10:12:43Z</dcterms:created>
  <dcterms:modified xsi:type="dcterms:W3CDTF">2015-05-26T01:54:54Z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/>
  </property>
  <property fmtid="{D5CDD505-2E9C-101B-9397-08002B2CF9AE}" pid="3" name="SPSDescription">
    <vt:lpwstr/>
  </property>
  <property fmtid="{D5CDD505-2E9C-101B-9397-08002B2CF9AE}" pid="4" name="Status">
    <vt:lpwstr/>
  </property>
</Properties>
</file>