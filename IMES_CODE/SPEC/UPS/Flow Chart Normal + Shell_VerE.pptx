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2" r:id="rId3"/>
    <p:sldId id="260" r:id="rId4"/>
    <p:sldId id="263" r:id="rId5"/>
    <p:sldId id="259" r:id="rId6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80" d="100"/>
          <a:sy n="80" d="100"/>
        </p:scale>
        <p:origin x="-1002" y="4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80022-A9EA-4FEA-829C-8647DEFD5AA5}" type="datetimeFigureOut">
              <a:rPr lang="zh-TW" altLang="en-US" smtClean="0"/>
              <a:pPr/>
              <a:t>2015/1/24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C4FC19-FD27-42CE-8AB6-9C8FDC220D0B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80022-A9EA-4FEA-829C-8647DEFD5AA5}" type="datetimeFigureOut">
              <a:rPr lang="zh-TW" altLang="en-US" smtClean="0"/>
              <a:pPr/>
              <a:t>2015/1/24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C4FC19-FD27-42CE-8AB6-9C8FDC220D0B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80022-A9EA-4FEA-829C-8647DEFD5AA5}" type="datetimeFigureOut">
              <a:rPr lang="zh-TW" altLang="en-US" smtClean="0"/>
              <a:pPr/>
              <a:t>2015/1/24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C4FC19-FD27-42CE-8AB6-9C8FDC220D0B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80022-A9EA-4FEA-829C-8647DEFD5AA5}" type="datetimeFigureOut">
              <a:rPr lang="zh-TW" altLang="en-US" smtClean="0"/>
              <a:pPr/>
              <a:t>2015/1/24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C4FC19-FD27-42CE-8AB6-9C8FDC220D0B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80022-A9EA-4FEA-829C-8647DEFD5AA5}" type="datetimeFigureOut">
              <a:rPr lang="zh-TW" altLang="en-US" smtClean="0"/>
              <a:pPr/>
              <a:t>2015/1/24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C4FC19-FD27-42CE-8AB6-9C8FDC220D0B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80022-A9EA-4FEA-829C-8647DEFD5AA5}" type="datetimeFigureOut">
              <a:rPr lang="zh-TW" altLang="en-US" smtClean="0"/>
              <a:pPr/>
              <a:t>2015/1/24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C4FC19-FD27-42CE-8AB6-9C8FDC220D0B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80022-A9EA-4FEA-829C-8647DEFD5AA5}" type="datetimeFigureOut">
              <a:rPr lang="zh-TW" altLang="en-US" smtClean="0"/>
              <a:pPr/>
              <a:t>2015/1/24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C4FC19-FD27-42CE-8AB6-9C8FDC220D0B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80022-A9EA-4FEA-829C-8647DEFD5AA5}" type="datetimeFigureOut">
              <a:rPr lang="zh-TW" altLang="en-US" smtClean="0"/>
              <a:pPr/>
              <a:t>2015/1/24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C4FC19-FD27-42CE-8AB6-9C8FDC220D0B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80022-A9EA-4FEA-829C-8647DEFD5AA5}" type="datetimeFigureOut">
              <a:rPr lang="zh-TW" altLang="en-US" smtClean="0"/>
              <a:pPr/>
              <a:t>2015/1/24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C4FC19-FD27-42CE-8AB6-9C8FDC220D0B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80022-A9EA-4FEA-829C-8647DEFD5AA5}" type="datetimeFigureOut">
              <a:rPr lang="zh-TW" altLang="en-US" smtClean="0"/>
              <a:pPr/>
              <a:t>2015/1/24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C4FC19-FD27-42CE-8AB6-9C8FDC220D0B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80022-A9EA-4FEA-829C-8647DEFD5AA5}" type="datetimeFigureOut">
              <a:rPr lang="zh-TW" altLang="en-US" smtClean="0"/>
              <a:pPr/>
              <a:t>2015/1/24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C4FC19-FD27-42CE-8AB6-9C8FDC220D0B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群組 12"/>
          <p:cNvGrpSpPr/>
          <p:nvPr userDrawn="1"/>
        </p:nvGrpSpPr>
        <p:grpSpPr>
          <a:xfrm>
            <a:off x="14356" y="0"/>
            <a:ext cx="9144000" cy="6858000"/>
            <a:chOff x="0" y="0"/>
            <a:chExt cx="9906000" cy="6858000"/>
          </a:xfrm>
        </p:grpSpPr>
        <p:grpSp>
          <p:nvGrpSpPr>
            <p:cNvPr id="3" name="群組 6"/>
            <p:cNvGrpSpPr>
              <a:grpSpLocks/>
            </p:cNvGrpSpPr>
            <p:nvPr/>
          </p:nvGrpSpPr>
          <p:grpSpPr bwMode="auto">
            <a:xfrm>
              <a:off x="0" y="0"/>
              <a:ext cx="9906000" cy="6858000"/>
              <a:chOff x="0" y="0"/>
              <a:chExt cx="9144000" cy="6858000"/>
            </a:xfrm>
          </p:grpSpPr>
          <p:sp>
            <p:nvSpPr>
              <p:cNvPr id="17" name="矩形 2"/>
              <p:cNvSpPr/>
              <p:nvPr userDrawn="1"/>
            </p:nvSpPr>
            <p:spPr>
              <a:xfrm>
                <a:off x="0" y="0"/>
                <a:ext cx="9144000" cy="6429375"/>
              </a:xfrm>
              <a:prstGeom prst="rect">
                <a:avLst/>
              </a:prstGeom>
              <a:gradFill flip="none" rotWithShape="1">
                <a:gsLst>
                  <a:gs pos="0">
                    <a:schemeClr val="bg1">
                      <a:lumMod val="75000"/>
                    </a:schemeClr>
                  </a:gs>
                  <a:gs pos="50000">
                    <a:schemeClr val="bg1"/>
                  </a:gs>
                </a:gsLst>
                <a:lin ang="16200000" scaled="0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kumimoji="0" lang="zh-TW" altLang="en-US">
                  <a:solidFill>
                    <a:srgbClr val="FFFFFF"/>
                  </a:solidFill>
                  <a:effectLst/>
                  <a:latin typeface="微軟正黑體" pitchFamily="34" charset="-120"/>
                </a:endParaRPr>
              </a:p>
            </p:txBody>
          </p:sp>
          <p:sp>
            <p:nvSpPr>
              <p:cNvPr id="18" name="矩形 17"/>
              <p:cNvSpPr/>
              <p:nvPr userDrawn="1"/>
            </p:nvSpPr>
            <p:spPr>
              <a:xfrm>
                <a:off x="0" y="6357958"/>
                <a:ext cx="9144000" cy="500042"/>
              </a:xfrm>
              <a:prstGeom prst="rect">
                <a:avLst/>
              </a:prstGeom>
              <a:gradFill flip="none" rotWithShape="1">
                <a:gsLst>
                  <a:gs pos="0">
                    <a:schemeClr val="bg1">
                      <a:lumMod val="75000"/>
                    </a:schemeClr>
                  </a:gs>
                  <a:gs pos="50000">
                    <a:schemeClr val="bg1"/>
                  </a:gs>
                </a:gsLst>
                <a:path path="circle">
                  <a:fillToRect l="100000" t="100000"/>
                </a:path>
                <a:tileRect r="-100000" b="-1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kumimoji="0" lang="zh-TW" altLang="en-US">
                  <a:solidFill>
                    <a:srgbClr val="FFFFFF"/>
                  </a:solidFill>
                  <a:effectLst/>
                  <a:latin typeface="微軟正黑體" pitchFamily="34" charset="-120"/>
                </a:endParaRPr>
              </a:p>
            </p:txBody>
          </p:sp>
        </p:grpSp>
        <p:pic>
          <p:nvPicPr>
            <p:cNvPr id="15" name="內容版面配置區 5" descr="Inventec Logo_Min.wmf"/>
            <p:cNvPicPr>
              <a:picLocks noChangeAspect="1"/>
            </p:cNvPicPr>
            <p:nvPr/>
          </p:nvPicPr>
          <p:blipFill>
            <a:blip r:embed="rId2" cstate="print"/>
            <a:srcRect t="28120" b="31445"/>
            <a:stretch>
              <a:fillRect/>
            </a:stretch>
          </p:blipFill>
          <p:spPr bwMode="auto">
            <a:xfrm>
              <a:off x="8048625" y="6429375"/>
              <a:ext cx="1857375" cy="2524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6" name="Text Box 11"/>
            <p:cNvSpPr txBox="1">
              <a:spLocks noChangeArrowheads="1"/>
            </p:cNvSpPr>
            <p:nvPr/>
          </p:nvSpPr>
          <p:spPr bwMode="auto">
            <a:xfrm>
              <a:off x="4059238" y="6496050"/>
              <a:ext cx="1674973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kumimoji="0" lang="en-US" altLang="zh-TW" sz="1200" b="1" dirty="0">
                  <a:solidFill>
                    <a:srgbClr val="898989"/>
                  </a:solidFill>
                  <a:effectLst/>
                </a:rPr>
                <a:t>Inventec Confidential</a:t>
              </a:r>
              <a:endParaRPr lang="zh-TW" altLang="en-US" sz="1200" b="1" dirty="0">
                <a:effectLst/>
              </a:endParaRPr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280022-A9EA-4FEA-829C-8647DEFD5AA5}" type="datetimeFigureOut">
              <a:rPr lang="zh-TW" altLang="en-US" smtClean="0"/>
              <a:pPr/>
              <a:t>2015/1/24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C4FC19-FD27-42CE-8AB6-9C8FDC220D0B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1" name="直線單箭頭接點 110"/>
          <p:cNvCxnSpPr>
            <a:stCxn id="31" idx="3"/>
            <a:endCxn id="122" idx="1"/>
          </p:cNvCxnSpPr>
          <p:nvPr/>
        </p:nvCxnSpPr>
        <p:spPr>
          <a:xfrm>
            <a:off x="2411760" y="6057292"/>
            <a:ext cx="504056" cy="0"/>
          </a:xfrm>
          <a:prstGeom prst="straightConnector1">
            <a:avLst/>
          </a:prstGeom>
          <a:ln w="19050">
            <a:solidFill>
              <a:srgbClr val="88A9D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/>
          <p:cNvSpPr/>
          <p:nvPr/>
        </p:nvSpPr>
        <p:spPr>
          <a:xfrm>
            <a:off x="144016" y="44624"/>
            <a:ext cx="8568952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矩形 2"/>
          <p:cNvSpPr/>
          <p:nvPr/>
        </p:nvSpPr>
        <p:spPr>
          <a:xfrm>
            <a:off x="288032" y="620688"/>
            <a:ext cx="8748464" cy="576064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900" b="1">
              <a:latin typeface="+mj-lt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44016" y="620688"/>
            <a:ext cx="432048" cy="7920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zh-TW" sz="900" b="1" dirty="0" smtClean="0">
                <a:latin typeface="+mj-lt"/>
              </a:rPr>
              <a:t>HP ERP</a:t>
            </a:r>
            <a:endParaRPr lang="zh-TW" altLang="en-US" sz="900" b="1" dirty="0">
              <a:latin typeface="+mj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44016" y="1412776"/>
            <a:ext cx="432048" cy="7920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zh-TW" sz="900" b="1" dirty="0" smtClean="0">
                <a:latin typeface="+mj-lt"/>
              </a:rPr>
              <a:t>Inventec ERP</a:t>
            </a:r>
            <a:endParaRPr lang="zh-TW" altLang="en-US" sz="900" b="1" dirty="0">
              <a:latin typeface="+mj-lt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44016" y="2204864"/>
            <a:ext cx="432048" cy="22322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zh-TW" sz="900" b="1" dirty="0" smtClean="0">
                <a:latin typeface="+mj-lt"/>
              </a:rPr>
              <a:t>Inventec  </a:t>
            </a:r>
            <a:r>
              <a:rPr lang="en-US" altLang="zh-TW" sz="900" b="1" dirty="0" err="1" smtClean="0">
                <a:latin typeface="+mj-lt"/>
              </a:rPr>
              <a:t>Shopfloor</a:t>
            </a:r>
            <a:endParaRPr lang="zh-TW" altLang="en-US" sz="900" b="1" dirty="0">
              <a:latin typeface="+mj-lt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44016" y="4221088"/>
            <a:ext cx="432048" cy="129614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zh-TW" sz="900" b="1" dirty="0" smtClean="0">
                <a:latin typeface="+mj-lt"/>
              </a:rPr>
              <a:t>HP UPS at Inventec</a:t>
            </a:r>
            <a:endParaRPr lang="zh-TW" altLang="en-US" sz="900" b="1" dirty="0">
              <a:latin typeface="+mj-lt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44016" y="5517232"/>
            <a:ext cx="432048" cy="86409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zh-TW" sz="900" b="1" dirty="0" smtClean="0">
                <a:latin typeface="+mj-lt"/>
              </a:rPr>
              <a:t>Production</a:t>
            </a:r>
          </a:p>
          <a:p>
            <a:pPr algn="ctr"/>
            <a:r>
              <a:rPr lang="en-US" altLang="zh-TW" sz="900" b="1" dirty="0" smtClean="0">
                <a:latin typeface="+mj-lt"/>
              </a:rPr>
              <a:t>Line</a:t>
            </a:r>
            <a:endParaRPr lang="zh-TW" altLang="en-US" sz="900" b="1" dirty="0">
              <a:latin typeface="+mj-lt"/>
            </a:endParaRPr>
          </a:p>
        </p:txBody>
      </p:sp>
      <p:cxnSp>
        <p:nvCxnSpPr>
          <p:cNvPr id="9" name="直線接點 8"/>
          <p:cNvCxnSpPr/>
          <p:nvPr/>
        </p:nvCxnSpPr>
        <p:spPr>
          <a:xfrm>
            <a:off x="504056" y="4221088"/>
            <a:ext cx="85324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接點 9"/>
          <p:cNvCxnSpPr>
            <a:stCxn id="5" idx="0"/>
          </p:cNvCxnSpPr>
          <p:nvPr/>
        </p:nvCxnSpPr>
        <p:spPr>
          <a:xfrm>
            <a:off x="360040" y="1412776"/>
            <a:ext cx="867645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接點 10"/>
          <p:cNvCxnSpPr/>
          <p:nvPr/>
        </p:nvCxnSpPr>
        <p:spPr>
          <a:xfrm>
            <a:off x="504056" y="2204864"/>
            <a:ext cx="85324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接點 11"/>
          <p:cNvCxnSpPr/>
          <p:nvPr/>
        </p:nvCxnSpPr>
        <p:spPr>
          <a:xfrm>
            <a:off x="360040" y="5517232"/>
            <a:ext cx="867645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五邊形 12"/>
          <p:cNvSpPr/>
          <p:nvPr/>
        </p:nvSpPr>
        <p:spPr>
          <a:xfrm rot="5400000">
            <a:off x="792088" y="980729"/>
            <a:ext cx="432048" cy="288032"/>
          </a:xfrm>
          <a:prstGeom prst="homePlate">
            <a:avLst/>
          </a:prstGeom>
          <a:solidFill>
            <a:srgbClr val="4172A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900" b="1">
              <a:latin typeface="+mj-lt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7920880" y="1556792"/>
            <a:ext cx="864096" cy="504056"/>
          </a:xfrm>
          <a:prstGeom prst="rect">
            <a:avLst/>
          </a:prstGeom>
          <a:solidFill>
            <a:srgbClr val="689CD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000" b="1" dirty="0" smtClean="0">
                <a:latin typeface="+mj-lt"/>
              </a:rPr>
              <a:t>Send data to HP</a:t>
            </a:r>
            <a:endParaRPr lang="zh-TW" altLang="en-US" sz="1000" b="1" dirty="0">
              <a:latin typeface="+mj-lt"/>
            </a:endParaRPr>
          </a:p>
        </p:txBody>
      </p:sp>
      <p:sp>
        <p:nvSpPr>
          <p:cNvPr id="15" name="平行四邊形 14"/>
          <p:cNvSpPr/>
          <p:nvPr/>
        </p:nvSpPr>
        <p:spPr>
          <a:xfrm>
            <a:off x="2952328" y="793582"/>
            <a:ext cx="864096" cy="504056"/>
          </a:xfrm>
          <a:prstGeom prst="parallelogram">
            <a:avLst/>
          </a:prstGeom>
          <a:solidFill>
            <a:srgbClr val="689CD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TW" sz="1050" b="1" dirty="0" smtClean="0">
                <a:latin typeface="+mj-lt"/>
              </a:rPr>
              <a:t>HP Purchase </a:t>
            </a:r>
          </a:p>
          <a:p>
            <a:pPr algn="ctr"/>
            <a:r>
              <a:rPr lang="en-US" altLang="zh-TW" sz="1050" b="1" dirty="0" smtClean="0">
                <a:latin typeface="+mj-lt"/>
              </a:rPr>
              <a:t>Order</a:t>
            </a:r>
            <a:endParaRPr lang="zh-TW" altLang="en-US" sz="1050" b="1" dirty="0">
              <a:latin typeface="+mj-lt"/>
            </a:endParaRPr>
          </a:p>
        </p:txBody>
      </p:sp>
      <p:sp>
        <p:nvSpPr>
          <p:cNvPr id="16" name="流程圖: 結束點 15"/>
          <p:cNvSpPr/>
          <p:nvPr/>
        </p:nvSpPr>
        <p:spPr>
          <a:xfrm>
            <a:off x="6876256" y="908720"/>
            <a:ext cx="576064" cy="288032"/>
          </a:xfrm>
          <a:prstGeom prst="flowChartTerminator">
            <a:avLst/>
          </a:prstGeom>
          <a:solidFill>
            <a:srgbClr val="4172A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000" b="1" dirty="0" smtClean="0">
                <a:latin typeface="+mj-lt"/>
              </a:rPr>
              <a:t>END</a:t>
            </a:r>
            <a:endParaRPr lang="zh-TW" altLang="en-US" sz="1000" b="1" dirty="0">
              <a:latin typeface="+mj-lt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7920880" y="836712"/>
            <a:ext cx="864096" cy="432048"/>
          </a:xfrm>
          <a:prstGeom prst="rect">
            <a:avLst/>
          </a:prstGeom>
          <a:solidFill>
            <a:srgbClr val="689CD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000" b="1" dirty="0" smtClean="0">
                <a:latin typeface="+mj-lt"/>
              </a:rPr>
              <a:t>WPTR</a:t>
            </a:r>
            <a:endParaRPr lang="zh-TW" altLang="en-US" sz="1000" b="1" dirty="0">
              <a:latin typeface="+mj-lt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1584176" y="836712"/>
            <a:ext cx="864096" cy="432048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TW" sz="1000" b="1" dirty="0" smtClean="0">
                <a:latin typeface="+mj-lt"/>
                <a:ea typeface="Arial Unicode MS" pitchFamily="34" charset="-120"/>
                <a:cs typeface="Arial Unicode MS" pitchFamily="34" charset="-120"/>
              </a:rPr>
              <a:t>Order</a:t>
            </a:r>
          </a:p>
          <a:p>
            <a:pPr algn="ctr"/>
            <a:r>
              <a:rPr lang="en-US" altLang="zh-TW" sz="1000" b="1" dirty="0" smtClean="0">
                <a:latin typeface="+mj-lt"/>
                <a:ea typeface="Arial Unicode MS" pitchFamily="34" charset="-120"/>
                <a:cs typeface="Arial Unicode MS" pitchFamily="34" charset="-120"/>
              </a:rPr>
              <a:t>Management</a:t>
            </a:r>
            <a:endParaRPr lang="zh-TW" altLang="en-US" sz="1000" b="1" dirty="0">
              <a:latin typeface="+mj-lt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19" name="平行四邊形 18"/>
          <p:cNvSpPr/>
          <p:nvPr/>
        </p:nvSpPr>
        <p:spPr>
          <a:xfrm>
            <a:off x="7920880" y="2580906"/>
            <a:ext cx="864096" cy="560062"/>
          </a:xfrm>
          <a:prstGeom prst="parallelogram">
            <a:avLst/>
          </a:prstGeom>
          <a:solidFill>
            <a:srgbClr val="689CD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000" b="1" dirty="0" smtClean="0">
                <a:latin typeface="+mj-lt"/>
              </a:rPr>
              <a:t>WPTR Data</a:t>
            </a:r>
            <a:endParaRPr lang="zh-TW" altLang="en-US" sz="1000" b="1" dirty="0">
              <a:latin typeface="+mj-lt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2880320" y="1556792"/>
            <a:ext cx="864096" cy="504056"/>
          </a:xfrm>
          <a:prstGeom prst="rect">
            <a:avLst/>
          </a:prstGeom>
          <a:solidFill>
            <a:srgbClr val="689CD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000" b="1" dirty="0" smtClean="0">
                <a:latin typeface="+mj-lt"/>
              </a:rPr>
              <a:t>Process HP</a:t>
            </a:r>
          </a:p>
          <a:p>
            <a:pPr algn="ctr"/>
            <a:r>
              <a:rPr lang="en-US" altLang="zh-TW" sz="1000" b="1" dirty="0" smtClean="0">
                <a:latin typeface="+mj-lt"/>
              </a:rPr>
              <a:t>Purchase Order</a:t>
            </a:r>
            <a:endParaRPr lang="zh-TW" altLang="en-US" sz="1000" b="1" dirty="0">
              <a:latin typeface="+mj-lt"/>
            </a:endParaRPr>
          </a:p>
        </p:txBody>
      </p:sp>
      <p:sp>
        <p:nvSpPr>
          <p:cNvPr id="21" name="平行四邊形 20"/>
          <p:cNvSpPr/>
          <p:nvPr/>
        </p:nvSpPr>
        <p:spPr>
          <a:xfrm>
            <a:off x="648073" y="1556792"/>
            <a:ext cx="1008112" cy="504056"/>
          </a:xfrm>
          <a:prstGeom prst="parallelogram">
            <a:avLst/>
          </a:prstGeom>
          <a:solidFill>
            <a:srgbClr val="689CD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TW" sz="1000" b="1" dirty="0" smtClean="0">
                <a:latin typeface="+mj-lt"/>
              </a:rPr>
              <a:t>HPPO , BOM or SKU</a:t>
            </a:r>
          </a:p>
          <a:p>
            <a:pPr algn="ctr"/>
            <a:r>
              <a:rPr lang="en-US" altLang="zh-TW" sz="1000" b="1" dirty="0" smtClean="0">
                <a:latin typeface="+mj-lt"/>
              </a:rPr>
              <a:t>Order </a:t>
            </a:r>
            <a:r>
              <a:rPr lang="en-US" altLang="zh-TW" sz="1000" b="1" dirty="0" err="1" smtClean="0">
                <a:latin typeface="+mj-lt"/>
              </a:rPr>
              <a:t>Q’ty</a:t>
            </a:r>
            <a:endParaRPr lang="zh-TW" altLang="en-US" sz="1000" b="1" dirty="0">
              <a:latin typeface="+mj-lt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691202" y="2420888"/>
            <a:ext cx="792088" cy="432048"/>
          </a:xfrm>
          <a:prstGeom prst="rect">
            <a:avLst/>
          </a:prstGeom>
          <a:solidFill>
            <a:srgbClr val="689CD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TW" sz="1000" b="1" dirty="0" err="1" smtClean="0">
                <a:latin typeface="+mj-lt"/>
              </a:rPr>
              <a:t>UPSSendBOM</a:t>
            </a:r>
            <a:endParaRPr lang="zh-TW" altLang="en-US" sz="1000" b="1" dirty="0">
              <a:latin typeface="+mj-lt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2520281" y="2420888"/>
            <a:ext cx="720080" cy="432048"/>
          </a:xfrm>
          <a:prstGeom prst="rect">
            <a:avLst/>
          </a:prstGeom>
          <a:solidFill>
            <a:srgbClr val="689CD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TW" sz="1000" b="1" dirty="0" err="1" smtClean="0">
                <a:latin typeface="+mj-lt"/>
              </a:rPr>
              <a:t>UPSSendOSI</a:t>
            </a:r>
            <a:endParaRPr lang="zh-TW" altLang="en-US" sz="1000" b="1" dirty="0">
              <a:latin typeface="+mj-lt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3528392" y="2420888"/>
            <a:ext cx="720080" cy="432048"/>
          </a:xfrm>
          <a:prstGeom prst="rect">
            <a:avLst/>
          </a:prstGeom>
          <a:solidFill>
            <a:srgbClr val="689CD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TW" sz="1000" b="1" dirty="0" err="1" smtClean="0">
                <a:latin typeface="+mj-lt"/>
              </a:rPr>
              <a:t>UPSVerifyPOReady</a:t>
            </a:r>
            <a:endParaRPr lang="zh-TW" altLang="en-US" sz="1000" b="1" dirty="0">
              <a:latin typeface="+mj-lt"/>
            </a:endParaRPr>
          </a:p>
        </p:txBody>
      </p:sp>
      <p:sp>
        <p:nvSpPr>
          <p:cNvPr id="25" name="流程圖: 準備作業 24"/>
          <p:cNvSpPr/>
          <p:nvPr/>
        </p:nvSpPr>
        <p:spPr>
          <a:xfrm>
            <a:off x="1728193" y="2377758"/>
            <a:ext cx="720080" cy="504056"/>
          </a:xfrm>
          <a:prstGeom prst="flowChartPreparation">
            <a:avLst/>
          </a:prstGeom>
          <a:solidFill>
            <a:srgbClr val="4172A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TW" sz="1000" b="1" dirty="0" smtClean="0">
                <a:latin typeface="+mj-lt"/>
              </a:rPr>
              <a:t>Wait for  20+ min </a:t>
            </a:r>
            <a:endParaRPr lang="zh-TW" altLang="en-US" sz="1000" b="1" dirty="0">
              <a:latin typeface="+mj-lt"/>
            </a:endParaRPr>
          </a:p>
        </p:txBody>
      </p:sp>
      <p:sp>
        <p:nvSpPr>
          <p:cNvPr id="26" name="流程圖: 決策 25"/>
          <p:cNvSpPr/>
          <p:nvPr/>
        </p:nvSpPr>
        <p:spPr>
          <a:xfrm>
            <a:off x="4536505" y="2366134"/>
            <a:ext cx="936104" cy="528059"/>
          </a:xfrm>
          <a:prstGeom prst="flowChartDecision">
            <a:avLst/>
          </a:prstGeom>
          <a:solidFill>
            <a:srgbClr val="689CD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TW" sz="800" b="1" dirty="0" err="1" smtClean="0">
                <a:latin typeface="+mj-lt"/>
              </a:rPr>
              <a:t>UPSVerifyPOReady</a:t>
            </a:r>
            <a:r>
              <a:rPr lang="en-US" altLang="zh-TW" sz="800" b="1" dirty="0" smtClean="0">
                <a:latin typeface="+mj-lt"/>
              </a:rPr>
              <a:t>?</a:t>
            </a:r>
            <a:endParaRPr lang="zh-TW" altLang="en-US" sz="800" b="1" dirty="0">
              <a:latin typeface="+mj-lt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5113736" y="4581128"/>
            <a:ext cx="864096" cy="288032"/>
          </a:xfrm>
          <a:prstGeom prst="rect">
            <a:avLst/>
          </a:prstGeom>
          <a:solidFill>
            <a:srgbClr val="689CD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>
              <a:lnSpc>
                <a:spcPts val="1000"/>
              </a:lnSpc>
              <a:tabLst>
                <a:tab pos="38100" algn="l"/>
              </a:tabLst>
            </a:pPr>
            <a:r>
              <a:rPr lang="en-US" altLang="zh-CN" sz="1100" dirty="0"/>
              <a:t>	</a:t>
            </a:r>
            <a:r>
              <a:rPr lang="en-US" altLang="zh-CN" sz="1100" dirty="0" err="1" smtClean="0"/>
              <a:t>UPSGetATM</a:t>
            </a:r>
            <a:endParaRPr lang="en-US" altLang="zh-CN" sz="1100" dirty="0">
              <a:solidFill>
                <a:srgbClr val="FEFFFF"/>
              </a:solidFill>
              <a:cs typeface="微軟正黑體" pitchFamily="18" charset="0"/>
            </a:endParaRPr>
          </a:p>
        </p:txBody>
      </p:sp>
      <p:sp>
        <p:nvSpPr>
          <p:cNvPr id="28" name="流程圖: 決策 27"/>
          <p:cNvSpPr/>
          <p:nvPr/>
        </p:nvSpPr>
        <p:spPr>
          <a:xfrm>
            <a:off x="3384376" y="3479560"/>
            <a:ext cx="1008112" cy="672075"/>
          </a:xfrm>
          <a:prstGeom prst="flowChartDecision">
            <a:avLst/>
          </a:prstGeom>
          <a:solidFill>
            <a:srgbClr val="689CD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TW" sz="900" b="1" dirty="0" err="1" smtClean="0">
                <a:latin typeface="+mj-lt"/>
              </a:rPr>
              <a:t>Datastring</a:t>
            </a:r>
            <a:r>
              <a:rPr lang="en-US" altLang="zh-TW" sz="900" b="1" dirty="0" smtClean="0">
                <a:latin typeface="+mj-lt"/>
              </a:rPr>
              <a:t> Empty?</a:t>
            </a:r>
            <a:endParaRPr lang="zh-TW" altLang="en-US" sz="900" b="1" dirty="0">
              <a:latin typeface="+mj-lt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683568" y="5805264"/>
            <a:ext cx="720080" cy="504056"/>
          </a:xfrm>
          <a:prstGeom prst="rect">
            <a:avLst/>
          </a:prstGeom>
          <a:solidFill>
            <a:srgbClr val="689CD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TW" sz="1000" b="1" dirty="0" smtClean="0">
                <a:latin typeface="+mj-lt"/>
              </a:rPr>
              <a:t>Final Assembly</a:t>
            </a:r>
            <a:endParaRPr lang="zh-TW" altLang="en-US" sz="1000" b="1" dirty="0">
              <a:latin typeface="+mj-lt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1691680" y="5805264"/>
            <a:ext cx="720080" cy="504056"/>
          </a:xfrm>
          <a:prstGeom prst="rect">
            <a:avLst/>
          </a:prstGeom>
          <a:solidFill>
            <a:srgbClr val="689CD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TW" sz="1000" b="1" dirty="0" smtClean="0">
                <a:latin typeface="+mj-lt"/>
              </a:rPr>
              <a:t>Test Station</a:t>
            </a:r>
            <a:endParaRPr lang="zh-TW" altLang="en-US" sz="1000" b="1" dirty="0">
              <a:latin typeface="+mj-lt"/>
            </a:endParaRPr>
          </a:p>
        </p:txBody>
      </p:sp>
      <p:cxnSp>
        <p:nvCxnSpPr>
          <p:cNvPr id="35" name="直線單箭頭接點 34"/>
          <p:cNvCxnSpPr>
            <a:stCxn id="19" idx="0"/>
            <a:endCxn id="14" idx="2"/>
          </p:cNvCxnSpPr>
          <p:nvPr/>
        </p:nvCxnSpPr>
        <p:spPr>
          <a:xfrm flipV="1">
            <a:off x="8352928" y="2060848"/>
            <a:ext cx="0" cy="520058"/>
          </a:xfrm>
          <a:prstGeom prst="straightConnector1">
            <a:avLst/>
          </a:prstGeom>
          <a:ln w="19050">
            <a:solidFill>
              <a:srgbClr val="88A9D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線單箭頭接點 35"/>
          <p:cNvCxnSpPr>
            <a:stCxn id="14" idx="0"/>
            <a:endCxn id="17" idx="2"/>
          </p:cNvCxnSpPr>
          <p:nvPr/>
        </p:nvCxnSpPr>
        <p:spPr>
          <a:xfrm flipV="1">
            <a:off x="8352928" y="1268760"/>
            <a:ext cx="0" cy="288032"/>
          </a:xfrm>
          <a:prstGeom prst="straightConnector1">
            <a:avLst/>
          </a:prstGeom>
          <a:ln w="19050">
            <a:solidFill>
              <a:srgbClr val="88A9D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線單箭頭接點 36"/>
          <p:cNvCxnSpPr>
            <a:stCxn id="17" idx="1"/>
            <a:endCxn id="16" idx="3"/>
          </p:cNvCxnSpPr>
          <p:nvPr/>
        </p:nvCxnSpPr>
        <p:spPr>
          <a:xfrm flipH="1">
            <a:off x="7452320" y="1052736"/>
            <a:ext cx="468560" cy="0"/>
          </a:xfrm>
          <a:prstGeom prst="straightConnector1">
            <a:avLst/>
          </a:prstGeom>
          <a:ln w="19050">
            <a:solidFill>
              <a:srgbClr val="88A9D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線單箭頭接點 37"/>
          <p:cNvCxnSpPr>
            <a:stCxn id="13" idx="0"/>
            <a:endCxn id="18" idx="1"/>
          </p:cNvCxnSpPr>
          <p:nvPr/>
        </p:nvCxnSpPr>
        <p:spPr>
          <a:xfrm>
            <a:off x="1152128" y="1052736"/>
            <a:ext cx="432048" cy="0"/>
          </a:xfrm>
          <a:prstGeom prst="straightConnector1">
            <a:avLst/>
          </a:prstGeom>
          <a:ln w="19050">
            <a:solidFill>
              <a:srgbClr val="88A9D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線單箭頭接點 38"/>
          <p:cNvCxnSpPr>
            <a:stCxn id="18" idx="3"/>
            <a:endCxn id="15" idx="5"/>
          </p:cNvCxnSpPr>
          <p:nvPr/>
        </p:nvCxnSpPr>
        <p:spPr>
          <a:xfrm flipV="1">
            <a:off x="2448273" y="1045610"/>
            <a:ext cx="567063" cy="7126"/>
          </a:xfrm>
          <a:prstGeom prst="straightConnector1">
            <a:avLst/>
          </a:prstGeom>
          <a:ln w="19050">
            <a:solidFill>
              <a:srgbClr val="88A9D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線單箭頭接點 39"/>
          <p:cNvCxnSpPr>
            <a:stCxn id="15" idx="3"/>
            <a:endCxn id="20" idx="0"/>
          </p:cNvCxnSpPr>
          <p:nvPr/>
        </p:nvCxnSpPr>
        <p:spPr>
          <a:xfrm flipH="1">
            <a:off x="3312369" y="1297638"/>
            <a:ext cx="9001" cy="259154"/>
          </a:xfrm>
          <a:prstGeom prst="straightConnector1">
            <a:avLst/>
          </a:prstGeom>
          <a:ln w="19050">
            <a:solidFill>
              <a:srgbClr val="88A9D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線單箭頭接點 40"/>
          <p:cNvCxnSpPr>
            <a:stCxn id="20" idx="1"/>
            <a:endCxn id="21" idx="2"/>
          </p:cNvCxnSpPr>
          <p:nvPr/>
        </p:nvCxnSpPr>
        <p:spPr>
          <a:xfrm flipH="1">
            <a:off x="1593178" y="1808820"/>
            <a:ext cx="1287143" cy="0"/>
          </a:xfrm>
          <a:prstGeom prst="straightConnector1">
            <a:avLst/>
          </a:prstGeom>
          <a:ln w="19050">
            <a:solidFill>
              <a:srgbClr val="88A9D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單箭頭接點 41"/>
          <p:cNvCxnSpPr>
            <a:stCxn id="21" idx="3"/>
            <a:endCxn id="22" idx="0"/>
          </p:cNvCxnSpPr>
          <p:nvPr/>
        </p:nvCxnSpPr>
        <p:spPr>
          <a:xfrm flipH="1">
            <a:off x="1087247" y="2060848"/>
            <a:ext cx="1875" cy="360040"/>
          </a:xfrm>
          <a:prstGeom prst="straightConnector1">
            <a:avLst/>
          </a:prstGeom>
          <a:ln w="19050">
            <a:solidFill>
              <a:srgbClr val="88A9D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線單箭頭接點 42"/>
          <p:cNvCxnSpPr>
            <a:stCxn id="22" idx="3"/>
            <a:endCxn id="25" idx="1"/>
          </p:cNvCxnSpPr>
          <p:nvPr/>
        </p:nvCxnSpPr>
        <p:spPr>
          <a:xfrm flipV="1">
            <a:off x="1483291" y="2629786"/>
            <a:ext cx="244902" cy="7126"/>
          </a:xfrm>
          <a:prstGeom prst="straightConnector1">
            <a:avLst/>
          </a:prstGeom>
          <a:ln w="19050">
            <a:solidFill>
              <a:srgbClr val="88A9D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肘形接點 43"/>
          <p:cNvCxnSpPr>
            <a:stCxn id="25" idx="0"/>
            <a:endCxn id="24" idx="0"/>
          </p:cNvCxnSpPr>
          <p:nvPr/>
        </p:nvCxnSpPr>
        <p:spPr>
          <a:xfrm rot="16200000" flipH="1">
            <a:off x="2966767" y="1499224"/>
            <a:ext cx="43130" cy="1800200"/>
          </a:xfrm>
          <a:prstGeom prst="bentConnector3">
            <a:avLst>
              <a:gd name="adj1" fmla="val -250014"/>
            </a:avLst>
          </a:prstGeom>
          <a:ln w="19050">
            <a:solidFill>
              <a:srgbClr val="88A9D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線單箭頭接點 44"/>
          <p:cNvCxnSpPr>
            <a:stCxn id="23" idx="3"/>
            <a:endCxn id="24" idx="1"/>
          </p:cNvCxnSpPr>
          <p:nvPr/>
        </p:nvCxnSpPr>
        <p:spPr>
          <a:xfrm>
            <a:off x="3240361" y="2636912"/>
            <a:ext cx="288032" cy="0"/>
          </a:xfrm>
          <a:prstGeom prst="straightConnector1">
            <a:avLst/>
          </a:prstGeom>
          <a:ln w="19050">
            <a:solidFill>
              <a:srgbClr val="88A9D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單箭頭接點 45"/>
          <p:cNvCxnSpPr>
            <a:stCxn id="24" idx="3"/>
            <a:endCxn id="26" idx="1"/>
          </p:cNvCxnSpPr>
          <p:nvPr/>
        </p:nvCxnSpPr>
        <p:spPr>
          <a:xfrm flipV="1">
            <a:off x="4248473" y="2630162"/>
            <a:ext cx="288032" cy="6750"/>
          </a:xfrm>
          <a:prstGeom prst="straightConnector1">
            <a:avLst/>
          </a:prstGeom>
          <a:ln w="19050">
            <a:solidFill>
              <a:srgbClr val="88A9D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肘形接點 125"/>
          <p:cNvCxnSpPr>
            <a:stCxn id="26" idx="2"/>
            <a:endCxn id="28" idx="3"/>
          </p:cNvCxnSpPr>
          <p:nvPr/>
        </p:nvCxnSpPr>
        <p:spPr>
          <a:xfrm rot="5400000">
            <a:off x="4237821" y="3048861"/>
            <a:ext cx="921405" cy="612069"/>
          </a:xfrm>
          <a:prstGeom prst="bentConnector2">
            <a:avLst/>
          </a:prstGeom>
          <a:ln w="19050">
            <a:solidFill>
              <a:srgbClr val="88A9D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單箭頭接點 47"/>
          <p:cNvCxnSpPr>
            <a:stCxn id="28" idx="0"/>
            <a:endCxn id="24" idx="2"/>
          </p:cNvCxnSpPr>
          <p:nvPr/>
        </p:nvCxnSpPr>
        <p:spPr>
          <a:xfrm flipV="1">
            <a:off x="3888432" y="2852936"/>
            <a:ext cx="0" cy="626624"/>
          </a:xfrm>
          <a:prstGeom prst="straightConnector1">
            <a:avLst/>
          </a:prstGeom>
          <a:ln w="19050">
            <a:solidFill>
              <a:srgbClr val="88A9D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肘形接點 125"/>
          <p:cNvCxnSpPr>
            <a:stCxn id="28" idx="1"/>
            <a:endCxn id="23" idx="2"/>
          </p:cNvCxnSpPr>
          <p:nvPr/>
        </p:nvCxnSpPr>
        <p:spPr>
          <a:xfrm rot="10800000">
            <a:off x="2880322" y="2852936"/>
            <a:ext cx="504055" cy="962662"/>
          </a:xfrm>
          <a:prstGeom prst="bentConnector2">
            <a:avLst/>
          </a:prstGeom>
          <a:ln w="19050">
            <a:solidFill>
              <a:srgbClr val="88A9D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肘形接點 125"/>
          <p:cNvCxnSpPr>
            <a:stCxn id="26" idx="3"/>
            <a:endCxn id="30" idx="0"/>
          </p:cNvCxnSpPr>
          <p:nvPr/>
        </p:nvCxnSpPr>
        <p:spPr>
          <a:xfrm flipH="1">
            <a:off x="1043608" y="2630164"/>
            <a:ext cx="4429001" cy="3175100"/>
          </a:xfrm>
          <a:prstGeom prst="bentConnector4">
            <a:avLst>
              <a:gd name="adj1" fmla="val -5161"/>
              <a:gd name="adj2" fmla="val 54158"/>
            </a:avLst>
          </a:prstGeom>
          <a:ln w="19050">
            <a:solidFill>
              <a:srgbClr val="88A9D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線單箭頭接點 53"/>
          <p:cNvCxnSpPr>
            <a:endCxn id="31" idx="1"/>
          </p:cNvCxnSpPr>
          <p:nvPr/>
        </p:nvCxnSpPr>
        <p:spPr>
          <a:xfrm>
            <a:off x="971600" y="6057292"/>
            <a:ext cx="720080" cy="0"/>
          </a:xfrm>
          <a:prstGeom prst="straightConnector1">
            <a:avLst/>
          </a:prstGeom>
          <a:ln w="19050">
            <a:solidFill>
              <a:srgbClr val="88A9D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線單箭頭接點 55"/>
          <p:cNvCxnSpPr>
            <a:stCxn id="121" idx="3"/>
            <a:endCxn id="159" idx="1"/>
          </p:cNvCxnSpPr>
          <p:nvPr/>
        </p:nvCxnSpPr>
        <p:spPr>
          <a:xfrm>
            <a:off x="4427984" y="6057292"/>
            <a:ext cx="333330" cy="0"/>
          </a:xfrm>
          <a:prstGeom prst="straightConnector1">
            <a:avLst/>
          </a:prstGeom>
          <a:ln w="19050">
            <a:solidFill>
              <a:srgbClr val="88A9D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文字方塊 56"/>
          <p:cNvSpPr txBox="1"/>
          <p:nvPr/>
        </p:nvSpPr>
        <p:spPr>
          <a:xfrm>
            <a:off x="2664297" y="908720"/>
            <a:ext cx="72136" cy="261610"/>
          </a:xfrm>
          <a:prstGeom prst="rect">
            <a:avLst/>
          </a:prstGeom>
          <a:solidFill>
            <a:schemeClr val="bg1"/>
          </a:solidFill>
        </p:spPr>
        <p:txBody>
          <a:bodyPr wrap="none" lIns="0" rIns="0" rtlCol="0">
            <a:spAutoFit/>
          </a:bodyPr>
          <a:lstStyle/>
          <a:p>
            <a:r>
              <a:rPr lang="en-US" altLang="zh-TW" sz="1100" b="1" dirty="0" smtClean="0">
                <a:solidFill>
                  <a:srgbClr val="7030A0"/>
                </a:solidFill>
              </a:rPr>
              <a:t>8</a:t>
            </a:r>
            <a:endParaRPr lang="zh-TW" altLang="en-US" sz="1100" b="1" dirty="0">
              <a:solidFill>
                <a:srgbClr val="7030A0"/>
              </a:solidFill>
            </a:endParaRPr>
          </a:p>
        </p:txBody>
      </p:sp>
      <p:sp>
        <p:nvSpPr>
          <p:cNvPr id="58" name="文字方塊 57"/>
          <p:cNvSpPr txBox="1"/>
          <p:nvPr/>
        </p:nvSpPr>
        <p:spPr>
          <a:xfrm>
            <a:off x="3286362" y="1315509"/>
            <a:ext cx="72136" cy="169277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altLang="zh-TW" sz="1100" b="1" dirty="0" smtClean="0">
                <a:solidFill>
                  <a:srgbClr val="7030A0"/>
                </a:solidFill>
              </a:rPr>
              <a:t>9</a:t>
            </a:r>
            <a:endParaRPr lang="zh-TW" altLang="en-US" sz="1100" b="1" dirty="0">
              <a:solidFill>
                <a:srgbClr val="7030A0"/>
              </a:solidFill>
            </a:endParaRPr>
          </a:p>
        </p:txBody>
      </p:sp>
      <p:sp>
        <p:nvSpPr>
          <p:cNvPr id="59" name="文字方塊 58"/>
          <p:cNvSpPr txBox="1"/>
          <p:nvPr/>
        </p:nvSpPr>
        <p:spPr>
          <a:xfrm>
            <a:off x="2129371" y="1673161"/>
            <a:ext cx="144270" cy="261610"/>
          </a:xfrm>
          <a:prstGeom prst="rect">
            <a:avLst/>
          </a:prstGeom>
          <a:solidFill>
            <a:schemeClr val="bg1"/>
          </a:solidFill>
        </p:spPr>
        <p:txBody>
          <a:bodyPr wrap="none" lIns="0" rIns="0" rtlCol="0">
            <a:spAutoFit/>
          </a:bodyPr>
          <a:lstStyle/>
          <a:p>
            <a:r>
              <a:rPr lang="en-US" altLang="zh-TW" sz="1100" b="1" dirty="0" smtClean="0">
                <a:solidFill>
                  <a:srgbClr val="7030A0"/>
                </a:solidFill>
              </a:rPr>
              <a:t>10</a:t>
            </a:r>
            <a:endParaRPr lang="zh-TW" altLang="en-US" sz="1100" b="1" dirty="0">
              <a:solidFill>
                <a:srgbClr val="7030A0"/>
              </a:solidFill>
            </a:endParaRPr>
          </a:p>
        </p:txBody>
      </p:sp>
      <p:sp>
        <p:nvSpPr>
          <p:cNvPr id="60" name="文字方塊 59"/>
          <p:cNvSpPr txBox="1"/>
          <p:nvPr/>
        </p:nvSpPr>
        <p:spPr>
          <a:xfrm>
            <a:off x="1016562" y="2147614"/>
            <a:ext cx="144270" cy="169277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altLang="zh-TW" sz="1100" b="1" dirty="0" smtClean="0">
                <a:solidFill>
                  <a:srgbClr val="7030A0"/>
                </a:solidFill>
              </a:rPr>
              <a:t>11</a:t>
            </a:r>
            <a:endParaRPr lang="zh-TW" altLang="en-US" sz="1100" b="1" dirty="0">
              <a:solidFill>
                <a:srgbClr val="7030A0"/>
              </a:solidFill>
            </a:endParaRPr>
          </a:p>
        </p:txBody>
      </p:sp>
      <p:sp>
        <p:nvSpPr>
          <p:cNvPr id="61" name="文字方塊 60"/>
          <p:cNvSpPr txBox="1"/>
          <p:nvPr/>
        </p:nvSpPr>
        <p:spPr>
          <a:xfrm>
            <a:off x="1494916" y="2492896"/>
            <a:ext cx="144270" cy="261610"/>
          </a:xfrm>
          <a:prstGeom prst="rect">
            <a:avLst/>
          </a:prstGeom>
          <a:solidFill>
            <a:schemeClr val="bg1"/>
          </a:solidFill>
        </p:spPr>
        <p:txBody>
          <a:bodyPr wrap="none" lIns="0" rIns="0" rtlCol="0">
            <a:spAutoFit/>
          </a:bodyPr>
          <a:lstStyle/>
          <a:p>
            <a:r>
              <a:rPr lang="en-US" altLang="zh-TW" sz="1100" b="1" dirty="0" smtClean="0">
                <a:solidFill>
                  <a:srgbClr val="7030A0"/>
                </a:solidFill>
              </a:rPr>
              <a:t>12</a:t>
            </a:r>
            <a:endParaRPr lang="zh-TW" altLang="en-US" sz="1100" b="1" dirty="0">
              <a:solidFill>
                <a:srgbClr val="7030A0"/>
              </a:solidFill>
            </a:endParaRPr>
          </a:p>
        </p:txBody>
      </p:sp>
      <p:sp>
        <p:nvSpPr>
          <p:cNvPr id="62" name="文字方塊 61"/>
          <p:cNvSpPr txBox="1"/>
          <p:nvPr/>
        </p:nvSpPr>
        <p:spPr>
          <a:xfrm>
            <a:off x="2880320" y="2132856"/>
            <a:ext cx="144270" cy="261610"/>
          </a:xfrm>
          <a:prstGeom prst="rect">
            <a:avLst/>
          </a:prstGeom>
          <a:solidFill>
            <a:schemeClr val="bg1"/>
          </a:solidFill>
        </p:spPr>
        <p:txBody>
          <a:bodyPr wrap="none" lIns="0" rIns="0" rtlCol="0">
            <a:spAutoFit/>
          </a:bodyPr>
          <a:lstStyle/>
          <a:p>
            <a:r>
              <a:rPr lang="en-US" altLang="zh-TW" sz="1100" b="1" dirty="0" smtClean="0">
                <a:solidFill>
                  <a:srgbClr val="7030A0"/>
                </a:solidFill>
              </a:rPr>
              <a:t>13</a:t>
            </a:r>
            <a:endParaRPr lang="zh-TW" altLang="en-US" sz="1100" b="1" dirty="0">
              <a:solidFill>
                <a:srgbClr val="7030A0"/>
              </a:solidFill>
            </a:endParaRPr>
          </a:p>
        </p:txBody>
      </p:sp>
      <p:sp>
        <p:nvSpPr>
          <p:cNvPr id="63" name="文字方塊 62"/>
          <p:cNvSpPr txBox="1"/>
          <p:nvPr/>
        </p:nvSpPr>
        <p:spPr>
          <a:xfrm>
            <a:off x="4303228" y="2492896"/>
            <a:ext cx="144270" cy="261610"/>
          </a:xfrm>
          <a:prstGeom prst="rect">
            <a:avLst/>
          </a:prstGeom>
          <a:solidFill>
            <a:schemeClr val="bg1"/>
          </a:solidFill>
        </p:spPr>
        <p:txBody>
          <a:bodyPr wrap="none" lIns="0" rIns="0" rtlCol="0">
            <a:spAutoFit/>
          </a:bodyPr>
          <a:lstStyle/>
          <a:p>
            <a:r>
              <a:rPr lang="en-US" altLang="zh-TW" sz="1100" b="1" dirty="0" smtClean="0">
                <a:solidFill>
                  <a:srgbClr val="7030A0"/>
                </a:solidFill>
              </a:rPr>
              <a:t>14</a:t>
            </a:r>
            <a:endParaRPr lang="zh-TW" altLang="en-US" sz="1100" b="1" dirty="0">
              <a:solidFill>
                <a:srgbClr val="7030A0"/>
              </a:solidFill>
            </a:endParaRPr>
          </a:p>
        </p:txBody>
      </p:sp>
      <p:sp>
        <p:nvSpPr>
          <p:cNvPr id="64" name="文字方塊 63"/>
          <p:cNvSpPr txBox="1"/>
          <p:nvPr/>
        </p:nvSpPr>
        <p:spPr>
          <a:xfrm>
            <a:off x="4931786" y="3212976"/>
            <a:ext cx="144270" cy="169277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altLang="zh-TW" sz="1100" b="1" dirty="0" smtClean="0">
                <a:solidFill>
                  <a:srgbClr val="7030A0"/>
                </a:solidFill>
              </a:rPr>
              <a:t>15</a:t>
            </a:r>
            <a:endParaRPr lang="zh-TW" altLang="en-US" sz="1100" b="1" dirty="0">
              <a:solidFill>
                <a:srgbClr val="7030A0"/>
              </a:solidFill>
            </a:endParaRPr>
          </a:p>
        </p:txBody>
      </p:sp>
      <p:sp>
        <p:nvSpPr>
          <p:cNvPr id="66" name="文字方塊 65"/>
          <p:cNvSpPr txBox="1"/>
          <p:nvPr/>
        </p:nvSpPr>
        <p:spPr>
          <a:xfrm>
            <a:off x="3096344" y="2972853"/>
            <a:ext cx="1728192" cy="425181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ts val="1100"/>
              </a:lnSpc>
            </a:pPr>
            <a:r>
              <a:rPr lang="en-US" altLang="zh-TW" sz="1100" b="1" dirty="0" smtClean="0">
                <a:solidFill>
                  <a:srgbClr val="7030A0"/>
                </a:solidFill>
              </a:rPr>
              <a:t>17, Repeat </a:t>
            </a:r>
            <a:r>
              <a:rPr lang="en-US" altLang="zh-TW" sz="1100" b="1" dirty="0" err="1" smtClean="0">
                <a:solidFill>
                  <a:srgbClr val="7030A0"/>
                </a:solidFill>
              </a:rPr>
              <a:t>UPSVerifyPOReady</a:t>
            </a:r>
            <a:r>
              <a:rPr lang="en-US" altLang="zh-TW" sz="1100" b="1" dirty="0" smtClean="0">
                <a:solidFill>
                  <a:srgbClr val="7030A0"/>
                </a:solidFill>
              </a:rPr>
              <a:t> until return code = 0</a:t>
            </a:r>
            <a:endParaRPr lang="zh-TW" altLang="en-US" sz="1100" b="1" dirty="0">
              <a:solidFill>
                <a:srgbClr val="7030A0"/>
              </a:solidFill>
            </a:endParaRPr>
          </a:p>
        </p:txBody>
      </p:sp>
      <p:cxnSp>
        <p:nvCxnSpPr>
          <p:cNvPr id="67" name="直線接點 66"/>
          <p:cNvCxnSpPr/>
          <p:nvPr/>
        </p:nvCxnSpPr>
        <p:spPr>
          <a:xfrm>
            <a:off x="5508104" y="620688"/>
            <a:ext cx="0" cy="576064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文字方塊 67"/>
          <p:cNvSpPr txBox="1"/>
          <p:nvPr/>
        </p:nvSpPr>
        <p:spPr>
          <a:xfrm>
            <a:off x="3286490" y="2492896"/>
            <a:ext cx="144270" cy="261610"/>
          </a:xfrm>
          <a:prstGeom prst="rect">
            <a:avLst/>
          </a:prstGeom>
          <a:solidFill>
            <a:schemeClr val="bg1"/>
          </a:solidFill>
        </p:spPr>
        <p:txBody>
          <a:bodyPr wrap="none" lIns="0" rIns="0" rtlCol="0">
            <a:spAutoFit/>
          </a:bodyPr>
          <a:lstStyle/>
          <a:p>
            <a:r>
              <a:rPr lang="en-US" altLang="zh-TW" sz="1100" b="1" dirty="0" smtClean="0">
                <a:solidFill>
                  <a:srgbClr val="7030A0"/>
                </a:solidFill>
              </a:rPr>
              <a:t>18</a:t>
            </a:r>
            <a:endParaRPr lang="zh-TW" altLang="en-US" sz="1100" b="1" dirty="0">
              <a:solidFill>
                <a:srgbClr val="7030A0"/>
              </a:solidFill>
            </a:endParaRPr>
          </a:p>
        </p:txBody>
      </p:sp>
      <p:sp>
        <p:nvSpPr>
          <p:cNvPr id="69" name="文字方塊 68"/>
          <p:cNvSpPr txBox="1"/>
          <p:nvPr/>
        </p:nvSpPr>
        <p:spPr>
          <a:xfrm>
            <a:off x="2808312" y="3238238"/>
            <a:ext cx="144270" cy="169277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altLang="zh-TW" sz="1100" b="1" dirty="0" smtClean="0">
                <a:solidFill>
                  <a:srgbClr val="7030A0"/>
                </a:solidFill>
              </a:rPr>
              <a:t>16</a:t>
            </a:r>
            <a:endParaRPr lang="zh-TW" altLang="en-US" sz="1100" b="1" dirty="0">
              <a:solidFill>
                <a:srgbClr val="7030A0"/>
              </a:solidFill>
            </a:endParaRPr>
          </a:p>
        </p:txBody>
      </p:sp>
      <p:sp>
        <p:nvSpPr>
          <p:cNvPr id="77" name="文字方塊 76"/>
          <p:cNvSpPr txBox="1"/>
          <p:nvPr/>
        </p:nvSpPr>
        <p:spPr>
          <a:xfrm>
            <a:off x="5436096" y="2420888"/>
            <a:ext cx="57579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800" b="1" dirty="0" smtClean="0"/>
              <a:t>0 - Ready</a:t>
            </a:r>
            <a:endParaRPr lang="zh-TW" altLang="en-US" sz="800" b="1" dirty="0"/>
          </a:p>
        </p:txBody>
      </p:sp>
      <p:sp>
        <p:nvSpPr>
          <p:cNvPr id="78" name="文字方塊 77"/>
          <p:cNvSpPr txBox="1"/>
          <p:nvPr/>
        </p:nvSpPr>
        <p:spPr>
          <a:xfrm>
            <a:off x="4968554" y="2924944"/>
            <a:ext cx="5760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800" b="1" dirty="0" smtClean="0"/>
              <a:t>1 - Not Ready</a:t>
            </a:r>
            <a:endParaRPr lang="zh-TW" altLang="en-US" sz="800" b="1" dirty="0"/>
          </a:p>
        </p:txBody>
      </p:sp>
      <p:sp>
        <p:nvSpPr>
          <p:cNvPr id="79" name="文字方塊 78"/>
          <p:cNvSpPr txBox="1"/>
          <p:nvPr/>
        </p:nvSpPr>
        <p:spPr>
          <a:xfrm>
            <a:off x="3816424" y="3310244"/>
            <a:ext cx="33054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800" b="1" dirty="0" smtClean="0"/>
              <a:t>Yes</a:t>
            </a:r>
            <a:endParaRPr lang="zh-TW" altLang="en-US" sz="800" b="1" dirty="0"/>
          </a:p>
        </p:txBody>
      </p:sp>
      <p:sp>
        <p:nvSpPr>
          <p:cNvPr id="80" name="文字方塊 79"/>
          <p:cNvSpPr txBox="1"/>
          <p:nvPr/>
        </p:nvSpPr>
        <p:spPr>
          <a:xfrm>
            <a:off x="3149890" y="3623574"/>
            <a:ext cx="30649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800" b="1" dirty="0" smtClean="0"/>
              <a:t>No</a:t>
            </a:r>
            <a:endParaRPr lang="zh-TW" altLang="en-US" sz="800" b="1" dirty="0"/>
          </a:p>
        </p:txBody>
      </p:sp>
      <p:sp>
        <p:nvSpPr>
          <p:cNvPr id="81" name="TextBox 1"/>
          <p:cNvSpPr txBox="1"/>
          <p:nvPr/>
        </p:nvSpPr>
        <p:spPr>
          <a:xfrm>
            <a:off x="295060" y="44626"/>
            <a:ext cx="8158732" cy="456535"/>
          </a:xfrm>
          <a:prstGeom prst="rect">
            <a:avLst/>
          </a:prstGeom>
          <a:noFill/>
        </p:spPr>
        <p:txBody>
          <a:bodyPr wrap="square" lIns="0" tIns="0" rIns="0" rtlCol="0">
            <a:spAutoFit/>
          </a:bodyPr>
          <a:lstStyle/>
          <a:p>
            <a:pPr>
              <a:lnSpc>
                <a:spcPts val="1000"/>
              </a:lnSpc>
            </a:pPr>
            <a:endParaRPr lang="en-US" altLang="zh-CN" sz="2400" dirty="0" smtClean="0">
              <a:latin typeface="+mj-lt"/>
            </a:endParaRPr>
          </a:p>
          <a:p>
            <a:pPr>
              <a:lnSpc>
                <a:spcPts val="1300"/>
              </a:lnSpc>
              <a:tabLst>
                <a:tab pos="63500" algn="l"/>
                <a:tab pos="5473700" algn="l"/>
              </a:tabLst>
            </a:pPr>
            <a:r>
              <a:rPr lang="en-US" altLang="zh-CN" sz="2400" dirty="0" smtClean="0">
                <a:latin typeface="+mj-lt"/>
              </a:rPr>
              <a:t>	</a:t>
            </a:r>
            <a:r>
              <a:rPr lang="en-US" altLang="zh-CN" sz="1600" dirty="0" smtClean="0">
                <a:solidFill>
                  <a:srgbClr val="FEFFFF"/>
                </a:solidFill>
                <a:latin typeface="+mj-lt"/>
                <a:cs typeface="Calibri" pitchFamily="18" charset="0"/>
              </a:rPr>
              <a:t>HP UPS Asset Tag Work flow at </a:t>
            </a:r>
            <a:r>
              <a:rPr lang="en-US" altLang="zh-CN" sz="1600" dirty="0" err="1" smtClean="0">
                <a:solidFill>
                  <a:srgbClr val="FEFFFF"/>
                </a:solidFill>
                <a:latin typeface="+mj-lt"/>
                <a:cs typeface="Calibri" pitchFamily="18" charset="0"/>
              </a:rPr>
              <a:t>Inventec</a:t>
            </a:r>
            <a:r>
              <a:rPr lang="en-US" altLang="zh-CN" sz="1600" dirty="0" smtClean="0">
                <a:solidFill>
                  <a:srgbClr val="FEFFFF"/>
                </a:solidFill>
                <a:latin typeface="+mj-lt"/>
                <a:cs typeface="Calibri" pitchFamily="18" charset="0"/>
              </a:rPr>
              <a:t>, Shanghai</a:t>
            </a:r>
            <a:endParaRPr lang="en-US" altLang="zh-CN" sz="2800" dirty="0" smtClean="0">
              <a:latin typeface="+mj-lt"/>
            </a:endParaRPr>
          </a:p>
          <a:p>
            <a:pPr algn="r">
              <a:lnSpc>
                <a:spcPts val="900"/>
              </a:lnSpc>
              <a:tabLst>
                <a:tab pos="63500" algn="l"/>
                <a:tab pos="5473700" algn="l"/>
              </a:tabLst>
            </a:pPr>
            <a:r>
              <a:rPr lang="en-US" altLang="zh-CN" sz="2800" dirty="0" smtClean="0">
                <a:latin typeface="+mj-lt"/>
              </a:rPr>
              <a:t>	</a:t>
            </a:r>
            <a:r>
              <a:rPr lang="en-US" altLang="zh-CN" sz="1100" dirty="0" smtClean="0">
                <a:solidFill>
                  <a:srgbClr val="FEFFFF"/>
                </a:solidFill>
                <a:latin typeface="+mj-lt"/>
                <a:cs typeface="Calibri" pitchFamily="18" charset="0"/>
              </a:rPr>
              <a:t>Design Phase</a:t>
            </a:r>
          </a:p>
        </p:txBody>
      </p:sp>
      <p:sp>
        <p:nvSpPr>
          <p:cNvPr id="83" name="文字方塊 82"/>
          <p:cNvSpPr txBox="1"/>
          <p:nvPr/>
        </p:nvSpPr>
        <p:spPr>
          <a:xfrm>
            <a:off x="5630600" y="3356992"/>
            <a:ext cx="144270" cy="169277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altLang="zh-TW" sz="1100" b="1" dirty="0" smtClean="0">
                <a:solidFill>
                  <a:srgbClr val="7030A0"/>
                </a:solidFill>
              </a:rPr>
              <a:t>19</a:t>
            </a:r>
            <a:endParaRPr lang="zh-TW" altLang="en-US" sz="1100" b="1" dirty="0">
              <a:solidFill>
                <a:srgbClr val="7030A0"/>
              </a:solidFill>
            </a:endParaRPr>
          </a:p>
        </p:txBody>
      </p:sp>
      <p:sp>
        <p:nvSpPr>
          <p:cNvPr id="84" name="文字方塊 83"/>
          <p:cNvSpPr txBox="1"/>
          <p:nvPr/>
        </p:nvSpPr>
        <p:spPr>
          <a:xfrm>
            <a:off x="1475656" y="5877272"/>
            <a:ext cx="144270" cy="169277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altLang="zh-TW" sz="1100" b="1" dirty="0" smtClean="0">
                <a:solidFill>
                  <a:srgbClr val="7030A0"/>
                </a:solidFill>
              </a:rPr>
              <a:t>20</a:t>
            </a:r>
            <a:endParaRPr lang="zh-TW" altLang="en-US" sz="1100" b="1" dirty="0">
              <a:solidFill>
                <a:srgbClr val="7030A0"/>
              </a:solidFill>
            </a:endParaRPr>
          </a:p>
        </p:txBody>
      </p:sp>
      <p:sp>
        <p:nvSpPr>
          <p:cNvPr id="114" name="矩形 113"/>
          <p:cNvSpPr/>
          <p:nvPr/>
        </p:nvSpPr>
        <p:spPr>
          <a:xfrm>
            <a:off x="2094859" y="4653136"/>
            <a:ext cx="864096" cy="288032"/>
          </a:xfrm>
          <a:prstGeom prst="rect">
            <a:avLst/>
          </a:prstGeom>
          <a:solidFill>
            <a:srgbClr val="689CD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>
              <a:lnSpc>
                <a:spcPts val="1000"/>
              </a:lnSpc>
              <a:tabLst>
                <a:tab pos="38100" algn="l"/>
              </a:tabLst>
            </a:pPr>
            <a:r>
              <a:rPr lang="en-US" altLang="zh-CN" sz="1100" dirty="0"/>
              <a:t>	</a:t>
            </a:r>
            <a:r>
              <a:rPr lang="en-US" altLang="zh-CN" sz="1100" dirty="0" err="1" smtClean="0"/>
              <a:t>UPSGetUSI</a:t>
            </a:r>
            <a:endParaRPr lang="en-US" altLang="zh-CN" sz="1100" dirty="0">
              <a:solidFill>
                <a:srgbClr val="FEFFFF"/>
              </a:solidFill>
              <a:cs typeface="微軟正黑體" pitchFamily="18" charset="0"/>
            </a:endParaRPr>
          </a:p>
        </p:txBody>
      </p:sp>
      <p:sp>
        <p:nvSpPr>
          <p:cNvPr id="121" name="矩形 120"/>
          <p:cNvSpPr/>
          <p:nvPr/>
        </p:nvSpPr>
        <p:spPr>
          <a:xfrm>
            <a:off x="3825210" y="5805264"/>
            <a:ext cx="602774" cy="504056"/>
          </a:xfrm>
          <a:prstGeom prst="rect">
            <a:avLst/>
          </a:prstGeom>
          <a:solidFill>
            <a:srgbClr val="689CD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TW" sz="1000" b="1" dirty="0" smtClean="0">
                <a:latin typeface="+mj-lt"/>
              </a:rPr>
              <a:t>Image</a:t>
            </a:r>
            <a:endParaRPr lang="zh-TW" altLang="en-US" sz="1000" b="1" dirty="0">
              <a:latin typeface="+mj-lt"/>
            </a:endParaRPr>
          </a:p>
        </p:txBody>
      </p:sp>
      <p:sp>
        <p:nvSpPr>
          <p:cNvPr id="128" name="矩形 127"/>
          <p:cNvSpPr/>
          <p:nvPr/>
        </p:nvSpPr>
        <p:spPr>
          <a:xfrm>
            <a:off x="7040597" y="4671759"/>
            <a:ext cx="864096" cy="288032"/>
          </a:xfrm>
          <a:prstGeom prst="rect">
            <a:avLst/>
          </a:prstGeom>
          <a:solidFill>
            <a:srgbClr val="689CD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>
              <a:lnSpc>
                <a:spcPts val="1000"/>
              </a:lnSpc>
              <a:tabLst>
                <a:tab pos="38100" algn="l"/>
              </a:tabLst>
            </a:pPr>
            <a:r>
              <a:rPr lang="en-US" altLang="zh-CN" sz="1100" dirty="0"/>
              <a:t>	</a:t>
            </a:r>
            <a:r>
              <a:rPr lang="en-US" altLang="zh-CN" sz="1100" dirty="0" err="1" smtClean="0"/>
              <a:t>UPSGetATRP</a:t>
            </a:r>
            <a:endParaRPr lang="en-US" altLang="zh-CN" sz="1100" dirty="0">
              <a:solidFill>
                <a:srgbClr val="FEFFFF"/>
              </a:solidFill>
              <a:cs typeface="微軟正黑體" pitchFamily="18" charset="0"/>
            </a:endParaRPr>
          </a:p>
        </p:txBody>
      </p:sp>
      <p:cxnSp>
        <p:nvCxnSpPr>
          <p:cNvPr id="138" name="肘形接點 125"/>
          <p:cNvCxnSpPr>
            <a:stCxn id="33" idx="3"/>
            <a:endCxn id="19" idx="4"/>
          </p:cNvCxnSpPr>
          <p:nvPr/>
        </p:nvCxnSpPr>
        <p:spPr>
          <a:xfrm flipH="1" flipV="1">
            <a:off x="8352928" y="3140968"/>
            <a:ext cx="539552" cy="2913303"/>
          </a:xfrm>
          <a:prstGeom prst="bentConnector4">
            <a:avLst>
              <a:gd name="adj1" fmla="val -18157"/>
              <a:gd name="adj2" fmla="val 54325"/>
            </a:avLst>
          </a:prstGeom>
          <a:ln w="19050">
            <a:solidFill>
              <a:srgbClr val="88A9D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直線單箭頭接點 149"/>
          <p:cNvCxnSpPr>
            <a:stCxn id="114" idx="2"/>
          </p:cNvCxnSpPr>
          <p:nvPr/>
        </p:nvCxnSpPr>
        <p:spPr>
          <a:xfrm>
            <a:off x="2526907" y="4941168"/>
            <a:ext cx="14762" cy="1152128"/>
          </a:xfrm>
          <a:prstGeom prst="straightConnector1">
            <a:avLst/>
          </a:prstGeom>
          <a:ln w="19050">
            <a:solidFill>
              <a:srgbClr val="88A9D2"/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2" name="文字方塊 161"/>
          <p:cNvSpPr txBox="1"/>
          <p:nvPr/>
        </p:nvSpPr>
        <p:spPr>
          <a:xfrm>
            <a:off x="2613854" y="5877272"/>
            <a:ext cx="144270" cy="169277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altLang="zh-TW" sz="1100" b="1" dirty="0" smtClean="0">
                <a:solidFill>
                  <a:srgbClr val="7030A0"/>
                </a:solidFill>
              </a:rPr>
              <a:t>22</a:t>
            </a:r>
            <a:endParaRPr lang="zh-TW" altLang="en-US" sz="1100" b="1" dirty="0">
              <a:solidFill>
                <a:srgbClr val="7030A0"/>
              </a:solidFill>
            </a:endParaRPr>
          </a:p>
        </p:txBody>
      </p:sp>
      <p:sp>
        <p:nvSpPr>
          <p:cNvPr id="169" name="文字方塊 168"/>
          <p:cNvSpPr txBox="1"/>
          <p:nvPr/>
        </p:nvSpPr>
        <p:spPr>
          <a:xfrm>
            <a:off x="1403648" y="3429000"/>
            <a:ext cx="10081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800" b="1" dirty="0" smtClean="0"/>
              <a:t>Must consider the response time for </a:t>
            </a:r>
            <a:r>
              <a:rPr lang="en-US" altLang="zh-TW" sz="800" b="1" dirty="0" err="1" smtClean="0"/>
              <a:t>UPSGetATM</a:t>
            </a:r>
            <a:endParaRPr lang="zh-TW" altLang="en-US" sz="800" b="1" dirty="0"/>
          </a:p>
        </p:txBody>
      </p:sp>
      <p:sp>
        <p:nvSpPr>
          <p:cNvPr id="160" name="文字方塊 159"/>
          <p:cNvSpPr txBox="1"/>
          <p:nvPr/>
        </p:nvSpPr>
        <p:spPr>
          <a:xfrm>
            <a:off x="4499738" y="5843903"/>
            <a:ext cx="144270" cy="169277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altLang="zh-TW" sz="1100" b="1" dirty="0" smtClean="0">
                <a:solidFill>
                  <a:srgbClr val="7030A0"/>
                </a:solidFill>
              </a:rPr>
              <a:t>24</a:t>
            </a:r>
            <a:endParaRPr lang="zh-TW" altLang="en-US" sz="1100" b="1" dirty="0">
              <a:solidFill>
                <a:srgbClr val="7030A0"/>
              </a:solidFill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6064527" y="5805264"/>
            <a:ext cx="720080" cy="504056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TW" sz="1000" b="1" dirty="0" smtClean="0">
                <a:latin typeface="+mj-lt"/>
              </a:rPr>
              <a:t>Chassis Print Station</a:t>
            </a:r>
            <a:endParaRPr lang="zh-TW" altLang="en-US" sz="1000" b="1" dirty="0">
              <a:latin typeface="+mj-lt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8172400" y="5802243"/>
            <a:ext cx="720080" cy="504056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ts val="1000"/>
              </a:lnSpc>
            </a:pPr>
            <a:r>
              <a:rPr lang="en-US" altLang="zh-TW" sz="1000" b="1" dirty="0" smtClean="0">
                <a:latin typeface="+mj-lt"/>
              </a:rPr>
              <a:t>Shipping Print Station</a:t>
            </a:r>
          </a:p>
        </p:txBody>
      </p:sp>
      <p:sp>
        <p:nvSpPr>
          <p:cNvPr id="73" name="文字方塊 72"/>
          <p:cNvSpPr txBox="1"/>
          <p:nvPr/>
        </p:nvSpPr>
        <p:spPr>
          <a:xfrm>
            <a:off x="6911752" y="5852011"/>
            <a:ext cx="144016" cy="169277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r>
              <a:rPr lang="en-US" altLang="zh-TW" sz="1100" b="1" dirty="0" smtClean="0">
                <a:solidFill>
                  <a:srgbClr val="7030A0"/>
                </a:solidFill>
              </a:rPr>
              <a:t>28</a:t>
            </a:r>
            <a:endParaRPr lang="zh-TW" altLang="en-US" sz="1100" b="1" dirty="0">
              <a:solidFill>
                <a:srgbClr val="7030A0"/>
              </a:solidFill>
            </a:endParaRPr>
          </a:p>
        </p:txBody>
      </p:sp>
      <p:sp>
        <p:nvSpPr>
          <p:cNvPr id="202" name="文字方塊 201"/>
          <p:cNvSpPr txBox="1"/>
          <p:nvPr/>
        </p:nvSpPr>
        <p:spPr>
          <a:xfrm>
            <a:off x="7919864" y="5892741"/>
            <a:ext cx="144016" cy="169277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r>
              <a:rPr lang="en-US" altLang="zh-TW" sz="1100" b="1" dirty="0" smtClean="0">
                <a:solidFill>
                  <a:srgbClr val="7030A0"/>
                </a:solidFill>
              </a:rPr>
              <a:t>29</a:t>
            </a:r>
            <a:endParaRPr lang="zh-TW" altLang="en-US" sz="1100" b="1" dirty="0">
              <a:solidFill>
                <a:srgbClr val="7030A0"/>
              </a:solidFill>
            </a:endParaRPr>
          </a:p>
        </p:txBody>
      </p:sp>
      <p:sp>
        <p:nvSpPr>
          <p:cNvPr id="203" name="文字方塊 202"/>
          <p:cNvSpPr txBox="1"/>
          <p:nvPr/>
        </p:nvSpPr>
        <p:spPr>
          <a:xfrm>
            <a:off x="8023091" y="4641771"/>
            <a:ext cx="144016" cy="169277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r>
              <a:rPr lang="en-US" altLang="zh-TW" sz="1100" b="1" dirty="0" smtClean="0">
                <a:solidFill>
                  <a:srgbClr val="7030A0"/>
                </a:solidFill>
              </a:rPr>
              <a:t>30</a:t>
            </a:r>
            <a:endParaRPr lang="zh-TW" altLang="en-US" sz="1100" b="1" dirty="0">
              <a:solidFill>
                <a:srgbClr val="7030A0"/>
              </a:solidFill>
            </a:endParaRPr>
          </a:p>
        </p:txBody>
      </p:sp>
      <p:sp>
        <p:nvSpPr>
          <p:cNvPr id="204" name="文字方塊 203"/>
          <p:cNvSpPr txBox="1"/>
          <p:nvPr/>
        </p:nvSpPr>
        <p:spPr>
          <a:xfrm>
            <a:off x="8739463" y="4396347"/>
            <a:ext cx="144016" cy="169277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r>
              <a:rPr lang="en-US" altLang="zh-TW" sz="1100" b="1" dirty="0" smtClean="0">
                <a:solidFill>
                  <a:srgbClr val="7030A0"/>
                </a:solidFill>
              </a:rPr>
              <a:t>31</a:t>
            </a:r>
            <a:endParaRPr lang="zh-TW" altLang="en-US" sz="1100" b="1" dirty="0">
              <a:solidFill>
                <a:srgbClr val="7030A0"/>
              </a:solidFill>
            </a:endParaRPr>
          </a:p>
        </p:txBody>
      </p:sp>
      <p:sp>
        <p:nvSpPr>
          <p:cNvPr id="205" name="文字方塊 204"/>
          <p:cNvSpPr txBox="1"/>
          <p:nvPr/>
        </p:nvSpPr>
        <p:spPr>
          <a:xfrm>
            <a:off x="8310420" y="2215608"/>
            <a:ext cx="144016" cy="169277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r>
              <a:rPr lang="en-US" altLang="zh-TW" sz="1100" b="1" dirty="0" smtClean="0">
                <a:solidFill>
                  <a:srgbClr val="7030A0"/>
                </a:solidFill>
              </a:rPr>
              <a:t>32</a:t>
            </a:r>
            <a:endParaRPr lang="zh-TW" altLang="en-US" sz="1100" b="1" dirty="0">
              <a:solidFill>
                <a:srgbClr val="7030A0"/>
              </a:solidFill>
            </a:endParaRPr>
          </a:p>
        </p:txBody>
      </p:sp>
      <p:sp>
        <p:nvSpPr>
          <p:cNvPr id="206" name="文字方塊 205"/>
          <p:cNvSpPr txBox="1"/>
          <p:nvPr/>
        </p:nvSpPr>
        <p:spPr>
          <a:xfrm>
            <a:off x="8274463" y="1330355"/>
            <a:ext cx="144016" cy="169277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r>
              <a:rPr lang="en-US" altLang="zh-TW" sz="1100" b="1" dirty="0" smtClean="0">
                <a:solidFill>
                  <a:srgbClr val="7030A0"/>
                </a:solidFill>
              </a:rPr>
              <a:t>33</a:t>
            </a:r>
            <a:endParaRPr lang="zh-TW" altLang="en-US" sz="1100" b="1" dirty="0">
              <a:solidFill>
                <a:srgbClr val="7030A0"/>
              </a:solidFill>
            </a:endParaRPr>
          </a:p>
        </p:txBody>
      </p:sp>
      <p:sp>
        <p:nvSpPr>
          <p:cNvPr id="207" name="文字方塊 206"/>
          <p:cNvSpPr txBox="1"/>
          <p:nvPr/>
        </p:nvSpPr>
        <p:spPr>
          <a:xfrm>
            <a:off x="2613854" y="5032193"/>
            <a:ext cx="6620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800" b="1" dirty="0" smtClean="0"/>
              <a:t>Shell PO;</a:t>
            </a:r>
          </a:p>
          <a:p>
            <a:r>
              <a:rPr lang="en-US" altLang="zh-TW" sz="800" b="1" dirty="0" smtClean="0"/>
              <a:t>Password ; </a:t>
            </a:r>
            <a:r>
              <a:rPr lang="en-US" altLang="zh-TW" sz="800" b="1" dirty="0" smtClean="0"/>
              <a:t>AV, S/N</a:t>
            </a:r>
            <a:endParaRPr lang="zh-TW" altLang="en-US" sz="800" b="1" dirty="0"/>
          </a:p>
        </p:txBody>
      </p:sp>
      <p:sp>
        <p:nvSpPr>
          <p:cNvPr id="103" name="文字方塊 102"/>
          <p:cNvSpPr txBox="1"/>
          <p:nvPr/>
        </p:nvSpPr>
        <p:spPr>
          <a:xfrm>
            <a:off x="5508104" y="5445224"/>
            <a:ext cx="864096" cy="2160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800" b="1" dirty="0" smtClean="0"/>
              <a:t>Asset No. , S/N</a:t>
            </a:r>
            <a:endParaRPr lang="zh-TW" altLang="en-US" sz="800" b="1" dirty="0"/>
          </a:p>
        </p:txBody>
      </p:sp>
      <p:sp>
        <p:nvSpPr>
          <p:cNvPr id="104" name="文字方塊 103"/>
          <p:cNvSpPr txBox="1"/>
          <p:nvPr/>
        </p:nvSpPr>
        <p:spPr>
          <a:xfrm>
            <a:off x="4572000" y="5301208"/>
            <a:ext cx="10081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800" b="1" dirty="0" smtClean="0"/>
              <a:t>HPPO;S/N; Mac 1 ; MAC 2 ; AV etc.</a:t>
            </a:r>
            <a:endParaRPr lang="zh-TW" altLang="en-US" sz="800" b="1" dirty="0"/>
          </a:p>
        </p:txBody>
      </p:sp>
      <p:sp>
        <p:nvSpPr>
          <p:cNvPr id="129" name="文字方塊 128"/>
          <p:cNvSpPr txBox="1"/>
          <p:nvPr/>
        </p:nvSpPr>
        <p:spPr>
          <a:xfrm>
            <a:off x="7103476" y="4467269"/>
            <a:ext cx="79813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800" b="1" dirty="0" smtClean="0"/>
              <a:t>S/N; Location</a:t>
            </a:r>
            <a:endParaRPr lang="zh-TW" altLang="en-US" sz="800" b="1" dirty="0"/>
          </a:p>
        </p:txBody>
      </p:sp>
      <p:sp>
        <p:nvSpPr>
          <p:cNvPr id="71" name="文字方塊 70"/>
          <p:cNvSpPr txBox="1"/>
          <p:nvPr/>
        </p:nvSpPr>
        <p:spPr>
          <a:xfrm>
            <a:off x="2397830" y="5157192"/>
            <a:ext cx="204136" cy="169277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TW" sz="1100" b="1" dirty="0" smtClean="0">
                <a:solidFill>
                  <a:srgbClr val="7030A0"/>
                </a:solidFill>
              </a:rPr>
              <a:t>21</a:t>
            </a:r>
            <a:endParaRPr lang="zh-TW" altLang="en-US" sz="1100" b="1" dirty="0">
              <a:solidFill>
                <a:srgbClr val="7030A0"/>
              </a:solidFill>
            </a:endParaRPr>
          </a:p>
        </p:txBody>
      </p:sp>
      <p:sp>
        <p:nvSpPr>
          <p:cNvPr id="131" name="文字方塊 130"/>
          <p:cNvSpPr txBox="1"/>
          <p:nvPr/>
        </p:nvSpPr>
        <p:spPr>
          <a:xfrm>
            <a:off x="1965605" y="5300654"/>
            <a:ext cx="60144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800" b="1" dirty="0" smtClean="0">
                <a:solidFill>
                  <a:srgbClr val="FF0000"/>
                </a:solidFill>
              </a:rPr>
              <a:t>If Shell Po</a:t>
            </a:r>
            <a:endParaRPr lang="zh-TW" altLang="en-US" sz="800" b="1" dirty="0">
              <a:solidFill>
                <a:srgbClr val="FF0000"/>
              </a:solidFill>
            </a:endParaRPr>
          </a:p>
        </p:txBody>
      </p:sp>
      <p:sp>
        <p:nvSpPr>
          <p:cNvPr id="133" name="文字方塊 132"/>
          <p:cNvSpPr txBox="1"/>
          <p:nvPr/>
        </p:nvSpPr>
        <p:spPr>
          <a:xfrm>
            <a:off x="6732240" y="4616753"/>
            <a:ext cx="144016" cy="169277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TW" sz="1100" b="1" dirty="0" smtClean="0">
                <a:solidFill>
                  <a:srgbClr val="7030A0"/>
                </a:solidFill>
              </a:rPr>
              <a:t>27</a:t>
            </a:r>
            <a:endParaRPr lang="zh-TW" altLang="en-US" sz="1100" b="1" dirty="0">
              <a:solidFill>
                <a:srgbClr val="7030A0"/>
              </a:solidFill>
            </a:endParaRPr>
          </a:p>
        </p:txBody>
      </p:sp>
      <p:sp>
        <p:nvSpPr>
          <p:cNvPr id="135" name="文字方塊 134"/>
          <p:cNvSpPr txBox="1"/>
          <p:nvPr/>
        </p:nvSpPr>
        <p:spPr>
          <a:xfrm>
            <a:off x="7668344" y="980728"/>
            <a:ext cx="144270" cy="169277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altLang="zh-TW" sz="1100" b="1" dirty="0" smtClean="0">
                <a:solidFill>
                  <a:srgbClr val="7030A0"/>
                </a:solidFill>
              </a:rPr>
              <a:t>34</a:t>
            </a:r>
            <a:endParaRPr lang="zh-TW" altLang="en-US" sz="1100" b="1" dirty="0">
              <a:solidFill>
                <a:srgbClr val="7030A0"/>
              </a:solidFill>
            </a:endParaRPr>
          </a:p>
        </p:txBody>
      </p:sp>
      <p:sp>
        <p:nvSpPr>
          <p:cNvPr id="139" name="文字方塊 138"/>
          <p:cNvSpPr txBox="1"/>
          <p:nvPr/>
        </p:nvSpPr>
        <p:spPr>
          <a:xfrm>
            <a:off x="8495928" y="5157192"/>
            <a:ext cx="360040" cy="2160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800" b="1" dirty="0" smtClean="0"/>
              <a:t>S/N</a:t>
            </a:r>
            <a:endParaRPr lang="zh-TW" altLang="en-US" sz="800" b="1" dirty="0"/>
          </a:p>
        </p:txBody>
      </p:sp>
      <p:sp>
        <p:nvSpPr>
          <p:cNvPr id="119" name="矩形 118"/>
          <p:cNvSpPr/>
          <p:nvPr/>
        </p:nvSpPr>
        <p:spPr>
          <a:xfrm>
            <a:off x="7127776" y="5805264"/>
            <a:ext cx="720080" cy="504056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TW" sz="1000" b="1" dirty="0" smtClean="0">
                <a:solidFill>
                  <a:schemeClr val="tx1"/>
                </a:solidFill>
                <a:latin typeface="+mj-lt"/>
              </a:rPr>
              <a:t>Assign</a:t>
            </a:r>
          </a:p>
          <a:p>
            <a:pPr algn="ctr"/>
            <a:r>
              <a:rPr lang="en-US" altLang="zh-TW" sz="1000" b="1" dirty="0" smtClean="0">
                <a:solidFill>
                  <a:schemeClr val="tx1"/>
                </a:solidFill>
                <a:latin typeface="+mj-lt"/>
              </a:rPr>
              <a:t>Shipping PO</a:t>
            </a:r>
            <a:endParaRPr lang="zh-TW" altLang="en-US" sz="1000" b="1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23" name="文字方塊 122"/>
          <p:cNvSpPr txBox="1"/>
          <p:nvPr/>
        </p:nvSpPr>
        <p:spPr>
          <a:xfrm>
            <a:off x="7037512" y="5343599"/>
            <a:ext cx="9543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800" b="1" dirty="0" smtClean="0">
                <a:solidFill>
                  <a:srgbClr val="FF0000"/>
                </a:solidFill>
              </a:rPr>
              <a:t>Normal UUT assign new HPPO with same AV</a:t>
            </a:r>
          </a:p>
        </p:txBody>
      </p:sp>
      <p:sp>
        <p:nvSpPr>
          <p:cNvPr id="124" name="文字方塊 123"/>
          <p:cNvSpPr txBox="1"/>
          <p:nvPr/>
        </p:nvSpPr>
        <p:spPr>
          <a:xfrm>
            <a:off x="7596336" y="3306470"/>
            <a:ext cx="86409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800" b="1" dirty="0" smtClean="0"/>
              <a:t>Normal </a:t>
            </a:r>
          </a:p>
          <a:p>
            <a:r>
              <a:rPr lang="en-US" altLang="zh-TW" sz="800" b="1" dirty="0" smtClean="0"/>
              <a:t>Combine PO</a:t>
            </a:r>
          </a:p>
        </p:txBody>
      </p:sp>
      <p:cxnSp>
        <p:nvCxnSpPr>
          <p:cNvPr id="110" name="肘形接點 109"/>
          <p:cNvCxnSpPr>
            <a:stCxn id="32" idx="0"/>
          </p:cNvCxnSpPr>
          <p:nvPr/>
        </p:nvCxnSpPr>
        <p:spPr>
          <a:xfrm rot="5400000" flipH="1" flipV="1">
            <a:off x="6273842" y="4966501"/>
            <a:ext cx="989489" cy="688038"/>
          </a:xfrm>
          <a:prstGeom prst="bentConnector2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肘形接點 147"/>
          <p:cNvCxnSpPr>
            <a:stCxn id="33" idx="0"/>
            <a:endCxn id="128" idx="3"/>
          </p:cNvCxnSpPr>
          <p:nvPr/>
        </p:nvCxnSpPr>
        <p:spPr>
          <a:xfrm rot="16200000" flipV="1">
            <a:off x="7725333" y="4995135"/>
            <a:ext cx="986468" cy="627747"/>
          </a:xfrm>
          <a:prstGeom prst="bentConnector2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直線單箭頭接點 152"/>
          <p:cNvCxnSpPr>
            <a:stCxn id="32" idx="3"/>
            <a:endCxn id="119" idx="1"/>
          </p:cNvCxnSpPr>
          <p:nvPr/>
        </p:nvCxnSpPr>
        <p:spPr>
          <a:xfrm>
            <a:off x="6784607" y="6057292"/>
            <a:ext cx="343169" cy="0"/>
          </a:xfrm>
          <a:prstGeom prst="straightConnector1">
            <a:avLst/>
          </a:prstGeom>
          <a:ln w="19050">
            <a:solidFill>
              <a:srgbClr val="88A9D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直線單箭頭接點 155"/>
          <p:cNvCxnSpPr>
            <a:stCxn id="119" idx="3"/>
            <a:endCxn id="33" idx="1"/>
          </p:cNvCxnSpPr>
          <p:nvPr/>
        </p:nvCxnSpPr>
        <p:spPr>
          <a:xfrm flipV="1">
            <a:off x="7847856" y="6054271"/>
            <a:ext cx="324544" cy="3021"/>
          </a:xfrm>
          <a:prstGeom prst="straightConnector1">
            <a:avLst/>
          </a:prstGeom>
          <a:ln w="19050">
            <a:solidFill>
              <a:srgbClr val="88A9D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1" name="文字方塊 160"/>
          <p:cNvSpPr txBox="1"/>
          <p:nvPr/>
        </p:nvSpPr>
        <p:spPr>
          <a:xfrm>
            <a:off x="6407696" y="5013176"/>
            <a:ext cx="93610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800" b="1" dirty="0" smtClean="0"/>
              <a:t>Btw file,</a:t>
            </a:r>
          </a:p>
          <a:p>
            <a:r>
              <a:rPr lang="en-US" altLang="zh-TW" sz="800" b="1" dirty="0" smtClean="0"/>
              <a:t>Parameter (</a:t>
            </a:r>
            <a:r>
              <a:rPr lang="en-US" altLang="zh-TW" sz="800" b="1" dirty="0" err="1" smtClean="0"/>
              <a:t>eSOP</a:t>
            </a:r>
            <a:r>
              <a:rPr lang="en-US" altLang="zh-TW" sz="800" b="1" dirty="0" smtClean="0"/>
              <a:t>)</a:t>
            </a:r>
            <a:endParaRPr lang="zh-TW" altLang="en-US" sz="800" b="1" dirty="0"/>
          </a:p>
        </p:txBody>
      </p:sp>
      <p:cxnSp>
        <p:nvCxnSpPr>
          <p:cNvPr id="105" name="直線單箭頭接點 104"/>
          <p:cNvCxnSpPr>
            <a:stCxn id="27" idx="2"/>
          </p:cNvCxnSpPr>
          <p:nvPr/>
        </p:nvCxnSpPr>
        <p:spPr>
          <a:xfrm>
            <a:off x="5545784" y="4869160"/>
            <a:ext cx="0" cy="1224136"/>
          </a:xfrm>
          <a:prstGeom prst="straightConnector1">
            <a:avLst/>
          </a:prstGeom>
          <a:ln w="19050">
            <a:solidFill>
              <a:srgbClr val="88A9D2"/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直線單箭頭接點 119"/>
          <p:cNvCxnSpPr>
            <a:stCxn id="131" idx="0"/>
          </p:cNvCxnSpPr>
          <p:nvPr/>
        </p:nvCxnSpPr>
        <p:spPr>
          <a:xfrm flipH="1" flipV="1">
            <a:off x="2264222" y="5011387"/>
            <a:ext cx="2107" cy="289267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直線單箭頭接點 124"/>
          <p:cNvCxnSpPr/>
          <p:nvPr/>
        </p:nvCxnSpPr>
        <p:spPr>
          <a:xfrm>
            <a:off x="2829701" y="5517232"/>
            <a:ext cx="0" cy="288032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" name="文字方塊 131"/>
          <p:cNvSpPr txBox="1"/>
          <p:nvPr/>
        </p:nvSpPr>
        <p:spPr>
          <a:xfrm>
            <a:off x="6156176" y="5085184"/>
            <a:ext cx="360040" cy="2160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800" b="1" dirty="0" smtClean="0"/>
              <a:t>S/N</a:t>
            </a:r>
            <a:endParaRPr lang="zh-TW" altLang="en-US" sz="800" b="1" dirty="0"/>
          </a:p>
        </p:txBody>
      </p:sp>
      <p:cxnSp>
        <p:nvCxnSpPr>
          <p:cNvPr id="142" name="直線單箭頭接點 141"/>
          <p:cNvCxnSpPr/>
          <p:nvPr/>
        </p:nvCxnSpPr>
        <p:spPr>
          <a:xfrm flipH="1" flipV="1">
            <a:off x="6300192" y="4797152"/>
            <a:ext cx="2107" cy="289267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直線單箭頭接點 142"/>
          <p:cNvCxnSpPr/>
          <p:nvPr/>
        </p:nvCxnSpPr>
        <p:spPr>
          <a:xfrm flipH="1" flipV="1">
            <a:off x="8639944" y="4869160"/>
            <a:ext cx="2107" cy="289267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直線單箭頭接點 143"/>
          <p:cNvCxnSpPr/>
          <p:nvPr/>
        </p:nvCxnSpPr>
        <p:spPr>
          <a:xfrm>
            <a:off x="6647470" y="5373216"/>
            <a:ext cx="0" cy="288032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直線單箭頭接點 144"/>
          <p:cNvCxnSpPr/>
          <p:nvPr/>
        </p:nvCxnSpPr>
        <p:spPr>
          <a:xfrm>
            <a:off x="8279904" y="5373216"/>
            <a:ext cx="0" cy="288032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6" name="文字方塊 145"/>
          <p:cNvSpPr txBox="1"/>
          <p:nvPr/>
        </p:nvSpPr>
        <p:spPr>
          <a:xfrm>
            <a:off x="7631832" y="5089807"/>
            <a:ext cx="93610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800" b="1" dirty="0" smtClean="0"/>
              <a:t>Btw file,</a:t>
            </a:r>
          </a:p>
          <a:p>
            <a:r>
              <a:rPr lang="en-US" altLang="zh-TW" sz="800" b="1" dirty="0" smtClean="0"/>
              <a:t>Parameter (</a:t>
            </a:r>
            <a:r>
              <a:rPr lang="en-US" altLang="zh-TW" sz="800" b="1" dirty="0" err="1" smtClean="0"/>
              <a:t>eSOP</a:t>
            </a:r>
            <a:r>
              <a:rPr lang="en-US" altLang="zh-TW" sz="800" b="1" dirty="0" smtClean="0"/>
              <a:t>)</a:t>
            </a:r>
            <a:endParaRPr lang="zh-TW" altLang="en-US" sz="800" b="1" dirty="0"/>
          </a:p>
        </p:txBody>
      </p:sp>
      <p:cxnSp>
        <p:nvCxnSpPr>
          <p:cNvPr id="147" name="直線單箭頭接點 146"/>
          <p:cNvCxnSpPr/>
          <p:nvPr/>
        </p:nvCxnSpPr>
        <p:spPr>
          <a:xfrm flipH="1" flipV="1">
            <a:off x="5433989" y="4941168"/>
            <a:ext cx="2107" cy="289267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直線單箭頭接點 148"/>
          <p:cNvCxnSpPr/>
          <p:nvPr/>
        </p:nvCxnSpPr>
        <p:spPr>
          <a:xfrm>
            <a:off x="5652120" y="5661248"/>
            <a:ext cx="0" cy="288032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" name="矩形 121"/>
          <p:cNvSpPr/>
          <p:nvPr/>
        </p:nvSpPr>
        <p:spPr>
          <a:xfrm>
            <a:off x="2915816" y="5805264"/>
            <a:ext cx="517986" cy="504056"/>
          </a:xfrm>
          <a:prstGeom prst="rect">
            <a:avLst/>
          </a:prstGeom>
          <a:solidFill>
            <a:srgbClr val="689CD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TW" sz="1000" b="1" dirty="0" smtClean="0">
                <a:latin typeface="+mj-lt"/>
              </a:rPr>
              <a:t>Run in</a:t>
            </a:r>
            <a:endParaRPr lang="zh-TW" altLang="en-US" sz="1000" b="1" dirty="0">
              <a:latin typeface="+mj-lt"/>
            </a:endParaRPr>
          </a:p>
        </p:txBody>
      </p:sp>
      <p:cxnSp>
        <p:nvCxnSpPr>
          <p:cNvPr id="127" name="直線單箭頭接點 126"/>
          <p:cNvCxnSpPr>
            <a:stCxn id="122" idx="3"/>
            <a:endCxn id="121" idx="1"/>
          </p:cNvCxnSpPr>
          <p:nvPr/>
        </p:nvCxnSpPr>
        <p:spPr>
          <a:xfrm>
            <a:off x="3433802" y="6057292"/>
            <a:ext cx="391408" cy="0"/>
          </a:xfrm>
          <a:prstGeom prst="straightConnector1">
            <a:avLst/>
          </a:prstGeom>
          <a:ln w="19050">
            <a:solidFill>
              <a:srgbClr val="88A9D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" name="文字方塊 135"/>
          <p:cNvSpPr txBox="1"/>
          <p:nvPr/>
        </p:nvSpPr>
        <p:spPr>
          <a:xfrm>
            <a:off x="3563634" y="5877272"/>
            <a:ext cx="144270" cy="169277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altLang="zh-TW" sz="1100" b="1" dirty="0" smtClean="0">
                <a:solidFill>
                  <a:srgbClr val="7030A0"/>
                </a:solidFill>
              </a:rPr>
              <a:t>23</a:t>
            </a:r>
            <a:endParaRPr lang="zh-TW" altLang="en-US" sz="1100" b="1" dirty="0">
              <a:solidFill>
                <a:srgbClr val="7030A0"/>
              </a:solidFill>
            </a:endParaRPr>
          </a:p>
        </p:txBody>
      </p:sp>
      <p:sp>
        <p:nvSpPr>
          <p:cNvPr id="137" name="文字方塊 136"/>
          <p:cNvSpPr txBox="1"/>
          <p:nvPr/>
        </p:nvSpPr>
        <p:spPr>
          <a:xfrm>
            <a:off x="3635896" y="5589240"/>
            <a:ext cx="936104" cy="2160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800" b="1" dirty="0" smtClean="0"/>
              <a:t>Write into BIOS</a:t>
            </a:r>
            <a:endParaRPr lang="zh-TW" altLang="en-US" sz="800" b="1" dirty="0"/>
          </a:p>
        </p:txBody>
      </p:sp>
      <p:sp>
        <p:nvSpPr>
          <p:cNvPr id="159" name="矩形 158"/>
          <p:cNvSpPr/>
          <p:nvPr/>
        </p:nvSpPr>
        <p:spPr>
          <a:xfrm>
            <a:off x="4761314" y="5805264"/>
            <a:ext cx="602774" cy="504056"/>
          </a:xfrm>
          <a:prstGeom prst="rect">
            <a:avLst/>
          </a:prstGeom>
          <a:solidFill>
            <a:srgbClr val="689CD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TW" sz="1000" b="1" dirty="0" smtClean="0">
                <a:latin typeface="+mj-lt"/>
              </a:rPr>
              <a:t>Cosmetic Inspection</a:t>
            </a:r>
            <a:endParaRPr lang="zh-TW" altLang="en-US" sz="1000" b="1" dirty="0">
              <a:latin typeface="+mj-lt"/>
            </a:endParaRPr>
          </a:p>
        </p:txBody>
      </p:sp>
      <p:cxnSp>
        <p:nvCxnSpPr>
          <p:cNvPr id="164" name="直線單箭頭接點 163"/>
          <p:cNvCxnSpPr>
            <a:stCxn id="159" idx="3"/>
            <a:endCxn id="32" idx="1"/>
          </p:cNvCxnSpPr>
          <p:nvPr/>
        </p:nvCxnSpPr>
        <p:spPr>
          <a:xfrm>
            <a:off x="5364088" y="6057292"/>
            <a:ext cx="700439" cy="0"/>
          </a:xfrm>
          <a:prstGeom prst="straightConnector1">
            <a:avLst/>
          </a:prstGeom>
          <a:ln w="19050">
            <a:solidFill>
              <a:srgbClr val="88A9D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1" name="文字方塊 170"/>
          <p:cNvSpPr txBox="1"/>
          <p:nvPr/>
        </p:nvSpPr>
        <p:spPr>
          <a:xfrm>
            <a:off x="5580112" y="5157192"/>
            <a:ext cx="144270" cy="169277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altLang="zh-TW" sz="1100" b="1" dirty="0" smtClean="0">
                <a:solidFill>
                  <a:srgbClr val="7030A0"/>
                </a:solidFill>
              </a:rPr>
              <a:t>25</a:t>
            </a:r>
            <a:endParaRPr lang="zh-TW" altLang="en-US" sz="1100" b="1" dirty="0">
              <a:solidFill>
                <a:srgbClr val="7030A0"/>
              </a:solidFill>
            </a:endParaRPr>
          </a:p>
        </p:txBody>
      </p:sp>
      <p:sp>
        <p:nvSpPr>
          <p:cNvPr id="172" name="文字方塊 171"/>
          <p:cNvSpPr txBox="1"/>
          <p:nvPr/>
        </p:nvSpPr>
        <p:spPr>
          <a:xfrm>
            <a:off x="5796136" y="5852011"/>
            <a:ext cx="144270" cy="169277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altLang="zh-TW" sz="1100" b="1" dirty="0" smtClean="0">
                <a:solidFill>
                  <a:srgbClr val="7030A0"/>
                </a:solidFill>
              </a:rPr>
              <a:t>26</a:t>
            </a:r>
            <a:endParaRPr lang="zh-TW" altLang="en-US" sz="1100" b="1" dirty="0">
              <a:solidFill>
                <a:srgbClr val="7030A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/>
          <p:cNvSpPr txBox="1"/>
          <p:nvPr/>
        </p:nvSpPr>
        <p:spPr>
          <a:xfrm>
            <a:off x="467544" y="1375608"/>
            <a:ext cx="5035161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en-US" altLang="zh-TW" dirty="0" smtClean="0"/>
              <a:t>Receive HP PO</a:t>
            </a:r>
          </a:p>
          <a:p>
            <a:pPr marL="342900" indent="-342900">
              <a:buAutoNum type="arabicPeriod"/>
            </a:pPr>
            <a:r>
              <a:rPr lang="en-US" altLang="zh-TW" dirty="0" smtClean="0"/>
              <a:t>Extract PO BOM by SAP</a:t>
            </a:r>
          </a:p>
          <a:p>
            <a:pPr marL="342900" indent="-342900">
              <a:buAutoNum type="arabicPeriod"/>
            </a:pPr>
            <a:r>
              <a:rPr lang="en-US" altLang="zh-TW" dirty="0" smtClean="0"/>
              <a:t>Execute </a:t>
            </a:r>
            <a:r>
              <a:rPr lang="en-US" altLang="zh-TW" dirty="0" err="1" smtClean="0"/>
              <a:t>UPSSendBOM</a:t>
            </a:r>
            <a:endParaRPr lang="en-US" altLang="zh-TW" dirty="0" smtClean="0"/>
          </a:p>
          <a:p>
            <a:pPr marL="342900" indent="-342900">
              <a:buAutoNum type="arabicPeriod"/>
            </a:pPr>
            <a:r>
              <a:rPr lang="en-US" altLang="zh-TW" dirty="0" smtClean="0"/>
              <a:t>Execute </a:t>
            </a:r>
            <a:r>
              <a:rPr lang="en-US" altLang="zh-TW" dirty="0" err="1" smtClean="0"/>
              <a:t>UPSVerifyPOReady</a:t>
            </a:r>
            <a:r>
              <a:rPr lang="en-US" altLang="zh-TW" dirty="0" smtClean="0"/>
              <a:t>  =&gt; Return 0 (Ready)</a:t>
            </a:r>
          </a:p>
          <a:p>
            <a:pPr marL="342900" indent="-342900">
              <a:buAutoNum type="arabicPeriod"/>
            </a:pPr>
            <a:r>
              <a:rPr lang="en-US" altLang="zh-TW" dirty="0" smtClean="0"/>
              <a:t>Execute </a:t>
            </a:r>
            <a:r>
              <a:rPr lang="en-US" altLang="zh-TW" dirty="0" err="1" smtClean="0"/>
              <a:t>UPSSendOSI</a:t>
            </a:r>
            <a:r>
              <a:rPr lang="en-US" altLang="zh-TW" dirty="0" smtClean="0"/>
              <a:t> (if needed)</a:t>
            </a:r>
          </a:p>
        </p:txBody>
      </p:sp>
      <p:sp>
        <p:nvSpPr>
          <p:cNvPr id="6" name="文字方塊 5"/>
          <p:cNvSpPr txBox="1"/>
          <p:nvPr/>
        </p:nvSpPr>
        <p:spPr>
          <a:xfrm>
            <a:off x="395536" y="1015568"/>
            <a:ext cx="25280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 smtClean="0"/>
              <a:t>During PO receiving …</a:t>
            </a:r>
            <a:endParaRPr lang="zh-TW" altLang="en-US" sz="2000" b="1" i="1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矩形 26"/>
          <p:cNvSpPr/>
          <p:nvPr/>
        </p:nvSpPr>
        <p:spPr>
          <a:xfrm>
            <a:off x="5148064" y="1484784"/>
            <a:ext cx="864096" cy="432048"/>
          </a:xfrm>
          <a:prstGeom prst="rect">
            <a:avLst/>
          </a:prstGeom>
          <a:solidFill>
            <a:srgbClr val="689CD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>
              <a:lnSpc>
                <a:spcPts val="1000"/>
              </a:lnSpc>
              <a:tabLst>
                <a:tab pos="38100" algn="l"/>
              </a:tabLst>
            </a:pPr>
            <a:r>
              <a:rPr lang="en-US" altLang="zh-CN" sz="1100" dirty="0"/>
              <a:t>	</a:t>
            </a:r>
            <a:r>
              <a:rPr lang="en-US" altLang="zh-CN" sz="1100" dirty="0" err="1" smtClean="0"/>
              <a:t>UPSGetATM</a:t>
            </a:r>
            <a:endParaRPr lang="en-US" altLang="zh-CN" sz="1100" dirty="0">
              <a:solidFill>
                <a:srgbClr val="FEFFFF"/>
              </a:solidFill>
              <a:cs typeface="微軟正黑體" pitchFamily="18" charset="0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683568" y="3140968"/>
            <a:ext cx="720080" cy="504056"/>
          </a:xfrm>
          <a:prstGeom prst="rect">
            <a:avLst/>
          </a:prstGeom>
          <a:solidFill>
            <a:srgbClr val="689CD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TW" sz="1000" b="1" dirty="0" smtClean="0">
                <a:latin typeface="+mj-lt"/>
              </a:rPr>
              <a:t>Test Station</a:t>
            </a:r>
            <a:endParaRPr lang="zh-TW" altLang="en-US" sz="1000" b="1" dirty="0">
              <a:latin typeface="+mj-lt"/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5868144" y="3140968"/>
            <a:ext cx="720080" cy="504056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TW" sz="1000" b="1" dirty="0" smtClean="0">
                <a:latin typeface="+mj-lt"/>
              </a:rPr>
              <a:t>Chassis Print Station</a:t>
            </a:r>
            <a:endParaRPr lang="zh-TW" altLang="en-US" sz="1000" b="1" dirty="0">
              <a:latin typeface="+mj-lt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7308304" y="3140968"/>
            <a:ext cx="720080" cy="504056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ts val="1000"/>
              </a:lnSpc>
            </a:pPr>
            <a:r>
              <a:rPr lang="en-US" altLang="zh-TW" sz="1000" b="1" dirty="0" smtClean="0">
                <a:latin typeface="+mj-lt"/>
              </a:rPr>
              <a:t>Shipping Print </a:t>
            </a:r>
          </a:p>
          <a:p>
            <a:pPr algn="ctr">
              <a:lnSpc>
                <a:spcPts val="1000"/>
              </a:lnSpc>
            </a:pPr>
            <a:r>
              <a:rPr lang="en-US" altLang="zh-TW" sz="1000" b="1" dirty="0" smtClean="0">
                <a:latin typeface="+mj-lt"/>
              </a:rPr>
              <a:t>Station</a:t>
            </a:r>
          </a:p>
        </p:txBody>
      </p:sp>
      <p:cxnSp>
        <p:nvCxnSpPr>
          <p:cNvPr id="55" name="直線單箭頭接點 54"/>
          <p:cNvCxnSpPr>
            <a:stCxn id="31" idx="3"/>
            <a:endCxn id="149" idx="1"/>
          </p:cNvCxnSpPr>
          <p:nvPr/>
        </p:nvCxnSpPr>
        <p:spPr>
          <a:xfrm>
            <a:off x="1403648" y="3392996"/>
            <a:ext cx="3312368" cy="0"/>
          </a:xfrm>
          <a:prstGeom prst="straightConnector1">
            <a:avLst/>
          </a:prstGeom>
          <a:ln w="19050">
            <a:solidFill>
              <a:srgbClr val="88A9D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線單箭頭接點 55"/>
          <p:cNvCxnSpPr>
            <a:stCxn id="32" idx="1"/>
            <a:endCxn id="149" idx="1"/>
          </p:cNvCxnSpPr>
          <p:nvPr/>
        </p:nvCxnSpPr>
        <p:spPr>
          <a:xfrm flipH="1">
            <a:off x="4716016" y="3392996"/>
            <a:ext cx="1152128" cy="0"/>
          </a:xfrm>
          <a:prstGeom prst="straightConnector1">
            <a:avLst/>
          </a:prstGeom>
          <a:ln w="19050">
            <a:solidFill>
              <a:srgbClr val="88A9D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矩形 113"/>
          <p:cNvSpPr/>
          <p:nvPr/>
        </p:nvSpPr>
        <p:spPr>
          <a:xfrm>
            <a:off x="2267744" y="1484784"/>
            <a:ext cx="936104" cy="432048"/>
          </a:xfrm>
          <a:prstGeom prst="rect">
            <a:avLst/>
          </a:prstGeom>
          <a:solidFill>
            <a:srgbClr val="689CD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>
              <a:lnSpc>
                <a:spcPts val="1000"/>
              </a:lnSpc>
              <a:tabLst>
                <a:tab pos="38100" algn="l"/>
              </a:tabLst>
            </a:pPr>
            <a:r>
              <a:rPr lang="en-US" altLang="zh-CN" sz="1100" dirty="0"/>
              <a:t>	</a:t>
            </a:r>
            <a:r>
              <a:rPr lang="en-US" altLang="zh-CN" sz="1100" dirty="0" err="1" smtClean="0"/>
              <a:t>UPSGetUSI</a:t>
            </a:r>
            <a:endParaRPr lang="en-US" altLang="zh-CN" sz="1100" dirty="0" smtClean="0"/>
          </a:p>
        </p:txBody>
      </p:sp>
      <p:sp>
        <p:nvSpPr>
          <p:cNvPr id="121" name="矩形 120"/>
          <p:cNvSpPr/>
          <p:nvPr/>
        </p:nvSpPr>
        <p:spPr>
          <a:xfrm>
            <a:off x="3419872" y="3140968"/>
            <a:ext cx="720080" cy="504056"/>
          </a:xfrm>
          <a:prstGeom prst="rect">
            <a:avLst/>
          </a:prstGeom>
          <a:solidFill>
            <a:srgbClr val="689CD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TW" sz="1000" b="1" dirty="0" smtClean="0">
                <a:latin typeface="+mj-lt"/>
              </a:rPr>
              <a:t>Image</a:t>
            </a:r>
            <a:endParaRPr lang="zh-TW" altLang="en-US" sz="1000" b="1" dirty="0">
              <a:latin typeface="+mj-lt"/>
            </a:endParaRPr>
          </a:p>
        </p:txBody>
      </p:sp>
      <p:sp>
        <p:nvSpPr>
          <p:cNvPr id="128" name="矩形 127"/>
          <p:cNvSpPr/>
          <p:nvPr/>
        </p:nvSpPr>
        <p:spPr>
          <a:xfrm>
            <a:off x="6444208" y="1484784"/>
            <a:ext cx="1008112" cy="432048"/>
          </a:xfrm>
          <a:prstGeom prst="rect">
            <a:avLst/>
          </a:prstGeom>
          <a:solidFill>
            <a:srgbClr val="689CD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>
              <a:lnSpc>
                <a:spcPts val="1000"/>
              </a:lnSpc>
              <a:tabLst>
                <a:tab pos="38100" algn="l"/>
              </a:tabLst>
            </a:pPr>
            <a:r>
              <a:rPr lang="en-US" altLang="zh-CN" sz="1100" dirty="0"/>
              <a:t>	</a:t>
            </a:r>
            <a:r>
              <a:rPr lang="en-US" altLang="zh-CN" sz="1100" dirty="0" err="1" smtClean="0"/>
              <a:t>UPSGetATRP</a:t>
            </a:r>
            <a:endParaRPr lang="en-US" altLang="zh-CN" sz="1100" dirty="0">
              <a:solidFill>
                <a:srgbClr val="FEFFFF"/>
              </a:solidFill>
              <a:cs typeface="微軟正黑體" pitchFamily="18" charset="0"/>
            </a:endParaRPr>
          </a:p>
        </p:txBody>
      </p:sp>
      <p:cxnSp>
        <p:nvCxnSpPr>
          <p:cNvPr id="150" name="直線單箭頭接點 149"/>
          <p:cNvCxnSpPr>
            <a:stCxn id="114" idx="2"/>
          </p:cNvCxnSpPr>
          <p:nvPr/>
        </p:nvCxnSpPr>
        <p:spPr>
          <a:xfrm flipH="1">
            <a:off x="2731325" y="1916832"/>
            <a:ext cx="4471" cy="1455760"/>
          </a:xfrm>
          <a:prstGeom prst="straightConnector1">
            <a:avLst/>
          </a:prstGeom>
          <a:ln w="19050">
            <a:solidFill>
              <a:srgbClr val="88A9D2"/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" name="矩形 142"/>
          <p:cNvSpPr/>
          <p:nvPr/>
        </p:nvSpPr>
        <p:spPr>
          <a:xfrm>
            <a:off x="4716016" y="4838963"/>
            <a:ext cx="720080" cy="504056"/>
          </a:xfrm>
          <a:prstGeom prst="rect">
            <a:avLst/>
          </a:prstGeom>
          <a:solidFill>
            <a:srgbClr val="689CD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TW" sz="1000" b="1" dirty="0" smtClean="0">
                <a:latin typeface="+mj-lt"/>
              </a:rPr>
              <a:t>Release AT </a:t>
            </a:r>
            <a:endParaRPr lang="zh-TW" altLang="en-US" sz="1000" b="1" dirty="0">
              <a:latin typeface="+mj-lt"/>
            </a:endParaRPr>
          </a:p>
        </p:txBody>
      </p:sp>
      <p:sp>
        <p:nvSpPr>
          <p:cNvPr id="149" name="矩形 148"/>
          <p:cNvSpPr/>
          <p:nvPr/>
        </p:nvSpPr>
        <p:spPr>
          <a:xfrm>
            <a:off x="4716016" y="3140968"/>
            <a:ext cx="720080" cy="504056"/>
          </a:xfrm>
          <a:prstGeom prst="rect">
            <a:avLst/>
          </a:prstGeom>
          <a:solidFill>
            <a:srgbClr val="689CD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TW" sz="1000" b="1" dirty="0" smtClean="0">
                <a:latin typeface="+mj-lt"/>
              </a:rPr>
              <a:t>Cosmetic Inspection</a:t>
            </a:r>
            <a:endParaRPr lang="zh-TW" altLang="en-US" sz="1000" b="1" dirty="0">
              <a:latin typeface="+mj-lt"/>
            </a:endParaRPr>
          </a:p>
        </p:txBody>
      </p:sp>
      <p:cxnSp>
        <p:nvCxnSpPr>
          <p:cNvPr id="152" name="直線單箭頭接點 151"/>
          <p:cNvCxnSpPr>
            <a:stCxn id="149" idx="3"/>
            <a:endCxn id="32" idx="1"/>
          </p:cNvCxnSpPr>
          <p:nvPr/>
        </p:nvCxnSpPr>
        <p:spPr>
          <a:xfrm>
            <a:off x="5436096" y="3392996"/>
            <a:ext cx="432048" cy="0"/>
          </a:xfrm>
          <a:prstGeom prst="straightConnector1">
            <a:avLst/>
          </a:prstGeom>
          <a:ln w="19050">
            <a:solidFill>
              <a:srgbClr val="88A9D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肘形接點 125"/>
          <p:cNvCxnSpPr>
            <a:stCxn id="143" idx="1"/>
            <a:endCxn id="183" idx="3"/>
          </p:cNvCxnSpPr>
          <p:nvPr/>
        </p:nvCxnSpPr>
        <p:spPr>
          <a:xfrm rot="10800000" flipV="1">
            <a:off x="2411760" y="5090991"/>
            <a:ext cx="2304256" cy="576064"/>
          </a:xfrm>
          <a:prstGeom prst="bentConnector3">
            <a:avLst>
              <a:gd name="adj1" fmla="val 50000"/>
            </a:avLst>
          </a:prstGeom>
          <a:ln w="190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3" name="矩形 182"/>
          <p:cNvSpPr/>
          <p:nvPr/>
        </p:nvSpPr>
        <p:spPr>
          <a:xfrm>
            <a:off x="1259632" y="5415027"/>
            <a:ext cx="1152128" cy="504056"/>
          </a:xfrm>
          <a:prstGeom prst="rect">
            <a:avLst/>
          </a:prstGeom>
          <a:solidFill>
            <a:srgbClr val="689CD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TW" sz="1000" b="1" dirty="0" smtClean="0">
                <a:solidFill>
                  <a:srgbClr val="FF0000"/>
                </a:solidFill>
                <a:latin typeface="+mj-lt"/>
              </a:rPr>
              <a:t>New </a:t>
            </a:r>
            <a:r>
              <a:rPr lang="en-US" altLang="zh-TW" sz="1000" b="1" dirty="0" err="1" smtClean="0">
                <a:solidFill>
                  <a:srgbClr val="FF0000"/>
                </a:solidFill>
                <a:latin typeface="+mj-lt"/>
              </a:rPr>
              <a:t>GetUPSReleaseAT</a:t>
            </a:r>
            <a:r>
              <a:rPr lang="en-US" altLang="zh-TW" sz="1000" b="1" dirty="0" smtClean="0">
                <a:solidFill>
                  <a:srgbClr val="FF0000"/>
                </a:solidFill>
                <a:latin typeface="+mj-lt"/>
              </a:rPr>
              <a:t> Web service</a:t>
            </a:r>
            <a:endParaRPr lang="zh-TW" altLang="en-US" sz="1000" b="1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206" name="矩形 205"/>
          <p:cNvSpPr/>
          <p:nvPr/>
        </p:nvSpPr>
        <p:spPr>
          <a:xfrm>
            <a:off x="6156176" y="5559043"/>
            <a:ext cx="720080" cy="332656"/>
          </a:xfrm>
          <a:prstGeom prst="rect">
            <a:avLst/>
          </a:prstGeom>
          <a:solidFill>
            <a:srgbClr val="689CD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TW" sz="1000" b="1" dirty="0" smtClean="0">
                <a:latin typeface="+mj-lt"/>
              </a:rPr>
              <a:t>IMES</a:t>
            </a:r>
            <a:endParaRPr lang="zh-TW" altLang="en-US" sz="1000" b="1" dirty="0">
              <a:latin typeface="+mj-lt"/>
            </a:endParaRPr>
          </a:p>
        </p:txBody>
      </p:sp>
      <p:cxnSp>
        <p:nvCxnSpPr>
          <p:cNvPr id="207" name="肘形接點 125"/>
          <p:cNvCxnSpPr>
            <a:stCxn id="143" idx="3"/>
            <a:endCxn id="206" idx="0"/>
          </p:cNvCxnSpPr>
          <p:nvPr/>
        </p:nvCxnSpPr>
        <p:spPr>
          <a:xfrm>
            <a:off x="5436096" y="5090991"/>
            <a:ext cx="1080120" cy="468052"/>
          </a:xfrm>
          <a:prstGeom prst="bentConnector2">
            <a:avLst/>
          </a:prstGeom>
          <a:ln w="190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文字方塊 63"/>
          <p:cNvSpPr txBox="1"/>
          <p:nvPr/>
        </p:nvSpPr>
        <p:spPr>
          <a:xfrm>
            <a:off x="2051720" y="2492896"/>
            <a:ext cx="64807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000" dirty="0" smtClean="0"/>
              <a:t>Shell PO</a:t>
            </a:r>
            <a:endParaRPr lang="zh-TW" altLang="en-US" sz="1000" dirty="0"/>
          </a:p>
        </p:txBody>
      </p:sp>
      <p:sp>
        <p:nvSpPr>
          <p:cNvPr id="67" name="文字方塊 66"/>
          <p:cNvSpPr txBox="1"/>
          <p:nvPr/>
        </p:nvSpPr>
        <p:spPr>
          <a:xfrm>
            <a:off x="1331640" y="4755341"/>
            <a:ext cx="115212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000" dirty="0" smtClean="0"/>
              <a:t>Release the data in ATM and re-assign Asset No. to same AV</a:t>
            </a:r>
            <a:endParaRPr lang="zh-TW" altLang="en-US" sz="1000" dirty="0"/>
          </a:p>
        </p:txBody>
      </p:sp>
      <p:sp>
        <p:nvSpPr>
          <p:cNvPr id="68" name="文字方塊 67"/>
          <p:cNvSpPr txBox="1"/>
          <p:nvPr/>
        </p:nvSpPr>
        <p:spPr>
          <a:xfrm>
            <a:off x="3635896" y="5323274"/>
            <a:ext cx="259228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000" dirty="0" smtClean="0"/>
              <a:t>Need to have the process for release the UUT and re-assign it to another same AV UUT for both Normal and Shell PO</a:t>
            </a:r>
            <a:endParaRPr lang="zh-TW" altLang="en-US" sz="1000" dirty="0"/>
          </a:p>
        </p:txBody>
      </p:sp>
      <p:sp>
        <p:nvSpPr>
          <p:cNvPr id="72" name="文字方塊 71"/>
          <p:cNvSpPr txBox="1"/>
          <p:nvPr/>
        </p:nvSpPr>
        <p:spPr>
          <a:xfrm>
            <a:off x="35496" y="44624"/>
            <a:ext cx="645696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 smtClean="0"/>
              <a:t>Flow for Release for Repair (Replacement)</a:t>
            </a:r>
            <a:endParaRPr lang="zh-TW" altLang="en-US" sz="2800" b="1" dirty="0"/>
          </a:p>
        </p:txBody>
      </p:sp>
      <p:sp>
        <p:nvSpPr>
          <p:cNvPr id="46" name="矩形 45"/>
          <p:cNvSpPr/>
          <p:nvPr/>
        </p:nvSpPr>
        <p:spPr>
          <a:xfrm>
            <a:off x="6156176" y="4838963"/>
            <a:ext cx="720080" cy="504056"/>
          </a:xfrm>
          <a:prstGeom prst="rect">
            <a:avLst/>
          </a:prstGeom>
          <a:solidFill>
            <a:srgbClr val="689CD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TW" sz="1000" b="1" dirty="0" smtClean="0">
                <a:latin typeface="+mj-lt"/>
              </a:rPr>
              <a:t>Dismantle unit</a:t>
            </a:r>
            <a:endParaRPr lang="zh-TW" altLang="en-US" sz="1000" b="1" dirty="0">
              <a:latin typeface="+mj-lt"/>
            </a:endParaRPr>
          </a:p>
        </p:txBody>
      </p:sp>
      <p:cxnSp>
        <p:nvCxnSpPr>
          <p:cNvPr id="48" name="直線單箭頭接點 47"/>
          <p:cNvCxnSpPr>
            <a:stCxn id="46" idx="1"/>
            <a:endCxn id="143" idx="3"/>
          </p:cNvCxnSpPr>
          <p:nvPr/>
        </p:nvCxnSpPr>
        <p:spPr>
          <a:xfrm flipH="1">
            <a:off x="5436096" y="5090991"/>
            <a:ext cx="720080" cy="0"/>
          </a:xfrm>
          <a:prstGeom prst="straightConnector1">
            <a:avLst/>
          </a:prstGeom>
          <a:ln w="190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矩形 51"/>
          <p:cNvSpPr/>
          <p:nvPr/>
        </p:nvSpPr>
        <p:spPr>
          <a:xfrm>
            <a:off x="7308304" y="4578315"/>
            <a:ext cx="720080" cy="332656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TW" sz="1000" b="1" dirty="0" smtClean="0"/>
              <a:t>Repair fail</a:t>
            </a:r>
            <a:endParaRPr lang="zh-TW" altLang="en-US" sz="1000" b="1" dirty="0" smtClean="0"/>
          </a:p>
        </p:txBody>
      </p:sp>
      <p:sp>
        <p:nvSpPr>
          <p:cNvPr id="58" name="矩形 57"/>
          <p:cNvSpPr/>
          <p:nvPr/>
        </p:nvSpPr>
        <p:spPr>
          <a:xfrm>
            <a:off x="7308304" y="4920496"/>
            <a:ext cx="720080" cy="332656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TW" sz="1000" b="1" dirty="0" smtClean="0">
                <a:latin typeface="+mj-lt"/>
              </a:rPr>
              <a:t>order cancel</a:t>
            </a:r>
            <a:endParaRPr lang="zh-TW" altLang="en-US" sz="1000" b="1" dirty="0">
              <a:latin typeface="+mj-lt"/>
            </a:endParaRPr>
          </a:p>
        </p:txBody>
      </p:sp>
      <p:sp>
        <p:nvSpPr>
          <p:cNvPr id="59" name="矩形 58"/>
          <p:cNvSpPr/>
          <p:nvPr/>
        </p:nvSpPr>
        <p:spPr>
          <a:xfrm>
            <a:off x="7308304" y="5271011"/>
            <a:ext cx="720080" cy="332656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TW" sz="1000" b="1" dirty="0" smtClean="0"/>
              <a:t>Surplus  unit</a:t>
            </a:r>
          </a:p>
        </p:txBody>
      </p:sp>
      <p:cxnSp>
        <p:nvCxnSpPr>
          <p:cNvPr id="62" name="肘形接點 61"/>
          <p:cNvCxnSpPr>
            <a:stCxn id="52" idx="1"/>
            <a:endCxn id="46" idx="3"/>
          </p:cNvCxnSpPr>
          <p:nvPr/>
        </p:nvCxnSpPr>
        <p:spPr>
          <a:xfrm rot="10800000" flipV="1">
            <a:off x="6876256" y="4744643"/>
            <a:ext cx="432048" cy="346348"/>
          </a:xfrm>
          <a:prstGeom prst="bentConnector3">
            <a:avLst>
              <a:gd name="adj1" fmla="val 50000"/>
            </a:avLst>
          </a:prstGeom>
          <a:ln w="190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線單箭頭接點 68"/>
          <p:cNvCxnSpPr>
            <a:stCxn id="58" idx="1"/>
            <a:endCxn id="46" idx="3"/>
          </p:cNvCxnSpPr>
          <p:nvPr/>
        </p:nvCxnSpPr>
        <p:spPr>
          <a:xfrm flipH="1">
            <a:off x="6876256" y="5086824"/>
            <a:ext cx="432048" cy="4167"/>
          </a:xfrm>
          <a:prstGeom prst="straightConnector1">
            <a:avLst/>
          </a:prstGeom>
          <a:ln w="190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肘形接點 70"/>
          <p:cNvCxnSpPr>
            <a:stCxn id="59" idx="1"/>
            <a:endCxn id="46" idx="3"/>
          </p:cNvCxnSpPr>
          <p:nvPr/>
        </p:nvCxnSpPr>
        <p:spPr>
          <a:xfrm rot="10800000">
            <a:off x="6876256" y="5090991"/>
            <a:ext cx="432048" cy="346348"/>
          </a:xfrm>
          <a:prstGeom prst="bentConnector3">
            <a:avLst>
              <a:gd name="adj1" fmla="val 50000"/>
            </a:avLst>
          </a:prstGeom>
          <a:ln w="190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流程圖: 決策 75"/>
          <p:cNvSpPr/>
          <p:nvPr/>
        </p:nvSpPr>
        <p:spPr>
          <a:xfrm>
            <a:off x="3491880" y="4077072"/>
            <a:ext cx="1368152" cy="432048"/>
          </a:xfrm>
          <a:prstGeom prst="flowChartDecis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 smtClean="0"/>
              <a:t>Repair</a:t>
            </a:r>
            <a:endParaRPr lang="zh-TW" altLang="en-US" sz="1200" dirty="0"/>
          </a:p>
        </p:txBody>
      </p:sp>
      <p:cxnSp>
        <p:nvCxnSpPr>
          <p:cNvPr id="78" name="圖案 77"/>
          <p:cNvCxnSpPr>
            <a:stCxn id="76" idx="1"/>
            <a:endCxn id="31" idx="2"/>
          </p:cNvCxnSpPr>
          <p:nvPr/>
        </p:nvCxnSpPr>
        <p:spPr>
          <a:xfrm rot="10800000">
            <a:off x="1043608" y="3645024"/>
            <a:ext cx="2448272" cy="648072"/>
          </a:xfrm>
          <a:prstGeom prst="bentConnector2">
            <a:avLst/>
          </a:prstGeom>
          <a:ln w="19050">
            <a:solidFill>
              <a:srgbClr val="92D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肘形接點 79"/>
          <p:cNvCxnSpPr>
            <a:stCxn id="76" idx="3"/>
            <a:endCxn id="52" idx="3"/>
          </p:cNvCxnSpPr>
          <p:nvPr/>
        </p:nvCxnSpPr>
        <p:spPr>
          <a:xfrm>
            <a:off x="4860032" y="4293096"/>
            <a:ext cx="3168352" cy="451547"/>
          </a:xfrm>
          <a:prstGeom prst="bentConnector3">
            <a:avLst>
              <a:gd name="adj1" fmla="val 107215"/>
            </a:avLst>
          </a:prstGeom>
          <a:ln w="190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文字方塊 80"/>
          <p:cNvSpPr txBox="1"/>
          <p:nvPr/>
        </p:nvSpPr>
        <p:spPr>
          <a:xfrm>
            <a:off x="5004048" y="4077072"/>
            <a:ext cx="8640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000" dirty="0" smtClean="0">
                <a:solidFill>
                  <a:srgbClr val="FF0000"/>
                </a:solidFill>
              </a:rPr>
              <a:t>Repair NG</a:t>
            </a:r>
            <a:endParaRPr lang="zh-TW" altLang="en-US" sz="1000" dirty="0">
              <a:solidFill>
                <a:srgbClr val="FF0000"/>
              </a:solidFill>
            </a:endParaRPr>
          </a:p>
        </p:txBody>
      </p:sp>
      <p:sp>
        <p:nvSpPr>
          <p:cNvPr id="87" name="文字方塊 86"/>
          <p:cNvSpPr txBox="1"/>
          <p:nvPr/>
        </p:nvSpPr>
        <p:spPr>
          <a:xfrm>
            <a:off x="2339752" y="4005064"/>
            <a:ext cx="8640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000" dirty="0" smtClean="0"/>
              <a:t>Repair OK</a:t>
            </a:r>
            <a:endParaRPr lang="zh-TW" altLang="en-US" sz="1000" dirty="0"/>
          </a:p>
        </p:txBody>
      </p:sp>
      <p:grpSp>
        <p:nvGrpSpPr>
          <p:cNvPr id="115" name="群組 114"/>
          <p:cNvGrpSpPr/>
          <p:nvPr/>
        </p:nvGrpSpPr>
        <p:grpSpPr>
          <a:xfrm>
            <a:off x="1403648" y="3573016"/>
            <a:ext cx="2772308" cy="504056"/>
            <a:chOff x="1403648" y="3573016"/>
            <a:chExt cx="2772308" cy="504056"/>
          </a:xfrm>
        </p:grpSpPr>
        <p:cxnSp>
          <p:nvCxnSpPr>
            <p:cNvPr id="110" name="肘形接點 109"/>
            <p:cNvCxnSpPr/>
            <p:nvPr/>
          </p:nvCxnSpPr>
          <p:spPr>
            <a:xfrm>
              <a:off x="1403648" y="3573016"/>
              <a:ext cx="1800200" cy="288032"/>
            </a:xfrm>
            <a:prstGeom prst="bentConnector3">
              <a:avLst>
                <a:gd name="adj1" fmla="val 99207"/>
              </a:avLst>
            </a:prstGeom>
            <a:ln w="95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圖案 111"/>
            <p:cNvCxnSpPr>
              <a:endCxn id="76" idx="0"/>
            </p:cNvCxnSpPr>
            <p:nvPr/>
          </p:nvCxnSpPr>
          <p:spPr>
            <a:xfrm>
              <a:off x="3203848" y="3861048"/>
              <a:ext cx="972108" cy="216024"/>
            </a:xfrm>
            <a:prstGeom prst="bentConnector2">
              <a:avLst/>
            </a:prstGeom>
            <a:ln w="9525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6" name="文字方塊 115"/>
          <p:cNvSpPr txBox="1"/>
          <p:nvPr/>
        </p:nvSpPr>
        <p:spPr>
          <a:xfrm>
            <a:off x="1547664" y="3140968"/>
            <a:ext cx="43204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000" dirty="0" smtClean="0"/>
              <a:t>OK</a:t>
            </a:r>
            <a:endParaRPr lang="zh-TW" altLang="en-US" sz="1000" dirty="0"/>
          </a:p>
        </p:txBody>
      </p:sp>
      <p:sp>
        <p:nvSpPr>
          <p:cNvPr id="117" name="文字方塊 116"/>
          <p:cNvSpPr txBox="1"/>
          <p:nvPr/>
        </p:nvSpPr>
        <p:spPr>
          <a:xfrm>
            <a:off x="1547664" y="3398803"/>
            <a:ext cx="3600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000" dirty="0" smtClean="0">
                <a:solidFill>
                  <a:srgbClr val="FF0000"/>
                </a:solidFill>
              </a:rPr>
              <a:t>NG</a:t>
            </a:r>
            <a:endParaRPr lang="zh-TW" altLang="en-US" sz="1000" dirty="0">
              <a:solidFill>
                <a:srgbClr val="FF0000"/>
              </a:solidFill>
            </a:endParaRPr>
          </a:p>
        </p:txBody>
      </p:sp>
      <p:cxnSp>
        <p:nvCxnSpPr>
          <p:cNvPr id="119" name="肘形接點 118"/>
          <p:cNvCxnSpPr>
            <a:stCxn id="121" idx="2"/>
            <a:endCxn id="76" idx="0"/>
          </p:cNvCxnSpPr>
          <p:nvPr/>
        </p:nvCxnSpPr>
        <p:spPr>
          <a:xfrm rot="16200000" flipH="1">
            <a:off x="3761910" y="3663026"/>
            <a:ext cx="432048" cy="396044"/>
          </a:xfrm>
          <a:prstGeom prst="bentConnector3">
            <a:avLst>
              <a:gd name="adj1" fmla="val 50000"/>
            </a:avLst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肘形接點 121"/>
          <p:cNvCxnSpPr>
            <a:stCxn id="149" idx="2"/>
            <a:endCxn id="76" idx="0"/>
          </p:cNvCxnSpPr>
          <p:nvPr/>
        </p:nvCxnSpPr>
        <p:spPr>
          <a:xfrm rot="5400000">
            <a:off x="4409982" y="3410998"/>
            <a:ext cx="432048" cy="900100"/>
          </a:xfrm>
          <a:prstGeom prst="bentConnector3">
            <a:avLst>
              <a:gd name="adj1" fmla="val 50000"/>
            </a:avLst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" name="矩形 126"/>
          <p:cNvSpPr/>
          <p:nvPr/>
        </p:nvSpPr>
        <p:spPr>
          <a:xfrm>
            <a:off x="2843808" y="4437112"/>
            <a:ext cx="720080" cy="504056"/>
          </a:xfrm>
          <a:prstGeom prst="rect">
            <a:avLst/>
          </a:prstGeom>
          <a:solidFill>
            <a:srgbClr val="689CD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TW" sz="1000" b="1" dirty="0" smtClean="0">
                <a:latin typeface="+mj-lt"/>
              </a:rPr>
              <a:t>QC</a:t>
            </a:r>
          </a:p>
          <a:p>
            <a:pPr algn="ctr"/>
            <a:r>
              <a:rPr lang="en-US" altLang="zh-TW" sz="1000" b="1" dirty="0" smtClean="0"/>
              <a:t>Inspection</a:t>
            </a:r>
            <a:endParaRPr lang="zh-TW" altLang="en-US" sz="1000" b="1" dirty="0">
              <a:latin typeface="+mj-lt"/>
            </a:endParaRPr>
          </a:p>
        </p:txBody>
      </p:sp>
      <p:cxnSp>
        <p:nvCxnSpPr>
          <p:cNvPr id="130" name="圖案 129"/>
          <p:cNvCxnSpPr>
            <a:stCxn id="127" idx="3"/>
            <a:endCxn id="76" idx="2"/>
          </p:cNvCxnSpPr>
          <p:nvPr/>
        </p:nvCxnSpPr>
        <p:spPr>
          <a:xfrm flipV="1">
            <a:off x="3563888" y="4509120"/>
            <a:ext cx="612068" cy="180020"/>
          </a:xfrm>
          <a:prstGeom prst="bentConnector2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4" name="文字方塊 133"/>
          <p:cNvSpPr txBox="1"/>
          <p:nvPr/>
        </p:nvSpPr>
        <p:spPr>
          <a:xfrm>
            <a:off x="4788024" y="3686835"/>
            <a:ext cx="3600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000" dirty="0" smtClean="0">
                <a:solidFill>
                  <a:srgbClr val="FF0000"/>
                </a:solidFill>
              </a:rPr>
              <a:t>NG</a:t>
            </a:r>
            <a:endParaRPr lang="zh-TW" altLang="en-US" sz="1000" dirty="0">
              <a:solidFill>
                <a:srgbClr val="FF0000"/>
              </a:solidFill>
            </a:endParaRPr>
          </a:p>
        </p:txBody>
      </p:sp>
      <p:sp>
        <p:nvSpPr>
          <p:cNvPr id="135" name="文字方塊 134"/>
          <p:cNvSpPr txBox="1"/>
          <p:nvPr/>
        </p:nvSpPr>
        <p:spPr>
          <a:xfrm>
            <a:off x="3707904" y="3686835"/>
            <a:ext cx="3600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000" dirty="0" smtClean="0">
                <a:solidFill>
                  <a:srgbClr val="FF0000"/>
                </a:solidFill>
              </a:rPr>
              <a:t>NG</a:t>
            </a:r>
            <a:endParaRPr lang="zh-TW" altLang="en-US" sz="1000" dirty="0">
              <a:solidFill>
                <a:srgbClr val="FF0000"/>
              </a:solidFill>
            </a:endParaRPr>
          </a:p>
        </p:txBody>
      </p:sp>
      <p:sp>
        <p:nvSpPr>
          <p:cNvPr id="136" name="文字方塊 135"/>
          <p:cNvSpPr txBox="1"/>
          <p:nvPr/>
        </p:nvSpPr>
        <p:spPr>
          <a:xfrm>
            <a:off x="3563888" y="4509120"/>
            <a:ext cx="3600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000" dirty="0" smtClean="0">
                <a:solidFill>
                  <a:srgbClr val="FF0000"/>
                </a:solidFill>
              </a:rPr>
              <a:t>NG</a:t>
            </a:r>
            <a:endParaRPr lang="zh-TW" altLang="en-US" sz="1000" dirty="0">
              <a:solidFill>
                <a:srgbClr val="FF0000"/>
              </a:solidFill>
            </a:endParaRPr>
          </a:p>
        </p:txBody>
      </p:sp>
      <p:cxnSp>
        <p:nvCxnSpPr>
          <p:cNvPr id="4" name="肘形接點 3"/>
          <p:cNvCxnSpPr>
            <a:endCxn id="32" idx="0"/>
          </p:cNvCxnSpPr>
          <p:nvPr/>
        </p:nvCxnSpPr>
        <p:spPr>
          <a:xfrm rot="5400000">
            <a:off x="5760132" y="2384883"/>
            <a:ext cx="1224137" cy="288032"/>
          </a:xfrm>
          <a:prstGeom prst="bentConnector3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肘形接點 6"/>
          <p:cNvCxnSpPr>
            <a:endCxn id="33" idx="0"/>
          </p:cNvCxnSpPr>
          <p:nvPr/>
        </p:nvCxnSpPr>
        <p:spPr>
          <a:xfrm rot="16200000" flipH="1">
            <a:off x="6873123" y="2345747"/>
            <a:ext cx="1226554" cy="363888"/>
          </a:xfrm>
          <a:prstGeom prst="bentConnector3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線單箭頭接點 56"/>
          <p:cNvCxnSpPr>
            <a:stCxn id="27" idx="2"/>
          </p:cNvCxnSpPr>
          <p:nvPr/>
        </p:nvCxnSpPr>
        <p:spPr>
          <a:xfrm>
            <a:off x="5580112" y="1916832"/>
            <a:ext cx="0" cy="1440160"/>
          </a:xfrm>
          <a:prstGeom prst="straightConnector1">
            <a:avLst/>
          </a:prstGeom>
          <a:ln w="19050">
            <a:solidFill>
              <a:srgbClr val="88A9D2"/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線單箭頭接點 64"/>
          <p:cNvCxnSpPr>
            <a:stCxn id="27" idx="3"/>
            <a:endCxn id="128" idx="1"/>
          </p:cNvCxnSpPr>
          <p:nvPr/>
        </p:nvCxnSpPr>
        <p:spPr>
          <a:xfrm>
            <a:off x="6012160" y="1700808"/>
            <a:ext cx="432048" cy="0"/>
          </a:xfrm>
          <a:prstGeom prst="straightConnector1">
            <a:avLst/>
          </a:prstGeom>
          <a:ln w="19050">
            <a:solidFill>
              <a:srgbClr val="88A9D2"/>
            </a:solidFill>
            <a:headEnd type="non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線單箭頭接點 76"/>
          <p:cNvCxnSpPr>
            <a:stCxn id="114" idx="3"/>
            <a:endCxn id="27" idx="1"/>
          </p:cNvCxnSpPr>
          <p:nvPr/>
        </p:nvCxnSpPr>
        <p:spPr>
          <a:xfrm>
            <a:off x="3203848" y="1700808"/>
            <a:ext cx="1944216" cy="0"/>
          </a:xfrm>
          <a:prstGeom prst="straightConnector1">
            <a:avLst/>
          </a:prstGeom>
          <a:ln w="19050">
            <a:solidFill>
              <a:srgbClr val="88A9D2"/>
            </a:solidFill>
            <a:headEnd type="non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文字方塊 83"/>
          <p:cNvSpPr txBox="1"/>
          <p:nvPr/>
        </p:nvSpPr>
        <p:spPr>
          <a:xfrm>
            <a:off x="5076056" y="2492896"/>
            <a:ext cx="5760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000" dirty="0" smtClean="0"/>
              <a:t>All HP</a:t>
            </a:r>
            <a:r>
              <a:rPr lang="en-US" altLang="zh-TW" sz="1000" dirty="0" smtClean="0"/>
              <a:t>PO</a:t>
            </a:r>
            <a:endParaRPr lang="zh-TW" alt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/>
          <p:cNvSpPr txBox="1"/>
          <p:nvPr/>
        </p:nvSpPr>
        <p:spPr>
          <a:xfrm>
            <a:off x="449468" y="815801"/>
            <a:ext cx="6845913" cy="59093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en-US" altLang="zh-TW" dirty="0" smtClean="0"/>
              <a:t>Final Assembly start – Material Kitting</a:t>
            </a:r>
          </a:p>
          <a:p>
            <a:pPr marL="342900" indent="-342900">
              <a:buFontTx/>
              <a:buAutoNum type="arabicPeriod"/>
            </a:pPr>
            <a:r>
              <a:rPr lang="en-US" altLang="zh-TW" dirty="0" smtClean="0"/>
              <a:t>UUT assembly</a:t>
            </a:r>
          </a:p>
          <a:p>
            <a:pPr marL="342900" indent="-342900">
              <a:buFontTx/>
              <a:buAutoNum type="arabicPeriod"/>
            </a:pPr>
            <a:r>
              <a:rPr lang="en-US" altLang="zh-TW" dirty="0" smtClean="0"/>
              <a:t>Tight S/N to MB S/N, Mac, AV etc.</a:t>
            </a:r>
          </a:p>
          <a:p>
            <a:pPr marL="342900" indent="-342900">
              <a:buAutoNum type="arabicPeriod"/>
            </a:pPr>
            <a:r>
              <a:rPr lang="en-US" altLang="zh-TW" dirty="0" smtClean="0"/>
              <a:t>Function Test</a:t>
            </a:r>
          </a:p>
          <a:p>
            <a:pPr marL="342900" indent="-342900">
              <a:buAutoNum type="arabicPeriod"/>
            </a:pPr>
            <a:r>
              <a:rPr lang="en-US" altLang="zh-TW" dirty="0" err="1" smtClean="0"/>
              <a:t>UPSGetUSI</a:t>
            </a:r>
            <a:endParaRPr lang="en-US" altLang="zh-TW" dirty="0" smtClean="0"/>
          </a:p>
          <a:p>
            <a:pPr marL="800100" lvl="1" indent="-342900">
              <a:buFont typeface="Symbol"/>
              <a:buChar char="Þ"/>
            </a:pPr>
            <a:r>
              <a:rPr lang="en-US" altLang="zh-TW" dirty="0" smtClean="0"/>
              <a:t>Send Shell PO</a:t>
            </a:r>
          </a:p>
          <a:p>
            <a:pPr marL="800100" lvl="1" indent="-342900">
              <a:buFont typeface="Symbol"/>
              <a:buChar char="Þ"/>
            </a:pPr>
            <a:r>
              <a:rPr lang="en-US" altLang="zh-TW" dirty="0" smtClean="0"/>
              <a:t>Return Shell PO, S/N, Password (Asset Number) – keep in IMES</a:t>
            </a:r>
          </a:p>
          <a:p>
            <a:pPr marL="342900" indent="-342900">
              <a:buAutoNum type="arabicPeriod"/>
            </a:pPr>
            <a:r>
              <a:rPr lang="en-US" altLang="zh-TW" dirty="0" smtClean="0"/>
              <a:t>Run-in  ( 4 hours )</a:t>
            </a:r>
          </a:p>
          <a:p>
            <a:pPr marL="342900" indent="-342900">
              <a:buAutoNum type="arabicPeriod"/>
            </a:pPr>
            <a:r>
              <a:rPr lang="en-US" altLang="zh-TW" dirty="0" smtClean="0"/>
              <a:t>Image Download (Write info into BIOS</a:t>
            </a:r>
            <a:r>
              <a:rPr lang="en-US" altLang="zh-TW" dirty="0" smtClean="0"/>
              <a:t>)</a:t>
            </a:r>
          </a:p>
          <a:p>
            <a:pPr marL="342900" indent="-342900">
              <a:buAutoNum type="arabicPeriod"/>
            </a:pPr>
            <a:r>
              <a:rPr lang="en-US" altLang="zh-TW" dirty="0" smtClean="0"/>
              <a:t>After test</a:t>
            </a:r>
            <a:endParaRPr lang="en-US" altLang="zh-TW" dirty="0" smtClean="0"/>
          </a:p>
          <a:p>
            <a:pPr marL="342900" indent="-342900">
              <a:buAutoNum type="arabicPeriod"/>
            </a:pPr>
            <a:r>
              <a:rPr lang="en-US" altLang="zh-TW" dirty="0" smtClean="0"/>
              <a:t>Cosmetic </a:t>
            </a:r>
            <a:r>
              <a:rPr lang="en-US" altLang="zh-TW" dirty="0" smtClean="0"/>
              <a:t>Inspection</a:t>
            </a:r>
          </a:p>
          <a:p>
            <a:pPr marL="342900" indent="-342900">
              <a:buAutoNum type="arabicPeriod"/>
            </a:pPr>
            <a:r>
              <a:rPr lang="en-US" altLang="zh-TW" dirty="0" err="1" smtClean="0"/>
              <a:t>UPSGetATM</a:t>
            </a:r>
            <a:r>
              <a:rPr lang="en-US" altLang="zh-TW" dirty="0" smtClean="0"/>
              <a:t> (Assign Asset Number to S/N) </a:t>
            </a:r>
          </a:p>
          <a:p>
            <a:pPr marL="800100" lvl="1" indent="-342900">
              <a:buFont typeface="Symbol"/>
              <a:buChar char="Þ"/>
            </a:pPr>
            <a:r>
              <a:rPr lang="en-US" altLang="zh-TW" dirty="0" smtClean="0"/>
              <a:t>Send HPPO, S/N, AV, Mac 1, Mac 2, etc. </a:t>
            </a:r>
          </a:p>
          <a:p>
            <a:pPr marL="800100" lvl="1" indent="-342900">
              <a:buFont typeface="Symbol"/>
              <a:buChar char="Þ"/>
            </a:pPr>
            <a:r>
              <a:rPr lang="en-US" altLang="zh-TW" dirty="0" smtClean="0"/>
              <a:t>Return S/N, Asset Number  - keep in </a:t>
            </a:r>
            <a:r>
              <a:rPr lang="en-US" altLang="zh-TW" dirty="0" smtClean="0"/>
              <a:t>IMES</a:t>
            </a:r>
            <a:endParaRPr lang="en-US" altLang="zh-TW" dirty="0" smtClean="0"/>
          </a:p>
          <a:p>
            <a:pPr marL="342900" indent="-342900">
              <a:buAutoNum type="arabicPeriod"/>
            </a:pPr>
            <a:r>
              <a:rPr lang="en-US" altLang="zh-TW" dirty="0" err="1" smtClean="0"/>
              <a:t>UPSGetATRP</a:t>
            </a:r>
            <a:r>
              <a:rPr lang="en-US" altLang="zh-TW" dirty="0" smtClean="0"/>
              <a:t>  =&gt;  Return btw file and </a:t>
            </a:r>
            <a:r>
              <a:rPr lang="en-US" altLang="zh-TW" dirty="0" err="1" smtClean="0"/>
              <a:t>eSOP</a:t>
            </a:r>
            <a:r>
              <a:rPr lang="en-US" altLang="zh-TW" dirty="0" smtClean="0"/>
              <a:t> </a:t>
            </a:r>
          </a:p>
          <a:p>
            <a:pPr marL="342900" indent="-342900">
              <a:buAutoNum type="arabicPeriod"/>
            </a:pPr>
            <a:r>
              <a:rPr lang="en-US" altLang="zh-TW" dirty="0" smtClean="0"/>
              <a:t>Print and paste Asset Tag on UUT</a:t>
            </a:r>
          </a:p>
          <a:p>
            <a:pPr marL="342900" indent="-342900">
              <a:buAutoNum type="arabicPeriod"/>
            </a:pPr>
            <a:r>
              <a:rPr lang="en-US" altLang="zh-TW" dirty="0" smtClean="0"/>
              <a:t>Packing</a:t>
            </a:r>
          </a:p>
          <a:p>
            <a:pPr marL="342900" indent="-342900">
              <a:buAutoNum type="arabicPeriod"/>
            </a:pPr>
            <a:r>
              <a:rPr lang="en-US" altLang="zh-TW" dirty="0" err="1" smtClean="0"/>
              <a:t>UPSGetATRP</a:t>
            </a:r>
            <a:r>
              <a:rPr lang="en-US" altLang="zh-TW" dirty="0" smtClean="0"/>
              <a:t> =&gt; Return btw file and </a:t>
            </a:r>
            <a:r>
              <a:rPr lang="en-US" altLang="zh-TW" dirty="0" err="1" smtClean="0"/>
              <a:t>eSOP</a:t>
            </a:r>
            <a:r>
              <a:rPr lang="en-US" altLang="zh-TW" dirty="0" smtClean="0"/>
              <a:t> </a:t>
            </a:r>
          </a:p>
          <a:p>
            <a:pPr marL="342900" indent="-342900">
              <a:buAutoNum type="arabicPeriod"/>
            </a:pPr>
            <a:r>
              <a:rPr lang="en-US" altLang="zh-TW" dirty="0" smtClean="0"/>
              <a:t>Print and paste Asset Tag on carton </a:t>
            </a:r>
          </a:p>
          <a:p>
            <a:pPr marL="342900" indent="-342900">
              <a:buAutoNum type="arabicPeriod"/>
            </a:pPr>
            <a:r>
              <a:rPr lang="en-US" altLang="zh-TW" dirty="0" smtClean="0"/>
              <a:t>Palletize and ship out.</a:t>
            </a:r>
          </a:p>
          <a:p>
            <a:pPr marL="342900" indent="-342900">
              <a:buAutoNum type="arabicPeriod"/>
            </a:pPr>
            <a:r>
              <a:rPr lang="en-US" altLang="zh-TW" dirty="0" smtClean="0"/>
              <a:t>Send WPTR.</a:t>
            </a:r>
          </a:p>
        </p:txBody>
      </p:sp>
      <p:sp>
        <p:nvSpPr>
          <p:cNvPr id="7" name="文字方塊 6"/>
          <p:cNvSpPr txBox="1"/>
          <p:nvPr/>
        </p:nvSpPr>
        <p:spPr>
          <a:xfrm>
            <a:off x="467544" y="476672"/>
            <a:ext cx="241284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/>
              <a:t>During production  …</a:t>
            </a:r>
            <a:endParaRPr lang="zh-TW" altLang="en-US" sz="2000" b="1" i="1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矩形 31"/>
          <p:cNvSpPr/>
          <p:nvPr/>
        </p:nvSpPr>
        <p:spPr>
          <a:xfrm>
            <a:off x="2123728" y="2276872"/>
            <a:ext cx="720080" cy="504056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TW" sz="1000" b="1" dirty="0" smtClean="0">
                <a:latin typeface="+mj-lt"/>
              </a:rPr>
              <a:t>Chassis </a:t>
            </a:r>
          </a:p>
          <a:p>
            <a:pPr algn="ctr"/>
            <a:r>
              <a:rPr lang="en-US" altLang="zh-TW" sz="1000" b="1" dirty="0" smtClean="0">
                <a:latin typeface="+mj-lt"/>
              </a:rPr>
              <a:t>Print Station</a:t>
            </a:r>
            <a:endParaRPr lang="zh-TW" altLang="en-US" sz="1000" b="1" dirty="0">
              <a:latin typeface="+mj-lt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4759466" y="2553725"/>
            <a:ext cx="1224136" cy="504056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ts val="1000"/>
              </a:lnSpc>
            </a:pPr>
            <a:r>
              <a:rPr lang="en-US" altLang="zh-TW" sz="1000" b="1" dirty="0" smtClean="0">
                <a:solidFill>
                  <a:schemeClr val="tx1"/>
                </a:solidFill>
                <a:latin typeface="+mj-lt"/>
              </a:rPr>
              <a:t>Packing Normal UUT follow AV</a:t>
            </a:r>
          </a:p>
        </p:txBody>
      </p:sp>
      <p:cxnSp>
        <p:nvCxnSpPr>
          <p:cNvPr id="56" name="直線單箭頭接點 55"/>
          <p:cNvCxnSpPr>
            <a:endCxn id="79" idx="1"/>
          </p:cNvCxnSpPr>
          <p:nvPr/>
        </p:nvCxnSpPr>
        <p:spPr>
          <a:xfrm>
            <a:off x="5983602" y="2436886"/>
            <a:ext cx="964662" cy="8827"/>
          </a:xfrm>
          <a:prstGeom prst="straightConnector1">
            <a:avLst/>
          </a:prstGeom>
          <a:ln w="19050">
            <a:solidFill>
              <a:srgbClr val="88A9D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9" name="矩形 148"/>
          <p:cNvSpPr/>
          <p:nvPr/>
        </p:nvSpPr>
        <p:spPr>
          <a:xfrm>
            <a:off x="467544" y="2276872"/>
            <a:ext cx="720080" cy="504056"/>
          </a:xfrm>
          <a:prstGeom prst="rect">
            <a:avLst/>
          </a:prstGeom>
          <a:solidFill>
            <a:srgbClr val="689CD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TW" sz="1000" b="1" dirty="0" smtClean="0">
                <a:latin typeface="+mj-lt"/>
              </a:rPr>
              <a:t>Cosmetic Inspection</a:t>
            </a:r>
            <a:endParaRPr lang="zh-TW" altLang="en-US" sz="1000" b="1" dirty="0">
              <a:latin typeface="+mj-lt"/>
            </a:endParaRPr>
          </a:p>
        </p:txBody>
      </p:sp>
      <p:cxnSp>
        <p:nvCxnSpPr>
          <p:cNvPr id="152" name="直線單箭頭接點 151"/>
          <p:cNvCxnSpPr>
            <a:stCxn id="149" idx="3"/>
            <a:endCxn id="32" idx="1"/>
          </p:cNvCxnSpPr>
          <p:nvPr/>
        </p:nvCxnSpPr>
        <p:spPr>
          <a:xfrm>
            <a:off x="1187624" y="2528900"/>
            <a:ext cx="936104" cy="0"/>
          </a:xfrm>
          <a:prstGeom prst="straightConnector1">
            <a:avLst/>
          </a:prstGeom>
          <a:ln w="19050">
            <a:solidFill>
              <a:srgbClr val="88A9D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肘形接點 76"/>
          <p:cNvCxnSpPr>
            <a:stCxn id="32" idx="3"/>
            <a:endCxn id="80" idx="1"/>
          </p:cNvCxnSpPr>
          <p:nvPr/>
        </p:nvCxnSpPr>
        <p:spPr>
          <a:xfrm flipV="1">
            <a:off x="2843808" y="2301697"/>
            <a:ext cx="1915658" cy="227203"/>
          </a:xfrm>
          <a:prstGeom prst="bentConnector3">
            <a:avLst>
              <a:gd name="adj1" fmla="val 50000"/>
            </a:avLst>
          </a:prstGeom>
          <a:ln w="19050">
            <a:solidFill>
              <a:schemeClr val="accent1">
                <a:lumMod val="60000"/>
                <a:lumOff val="4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矩形 78"/>
          <p:cNvSpPr/>
          <p:nvPr/>
        </p:nvSpPr>
        <p:spPr>
          <a:xfrm>
            <a:off x="6948264" y="2193685"/>
            <a:ext cx="720080" cy="504056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TW" sz="1000" b="1" dirty="0" smtClean="0">
                <a:latin typeface="+mj-lt"/>
              </a:rPr>
              <a:t>Shipping Print Station</a:t>
            </a:r>
            <a:endParaRPr lang="zh-TW" altLang="en-US" sz="1000" b="1" dirty="0">
              <a:latin typeface="+mj-lt"/>
            </a:endParaRPr>
          </a:p>
        </p:txBody>
      </p:sp>
      <p:sp>
        <p:nvSpPr>
          <p:cNvPr id="80" name="矩形 79"/>
          <p:cNvSpPr/>
          <p:nvPr/>
        </p:nvSpPr>
        <p:spPr>
          <a:xfrm>
            <a:off x="4759466" y="2049669"/>
            <a:ext cx="1224136" cy="504056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ts val="1000"/>
              </a:lnSpc>
            </a:pPr>
            <a:r>
              <a:rPr lang="en-US" altLang="zh-TW" sz="1000" b="1" dirty="0" smtClean="0">
                <a:solidFill>
                  <a:schemeClr val="tx1"/>
                </a:solidFill>
                <a:latin typeface="+mj-lt"/>
              </a:rPr>
              <a:t>Packing Shell UUT </a:t>
            </a:r>
            <a:r>
              <a:rPr lang="zh-TW" altLang="en-US" sz="1000" b="1" dirty="0" smtClean="0">
                <a:solidFill>
                  <a:schemeClr val="tx1"/>
                </a:solidFill>
                <a:latin typeface="+mj-lt"/>
              </a:rPr>
              <a:t> </a:t>
            </a:r>
            <a:r>
              <a:rPr lang="en-US" altLang="zh-TW" sz="1000" b="1" dirty="0" smtClean="0">
                <a:solidFill>
                  <a:schemeClr val="tx1"/>
                </a:solidFill>
                <a:latin typeface="+mj-lt"/>
              </a:rPr>
              <a:t>follow assigned Shell PO</a:t>
            </a:r>
          </a:p>
        </p:txBody>
      </p:sp>
      <p:cxnSp>
        <p:nvCxnSpPr>
          <p:cNvPr id="85" name="肘形接點 84"/>
          <p:cNvCxnSpPr>
            <a:stCxn id="32" idx="3"/>
            <a:endCxn id="33" idx="1"/>
          </p:cNvCxnSpPr>
          <p:nvPr/>
        </p:nvCxnSpPr>
        <p:spPr>
          <a:xfrm>
            <a:off x="2843808" y="2528900"/>
            <a:ext cx="1915658" cy="276853"/>
          </a:xfrm>
          <a:prstGeom prst="bentConnector3">
            <a:avLst>
              <a:gd name="adj1" fmla="val 50000"/>
            </a:avLst>
          </a:prstGeom>
          <a:ln w="19050">
            <a:solidFill>
              <a:schemeClr val="accent1">
                <a:lumMod val="60000"/>
                <a:lumOff val="4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文字方塊 87"/>
          <p:cNvSpPr txBox="1"/>
          <p:nvPr/>
        </p:nvSpPr>
        <p:spPr>
          <a:xfrm>
            <a:off x="3829205" y="2039888"/>
            <a:ext cx="79220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200" dirty="0" smtClean="0"/>
              <a:t>Shell UUT</a:t>
            </a:r>
            <a:endParaRPr lang="zh-TW" altLang="en-US" sz="1200" dirty="0"/>
          </a:p>
        </p:txBody>
      </p:sp>
      <p:sp>
        <p:nvSpPr>
          <p:cNvPr id="89" name="文字方塊 88"/>
          <p:cNvSpPr txBox="1"/>
          <p:nvPr/>
        </p:nvSpPr>
        <p:spPr>
          <a:xfrm>
            <a:off x="3745047" y="2762779"/>
            <a:ext cx="9605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200" dirty="0" smtClean="0"/>
              <a:t>Normal UUT</a:t>
            </a:r>
            <a:endParaRPr lang="zh-TW" altLang="en-US" sz="1200" dirty="0"/>
          </a:p>
        </p:txBody>
      </p:sp>
      <p:sp>
        <p:nvSpPr>
          <p:cNvPr id="90" name="文字方塊 89"/>
          <p:cNvSpPr txBox="1"/>
          <p:nvPr/>
        </p:nvSpPr>
        <p:spPr>
          <a:xfrm>
            <a:off x="4533080" y="3248834"/>
            <a:ext cx="205514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400" dirty="0" smtClean="0"/>
              <a:t>Normal UUT will re-assign with PO number according to AV , will be done by IMES.</a:t>
            </a:r>
          </a:p>
          <a:p>
            <a:r>
              <a:rPr lang="en-US" altLang="zh-TW" sz="1400" dirty="0" smtClean="0">
                <a:solidFill>
                  <a:srgbClr val="FF0000"/>
                </a:solidFill>
              </a:rPr>
              <a:t>Final combination will upload via WPTR.</a:t>
            </a:r>
            <a:endParaRPr lang="zh-TW" altLang="en-US" sz="1400" dirty="0">
              <a:solidFill>
                <a:srgbClr val="FF0000"/>
              </a:solidFill>
            </a:endParaRPr>
          </a:p>
        </p:txBody>
      </p:sp>
      <p:sp>
        <p:nvSpPr>
          <p:cNvPr id="92" name="文字方塊 91"/>
          <p:cNvSpPr txBox="1"/>
          <p:nvPr/>
        </p:nvSpPr>
        <p:spPr>
          <a:xfrm>
            <a:off x="1484025" y="97468"/>
            <a:ext cx="626569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 smtClean="0"/>
              <a:t>Packaging UUT for Normal PO &amp; Shell PO</a:t>
            </a:r>
            <a:endParaRPr lang="zh-TW" altLang="en-US" sz="2800" b="1" dirty="0"/>
          </a:p>
        </p:txBody>
      </p:sp>
      <p:sp>
        <p:nvSpPr>
          <p:cNvPr id="27" name="文字方塊 26"/>
          <p:cNvSpPr txBox="1"/>
          <p:nvPr/>
        </p:nvSpPr>
        <p:spPr>
          <a:xfrm>
            <a:off x="4630381" y="1746364"/>
            <a:ext cx="184691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200" dirty="0" smtClean="0">
                <a:solidFill>
                  <a:srgbClr val="FF0000"/>
                </a:solidFill>
              </a:rPr>
              <a:t>Assign Shipping PO Station</a:t>
            </a:r>
            <a:endParaRPr lang="zh-TW" altLang="en-US" sz="12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1463</TotalTime>
  <Words>481</Words>
  <Application>Microsoft Office PowerPoint</Application>
  <PresentationFormat>如螢幕大小 (4:3)</PresentationFormat>
  <Paragraphs>158</Paragraphs>
  <Slides>5</Slides>
  <Notes>0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5</vt:i4>
      </vt:variant>
    </vt:vector>
  </HeadingPairs>
  <TitlesOfParts>
    <vt:vector size="6" baseType="lpstr">
      <vt:lpstr>Office 佈景主題</vt:lpstr>
      <vt:lpstr>投影片 1</vt:lpstr>
      <vt:lpstr>投影片 2</vt:lpstr>
      <vt:lpstr>投影片 3</vt:lpstr>
      <vt:lpstr>投影片 4</vt:lpstr>
      <vt:lpstr>投影片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IES089976</dc:creator>
  <cp:lastModifiedBy>IES089976</cp:lastModifiedBy>
  <cp:revision>41</cp:revision>
  <dcterms:created xsi:type="dcterms:W3CDTF">2015-01-12T00:21:19Z</dcterms:created>
  <dcterms:modified xsi:type="dcterms:W3CDTF">2015-01-24T03:56:30Z</dcterms:modified>
</cp:coreProperties>
</file>