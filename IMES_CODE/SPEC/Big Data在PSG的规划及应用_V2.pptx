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8" r:id="rId2"/>
  </p:sldMasterIdLst>
  <p:notesMasterIdLst>
    <p:notesMasterId r:id="rId23"/>
  </p:notesMasterIdLst>
  <p:handoutMasterIdLst>
    <p:handoutMasterId r:id="rId24"/>
  </p:handoutMasterIdLst>
  <p:sldIdLst>
    <p:sldId id="489" r:id="rId3"/>
    <p:sldId id="508" r:id="rId4"/>
    <p:sldId id="570" r:id="rId5"/>
    <p:sldId id="535" r:id="rId6"/>
    <p:sldId id="557" r:id="rId7"/>
    <p:sldId id="558" r:id="rId8"/>
    <p:sldId id="545" r:id="rId9"/>
    <p:sldId id="567" r:id="rId10"/>
    <p:sldId id="546" r:id="rId11"/>
    <p:sldId id="568" r:id="rId12"/>
    <p:sldId id="559" r:id="rId13"/>
    <p:sldId id="560" r:id="rId14"/>
    <p:sldId id="569" r:id="rId15"/>
    <p:sldId id="561" r:id="rId16"/>
    <p:sldId id="564" r:id="rId17"/>
    <p:sldId id="566" r:id="rId18"/>
    <p:sldId id="565" r:id="rId19"/>
    <p:sldId id="555" r:id="rId20"/>
    <p:sldId id="556" r:id="rId21"/>
    <p:sldId id="468" r:id="rId22"/>
  </p:sldIdLst>
  <p:sldSz cx="9906000" cy="6858000" type="A4"/>
  <p:notesSz cx="6873875" cy="100631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FF9933"/>
    <a:srgbClr val="3333FF"/>
    <a:srgbClr val="FF5050"/>
    <a:srgbClr val="FF6600"/>
    <a:srgbClr val="B82E08"/>
    <a:srgbClr val="FF66CC"/>
    <a:srgbClr val="333333"/>
    <a:srgbClr val="323232"/>
    <a:srgbClr val="4D4D4D"/>
    <a:srgbClr val="29292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3" autoAdjust="0"/>
    <p:restoredTop sz="94542" autoAdjust="0"/>
  </p:normalViewPr>
  <p:slideViewPr>
    <p:cSldViewPr snapToGrid="0">
      <p:cViewPr varScale="1">
        <p:scale>
          <a:sx n="55" d="100"/>
          <a:sy n="55" d="100"/>
        </p:scale>
        <p:origin x="-854" y="-6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42" y="-108"/>
      </p:cViewPr>
      <p:guideLst>
        <p:guide orient="horz" pos="3169"/>
        <p:guide pos="2165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815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4138" y="0"/>
            <a:ext cx="297815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4138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C8EB5CA4-AF71-400F-A287-47E432AFBE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>
            <a:lvl1pPr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255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>
            <a:lvl1pPr algn="r"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54063"/>
            <a:ext cx="5449887" cy="3775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79963"/>
            <a:ext cx="5499100" cy="452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b" anchorCtr="0" compatLnSpc="1">
            <a:prstTxWarp prst="textNoShape">
              <a:avLst/>
            </a:prstTxWarp>
          </a:bodyPr>
          <a:lstStyle>
            <a:lvl1pPr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b" anchorCtr="0" compatLnSpc="1">
            <a:prstTxWarp prst="textNoShape">
              <a:avLst/>
            </a:prstTxWarp>
          </a:bodyPr>
          <a:lstStyle>
            <a:lvl1pPr algn="r"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BD91618F-A865-4FFA-B6B2-58687FD0D1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712788" y="755650"/>
            <a:ext cx="5448300" cy="37719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1BAEC-FCA4-463C-B521-84D8F5B53FA9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8"/>
            <a:ext cx="9906000" cy="42148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atin typeface="+mj-lt"/>
              <a:ea typeface="微軟正黑體" pitchFamily="34" charset="-120"/>
            </a:endParaRPr>
          </a:p>
        </p:txBody>
      </p:sp>
      <p:sp>
        <p:nvSpPr>
          <p:cNvPr id="6" name="Rectangle 22"/>
          <p:cNvSpPr/>
          <p:nvPr userDrawn="1"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3102" name="Rectangle 30"/>
          <p:cNvSpPr>
            <a:spLocks noGrp="1" noChangeArrowheads="1"/>
          </p:cNvSpPr>
          <p:nvPr>
            <p:ph type="ctrTitle" sz="quarter"/>
          </p:nvPr>
        </p:nvSpPr>
        <p:spPr>
          <a:xfrm>
            <a:off x="4940300" y="3940175"/>
            <a:ext cx="4686300" cy="1108075"/>
          </a:xfrm>
          <a:prstGeom prst="rect">
            <a:avLst/>
          </a:prstGeom>
          <a:effectLst/>
        </p:spPr>
        <p:txBody>
          <a:bodyPr lIns="91440" tIns="45720" rIns="91440" bIns="45720" anchor="ctr"/>
          <a:lstStyle>
            <a:lvl1pPr>
              <a:defRPr sz="2400">
                <a:solidFill>
                  <a:srgbClr val="1C1C1C"/>
                </a:solidFill>
              </a:defRPr>
            </a:lvl1pPr>
          </a:lstStyle>
          <a:p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/>
            </a:r>
            <a:br>
              <a:rPr lang="en-US" altLang="zh-TW"/>
            </a:br>
            <a:r>
              <a:rPr lang="zh-TW" altLang="en-US"/>
              <a:t>按一下以編輯母片標題樣式</a:t>
            </a:r>
            <a:br>
              <a:rPr lang="zh-TW" altLang="en-US"/>
            </a:br>
            <a:endParaRPr lang="zh-TW" altLang="en-US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945063" y="5065713"/>
            <a:ext cx="4673600" cy="1477962"/>
          </a:xfrm>
          <a:effectLst/>
        </p:spPr>
        <p:txBody>
          <a:bodyPr/>
          <a:lstStyle>
            <a:lvl1pPr marL="0" indent="0">
              <a:buFont typeface="Wingdings" pitchFamily="2" charset="2"/>
              <a:buNone/>
              <a:defRPr sz="1800">
                <a:solidFill>
                  <a:srgbClr val="404040"/>
                </a:solidFill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84188" y="1373188"/>
            <a:ext cx="4564062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00650" y="1373188"/>
            <a:ext cx="4564063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445375" y="115888"/>
            <a:ext cx="2322513" cy="6122987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74663" y="115888"/>
            <a:ext cx="6818312" cy="61229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84188" y="1373188"/>
            <a:ext cx="9280525" cy="4865687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74663" y="115888"/>
            <a:ext cx="9293225" cy="61229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pic>
        <p:nvPicPr>
          <p:cNvPr id="4" name="Picture 5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lum bright="-40000"/>
          </a:blip>
          <a:srcRect l="3948" t="11926" r="1304" b="36756"/>
          <a:stretch>
            <a:fillRect/>
          </a:stretch>
        </p:blipFill>
        <p:spPr bwMode="auto">
          <a:xfrm>
            <a:off x="518" y="132"/>
            <a:ext cx="9895406" cy="3033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pic>
        <p:nvPicPr>
          <p:cNvPr id="5" name="Picture 18" descr="InventecLogo_loRes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1263" y="3360738"/>
            <a:ext cx="2960687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2"/>
          <p:cNvSpPr/>
          <p:nvPr userDrawn="1"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188" y="1373188"/>
            <a:ext cx="9280525" cy="486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1" name="Rectangle 2"/>
          <p:cNvSpPr/>
          <p:nvPr userDrawn="1"/>
        </p:nvSpPr>
        <p:spPr>
          <a:xfrm>
            <a:off x="0" y="6592888"/>
            <a:ext cx="9906000" cy="265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rial" charset="0"/>
            </a:endParaRPr>
          </a:p>
        </p:txBody>
      </p:sp>
      <p:sp>
        <p:nvSpPr>
          <p:cNvPr id="12" name="TextBox 5"/>
          <p:cNvSpPr txBox="1"/>
          <p:nvPr userDrawn="1"/>
        </p:nvSpPr>
        <p:spPr>
          <a:xfrm>
            <a:off x="576263" y="6596063"/>
            <a:ext cx="19081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1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Inventec</a:t>
            </a:r>
            <a:r>
              <a:rPr kumimoji="0" lang="en-US" sz="11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Confidential 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672013" y="6626225"/>
            <a:ext cx="89376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kumimoji="0" lang="en-US" altLang="zh-TW" sz="1000" b="0">
                <a:latin typeface="Calibri" pitchFamily="34" charset="0"/>
              </a:rPr>
              <a:t>Page </a:t>
            </a:r>
            <a:fld id="{559DDCED-9AC7-444A-B5D3-FD2EFC82AABA}" type="slidenum">
              <a:rPr kumimoji="0" lang="en-US" altLang="zh-TW" sz="1000" b="0">
                <a:latin typeface="Calibri" pitchFamily="34" charset="0"/>
              </a:rPr>
              <a:pPr>
                <a:defRPr/>
              </a:pPr>
              <a:t>‹#›</a:t>
            </a:fld>
            <a:endParaRPr kumimoji="0" lang="en-US" altLang="zh-TW" sz="1000" b="0">
              <a:latin typeface="Calibri" pitchFamily="34" charset="0"/>
            </a:endParaRPr>
          </a:p>
        </p:txBody>
      </p:sp>
      <p:pic>
        <p:nvPicPr>
          <p:cNvPr id="2055" name="Picture 4" descr="InventecLogo_loRes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399463" y="6351588"/>
            <a:ext cx="1316037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69" name="Picture 1"/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0" y="217488"/>
            <a:ext cx="9906000" cy="70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9pPr>
    </p:titleStyle>
    <p:bodyStyle>
      <a:lvl1pPr marL="361950" indent="-36195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357188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Arial Unicode MS" pitchFamily="34" charset="-120"/>
        <a:buChar char="–"/>
        <a:defRPr kumimoji="1" sz="24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68288" algn="l" rtl="0" eaLnBrk="0" fontAlgn="base" hangingPunct="0">
        <a:spcBef>
          <a:spcPct val="0"/>
        </a:spcBef>
        <a:spcAft>
          <a:spcPct val="0"/>
        </a:spcAft>
        <a:buSzPct val="65000"/>
        <a:buFont typeface="Wingdings" pitchFamily="2" charset="2"/>
        <a:buChar char="l"/>
        <a:defRPr kumimoji="1" sz="2000" i="1">
          <a:solidFill>
            <a:schemeClr val="tx1"/>
          </a:solidFill>
          <a:latin typeface="+mn-lt"/>
          <a:ea typeface="+mn-ea"/>
          <a:cs typeface="+mn-cs"/>
        </a:defRPr>
      </a:lvl3pPr>
      <a:lvl4pPr marL="1885950" indent="-2667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Arial Unicode MS" pitchFamily="34" charset="-12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427288" indent="-266700" algn="l" rtl="0" eaLnBrk="0" fontAlgn="base" hangingPunct="0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5pPr>
      <a:lvl6pPr marL="28844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6pPr>
      <a:lvl7pPr marL="33416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7pPr>
      <a:lvl8pPr marL="37988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8pPr>
      <a:lvl9pPr marL="42560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5" descr="background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lum bright="-40000"/>
          </a:blip>
          <a:srcRect l="3948" t="11926" r="1304" b="36756"/>
          <a:stretch>
            <a:fillRect/>
          </a:stretch>
        </p:blipFill>
        <p:spPr bwMode="auto">
          <a:xfrm>
            <a:off x="518" y="132"/>
            <a:ext cx="9895406" cy="3033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sp>
        <p:nvSpPr>
          <p:cNvPr id="2" name="Rectangle 22"/>
          <p:cNvSpPr/>
          <p:nvPr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5" name="Rectangle 2"/>
          <p:cNvSpPr/>
          <p:nvPr userDrawn="1"/>
        </p:nvSpPr>
        <p:spPr>
          <a:xfrm>
            <a:off x="0" y="6592888"/>
            <a:ext cx="9906000" cy="265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rial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576263" y="6596063"/>
            <a:ext cx="19081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1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Inventec</a:t>
            </a:r>
            <a:r>
              <a:rPr kumimoji="0" lang="en-US" sz="11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Confidential </a:t>
            </a:r>
          </a:p>
        </p:txBody>
      </p:sp>
      <p:pic>
        <p:nvPicPr>
          <p:cNvPr id="7" name="Picture 4" descr="InventecLogo_loRes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399463" y="6351588"/>
            <a:ext cx="1316037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"/>
          <p:cNvSpPr/>
          <p:nvPr userDrawn="1"/>
        </p:nvSpPr>
        <p:spPr bwMode="black">
          <a:xfrm>
            <a:off x="0" y="0"/>
            <a:ext cx="2857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0" lang="zh-TW" altLang="en-US" sz="3600" b="0">
              <a:solidFill>
                <a:schemeClr val="bg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副標題 2"/>
          <p:cNvSpPr>
            <a:spLocks/>
          </p:cNvSpPr>
          <p:nvPr/>
        </p:nvSpPr>
        <p:spPr bwMode="auto">
          <a:xfrm>
            <a:off x="541191" y="3642828"/>
            <a:ext cx="8280981" cy="100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923" tIns="41962" rIns="83923" bIns="41962"/>
          <a:lstStyle/>
          <a:p>
            <a:pPr>
              <a:spcBef>
                <a:spcPct val="20000"/>
              </a:spcBef>
              <a:buFont typeface="Arial" charset="0"/>
              <a:buNone/>
            </a:pPr>
            <a:endParaRPr kumimoji="0" lang="zh-TW" altLang="en-US" b="1">
              <a:solidFill>
                <a:srgbClr val="595959"/>
              </a:solidFill>
              <a:latin typeface="Calibri" pitchFamily="34" charset="0"/>
              <a:ea typeface="微軟正黑體"/>
              <a:cs typeface="微軟正黑體"/>
            </a:endParaRPr>
          </a:p>
        </p:txBody>
      </p:sp>
      <p:sp>
        <p:nvSpPr>
          <p:cNvPr id="15364" name="副標題 2"/>
          <p:cNvSpPr>
            <a:spLocks noGrp="1"/>
          </p:cNvSpPr>
          <p:nvPr>
            <p:ph type="subTitle" sz="quarter" idx="1"/>
          </p:nvPr>
        </p:nvSpPr>
        <p:spPr>
          <a:xfrm>
            <a:off x="8039101" y="3191644"/>
            <a:ext cx="1473200" cy="364356"/>
          </a:xfrm>
        </p:spPr>
        <p:txBody>
          <a:bodyPr>
            <a:normAutofit lnSpcReduction="10000"/>
          </a:bodyPr>
          <a:lstStyle/>
          <a:p>
            <a:pPr eaLnBrk="0" hangingPunct="0">
              <a:defRPr/>
            </a:pPr>
            <a:r>
              <a:rPr lang="zh-CN" altLang="en-US" dirty="0" smtClean="0">
                <a:solidFill>
                  <a:schemeClr val="accent2">
                    <a:lumMod val="75000"/>
                  </a:schemeClr>
                </a:solidFill>
                <a:latin typeface="微軟正黑體" pitchFamily="34" charset="-120"/>
                <a:cs typeface="Arial Unicode MS" pitchFamily="34" charset="-120"/>
              </a:rPr>
              <a:t>制造系统处</a:t>
            </a:r>
            <a:endParaRPr lang="en-US" altLang="zh-TW" dirty="0" smtClean="0">
              <a:solidFill>
                <a:schemeClr val="accent2">
                  <a:lumMod val="75000"/>
                </a:schemeClr>
              </a:solidFill>
              <a:latin typeface="微軟正黑體" pitchFamily="34" charset="-120"/>
              <a:cs typeface="Arial Unicode MS" pitchFamily="34" charset="-120"/>
            </a:endParaRPr>
          </a:p>
          <a:p>
            <a:pPr algn="ctr" eaLnBrk="1" hangingPunct="1"/>
            <a:endParaRPr lang="en-US" altLang="zh-TW" dirty="0" smtClean="0">
              <a:solidFill>
                <a:srgbClr val="595959"/>
              </a:solidFill>
              <a:latin typeface="Calibri" pitchFamily="34" charset="0"/>
              <a:ea typeface="微軟正黑體" pitchFamily="34" charset="-120"/>
              <a:cs typeface="Calibri" pitchFamily="34" charset="0"/>
            </a:endParaRPr>
          </a:p>
        </p:txBody>
      </p:sp>
      <p:sp>
        <p:nvSpPr>
          <p:cNvPr id="15365" name="頁尾版面配置區 29"/>
          <p:cNvSpPr txBox="1">
            <a:spLocks noGrp="1"/>
          </p:cNvSpPr>
          <p:nvPr/>
        </p:nvSpPr>
        <p:spPr bwMode="auto">
          <a:xfrm>
            <a:off x="0" y="6345424"/>
            <a:ext cx="3214744" cy="364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3923" tIns="41962" rIns="83923" bIns="41962" anchor="ctr"/>
          <a:lstStyle/>
          <a:p>
            <a:endParaRPr kumimoji="0" lang="zh-TW" altLang="en-US" sz="1200" dirty="0">
              <a:solidFill>
                <a:srgbClr val="898989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13" name="圖片 12" descr="Logo-英業達集團Inventec-TC.png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416497" y="419549"/>
            <a:ext cx="1752557" cy="355152"/>
          </a:xfrm>
          <a:prstGeom prst="rect">
            <a:avLst/>
          </a:prstGeom>
        </p:spPr>
      </p:pic>
      <p:grpSp>
        <p:nvGrpSpPr>
          <p:cNvPr id="2" name="群組 31"/>
          <p:cNvGrpSpPr/>
          <p:nvPr/>
        </p:nvGrpSpPr>
        <p:grpSpPr>
          <a:xfrm>
            <a:off x="-490526" y="4332823"/>
            <a:ext cx="10893865" cy="2564628"/>
            <a:chOff x="-452794" y="4332823"/>
            <a:chExt cx="10055875" cy="2564628"/>
          </a:xfrm>
        </p:grpSpPr>
        <p:pic>
          <p:nvPicPr>
            <p:cNvPr id="19" name="圖片 18" descr="1.jpg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-610" y="4336198"/>
              <a:ext cx="1840823" cy="2554333"/>
            </a:xfrm>
            <a:prstGeom prst="rect">
              <a:avLst/>
            </a:prstGeom>
          </p:spPr>
        </p:pic>
        <p:pic>
          <p:nvPicPr>
            <p:cNvPr id="20" name="圖片 19" descr="2.jpg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1835696" y="4336198"/>
              <a:ext cx="1840823" cy="2554333"/>
            </a:xfrm>
            <a:prstGeom prst="rect">
              <a:avLst/>
            </a:prstGeom>
          </p:spPr>
        </p:pic>
        <p:pic>
          <p:nvPicPr>
            <p:cNvPr id="21" name="圖片 20" descr="3.jpg"/>
            <p:cNvPicPr>
              <a:picLocks noChangeAspect="1"/>
            </p:cNvPicPr>
            <p:nvPr/>
          </p:nvPicPr>
          <p:blipFill>
            <a:blip r:embed="rId7" cstate="email"/>
            <a:stretch>
              <a:fillRect/>
            </a:stretch>
          </p:blipFill>
          <p:spPr>
            <a:xfrm>
              <a:off x="3673373" y="4336198"/>
              <a:ext cx="1819785" cy="2554333"/>
            </a:xfrm>
            <a:prstGeom prst="rect">
              <a:avLst/>
            </a:prstGeom>
          </p:spPr>
        </p:pic>
        <p:pic>
          <p:nvPicPr>
            <p:cNvPr id="22" name="圖片 21" descr="4.jpg"/>
            <p:cNvPicPr>
              <a:picLocks noChangeAspect="1"/>
            </p:cNvPicPr>
            <p:nvPr/>
          </p:nvPicPr>
          <p:blipFill>
            <a:blip r:embed="rId8" cstate="email"/>
            <a:stretch>
              <a:fillRect/>
            </a:stretch>
          </p:blipFill>
          <p:spPr>
            <a:xfrm>
              <a:off x="5479739" y="4332823"/>
              <a:ext cx="1832400" cy="2564628"/>
            </a:xfrm>
            <a:prstGeom prst="rect">
              <a:avLst/>
            </a:prstGeom>
          </p:spPr>
        </p:pic>
        <p:pic>
          <p:nvPicPr>
            <p:cNvPr id="23" name="圖片 22" descr="5.jpg"/>
            <p:cNvPicPr>
              <a:picLocks noChangeAspect="1"/>
            </p:cNvPicPr>
            <p:nvPr/>
          </p:nvPicPr>
          <p:blipFill>
            <a:blip r:embed="rId9" cstate="email"/>
            <a:stretch>
              <a:fillRect/>
            </a:stretch>
          </p:blipFill>
          <p:spPr>
            <a:xfrm>
              <a:off x="7310075" y="4336198"/>
              <a:ext cx="1840823" cy="2554333"/>
            </a:xfrm>
            <a:prstGeom prst="rect">
              <a:avLst/>
            </a:prstGeom>
          </p:spPr>
        </p:pic>
        <p:sp>
          <p:nvSpPr>
            <p:cNvPr id="24" name="文字方塊 23"/>
            <p:cNvSpPr txBox="1"/>
            <p:nvPr/>
          </p:nvSpPr>
          <p:spPr>
            <a:xfrm>
              <a:off x="-452794" y="4537503"/>
              <a:ext cx="27451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自主創新</a:t>
              </a:r>
              <a:endParaRPr lang="en-US" altLang="zh-TW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05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Innovation Ownership</a:t>
              </a:r>
              <a:endParaRPr lang="zh-TW" alt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1383512" y="4537503"/>
              <a:ext cx="27451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綠能環保</a:t>
              </a:r>
              <a:endParaRPr lang="en-US" altLang="zh-TW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05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Sustainable Energy</a:t>
              </a:r>
              <a:endParaRPr lang="zh-TW" alt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210670" y="4537503"/>
              <a:ext cx="27451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雲端服務</a:t>
              </a:r>
              <a:endParaRPr lang="en-US" altLang="zh-TW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05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Cloud Service</a:t>
              </a:r>
              <a:endParaRPr lang="zh-TW" alt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5019666" y="4537503"/>
              <a:ext cx="274519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無線寬頻</a:t>
              </a:r>
              <a:endParaRPr lang="en-US" altLang="zh-TW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05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Mobile Broadband</a:t>
              </a:r>
              <a:endParaRPr lang="zh-TW" alt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6857891" y="4533656"/>
              <a:ext cx="274519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新興市場</a:t>
              </a:r>
              <a:endParaRPr lang="en-US" altLang="zh-TW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1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Emerging Market</a:t>
              </a:r>
              <a:endParaRPr lang="zh-TW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</p:grpSp>
      <p:sp>
        <p:nvSpPr>
          <p:cNvPr id="30" name="副標題 2"/>
          <p:cNvSpPr txBox="1">
            <a:spLocks/>
          </p:cNvSpPr>
          <p:nvPr/>
        </p:nvSpPr>
        <p:spPr bwMode="auto">
          <a:xfrm>
            <a:off x="653633" y="1908324"/>
            <a:ext cx="8317021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0753" tIns="35377" rIns="70753" bIns="35377" numCol="1" anchor="ctr" anchorCtr="0" compatLnSpc="1">
            <a:prstTxWarp prst="textNoShape">
              <a:avLst/>
            </a:prstTxWarp>
            <a:noAutofit/>
          </a:bodyPr>
          <a:lstStyle/>
          <a:p>
            <a:pPr defTabSz="770848">
              <a:spcBef>
                <a:spcPct val="20000"/>
              </a:spcBef>
              <a:defRPr/>
            </a:pPr>
            <a:endParaRPr kumimoji="0" lang="en-US" altLang="zh-CN" sz="3600" b="1" dirty="0" smtClean="0">
              <a:solidFill>
                <a:srgbClr val="595959"/>
              </a:solidFill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  <a:p>
            <a:pPr defTabSz="770848">
              <a:spcBef>
                <a:spcPct val="20000"/>
              </a:spcBef>
              <a:defRPr/>
            </a:pPr>
            <a:endParaRPr kumimoji="0" lang="en-US" altLang="zh-TW" sz="3600" b="1" dirty="0" smtClean="0">
              <a:solidFill>
                <a:srgbClr val="595959"/>
              </a:solidFill>
              <a:latin typeface="微軟正黑體" pitchFamily="34" charset="-120"/>
              <a:ea typeface="微軟正黑體" pitchFamily="34" charset="-120"/>
              <a:cs typeface="Arial" pitchFamily="34" charset="0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172278" y="1895465"/>
            <a:ext cx="9733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69938">
              <a:spcBef>
                <a:spcPct val="20000"/>
              </a:spcBef>
            </a:pPr>
            <a:r>
              <a:rPr lang="en-US" altLang="zh-CN" sz="440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Big Data</a:t>
            </a:r>
            <a:r>
              <a:rPr lang="zh-CN" altLang="en-US" sz="4400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在</a:t>
            </a:r>
            <a:r>
              <a:rPr lang="en-US" altLang="zh-CN" sz="4400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PSG</a:t>
            </a:r>
            <a:r>
              <a:rPr lang="zh-CN" altLang="en-US" sz="4400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的规划及应用</a:t>
            </a:r>
            <a:endParaRPr lang="en-US" altLang="zh-TW" sz="4400" dirty="0">
              <a:solidFill>
                <a:schemeClr val="accent2">
                  <a:lumMod val="75000"/>
                </a:schemeClr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937560" y="1604479"/>
            <a:ext cx="1089080" cy="873125"/>
            <a:chOff x="270" y="1077"/>
            <a:chExt cx="331" cy="55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287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3200" dirty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1</a:t>
              </a: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917549" y="1715604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368950" y="1877185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CN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前言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395288" y="261938"/>
            <a:ext cx="33385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 A</a:t>
            </a:r>
            <a:r>
              <a:rPr lang="en-US" altLang="zh-CN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genda</a:t>
            </a:r>
            <a:endParaRPr lang="en-US" altLang="ko-KR" sz="3600" b="1" i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grpSp>
        <p:nvGrpSpPr>
          <p:cNvPr id="19" name="Group 2"/>
          <p:cNvGrpSpPr>
            <a:grpSpLocks/>
          </p:cNvGrpSpPr>
          <p:nvPr/>
        </p:nvGrpSpPr>
        <p:grpSpPr bwMode="auto">
          <a:xfrm>
            <a:off x="1950812" y="2717662"/>
            <a:ext cx="855471" cy="873125"/>
            <a:chOff x="270" y="1077"/>
            <a:chExt cx="260" cy="5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2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930801" y="2828787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82202" y="2990368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目標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25" name="Group 2"/>
          <p:cNvGrpSpPr>
            <a:grpSpLocks/>
          </p:cNvGrpSpPr>
          <p:nvPr/>
        </p:nvGrpSpPr>
        <p:grpSpPr bwMode="auto">
          <a:xfrm>
            <a:off x="1950812" y="3897105"/>
            <a:ext cx="855471" cy="873125"/>
            <a:chOff x="270" y="1077"/>
            <a:chExt cx="260" cy="5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3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930801" y="4008230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382202" y="4169811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手段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1937559" y="5050044"/>
            <a:ext cx="855471" cy="873125"/>
            <a:chOff x="270" y="1077"/>
            <a:chExt cx="260" cy="550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4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917548" y="5161169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315941" y="5137220"/>
            <a:ext cx="4197121" cy="9541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目前</a:t>
            </a:r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面臨難度及建議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/>
      <p:bldP spid="22" grpId="0" animBg="1"/>
      <p:bldP spid="24" grpId="0"/>
      <p:bldP spid="28" grpId="0" animBg="1"/>
      <p:bldP spid="29" grpId="0"/>
      <p:bldP spid="33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37560" y="1604479"/>
            <a:ext cx="1089080" cy="873125"/>
            <a:chOff x="270" y="1077"/>
            <a:chExt cx="331" cy="55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287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3200" dirty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1</a:t>
              </a: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917549" y="1715604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368950" y="1877185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CN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前言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395288" y="261938"/>
            <a:ext cx="33385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 A</a:t>
            </a:r>
            <a:r>
              <a:rPr lang="en-US" altLang="zh-CN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genda</a:t>
            </a:r>
            <a:endParaRPr lang="en-US" altLang="ko-KR" sz="3600" b="1" i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950812" y="2717662"/>
            <a:ext cx="855471" cy="873125"/>
            <a:chOff x="270" y="1077"/>
            <a:chExt cx="260" cy="5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2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930801" y="2828787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82202" y="2990368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目標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950812" y="3897105"/>
            <a:ext cx="855471" cy="873125"/>
            <a:chOff x="270" y="1077"/>
            <a:chExt cx="260" cy="5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3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930801" y="4008230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382202" y="4169811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手段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937559" y="5050044"/>
            <a:ext cx="855471" cy="873125"/>
            <a:chOff x="270" y="1077"/>
            <a:chExt cx="260" cy="550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4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917548" y="5161169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315941" y="5137220"/>
            <a:ext cx="4197121" cy="9541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目前</a:t>
            </a:r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面臨難度及建議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1890022" y="3791918"/>
            <a:ext cx="1684337" cy="1363663"/>
            <a:chOff x="3014" y="806"/>
            <a:chExt cx="1304" cy="1104"/>
          </a:xfrm>
        </p:grpSpPr>
        <p:sp>
          <p:nvSpPr>
            <p:cNvPr id="26" name="AutoShape 25"/>
            <p:cNvSpPr>
              <a:spLocks noChangeArrowheads="1"/>
            </p:cNvSpPr>
            <p:nvPr/>
          </p:nvSpPr>
          <p:spPr bwMode="gray">
            <a:xfrm>
              <a:off x="3014" y="806"/>
              <a:ext cx="1304" cy="1104"/>
            </a:xfrm>
            <a:prstGeom prst="upArrow">
              <a:avLst>
                <a:gd name="adj1" fmla="val 39880"/>
                <a:gd name="adj2" fmla="val 54074"/>
              </a:avLst>
            </a:prstGeom>
            <a:noFill/>
            <a:ln w="76200" algn="ctr">
              <a:solidFill>
                <a:srgbClr val="FFFFFF">
                  <a:alpha val="50000"/>
                </a:srgb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AutoShape 26"/>
            <p:cNvSpPr>
              <a:spLocks noChangeArrowheads="1"/>
            </p:cNvSpPr>
            <p:nvPr/>
          </p:nvSpPr>
          <p:spPr bwMode="gray">
            <a:xfrm>
              <a:off x="3243" y="942"/>
              <a:ext cx="847" cy="868"/>
            </a:xfrm>
            <a:prstGeom prst="upArrow">
              <a:avLst>
                <a:gd name="adj1" fmla="val 40731"/>
                <a:gd name="adj2" fmla="val 44038"/>
              </a:avLst>
            </a:prstGeom>
            <a:solidFill>
              <a:srgbClr val="FFFFFF">
                <a:alpha val="39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52" name="Text Box 16"/>
          <p:cNvSpPr txBox="1">
            <a:spLocks noChangeArrowheads="1"/>
          </p:cNvSpPr>
          <p:nvPr/>
        </p:nvSpPr>
        <p:spPr bwMode="auto">
          <a:xfrm>
            <a:off x="395287" y="261938"/>
            <a:ext cx="624405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zh-CN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何谓</a:t>
            </a:r>
            <a:r>
              <a:rPr lang="en-US" altLang="zh-CN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 DATA</a:t>
            </a:r>
            <a:endParaRPr lang="en-US" altLang="ko-KR" sz="3600" b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14077" y="1284376"/>
            <a:ext cx="24817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何谓</a:t>
            </a:r>
            <a:r>
              <a:rPr lang="en-US" altLang="zh-CN" dirty="0" smtClean="0"/>
              <a:t>Big Data</a:t>
            </a:r>
            <a:r>
              <a:rPr lang="en-US" altLang="en-US" dirty="0" smtClean="0"/>
              <a:t>  </a:t>
            </a:r>
            <a:endParaRPr lang="zh-TW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794919" y="1878917"/>
            <a:ext cx="8529899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/>
            <a:r>
              <a:rPr lang="en-US" altLang="zh-TW" b="0" dirty="0" smtClean="0"/>
              <a:t>Big Data(</a:t>
            </a:r>
            <a:r>
              <a:rPr lang="zh-TW" altLang="en-US" b="0" dirty="0" smtClean="0"/>
              <a:t>大数据</a:t>
            </a:r>
            <a:r>
              <a:rPr lang="en-US" altLang="zh-TW" b="0" dirty="0" smtClean="0"/>
              <a:t>)</a:t>
            </a:r>
            <a:r>
              <a:rPr lang="zh-TW" altLang="en-US" b="0" dirty="0" smtClean="0"/>
              <a:t>，或称巨量资料，指的是所涉及的</a:t>
            </a:r>
            <a:endParaRPr lang="en-US" altLang="zh-TW" b="0" dirty="0" smtClean="0"/>
          </a:p>
          <a:p>
            <a:pPr lvl="0" indent="266700"/>
            <a:r>
              <a:rPr lang="zh-TW" altLang="en-US" b="0" dirty="0" smtClean="0"/>
              <a:t>资料量规模巨大到无法通过目前主流软件工具，</a:t>
            </a:r>
            <a:endParaRPr lang="en-US" altLang="zh-TW" b="0" dirty="0" smtClean="0"/>
          </a:p>
          <a:p>
            <a:pPr lvl="0" indent="266700"/>
            <a:r>
              <a:rPr lang="zh-TW" altLang="en-US" b="0" dirty="0" smtClean="0"/>
              <a:t>在合理时间内达到撷取、管理、处理、并整理</a:t>
            </a:r>
            <a:endParaRPr lang="en-US" altLang="zh-TW" b="0" dirty="0" smtClean="0"/>
          </a:p>
          <a:p>
            <a:pPr indent="266700"/>
            <a:r>
              <a:rPr lang="zh-TW" altLang="en-US" b="0" dirty="0" smtClean="0">
                <a:solidFill>
                  <a:srgbClr val="FF0000"/>
                </a:solidFill>
              </a:rPr>
              <a:t>成为帮助企业经营决策更积极目的</a:t>
            </a:r>
            <a:r>
              <a:rPr lang="zh-TW" altLang="en-US" b="0" dirty="0" smtClean="0"/>
              <a:t>的资讯</a:t>
            </a:r>
            <a:r>
              <a:rPr lang="en-US" altLang="zh-TW" b="0" dirty="0" smtClean="0"/>
              <a:t>.</a:t>
            </a:r>
            <a:endParaRPr lang="zh-TW" altLang="en-US" b="0" dirty="0" smtClean="0"/>
          </a:p>
        </p:txBody>
      </p:sp>
      <p:sp>
        <p:nvSpPr>
          <p:cNvPr id="18" name="矩形 17"/>
          <p:cNvSpPr/>
          <p:nvPr/>
        </p:nvSpPr>
        <p:spPr>
          <a:xfrm>
            <a:off x="6033925" y="3896260"/>
            <a:ext cx="27414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(</a:t>
            </a:r>
            <a:r>
              <a:rPr kumimoji="0" lang="zh-TW" altLang="en-US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摘自百度百科</a:t>
            </a:r>
            <a:r>
              <a:rPr kumimoji="0" lang="en-US" altLang="zh-TW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).</a:t>
            </a:r>
            <a:r>
              <a:rPr kumimoji="0" lang="zh-TW" altLang="en-US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7542" y="3924206"/>
            <a:ext cx="432211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1782" y="1180272"/>
            <a:ext cx="7617385" cy="4942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395287" y="261938"/>
            <a:ext cx="74367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 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DATA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 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4V</a:t>
            </a:r>
            <a:r>
              <a:rPr lang="zh-CN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特性</a:t>
            </a:r>
            <a:endParaRPr lang="en-US" altLang="ko-KR" sz="3600" b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gray">
          <a:xfrm>
            <a:off x="5112578" y="3186458"/>
            <a:ext cx="1835150" cy="431800"/>
          </a:xfrm>
          <a:prstGeom prst="rect">
            <a:avLst/>
          </a:prstGeom>
          <a:gradFill rotWithShape="1">
            <a:gsLst>
              <a:gs pos="0">
                <a:srgbClr val="C5E1C7"/>
              </a:gs>
              <a:gs pos="100000">
                <a:srgbClr val="C5E1C7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3306003" y="3675408"/>
            <a:ext cx="1806575" cy="431800"/>
          </a:xfrm>
          <a:prstGeom prst="rect">
            <a:avLst/>
          </a:prstGeom>
          <a:gradFill rotWithShape="1">
            <a:gsLst>
              <a:gs pos="0">
                <a:srgbClr val="C5E1C7"/>
              </a:gs>
              <a:gs pos="100000">
                <a:srgbClr val="C5E1C7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gray">
          <a:xfrm>
            <a:off x="1477203" y="4169121"/>
            <a:ext cx="1825625" cy="431800"/>
          </a:xfrm>
          <a:prstGeom prst="rect">
            <a:avLst/>
          </a:prstGeom>
          <a:gradFill rotWithShape="1">
            <a:gsLst>
              <a:gs pos="0">
                <a:srgbClr val="C5E1C7"/>
              </a:gs>
              <a:gs pos="100000">
                <a:srgbClr val="C5E1C7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 flipH="1">
            <a:off x="873953" y="3556346"/>
            <a:ext cx="2428875" cy="615950"/>
          </a:xfrm>
          <a:prstGeom prst="parallelogram">
            <a:avLst>
              <a:gd name="adj" fmla="val 98582"/>
            </a:avLst>
          </a:prstGeom>
          <a:gradFill rotWithShape="1">
            <a:gsLst>
              <a:gs pos="0">
                <a:srgbClr val="CEE6D0"/>
              </a:gs>
              <a:gs pos="100000">
                <a:srgbClr val="CEE6D0">
                  <a:gamma/>
                  <a:tint val="5372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gray">
          <a:xfrm flipH="1">
            <a:off x="2686878" y="3046758"/>
            <a:ext cx="2428875" cy="646113"/>
          </a:xfrm>
          <a:prstGeom prst="parallelogram">
            <a:avLst>
              <a:gd name="adj" fmla="val 96330"/>
            </a:avLst>
          </a:prstGeom>
          <a:gradFill rotWithShape="1">
            <a:gsLst>
              <a:gs pos="0">
                <a:srgbClr val="CEE6D0"/>
              </a:gs>
              <a:gs pos="100000">
                <a:srgbClr val="CEE6D0">
                  <a:gamma/>
                  <a:tint val="5372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Freeform 8"/>
          <p:cNvSpPr>
            <a:spLocks/>
          </p:cNvSpPr>
          <p:nvPr/>
        </p:nvSpPr>
        <p:spPr bwMode="gray">
          <a:xfrm>
            <a:off x="2693228" y="3048346"/>
            <a:ext cx="612775" cy="1130300"/>
          </a:xfrm>
          <a:custGeom>
            <a:avLst/>
            <a:gdLst/>
            <a:ahLst/>
            <a:cxnLst>
              <a:cxn ang="0">
                <a:pos x="0" y="167"/>
              </a:cxn>
              <a:cxn ang="0">
                <a:pos x="201" y="370"/>
              </a:cxn>
              <a:cxn ang="0">
                <a:pos x="201" y="210"/>
              </a:cxn>
              <a:cxn ang="0">
                <a:pos x="0" y="0"/>
              </a:cxn>
              <a:cxn ang="0">
                <a:pos x="0" y="167"/>
              </a:cxn>
            </a:cxnLst>
            <a:rect l="0" t="0" r="r" b="b"/>
            <a:pathLst>
              <a:path w="201" h="370">
                <a:moveTo>
                  <a:pt x="0" y="167"/>
                </a:moveTo>
                <a:lnTo>
                  <a:pt x="201" y="370"/>
                </a:lnTo>
                <a:lnTo>
                  <a:pt x="201" y="210"/>
                </a:lnTo>
                <a:lnTo>
                  <a:pt x="0" y="0"/>
                </a:lnTo>
                <a:lnTo>
                  <a:pt x="0" y="167"/>
                </a:lnTo>
                <a:close/>
              </a:path>
            </a:pathLst>
          </a:custGeom>
          <a:gradFill rotWithShape="1">
            <a:gsLst>
              <a:gs pos="0">
                <a:srgbClr val="CEE6D0">
                  <a:gamma/>
                  <a:shade val="46275"/>
                  <a:invGamma/>
                </a:srgbClr>
              </a:gs>
              <a:gs pos="100000">
                <a:srgbClr val="CEE6D0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gray">
          <a:xfrm flipH="1">
            <a:off x="4499803" y="2530821"/>
            <a:ext cx="2438400" cy="657225"/>
          </a:xfrm>
          <a:prstGeom prst="parallelogram">
            <a:avLst>
              <a:gd name="adj" fmla="val 92256"/>
            </a:avLst>
          </a:prstGeom>
          <a:gradFill rotWithShape="1">
            <a:gsLst>
              <a:gs pos="0">
                <a:srgbClr val="CEE6D0"/>
              </a:gs>
              <a:gs pos="100000">
                <a:srgbClr val="CEE6D0">
                  <a:gamma/>
                  <a:tint val="5372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Freeform 10"/>
          <p:cNvSpPr>
            <a:spLocks/>
          </p:cNvSpPr>
          <p:nvPr/>
        </p:nvSpPr>
        <p:spPr bwMode="gray">
          <a:xfrm>
            <a:off x="4496628" y="2526058"/>
            <a:ext cx="615950" cy="1163638"/>
          </a:xfrm>
          <a:custGeom>
            <a:avLst/>
            <a:gdLst/>
            <a:ahLst/>
            <a:cxnLst>
              <a:cxn ang="0">
                <a:pos x="0" y="167"/>
              </a:cxn>
              <a:cxn ang="0">
                <a:pos x="201" y="370"/>
              </a:cxn>
              <a:cxn ang="0">
                <a:pos x="201" y="210"/>
              </a:cxn>
              <a:cxn ang="0">
                <a:pos x="0" y="0"/>
              </a:cxn>
              <a:cxn ang="0">
                <a:pos x="0" y="167"/>
              </a:cxn>
            </a:cxnLst>
            <a:rect l="0" t="0" r="r" b="b"/>
            <a:pathLst>
              <a:path w="201" h="370">
                <a:moveTo>
                  <a:pt x="0" y="167"/>
                </a:moveTo>
                <a:lnTo>
                  <a:pt x="201" y="370"/>
                </a:lnTo>
                <a:lnTo>
                  <a:pt x="201" y="210"/>
                </a:lnTo>
                <a:lnTo>
                  <a:pt x="0" y="0"/>
                </a:lnTo>
                <a:lnTo>
                  <a:pt x="0" y="167"/>
                </a:lnTo>
                <a:close/>
              </a:path>
            </a:pathLst>
          </a:custGeom>
          <a:gradFill rotWithShape="1">
            <a:gsLst>
              <a:gs pos="0">
                <a:srgbClr val="CEE6D0">
                  <a:gamma/>
                  <a:shade val="46275"/>
                  <a:invGamma/>
                </a:srgbClr>
              </a:gs>
              <a:gs pos="100000">
                <a:srgbClr val="CEE6D0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pic>
        <p:nvPicPr>
          <p:cNvPr id="11" name="Picture 11" descr="light_shadow"/>
          <p:cNvPicPr>
            <a:picLocks noChangeAspect="1" noChangeArrowheads="1"/>
          </p:cNvPicPr>
          <p:nvPr/>
        </p:nvPicPr>
        <p:blipFill>
          <a:blip r:embed="rId2" cstate="print">
            <a:lum bright="-76000" contrast="-4000"/>
            <a:grayscl/>
          </a:blip>
          <a:srcRect/>
          <a:stretch>
            <a:fillRect/>
          </a:stretch>
        </p:blipFill>
        <p:spPr bwMode="gray">
          <a:xfrm>
            <a:off x="3336166" y="3207096"/>
            <a:ext cx="1008062" cy="280987"/>
          </a:xfrm>
          <a:prstGeom prst="rect">
            <a:avLst/>
          </a:prstGeom>
          <a:noFill/>
        </p:spPr>
      </p:pic>
      <p:pic>
        <p:nvPicPr>
          <p:cNvPr id="12" name="Picture 12" descr="circuler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248853" y="2246658"/>
            <a:ext cx="1152525" cy="1139825"/>
          </a:xfrm>
          <a:prstGeom prst="rect">
            <a:avLst/>
          </a:prstGeom>
          <a:noFill/>
        </p:spPr>
      </p:pic>
      <p:sp>
        <p:nvSpPr>
          <p:cNvPr id="13" name="Oval 13"/>
          <p:cNvSpPr>
            <a:spLocks noChangeArrowheads="1"/>
          </p:cNvSpPr>
          <p:nvPr/>
        </p:nvSpPr>
        <p:spPr bwMode="gray">
          <a:xfrm>
            <a:off x="3248853" y="2246658"/>
            <a:ext cx="1144588" cy="1143000"/>
          </a:xfrm>
          <a:prstGeom prst="ellipse">
            <a:avLst/>
          </a:prstGeom>
          <a:gradFill rotWithShape="1">
            <a:gsLst>
              <a:gs pos="0">
                <a:srgbClr val="66FFFF">
                  <a:gamma/>
                  <a:shade val="26275"/>
                  <a:invGamma/>
                  <a:alpha val="89999"/>
                </a:srgbClr>
              </a:gs>
              <a:gs pos="50000">
                <a:srgbClr val="66FFFF">
                  <a:alpha val="45000"/>
                </a:srgbClr>
              </a:gs>
              <a:gs pos="100000">
                <a:srgbClr val="66FFFF">
                  <a:gamma/>
                  <a:shade val="26275"/>
                  <a:invGamma/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Freeform 14"/>
          <p:cNvSpPr>
            <a:spLocks/>
          </p:cNvSpPr>
          <p:nvPr/>
        </p:nvSpPr>
        <p:spPr bwMode="gray">
          <a:xfrm>
            <a:off x="3367916" y="2270471"/>
            <a:ext cx="898525" cy="395287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66FFFF">
                  <a:alpha val="17999"/>
                </a:srgbClr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Picture 15" descr="light_shadow"/>
          <p:cNvPicPr>
            <a:picLocks noChangeAspect="1" noChangeArrowheads="1"/>
          </p:cNvPicPr>
          <p:nvPr/>
        </p:nvPicPr>
        <p:blipFill>
          <a:blip r:embed="rId2" cstate="print">
            <a:lum bright="-76000" contrast="-4000"/>
            <a:grayscl/>
          </a:blip>
          <a:srcRect/>
          <a:stretch>
            <a:fillRect/>
          </a:stretch>
        </p:blipFill>
        <p:spPr bwMode="gray">
          <a:xfrm>
            <a:off x="5257041" y="2719733"/>
            <a:ext cx="1008062" cy="280988"/>
          </a:xfrm>
          <a:prstGeom prst="rect">
            <a:avLst/>
          </a:prstGeom>
          <a:noFill/>
        </p:spPr>
      </p:pic>
      <p:pic>
        <p:nvPicPr>
          <p:cNvPr id="16" name="Picture 16" descr="circuler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169728" y="1759296"/>
            <a:ext cx="1152525" cy="1139825"/>
          </a:xfrm>
          <a:prstGeom prst="rect">
            <a:avLst/>
          </a:prstGeom>
          <a:noFill/>
        </p:spPr>
      </p:pic>
      <p:sp>
        <p:nvSpPr>
          <p:cNvPr id="17" name="Oval 17"/>
          <p:cNvSpPr>
            <a:spLocks noChangeArrowheads="1"/>
          </p:cNvSpPr>
          <p:nvPr/>
        </p:nvSpPr>
        <p:spPr bwMode="gray">
          <a:xfrm>
            <a:off x="5169728" y="1759296"/>
            <a:ext cx="1144588" cy="1143000"/>
          </a:xfrm>
          <a:prstGeom prst="ellipse">
            <a:avLst/>
          </a:prstGeom>
          <a:gradFill rotWithShape="1">
            <a:gsLst>
              <a:gs pos="0">
                <a:srgbClr val="66FFFF">
                  <a:gamma/>
                  <a:shade val="26275"/>
                  <a:invGamma/>
                  <a:alpha val="89999"/>
                </a:srgbClr>
              </a:gs>
              <a:gs pos="50000">
                <a:srgbClr val="66FFFF">
                  <a:alpha val="45000"/>
                </a:srgbClr>
              </a:gs>
              <a:gs pos="100000">
                <a:srgbClr val="66FFFF">
                  <a:gamma/>
                  <a:shade val="26275"/>
                  <a:invGamma/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Freeform 18"/>
          <p:cNvSpPr>
            <a:spLocks/>
          </p:cNvSpPr>
          <p:nvPr/>
        </p:nvSpPr>
        <p:spPr bwMode="gray">
          <a:xfrm>
            <a:off x="5288791" y="1783108"/>
            <a:ext cx="898525" cy="395288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66FFFF">
                  <a:alpha val="17999"/>
                </a:srgbClr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3393316" y="2678458"/>
            <a:ext cx="9556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 dirty="0" smtClean="0">
                <a:solidFill>
                  <a:srgbClr val="720800"/>
                </a:solidFill>
                <a:ea typeface="宋体" pitchFamily="2" charset="-122"/>
              </a:rPr>
              <a:t>第二代</a:t>
            </a:r>
            <a:endParaRPr lang="en-US" altLang="zh-CN" sz="1400" dirty="0" smtClean="0">
              <a:solidFill>
                <a:srgbClr val="720800"/>
              </a:solidFill>
              <a:ea typeface="宋体" pitchFamily="2" charset="-122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318953" y="2181571"/>
            <a:ext cx="95567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 dirty="0" smtClean="0">
                <a:solidFill>
                  <a:srgbClr val="720800"/>
                </a:solidFill>
                <a:ea typeface="宋体" pitchFamily="2" charset="-122"/>
              </a:rPr>
              <a:t>第三代</a:t>
            </a:r>
            <a:endParaRPr lang="en-US" altLang="zh-CN" sz="1400" dirty="0" smtClean="0">
              <a:solidFill>
                <a:srgbClr val="720800"/>
              </a:solidFill>
              <a:ea typeface="宋体" pitchFamily="2" charset="-122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black">
          <a:xfrm>
            <a:off x="3477109" y="3973997"/>
            <a:ext cx="17414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20650" indent="-120650">
              <a:spcBef>
                <a:spcPct val="50000"/>
              </a:spcBef>
              <a:buClr>
                <a:srgbClr val="1C1C1C"/>
              </a:buClr>
              <a:buFontTx/>
              <a:buChar char="•"/>
            </a:pPr>
            <a:r>
              <a:rPr lang="zh-CN" altLang="en-US" sz="1600" dirty="0" smtClean="0">
                <a:ea typeface="宋体" pitchFamily="2" charset="-122"/>
              </a:rPr>
              <a:t>实现资料收集追朔</a:t>
            </a:r>
            <a:endParaRPr lang="en-US" altLang="zh-CN" sz="1600" dirty="0" smtClean="0">
              <a:ea typeface="宋体" pitchFamily="2" charset="-122"/>
            </a:endParaRP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black">
          <a:xfrm>
            <a:off x="5176078" y="3307801"/>
            <a:ext cx="1913835" cy="1760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20650" indent="-120650">
              <a:spcBef>
                <a:spcPct val="50000"/>
              </a:spcBef>
              <a:buClr>
                <a:srgbClr val="1C1C1C"/>
              </a:buClr>
              <a:buFontTx/>
              <a:buChar char="•"/>
            </a:pPr>
            <a:r>
              <a:rPr lang="zh-CN" altLang="en-US" sz="1600" dirty="0" smtClean="0">
                <a:ea typeface="宋体" pitchFamily="2" charset="-122"/>
              </a:rPr>
              <a:t>导入</a:t>
            </a:r>
            <a:r>
              <a:rPr lang="en-US" altLang="zh-CN" sz="1600" dirty="0" smtClean="0">
                <a:ea typeface="宋体" pitchFamily="2" charset="-122"/>
              </a:rPr>
              <a:t>FIS</a:t>
            </a:r>
            <a:r>
              <a:rPr lang="zh-CN" altLang="en-US" sz="1600" dirty="0" smtClean="0">
                <a:ea typeface="宋体" pitchFamily="2" charset="-122"/>
              </a:rPr>
              <a:t>系统</a:t>
            </a:r>
            <a:endParaRPr lang="en-US" altLang="zh-CN" sz="16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>
                <a:ea typeface="宋体" pitchFamily="2" charset="-122"/>
              </a:rPr>
              <a:t>      </a:t>
            </a:r>
            <a:r>
              <a:rPr lang="en-US" altLang="zh-CN" sz="1200" dirty="0" smtClean="0">
                <a:ea typeface="宋体" pitchFamily="2" charset="-122"/>
              </a:rPr>
              <a:t>-</a:t>
            </a:r>
            <a:r>
              <a:rPr lang="zh-CN" altLang="en-US" sz="1200" dirty="0" smtClean="0">
                <a:ea typeface="宋体" pitchFamily="2" charset="-122"/>
              </a:rPr>
              <a:t>系统</a:t>
            </a:r>
            <a:r>
              <a:rPr lang="en-US" altLang="zh-CN" sz="1200" dirty="0" smtClean="0">
                <a:ea typeface="宋体" pitchFamily="2" charset="-122"/>
              </a:rPr>
              <a:t>WEB</a:t>
            </a:r>
            <a:r>
              <a:rPr lang="zh-CN" altLang="en-US" sz="1200" dirty="0" smtClean="0">
                <a:ea typeface="宋体" pitchFamily="2" charset="-122"/>
              </a:rPr>
              <a:t>化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</a:t>
            </a:r>
            <a:r>
              <a:rPr lang="zh-CN" altLang="en-US" sz="1200" dirty="0" smtClean="0">
                <a:ea typeface="宋体" pitchFamily="2" charset="-122"/>
              </a:rPr>
              <a:t>实现</a:t>
            </a:r>
            <a:r>
              <a:rPr lang="en-US" altLang="zh-CN" sz="1200" dirty="0" smtClean="0">
                <a:ea typeface="宋体" pitchFamily="2" charset="-122"/>
              </a:rPr>
              <a:t>BOM</a:t>
            </a:r>
            <a:r>
              <a:rPr lang="zh-CN" altLang="en-US" sz="1200" dirty="0" smtClean="0">
                <a:ea typeface="宋体" pitchFamily="2" charset="-122"/>
              </a:rPr>
              <a:t>校验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</a:t>
            </a:r>
            <a:r>
              <a:rPr lang="zh-CN" altLang="en-US" sz="1200" dirty="0" smtClean="0">
                <a:ea typeface="宋体" pitchFamily="2" charset="-122"/>
              </a:rPr>
              <a:t>系统卡站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</a:t>
            </a:r>
            <a:r>
              <a:rPr lang="zh-CN" altLang="en-US" sz="1200" dirty="0" smtClean="0">
                <a:ea typeface="宋体" pitchFamily="2" charset="-122"/>
              </a:rPr>
              <a:t>产品信息追朔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-WIP</a:t>
            </a:r>
            <a:r>
              <a:rPr lang="zh-CN" altLang="en-US" sz="1200" dirty="0" smtClean="0">
                <a:ea typeface="宋体" pitchFamily="2" charset="-122"/>
              </a:rPr>
              <a:t>分析</a:t>
            </a:r>
            <a:r>
              <a:rPr lang="en-US" altLang="zh-CN" sz="1200" dirty="0" smtClean="0">
                <a:ea typeface="宋体" pitchFamily="2" charset="-122"/>
              </a:rPr>
              <a:t>/</a:t>
            </a:r>
            <a:r>
              <a:rPr lang="zh-CN" altLang="en-US" sz="1200" dirty="0" smtClean="0">
                <a:ea typeface="宋体" pitchFamily="2" charset="-122"/>
              </a:rPr>
              <a:t>库位管理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</a:t>
            </a:r>
            <a:r>
              <a:rPr lang="zh-CN" altLang="en-US" sz="1200" dirty="0" smtClean="0">
                <a:ea typeface="宋体" pitchFamily="2" charset="-122"/>
              </a:rPr>
              <a:t>结单管理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 …..</a:t>
            </a:r>
            <a:endParaRPr lang="en-US" altLang="zh-CN" sz="1200" dirty="0">
              <a:ea typeface="宋体" pitchFamily="2" charset="-122"/>
            </a:endParaRPr>
          </a:p>
        </p:txBody>
      </p:sp>
      <p:grpSp>
        <p:nvGrpSpPr>
          <p:cNvPr id="23" name="Group 24"/>
          <p:cNvGrpSpPr>
            <a:grpSpLocks/>
          </p:cNvGrpSpPr>
          <p:nvPr/>
        </p:nvGrpSpPr>
        <p:grpSpPr bwMode="auto">
          <a:xfrm rot="-1297425" flipH="1" flipV="1">
            <a:off x="3363153" y="3113433"/>
            <a:ext cx="1062038" cy="254000"/>
            <a:chOff x="2532" y="1051"/>
            <a:chExt cx="893" cy="246"/>
          </a:xfrm>
        </p:grpSpPr>
        <p:grpSp>
          <p:nvGrpSpPr>
            <p:cNvPr id="24" name="Group 25"/>
            <p:cNvGrpSpPr>
              <a:grpSpLocks/>
            </p:cNvGrpSpPr>
            <p:nvPr/>
          </p:nvGrpSpPr>
          <p:grpSpPr bwMode="auto">
            <a:xfrm>
              <a:off x="2526" y="1060"/>
              <a:ext cx="742" cy="186"/>
              <a:chOff x="1565" y="2568"/>
              <a:chExt cx="1118" cy="279"/>
            </a:xfrm>
          </p:grpSpPr>
          <p:sp>
            <p:nvSpPr>
              <p:cNvPr id="30" name="AutoShape 26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1" name="AutoShape 27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2" name="AutoShape 28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3" name="AutoShape 29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25" name="Group 30"/>
            <p:cNvGrpSpPr>
              <a:grpSpLocks/>
            </p:cNvGrpSpPr>
            <p:nvPr/>
          </p:nvGrpSpPr>
          <p:grpSpPr bwMode="auto">
            <a:xfrm rot="1353540">
              <a:off x="2680" y="1110"/>
              <a:ext cx="742" cy="186"/>
              <a:chOff x="1565" y="2568"/>
              <a:chExt cx="1118" cy="279"/>
            </a:xfrm>
          </p:grpSpPr>
          <p:sp>
            <p:nvSpPr>
              <p:cNvPr id="26" name="AutoShape 31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7" name="AutoShape 32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8" name="AutoShape 33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29" name="AutoShape 34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34" name="Group 35"/>
          <p:cNvGrpSpPr>
            <a:grpSpLocks/>
          </p:cNvGrpSpPr>
          <p:nvPr/>
        </p:nvGrpSpPr>
        <p:grpSpPr bwMode="auto">
          <a:xfrm rot="-1297425" flipH="1" flipV="1">
            <a:off x="5212591" y="2610196"/>
            <a:ext cx="1062037" cy="254000"/>
            <a:chOff x="2532" y="1051"/>
            <a:chExt cx="893" cy="246"/>
          </a:xfrm>
        </p:grpSpPr>
        <p:grpSp>
          <p:nvGrpSpPr>
            <p:cNvPr id="35" name="Group 36"/>
            <p:cNvGrpSpPr>
              <a:grpSpLocks/>
            </p:cNvGrpSpPr>
            <p:nvPr/>
          </p:nvGrpSpPr>
          <p:grpSpPr bwMode="auto">
            <a:xfrm>
              <a:off x="2526" y="1060"/>
              <a:ext cx="742" cy="186"/>
              <a:chOff x="1565" y="2568"/>
              <a:chExt cx="1118" cy="279"/>
            </a:xfrm>
          </p:grpSpPr>
          <p:sp>
            <p:nvSpPr>
              <p:cNvPr id="41" name="AutoShape 37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2" name="AutoShape 38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3" name="AutoShape 39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4" name="AutoShape 40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36" name="Group 41"/>
            <p:cNvGrpSpPr>
              <a:grpSpLocks/>
            </p:cNvGrpSpPr>
            <p:nvPr/>
          </p:nvGrpSpPr>
          <p:grpSpPr bwMode="auto">
            <a:xfrm rot="1353540">
              <a:off x="2680" y="1110"/>
              <a:ext cx="742" cy="186"/>
              <a:chOff x="1565" y="2568"/>
              <a:chExt cx="1118" cy="279"/>
            </a:xfrm>
          </p:grpSpPr>
          <p:sp>
            <p:nvSpPr>
              <p:cNvPr id="37" name="AutoShape 42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8" name="AutoShape 43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9" name="AutoShape 44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0" name="AutoShape 45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45" name="Rectangle 47"/>
          <p:cNvSpPr>
            <a:spLocks noChangeArrowheads="1"/>
          </p:cNvSpPr>
          <p:nvPr/>
        </p:nvSpPr>
        <p:spPr bwMode="gray">
          <a:xfrm>
            <a:off x="6947728" y="2692746"/>
            <a:ext cx="1835150" cy="4318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TW" altLang="en-US">
              <a:ea typeface="宋体" pitchFamily="2" charset="-122"/>
            </a:endParaRPr>
          </a:p>
        </p:txBody>
      </p:sp>
      <p:sp>
        <p:nvSpPr>
          <p:cNvPr id="46" name="AutoShape 48"/>
          <p:cNvSpPr>
            <a:spLocks noChangeArrowheads="1"/>
          </p:cNvSpPr>
          <p:nvPr/>
        </p:nvSpPr>
        <p:spPr bwMode="gray">
          <a:xfrm flipH="1">
            <a:off x="6334953" y="2037108"/>
            <a:ext cx="2438400" cy="657225"/>
          </a:xfrm>
          <a:prstGeom prst="parallelogram">
            <a:avLst>
              <a:gd name="adj" fmla="val 92256"/>
            </a:avLst>
          </a:prstGeom>
          <a:gradFill rotWithShape="1">
            <a:gsLst>
              <a:gs pos="0">
                <a:schemeClr val="accent2">
                  <a:gamma/>
                  <a:tint val="54510"/>
                  <a:invGamma/>
                  <a:alpha val="82001"/>
                </a:schemeClr>
              </a:gs>
              <a:gs pos="100000">
                <a:schemeClr val="accent2">
                  <a:alpha val="50000"/>
                </a:schemeClr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7" name="Freeform 49"/>
          <p:cNvSpPr>
            <a:spLocks/>
          </p:cNvSpPr>
          <p:nvPr/>
        </p:nvSpPr>
        <p:spPr bwMode="gray">
          <a:xfrm>
            <a:off x="6331778" y="2032346"/>
            <a:ext cx="615950" cy="1163637"/>
          </a:xfrm>
          <a:custGeom>
            <a:avLst/>
            <a:gdLst/>
            <a:ahLst/>
            <a:cxnLst>
              <a:cxn ang="0">
                <a:pos x="0" y="167"/>
              </a:cxn>
              <a:cxn ang="0">
                <a:pos x="201" y="370"/>
              </a:cxn>
              <a:cxn ang="0">
                <a:pos x="201" y="210"/>
              </a:cxn>
              <a:cxn ang="0">
                <a:pos x="0" y="0"/>
              </a:cxn>
              <a:cxn ang="0">
                <a:pos x="0" y="167"/>
              </a:cxn>
            </a:cxnLst>
            <a:rect l="0" t="0" r="r" b="b"/>
            <a:pathLst>
              <a:path w="201" h="370">
                <a:moveTo>
                  <a:pt x="0" y="167"/>
                </a:moveTo>
                <a:lnTo>
                  <a:pt x="201" y="370"/>
                </a:lnTo>
                <a:lnTo>
                  <a:pt x="201" y="210"/>
                </a:lnTo>
                <a:lnTo>
                  <a:pt x="0" y="0"/>
                </a:lnTo>
                <a:lnTo>
                  <a:pt x="0" y="167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alpha val="80000"/>
                </a:schemeClr>
              </a:gs>
              <a:gs pos="100000">
                <a:schemeClr val="accent2">
                  <a:gamma/>
                  <a:tint val="48627"/>
                  <a:invGamma/>
                </a:scheme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pic>
        <p:nvPicPr>
          <p:cNvPr id="48" name="Picture 50" descr="light_shadow"/>
          <p:cNvPicPr>
            <a:picLocks noChangeAspect="1" noChangeArrowheads="1"/>
          </p:cNvPicPr>
          <p:nvPr/>
        </p:nvPicPr>
        <p:blipFill>
          <a:blip r:embed="rId2" cstate="print">
            <a:lum bright="-76000" contrast="-4000"/>
            <a:grayscl/>
          </a:blip>
          <a:srcRect/>
          <a:stretch>
            <a:fillRect/>
          </a:stretch>
        </p:blipFill>
        <p:spPr bwMode="gray">
          <a:xfrm>
            <a:off x="1552782" y="3590995"/>
            <a:ext cx="1008062" cy="280987"/>
          </a:xfrm>
          <a:prstGeom prst="rect">
            <a:avLst/>
          </a:prstGeom>
          <a:noFill/>
        </p:spPr>
      </p:pic>
      <p:pic>
        <p:nvPicPr>
          <p:cNvPr id="49" name="Picture 51" descr="circuler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465469" y="2630557"/>
            <a:ext cx="1152525" cy="1139825"/>
          </a:xfrm>
          <a:prstGeom prst="rect">
            <a:avLst/>
          </a:prstGeom>
          <a:noFill/>
        </p:spPr>
      </p:pic>
      <p:sp>
        <p:nvSpPr>
          <p:cNvPr id="50" name="Oval 52"/>
          <p:cNvSpPr>
            <a:spLocks noChangeArrowheads="1"/>
          </p:cNvSpPr>
          <p:nvPr/>
        </p:nvSpPr>
        <p:spPr bwMode="gray">
          <a:xfrm>
            <a:off x="1465469" y="2630557"/>
            <a:ext cx="1144588" cy="1143000"/>
          </a:xfrm>
          <a:prstGeom prst="ellipse">
            <a:avLst/>
          </a:prstGeom>
          <a:gradFill rotWithShape="1">
            <a:gsLst>
              <a:gs pos="0">
                <a:srgbClr val="66FFFF">
                  <a:gamma/>
                  <a:shade val="26275"/>
                  <a:invGamma/>
                  <a:alpha val="89999"/>
                </a:srgbClr>
              </a:gs>
              <a:gs pos="50000">
                <a:srgbClr val="66FFFF">
                  <a:alpha val="45000"/>
                </a:srgbClr>
              </a:gs>
              <a:gs pos="100000">
                <a:srgbClr val="66FFFF">
                  <a:gamma/>
                  <a:shade val="26275"/>
                  <a:invGamma/>
                  <a:alpha val="89999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" name="Freeform 53"/>
          <p:cNvSpPr>
            <a:spLocks/>
          </p:cNvSpPr>
          <p:nvPr/>
        </p:nvSpPr>
        <p:spPr bwMode="gray">
          <a:xfrm>
            <a:off x="1584532" y="2654370"/>
            <a:ext cx="898525" cy="395287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66FFFF">
                  <a:alpha val="17999"/>
                </a:srgbClr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Box 54"/>
          <p:cNvSpPr txBox="1">
            <a:spLocks noChangeArrowheads="1"/>
          </p:cNvSpPr>
          <p:nvPr/>
        </p:nvSpPr>
        <p:spPr bwMode="auto">
          <a:xfrm>
            <a:off x="1614694" y="3052832"/>
            <a:ext cx="955675" cy="63094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 dirty="0" smtClean="0">
                <a:solidFill>
                  <a:srgbClr val="720800"/>
                </a:solidFill>
                <a:ea typeface="宋体" pitchFamily="2" charset="-122"/>
              </a:rPr>
              <a:t>第一代</a:t>
            </a:r>
            <a:endParaRPr lang="en-US" altLang="zh-CN" sz="1400" dirty="0" smtClean="0">
              <a:solidFill>
                <a:srgbClr val="720800"/>
              </a:solidFill>
              <a:ea typeface="宋体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400" dirty="0" smtClean="0">
                <a:solidFill>
                  <a:srgbClr val="FF0000"/>
                </a:solidFill>
                <a:ea typeface="宋体" pitchFamily="2" charset="-122"/>
              </a:rPr>
              <a:t>1995</a:t>
            </a:r>
            <a:r>
              <a:rPr lang="zh-CN" altLang="en-US" sz="1400" dirty="0" smtClean="0">
                <a:solidFill>
                  <a:srgbClr val="FF0000"/>
                </a:solidFill>
                <a:ea typeface="宋体" pitchFamily="2" charset="-122"/>
              </a:rPr>
              <a:t>年</a:t>
            </a:r>
            <a:endParaRPr lang="en-US" altLang="zh-CN" sz="1400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53" name="Text Box 55"/>
          <p:cNvSpPr txBox="1">
            <a:spLocks noChangeArrowheads="1"/>
          </p:cNvSpPr>
          <p:nvPr/>
        </p:nvSpPr>
        <p:spPr bwMode="black">
          <a:xfrm>
            <a:off x="7011228" y="3026121"/>
            <a:ext cx="1762125" cy="131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20650" indent="-120650">
              <a:spcBef>
                <a:spcPct val="50000"/>
              </a:spcBef>
              <a:buClr>
                <a:srgbClr val="1C1C1C"/>
              </a:buClr>
              <a:buFontTx/>
              <a:buChar char="•"/>
            </a:pPr>
            <a:r>
              <a:rPr lang="zh-CN" altLang="en-US" sz="1600" dirty="0" smtClean="0">
                <a:ea typeface="宋体" pitchFamily="2" charset="-122"/>
              </a:rPr>
              <a:t>导入</a:t>
            </a:r>
            <a:r>
              <a:rPr lang="en-US" altLang="zh-CN" sz="1600" dirty="0" smtClean="0">
                <a:ea typeface="宋体" pitchFamily="2" charset="-122"/>
              </a:rPr>
              <a:t>IMES</a:t>
            </a:r>
            <a:r>
              <a:rPr lang="zh-CN" altLang="en-US" sz="1600" dirty="0" smtClean="0">
                <a:ea typeface="宋体" pitchFamily="2" charset="-122"/>
              </a:rPr>
              <a:t>系统</a:t>
            </a:r>
            <a:endParaRPr lang="en-US" altLang="zh-CN" sz="16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000" dirty="0">
                <a:ea typeface="宋体" pitchFamily="2" charset="-122"/>
              </a:rPr>
              <a:t>      </a:t>
            </a:r>
            <a:r>
              <a:rPr lang="en-US" altLang="zh-CN" sz="1200" dirty="0" smtClean="0">
                <a:ea typeface="宋体" pitchFamily="2" charset="-122"/>
              </a:rPr>
              <a:t>-  </a:t>
            </a:r>
            <a:r>
              <a:rPr lang="zh-CN" altLang="en-US" sz="1200" dirty="0" smtClean="0">
                <a:ea typeface="宋体" pitchFamily="2" charset="-122"/>
              </a:rPr>
              <a:t>功能模组化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 </a:t>
            </a:r>
            <a:r>
              <a:rPr lang="zh-CN" altLang="en-US" sz="1200" dirty="0" smtClean="0">
                <a:ea typeface="宋体" pitchFamily="2" charset="-122"/>
              </a:rPr>
              <a:t>流程管控更严谨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 </a:t>
            </a:r>
            <a:r>
              <a:rPr lang="zh-CN" altLang="en-US" sz="1200" dirty="0" smtClean="0">
                <a:ea typeface="宋体" pitchFamily="2" charset="-122"/>
              </a:rPr>
              <a:t>提升产品可追朔性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 eaLnBrk="0" hangingPunct="0"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 </a:t>
            </a:r>
            <a:r>
              <a:rPr lang="zh-CN" altLang="en-US" sz="1200" dirty="0" smtClean="0">
                <a:ea typeface="宋体" pitchFamily="2" charset="-122"/>
              </a:rPr>
              <a:t>系统功能可配置</a:t>
            </a:r>
            <a:endParaRPr lang="en-US" altLang="zh-CN" sz="1200" dirty="0" smtClean="0">
              <a:ea typeface="宋体" pitchFamily="2" charset="-122"/>
            </a:endParaRPr>
          </a:p>
          <a:p>
            <a:pPr marL="120650" indent="-120650" eaLnBrk="0" hangingPunct="0">
              <a:buClr>
                <a:srgbClr val="1C1C1C"/>
              </a:buClr>
            </a:pPr>
            <a:r>
              <a:rPr lang="en-US" altLang="zh-CN" sz="1200" dirty="0" smtClean="0">
                <a:ea typeface="宋体" pitchFamily="2" charset="-122"/>
              </a:rPr>
              <a:t>      - </a:t>
            </a:r>
            <a:r>
              <a:rPr lang="zh-CN" altLang="en-US" sz="1200" dirty="0" smtClean="0">
                <a:ea typeface="宋体" pitchFamily="2" charset="-122"/>
              </a:rPr>
              <a:t>提升系统稳定性</a:t>
            </a:r>
            <a:endParaRPr lang="en-US" altLang="zh-CN" sz="1200" dirty="0" smtClean="0">
              <a:ea typeface="宋体" pitchFamily="2" charset="-122"/>
            </a:endParaRPr>
          </a:p>
        </p:txBody>
      </p:sp>
      <p:grpSp>
        <p:nvGrpSpPr>
          <p:cNvPr id="54" name="Group 56"/>
          <p:cNvGrpSpPr>
            <a:grpSpLocks/>
          </p:cNvGrpSpPr>
          <p:nvPr/>
        </p:nvGrpSpPr>
        <p:grpSpPr bwMode="auto">
          <a:xfrm rot="-1297425" flipH="1" flipV="1">
            <a:off x="1508332" y="3481457"/>
            <a:ext cx="1062037" cy="254000"/>
            <a:chOff x="2532" y="1051"/>
            <a:chExt cx="893" cy="246"/>
          </a:xfrm>
        </p:grpSpPr>
        <p:grpSp>
          <p:nvGrpSpPr>
            <p:cNvPr id="55" name="Group 57"/>
            <p:cNvGrpSpPr>
              <a:grpSpLocks/>
            </p:cNvGrpSpPr>
            <p:nvPr/>
          </p:nvGrpSpPr>
          <p:grpSpPr bwMode="auto">
            <a:xfrm>
              <a:off x="2526" y="1060"/>
              <a:ext cx="742" cy="186"/>
              <a:chOff x="1565" y="2568"/>
              <a:chExt cx="1118" cy="279"/>
            </a:xfrm>
          </p:grpSpPr>
          <p:sp>
            <p:nvSpPr>
              <p:cNvPr id="61" name="AutoShape 58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2" name="AutoShape 59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3" name="AutoShape 60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4" name="AutoShape 61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56" name="Group 62"/>
            <p:cNvGrpSpPr>
              <a:grpSpLocks/>
            </p:cNvGrpSpPr>
            <p:nvPr/>
          </p:nvGrpSpPr>
          <p:grpSpPr bwMode="auto">
            <a:xfrm rot="1353540">
              <a:off x="2680" y="1110"/>
              <a:ext cx="742" cy="186"/>
              <a:chOff x="1565" y="2568"/>
              <a:chExt cx="1118" cy="279"/>
            </a:xfrm>
          </p:grpSpPr>
          <p:sp>
            <p:nvSpPr>
              <p:cNvPr id="57" name="AutoShape 63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8" name="AutoShape 64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9" name="AutoShape 65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0" name="AutoShape 66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65" name="Freeform 67"/>
          <p:cNvSpPr>
            <a:spLocks/>
          </p:cNvSpPr>
          <p:nvPr/>
        </p:nvSpPr>
        <p:spPr bwMode="gray">
          <a:xfrm>
            <a:off x="873953" y="3540471"/>
            <a:ext cx="612775" cy="1130300"/>
          </a:xfrm>
          <a:custGeom>
            <a:avLst/>
            <a:gdLst/>
            <a:ahLst/>
            <a:cxnLst>
              <a:cxn ang="0">
                <a:pos x="3" y="292"/>
              </a:cxn>
              <a:cxn ang="0">
                <a:pos x="386" y="712"/>
              </a:cxn>
              <a:cxn ang="0">
                <a:pos x="386" y="404"/>
              </a:cxn>
              <a:cxn ang="0">
                <a:pos x="0" y="0"/>
              </a:cxn>
              <a:cxn ang="0">
                <a:pos x="3" y="292"/>
              </a:cxn>
            </a:cxnLst>
            <a:rect l="0" t="0" r="r" b="b"/>
            <a:pathLst>
              <a:path w="386" h="712">
                <a:moveTo>
                  <a:pt x="3" y="292"/>
                </a:moveTo>
                <a:lnTo>
                  <a:pt x="386" y="712"/>
                </a:lnTo>
                <a:lnTo>
                  <a:pt x="386" y="404"/>
                </a:lnTo>
                <a:lnTo>
                  <a:pt x="0" y="0"/>
                </a:lnTo>
                <a:lnTo>
                  <a:pt x="3" y="292"/>
                </a:lnTo>
                <a:close/>
              </a:path>
            </a:pathLst>
          </a:custGeom>
          <a:gradFill rotWithShape="1">
            <a:gsLst>
              <a:gs pos="0">
                <a:srgbClr val="CEE6D0">
                  <a:gamma/>
                  <a:shade val="46275"/>
                  <a:invGamma/>
                </a:srgbClr>
              </a:gs>
              <a:gs pos="100000">
                <a:srgbClr val="CEE6D0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pic>
        <p:nvPicPr>
          <p:cNvPr id="66" name="Picture 68" descr="light_shadow"/>
          <p:cNvPicPr>
            <a:picLocks noChangeAspect="1" noChangeArrowheads="1"/>
          </p:cNvPicPr>
          <p:nvPr/>
        </p:nvPicPr>
        <p:blipFill>
          <a:blip r:embed="rId2" cstate="print">
            <a:lum bright="-76000" contrast="-4000"/>
            <a:grayscl/>
          </a:blip>
          <a:srcRect/>
          <a:stretch>
            <a:fillRect/>
          </a:stretch>
        </p:blipFill>
        <p:spPr bwMode="gray">
          <a:xfrm>
            <a:off x="7091293" y="2086252"/>
            <a:ext cx="1008063" cy="280988"/>
          </a:xfrm>
          <a:prstGeom prst="rect">
            <a:avLst/>
          </a:prstGeom>
          <a:noFill/>
        </p:spPr>
      </p:pic>
      <p:pic>
        <p:nvPicPr>
          <p:cNvPr id="67" name="Picture 69" descr="circuler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003981" y="1125815"/>
            <a:ext cx="1152525" cy="1139825"/>
          </a:xfrm>
          <a:prstGeom prst="rect">
            <a:avLst/>
          </a:prstGeom>
          <a:noFill/>
        </p:spPr>
      </p:pic>
      <p:sp>
        <p:nvSpPr>
          <p:cNvPr id="68" name="Oval 70"/>
          <p:cNvSpPr>
            <a:spLocks noChangeArrowheads="1"/>
          </p:cNvSpPr>
          <p:nvPr/>
        </p:nvSpPr>
        <p:spPr bwMode="gray">
          <a:xfrm>
            <a:off x="7003981" y="1125815"/>
            <a:ext cx="1144587" cy="1143000"/>
          </a:xfrm>
          <a:prstGeom prst="ellipse">
            <a:avLst/>
          </a:prstGeom>
          <a:gradFill rotWithShape="1">
            <a:gsLst>
              <a:gs pos="0">
                <a:schemeClr val="accent2">
                  <a:gamma/>
                  <a:shade val="66275"/>
                  <a:invGamma/>
                  <a:alpha val="89999"/>
                </a:schemeClr>
              </a:gs>
              <a:gs pos="50000">
                <a:schemeClr val="accent2">
                  <a:alpha val="45000"/>
                </a:schemeClr>
              </a:gs>
              <a:gs pos="100000">
                <a:schemeClr val="accent2">
                  <a:gamma/>
                  <a:shade val="66275"/>
                  <a:invGamma/>
                  <a:alpha val="89999"/>
                </a:scheme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" name="Freeform 71"/>
          <p:cNvSpPr>
            <a:spLocks/>
          </p:cNvSpPr>
          <p:nvPr/>
        </p:nvSpPr>
        <p:spPr bwMode="gray">
          <a:xfrm>
            <a:off x="7123043" y="1149627"/>
            <a:ext cx="898525" cy="395288"/>
          </a:xfrm>
          <a:custGeom>
            <a:avLst/>
            <a:gdLst/>
            <a:ahLst/>
            <a:cxnLst>
              <a:cxn ang="0">
                <a:pos x="1301" y="401"/>
              </a:cxn>
              <a:cxn ang="0">
                <a:pos x="1317" y="442"/>
              </a:cxn>
              <a:cxn ang="0">
                <a:pos x="1321" y="481"/>
              </a:cxn>
              <a:cxn ang="0">
                <a:pos x="1315" y="516"/>
              </a:cxn>
              <a:cxn ang="0">
                <a:pos x="1298" y="550"/>
              </a:cxn>
              <a:cxn ang="0">
                <a:pos x="1272" y="579"/>
              </a:cxn>
              <a:cxn ang="0">
                <a:pos x="1239" y="604"/>
              </a:cxn>
              <a:cxn ang="0">
                <a:pos x="1196" y="628"/>
              </a:cxn>
              <a:cxn ang="0">
                <a:pos x="1147" y="649"/>
              </a:cxn>
              <a:cxn ang="0">
                <a:pos x="1092" y="667"/>
              </a:cxn>
              <a:cxn ang="0">
                <a:pos x="1031" y="683"/>
              </a:cxn>
              <a:cxn ang="0">
                <a:pos x="967" y="694"/>
              </a:cxn>
              <a:cxn ang="0">
                <a:pos x="896" y="704"/>
              </a:cxn>
              <a:cxn ang="0">
                <a:pos x="824" y="710"/>
              </a:cxn>
              <a:cxn ang="0">
                <a:pos x="795" y="712"/>
              </a:cxn>
              <a:cxn ang="0">
                <a:pos x="476" y="712"/>
              </a:cxn>
              <a:cxn ang="0">
                <a:pos x="472" y="712"/>
              </a:cxn>
              <a:cxn ang="0">
                <a:pos x="409" y="708"/>
              </a:cxn>
              <a:cxn ang="0">
                <a:pos x="348" y="704"/>
              </a:cxn>
              <a:cxn ang="0">
                <a:pos x="290" y="696"/>
              </a:cxn>
              <a:cxn ang="0">
                <a:pos x="235" y="689"/>
              </a:cxn>
              <a:cxn ang="0">
                <a:pos x="186" y="677"/>
              </a:cxn>
              <a:cxn ang="0">
                <a:pos x="141" y="663"/>
              </a:cxn>
              <a:cxn ang="0">
                <a:pos x="102" y="648"/>
              </a:cxn>
              <a:cxn ang="0">
                <a:pos x="67" y="630"/>
              </a:cxn>
              <a:cxn ang="0">
                <a:pos x="39" y="608"/>
              </a:cxn>
              <a:cxn ang="0">
                <a:pos x="18" y="583"/>
              </a:cxn>
              <a:cxn ang="0">
                <a:pos x="6" y="554"/>
              </a:cxn>
              <a:cxn ang="0">
                <a:pos x="0" y="524"/>
              </a:cxn>
              <a:cxn ang="0">
                <a:pos x="0" y="520"/>
              </a:cxn>
              <a:cxn ang="0">
                <a:pos x="4" y="487"/>
              </a:cxn>
              <a:cxn ang="0">
                <a:pos x="16" y="446"/>
              </a:cxn>
              <a:cxn ang="0">
                <a:pos x="51" y="370"/>
              </a:cxn>
              <a:cxn ang="0">
                <a:pos x="94" y="299"/>
              </a:cxn>
              <a:cxn ang="0">
                <a:pos x="147" y="235"/>
              </a:cxn>
              <a:cxn ang="0">
                <a:pos x="204" y="176"/>
              </a:cxn>
              <a:cxn ang="0">
                <a:pos x="270" y="125"/>
              </a:cxn>
              <a:cxn ang="0">
                <a:pos x="341" y="82"/>
              </a:cxn>
              <a:cxn ang="0">
                <a:pos x="415" y="47"/>
              </a:cxn>
              <a:cxn ang="0">
                <a:pos x="497" y="21"/>
              </a:cxn>
              <a:cxn ang="0">
                <a:pos x="581" y="6"/>
              </a:cxn>
              <a:cxn ang="0">
                <a:pos x="667" y="0"/>
              </a:cxn>
              <a:cxn ang="0">
                <a:pos x="667" y="0"/>
              </a:cxn>
              <a:cxn ang="0">
                <a:pos x="759" y="6"/>
              </a:cxn>
              <a:cxn ang="0">
                <a:pos x="847" y="23"/>
              </a:cxn>
              <a:cxn ang="0">
                <a:pos x="932" y="53"/>
              </a:cxn>
              <a:cxn ang="0">
                <a:pos x="1010" y="90"/>
              </a:cxn>
              <a:cxn ang="0">
                <a:pos x="1082" y="137"/>
              </a:cxn>
              <a:cxn ang="0">
                <a:pos x="1149" y="194"/>
              </a:cxn>
              <a:cxn ang="0">
                <a:pos x="1208" y="256"/>
              </a:cxn>
              <a:cxn ang="0">
                <a:pos x="1258" y="325"/>
              </a:cxn>
              <a:cxn ang="0">
                <a:pos x="1301" y="401"/>
              </a:cxn>
              <a:cxn ang="0">
                <a:pos x="1301" y="401"/>
              </a:cxn>
            </a:cxnLst>
            <a:rect l="0" t="0" r="r" b="b"/>
            <a:pathLst>
              <a:path w="1321" h="712">
                <a:moveTo>
                  <a:pt x="1301" y="401"/>
                </a:moveTo>
                <a:lnTo>
                  <a:pt x="1317" y="442"/>
                </a:lnTo>
                <a:lnTo>
                  <a:pt x="1321" y="481"/>
                </a:lnTo>
                <a:lnTo>
                  <a:pt x="1315" y="516"/>
                </a:lnTo>
                <a:lnTo>
                  <a:pt x="1298" y="550"/>
                </a:lnTo>
                <a:lnTo>
                  <a:pt x="1272" y="579"/>
                </a:lnTo>
                <a:lnTo>
                  <a:pt x="1239" y="604"/>
                </a:lnTo>
                <a:lnTo>
                  <a:pt x="1196" y="628"/>
                </a:lnTo>
                <a:lnTo>
                  <a:pt x="1147" y="649"/>
                </a:lnTo>
                <a:lnTo>
                  <a:pt x="1092" y="667"/>
                </a:lnTo>
                <a:lnTo>
                  <a:pt x="1031" y="683"/>
                </a:lnTo>
                <a:lnTo>
                  <a:pt x="967" y="694"/>
                </a:lnTo>
                <a:lnTo>
                  <a:pt x="896" y="704"/>
                </a:lnTo>
                <a:lnTo>
                  <a:pt x="824" y="710"/>
                </a:lnTo>
                <a:lnTo>
                  <a:pt x="795" y="712"/>
                </a:lnTo>
                <a:lnTo>
                  <a:pt x="476" y="712"/>
                </a:lnTo>
                <a:lnTo>
                  <a:pt x="472" y="712"/>
                </a:lnTo>
                <a:lnTo>
                  <a:pt x="409" y="708"/>
                </a:lnTo>
                <a:lnTo>
                  <a:pt x="348" y="704"/>
                </a:lnTo>
                <a:lnTo>
                  <a:pt x="290" y="696"/>
                </a:lnTo>
                <a:lnTo>
                  <a:pt x="235" y="689"/>
                </a:lnTo>
                <a:lnTo>
                  <a:pt x="186" y="677"/>
                </a:lnTo>
                <a:lnTo>
                  <a:pt x="141" y="663"/>
                </a:lnTo>
                <a:lnTo>
                  <a:pt x="102" y="648"/>
                </a:lnTo>
                <a:lnTo>
                  <a:pt x="67" y="630"/>
                </a:lnTo>
                <a:lnTo>
                  <a:pt x="39" y="608"/>
                </a:lnTo>
                <a:lnTo>
                  <a:pt x="18" y="583"/>
                </a:lnTo>
                <a:lnTo>
                  <a:pt x="6" y="554"/>
                </a:lnTo>
                <a:lnTo>
                  <a:pt x="0" y="524"/>
                </a:lnTo>
                <a:lnTo>
                  <a:pt x="0" y="520"/>
                </a:lnTo>
                <a:lnTo>
                  <a:pt x="4" y="487"/>
                </a:lnTo>
                <a:lnTo>
                  <a:pt x="16" y="446"/>
                </a:lnTo>
                <a:lnTo>
                  <a:pt x="51" y="370"/>
                </a:lnTo>
                <a:lnTo>
                  <a:pt x="94" y="299"/>
                </a:lnTo>
                <a:lnTo>
                  <a:pt x="147" y="235"/>
                </a:lnTo>
                <a:lnTo>
                  <a:pt x="204" y="176"/>
                </a:lnTo>
                <a:lnTo>
                  <a:pt x="270" y="125"/>
                </a:lnTo>
                <a:lnTo>
                  <a:pt x="341" y="82"/>
                </a:lnTo>
                <a:lnTo>
                  <a:pt x="415" y="47"/>
                </a:lnTo>
                <a:lnTo>
                  <a:pt x="497" y="21"/>
                </a:lnTo>
                <a:lnTo>
                  <a:pt x="581" y="6"/>
                </a:lnTo>
                <a:lnTo>
                  <a:pt x="667" y="0"/>
                </a:lnTo>
                <a:lnTo>
                  <a:pt x="667" y="0"/>
                </a:lnTo>
                <a:lnTo>
                  <a:pt x="759" y="6"/>
                </a:lnTo>
                <a:lnTo>
                  <a:pt x="847" y="23"/>
                </a:lnTo>
                <a:lnTo>
                  <a:pt x="932" y="53"/>
                </a:lnTo>
                <a:lnTo>
                  <a:pt x="1010" y="90"/>
                </a:lnTo>
                <a:lnTo>
                  <a:pt x="1082" y="137"/>
                </a:lnTo>
                <a:lnTo>
                  <a:pt x="1149" y="194"/>
                </a:lnTo>
                <a:lnTo>
                  <a:pt x="1208" y="256"/>
                </a:lnTo>
                <a:lnTo>
                  <a:pt x="1258" y="325"/>
                </a:lnTo>
                <a:lnTo>
                  <a:pt x="1301" y="401"/>
                </a:lnTo>
                <a:lnTo>
                  <a:pt x="1301" y="401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2">
                  <a:alpha val="17999"/>
                </a:schemeClr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Box 72"/>
          <p:cNvSpPr txBox="1">
            <a:spLocks noChangeArrowheads="1"/>
          </p:cNvSpPr>
          <p:nvPr/>
        </p:nvSpPr>
        <p:spPr bwMode="auto">
          <a:xfrm>
            <a:off x="7148443" y="1557615"/>
            <a:ext cx="955675" cy="63094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400" dirty="0" smtClean="0">
                <a:solidFill>
                  <a:srgbClr val="720800"/>
                </a:solidFill>
                <a:ea typeface="宋体" pitchFamily="2" charset="-122"/>
              </a:rPr>
              <a:t>第四代</a:t>
            </a:r>
            <a:endParaRPr lang="en-US" altLang="zh-CN" sz="1400" dirty="0" smtClean="0">
              <a:solidFill>
                <a:srgbClr val="720800"/>
              </a:solidFill>
              <a:ea typeface="宋体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400" dirty="0" smtClean="0">
                <a:solidFill>
                  <a:srgbClr val="FF0000"/>
                </a:solidFill>
                <a:ea typeface="宋体" pitchFamily="2" charset="-122"/>
              </a:rPr>
              <a:t>2014</a:t>
            </a:r>
            <a:r>
              <a:rPr lang="zh-CN" altLang="en-US" sz="1400" dirty="0" smtClean="0">
                <a:solidFill>
                  <a:srgbClr val="FF0000"/>
                </a:solidFill>
                <a:ea typeface="宋体" pitchFamily="2" charset="-122"/>
              </a:rPr>
              <a:t>年</a:t>
            </a:r>
            <a:endParaRPr lang="en-US" altLang="zh-CN" sz="1400" dirty="0">
              <a:solidFill>
                <a:srgbClr val="FF0000"/>
              </a:solidFill>
              <a:ea typeface="宋体" pitchFamily="2" charset="-122"/>
            </a:endParaRPr>
          </a:p>
        </p:txBody>
      </p:sp>
      <p:grpSp>
        <p:nvGrpSpPr>
          <p:cNvPr id="71" name="Group 73"/>
          <p:cNvGrpSpPr>
            <a:grpSpLocks/>
          </p:cNvGrpSpPr>
          <p:nvPr/>
        </p:nvGrpSpPr>
        <p:grpSpPr bwMode="auto">
          <a:xfrm rot="-1297425" flipH="1" flipV="1">
            <a:off x="1539116" y="3556346"/>
            <a:ext cx="1062037" cy="254000"/>
            <a:chOff x="2532" y="1051"/>
            <a:chExt cx="893" cy="246"/>
          </a:xfrm>
        </p:grpSpPr>
        <p:grpSp>
          <p:nvGrpSpPr>
            <p:cNvPr id="72" name="Group 74"/>
            <p:cNvGrpSpPr>
              <a:grpSpLocks/>
            </p:cNvGrpSpPr>
            <p:nvPr/>
          </p:nvGrpSpPr>
          <p:grpSpPr bwMode="auto">
            <a:xfrm>
              <a:off x="2526" y="1060"/>
              <a:ext cx="742" cy="186"/>
              <a:chOff x="1565" y="2568"/>
              <a:chExt cx="1118" cy="279"/>
            </a:xfrm>
          </p:grpSpPr>
          <p:sp>
            <p:nvSpPr>
              <p:cNvPr id="78" name="AutoShape 75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9" name="AutoShape 76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80" name="AutoShape 77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81" name="AutoShape 78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3" name="Group 79"/>
            <p:cNvGrpSpPr>
              <a:grpSpLocks/>
            </p:cNvGrpSpPr>
            <p:nvPr/>
          </p:nvGrpSpPr>
          <p:grpSpPr bwMode="auto">
            <a:xfrm rot="1353540">
              <a:off x="2680" y="1110"/>
              <a:ext cx="742" cy="186"/>
              <a:chOff x="1565" y="2568"/>
              <a:chExt cx="1118" cy="279"/>
            </a:xfrm>
          </p:grpSpPr>
          <p:sp>
            <p:nvSpPr>
              <p:cNvPr id="74" name="AutoShape 80"/>
              <p:cNvSpPr>
                <a:spLocks noChangeArrowheads="1"/>
              </p:cNvSpPr>
              <p:nvPr/>
            </p:nvSpPr>
            <p:spPr bwMode="white">
              <a:xfrm rot="5263130">
                <a:off x="1859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5" name="AutoShape 81"/>
              <p:cNvSpPr>
                <a:spLocks noChangeArrowheads="1"/>
              </p:cNvSpPr>
              <p:nvPr/>
            </p:nvSpPr>
            <p:spPr bwMode="white">
              <a:xfrm rot="6078281">
                <a:off x="1995" y="2274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" name="AutoShape 82"/>
              <p:cNvSpPr>
                <a:spLocks noChangeArrowheads="1"/>
              </p:cNvSpPr>
              <p:nvPr/>
            </p:nvSpPr>
            <p:spPr bwMode="white">
              <a:xfrm rot="6373927">
                <a:off x="2071" y="229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7" name="AutoShape 83"/>
              <p:cNvSpPr>
                <a:spLocks noChangeArrowheads="1"/>
              </p:cNvSpPr>
              <p:nvPr/>
            </p:nvSpPr>
            <p:spPr bwMode="white">
              <a:xfrm rot="6906312">
                <a:off x="2161" y="2326"/>
                <a:ext cx="227" cy="816"/>
              </a:xfrm>
              <a:prstGeom prst="moon">
                <a:avLst>
                  <a:gd name="adj" fmla="val 49773"/>
                </a:avLst>
              </a:prstGeom>
              <a:solidFill>
                <a:srgbClr val="5F5F5F">
                  <a:alpha val="3999"/>
                </a:srgb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82" name="Text Box 22"/>
          <p:cNvSpPr txBox="1">
            <a:spLocks noChangeArrowheads="1"/>
          </p:cNvSpPr>
          <p:nvPr/>
        </p:nvSpPr>
        <p:spPr bwMode="black">
          <a:xfrm>
            <a:off x="1462778" y="4398066"/>
            <a:ext cx="1741487" cy="515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20650" indent="-120650">
              <a:spcBef>
                <a:spcPct val="50000"/>
              </a:spcBef>
              <a:buClr>
                <a:srgbClr val="1C1C1C"/>
              </a:buClr>
              <a:buFontTx/>
              <a:buChar char="•"/>
            </a:pPr>
            <a:r>
              <a:rPr lang="zh-CN" altLang="en-US" sz="1600" b="1" dirty="0" smtClean="0">
                <a:ea typeface="宋体" pitchFamily="2" charset="-122"/>
              </a:rPr>
              <a:t>产品标识条码化</a:t>
            </a:r>
            <a:endParaRPr lang="en-US" altLang="zh-CN" sz="1600" b="1" dirty="0">
              <a:ea typeface="宋体" pitchFamily="2" charset="-122"/>
            </a:endParaRPr>
          </a:p>
          <a:p>
            <a:pPr marL="120650" indent="-120650">
              <a:lnSpc>
                <a:spcPct val="60000"/>
              </a:lnSpc>
              <a:spcBef>
                <a:spcPct val="50000"/>
              </a:spcBef>
              <a:buClr>
                <a:srgbClr val="1C1C1C"/>
              </a:buClr>
            </a:pPr>
            <a:endParaRPr lang="zh-CN" altLang="en-US" sz="1000" dirty="0">
              <a:ea typeface="宋体" pitchFamily="2" charset="-122"/>
            </a:endParaRPr>
          </a:p>
        </p:txBody>
      </p:sp>
      <p:pic>
        <p:nvPicPr>
          <p:cNvPr id="8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9093" y="4800186"/>
            <a:ext cx="1327616" cy="130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0498" y="4582767"/>
            <a:ext cx="122872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23427" y="4828008"/>
            <a:ext cx="1474939" cy="1188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6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71741" y="4798115"/>
            <a:ext cx="1533467" cy="117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矩形 86"/>
          <p:cNvSpPr/>
          <p:nvPr/>
        </p:nvSpPr>
        <p:spPr>
          <a:xfrm>
            <a:off x="285720" y="285728"/>
            <a:ext cx="22413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/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FIS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沿革</a:t>
            </a:r>
            <a:endParaRPr lang="zh-CN" altLang="en-US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89890" y="1083390"/>
            <a:ext cx="4953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公司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PSG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事業群生產資訊系統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(FIS) </a:t>
            </a:r>
            <a:r>
              <a:rPr kumimoji="0" lang="zh-CN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自</a:t>
            </a:r>
            <a:r>
              <a:rPr kumimoji="0" lang="en-US" altLang="zh-CN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1995</a:t>
            </a:r>
            <a:r>
              <a:rPr kumimoji="0" lang="zh-CN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年至今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近廿年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在為服務生產出貨為前提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搜集並檢查生產過程中的相應資料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供做品質控管為手段的方向下</a:t>
            </a:r>
            <a:r>
              <a:rPr kumimoji="0" lang="en-US" altLang="zh-CN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</a:t>
            </a:r>
            <a:r>
              <a:rPr kumimoji="0" lang="zh-CN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不断优化改进</a:t>
            </a:r>
            <a:r>
              <a:rPr kumimoji="0" lang="en-US" altLang="zh-CN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</a:t>
            </a:r>
            <a:r>
              <a:rPr kumimoji="0" lang="zh-TW" altLang="en-US" sz="1800" b="0" dirty="0" smtClean="0">
                <a:solidFill>
                  <a:srgbClr val="FF0000"/>
                </a:solidFill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目前已經基本達到一定規模的海量數據</a:t>
            </a:r>
            <a:r>
              <a:rPr kumimoji="0" lang="en-US" altLang="zh-TW" sz="1800" b="0" dirty="0" smtClean="0">
                <a:solidFill>
                  <a:srgbClr val="FF0000"/>
                </a:solidFill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 </a:t>
            </a:r>
            <a:endParaRPr lang="zh-TW" altLang="en-US" sz="1800" b="0" dirty="0">
              <a:latin typeface="Adobe 楷体 Std R" pitchFamily="18" charset="-122"/>
              <a:ea typeface="Adobe 楷体 Std R" pitchFamily="18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9791" y="1356679"/>
            <a:ext cx="842965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b="0" dirty="0" smtClean="0"/>
              <a:t>為</a:t>
            </a:r>
            <a:r>
              <a:rPr lang="zh-TW" altLang="en-US" b="0" dirty="0" smtClean="0">
                <a:solidFill>
                  <a:srgbClr val="FF0000"/>
                </a:solidFill>
              </a:rPr>
              <a:t>進一步有效利用</a:t>
            </a:r>
            <a:r>
              <a:rPr lang="en-US" altLang="zh-TW" b="0" dirty="0" smtClean="0">
                <a:solidFill>
                  <a:srgbClr val="FF0000"/>
                </a:solidFill>
              </a:rPr>
              <a:t>FIS/IMES</a:t>
            </a:r>
            <a:r>
              <a:rPr lang="zh-TW" altLang="en-US" b="0" dirty="0" smtClean="0">
                <a:solidFill>
                  <a:srgbClr val="FF0000"/>
                </a:solidFill>
              </a:rPr>
              <a:t>的數據庫</a:t>
            </a:r>
            <a:r>
              <a:rPr lang="zh-TW" altLang="en-US" b="0" dirty="0" smtClean="0"/>
              <a:t>資料</a:t>
            </a:r>
            <a:r>
              <a:rPr lang="en-US" altLang="zh-TW" b="0" dirty="0" smtClean="0"/>
              <a:t>. </a:t>
            </a:r>
            <a:r>
              <a:rPr lang="zh-TW" altLang="en-US" b="0" dirty="0" smtClean="0"/>
              <a:t>進而有效做到幫助公司經營決策層及基層管理者</a:t>
            </a:r>
            <a:r>
              <a:rPr lang="en-US" altLang="zh-TW" b="0" dirty="0" smtClean="0"/>
              <a:t>.</a:t>
            </a:r>
            <a:r>
              <a:rPr lang="zh-TW" altLang="en-US" b="0" dirty="0" smtClean="0"/>
              <a:t>能有更即時及正確的數據判斷</a:t>
            </a:r>
            <a:r>
              <a:rPr lang="en-US" altLang="zh-TW" b="0" dirty="0" smtClean="0"/>
              <a:t>. FIS/IMES</a:t>
            </a:r>
            <a:r>
              <a:rPr lang="zh-TW" altLang="en-US" b="0" dirty="0" smtClean="0"/>
              <a:t>數據在</a:t>
            </a:r>
            <a:r>
              <a:rPr lang="en-US" altLang="zh-TW" b="0" dirty="0" smtClean="0"/>
              <a:t>BIGDATA</a:t>
            </a:r>
            <a:r>
              <a:rPr lang="zh-TW" altLang="en-US" b="0" dirty="0" smtClean="0"/>
              <a:t>方向的應用刻不容緩</a:t>
            </a:r>
            <a:r>
              <a:rPr lang="en-US" altLang="zh-TW" b="0" dirty="0" smtClean="0"/>
              <a:t>. </a:t>
            </a:r>
            <a:r>
              <a:rPr lang="zh-TW" altLang="en-US" b="0" dirty="0" smtClean="0"/>
              <a:t>本文站在</a:t>
            </a:r>
            <a:r>
              <a:rPr lang="en-US" altLang="zh-TW" b="0" dirty="0" smtClean="0"/>
              <a:t>FIS/IMES</a:t>
            </a:r>
            <a:r>
              <a:rPr lang="zh-TW" altLang="en-US" b="0" dirty="0" smtClean="0"/>
              <a:t>團隊的立場提出下列規劃</a:t>
            </a:r>
            <a:r>
              <a:rPr lang="en-US" altLang="zh-TW" b="0" dirty="0" smtClean="0"/>
              <a:t>. </a:t>
            </a:r>
            <a:endParaRPr lang="en-US" altLang="zh-CN" b="0" dirty="0" smtClean="0"/>
          </a:p>
        </p:txBody>
      </p:sp>
      <p:sp>
        <p:nvSpPr>
          <p:cNvPr id="4" name="矩形 3"/>
          <p:cNvSpPr/>
          <p:nvPr/>
        </p:nvSpPr>
        <p:spPr>
          <a:xfrm>
            <a:off x="211384" y="261503"/>
            <a:ext cx="36295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規劃目的及角度</a:t>
            </a:r>
            <a:endParaRPr lang="zh-CN" altLang="en-US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44311" y="3483666"/>
            <a:ext cx="5375620" cy="26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37560" y="1604479"/>
            <a:ext cx="1089080" cy="873125"/>
            <a:chOff x="270" y="1077"/>
            <a:chExt cx="331" cy="55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287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3200" dirty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1</a:t>
              </a: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917549" y="1715604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368950" y="1877185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CN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前言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395288" y="261938"/>
            <a:ext cx="33385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 A</a:t>
            </a:r>
            <a:r>
              <a:rPr lang="en-US" altLang="zh-CN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genda</a:t>
            </a:r>
            <a:endParaRPr lang="en-US" altLang="ko-KR" sz="3600" b="1" i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950812" y="2717662"/>
            <a:ext cx="855471" cy="873125"/>
            <a:chOff x="270" y="1077"/>
            <a:chExt cx="260" cy="5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2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930801" y="2828787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82202" y="2990368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目標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950812" y="3897105"/>
            <a:ext cx="855471" cy="873125"/>
            <a:chOff x="270" y="1077"/>
            <a:chExt cx="260" cy="5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3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930801" y="4008230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382202" y="4169811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手段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937559" y="5050044"/>
            <a:ext cx="855471" cy="873125"/>
            <a:chOff x="270" y="1077"/>
            <a:chExt cx="260" cy="550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4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917548" y="5161169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315941" y="5137220"/>
            <a:ext cx="4197121" cy="9541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目前</a:t>
            </a:r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面臨難度及建議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8595" y="1245484"/>
            <a:ext cx="913947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lang="zh-CN" altLang="en-US" sz="3200" dirty="0" smtClean="0"/>
              <a:t>目標</a:t>
            </a:r>
            <a:r>
              <a:rPr lang="en-US" altLang="zh-CN" sz="3200" dirty="0" smtClean="0"/>
              <a:t>: </a:t>
            </a:r>
          </a:p>
          <a:p>
            <a:pPr lvl="0" eaLnBrk="0" hangingPunct="0"/>
            <a:endParaRPr lang="en-US" altLang="zh-CN" sz="800" dirty="0" smtClean="0"/>
          </a:p>
          <a:p>
            <a:pPr lvl="0" eaLnBrk="0" hangingPunct="0"/>
            <a:r>
              <a:rPr lang="en-US" altLang="zh-TW" b="0" dirty="0" smtClean="0"/>
              <a:t>        </a:t>
            </a:r>
            <a:r>
              <a:rPr lang="zh-TW" altLang="en-US" b="0" dirty="0" smtClean="0"/>
              <a:t>用</a:t>
            </a:r>
            <a:r>
              <a:rPr lang="zh-TW" altLang="en-US" b="0" dirty="0" smtClean="0">
                <a:solidFill>
                  <a:srgbClr val="FF0000"/>
                </a:solidFill>
              </a:rPr>
              <a:t>內外部客戶的角度，建立標準計量及評分標準</a:t>
            </a:r>
            <a:r>
              <a:rPr lang="en-US" altLang="zh-TW" b="0" dirty="0" smtClean="0">
                <a:solidFill>
                  <a:srgbClr val="FF0000"/>
                </a:solidFill>
              </a:rPr>
              <a:t>.</a:t>
            </a:r>
            <a:r>
              <a:rPr lang="en-US" altLang="zh-TW" b="0" dirty="0" smtClean="0"/>
              <a:t> </a:t>
            </a:r>
          </a:p>
          <a:p>
            <a:pPr lvl="0" eaLnBrk="0" hangingPunct="0"/>
            <a:endParaRPr lang="en-US" altLang="zh-TW" sz="1000" b="0" dirty="0" smtClean="0"/>
          </a:p>
          <a:p>
            <a:pPr lvl="0" eaLnBrk="0" hangingPunct="0"/>
            <a:r>
              <a:rPr lang="zh-TW" altLang="en-US" b="0" dirty="0" smtClean="0"/>
              <a:t>（如</a:t>
            </a:r>
            <a:r>
              <a:rPr lang="en-US" altLang="zh-TW" b="0" dirty="0" smtClean="0"/>
              <a:t>:FCT,OCT,MCU,AFR,FPF,FPY,…………  etc.</a:t>
            </a:r>
            <a:r>
              <a:rPr lang="zh-TW" altLang="en-US" b="0" dirty="0" smtClean="0"/>
              <a:t>）。幫助公司有統一檢討改進的平台</a:t>
            </a:r>
            <a:r>
              <a:rPr lang="en-US" altLang="zh-TW" b="0" dirty="0" smtClean="0"/>
              <a:t>,</a:t>
            </a:r>
            <a:r>
              <a:rPr lang="zh-TW" altLang="en-US" b="0" dirty="0" smtClean="0"/>
              <a:t>並進一步標準化成為長期積累的競爭力</a:t>
            </a:r>
            <a:r>
              <a:rPr lang="en-US" altLang="zh-TW" b="0" dirty="0" smtClean="0"/>
              <a:t>.</a:t>
            </a:r>
            <a:endParaRPr lang="zh-CN" altLang="en-US" b="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5720" y="234999"/>
            <a:ext cx="37994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 DATA </a:t>
            </a:r>
            <a:r>
              <a:rPr lang="zh-CN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目標</a:t>
            </a:r>
            <a:endParaRPr lang="en-US" altLang="zh-CN" sz="3600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852" y="4188516"/>
            <a:ext cx="8177627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37560" y="1604479"/>
            <a:ext cx="1089080" cy="873125"/>
            <a:chOff x="270" y="1077"/>
            <a:chExt cx="331" cy="55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287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3200" dirty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1</a:t>
              </a: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917549" y="1715604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368950" y="1877185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CN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前言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395288" y="261938"/>
            <a:ext cx="33385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 A</a:t>
            </a:r>
            <a:r>
              <a:rPr lang="en-US" altLang="zh-CN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genda</a:t>
            </a:r>
            <a:endParaRPr lang="en-US" altLang="ko-KR" sz="3600" b="1" i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950812" y="2717662"/>
            <a:ext cx="855471" cy="873125"/>
            <a:chOff x="270" y="1077"/>
            <a:chExt cx="260" cy="5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2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930801" y="2828787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82202" y="2990368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目標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950812" y="3897105"/>
            <a:ext cx="855471" cy="873125"/>
            <a:chOff x="270" y="1077"/>
            <a:chExt cx="260" cy="5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3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930801" y="4008230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382202" y="4169811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手段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937559" y="5050044"/>
            <a:ext cx="855471" cy="873125"/>
            <a:chOff x="270" y="1077"/>
            <a:chExt cx="260" cy="550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4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917548" y="5161169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315941" y="5137220"/>
            <a:ext cx="4197121" cy="9541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目前</a:t>
            </a:r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面臨難度及建議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ChangeArrowheads="1"/>
          </p:cNvSpPr>
          <p:nvPr/>
        </p:nvSpPr>
        <p:spPr bwMode="gray">
          <a:xfrm>
            <a:off x="894523" y="2746502"/>
            <a:ext cx="7696200" cy="320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gray">
          <a:xfrm flipH="1">
            <a:off x="2856673" y="5088065"/>
            <a:ext cx="4075113" cy="9525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gray">
          <a:xfrm>
            <a:off x="2396298" y="3648202"/>
            <a:ext cx="4075113" cy="9525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gray">
          <a:xfrm>
            <a:off x="6241223" y="3657727"/>
            <a:ext cx="1423988" cy="1423988"/>
          </a:xfrm>
          <a:prstGeom prst="ellipse">
            <a:avLst/>
          </a:prstGeom>
          <a:gradFill rotWithShape="1">
            <a:gsLst>
              <a:gs pos="0">
                <a:schemeClr val="accent2">
                  <a:gamma/>
                  <a:tint val="48627"/>
                  <a:invGamma/>
                </a:schemeClr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9525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gray">
          <a:xfrm>
            <a:off x="1745423" y="3657727"/>
            <a:ext cx="1423988" cy="1423988"/>
          </a:xfrm>
          <a:prstGeom prst="ellipse">
            <a:avLst/>
          </a:prstGeom>
          <a:gradFill rotWithShape="1">
            <a:gsLst>
              <a:gs pos="0">
                <a:srgbClr val="92BCE2">
                  <a:gamma/>
                  <a:tint val="33333"/>
                  <a:invGamma/>
                </a:srgbClr>
              </a:gs>
              <a:gs pos="100000">
                <a:srgbClr val="92BCE2"/>
              </a:gs>
            </a:gsLst>
            <a:path path="shape">
              <a:fillToRect l="50000" t="50000" r="50000" b="50000"/>
            </a:path>
          </a:gradFill>
          <a:ln w="9525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gray">
          <a:xfrm>
            <a:off x="2823336" y="2967165"/>
            <a:ext cx="3749742" cy="468312"/>
          </a:xfrm>
          <a:prstGeom prst="chevron">
            <a:avLst>
              <a:gd name="adj" fmla="val 43225"/>
            </a:avLst>
          </a:prstGeom>
          <a:solidFill>
            <a:srgbClr val="FFFFFF">
              <a:alpha val="5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5896736" y="2967165"/>
            <a:ext cx="2459037" cy="2765425"/>
            <a:chOff x="3340" y="1301"/>
            <a:chExt cx="1549" cy="1742"/>
          </a:xfrm>
        </p:grpSpPr>
        <p:sp>
          <p:nvSpPr>
            <p:cNvPr id="11" name="AutoShape 11"/>
            <p:cNvSpPr>
              <a:spLocks noChangeArrowheads="1"/>
            </p:cNvSpPr>
            <p:nvPr/>
          </p:nvSpPr>
          <p:spPr bwMode="gray">
            <a:xfrm rot="5400000">
              <a:off x="3244" y="1397"/>
              <a:ext cx="1742" cy="1549"/>
            </a:xfrm>
            <a:custGeom>
              <a:avLst/>
              <a:gdLst>
                <a:gd name="G0" fmla="+- 7121 0 0"/>
                <a:gd name="G1" fmla="+- 11542662 0 0"/>
                <a:gd name="G2" fmla="+- 0 0 11542662"/>
                <a:gd name="T0" fmla="*/ 0 256 1"/>
                <a:gd name="T1" fmla="*/ 180 256 1"/>
                <a:gd name="G3" fmla="+- 11542662 T0 T1"/>
                <a:gd name="T2" fmla="*/ 0 256 1"/>
                <a:gd name="T3" fmla="*/ 90 256 1"/>
                <a:gd name="G4" fmla="+- 11542662 T2 T3"/>
                <a:gd name="G5" fmla="*/ G4 2 1"/>
                <a:gd name="T4" fmla="*/ 90 256 1"/>
                <a:gd name="T5" fmla="*/ 0 256 1"/>
                <a:gd name="G6" fmla="+- 11542662 T4 T5"/>
                <a:gd name="G7" fmla="*/ G6 2 1"/>
                <a:gd name="G8" fmla="abs 11542662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7121"/>
                <a:gd name="G18" fmla="*/ 7121 1 2"/>
                <a:gd name="G19" fmla="+- G18 5400 0"/>
                <a:gd name="G20" fmla="cos G19 11542662"/>
                <a:gd name="G21" fmla="sin G19 11542662"/>
                <a:gd name="G22" fmla="+- G20 10800 0"/>
                <a:gd name="G23" fmla="+- G21 10800 0"/>
                <a:gd name="G24" fmla="+- 10800 0 G20"/>
                <a:gd name="G25" fmla="+- 7121 10800 0"/>
                <a:gd name="G26" fmla="?: G9 G17 G25"/>
                <a:gd name="G27" fmla="?: G9 0 21600"/>
                <a:gd name="G28" fmla="cos 10800 11542662"/>
                <a:gd name="G29" fmla="sin 10800 11542662"/>
                <a:gd name="G30" fmla="sin 7121 11542662"/>
                <a:gd name="G31" fmla="+- G28 10800 0"/>
                <a:gd name="G32" fmla="+- G29 10800 0"/>
                <a:gd name="G33" fmla="+- G30 10800 0"/>
                <a:gd name="G34" fmla="?: G4 0 G31"/>
                <a:gd name="G35" fmla="?: 11542662 G34 0"/>
                <a:gd name="G36" fmla="?: G6 G35 G31"/>
                <a:gd name="G37" fmla="+- 21600 0 G36"/>
                <a:gd name="G38" fmla="?: G4 0 G33"/>
                <a:gd name="G39" fmla="?: 11542662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859 w 21600"/>
                <a:gd name="T15" fmla="*/ 11405 h 21600"/>
                <a:gd name="T16" fmla="*/ 10800 w 21600"/>
                <a:gd name="T17" fmla="*/ 3679 h 21600"/>
                <a:gd name="T18" fmla="*/ 19741 w 21600"/>
                <a:gd name="T19" fmla="*/ 11405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695" y="11280"/>
                  </a:moveTo>
                  <a:cubicBezTo>
                    <a:pt x="3684" y="11120"/>
                    <a:pt x="3679" y="10960"/>
                    <a:pt x="3679" y="10800"/>
                  </a:cubicBezTo>
                  <a:cubicBezTo>
                    <a:pt x="3679" y="6867"/>
                    <a:pt x="6867" y="3679"/>
                    <a:pt x="10800" y="3679"/>
                  </a:cubicBezTo>
                  <a:cubicBezTo>
                    <a:pt x="14732" y="3679"/>
                    <a:pt x="17921" y="6867"/>
                    <a:pt x="17921" y="10800"/>
                  </a:cubicBezTo>
                  <a:cubicBezTo>
                    <a:pt x="17921" y="10960"/>
                    <a:pt x="17915" y="11120"/>
                    <a:pt x="17904" y="11280"/>
                  </a:cubicBezTo>
                  <a:lnTo>
                    <a:pt x="21575" y="11529"/>
                  </a:lnTo>
                  <a:cubicBezTo>
                    <a:pt x="21591" y="11286"/>
                    <a:pt x="21600" y="1104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43"/>
                    <a:pt x="8" y="11286"/>
                    <a:pt x="24" y="11529"/>
                  </a:cubicBezTo>
                  <a:close/>
                </a:path>
              </a:pathLst>
            </a:cu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gray">
            <a:xfrm>
              <a:off x="3872" y="1303"/>
              <a:ext cx="411" cy="295"/>
            </a:xfrm>
            <a:prstGeom prst="chevron">
              <a:avLst>
                <a:gd name="adj" fmla="val 44744"/>
              </a:avLst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gray">
            <a:xfrm rot="10800000">
              <a:off x="3891" y="2745"/>
              <a:ext cx="314" cy="295"/>
            </a:xfrm>
            <a:prstGeom prst="chevron">
              <a:avLst>
                <a:gd name="adj" fmla="val 44069"/>
              </a:avLst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4" name="AutoShape 14"/>
          <p:cNvSpPr>
            <a:spLocks noChangeArrowheads="1"/>
          </p:cNvSpPr>
          <p:nvPr/>
        </p:nvSpPr>
        <p:spPr bwMode="gray">
          <a:xfrm flipH="1">
            <a:off x="2924936" y="5262690"/>
            <a:ext cx="3889375" cy="468312"/>
          </a:xfrm>
          <a:prstGeom prst="chevron">
            <a:avLst>
              <a:gd name="adj" fmla="val 47562"/>
            </a:avLst>
          </a:prstGeom>
          <a:solidFill>
            <a:srgbClr val="E8BD5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1056448" y="2970340"/>
            <a:ext cx="2459038" cy="2767012"/>
            <a:chOff x="533" y="1485"/>
            <a:chExt cx="1549" cy="1743"/>
          </a:xfrm>
        </p:grpSpPr>
        <p:sp>
          <p:nvSpPr>
            <p:cNvPr id="16" name="AutoShape 16"/>
            <p:cNvSpPr>
              <a:spLocks noChangeArrowheads="1"/>
            </p:cNvSpPr>
            <p:nvPr/>
          </p:nvSpPr>
          <p:spPr bwMode="gray">
            <a:xfrm rot="16200000" flipH="1">
              <a:off x="437" y="1581"/>
              <a:ext cx="1742" cy="1549"/>
            </a:xfrm>
            <a:custGeom>
              <a:avLst/>
              <a:gdLst>
                <a:gd name="G0" fmla="+- 7158 0 0"/>
                <a:gd name="G1" fmla="+- 11338448 0 0"/>
                <a:gd name="G2" fmla="+- 0 0 11338448"/>
                <a:gd name="T0" fmla="*/ 0 256 1"/>
                <a:gd name="T1" fmla="*/ 180 256 1"/>
                <a:gd name="G3" fmla="+- 11338448 T0 T1"/>
                <a:gd name="T2" fmla="*/ 0 256 1"/>
                <a:gd name="T3" fmla="*/ 90 256 1"/>
                <a:gd name="G4" fmla="+- 11338448 T2 T3"/>
                <a:gd name="G5" fmla="*/ G4 2 1"/>
                <a:gd name="T4" fmla="*/ 90 256 1"/>
                <a:gd name="T5" fmla="*/ 0 256 1"/>
                <a:gd name="G6" fmla="+- 11338448 T4 T5"/>
                <a:gd name="G7" fmla="*/ G6 2 1"/>
                <a:gd name="G8" fmla="abs 11338448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7158"/>
                <a:gd name="G18" fmla="*/ 7158 1 2"/>
                <a:gd name="G19" fmla="+- G18 5400 0"/>
                <a:gd name="G20" fmla="cos G19 11338448"/>
                <a:gd name="G21" fmla="sin G19 11338448"/>
                <a:gd name="G22" fmla="+- G20 10800 0"/>
                <a:gd name="G23" fmla="+- G21 10800 0"/>
                <a:gd name="G24" fmla="+- 10800 0 G20"/>
                <a:gd name="G25" fmla="+- 7158 10800 0"/>
                <a:gd name="G26" fmla="?: G9 G17 G25"/>
                <a:gd name="G27" fmla="?: G9 0 21600"/>
                <a:gd name="G28" fmla="cos 10800 11338448"/>
                <a:gd name="G29" fmla="sin 10800 11338448"/>
                <a:gd name="G30" fmla="sin 7158 11338448"/>
                <a:gd name="G31" fmla="+- G28 10800 0"/>
                <a:gd name="G32" fmla="+- G29 10800 0"/>
                <a:gd name="G33" fmla="+- G30 10800 0"/>
                <a:gd name="G34" fmla="?: G4 0 G31"/>
                <a:gd name="G35" fmla="?: 11338448 G34 0"/>
                <a:gd name="G36" fmla="?: G6 G35 G31"/>
                <a:gd name="G37" fmla="+- 21600 0 G36"/>
                <a:gd name="G38" fmla="?: G4 0 G33"/>
                <a:gd name="G39" fmla="?: 11338448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1887 w 21600"/>
                <a:gd name="T15" fmla="*/ 11892 h 21600"/>
                <a:gd name="T16" fmla="*/ 10800 w 21600"/>
                <a:gd name="T17" fmla="*/ 3642 h 21600"/>
                <a:gd name="T18" fmla="*/ 19713 w 21600"/>
                <a:gd name="T19" fmla="*/ 11892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3695" y="11670"/>
                  </a:moveTo>
                  <a:cubicBezTo>
                    <a:pt x="3659" y="11382"/>
                    <a:pt x="3642" y="11091"/>
                    <a:pt x="3642" y="10800"/>
                  </a:cubicBezTo>
                  <a:cubicBezTo>
                    <a:pt x="3642" y="6846"/>
                    <a:pt x="6846" y="3642"/>
                    <a:pt x="10800" y="3642"/>
                  </a:cubicBezTo>
                  <a:cubicBezTo>
                    <a:pt x="14753" y="3642"/>
                    <a:pt x="17958" y="6846"/>
                    <a:pt x="17958" y="10800"/>
                  </a:cubicBezTo>
                  <a:cubicBezTo>
                    <a:pt x="17958" y="11091"/>
                    <a:pt x="17940" y="11382"/>
                    <a:pt x="17904" y="11670"/>
                  </a:cubicBezTo>
                  <a:lnTo>
                    <a:pt x="21519" y="12114"/>
                  </a:lnTo>
                  <a:cubicBezTo>
                    <a:pt x="21573" y="11678"/>
                    <a:pt x="21600" y="11239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239"/>
                    <a:pt x="26" y="11678"/>
                    <a:pt x="80" y="12114"/>
                  </a:cubicBezTo>
                  <a:close/>
                </a:path>
              </a:pathLst>
            </a:cu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AutoShape 17"/>
            <p:cNvSpPr>
              <a:spLocks noChangeArrowheads="1"/>
            </p:cNvSpPr>
            <p:nvPr/>
          </p:nvSpPr>
          <p:spPr bwMode="gray">
            <a:xfrm>
              <a:off x="1235" y="1487"/>
              <a:ext cx="411" cy="295"/>
            </a:xfrm>
            <a:prstGeom prst="chevron">
              <a:avLst>
                <a:gd name="adj" fmla="val 44744"/>
              </a:avLst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" name="AutoShape 18"/>
            <p:cNvSpPr>
              <a:spLocks noChangeArrowheads="1"/>
            </p:cNvSpPr>
            <p:nvPr/>
          </p:nvSpPr>
          <p:spPr bwMode="gray">
            <a:xfrm rot="10800000">
              <a:off x="1223" y="2933"/>
              <a:ext cx="499" cy="295"/>
            </a:xfrm>
            <a:prstGeom prst="chevron">
              <a:avLst>
                <a:gd name="adj" fmla="val 46783"/>
              </a:avLst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9" name="Rectangle 19"/>
          <p:cNvSpPr>
            <a:spLocks noChangeArrowheads="1"/>
          </p:cNvSpPr>
          <p:nvPr/>
        </p:nvSpPr>
        <p:spPr bwMode="gray">
          <a:xfrm>
            <a:off x="4145723" y="5318252"/>
            <a:ext cx="12731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1C1C1C"/>
                </a:solidFill>
                <a:ea typeface="宋体" pitchFamily="2" charset="-122"/>
              </a:rPr>
              <a:t>数据分析</a:t>
            </a:r>
            <a:endParaRPr lang="en-US" altLang="zh-CN" sz="1600" dirty="0">
              <a:solidFill>
                <a:srgbClr val="1C1C1C"/>
              </a:solidFill>
              <a:ea typeface="宋体" pitchFamily="2" charset="-122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gray">
          <a:xfrm>
            <a:off x="3991046" y="3026455"/>
            <a:ext cx="12731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1C1C1C"/>
                </a:solidFill>
                <a:ea typeface="宋体" pitchFamily="2" charset="-122"/>
              </a:rPr>
              <a:t>数据挖掘</a:t>
            </a:r>
            <a:endParaRPr lang="en-US" altLang="zh-CN" sz="1600" dirty="0">
              <a:solidFill>
                <a:srgbClr val="1C1C1C"/>
              </a:solidFill>
              <a:ea typeface="宋体" pitchFamily="2" charset="-122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gray">
          <a:xfrm>
            <a:off x="1745423" y="4183190"/>
            <a:ext cx="1423988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zh-TW" altLang="en-US" sz="2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標準計分卡</a:t>
            </a:r>
            <a:endParaRPr lang="en-US" altLang="zh-CN" sz="2000" b="1" dirty="0">
              <a:ea typeface="宋体" pitchFamily="2" charset="-122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gray">
          <a:xfrm>
            <a:off x="6224796" y="4090424"/>
            <a:ext cx="1423988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zh-TW" altLang="en-US" sz="2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特殊</a:t>
            </a:r>
            <a:r>
              <a:rPr kumimoji="0" lang="zh-CN" altLang="en-US" sz="2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分析报表</a:t>
            </a:r>
            <a:endParaRPr lang="en-US" altLang="zh-CN" sz="2000" b="1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gray">
          <a:xfrm>
            <a:off x="3296411" y="4161171"/>
            <a:ext cx="2819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3200" dirty="0" smtClean="0">
                <a:solidFill>
                  <a:schemeClr val="bg1"/>
                </a:solidFill>
                <a:ea typeface="宋体" pitchFamily="2" charset="-122"/>
              </a:rPr>
              <a:t>BIG DATA</a:t>
            </a:r>
            <a:endParaRPr lang="en-US" altLang="zh-CN" sz="32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873375" y="1046702"/>
            <a:ext cx="8005582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lang="zh-TW" altLang="en-US" b="0" dirty="0" smtClean="0"/>
              <a:t>分為二大類</a:t>
            </a:r>
            <a:r>
              <a:rPr lang="en-US" altLang="zh-TW" b="0" dirty="0" smtClean="0"/>
              <a:t>.</a:t>
            </a:r>
            <a:r>
              <a:rPr lang="zh-TW" altLang="en-US" b="0" dirty="0" smtClean="0"/>
              <a:t>  </a:t>
            </a:r>
            <a:endParaRPr lang="en-US" altLang="zh-TW" b="0" dirty="0" smtClean="0"/>
          </a:p>
          <a:p>
            <a:pPr lvl="0" eaLnBrk="0" hangingPunct="0"/>
            <a:r>
              <a:rPr lang="en-US" altLang="zh-TW" b="0" dirty="0" smtClean="0"/>
              <a:t>          A</a:t>
            </a:r>
            <a:r>
              <a:rPr lang="zh-TW" altLang="en-US" b="0" dirty="0" smtClean="0"/>
              <a:t> </a:t>
            </a:r>
            <a:r>
              <a:rPr lang="en-US" altLang="zh-TW" b="0" dirty="0" smtClean="0"/>
              <a:t>:</a:t>
            </a:r>
            <a:r>
              <a:rPr lang="zh-TW" altLang="en-US" b="0" dirty="0" smtClean="0"/>
              <a:t> 生成</a:t>
            </a:r>
            <a:r>
              <a:rPr lang="zh-TW" altLang="en-US" b="0" dirty="0" smtClean="0">
                <a:solidFill>
                  <a:srgbClr val="FF0000"/>
                </a:solidFill>
              </a:rPr>
              <a:t>標準計分卡    </a:t>
            </a:r>
            <a:endParaRPr lang="zh-CN" altLang="en-US" b="0" dirty="0" smtClean="0">
              <a:solidFill>
                <a:srgbClr val="FF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b="0" dirty="0" smtClean="0"/>
              <a:t>          </a:t>
            </a:r>
            <a:r>
              <a:rPr lang="en-US" altLang="zh-TW" b="0" dirty="0" smtClean="0"/>
              <a:t>B</a:t>
            </a:r>
            <a:r>
              <a:rPr lang="zh-TW" altLang="en-US" b="0" dirty="0" smtClean="0"/>
              <a:t> </a:t>
            </a:r>
            <a:r>
              <a:rPr lang="en-US" altLang="zh-TW" b="0" dirty="0" smtClean="0"/>
              <a:t>:</a:t>
            </a:r>
            <a:r>
              <a:rPr lang="zh-TW" altLang="en-US" b="0" dirty="0" smtClean="0"/>
              <a:t> 為特殊分析目的</a:t>
            </a:r>
            <a:r>
              <a:rPr lang="en-US" altLang="zh-TW" b="0" dirty="0" smtClean="0"/>
              <a:t>,</a:t>
            </a:r>
            <a:r>
              <a:rPr lang="zh-TW" altLang="en-US" b="0" dirty="0" smtClean="0"/>
              <a:t>而特殊生成之統計               </a:t>
            </a:r>
            <a:r>
              <a:rPr lang="en-US" altLang="zh-TW" b="0" dirty="0" smtClean="0"/>
              <a:t> </a:t>
            </a:r>
            <a:endParaRPr lang="en-US" altLang="zh-CN" b="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32712" y="190065"/>
            <a:ext cx="3932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 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手段</a:t>
            </a:r>
            <a:r>
              <a:rPr kumimoji="0" lang="en-US" altLang="zh-TW" sz="4000" b="1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endParaRPr kumimoji="0" lang="en-US" altLang="zh-CN" sz="3200" b="1" dirty="0" smtClean="0"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5"/>
          <p:cNvSpPr>
            <a:spLocks noChangeArrowheads="1"/>
          </p:cNvSpPr>
          <p:nvPr/>
        </p:nvSpPr>
        <p:spPr bwMode="auto">
          <a:xfrm>
            <a:off x="1149282" y="1738862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成立跨單位委員會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由各單位至少課級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以上成員參加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共同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討論出所需統計及評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量的標準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130232" y="1691237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1.</a:t>
            </a:r>
            <a:r>
              <a:rPr lang="zh-CN" altLang="en-US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建组</a:t>
            </a:r>
            <a:r>
              <a:rPr lang="zh-CN" altLang="en-US" sz="1400" b="1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织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cxnSp>
        <p:nvCxnSpPr>
          <p:cNvPr id="5" name="AutoShape 26"/>
          <p:cNvCxnSpPr>
            <a:cxnSpLocks noChangeShapeType="1"/>
            <a:stCxn id="4" idx="0"/>
          </p:cNvCxnSpPr>
          <p:nvPr/>
        </p:nvCxnSpPr>
        <p:spPr bwMode="auto">
          <a:xfrm flipV="1">
            <a:off x="1835082" y="1413424"/>
            <a:ext cx="420687" cy="277813"/>
          </a:xfrm>
          <a:prstGeom prst="straightConnector1">
            <a:avLst/>
          </a:prstGeom>
          <a:noFill/>
          <a:ln w="9525">
            <a:solidFill>
              <a:srgbClr val="FFFFFF">
                <a:alpha val="50000"/>
              </a:srgbClr>
            </a:solidFill>
            <a:round/>
            <a:headEnd/>
            <a:tailEnd/>
          </a:ln>
          <a:effectLst/>
        </p:spPr>
      </p:cxn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2964829" y="1738862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四大向度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統計</a:t>
            </a:r>
            <a:r>
              <a:rPr kumimoji="0" lang="en-US" altLang="zh-CN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·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評量以 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Q , C, D, S</a:t>
            </a:r>
          </a:p>
          <a:p>
            <a:pPr marL="514350" lvl="0" indent="-51435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四大向度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分別展開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 </a:t>
            </a:r>
          </a:p>
          <a:p>
            <a:pPr marL="514350" lvl="0" indent="-51435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整合成一計分卡 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CN" sz="8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AutoShape 24"/>
          <p:cNvSpPr>
            <a:spLocks noChangeArrowheads="1"/>
          </p:cNvSpPr>
          <p:nvPr/>
        </p:nvSpPr>
        <p:spPr bwMode="auto">
          <a:xfrm>
            <a:off x="2945779" y="1691237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2.</a:t>
            </a:r>
            <a:r>
              <a:rPr lang="zh-CN" altLang="en-US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定范围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cxnSp>
        <p:nvCxnSpPr>
          <p:cNvPr id="8" name="AutoShape 26"/>
          <p:cNvCxnSpPr>
            <a:cxnSpLocks noChangeShapeType="1"/>
            <a:stCxn id="7" idx="0"/>
          </p:cNvCxnSpPr>
          <p:nvPr/>
        </p:nvCxnSpPr>
        <p:spPr bwMode="auto">
          <a:xfrm flipV="1">
            <a:off x="3650629" y="1413424"/>
            <a:ext cx="420687" cy="277813"/>
          </a:xfrm>
          <a:prstGeom prst="straightConnector1">
            <a:avLst/>
          </a:prstGeom>
          <a:noFill/>
          <a:ln w="9525">
            <a:solidFill>
              <a:srgbClr val="FFFFFF">
                <a:alpha val="50000"/>
              </a:srgbClr>
            </a:solidFill>
            <a:round/>
            <a:headEnd/>
            <a:tailEnd/>
          </a:ln>
          <a:effectLst/>
        </p:spPr>
      </p:cxn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4833386" y="1752114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獨立維運團隊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IT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成立專責獨立維運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團隊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旨在提升技術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水平及持續有效維運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BIGDATA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數據平台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kumimoji="0" lang="en-US" altLang="zh-CN" sz="8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4814336" y="1704489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b="1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3.</a:t>
            </a:r>
            <a:r>
              <a:rPr lang="zh-CN" altLang="en-US" sz="1400" b="1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组团队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sp>
        <p:nvSpPr>
          <p:cNvPr id="11" name="AutoShape 15"/>
          <p:cNvSpPr>
            <a:spLocks noChangeArrowheads="1"/>
          </p:cNvSpPr>
          <p:nvPr/>
        </p:nvSpPr>
        <p:spPr bwMode="auto">
          <a:xfrm>
            <a:off x="6688692" y="1738862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以機種為單位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計分卡以機種為單位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分別就試產 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/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量產 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各階段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所搜集的資料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對各機種進行評分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kumimoji="0" lang="en-US" altLang="zh-CN" sz="8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2" name="AutoShape 24"/>
          <p:cNvSpPr>
            <a:spLocks noChangeArrowheads="1"/>
          </p:cNvSpPr>
          <p:nvPr/>
        </p:nvSpPr>
        <p:spPr bwMode="auto">
          <a:xfrm>
            <a:off x="6669642" y="1691237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b="1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4.</a:t>
            </a:r>
            <a:r>
              <a:rPr lang="zh-CN" altLang="en-US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确</a:t>
            </a:r>
            <a:r>
              <a:rPr lang="zh-CN" altLang="en-US" sz="1400" b="1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形式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1136029" y="4177262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功能分項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評分分為計分卡總分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及各功能分項分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各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功能分項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( RD , MP, NPI,</a:t>
            </a: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MP,SCM,LG,RMA,</a:t>
            </a:r>
            <a:r>
              <a:rPr kumimoji="0" lang="en-US" altLang="zh-TW" sz="1000" b="0" dirty="0" smtClean="0">
                <a:latin typeface="Calibri"/>
                <a:ea typeface="PMingLiU" pitchFamily="18" charset="-120"/>
                <a:cs typeface="Times New Roman" pitchFamily="18" charset="0"/>
              </a:rPr>
              <a:t>…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.)</a:t>
            </a:r>
            <a:endParaRPr kumimoji="0" lang="en-US" altLang="zh-CN" sz="8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4" name="AutoShape 24"/>
          <p:cNvSpPr>
            <a:spLocks noChangeArrowheads="1"/>
          </p:cNvSpPr>
          <p:nvPr/>
        </p:nvSpPr>
        <p:spPr bwMode="auto">
          <a:xfrm>
            <a:off x="1116979" y="4129637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5.</a:t>
            </a:r>
            <a:r>
              <a:rPr lang="zh-CN" altLang="en-US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细功能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cxnSp>
        <p:nvCxnSpPr>
          <p:cNvPr id="15" name="AutoShape 26"/>
          <p:cNvCxnSpPr>
            <a:cxnSpLocks noChangeShapeType="1"/>
            <a:stCxn id="14" idx="0"/>
          </p:cNvCxnSpPr>
          <p:nvPr/>
        </p:nvCxnSpPr>
        <p:spPr bwMode="auto">
          <a:xfrm flipV="1">
            <a:off x="1821829" y="3851824"/>
            <a:ext cx="420687" cy="277813"/>
          </a:xfrm>
          <a:prstGeom prst="straightConnector1">
            <a:avLst/>
          </a:prstGeom>
          <a:noFill/>
          <a:ln w="9525">
            <a:solidFill>
              <a:srgbClr val="FFFFFF">
                <a:alpha val="50000"/>
              </a:srgbClr>
            </a:solidFill>
            <a:round/>
            <a:headEnd/>
            <a:tailEnd/>
          </a:ln>
          <a:effectLst/>
        </p:spPr>
      </p:cxnSp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3017837" y="4164010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marL="514350" lvl="0" indent="-51435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評分標準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marL="514350" lvl="0" indent="-514350" eaLnBrk="0" hangingPunct="0"/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計分卡評分標準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需由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各功能單位同意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並由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總經理核定加權項目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及標準後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公布實施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kumimoji="0" lang="en-US" altLang="zh-CN" sz="8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" name="AutoShape 24"/>
          <p:cNvSpPr>
            <a:spLocks noChangeArrowheads="1"/>
          </p:cNvSpPr>
          <p:nvPr/>
        </p:nvSpPr>
        <p:spPr bwMode="auto">
          <a:xfrm>
            <a:off x="2998787" y="4116385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6.</a:t>
            </a:r>
            <a:r>
              <a:rPr lang="zh-CN" altLang="en-US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标准化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cxnSp>
        <p:nvCxnSpPr>
          <p:cNvPr id="18" name="AutoShape 26"/>
          <p:cNvCxnSpPr>
            <a:cxnSpLocks noChangeShapeType="1"/>
            <a:stCxn id="17" idx="0"/>
          </p:cNvCxnSpPr>
          <p:nvPr/>
        </p:nvCxnSpPr>
        <p:spPr bwMode="auto">
          <a:xfrm flipV="1">
            <a:off x="3703637" y="3838572"/>
            <a:ext cx="420687" cy="277813"/>
          </a:xfrm>
          <a:prstGeom prst="straightConnector1">
            <a:avLst/>
          </a:prstGeom>
          <a:noFill/>
          <a:ln w="9525">
            <a:solidFill>
              <a:srgbClr val="FFFFFF">
                <a:alpha val="50000"/>
              </a:srgbClr>
            </a:solidFill>
            <a:round/>
            <a:headEnd/>
            <a:tailEnd/>
          </a:ln>
          <a:effectLst/>
        </p:spPr>
      </p:cxn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4899646" y="4150758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lvl="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單位績效 </a:t>
            </a:r>
            <a:r>
              <a:rPr kumimoji="0" lang="en-US" altLang="zh-TW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KPI </a:t>
            </a: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計分卡評分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可採計部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分特別重要分數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列為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各功能單位績效 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KPI ,</a:t>
            </a: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並合併在各原有各單位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各項檢討會議中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4880596" y="4103133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7.KPI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cxnSp>
        <p:nvCxnSpPr>
          <p:cNvPr id="21" name="AutoShape 26"/>
          <p:cNvCxnSpPr>
            <a:cxnSpLocks noChangeShapeType="1"/>
            <a:stCxn id="20" idx="0"/>
          </p:cNvCxnSpPr>
          <p:nvPr/>
        </p:nvCxnSpPr>
        <p:spPr bwMode="auto">
          <a:xfrm flipV="1">
            <a:off x="5585446" y="3825320"/>
            <a:ext cx="420687" cy="277813"/>
          </a:xfrm>
          <a:prstGeom prst="straightConnector1">
            <a:avLst/>
          </a:prstGeom>
          <a:noFill/>
          <a:ln w="9525">
            <a:solidFill>
              <a:srgbClr val="FFFFFF">
                <a:alpha val="50000"/>
              </a:srgbClr>
            </a:solidFill>
            <a:round/>
            <a:headEnd/>
            <a:tailEnd/>
          </a:ln>
          <a:effectLst/>
        </p:spPr>
      </p:cxnSp>
      <p:sp>
        <p:nvSpPr>
          <p:cNvPr id="22" name="AutoShape 15"/>
          <p:cNvSpPr>
            <a:spLocks noChangeArrowheads="1"/>
          </p:cNvSpPr>
          <p:nvPr/>
        </p:nvSpPr>
        <p:spPr bwMode="auto">
          <a:xfrm>
            <a:off x="6768202" y="4124253"/>
            <a:ext cx="1374775" cy="1739900"/>
          </a:xfrm>
          <a:prstGeom prst="roundRect">
            <a:avLst>
              <a:gd name="adj" fmla="val 10699"/>
            </a:avLst>
          </a:prstGeom>
          <a:gradFill rotWithShape="0">
            <a:gsLst>
              <a:gs pos="0">
                <a:srgbClr val="FFFFFF"/>
              </a:gs>
              <a:gs pos="100000">
                <a:srgbClr val="C0C0C0">
                  <a:alpha val="3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C0C0C0"/>
            </a:extrusionClr>
          </a:sp3d>
        </p:spPr>
        <p:txBody>
          <a:bodyPr wrap="none" anchor="ctr">
            <a:flatTx/>
          </a:bodyPr>
          <a:lstStyle/>
          <a:p>
            <a:pPr lvl="0" eaLnBrk="0" hangingPunct="0"/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進入</a:t>
            </a:r>
            <a:r>
              <a:rPr kumimoji="0" lang="en-US" altLang="zh-TW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P,D,C,A</a:t>
            </a:r>
            <a:r>
              <a:rPr kumimoji="0" lang="zh-TW" altLang="en-US" sz="10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管理循環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endParaRPr kumimoji="0" lang="en-US" altLang="zh-TW" sz="1000" b="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計分卡改進實施效果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可由經營管理單位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統一召開會議</a:t>
            </a:r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進入</a:t>
            </a:r>
            <a:endParaRPr kumimoji="0" lang="en-US" altLang="zh-TW" sz="10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eaLnBrk="0" hangingPunct="0"/>
            <a:r>
              <a:rPr kumimoji="0" lang="en-US" altLang="zh-TW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P,D,C,A</a:t>
            </a:r>
            <a:r>
              <a:rPr kumimoji="0" lang="zh-TW" altLang="en-US" sz="10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管理循環</a:t>
            </a:r>
            <a:endParaRPr kumimoji="0" lang="en-US" altLang="zh-TW" sz="1000" dirty="0" smtClean="0">
              <a:solidFill>
                <a:srgbClr val="FF0000"/>
              </a:solidFill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749152" y="4076628"/>
            <a:ext cx="1408112" cy="411162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7067AF"/>
              </a:gs>
              <a:gs pos="50000">
                <a:srgbClr val="7067AF">
                  <a:gamma/>
                  <a:shade val="66275"/>
                  <a:invGamma/>
                </a:srgbClr>
              </a:gs>
              <a:gs pos="100000">
                <a:srgbClr val="7067AF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7067AF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1400" dirty="0" smtClean="0">
                <a:solidFill>
                  <a:srgbClr val="FFFFFF"/>
                </a:solidFill>
                <a:latin typeface="Arial" pitchFamily="34" charset="0"/>
                <a:ea typeface="HY헤드라인M" pitchFamily="18" charset="-127"/>
              </a:rPr>
              <a:t>8.PDCA</a:t>
            </a:r>
            <a:endParaRPr lang="en-US" altLang="ko-KR" sz="1400" b="1" dirty="0">
              <a:solidFill>
                <a:srgbClr val="FFFFFF"/>
              </a:solidFill>
              <a:latin typeface="Arial" pitchFamily="34" charset="0"/>
              <a:ea typeface="HY헤드라인M" pitchFamily="18" charset="-127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32712" y="190065"/>
            <a:ext cx="3932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 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手段</a:t>
            </a:r>
            <a:r>
              <a:rPr kumimoji="0" lang="en-US" altLang="zh-TW" sz="4000" b="1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</a:t>
            </a:r>
            <a:endParaRPr kumimoji="0" lang="en-US" altLang="zh-CN" sz="3200" b="1" dirty="0" smtClean="0">
              <a:ea typeface="宋体" pitchFamily="2" charset="-122"/>
              <a:cs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77641" y="941025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0" dirty="0" smtClean="0"/>
              <a:t>就标准计分卡而论，手法讨论如下</a:t>
            </a:r>
            <a:endParaRPr lang="zh-TW" altLang="en-US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37560" y="1604479"/>
            <a:ext cx="1089080" cy="873125"/>
            <a:chOff x="270" y="1077"/>
            <a:chExt cx="331" cy="55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287" cy="36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ko-KR" sz="3200" dirty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1</a:t>
              </a:r>
            </a:p>
          </p:txBody>
        </p:sp>
      </p:grp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917549" y="1715604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368950" y="1877185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CN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前言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395288" y="261938"/>
            <a:ext cx="33385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ko-KR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 A</a:t>
            </a:r>
            <a:r>
              <a:rPr lang="en-US" altLang="zh-CN" sz="3600" i="1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  <a:sym typeface="Wingdings" pitchFamily="2" charset="2"/>
              </a:rPr>
              <a:t>genda</a:t>
            </a:r>
            <a:endParaRPr lang="en-US" altLang="ko-KR" sz="3600" b="1" i="1" dirty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950812" y="2717662"/>
            <a:ext cx="855471" cy="873125"/>
            <a:chOff x="270" y="1077"/>
            <a:chExt cx="260" cy="55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2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930801" y="2828787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382202" y="2990368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目標</a:t>
            </a:r>
            <a:endParaRPr kumimoji="0" lang="ko-KR" altLang="en-US" dirty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950812" y="3897105"/>
            <a:ext cx="855471" cy="873125"/>
            <a:chOff x="270" y="1077"/>
            <a:chExt cx="260" cy="55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3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2930801" y="4008230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382202" y="4169811"/>
            <a:ext cx="4197121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zh-TW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chemeClr val="bg1">
                    <a:lumMod val="65000"/>
                  </a:schemeClr>
                </a:solidFill>
                <a:latin typeface="华文楷体" pitchFamily="2" charset="-122"/>
                <a:ea typeface="HY헤드라인M" pitchFamily="18" charset="-127"/>
              </a:rPr>
              <a:t>手段</a:t>
            </a:r>
            <a:endParaRPr kumimoji="0" lang="ko-KR" altLang="en-US" dirty="0" smtClean="0">
              <a:solidFill>
                <a:schemeClr val="bg1">
                  <a:lumMod val="65000"/>
                </a:schemeClr>
              </a:solidFill>
              <a:latin typeface="华文楷体" pitchFamily="2" charset="-122"/>
              <a:ea typeface="HY헤드라인M" pitchFamily="18" charset="-127"/>
            </a:endParaRPr>
          </a:p>
        </p:txBody>
      </p: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1937559" y="5050044"/>
            <a:ext cx="855471" cy="873125"/>
            <a:chOff x="270" y="1077"/>
            <a:chExt cx="260" cy="550"/>
          </a:xfrm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270" y="1077"/>
              <a:ext cx="260" cy="550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33CCFF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" name="Text Box 6"/>
            <p:cNvSpPr txBox="1">
              <a:spLocks noChangeArrowheads="1"/>
            </p:cNvSpPr>
            <p:nvPr/>
          </p:nvSpPr>
          <p:spPr bwMode="auto">
            <a:xfrm>
              <a:off x="314" y="1202"/>
              <a:ext cx="139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3200" dirty="0" smtClean="0">
                  <a:solidFill>
                    <a:srgbClr val="ADEAFF"/>
                  </a:solidFill>
                  <a:latin typeface="Arial Black" pitchFamily="34" charset="0"/>
                  <a:ea typeface="Batang" pitchFamily="18" charset="-127"/>
                </a:rPr>
                <a:t>4</a:t>
              </a:r>
              <a:endParaRPr lang="en-US" altLang="ko-KR" sz="3200" dirty="0">
                <a:solidFill>
                  <a:srgbClr val="ADEAFF"/>
                </a:solidFill>
                <a:latin typeface="Arial Black" pitchFamily="34" charset="0"/>
                <a:ea typeface="Batang" pitchFamily="18" charset="-127"/>
              </a:endParaRPr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917548" y="5161169"/>
            <a:ext cx="4889716" cy="881822"/>
          </a:xfrm>
          <a:prstGeom prst="rect">
            <a:avLst/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6275"/>
                  <a:invGamma/>
                </a:srgbClr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290500" prstMaterial="legacyMatte">
            <a:bevelT w="13500" h="13500" prst="angle"/>
            <a:bevelB w="13500" h="13500" prst="angle"/>
            <a:extrusionClr>
              <a:srgbClr val="33CCFF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315941" y="5137220"/>
            <a:ext cx="4197121" cy="95410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>
            <a:outerShdw dist="28398" dir="3806097" algn="ctr" rotWithShape="0">
              <a:srgbClr val="003366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目前</a:t>
            </a:r>
            <a:r>
              <a:rPr kumimoji="0" lang="en-US" altLang="zh-TW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BIG DATA </a:t>
            </a:r>
            <a:r>
              <a:rPr kumimoji="0" lang="zh-TW" altLang="en-US" dirty="0" smtClean="0">
                <a:solidFill>
                  <a:srgbClr val="FFFFFF"/>
                </a:solidFill>
                <a:latin typeface="华文楷体" pitchFamily="2" charset="-122"/>
                <a:ea typeface="HY헤드라인M" pitchFamily="18" charset="-127"/>
              </a:rPr>
              <a:t>面臨難度及建議</a:t>
            </a:r>
            <a:endParaRPr kumimoji="0" lang="ko-KR" altLang="en-US" dirty="0">
              <a:solidFill>
                <a:srgbClr val="FFFFFF"/>
              </a:solidFill>
              <a:latin typeface="华文楷体" pitchFamily="2" charset="-122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>
            <a:spLocks noChangeArrowheads="1"/>
          </p:cNvSpPr>
          <p:nvPr/>
        </p:nvSpPr>
        <p:spPr bwMode="auto">
          <a:xfrm>
            <a:off x="4623974" y="3529358"/>
            <a:ext cx="4052887" cy="711200"/>
          </a:xfrm>
          <a:prstGeom prst="ellipse">
            <a:avLst/>
          </a:prstGeom>
          <a:gradFill rotWithShape="1">
            <a:gsLst>
              <a:gs pos="0">
                <a:srgbClr val="99FF33">
                  <a:alpha val="39999"/>
                </a:srgbClr>
              </a:gs>
              <a:gs pos="100000">
                <a:srgbClr val="99FF33">
                  <a:gamma/>
                  <a:shade val="46275"/>
                  <a:invGamma/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440911" y="3496021"/>
            <a:ext cx="4494213" cy="711200"/>
          </a:xfrm>
          <a:prstGeom prst="ellipse">
            <a:avLst/>
          </a:prstGeom>
          <a:gradFill rotWithShape="1">
            <a:gsLst>
              <a:gs pos="0">
                <a:srgbClr val="99FF33">
                  <a:alpha val="39999"/>
                </a:srgbClr>
              </a:gs>
              <a:gs pos="100000">
                <a:srgbClr val="99FF33">
                  <a:gamma/>
                  <a:shade val="46275"/>
                  <a:invGamma/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37774" y="2411758"/>
            <a:ext cx="3886200" cy="1255713"/>
          </a:xfrm>
          <a:prstGeom prst="ellipse">
            <a:avLst/>
          </a:prstGeom>
          <a:gradFill rotWithShape="1">
            <a:gsLst>
              <a:gs pos="0">
                <a:srgbClr val="99FF33"/>
              </a:gs>
              <a:gs pos="50000">
                <a:srgbClr val="99FF33">
                  <a:gamma/>
                  <a:shade val="36078"/>
                  <a:invGamma/>
                </a:srgbClr>
              </a:gs>
              <a:gs pos="100000">
                <a:srgbClr val="99FF33"/>
              </a:gs>
            </a:gsLst>
            <a:lin ang="2700000" scaled="1"/>
          </a:gradFill>
          <a:ln w="28575">
            <a:noFill/>
            <a:prstDash val="sysDot"/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780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wrap="none" anchor="ctr">
            <a:flatTx/>
          </a:bodyPr>
          <a:lstStyle/>
          <a:p>
            <a:endParaRPr lang="zh-TW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4623974" y="2297458"/>
            <a:ext cx="3930650" cy="1371600"/>
          </a:xfrm>
          <a:prstGeom prst="ellipse">
            <a:avLst/>
          </a:prstGeom>
          <a:gradFill rotWithShape="1">
            <a:gsLst>
              <a:gs pos="0">
                <a:srgbClr val="CC3300"/>
              </a:gs>
              <a:gs pos="50000">
                <a:srgbClr val="CC3300">
                  <a:gamma/>
                  <a:shade val="36078"/>
                  <a:invGamma/>
                </a:srgbClr>
              </a:gs>
              <a:gs pos="100000">
                <a:srgbClr val="CC3300"/>
              </a:gs>
            </a:gsLst>
            <a:lin ang="2700000" scaled="1"/>
          </a:gradFill>
          <a:ln w="28575">
            <a:prstDash val="sysDot"/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78000" prstMaterial="legacyMatte">
            <a:bevelT w="13500" h="13500" prst="angle"/>
            <a:bevelB w="13500" h="13500" prst="angle"/>
            <a:extrusionClr>
              <a:srgbClr val="FF6600"/>
            </a:extrusionClr>
          </a:sp3d>
        </p:spPr>
        <p:txBody>
          <a:bodyPr wrap="none" anchor="ctr">
            <a:flatTx/>
          </a:bodyPr>
          <a:lstStyle/>
          <a:p>
            <a:pPr algn="ctr"/>
            <a:endParaRPr lang="zh-CN" altLang="en-US" sz="1400" b="1">
              <a:latin typeface="GulimChe" pitchFamily="49" charset="-127"/>
              <a:ea typeface="GulimChe" pitchFamily="49" charset="-127"/>
            </a:endParaRPr>
          </a:p>
        </p:txBody>
      </p:sp>
      <p:sp>
        <p:nvSpPr>
          <p:cNvPr id="7" name="WordArt 6"/>
          <p:cNvSpPr>
            <a:spLocks noChangeArrowheads="1" noChangeShapeType="1" noTextEdit="1"/>
          </p:cNvSpPr>
          <p:nvPr/>
        </p:nvSpPr>
        <p:spPr bwMode="auto">
          <a:xfrm>
            <a:off x="1928399" y="2787996"/>
            <a:ext cx="1485900" cy="446087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8972"/>
              </a:avLst>
            </a:prstTxWarp>
          </a:bodyPr>
          <a:lstStyle/>
          <a:p>
            <a:pPr algn="ctr"/>
            <a:r>
              <a:rPr lang="zh-CN" altLang="en-US" sz="4800" b="1" kern="10" dirty="0" smtClean="0">
                <a:ln w="9525">
                  <a:noFill/>
                  <a:round/>
                  <a:headEnd/>
                  <a:tailEnd/>
                </a:ln>
                <a:gradFill rotWithShape="1">
                  <a:gsLst>
                    <a:gs pos="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60001"/>
                      </a:srgbClr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人员技术不员</a:t>
            </a:r>
            <a:endParaRPr lang="zh-TW" altLang="en-US" sz="4800" b="1" kern="10" dirty="0">
              <a:ln w="9525">
                <a:noFill/>
                <a:round/>
                <a:headEnd/>
                <a:tailEnd/>
              </a:ln>
              <a:gradFill rotWithShape="1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60001"/>
                    </a:srgbClr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8" name="WordArt 7"/>
          <p:cNvSpPr>
            <a:spLocks noChangeArrowheads="1" noChangeShapeType="1" noTextEdit="1"/>
          </p:cNvSpPr>
          <p:nvPr/>
        </p:nvSpPr>
        <p:spPr bwMode="auto">
          <a:xfrm>
            <a:off x="5897149" y="2800696"/>
            <a:ext cx="1485900" cy="446087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8972"/>
              </a:avLst>
            </a:prstTxWarp>
          </a:bodyPr>
          <a:lstStyle/>
          <a:p>
            <a:pPr algn="ctr"/>
            <a:r>
              <a:rPr lang="zh-CN" altLang="en-US" sz="4800" b="1" kern="10" dirty="0" smtClean="0">
                <a:ln w="9525">
                  <a:noFill/>
                  <a:round/>
                  <a:headEnd/>
                  <a:tailEnd/>
                </a:ln>
                <a:gradFill rotWithShape="1">
                  <a:gsLst>
                    <a:gs pos="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60001"/>
                      </a:srgbClr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硬体资 源欠缺</a:t>
            </a:r>
            <a:endParaRPr lang="zh-TW" altLang="en-US" sz="4800" b="1" kern="10" dirty="0">
              <a:ln w="9525">
                <a:noFill/>
                <a:round/>
                <a:headEnd/>
                <a:tailEnd/>
              </a:ln>
              <a:gradFill rotWithShape="1">
                <a:gsLst>
                  <a:gs pos="0">
                    <a:srgbClr val="FFFFFF">
                      <a:alpha val="20000"/>
                    </a:srgbClr>
                  </a:gs>
                  <a:gs pos="100000">
                    <a:srgbClr val="FFFFFF">
                      <a:alpha val="60001"/>
                    </a:srgbClr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 rot="468918">
            <a:off x="729836" y="2316508"/>
            <a:ext cx="4648200" cy="1143000"/>
          </a:xfrm>
          <a:prstGeom prst="ellipse">
            <a:avLst/>
          </a:prstGeom>
          <a:noFill/>
          <a:ln w="19050">
            <a:solidFill>
              <a:srgbClr val="00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56761" y="4316758"/>
            <a:ext cx="4367213" cy="0"/>
          </a:xfrm>
          <a:prstGeom prst="line">
            <a:avLst/>
          </a:prstGeom>
          <a:noFill/>
          <a:ln w="127000">
            <a:solidFill>
              <a:srgbClr val="99CC00"/>
            </a:solidFill>
            <a:round/>
            <a:headEnd type="triangle" w="sm" len="lg"/>
            <a:tailEnd type="none" w="sm" len="lg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4623974" y="4316758"/>
            <a:ext cx="4338637" cy="0"/>
          </a:xfrm>
          <a:prstGeom prst="line">
            <a:avLst/>
          </a:prstGeom>
          <a:noFill/>
          <a:ln w="127000">
            <a:solidFill>
              <a:srgbClr val="FF6600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4620799" y="4229446"/>
            <a:ext cx="0" cy="228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67894" y="4574692"/>
            <a:ext cx="357882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zh-CN" altLang="en-US" sz="1800" b="0" dirty="0" smtClean="0">
                <a:solidFill>
                  <a:srgbClr val="FF0000"/>
                </a:solidFill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人力：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單靠工廠現行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FIS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團隊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人員資源技術不足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FIS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無論在上海或重慶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技術能力組成是以線上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FIS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操作系統維護為主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年齡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年資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穩定性都不足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endParaRPr lang="en-US" altLang="ko-KR" sz="1800" dirty="0">
              <a:solidFill>
                <a:srgbClr val="99CC00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2887249" y="3896071"/>
            <a:ext cx="3467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latinLnBrk="0" hangingPunct="0"/>
            <a:r>
              <a:rPr kumimoji="0" lang="en-US" altLang="ko-KR" sz="1600" dirty="0" smtClean="0">
                <a:solidFill>
                  <a:srgbClr val="FFCC00"/>
                </a:solidFill>
                <a:latin typeface="Arial Black" pitchFamily="34" charset="0"/>
              </a:rPr>
              <a:t>BIG DATA</a:t>
            </a:r>
            <a:endParaRPr kumimoji="0" lang="en-US" altLang="ko-KR" sz="1600" dirty="0">
              <a:solidFill>
                <a:srgbClr val="FFCC00"/>
              </a:solidFill>
              <a:latin typeface="Arial Black" pitchFamily="34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4231032" y="2929835"/>
            <a:ext cx="6880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困境</a:t>
            </a:r>
            <a:endParaRPr lang="en-US" altLang="ko-KR" sz="2000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 rot="10122088">
            <a:off x="3790536" y="2189508"/>
            <a:ext cx="5126038" cy="1143000"/>
          </a:xfrm>
          <a:prstGeom prst="ellips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5048347" y="4667457"/>
            <a:ext cx="357882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zh-CN" altLang="en-US" sz="1800" b="0" dirty="0" smtClean="0">
                <a:solidFill>
                  <a:srgbClr val="FF0000"/>
                </a:solidFill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硬体：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硬體平台上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BIGDATA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需要大量的高階運算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也</a:t>
            </a:r>
            <a:r>
              <a:rPr kumimoji="0" lang="zh-TW" altLang="en-US" sz="18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不建議在現行生產系統之硬體平台上運行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以免影響生產</a:t>
            </a:r>
            <a:r>
              <a:rPr kumimoji="0" lang="en-US" altLang="zh-TW" sz="1800" b="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endParaRPr lang="en-US" altLang="ko-KR" sz="1800" dirty="0">
              <a:solidFill>
                <a:srgbClr val="99CC00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4878" y="264400"/>
            <a:ext cx="7302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目前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面臨難度及建議</a:t>
            </a:r>
            <a:endParaRPr lang="en-US" altLang="zh-CN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sp>
        <p:nvSpPr>
          <p:cNvPr id="25" name="AutoShape 64"/>
          <p:cNvSpPr>
            <a:spLocks noChangeArrowheads="1"/>
          </p:cNvSpPr>
          <p:nvPr/>
        </p:nvSpPr>
        <p:spPr bwMode="gray">
          <a:xfrm>
            <a:off x="561284" y="1166191"/>
            <a:ext cx="3705915" cy="46382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8575">
            <a:solidFill>
              <a:srgbClr val="DDDDDD"/>
            </a:solidFill>
            <a:round/>
            <a:headEnd/>
            <a:tailEnd/>
          </a:ln>
          <a:effectLst>
            <a:outerShdw dist="35921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437321" y="1139808"/>
            <a:ext cx="3562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eaLnBrk="0" hangingPunct="0"/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一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 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IT</a:t>
            </a:r>
            <a:r>
              <a:rPr kumimoji="0" lang="zh-CN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软硬体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資源</a:t>
            </a:r>
            <a:r>
              <a:rPr kumimoji="0" lang="zh-CN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方面</a:t>
            </a:r>
            <a:endParaRPr kumimoji="0" lang="en-US" altLang="zh-CN" sz="2400" b="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3805238" y="3411400"/>
            <a:ext cx="1265237" cy="803275"/>
          </a:xfrm>
          <a:custGeom>
            <a:avLst/>
            <a:gdLst/>
            <a:ahLst/>
            <a:cxnLst>
              <a:cxn ang="0">
                <a:pos x="390" y="0"/>
              </a:cxn>
              <a:cxn ang="0">
                <a:pos x="448" y="64"/>
              </a:cxn>
              <a:cxn ang="0">
                <a:pos x="797" y="495"/>
              </a:cxn>
              <a:cxn ang="0">
                <a:pos x="390" y="355"/>
              </a:cxn>
              <a:cxn ang="0">
                <a:pos x="0" y="506"/>
              </a:cxn>
              <a:cxn ang="0">
                <a:pos x="390" y="0"/>
              </a:cxn>
            </a:cxnLst>
            <a:rect l="0" t="0" r="r" b="b"/>
            <a:pathLst>
              <a:path w="797" h="506">
                <a:moveTo>
                  <a:pt x="390" y="0"/>
                </a:moveTo>
                <a:lnTo>
                  <a:pt x="448" y="64"/>
                </a:lnTo>
                <a:lnTo>
                  <a:pt x="797" y="495"/>
                </a:lnTo>
                <a:lnTo>
                  <a:pt x="390" y="355"/>
                </a:lnTo>
                <a:lnTo>
                  <a:pt x="0" y="506"/>
                </a:lnTo>
                <a:lnTo>
                  <a:pt x="390" y="0"/>
                </a:lnTo>
                <a:close/>
              </a:path>
            </a:pathLst>
          </a:custGeom>
          <a:gradFill rotWithShape="1">
            <a:gsLst>
              <a:gs pos="0">
                <a:srgbClr val="9999FF"/>
              </a:gs>
              <a:gs pos="100000">
                <a:srgbClr val="9999FF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gray">
          <a:xfrm>
            <a:off x="4443413" y="2433500"/>
            <a:ext cx="1735137" cy="1117600"/>
          </a:xfrm>
          <a:custGeom>
            <a:avLst/>
            <a:gdLst/>
            <a:ahLst/>
            <a:cxnLst>
              <a:cxn ang="0">
                <a:pos x="64" y="704"/>
              </a:cxn>
              <a:cxn ang="0">
                <a:pos x="0" y="622"/>
              </a:cxn>
              <a:cxn ang="0">
                <a:pos x="820" y="0"/>
              </a:cxn>
              <a:cxn ang="0">
                <a:pos x="1093" y="453"/>
              </a:cxn>
              <a:cxn ang="0">
                <a:pos x="64" y="704"/>
              </a:cxn>
            </a:cxnLst>
            <a:rect l="0" t="0" r="r" b="b"/>
            <a:pathLst>
              <a:path w="1093" h="704">
                <a:moveTo>
                  <a:pt x="64" y="704"/>
                </a:moveTo>
                <a:lnTo>
                  <a:pt x="0" y="622"/>
                </a:lnTo>
                <a:lnTo>
                  <a:pt x="820" y="0"/>
                </a:lnTo>
                <a:lnTo>
                  <a:pt x="1093" y="453"/>
                </a:lnTo>
                <a:lnTo>
                  <a:pt x="64" y="704"/>
                </a:lnTo>
                <a:close/>
              </a:path>
            </a:pathLst>
          </a:custGeom>
          <a:gradFill rotWithShape="1">
            <a:gsLst>
              <a:gs pos="0">
                <a:srgbClr val="DAB720"/>
              </a:gs>
              <a:gs pos="100000">
                <a:srgbClr val="DAB720">
                  <a:gamma/>
                  <a:tint val="0"/>
                  <a:invGamma/>
                  <a:alpha val="0"/>
                </a:srgbClr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2973388" y="2460487"/>
            <a:ext cx="1470025" cy="1117600"/>
          </a:xfrm>
          <a:custGeom>
            <a:avLst/>
            <a:gdLst/>
            <a:ahLst/>
            <a:cxnLst>
              <a:cxn ang="0">
                <a:pos x="926" y="611"/>
              </a:cxn>
              <a:cxn ang="0">
                <a:pos x="844" y="704"/>
              </a:cxn>
              <a:cxn ang="0">
                <a:pos x="0" y="489"/>
              </a:cxn>
              <a:cxn ang="0">
                <a:pos x="315" y="0"/>
              </a:cxn>
              <a:cxn ang="0">
                <a:pos x="926" y="611"/>
              </a:cxn>
            </a:cxnLst>
            <a:rect l="0" t="0" r="r" b="b"/>
            <a:pathLst>
              <a:path w="926" h="704">
                <a:moveTo>
                  <a:pt x="926" y="611"/>
                </a:moveTo>
                <a:lnTo>
                  <a:pt x="844" y="704"/>
                </a:lnTo>
                <a:lnTo>
                  <a:pt x="0" y="489"/>
                </a:lnTo>
                <a:lnTo>
                  <a:pt x="315" y="0"/>
                </a:lnTo>
                <a:lnTo>
                  <a:pt x="926" y="611"/>
                </a:lnTo>
                <a:close/>
              </a:path>
            </a:pathLst>
          </a:custGeom>
          <a:gradFill rotWithShape="1">
            <a:gsLst>
              <a:gs pos="0">
                <a:srgbClr val="A3C975">
                  <a:gamma/>
                  <a:tint val="0"/>
                  <a:invGamma/>
                  <a:alpha val="0"/>
                </a:srgbClr>
              </a:gs>
              <a:gs pos="100000">
                <a:srgbClr val="A3C975"/>
              </a:gs>
            </a:gsLst>
            <a:lin ang="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1209675" y="1174612"/>
            <a:ext cx="2257425" cy="2257425"/>
            <a:chOff x="867" y="738"/>
            <a:chExt cx="1422" cy="1422"/>
          </a:xfrm>
        </p:grpSpPr>
        <p:sp>
          <p:nvSpPr>
            <p:cNvPr id="8" name="Oval 7"/>
            <p:cNvSpPr>
              <a:spLocks noChangeArrowheads="1"/>
            </p:cNvSpPr>
            <p:nvPr/>
          </p:nvSpPr>
          <p:spPr bwMode="gray">
            <a:xfrm>
              <a:off x="867" y="738"/>
              <a:ext cx="1422" cy="1422"/>
            </a:xfrm>
            <a:prstGeom prst="ellipse">
              <a:avLst/>
            </a:prstGeom>
            <a:gradFill rotWithShape="1">
              <a:gsLst>
                <a:gs pos="0">
                  <a:srgbClr val="A3C975">
                    <a:gamma/>
                    <a:shade val="76078"/>
                    <a:invGamma/>
                  </a:srgbClr>
                </a:gs>
                <a:gs pos="100000">
                  <a:srgbClr val="A3C975"/>
                </a:gs>
              </a:gsLst>
              <a:lin ang="2700000" scaled="1"/>
            </a:gradFill>
            <a:ln w="38100" algn="ctr">
              <a:solidFill>
                <a:srgbClr val="DDDDD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gray">
            <a:xfrm>
              <a:off x="909" y="774"/>
              <a:ext cx="1337" cy="1348"/>
            </a:xfrm>
            <a:prstGeom prst="ellipse">
              <a:avLst/>
            </a:prstGeom>
            <a:gradFill rotWithShape="1">
              <a:gsLst>
                <a:gs pos="0">
                  <a:srgbClr val="A3C975"/>
                </a:gs>
                <a:gs pos="100000">
                  <a:srgbClr val="A3C975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gray">
          <a:xfrm>
            <a:off x="1312863" y="2130287"/>
            <a:ext cx="1946275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72000">
            <a:spAutoFit/>
          </a:bodyPr>
          <a:lstStyle/>
          <a:p>
            <a:pPr lvl="0" indent="266700" eaLnBrk="0" hangingPunct="0"/>
            <a:r>
              <a:rPr kumimoji="0" lang="zh-CN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挑</a:t>
            </a:r>
            <a:r>
              <a:rPr kumimoji="0" lang="zh-TW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選並少量招募有    經驗 的工程師</a:t>
            </a:r>
            <a:r>
              <a:rPr kumimoji="0" lang="en-US" altLang="zh-TW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成立專責單位</a:t>
            </a:r>
            <a:endParaRPr kumimoji="0" lang="en-US" altLang="zh-CN" sz="140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700713" y="1174612"/>
            <a:ext cx="2257425" cy="2257425"/>
            <a:chOff x="867" y="738"/>
            <a:chExt cx="1422" cy="1422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gray">
            <a:xfrm>
              <a:off x="867" y="738"/>
              <a:ext cx="1422" cy="1422"/>
            </a:xfrm>
            <a:prstGeom prst="ellipse">
              <a:avLst/>
            </a:prstGeom>
            <a:gradFill rotWithShape="1">
              <a:gsLst>
                <a:gs pos="0">
                  <a:srgbClr val="D3CE73">
                    <a:gamma/>
                    <a:shade val="76078"/>
                    <a:invGamma/>
                  </a:srgbClr>
                </a:gs>
                <a:gs pos="100000">
                  <a:srgbClr val="D3CE73"/>
                </a:gs>
              </a:gsLst>
              <a:lin ang="2700000" scaled="1"/>
            </a:gradFill>
            <a:ln w="38100" algn="ctr">
              <a:solidFill>
                <a:srgbClr val="DDDDD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gray">
            <a:xfrm>
              <a:off x="909" y="774"/>
              <a:ext cx="1337" cy="1348"/>
            </a:xfrm>
            <a:prstGeom prst="ellipse">
              <a:avLst/>
            </a:prstGeom>
            <a:gradFill rotWithShape="1">
              <a:gsLst>
                <a:gs pos="0">
                  <a:srgbClr val="D3CE73"/>
                </a:gs>
                <a:gs pos="100000">
                  <a:srgbClr val="D3CE73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4" name="Rectangle 13"/>
          <p:cNvSpPr>
            <a:spLocks noChangeArrowheads="1"/>
          </p:cNvSpPr>
          <p:nvPr/>
        </p:nvSpPr>
        <p:spPr bwMode="gray">
          <a:xfrm>
            <a:off x="5909917" y="2077278"/>
            <a:ext cx="1946275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0" indent="266700" eaLnBrk="0" hangingPunct="0"/>
            <a:r>
              <a:rPr kumimoji="0" lang="zh-TW" altLang="en-US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硬體在最精簡模式下</a:t>
            </a:r>
            <a:r>
              <a:rPr kumimoji="0" lang="en-US" altLang="zh-TW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</a:t>
            </a:r>
            <a:r>
              <a:rPr kumimoji="0" lang="zh-TW" altLang="en-US" sz="12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求台北雲端事業群</a:t>
            </a:r>
            <a:r>
              <a:rPr kumimoji="0" lang="en-US" altLang="zh-TW" sz="12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</a:t>
            </a:r>
            <a:r>
              <a:rPr kumimoji="0" lang="zh-TW" altLang="en-US" sz="12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或服</a:t>
            </a:r>
            <a:r>
              <a:rPr kumimoji="0" lang="en-US" altLang="zh-TW" sz="120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    </a:t>
            </a:r>
            <a:r>
              <a:rPr kumimoji="0" lang="zh-TW" altLang="en-US" sz="12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務器事業群之合作</a:t>
            </a:r>
            <a:r>
              <a:rPr kumimoji="0" lang="en-US" altLang="zh-TW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</a:t>
            </a:r>
            <a:r>
              <a:rPr kumimoji="0" lang="zh-TW" altLang="en-US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在不花錢但共同共享成果的方式下進行</a:t>
            </a:r>
            <a:r>
              <a:rPr kumimoji="0" lang="en-US" altLang="zh-TW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.( PSG </a:t>
            </a:r>
            <a:r>
              <a:rPr kumimoji="0" lang="zh-TW" altLang="en-US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為平台</a:t>
            </a:r>
            <a:r>
              <a:rPr kumimoji="0" lang="en-US" altLang="zh-TW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對雲端事業群為製造雲商機</a:t>
            </a:r>
            <a:r>
              <a:rPr kumimoji="0" lang="en-US" altLang="zh-TW" sz="12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)</a:t>
            </a:r>
            <a:endParaRPr kumimoji="0" lang="en-US" altLang="zh-CN" sz="1050" b="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3336925" y="3946387"/>
            <a:ext cx="2257425" cy="2257425"/>
            <a:chOff x="867" y="738"/>
            <a:chExt cx="1422" cy="1422"/>
          </a:xfrm>
        </p:grpSpPr>
        <p:sp>
          <p:nvSpPr>
            <p:cNvPr id="16" name="Oval 15"/>
            <p:cNvSpPr>
              <a:spLocks noChangeArrowheads="1"/>
            </p:cNvSpPr>
            <p:nvPr/>
          </p:nvSpPr>
          <p:spPr bwMode="gray">
            <a:xfrm>
              <a:off x="867" y="738"/>
              <a:ext cx="1422" cy="1422"/>
            </a:xfrm>
            <a:prstGeom prst="ellipse">
              <a:avLst/>
            </a:prstGeom>
            <a:gradFill rotWithShape="1">
              <a:gsLst>
                <a:gs pos="0">
                  <a:srgbClr val="9999FF">
                    <a:gamma/>
                    <a:shade val="76078"/>
                    <a:invGamma/>
                  </a:srgbClr>
                </a:gs>
                <a:gs pos="100000">
                  <a:srgbClr val="9999FF"/>
                </a:gs>
              </a:gsLst>
              <a:lin ang="2700000" scaled="1"/>
            </a:gradFill>
            <a:ln w="38100" algn="ctr">
              <a:solidFill>
                <a:srgbClr val="DDDDD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gray">
            <a:xfrm>
              <a:off x="909" y="774"/>
              <a:ext cx="1337" cy="1348"/>
            </a:xfrm>
            <a:prstGeom prst="ellipse">
              <a:avLst/>
            </a:prstGeom>
            <a:gradFill rotWithShape="1">
              <a:gsLst>
                <a:gs pos="0">
                  <a:srgbClr val="9999FF"/>
                </a:gs>
                <a:gs pos="100000">
                  <a:srgbClr val="9999FF">
                    <a:gamma/>
                    <a:shade val="76078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8" name="Rectangle 17"/>
          <p:cNvSpPr>
            <a:spLocks noChangeArrowheads="1"/>
          </p:cNvSpPr>
          <p:nvPr/>
        </p:nvSpPr>
        <p:spPr bwMode="gray">
          <a:xfrm>
            <a:off x="3546130" y="4862306"/>
            <a:ext cx="1946275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0" indent="266700" eaLnBrk="0" hangingPunct="0"/>
            <a:r>
              <a:rPr kumimoji="0" lang="zh-TW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向雲端事業群協商使用重慶建置的雲機房</a:t>
            </a:r>
            <a:r>
              <a:rPr kumimoji="0" lang="en-US" altLang="zh-TW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 </a:t>
            </a:r>
            <a:r>
              <a:rPr kumimoji="0" lang="zh-TW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廠區內則以線上系統為</a:t>
            </a:r>
            <a:r>
              <a:rPr kumimoji="0" lang="zh-CN" altLang="en-US" sz="14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主</a:t>
            </a:r>
            <a:endParaRPr kumimoji="0" lang="en-US" altLang="zh-CN" sz="14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20" name="Freeform 19"/>
          <p:cNvSpPr>
            <a:spLocks/>
          </p:cNvSpPr>
          <p:nvPr/>
        </p:nvSpPr>
        <p:spPr bwMode="gray">
          <a:xfrm>
            <a:off x="3448050" y="4011475"/>
            <a:ext cx="2024063" cy="785812"/>
          </a:xfrm>
          <a:custGeom>
            <a:avLst/>
            <a:gdLst/>
            <a:ahLst/>
            <a:cxnLst>
              <a:cxn ang="0">
                <a:pos x="0" y="495"/>
              </a:cxn>
              <a:cxn ang="0">
                <a:pos x="1291" y="488"/>
              </a:cxn>
              <a:cxn ang="0">
                <a:pos x="1079" y="156"/>
              </a:cxn>
              <a:cxn ang="0">
                <a:pos x="635" y="0"/>
              </a:cxn>
              <a:cxn ang="0">
                <a:pos x="230" y="143"/>
              </a:cxn>
              <a:cxn ang="0">
                <a:pos x="0" y="495"/>
              </a:cxn>
            </a:cxnLst>
            <a:rect l="0" t="0" r="r" b="b"/>
            <a:pathLst>
              <a:path w="1291" h="495">
                <a:moveTo>
                  <a:pt x="0" y="495"/>
                </a:moveTo>
                <a:lnTo>
                  <a:pt x="1291" y="488"/>
                </a:lnTo>
                <a:cubicBezTo>
                  <a:pt x="1255" y="336"/>
                  <a:pt x="1163" y="231"/>
                  <a:pt x="1079" y="156"/>
                </a:cubicBezTo>
                <a:cubicBezTo>
                  <a:pt x="995" y="81"/>
                  <a:pt x="854" y="0"/>
                  <a:pt x="635" y="0"/>
                </a:cubicBezTo>
                <a:cubicBezTo>
                  <a:pt x="416" y="0"/>
                  <a:pt x="340" y="63"/>
                  <a:pt x="230" y="143"/>
                </a:cubicBezTo>
                <a:cubicBezTo>
                  <a:pt x="120" y="223"/>
                  <a:pt x="6" y="413"/>
                  <a:pt x="0" y="495"/>
                </a:cubicBezTo>
                <a:close/>
              </a:path>
            </a:pathLst>
          </a:custGeom>
          <a:solidFill>
            <a:srgbClr val="9999FF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black">
          <a:xfrm>
            <a:off x="3453641" y="4271203"/>
            <a:ext cx="204601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003300"/>
            </a:outerShdw>
          </a:effec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2000" dirty="0" smtClean="0">
                <a:solidFill>
                  <a:srgbClr val="FFFFFF"/>
                </a:solidFill>
                <a:ea typeface="宋体" pitchFamily="2" charset="-122"/>
              </a:rPr>
              <a:t>使用</a:t>
            </a:r>
            <a:r>
              <a:rPr lang="zh-CN" altLang="en-US" sz="2000" b="1" dirty="0" smtClean="0">
                <a:solidFill>
                  <a:srgbClr val="FFFFFF"/>
                </a:solidFill>
                <a:ea typeface="宋体" pitchFamily="2" charset="-122"/>
              </a:rPr>
              <a:t>重庆云机房</a:t>
            </a:r>
            <a:endParaRPr lang="en-US" altLang="zh-CN" sz="2000" b="1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gray">
          <a:xfrm>
            <a:off x="5810250" y="1230175"/>
            <a:ext cx="2033588" cy="781050"/>
          </a:xfrm>
          <a:custGeom>
            <a:avLst/>
            <a:gdLst/>
            <a:ahLst/>
            <a:cxnLst>
              <a:cxn ang="0">
                <a:pos x="0" y="490"/>
              </a:cxn>
              <a:cxn ang="0">
                <a:pos x="1293" y="492"/>
              </a:cxn>
              <a:cxn ang="0">
                <a:pos x="1081" y="160"/>
              </a:cxn>
              <a:cxn ang="0">
                <a:pos x="648" y="0"/>
              </a:cxn>
              <a:cxn ang="0">
                <a:pos x="232" y="147"/>
              </a:cxn>
              <a:cxn ang="0">
                <a:pos x="0" y="490"/>
              </a:cxn>
            </a:cxnLst>
            <a:rect l="0" t="0" r="r" b="b"/>
            <a:pathLst>
              <a:path w="1293" h="492">
                <a:moveTo>
                  <a:pt x="0" y="490"/>
                </a:moveTo>
                <a:lnTo>
                  <a:pt x="1293" y="492"/>
                </a:lnTo>
                <a:cubicBezTo>
                  <a:pt x="1257" y="340"/>
                  <a:pt x="1165" y="235"/>
                  <a:pt x="1081" y="160"/>
                </a:cubicBezTo>
                <a:cubicBezTo>
                  <a:pt x="997" y="85"/>
                  <a:pt x="867" y="0"/>
                  <a:pt x="648" y="0"/>
                </a:cubicBezTo>
                <a:cubicBezTo>
                  <a:pt x="429" y="0"/>
                  <a:pt x="342" y="67"/>
                  <a:pt x="232" y="147"/>
                </a:cubicBezTo>
                <a:cubicBezTo>
                  <a:pt x="122" y="227"/>
                  <a:pt x="18" y="421"/>
                  <a:pt x="0" y="490"/>
                </a:cubicBezTo>
                <a:close/>
              </a:path>
            </a:pathLst>
          </a:custGeom>
          <a:solidFill>
            <a:srgbClr val="D3CE73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gray">
          <a:xfrm>
            <a:off x="1311275" y="1231762"/>
            <a:ext cx="2038350" cy="785813"/>
          </a:xfrm>
          <a:custGeom>
            <a:avLst/>
            <a:gdLst/>
            <a:ahLst/>
            <a:cxnLst>
              <a:cxn ang="0">
                <a:pos x="0" y="495"/>
              </a:cxn>
              <a:cxn ang="0">
                <a:pos x="1284" y="492"/>
              </a:cxn>
              <a:cxn ang="0">
                <a:pos x="1072" y="160"/>
              </a:cxn>
              <a:cxn ang="0">
                <a:pos x="639" y="0"/>
              </a:cxn>
              <a:cxn ang="0">
                <a:pos x="223" y="147"/>
              </a:cxn>
              <a:cxn ang="0">
                <a:pos x="0" y="495"/>
              </a:cxn>
            </a:cxnLst>
            <a:rect l="0" t="0" r="r" b="b"/>
            <a:pathLst>
              <a:path w="1284" h="495">
                <a:moveTo>
                  <a:pt x="0" y="495"/>
                </a:moveTo>
                <a:lnTo>
                  <a:pt x="1284" y="492"/>
                </a:lnTo>
                <a:cubicBezTo>
                  <a:pt x="1248" y="340"/>
                  <a:pt x="1156" y="235"/>
                  <a:pt x="1072" y="160"/>
                </a:cubicBezTo>
                <a:cubicBezTo>
                  <a:pt x="988" y="85"/>
                  <a:pt x="858" y="0"/>
                  <a:pt x="639" y="0"/>
                </a:cubicBezTo>
                <a:cubicBezTo>
                  <a:pt x="420" y="0"/>
                  <a:pt x="333" y="67"/>
                  <a:pt x="223" y="147"/>
                </a:cubicBezTo>
                <a:cubicBezTo>
                  <a:pt x="113" y="227"/>
                  <a:pt x="18" y="426"/>
                  <a:pt x="0" y="495"/>
                </a:cubicBezTo>
                <a:close/>
              </a:path>
            </a:pathLst>
          </a:custGeom>
          <a:solidFill>
            <a:srgbClr val="A3C975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black">
          <a:xfrm>
            <a:off x="5934628" y="1330877"/>
            <a:ext cx="1836738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003300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000" b="1" dirty="0" smtClean="0">
                <a:solidFill>
                  <a:srgbClr val="FFFFFF"/>
                </a:solidFill>
                <a:ea typeface="宋体" pitchFamily="2" charset="-122"/>
              </a:rPr>
              <a:t>寻求硬体合作资源</a:t>
            </a:r>
            <a:endParaRPr lang="en-US" altLang="zh-CN" sz="2000" b="1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black">
          <a:xfrm>
            <a:off x="1439863" y="1313897"/>
            <a:ext cx="1836737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003300"/>
            </a:outerShdw>
          </a:effectLst>
        </p:spPr>
        <p:txBody>
          <a:bodyPr>
            <a:spAutoFit/>
          </a:bodyPr>
          <a:lstStyle/>
          <a:p>
            <a:pPr algn="ctr" eaLnBrk="0" hangingPunct="0"/>
            <a:r>
              <a:rPr lang="zh-TW" altLang="en-US" sz="2000" dirty="0" smtClean="0">
                <a:solidFill>
                  <a:srgbClr val="FFFFFF"/>
                </a:solidFill>
                <a:ea typeface="宋体" pitchFamily="2" charset="-122"/>
              </a:rPr>
              <a:t>整合</a:t>
            </a:r>
            <a:r>
              <a:rPr lang="en-US" altLang="zh-TW" sz="2000" dirty="0" smtClean="0">
                <a:solidFill>
                  <a:srgbClr val="FFFFFF"/>
                </a:solidFill>
                <a:ea typeface="宋体" pitchFamily="2" charset="-122"/>
              </a:rPr>
              <a:t>PSG</a:t>
            </a:r>
            <a:r>
              <a:rPr lang="zh-TW" altLang="en-US" sz="2000" dirty="0" smtClean="0">
                <a:solidFill>
                  <a:srgbClr val="FFFFFF"/>
                </a:solidFill>
                <a:ea typeface="宋体" pitchFamily="2" charset="-122"/>
              </a:rPr>
              <a:t>廠區各</a:t>
            </a:r>
            <a:r>
              <a:rPr lang="en-US" altLang="zh-TW" sz="2000" dirty="0" smtClean="0">
                <a:solidFill>
                  <a:srgbClr val="FFFFFF"/>
                </a:solidFill>
                <a:ea typeface="宋体" pitchFamily="2" charset="-122"/>
              </a:rPr>
              <a:t>FIS</a:t>
            </a:r>
            <a:r>
              <a:rPr lang="zh-TW" altLang="en-US" sz="2000" dirty="0" smtClean="0">
                <a:solidFill>
                  <a:srgbClr val="FFFFFF"/>
                </a:solidFill>
                <a:ea typeface="宋体" pitchFamily="2" charset="-122"/>
              </a:rPr>
              <a:t>單位</a:t>
            </a:r>
            <a:endParaRPr lang="en-US" altLang="zh-CN" sz="2000" dirty="0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gray">
          <a:xfrm>
            <a:off x="4192588" y="1906450"/>
            <a:ext cx="679450" cy="1857375"/>
          </a:xfrm>
          <a:custGeom>
            <a:avLst/>
            <a:gdLst/>
            <a:ahLst/>
            <a:cxnLst>
              <a:cxn ang="0">
                <a:pos x="166" y="611"/>
              </a:cxn>
              <a:cxn ang="0">
                <a:pos x="92" y="813"/>
              </a:cxn>
              <a:cxn ang="0">
                <a:pos x="112" y="1008"/>
              </a:cxn>
              <a:cxn ang="0">
                <a:pos x="104" y="1192"/>
              </a:cxn>
              <a:cxn ang="0">
                <a:pos x="124" y="1383"/>
              </a:cxn>
              <a:cxn ang="0">
                <a:pos x="104" y="1555"/>
              </a:cxn>
              <a:cxn ang="0">
                <a:pos x="88" y="1674"/>
              </a:cxn>
              <a:cxn ang="0">
                <a:pos x="10" y="1800"/>
              </a:cxn>
              <a:cxn ang="0">
                <a:pos x="64" y="1982"/>
              </a:cxn>
              <a:cxn ang="0">
                <a:pos x="173" y="2259"/>
              </a:cxn>
              <a:cxn ang="0">
                <a:pos x="301" y="2490"/>
              </a:cxn>
              <a:cxn ang="0">
                <a:pos x="391" y="2676"/>
              </a:cxn>
              <a:cxn ang="0">
                <a:pos x="346" y="2816"/>
              </a:cxn>
              <a:cxn ang="0">
                <a:pos x="260" y="2919"/>
              </a:cxn>
              <a:cxn ang="0">
                <a:pos x="367" y="2961"/>
              </a:cxn>
              <a:cxn ang="0">
                <a:pos x="298" y="3273"/>
              </a:cxn>
              <a:cxn ang="0">
                <a:pos x="361" y="3396"/>
              </a:cxn>
              <a:cxn ang="0">
                <a:pos x="515" y="3140"/>
              </a:cxn>
              <a:cxn ang="0">
                <a:pos x="631" y="2934"/>
              </a:cxn>
              <a:cxn ang="0">
                <a:pos x="667" y="2771"/>
              </a:cxn>
              <a:cxn ang="0">
                <a:pos x="679" y="2640"/>
              </a:cxn>
              <a:cxn ang="0">
                <a:pos x="703" y="2448"/>
              </a:cxn>
              <a:cxn ang="0">
                <a:pos x="733" y="2257"/>
              </a:cxn>
              <a:cxn ang="0">
                <a:pos x="796" y="2021"/>
              </a:cxn>
              <a:cxn ang="0">
                <a:pos x="757" y="1725"/>
              </a:cxn>
              <a:cxn ang="0">
                <a:pos x="740" y="1476"/>
              </a:cxn>
              <a:cxn ang="0">
                <a:pos x="787" y="1280"/>
              </a:cxn>
              <a:cxn ang="0">
                <a:pos x="842" y="1223"/>
              </a:cxn>
              <a:cxn ang="0">
                <a:pos x="1093" y="1083"/>
              </a:cxn>
              <a:cxn ang="0">
                <a:pos x="1241" y="902"/>
              </a:cxn>
              <a:cxn ang="0">
                <a:pos x="1201" y="720"/>
              </a:cxn>
              <a:cxn ang="0">
                <a:pos x="1055" y="569"/>
              </a:cxn>
              <a:cxn ang="0">
                <a:pos x="1081" y="345"/>
              </a:cxn>
              <a:cxn ang="0">
                <a:pos x="999" y="249"/>
              </a:cxn>
              <a:cxn ang="0">
                <a:pos x="927" y="515"/>
              </a:cxn>
              <a:cxn ang="0">
                <a:pos x="866" y="690"/>
              </a:cxn>
              <a:cxn ang="0">
                <a:pos x="832" y="699"/>
              </a:cxn>
              <a:cxn ang="0">
                <a:pos x="656" y="641"/>
              </a:cxn>
              <a:cxn ang="0">
                <a:pos x="533" y="545"/>
              </a:cxn>
              <a:cxn ang="0">
                <a:pos x="595" y="434"/>
              </a:cxn>
              <a:cxn ang="0">
                <a:pos x="592" y="374"/>
              </a:cxn>
              <a:cxn ang="0">
                <a:pos x="613" y="345"/>
              </a:cxn>
              <a:cxn ang="0">
                <a:pos x="599" y="270"/>
              </a:cxn>
              <a:cxn ang="0">
                <a:pos x="617" y="231"/>
              </a:cxn>
              <a:cxn ang="0">
                <a:pos x="575" y="146"/>
              </a:cxn>
              <a:cxn ang="0">
                <a:pos x="550" y="98"/>
              </a:cxn>
              <a:cxn ang="0">
                <a:pos x="416" y="11"/>
              </a:cxn>
              <a:cxn ang="0">
                <a:pos x="256" y="12"/>
              </a:cxn>
              <a:cxn ang="0">
                <a:pos x="134" y="75"/>
              </a:cxn>
              <a:cxn ang="0">
                <a:pos x="112" y="126"/>
              </a:cxn>
              <a:cxn ang="0">
                <a:pos x="85" y="200"/>
              </a:cxn>
              <a:cxn ang="0">
                <a:pos x="58" y="269"/>
              </a:cxn>
              <a:cxn ang="0">
                <a:pos x="85" y="318"/>
              </a:cxn>
            </a:cxnLst>
            <a:rect l="0" t="0" r="r" b="b"/>
            <a:pathLst>
              <a:path w="1243" h="3407">
                <a:moveTo>
                  <a:pt x="109" y="377"/>
                </a:moveTo>
                <a:lnTo>
                  <a:pt x="128" y="466"/>
                </a:lnTo>
                <a:cubicBezTo>
                  <a:pt x="137" y="505"/>
                  <a:pt x="151" y="571"/>
                  <a:pt x="166" y="611"/>
                </a:cubicBezTo>
                <a:cubicBezTo>
                  <a:pt x="181" y="651"/>
                  <a:pt x="222" y="678"/>
                  <a:pt x="217" y="704"/>
                </a:cubicBezTo>
                <a:lnTo>
                  <a:pt x="133" y="770"/>
                </a:lnTo>
                <a:cubicBezTo>
                  <a:pt x="112" y="788"/>
                  <a:pt x="98" y="794"/>
                  <a:pt x="92" y="813"/>
                </a:cubicBezTo>
                <a:cubicBezTo>
                  <a:pt x="85" y="829"/>
                  <a:pt x="95" y="865"/>
                  <a:pt x="95" y="884"/>
                </a:cubicBezTo>
                <a:cubicBezTo>
                  <a:pt x="95" y="903"/>
                  <a:pt x="88" y="905"/>
                  <a:pt x="91" y="926"/>
                </a:cubicBezTo>
                <a:lnTo>
                  <a:pt x="112" y="1008"/>
                </a:lnTo>
                <a:lnTo>
                  <a:pt x="128" y="1079"/>
                </a:lnTo>
                <a:lnTo>
                  <a:pt x="113" y="1112"/>
                </a:lnTo>
                <a:lnTo>
                  <a:pt x="104" y="1192"/>
                </a:lnTo>
                <a:lnTo>
                  <a:pt x="113" y="1274"/>
                </a:lnTo>
                <a:cubicBezTo>
                  <a:pt x="115" y="1297"/>
                  <a:pt x="111" y="1314"/>
                  <a:pt x="113" y="1332"/>
                </a:cubicBezTo>
                <a:cubicBezTo>
                  <a:pt x="115" y="1351"/>
                  <a:pt x="122" y="1366"/>
                  <a:pt x="124" y="1383"/>
                </a:cubicBezTo>
                <a:cubicBezTo>
                  <a:pt x="126" y="1400"/>
                  <a:pt x="125" y="1418"/>
                  <a:pt x="128" y="1434"/>
                </a:cubicBezTo>
                <a:cubicBezTo>
                  <a:pt x="123" y="1450"/>
                  <a:pt x="99" y="1467"/>
                  <a:pt x="95" y="1487"/>
                </a:cubicBezTo>
                <a:cubicBezTo>
                  <a:pt x="91" y="1507"/>
                  <a:pt x="103" y="1535"/>
                  <a:pt x="104" y="1555"/>
                </a:cubicBezTo>
                <a:lnTo>
                  <a:pt x="95" y="1595"/>
                </a:lnTo>
                <a:lnTo>
                  <a:pt x="85" y="1629"/>
                </a:lnTo>
                <a:lnTo>
                  <a:pt x="88" y="1674"/>
                </a:lnTo>
                <a:cubicBezTo>
                  <a:pt x="86" y="1687"/>
                  <a:pt x="74" y="1696"/>
                  <a:pt x="71" y="1707"/>
                </a:cubicBezTo>
                <a:cubicBezTo>
                  <a:pt x="68" y="1718"/>
                  <a:pt x="79" y="1728"/>
                  <a:pt x="68" y="1743"/>
                </a:cubicBezTo>
                <a:cubicBezTo>
                  <a:pt x="58" y="1758"/>
                  <a:pt x="18" y="1782"/>
                  <a:pt x="10" y="1800"/>
                </a:cubicBezTo>
                <a:cubicBezTo>
                  <a:pt x="0" y="1817"/>
                  <a:pt x="11" y="1822"/>
                  <a:pt x="19" y="1854"/>
                </a:cubicBezTo>
                <a:lnTo>
                  <a:pt x="28" y="1916"/>
                </a:lnTo>
                <a:lnTo>
                  <a:pt x="64" y="1982"/>
                </a:lnTo>
                <a:lnTo>
                  <a:pt x="71" y="2037"/>
                </a:lnTo>
                <a:lnTo>
                  <a:pt x="85" y="2090"/>
                </a:lnTo>
                <a:lnTo>
                  <a:pt x="173" y="2259"/>
                </a:lnTo>
                <a:lnTo>
                  <a:pt x="223" y="2352"/>
                </a:lnTo>
                <a:lnTo>
                  <a:pt x="249" y="2402"/>
                </a:lnTo>
                <a:lnTo>
                  <a:pt x="301" y="2490"/>
                </a:lnTo>
                <a:lnTo>
                  <a:pt x="335" y="2559"/>
                </a:lnTo>
                <a:lnTo>
                  <a:pt x="362" y="2615"/>
                </a:lnTo>
                <a:cubicBezTo>
                  <a:pt x="371" y="2634"/>
                  <a:pt x="385" y="2659"/>
                  <a:pt x="391" y="2676"/>
                </a:cubicBezTo>
                <a:cubicBezTo>
                  <a:pt x="397" y="2693"/>
                  <a:pt x="392" y="2702"/>
                  <a:pt x="401" y="2717"/>
                </a:cubicBezTo>
                <a:lnTo>
                  <a:pt x="443" y="2765"/>
                </a:lnTo>
                <a:lnTo>
                  <a:pt x="346" y="2816"/>
                </a:lnTo>
                <a:lnTo>
                  <a:pt x="262" y="2874"/>
                </a:lnTo>
                <a:cubicBezTo>
                  <a:pt x="248" y="2892"/>
                  <a:pt x="263" y="2915"/>
                  <a:pt x="263" y="2922"/>
                </a:cubicBezTo>
                <a:cubicBezTo>
                  <a:pt x="263" y="2929"/>
                  <a:pt x="254" y="2913"/>
                  <a:pt x="260" y="2919"/>
                </a:cubicBezTo>
                <a:cubicBezTo>
                  <a:pt x="266" y="2932"/>
                  <a:pt x="276" y="2956"/>
                  <a:pt x="298" y="2958"/>
                </a:cubicBezTo>
                <a:lnTo>
                  <a:pt x="386" y="2942"/>
                </a:lnTo>
                <a:lnTo>
                  <a:pt x="367" y="2961"/>
                </a:lnTo>
                <a:lnTo>
                  <a:pt x="341" y="3069"/>
                </a:lnTo>
                <a:lnTo>
                  <a:pt x="370" y="3103"/>
                </a:lnTo>
                <a:lnTo>
                  <a:pt x="298" y="3273"/>
                </a:lnTo>
                <a:lnTo>
                  <a:pt x="268" y="3344"/>
                </a:lnTo>
                <a:cubicBezTo>
                  <a:pt x="266" y="3363"/>
                  <a:pt x="269" y="3380"/>
                  <a:pt x="284" y="3389"/>
                </a:cubicBezTo>
                <a:cubicBezTo>
                  <a:pt x="296" y="3397"/>
                  <a:pt x="335" y="3407"/>
                  <a:pt x="361" y="3396"/>
                </a:cubicBezTo>
                <a:lnTo>
                  <a:pt x="443" y="3321"/>
                </a:lnTo>
                <a:lnTo>
                  <a:pt x="491" y="3249"/>
                </a:lnTo>
                <a:lnTo>
                  <a:pt x="515" y="3140"/>
                </a:lnTo>
                <a:lnTo>
                  <a:pt x="564" y="3103"/>
                </a:lnTo>
                <a:lnTo>
                  <a:pt x="588" y="3055"/>
                </a:lnTo>
                <a:lnTo>
                  <a:pt x="631" y="2934"/>
                </a:lnTo>
                <a:lnTo>
                  <a:pt x="647" y="2831"/>
                </a:lnTo>
                <a:lnTo>
                  <a:pt x="668" y="2811"/>
                </a:lnTo>
                <a:cubicBezTo>
                  <a:pt x="671" y="2801"/>
                  <a:pt x="665" y="2789"/>
                  <a:pt x="667" y="2771"/>
                </a:cubicBezTo>
                <a:cubicBezTo>
                  <a:pt x="669" y="2753"/>
                  <a:pt x="679" y="2716"/>
                  <a:pt x="680" y="2702"/>
                </a:cubicBezTo>
                <a:cubicBezTo>
                  <a:pt x="678" y="2685"/>
                  <a:pt x="670" y="2695"/>
                  <a:pt x="670" y="2685"/>
                </a:cubicBezTo>
                <a:lnTo>
                  <a:pt x="679" y="2640"/>
                </a:lnTo>
                <a:lnTo>
                  <a:pt x="676" y="2589"/>
                </a:lnTo>
                <a:lnTo>
                  <a:pt x="685" y="2499"/>
                </a:lnTo>
                <a:lnTo>
                  <a:pt x="703" y="2448"/>
                </a:lnTo>
                <a:lnTo>
                  <a:pt x="712" y="2400"/>
                </a:lnTo>
                <a:lnTo>
                  <a:pt x="718" y="2331"/>
                </a:lnTo>
                <a:lnTo>
                  <a:pt x="733" y="2257"/>
                </a:lnTo>
                <a:lnTo>
                  <a:pt x="760" y="2133"/>
                </a:lnTo>
                <a:cubicBezTo>
                  <a:pt x="771" y="2106"/>
                  <a:pt x="793" y="2115"/>
                  <a:pt x="799" y="2096"/>
                </a:cubicBezTo>
                <a:cubicBezTo>
                  <a:pt x="805" y="2077"/>
                  <a:pt x="802" y="2051"/>
                  <a:pt x="796" y="2021"/>
                </a:cubicBezTo>
                <a:lnTo>
                  <a:pt x="764" y="1916"/>
                </a:lnTo>
                <a:lnTo>
                  <a:pt x="769" y="1788"/>
                </a:lnTo>
                <a:lnTo>
                  <a:pt x="757" y="1725"/>
                </a:lnTo>
                <a:lnTo>
                  <a:pt x="758" y="1676"/>
                </a:lnTo>
                <a:lnTo>
                  <a:pt x="745" y="1625"/>
                </a:lnTo>
                <a:lnTo>
                  <a:pt x="740" y="1476"/>
                </a:lnTo>
                <a:lnTo>
                  <a:pt x="757" y="1418"/>
                </a:lnTo>
                <a:lnTo>
                  <a:pt x="767" y="1338"/>
                </a:lnTo>
                <a:lnTo>
                  <a:pt x="787" y="1280"/>
                </a:lnTo>
                <a:lnTo>
                  <a:pt x="797" y="1223"/>
                </a:lnTo>
                <a:lnTo>
                  <a:pt x="806" y="1218"/>
                </a:lnTo>
                <a:lnTo>
                  <a:pt x="842" y="1223"/>
                </a:lnTo>
                <a:lnTo>
                  <a:pt x="997" y="1176"/>
                </a:lnTo>
                <a:lnTo>
                  <a:pt x="1070" y="1137"/>
                </a:lnTo>
                <a:lnTo>
                  <a:pt x="1093" y="1083"/>
                </a:lnTo>
                <a:cubicBezTo>
                  <a:pt x="1116" y="1063"/>
                  <a:pt x="1187" y="1039"/>
                  <a:pt x="1207" y="1017"/>
                </a:cubicBezTo>
                <a:cubicBezTo>
                  <a:pt x="1226" y="993"/>
                  <a:pt x="1204" y="970"/>
                  <a:pt x="1210" y="951"/>
                </a:cubicBezTo>
                <a:cubicBezTo>
                  <a:pt x="1216" y="932"/>
                  <a:pt x="1238" y="919"/>
                  <a:pt x="1241" y="902"/>
                </a:cubicBezTo>
                <a:cubicBezTo>
                  <a:pt x="1243" y="881"/>
                  <a:pt x="1230" y="867"/>
                  <a:pt x="1229" y="848"/>
                </a:cubicBezTo>
                <a:cubicBezTo>
                  <a:pt x="1228" y="829"/>
                  <a:pt x="1242" y="810"/>
                  <a:pt x="1237" y="789"/>
                </a:cubicBezTo>
                <a:cubicBezTo>
                  <a:pt x="1234" y="763"/>
                  <a:pt x="1208" y="745"/>
                  <a:pt x="1201" y="720"/>
                </a:cubicBezTo>
                <a:cubicBezTo>
                  <a:pt x="1195" y="689"/>
                  <a:pt x="1208" y="660"/>
                  <a:pt x="1195" y="641"/>
                </a:cubicBezTo>
                <a:cubicBezTo>
                  <a:pt x="1179" y="620"/>
                  <a:pt x="1144" y="620"/>
                  <a:pt x="1121" y="608"/>
                </a:cubicBezTo>
                <a:cubicBezTo>
                  <a:pt x="1098" y="596"/>
                  <a:pt x="1069" y="583"/>
                  <a:pt x="1055" y="569"/>
                </a:cubicBezTo>
                <a:cubicBezTo>
                  <a:pt x="1037" y="556"/>
                  <a:pt x="1038" y="541"/>
                  <a:pt x="1037" y="522"/>
                </a:cubicBezTo>
                <a:cubicBezTo>
                  <a:pt x="1036" y="503"/>
                  <a:pt x="1044" y="481"/>
                  <a:pt x="1051" y="452"/>
                </a:cubicBezTo>
                <a:cubicBezTo>
                  <a:pt x="1058" y="423"/>
                  <a:pt x="1076" y="374"/>
                  <a:pt x="1081" y="345"/>
                </a:cubicBezTo>
                <a:cubicBezTo>
                  <a:pt x="1088" y="304"/>
                  <a:pt x="1087" y="297"/>
                  <a:pt x="1082" y="281"/>
                </a:cubicBezTo>
                <a:cubicBezTo>
                  <a:pt x="1077" y="265"/>
                  <a:pt x="1066" y="251"/>
                  <a:pt x="1052" y="246"/>
                </a:cubicBezTo>
                <a:cubicBezTo>
                  <a:pt x="1040" y="242"/>
                  <a:pt x="1016" y="232"/>
                  <a:pt x="999" y="249"/>
                </a:cubicBezTo>
                <a:cubicBezTo>
                  <a:pt x="983" y="265"/>
                  <a:pt x="963" y="309"/>
                  <a:pt x="953" y="344"/>
                </a:cubicBezTo>
                <a:cubicBezTo>
                  <a:pt x="945" y="376"/>
                  <a:pt x="945" y="434"/>
                  <a:pt x="941" y="462"/>
                </a:cubicBezTo>
                <a:lnTo>
                  <a:pt x="927" y="515"/>
                </a:lnTo>
                <a:lnTo>
                  <a:pt x="907" y="545"/>
                </a:lnTo>
                <a:lnTo>
                  <a:pt x="883" y="626"/>
                </a:lnTo>
                <a:lnTo>
                  <a:pt x="866" y="690"/>
                </a:lnTo>
                <a:lnTo>
                  <a:pt x="869" y="780"/>
                </a:lnTo>
                <a:lnTo>
                  <a:pt x="860" y="782"/>
                </a:lnTo>
                <a:lnTo>
                  <a:pt x="832" y="699"/>
                </a:lnTo>
                <a:lnTo>
                  <a:pt x="794" y="659"/>
                </a:lnTo>
                <a:cubicBezTo>
                  <a:pt x="777" y="648"/>
                  <a:pt x="750" y="636"/>
                  <a:pt x="727" y="633"/>
                </a:cubicBezTo>
                <a:cubicBezTo>
                  <a:pt x="706" y="630"/>
                  <a:pt x="677" y="642"/>
                  <a:pt x="656" y="641"/>
                </a:cubicBezTo>
                <a:cubicBezTo>
                  <a:pt x="634" y="640"/>
                  <a:pt x="610" y="632"/>
                  <a:pt x="602" y="627"/>
                </a:cubicBezTo>
                <a:lnTo>
                  <a:pt x="605" y="609"/>
                </a:lnTo>
                <a:lnTo>
                  <a:pt x="533" y="545"/>
                </a:lnTo>
                <a:cubicBezTo>
                  <a:pt x="524" y="530"/>
                  <a:pt x="544" y="530"/>
                  <a:pt x="550" y="521"/>
                </a:cubicBezTo>
                <a:cubicBezTo>
                  <a:pt x="556" y="512"/>
                  <a:pt x="565" y="503"/>
                  <a:pt x="572" y="489"/>
                </a:cubicBezTo>
                <a:cubicBezTo>
                  <a:pt x="582" y="469"/>
                  <a:pt x="591" y="455"/>
                  <a:pt x="595" y="434"/>
                </a:cubicBezTo>
                <a:cubicBezTo>
                  <a:pt x="597" y="419"/>
                  <a:pt x="596" y="402"/>
                  <a:pt x="593" y="399"/>
                </a:cubicBezTo>
                <a:cubicBezTo>
                  <a:pt x="590" y="396"/>
                  <a:pt x="578" y="393"/>
                  <a:pt x="578" y="389"/>
                </a:cubicBezTo>
                <a:cubicBezTo>
                  <a:pt x="578" y="385"/>
                  <a:pt x="588" y="378"/>
                  <a:pt x="592" y="374"/>
                </a:cubicBezTo>
                <a:lnTo>
                  <a:pt x="604" y="365"/>
                </a:lnTo>
                <a:lnTo>
                  <a:pt x="599" y="342"/>
                </a:lnTo>
                <a:lnTo>
                  <a:pt x="613" y="345"/>
                </a:lnTo>
                <a:lnTo>
                  <a:pt x="602" y="306"/>
                </a:lnTo>
                <a:cubicBezTo>
                  <a:pt x="603" y="298"/>
                  <a:pt x="617" y="300"/>
                  <a:pt x="617" y="294"/>
                </a:cubicBezTo>
                <a:cubicBezTo>
                  <a:pt x="618" y="290"/>
                  <a:pt x="600" y="277"/>
                  <a:pt x="599" y="270"/>
                </a:cubicBezTo>
                <a:lnTo>
                  <a:pt x="622" y="261"/>
                </a:lnTo>
                <a:cubicBezTo>
                  <a:pt x="621" y="252"/>
                  <a:pt x="594" y="221"/>
                  <a:pt x="593" y="216"/>
                </a:cubicBezTo>
                <a:cubicBezTo>
                  <a:pt x="594" y="211"/>
                  <a:pt x="623" y="249"/>
                  <a:pt x="617" y="231"/>
                </a:cubicBezTo>
                <a:cubicBezTo>
                  <a:pt x="611" y="213"/>
                  <a:pt x="599" y="197"/>
                  <a:pt x="595" y="189"/>
                </a:cubicBezTo>
                <a:cubicBezTo>
                  <a:pt x="591" y="182"/>
                  <a:pt x="575" y="164"/>
                  <a:pt x="604" y="177"/>
                </a:cubicBezTo>
                <a:cubicBezTo>
                  <a:pt x="633" y="190"/>
                  <a:pt x="581" y="155"/>
                  <a:pt x="575" y="146"/>
                </a:cubicBezTo>
                <a:cubicBezTo>
                  <a:pt x="569" y="137"/>
                  <a:pt x="565" y="127"/>
                  <a:pt x="566" y="122"/>
                </a:cubicBezTo>
                <a:cubicBezTo>
                  <a:pt x="567" y="117"/>
                  <a:pt x="584" y="121"/>
                  <a:pt x="581" y="117"/>
                </a:cubicBezTo>
                <a:cubicBezTo>
                  <a:pt x="578" y="113"/>
                  <a:pt x="560" y="107"/>
                  <a:pt x="550" y="98"/>
                </a:cubicBezTo>
                <a:cubicBezTo>
                  <a:pt x="540" y="89"/>
                  <a:pt x="537" y="74"/>
                  <a:pt x="523" y="63"/>
                </a:cubicBezTo>
                <a:cubicBezTo>
                  <a:pt x="507" y="48"/>
                  <a:pt x="485" y="40"/>
                  <a:pt x="467" y="31"/>
                </a:cubicBezTo>
                <a:cubicBezTo>
                  <a:pt x="449" y="22"/>
                  <a:pt x="434" y="16"/>
                  <a:pt x="416" y="11"/>
                </a:cubicBezTo>
                <a:cubicBezTo>
                  <a:pt x="398" y="6"/>
                  <a:pt x="378" y="0"/>
                  <a:pt x="359" y="2"/>
                </a:cubicBezTo>
                <a:cubicBezTo>
                  <a:pt x="339" y="5"/>
                  <a:pt x="321" y="19"/>
                  <a:pt x="304" y="21"/>
                </a:cubicBezTo>
                <a:cubicBezTo>
                  <a:pt x="287" y="23"/>
                  <a:pt x="275" y="8"/>
                  <a:pt x="256" y="12"/>
                </a:cubicBezTo>
                <a:cubicBezTo>
                  <a:pt x="239" y="15"/>
                  <a:pt x="208" y="31"/>
                  <a:pt x="190" y="44"/>
                </a:cubicBezTo>
                <a:lnTo>
                  <a:pt x="136" y="87"/>
                </a:lnTo>
                <a:cubicBezTo>
                  <a:pt x="127" y="92"/>
                  <a:pt x="137" y="72"/>
                  <a:pt x="134" y="75"/>
                </a:cubicBezTo>
                <a:cubicBezTo>
                  <a:pt x="132" y="77"/>
                  <a:pt x="125" y="96"/>
                  <a:pt x="121" y="104"/>
                </a:cubicBezTo>
                <a:cubicBezTo>
                  <a:pt x="118" y="105"/>
                  <a:pt x="117" y="80"/>
                  <a:pt x="115" y="84"/>
                </a:cubicBezTo>
                <a:cubicBezTo>
                  <a:pt x="113" y="88"/>
                  <a:pt x="115" y="111"/>
                  <a:pt x="112" y="126"/>
                </a:cubicBezTo>
                <a:cubicBezTo>
                  <a:pt x="109" y="141"/>
                  <a:pt x="100" y="170"/>
                  <a:pt x="94" y="174"/>
                </a:cubicBezTo>
                <a:cubicBezTo>
                  <a:pt x="90" y="187"/>
                  <a:pt x="72" y="133"/>
                  <a:pt x="77" y="152"/>
                </a:cubicBezTo>
                <a:cubicBezTo>
                  <a:pt x="82" y="171"/>
                  <a:pt x="86" y="196"/>
                  <a:pt x="85" y="200"/>
                </a:cubicBezTo>
                <a:cubicBezTo>
                  <a:pt x="84" y="204"/>
                  <a:pt x="73" y="170"/>
                  <a:pt x="70" y="176"/>
                </a:cubicBezTo>
                <a:cubicBezTo>
                  <a:pt x="87" y="212"/>
                  <a:pt x="67" y="215"/>
                  <a:pt x="68" y="237"/>
                </a:cubicBezTo>
                <a:cubicBezTo>
                  <a:pt x="66" y="252"/>
                  <a:pt x="77" y="263"/>
                  <a:pt x="58" y="269"/>
                </a:cubicBezTo>
                <a:cubicBezTo>
                  <a:pt x="39" y="275"/>
                  <a:pt x="77" y="275"/>
                  <a:pt x="77" y="279"/>
                </a:cubicBezTo>
                <a:cubicBezTo>
                  <a:pt x="77" y="283"/>
                  <a:pt x="74" y="297"/>
                  <a:pt x="58" y="294"/>
                </a:cubicBezTo>
                <a:cubicBezTo>
                  <a:pt x="42" y="291"/>
                  <a:pt x="80" y="310"/>
                  <a:pt x="85" y="318"/>
                </a:cubicBezTo>
                <a:cubicBezTo>
                  <a:pt x="90" y="326"/>
                  <a:pt x="85" y="334"/>
                  <a:pt x="89" y="344"/>
                </a:cubicBezTo>
                <a:lnTo>
                  <a:pt x="109" y="377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lin ang="540000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gray">
          <a:xfrm>
            <a:off x="3551238" y="1348547"/>
            <a:ext cx="19939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1C1C1C"/>
                </a:solidFill>
                <a:ea typeface="宋体" pitchFamily="2" charset="-122"/>
              </a:rPr>
              <a:t>建议方案</a:t>
            </a:r>
            <a:endParaRPr lang="en-US" altLang="zh-CN" sz="2000" b="1" dirty="0">
              <a:solidFill>
                <a:srgbClr val="1C1C1C"/>
              </a:solidFill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84878" y="264400"/>
            <a:ext cx="7302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目前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面臨難度及建議</a:t>
            </a:r>
            <a:endParaRPr lang="en-US" altLang="zh-CN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ChangeArrowheads="1"/>
          </p:cNvSpPr>
          <p:nvPr/>
        </p:nvSpPr>
        <p:spPr bwMode="gray">
          <a:xfrm>
            <a:off x="606287" y="1189383"/>
            <a:ext cx="5961344" cy="4180512"/>
          </a:xfrm>
          <a:prstGeom prst="rightArrow">
            <a:avLst>
              <a:gd name="adj1" fmla="val 79306"/>
              <a:gd name="adj2" fmla="val 30296"/>
            </a:avLst>
          </a:prstGeom>
          <a:gradFill rotWithShape="1">
            <a:gsLst>
              <a:gs pos="0">
                <a:schemeClr val="accent1">
                  <a:gamma/>
                  <a:tint val="0"/>
                  <a:invGamma/>
                  <a:alpha val="24001"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>
            <a:off x="758687" y="1798983"/>
            <a:ext cx="4378078" cy="92113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69804"/>
                  <a:invGamma/>
                </a:schemeClr>
              </a:gs>
            </a:gsLst>
            <a:lin ang="54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0" lang="zh-TW" altLang="en-US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資料搜集困難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gray">
          <a:xfrm>
            <a:off x="758687" y="2941983"/>
            <a:ext cx="4378078" cy="92113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tint val="69804"/>
                  <a:invGamma/>
                </a:schemeClr>
              </a:gs>
            </a:gsLst>
            <a:lin ang="54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kumimoji="0" lang="zh-CN" altLang="en-US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评分</a:t>
            </a:r>
            <a:r>
              <a:rPr kumimoji="0" lang="zh-TW" altLang="en-US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標準不一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>
            <a:off x="758687" y="4084983"/>
            <a:ext cx="4378078" cy="92113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69804"/>
                  <a:invGamma/>
                </a:schemeClr>
              </a:gs>
            </a:gsLst>
            <a:lin ang="54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dirty="0" smtClean="0">
                <a:solidFill>
                  <a:schemeClr val="bg1"/>
                </a:solidFill>
                <a:ea typeface="宋体" pitchFamily="2" charset="-122"/>
              </a:rPr>
              <a:t>不合作</a:t>
            </a:r>
            <a:r>
              <a:rPr lang="en-US" altLang="zh-CN" dirty="0" smtClean="0">
                <a:solidFill>
                  <a:schemeClr val="bg1"/>
                </a:solidFill>
                <a:ea typeface="宋体" pitchFamily="2" charset="-122"/>
              </a:rPr>
              <a:t>,</a:t>
            </a:r>
            <a:r>
              <a:rPr lang="zh-CN" altLang="en-US" dirty="0" smtClean="0">
                <a:solidFill>
                  <a:schemeClr val="bg1"/>
                </a:solidFill>
                <a:ea typeface="宋体" pitchFamily="2" charset="-122"/>
              </a:rPr>
              <a:t>实施困难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6347790" y="1838739"/>
            <a:ext cx="2478157" cy="3077814"/>
            <a:chOff x="528" y="1392"/>
            <a:chExt cx="1158" cy="2085"/>
          </a:xfrm>
        </p:grpSpPr>
        <p:sp>
          <p:nvSpPr>
            <p:cNvPr id="9" name="AutoShape 8"/>
            <p:cNvSpPr>
              <a:spLocks noChangeArrowheads="1"/>
            </p:cNvSpPr>
            <p:nvPr/>
          </p:nvSpPr>
          <p:spPr bwMode="gray">
            <a:xfrm>
              <a:off x="528" y="1392"/>
              <a:ext cx="1158" cy="2085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gray">
            <a:xfrm>
              <a:off x="576" y="1416"/>
              <a:ext cx="1063" cy="2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1" name="Text Box 10"/>
          <p:cNvSpPr txBox="1">
            <a:spLocks noChangeArrowheads="1"/>
          </p:cNvSpPr>
          <p:nvPr/>
        </p:nvSpPr>
        <p:spPr bwMode="gray">
          <a:xfrm>
            <a:off x="6679095" y="2574027"/>
            <a:ext cx="1899921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zh-TW" altLang="en-US" sz="3200" dirty="0" smtClean="0">
                <a:solidFill>
                  <a:schemeClr val="bg1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計分卡評分困難</a:t>
            </a:r>
            <a:r>
              <a:rPr kumimoji="0" lang="zh-CN" altLang="en-US" sz="3200" dirty="0" smtClean="0">
                <a:solidFill>
                  <a:schemeClr val="bg1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？？</a:t>
            </a:r>
            <a:endParaRPr lang="en-US" altLang="zh-CN" sz="3200" dirty="0">
              <a:solidFill>
                <a:schemeClr val="bg1"/>
              </a:solidFill>
              <a:ea typeface="宋体" pitchFamily="2" charset="-122"/>
            </a:endParaRPr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911087" y="2027583"/>
            <a:ext cx="593726" cy="476803"/>
            <a:chOff x="5088" y="240"/>
            <a:chExt cx="384" cy="384"/>
          </a:xfrm>
        </p:grpSpPr>
        <p:sp>
          <p:nvSpPr>
            <p:cNvPr id="13" name="Oval 12"/>
            <p:cNvSpPr>
              <a:spLocks noChangeArrowheads="1"/>
            </p:cNvSpPr>
            <p:nvPr/>
          </p:nvSpPr>
          <p:spPr bwMode="gray">
            <a:xfrm>
              <a:off x="5088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gray">
            <a:xfrm>
              <a:off x="5232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gray">
            <a:xfrm>
              <a:off x="5376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gray">
            <a:xfrm>
              <a:off x="5088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gray">
            <a:xfrm>
              <a:off x="5232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gray">
            <a:xfrm>
              <a:off x="5376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gray">
            <a:xfrm>
              <a:off x="5088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gray">
            <a:xfrm>
              <a:off x="5232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gray">
            <a:xfrm>
              <a:off x="5376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911087" y="3170583"/>
            <a:ext cx="593726" cy="476803"/>
            <a:chOff x="5088" y="240"/>
            <a:chExt cx="384" cy="384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gray">
            <a:xfrm>
              <a:off x="5088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gray">
            <a:xfrm>
              <a:off x="5232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gray">
            <a:xfrm>
              <a:off x="5376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gray">
            <a:xfrm>
              <a:off x="5088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gray">
            <a:xfrm>
              <a:off x="5232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gray">
            <a:xfrm>
              <a:off x="5376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gray">
            <a:xfrm>
              <a:off x="5088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gray">
            <a:xfrm>
              <a:off x="5232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gray">
            <a:xfrm>
              <a:off x="5376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911087" y="4313583"/>
            <a:ext cx="593726" cy="476803"/>
            <a:chOff x="5088" y="240"/>
            <a:chExt cx="384" cy="384"/>
          </a:xfrm>
        </p:grpSpPr>
        <p:sp>
          <p:nvSpPr>
            <p:cNvPr id="33" name="Oval 32"/>
            <p:cNvSpPr>
              <a:spLocks noChangeArrowheads="1"/>
            </p:cNvSpPr>
            <p:nvPr/>
          </p:nvSpPr>
          <p:spPr bwMode="gray">
            <a:xfrm>
              <a:off x="5088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gray">
            <a:xfrm>
              <a:off x="5232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gray">
            <a:xfrm>
              <a:off x="5376" y="240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gray">
            <a:xfrm>
              <a:off x="5088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gray">
            <a:xfrm>
              <a:off x="5232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gray">
            <a:xfrm>
              <a:off x="5376" y="384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gray">
            <a:xfrm>
              <a:off x="5088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gray">
            <a:xfrm>
              <a:off x="5232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gray">
            <a:xfrm>
              <a:off x="5376" y="528"/>
              <a:ext cx="96" cy="96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42" name="Rectangle 1"/>
          <p:cNvSpPr>
            <a:spLocks noChangeArrowheads="1"/>
          </p:cNvSpPr>
          <p:nvPr/>
        </p:nvSpPr>
        <p:spPr bwMode="auto">
          <a:xfrm>
            <a:off x="865918" y="5221756"/>
            <a:ext cx="821533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過去公司不乏各項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KPI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計分方式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 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也曾有多次提及需由系統自動生成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但多因某些資料搜集困難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或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標準不一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而不了了之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 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再加上如列為各功能單位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KPI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後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, 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影響到各單位績效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勢必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備受各單位挑戰</a:t>
            </a:r>
            <a:r>
              <a:rPr kumimoji="0" lang="zh-TW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其客觀評分標準</a:t>
            </a:r>
            <a:r>
              <a: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84878" y="264400"/>
            <a:ext cx="7302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目前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面臨難度及建議</a:t>
            </a:r>
            <a:endParaRPr lang="en-US" altLang="zh-CN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  <p:sp>
        <p:nvSpPr>
          <p:cNvPr id="45" name="AutoShape 64"/>
          <p:cNvSpPr>
            <a:spLocks noChangeArrowheads="1"/>
          </p:cNvSpPr>
          <p:nvPr/>
        </p:nvSpPr>
        <p:spPr bwMode="gray">
          <a:xfrm>
            <a:off x="753442" y="1060170"/>
            <a:ext cx="3705915" cy="46382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28575">
            <a:solidFill>
              <a:srgbClr val="DDDDDD"/>
            </a:solidFill>
            <a:round/>
            <a:headEnd/>
            <a:tailEnd/>
          </a:ln>
          <a:effectLst>
            <a:outerShdw dist="35921" dir="2700000" algn="ctr" rotWithShape="0">
              <a:srgbClr val="292929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629479" y="1033787"/>
            <a:ext cx="35622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eaLnBrk="0" hangingPunct="0"/>
            <a:r>
              <a:rPr kumimoji="0" lang="zh-CN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二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.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 </a:t>
            </a:r>
            <a:r>
              <a:rPr kumimoji="0" lang="zh-CN" altLang="en-US" sz="2400" dirty="0" smtClean="0">
                <a:latin typeface="Adobe 楷体 Std R" pitchFamily="18" charset="-122"/>
                <a:ea typeface="Adobe 楷体 Std R" pitchFamily="18" charset="-122"/>
                <a:cs typeface="Times New Roman" pitchFamily="18" charset="0"/>
              </a:rPr>
              <a:t>计分卡评分方面</a:t>
            </a:r>
            <a:endParaRPr kumimoji="0" lang="en-US" altLang="zh-CN" sz="2400" b="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128437" y="1111112"/>
            <a:ext cx="60409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zh-CN" altLang="en-US" sz="2400" b="1" dirty="0" smtClean="0">
                <a:ea typeface="宋体" pitchFamily="2" charset="-122"/>
              </a:rPr>
              <a:t>建议</a:t>
            </a:r>
            <a:r>
              <a:rPr lang="en-US" altLang="zh-CN" sz="2400" b="1" dirty="0" smtClean="0">
                <a:ea typeface="宋体" pitchFamily="2" charset="-122"/>
              </a:rPr>
              <a:t>1</a:t>
            </a:r>
            <a:r>
              <a:rPr lang="zh-CN" altLang="en-US" sz="2400" b="1" dirty="0" smtClean="0">
                <a:ea typeface="宋体" pitchFamily="2" charset="-122"/>
              </a:rPr>
              <a:t>：成立改善小组</a:t>
            </a:r>
            <a:r>
              <a:rPr lang="en-US" altLang="zh-CN" sz="2400" b="1" dirty="0" smtClean="0">
                <a:ea typeface="宋体" pitchFamily="2" charset="-122"/>
              </a:rPr>
              <a:t>,</a:t>
            </a:r>
            <a:r>
              <a:rPr lang="zh-CN" altLang="en-US" sz="2400" b="1" dirty="0" smtClean="0">
                <a:ea typeface="宋体" pitchFamily="2" charset="-122"/>
              </a:rPr>
              <a:t>优化流程</a:t>
            </a:r>
            <a:endParaRPr lang="en-US" altLang="zh-CN" sz="2400" b="1" dirty="0">
              <a:ea typeface="宋体" pitchFamily="2" charset="-122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128436" y="3382825"/>
            <a:ext cx="58157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r>
              <a:rPr lang="zh-CN" altLang="en-US" sz="2400" dirty="0" smtClean="0">
                <a:ea typeface="宋体" pitchFamily="2" charset="-122"/>
              </a:rPr>
              <a:t>建议</a:t>
            </a:r>
            <a:r>
              <a:rPr lang="en-US" altLang="zh-CN" sz="2400" dirty="0" smtClean="0">
                <a:ea typeface="宋体" pitchFamily="2" charset="-122"/>
              </a:rPr>
              <a:t>2</a:t>
            </a:r>
            <a:r>
              <a:rPr lang="zh-CN" altLang="en-US" sz="2400" dirty="0" smtClean="0">
                <a:ea typeface="宋体" pitchFamily="2" charset="-122"/>
              </a:rPr>
              <a:t>：考虑例外因素，确保公正性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gray">
          <a:xfrm>
            <a:off x="1136374" y="1749287"/>
            <a:ext cx="6828183" cy="123348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2D050"/>
              </a:gs>
              <a:gs pos="50000">
                <a:schemeClr val="hlink"/>
              </a:gs>
              <a:gs pos="100000">
                <a:schemeClr val="hlink">
                  <a:gamma/>
                  <a:tint val="75686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303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某些必要的資料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如不變更流程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納入系統管理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是無法由系統獲得的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 </a:t>
            </a:r>
          </a:p>
          <a:p>
            <a:pPr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這些可由委員會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先期成立</a:t>
            </a:r>
            <a:r>
              <a:rPr kumimoji="0" lang="zh-TW" altLang="en-US" sz="16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流程改善及合理化小組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調查各流程</a:t>
            </a:r>
            <a:endParaRPr kumimoji="0" lang="en-US" altLang="zh-TW" sz="16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如何系統化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也可加速改善及進而做到流程優化改善效率之果效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CN" sz="1600" dirty="0">
              <a:ea typeface="宋体" pitchFamily="2" charset="-122"/>
            </a:endParaRP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1209399" y="3990837"/>
            <a:ext cx="6900932" cy="1231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2D050"/>
              </a:gs>
              <a:gs pos="50000">
                <a:schemeClr val="accent1"/>
              </a:gs>
              <a:gs pos="100000">
                <a:schemeClr val="accent1">
                  <a:gamma/>
                  <a:tint val="75686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303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lvl="0"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在統計的角度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總會有取分上影響到總體分值的特殊事件或原因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若不把干擾</a:t>
            </a:r>
            <a:endParaRPr kumimoji="0" lang="en-US" altLang="zh-TW" sz="16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因素除外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在績效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KPI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的呈現上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會有失真也失去公正性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這部份需要有專責</a:t>
            </a:r>
            <a:endParaRPr kumimoji="0" lang="en-US" altLang="zh-TW" sz="1600" b="0" dirty="0" smtClean="0">
              <a:latin typeface="PMingLiU" pitchFamily="18" charset="-120"/>
              <a:ea typeface="PMingLiU" pitchFamily="18" charset="-120"/>
              <a:cs typeface="Times New Roman" pitchFamily="18" charset="0"/>
            </a:endParaRPr>
          </a:p>
          <a:p>
            <a:pPr lvl="0" algn="ctr"/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單位主動調查或接受用戶單位申訴後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, </a:t>
            </a:r>
            <a:r>
              <a:rPr kumimoji="0" lang="zh-TW" altLang="en-US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特案呈報高層主管後</a:t>
            </a:r>
            <a:r>
              <a:rPr kumimoji="0" lang="en-US" altLang="zh-TW" sz="1600" b="0" dirty="0" smtClean="0"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r>
              <a:rPr kumimoji="0" lang="zh-TW" altLang="en-US" sz="16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授權調整分值</a:t>
            </a:r>
            <a:r>
              <a:rPr kumimoji="0" lang="en-US" altLang="zh-TW" sz="1600" b="0" dirty="0" smtClean="0">
                <a:solidFill>
                  <a:srgbClr val="FF0000"/>
                </a:solidFill>
                <a:latin typeface="PMingLiU" pitchFamily="18" charset="-12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CN" sz="1600" dirty="0"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4878" y="264400"/>
            <a:ext cx="7302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目前</a:t>
            </a:r>
            <a:r>
              <a:rPr lang="en-US" altLang="zh-TW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BIGDATA </a:t>
            </a:r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面臨難度及建議</a:t>
            </a:r>
            <a:endParaRPr lang="en-US" altLang="zh-CN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3826" y="1980150"/>
            <a:ext cx="8825948" cy="2108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BIGDATA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不是新觀念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,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在現今各大電商及雲端商機的掘起下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,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變成當紅話題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.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</a:t>
            </a:r>
            <a:endParaRPr kumimoji="0" lang="en-US" altLang="zh-TW" sz="240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TW" sz="110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一方面是現今雲端應用時機較成熟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另一</a:t>
            </a:r>
            <a:r>
              <a:rPr kumimoji="0" lang="zh-TW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方面在數據庫應用方面也有較新的技術支持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,</a:t>
            </a:r>
            <a:r>
              <a:rPr kumimoji="0" lang="zh-TW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FIS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團隊希望能在這方面能有為公司創造更大競爭力的使命及期待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,</a:t>
            </a:r>
            <a:r>
              <a:rPr kumimoji="0" lang="zh-TW" altLang="en-US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</a:t>
            </a:r>
            <a:r>
              <a:rPr kumimoji="0" lang="zh-TW" altLang="en-US" sz="2400" dirty="0" smtClean="0">
                <a:solidFill>
                  <a:schemeClr val="accent2"/>
                </a:solidFill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還希望各位長官領導給予支持</a:t>
            </a:r>
            <a:r>
              <a:rPr kumimoji="0" lang="en-US" altLang="zh-TW" sz="240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.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7158" y="264402"/>
            <a:ext cx="26510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結 語</a:t>
            </a:r>
            <a:endParaRPr kumimoji="0" lang="en-US" altLang="zh-CN" sz="3600" b="1" dirty="0" smtClean="0"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455266" y="1181601"/>
            <a:ext cx="8834507" cy="492488"/>
            <a:chOff x="561283" y="996070"/>
            <a:chExt cx="8834507" cy="492488"/>
          </a:xfrm>
        </p:grpSpPr>
        <p:sp>
          <p:nvSpPr>
            <p:cNvPr id="5" name="AutoShape 64"/>
            <p:cNvSpPr>
              <a:spLocks noChangeArrowheads="1"/>
            </p:cNvSpPr>
            <p:nvPr/>
          </p:nvSpPr>
          <p:spPr bwMode="gray">
            <a:xfrm>
              <a:off x="561283" y="996070"/>
              <a:ext cx="8834507" cy="492488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8575">
              <a:solidFill>
                <a:srgbClr val="92D050"/>
              </a:solidFill>
              <a:round/>
              <a:headEnd/>
              <a:tailEnd/>
            </a:ln>
            <a:effectLst>
              <a:outerShdw dist="35921" dir="2700000" algn="ctr" rotWithShape="0">
                <a:srgbClr val="292929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42685" y="1020538"/>
              <a:ext cx="8648521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200" dirty="0" smtClean="0">
                  <a:solidFill>
                    <a:schemeClr val="accent2"/>
                  </a:solidFill>
                </a:rPr>
                <a:t>未来，企业会依靠洞悉数据中的信息更加了解自己，也更加了解客户</a:t>
              </a:r>
              <a:endParaRPr lang="zh-TW" altLang="en-US" sz="22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8" name="雲朵形圖說文字 7"/>
          <p:cNvSpPr/>
          <p:nvPr/>
        </p:nvSpPr>
        <p:spPr bwMode="auto">
          <a:xfrm>
            <a:off x="887895" y="4333460"/>
            <a:ext cx="7951304" cy="1126435"/>
          </a:xfrm>
          <a:prstGeom prst="cloudCallout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81176" y="4492608"/>
            <a:ext cx="55531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FF9933"/>
                </a:solidFill>
                <a:latin typeface="Adobe 楷体 Std R" pitchFamily="18" charset="-122"/>
                <a:ea typeface="Adobe 楷体 Std R" pitchFamily="18" charset="-122"/>
              </a:rPr>
              <a:t>传统行业最终都会转变为大数据行业，</a:t>
            </a:r>
            <a:endParaRPr lang="en-US" altLang="zh-CN" sz="2400" dirty="0" smtClean="0">
              <a:solidFill>
                <a:srgbClr val="FF9933"/>
              </a:solidFill>
              <a:latin typeface="Adobe 楷体 Std R" pitchFamily="18" charset="-122"/>
              <a:ea typeface="Adobe 楷体 Std R" pitchFamily="18" charset="-122"/>
            </a:endParaRPr>
          </a:p>
          <a:p>
            <a:r>
              <a:rPr lang="zh-CN" altLang="en-US" sz="2400" dirty="0" smtClean="0">
                <a:solidFill>
                  <a:srgbClr val="FF9933"/>
                </a:solidFill>
                <a:latin typeface="Adobe 楷体 Std R" pitchFamily="18" charset="-122"/>
                <a:ea typeface="Adobe 楷体 Std R" pitchFamily="18" charset="-122"/>
              </a:rPr>
              <a:t>无论是金融业，医疗还是制造业</a:t>
            </a:r>
            <a:r>
              <a:rPr lang="en-US" altLang="zh-CN" sz="2400" dirty="0" smtClean="0">
                <a:solidFill>
                  <a:srgbClr val="FF9933"/>
                </a:solidFill>
                <a:latin typeface="Adobe 楷体 Std R" pitchFamily="18" charset="-122"/>
                <a:ea typeface="Adobe 楷体 Std R" pitchFamily="18" charset="-122"/>
              </a:rPr>
              <a:t>.</a:t>
            </a:r>
            <a:endParaRPr lang="zh-TW" altLang="en-US" sz="2400" dirty="0">
              <a:solidFill>
                <a:srgbClr val="FF9933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10205" y="5738312"/>
            <a:ext cx="20249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000" dirty="0" smtClean="0">
                <a:latin typeface="Adobe 楷体 Std R" pitchFamily="18" charset="-122"/>
                <a:ea typeface="Adobe 楷体 Std R" pitchFamily="18" charset="-122"/>
              </a:rPr>
              <a:t>《</a:t>
            </a:r>
            <a:r>
              <a:rPr kumimoji="0" lang="zh-CN" altLang="en-US" sz="2000" dirty="0" smtClean="0">
                <a:latin typeface="Adobe 楷体 Std R" pitchFamily="18" charset="-122"/>
                <a:ea typeface="Adobe 楷体 Std R" pitchFamily="18" charset="-122"/>
              </a:rPr>
              <a:t>大数据时代</a:t>
            </a:r>
            <a:r>
              <a:rPr kumimoji="0" lang="en-US" altLang="zh-CN" sz="2000" dirty="0" smtClean="0">
                <a:latin typeface="Adobe 楷体 Std R" pitchFamily="18" charset="-122"/>
                <a:ea typeface="Adobe 楷体 Std R" pitchFamily="18" charset="-122"/>
              </a:rPr>
              <a:t>》</a:t>
            </a:r>
            <a:endParaRPr lang="zh-TW" altLang="en-US" sz="20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36104" y="1233469"/>
            <a:ext cx="7977809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目前</a:t>
            </a:r>
            <a:r>
              <a:rPr kumimoji="0" lang="en-US" altLang="zh-TW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FIS/IMES</a:t>
            </a:r>
            <a:r>
              <a:rPr kumimoji="0" lang="zh-TW" altLang="en-US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己搜集數據</a:t>
            </a:r>
            <a:endParaRPr kumimoji="0" lang="en-US" altLang="zh-TW" sz="3600" b="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目前可分析統計報表</a:t>
            </a:r>
            <a:endParaRPr kumimoji="0" lang="en-US" altLang="zh-TW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尚需改進流程可獲取之數據</a:t>
            </a:r>
            <a:endParaRPr kumimoji="0" lang="en-US" altLang="zh-TW" sz="3600" b="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難易度</a:t>
            </a:r>
            <a:r>
              <a:rPr kumimoji="0" lang="en-US" altLang="zh-TW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/</a:t>
            </a:r>
            <a:r>
              <a:rPr kumimoji="0" lang="zh-TW" altLang="en-US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重要性 分類</a:t>
            </a:r>
            <a:endParaRPr kumimoji="0" lang="en-US" altLang="zh-TW" sz="3600" b="0" dirty="0" smtClean="0"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預估軟體</a:t>
            </a:r>
            <a:r>
              <a:rPr kumimoji="0" lang="en-US" altLang="zh-TW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/</a:t>
            </a:r>
            <a:r>
              <a:rPr kumimoji="0" lang="zh-TW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硬體</a:t>
            </a:r>
            <a:r>
              <a:rPr kumimoji="0" lang="en-US" altLang="zh-TW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/</a:t>
            </a:r>
            <a:r>
              <a:rPr kumimoji="0" lang="zh-TW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人力 資源</a:t>
            </a:r>
            <a:endParaRPr kumimoji="0" lang="en-US" altLang="zh-TW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en-US" sz="3600" b="0" dirty="0" smtClean="0">
                <a:latin typeface="Adobe 楷体 Std R" pitchFamily="18" charset="-122"/>
                <a:ea typeface="Adobe 楷体 Std R" pitchFamily="18" charset="-122"/>
                <a:cs typeface="宋体" pitchFamily="2" charset="-122"/>
              </a:rPr>
              <a:t> 預估專案時間表</a:t>
            </a:r>
            <a:endParaRPr kumimoji="0" lang="zh-CN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dobe 楷体 Std R" pitchFamily="18" charset="-122"/>
              <a:ea typeface="Adobe 楷体 Std R" pitchFamily="18" charset="-122"/>
              <a:cs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7158" y="304158"/>
            <a:ext cx="7000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/>
            <a:r>
              <a:rPr lang="zh-TW" altLang="en-US" sz="3600" dirty="0" smtClean="0">
                <a:solidFill>
                  <a:srgbClr val="CC3300"/>
                </a:solidFill>
                <a:latin typeface="Verdana" pitchFamily="34" charset="0"/>
                <a:ea typeface="Batang" pitchFamily="18" charset="-127"/>
              </a:rPr>
              <a:t>附 件</a:t>
            </a:r>
            <a:endParaRPr lang="en-US" altLang="zh-CN" sz="3600" dirty="0" smtClean="0">
              <a:solidFill>
                <a:srgbClr val="CC3300"/>
              </a:solidFill>
              <a:latin typeface="Verdana" pitchFamily="34" charset="0"/>
              <a:ea typeface="Batang" pitchFamily="18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3978275" y="5000625"/>
            <a:ext cx="22288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altLang="zh-TW" sz="2600" b="0"/>
              <a:t>Thank You</a:t>
            </a:r>
          </a:p>
        </p:txBody>
      </p:sp>
      <p:cxnSp>
        <p:nvCxnSpPr>
          <p:cNvPr id="13315" name="直線接點 6"/>
          <p:cNvCxnSpPr>
            <a:cxnSpLocks noChangeShapeType="1"/>
          </p:cNvCxnSpPr>
          <p:nvPr/>
        </p:nvCxnSpPr>
        <p:spPr bwMode="auto">
          <a:xfrm>
            <a:off x="3051175" y="5019675"/>
            <a:ext cx="4003675" cy="1588"/>
          </a:xfrm>
          <a:prstGeom prst="line">
            <a:avLst/>
          </a:prstGeom>
          <a:noFill/>
          <a:ln w="9525" algn="ctr">
            <a:solidFill>
              <a:srgbClr val="333333"/>
            </a:solidFill>
            <a:round/>
            <a:headEnd/>
            <a:tailEnd/>
          </a:ln>
        </p:spPr>
      </p:cxnSp>
      <p:sp>
        <p:nvSpPr>
          <p:cNvPr id="13316" name="Rectangle 2"/>
          <p:cNvSpPr txBox="1">
            <a:spLocks noChangeArrowheads="1"/>
          </p:cNvSpPr>
          <p:nvPr/>
        </p:nvSpPr>
        <p:spPr bwMode="auto">
          <a:xfrm>
            <a:off x="2751138" y="4492625"/>
            <a:ext cx="4570412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en-US" altLang="zh-TW" sz="3300" b="0"/>
              <a:t>Question and Answer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ventec NEW CIS A">
  <a:themeElements>
    <a:clrScheme name="Inventec NEW CIS 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ventec NEW CIS A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lnDef>
  </a:objectDefaults>
  <a:extraClrSchemeLst>
    <a:extraClrScheme>
      <a:clrScheme name="Inventec NEW CIS 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 Unicode MS"/>
        <a:ea typeface="新細明體"/>
        <a:cs typeface=""/>
      </a:majorFont>
      <a:minorFont>
        <a:latin typeface="Arial Unicode MS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Inventec NEW CIS 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自訂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26667</TotalTime>
  <Words>1457</Words>
  <Application>Microsoft Office PowerPoint</Application>
  <PresentationFormat>A4 紙張 (210x297 公釐)</PresentationFormat>
  <Paragraphs>213</Paragraphs>
  <Slides>20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2" baseType="lpstr">
      <vt:lpstr>Inventec NEW CIS A</vt:lpstr>
      <vt:lpstr>自訂設計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</vt:vector>
  </TitlesOfParts>
  <Company>IEC1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Inventec NEW CIS</dc:title>
  <dc:creator>iec930499</dc:creator>
  <cp:lastModifiedBy>iec840126</cp:lastModifiedBy>
  <cp:revision>1708</cp:revision>
  <dcterms:created xsi:type="dcterms:W3CDTF">2005-04-26T02:51:16Z</dcterms:created>
  <dcterms:modified xsi:type="dcterms:W3CDTF">2014-12-18T02:19:08Z</dcterms:modified>
</cp:coreProperties>
</file>