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8" r:id="rId5"/>
  </p:sldMasterIdLst>
  <p:notesMasterIdLst>
    <p:notesMasterId r:id="rId16"/>
  </p:notesMasterIdLst>
  <p:handoutMasterIdLst>
    <p:handoutMasterId r:id="rId17"/>
  </p:handoutMasterIdLst>
  <p:sldIdLst>
    <p:sldId id="350" r:id="rId6"/>
    <p:sldId id="434" r:id="rId7"/>
    <p:sldId id="430" r:id="rId8"/>
    <p:sldId id="442" r:id="rId9"/>
    <p:sldId id="436" r:id="rId10"/>
    <p:sldId id="428" r:id="rId11"/>
    <p:sldId id="431" r:id="rId12"/>
    <p:sldId id="441" r:id="rId13"/>
    <p:sldId id="438" r:id="rId14"/>
    <p:sldId id="349" r:id="rId15"/>
  </p:sldIdLst>
  <p:sldSz cx="9906000" cy="6858000" type="A4"/>
  <p:notesSz cx="6873875" cy="1006316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56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28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00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72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70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  <a:srgbClr val="FFFFFF"/>
    <a:srgbClr val="4F81BD"/>
    <a:srgbClr val="FFCC66"/>
    <a:srgbClr val="0000FF"/>
    <a:srgbClr val="0066FF"/>
    <a:srgbClr val="808080"/>
    <a:srgbClr val="FF0000"/>
    <a:srgbClr val="D99694"/>
    <a:srgbClr val="FAC09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9" autoAdjust="0"/>
    <p:restoredTop sz="96161" autoAdjust="0"/>
  </p:normalViewPr>
  <p:slideViewPr>
    <p:cSldViewPr>
      <p:cViewPr>
        <p:scale>
          <a:sx n="70" d="100"/>
          <a:sy n="70" d="100"/>
        </p:scale>
        <p:origin x="-974" y="5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30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1086"/>
    </p:cViewPr>
  </p:sorterViewPr>
  <p:notesViewPr>
    <p:cSldViewPr>
      <p:cViewPr varScale="1">
        <p:scale>
          <a:sx n="55" d="100"/>
          <a:sy n="55" d="100"/>
        </p:scale>
        <p:origin x="-1878" y="-96"/>
      </p:cViewPr>
      <p:guideLst>
        <p:guide orient="horz" pos="3170"/>
        <p:guide pos="2166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9738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kumimoji="0" sz="1200">
                <a:latin typeface="Calibri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 bwMode="auto">
          <a:xfrm>
            <a:off x="3892550" y="0"/>
            <a:ext cx="2979738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kumimoji="0" sz="1200">
                <a:latin typeface="Calibri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01473CD8-45F3-4150-BFAB-6B7F3FE1B0DE}" type="datetimeFigureOut">
              <a:rPr lang="zh-TW" altLang="en-US"/>
              <a:pPr>
                <a:defRPr/>
              </a:pPr>
              <a:t>2015/1/28</a:t>
            </a:fld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 bwMode="auto">
          <a:xfrm>
            <a:off x="0" y="9558338"/>
            <a:ext cx="2979738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kumimoji="0" sz="1200">
                <a:latin typeface="Calibri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 bwMode="auto">
          <a:xfrm>
            <a:off x="3892550" y="9558338"/>
            <a:ext cx="2979738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kumimoji="0" sz="1200">
                <a:latin typeface="Calibri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B2C94CC6-F447-4CD6-9D69-357C9D2DD95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="" xmlns:p14="http://schemas.microsoft.com/office/powerpoint/2010/main" val="33671206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9738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kumimoji="0" sz="1200">
                <a:latin typeface="Calibri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 bwMode="auto">
          <a:xfrm>
            <a:off x="3892550" y="0"/>
            <a:ext cx="2979738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kumimoji="0" sz="1200">
                <a:latin typeface="Calibri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F65FBF71-D43A-42E9-ABCC-9F26740CF7EC}" type="datetimeFigureOut">
              <a:rPr lang="zh-TW" altLang="en-US"/>
              <a:pPr>
                <a:defRPr/>
              </a:pPr>
              <a:t>2015/1/28</a:t>
            </a:fld>
            <a:endParaRPr lang="en-US" altLang="zh-TW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54063"/>
            <a:ext cx="5451475" cy="3775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 bwMode="auto">
          <a:xfrm>
            <a:off x="688975" y="4779963"/>
            <a:ext cx="5499100" cy="452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 bwMode="auto">
          <a:xfrm>
            <a:off x="0" y="9558338"/>
            <a:ext cx="2979738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kumimoji="0" sz="1200">
                <a:latin typeface="Calibri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 bwMode="auto">
          <a:xfrm>
            <a:off x="3892550" y="9558338"/>
            <a:ext cx="2979738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kumimoji="0" sz="1200">
                <a:latin typeface="Calibri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3258CC5E-A563-43D6-A162-BA30C390630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="" xmlns:p14="http://schemas.microsoft.com/office/powerpoint/2010/main" val="17159332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1" algn="l" defTabSz="9142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3" algn="l" defTabSz="9142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96" algn="l" defTabSz="9142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38" algn="l" defTabSz="9142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711200" y="754063"/>
            <a:ext cx="5451475" cy="3775075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61BAEC-FCA4-463C-B521-84D8F5B53FA9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789280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2788" y="754063"/>
            <a:ext cx="5449887" cy="37734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4" name="備忘稿版面配置區 2"/>
          <p:cNvSpPr>
            <a:spLocks noGrp="1"/>
          </p:cNvSpPr>
          <p:nvPr>
            <p:ph type="body" idx="1"/>
          </p:nvPr>
        </p:nvSpPr>
        <p:spPr>
          <a:xfrm>
            <a:off x="687388" y="4779964"/>
            <a:ext cx="5499100" cy="4529137"/>
          </a:xfrm>
          <a:noFill/>
          <a:ln/>
        </p:spPr>
        <p:txBody>
          <a:bodyPr/>
          <a:lstStyle/>
          <a:p>
            <a:endParaRPr lang="zh-TW" altLang="en-US" smtClean="0"/>
          </a:p>
        </p:txBody>
      </p:sp>
      <p:sp>
        <p:nvSpPr>
          <p:cNvPr id="69635" name="投影片編號版面配置區 3"/>
          <p:cNvSpPr txBox="1">
            <a:spLocks noGrp="1"/>
          </p:cNvSpPr>
          <p:nvPr/>
        </p:nvSpPr>
        <p:spPr bwMode="auto">
          <a:xfrm>
            <a:off x="3892550" y="9558338"/>
            <a:ext cx="2979738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61" tIns="46581" rIns="93161" bIns="46581" anchor="b"/>
          <a:lstStyle/>
          <a:p>
            <a:pPr algn="r"/>
            <a:fld id="{2DC0CD86-6190-4875-A217-2BA58CD1E367}" type="slidenum">
              <a:rPr lang="zh-TW" altLang="en-US" sz="1200"/>
              <a:pPr algn="r"/>
              <a:t>6</a:t>
            </a:fld>
            <a:endParaRPr lang="en-US" altLang="zh-TW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2788" y="754063"/>
            <a:ext cx="5449887" cy="37734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4" name="備忘稿版面配置區 2"/>
          <p:cNvSpPr>
            <a:spLocks noGrp="1"/>
          </p:cNvSpPr>
          <p:nvPr>
            <p:ph type="body" idx="1"/>
          </p:nvPr>
        </p:nvSpPr>
        <p:spPr>
          <a:xfrm>
            <a:off x="687388" y="4779963"/>
            <a:ext cx="5499100" cy="4529137"/>
          </a:xfrm>
          <a:noFill/>
          <a:ln/>
        </p:spPr>
        <p:txBody>
          <a:bodyPr/>
          <a:lstStyle/>
          <a:p>
            <a:endParaRPr lang="zh-TW" altLang="en-US" smtClean="0"/>
          </a:p>
        </p:txBody>
      </p:sp>
      <p:sp>
        <p:nvSpPr>
          <p:cNvPr id="69635" name="投影片編號版面配置區 3"/>
          <p:cNvSpPr txBox="1">
            <a:spLocks noGrp="1"/>
          </p:cNvSpPr>
          <p:nvPr/>
        </p:nvSpPr>
        <p:spPr bwMode="auto">
          <a:xfrm>
            <a:off x="3892550" y="9558338"/>
            <a:ext cx="2979738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/>
            <a:fld id="{2DC0CD86-6190-4875-A217-2BA58CD1E367}" type="slidenum">
              <a:rPr lang="zh-TW" altLang="en-US" sz="1200"/>
              <a:pPr algn="r"/>
              <a:t>10</a:t>
            </a:fld>
            <a:endParaRPr lang="en-US" altLang="zh-TW" sz="1200"/>
          </a:p>
        </p:txBody>
      </p:sp>
    </p:spTree>
    <p:extLst>
      <p:ext uri="{BB962C8B-B14F-4D97-AF65-F5344CB8AC3E}">
        <p14:creationId xmlns="" xmlns:p14="http://schemas.microsoft.com/office/powerpoint/2010/main" val="1448920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"/>
            <a:ext cx="9906000" cy="421481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5" rIns="91428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latin typeface="+mj-lt"/>
              <a:ea typeface="微軟正黑體" pitchFamily="34" charset="-120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 flipV="1">
            <a:off x="0" y="3571875"/>
            <a:ext cx="9906000" cy="3286125"/>
          </a:xfrm>
          <a:prstGeom prst="rect">
            <a:avLst/>
          </a:prstGeom>
          <a:gradFill rotWithShape="1">
            <a:gsLst>
              <a:gs pos="0">
                <a:srgbClr val="BFBFBF"/>
              </a:gs>
              <a:gs pos="50000">
                <a:srgbClr val="FFFFFF"/>
              </a:gs>
              <a:gs pos="100000">
                <a:schemeClr val="bg1"/>
              </a:gs>
            </a:gsLst>
            <a:lin ang="16200000"/>
          </a:gradFill>
          <a:ln w="25400" algn="ctr">
            <a:noFill/>
            <a:miter lim="800000"/>
            <a:headEnd/>
            <a:tailEnd/>
          </a:ln>
        </p:spPr>
        <p:txBody>
          <a:bodyPr rot="10800000" lIns="91428" tIns="45715" rIns="91428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solidFill>
                <a:schemeClr val="lt1"/>
              </a:solidFill>
              <a:latin typeface="+mj-lt"/>
              <a:ea typeface="微軟正黑體" pitchFamily="34" charset="-12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72065"/>
            <a:ext cx="9906000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643437" y="2786091"/>
            <a:ext cx="5262565" cy="655633"/>
          </a:xfrm>
          <a:effectLst/>
        </p:spPr>
        <p:txBody>
          <a:bodyPr>
            <a:noAutofit/>
          </a:bodyPr>
          <a:lstStyle>
            <a:lvl1pPr algn="l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86923" y="3714752"/>
            <a:ext cx="5262565" cy="78581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457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8915400" cy="796925"/>
          </a:xfrm>
        </p:spPr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95300" y="1052736"/>
            <a:ext cx="8915400" cy="4840288"/>
          </a:xfrm>
        </p:spPr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  <a:lvl2pPr>
              <a:defRPr>
                <a:latin typeface="+mj-lt"/>
                <a:ea typeface="微軟正黑體" pitchFamily="34" charset="-120"/>
              </a:defRPr>
            </a:lvl2pPr>
            <a:lvl3pPr>
              <a:defRPr>
                <a:latin typeface="+mj-lt"/>
                <a:ea typeface="微軟正黑體" pitchFamily="34" charset="-120"/>
              </a:defRPr>
            </a:lvl3pPr>
            <a:lvl4pPr>
              <a:defRPr>
                <a:latin typeface="+mj-lt"/>
                <a:ea typeface="微軟正黑體" pitchFamily="34" charset="-120"/>
              </a:defRPr>
            </a:lvl4pPr>
            <a:lvl5pPr>
              <a:defRPr>
                <a:latin typeface="+mj-lt"/>
                <a:ea typeface="微軟正黑體" pitchFamily="34" charset="-12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0FA54-027E-47CC-922F-7F55AF03AF56}" type="datetimeFigureOut">
              <a:rPr lang="zh-TW" altLang="en-US"/>
              <a:pPr>
                <a:defRPr/>
              </a:pPr>
              <a:t>2015/1/28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Inventec Confidential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D7F62-1ECE-4394-BA60-7D459D81265B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ackground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lum bright="-10000"/>
            <a:grayscl/>
          </a:blip>
          <a:srcRect/>
          <a:stretch>
            <a:fillRect/>
          </a:stretch>
        </p:blipFill>
        <p:spPr bwMode="auto">
          <a:xfrm>
            <a:off x="304801" y="819150"/>
            <a:ext cx="9356725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2941" y="3308347"/>
            <a:ext cx="8435637" cy="714380"/>
          </a:xfrm>
          <a:effectLst/>
        </p:spPr>
        <p:txBody>
          <a:bodyPr anchor="t"/>
          <a:lstStyle>
            <a:lvl1pPr algn="l">
              <a:defRPr sz="4000" b="1" cap="all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64312" y="4071973"/>
            <a:ext cx="8435637" cy="450849"/>
          </a:xfrm>
        </p:spPr>
        <p:txBody>
          <a:bodyPr anchor="b"/>
          <a:lstStyle>
            <a:lvl1pPr marL="0" indent="0" algn="l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14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1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5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9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fld id="{553C3AF2-E8FC-41E1-86AD-D1B128CED43F}" type="datetimeFigureOut">
              <a:rPr lang="zh-TW" altLang="en-US"/>
              <a:pPr>
                <a:defRPr/>
              </a:pPr>
              <a:t>2015/1/28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r>
              <a:rPr lang="en-US" altLang="zh-TW"/>
              <a:t>Inventec Confidential</a:t>
            </a: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fld id="{837FB774-6E7E-4728-A5C4-4580F07F536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95300" y="1600207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35550" y="1600207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E35A0-EB3A-4C26-AB9E-3EF403CAF8F5}" type="datetimeFigureOut">
              <a:rPr lang="zh-TW" altLang="en-US"/>
              <a:pPr>
                <a:defRPr/>
              </a:pPr>
              <a:t>2015/1/28</a:t>
            </a:fld>
            <a:endParaRPr lang="zh-TW" altLang="en-US" dirty="0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Inventec Confidential</a:t>
            </a: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AF72C-5496-48ED-B9C0-8002F061D7F9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4" indent="0">
              <a:buNone/>
              <a:defRPr sz="1800" b="1"/>
            </a:lvl3pPr>
            <a:lvl4pPr marL="1371427" indent="0">
              <a:buNone/>
              <a:defRPr sz="1600" b="1"/>
            </a:lvl4pPr>
            <a:lvl5pPr marL="1828569" indent="0">
              <a:buNone/>
              <a:defRPr sz="1600" b="1"/>
            </a:lvl5pPr>
            <a:lvl6pPr marL="2285711" indent="0">
              <a:buNone/>
              <a:defRPr sz="1600" b="1"/>
            </a:lvl6pPr>
            <a:lvl7pPr marL="2742853" indent="0">
              <a:buNone/>
              <a:defRPr sz="1600" b="1"/>
            </a:lvl7pPr>
            <a:lvl8pPr marL="3199996" indent="0">
              <a:buNone/>
              <a:defRPr sz="1600" b="1"/>
            </a:lvl8pPr>
            <a:lvl9pPr marL="3657138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32115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4" indent="0">
              <a:buNone/>
              <a:defRPr sz="1800" b="1"/>
            </a:lvl3pPr>
            <a:lvl4pPr marL="1371427" indent="0">
              <a:buNone/>
              <a:defRPr sz="1600" b="1"/>
            </a:lvl4pPr>
            <a:lvl5pPr marL="1828569" indent="0">
              <a:buNone/>
              <a:defRPr sz="1600" b="1"/>
            </a:lvl5pPr>
            <a:lvl6pPr marL="2285711" indent="0">
              <a:buNone/>
              <a:defRPr sz="1600" b="1"/>
            </a:lvl6pPr>
            <a:lvl7pPr marL="2742853" indent="0">
              <a:buNone/>
              <a:defRPr sz="1600" b="1"/>
            </a:lvl7pPr>
            <a:lvl8pPr marL="3199996" indent="0">
              <a:buNone/>
              <a:defRPr sz="1600" b="1"/>
            </a:lvl8pPr>
            <a:lvl9pPr marL="3657138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32115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77C9BA-7C60-4D73-AC67-3265DC8E6531}" type="datetimeFigureOut">
              <a:rPr lang="zh-TW" altLang="en-US"/>
              <a:pPr>
                <a:defRPr/>
              </a:pPr>
              <a:t>2015/1/28</a:t>
            </a:fld>
            <a:endParaRPr lang="zh-TW" altLang="en-US" dirty="0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Inventec Confidential</a:t>
            </a: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A14D5-C115-4DB2-803C-DDF6B6D4D15B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049B3-9885-44AB-86B9-6B07FB6103D1}" type="datetimeFigureOut">
              <a:rPr lang="zh-TW" altLang="en-US"/>
              <a:pPr>
                <a:defRPr/>
              </a:pPr>
              <a:t>2015/1/28</a:t>
            </a:fld>
            <a:endParaRPr lang="zh-TW" altLang="en-US" dirty="0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Inventec Confidential</a:t>
            </a: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8AD62-938B-42F7-BD79-8D473C9A7308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9E3BBF-7901-4174-878C-93FD91A6CBEA}" type="datetimeFigureOut">
              <a:rPr lang="zh-TW" altLang="en-US"/>
              <a:pPr>
                <a:defRPr/>
              </a:pPr>
              <a:t>2015/1/28</a:t>
            </a:fld>
            <a:endParaRPr lang="zh-TW" altLang="en-US" dirty="0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Inventec Confidential</a:t>
            </a: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8127D0-71C3-4FD0-A124-6A6F2FD5D681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72974" y="27308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3" indent="0">
              <a:buNone/>
              <a:defRPr sz="1200"/>
            </a:lvl2pPr>
            <a:lvl3pPr marL="914284" indent="0">
              <a:buNone/>
              <a:defRPr sz="1000"/>
            </a:lvl3pPr>
            <a:lvl4pPr marL="1371427" indent="0">
              <a:buNone/>
              <a:defRPr sz="900"/>
            </a:lvl4pPr>
            <a:lvl5pPr marL="1828569" indent="0">
              <a:buNone/>
              <a:defRPr sz="900"/>
            </a:lvl5pPr>
            <a:lvl6pPr marL="2285711" indent="0">
              <a:buNone/>
              <a:defRPr sz="900"/>
            </a:lvl6pPr>
            <a:lvl7pPr marL="2742853" indent="0">
              <a:buNone/>
              <a:defRPr sz="900"/>
            </a:lvl7pPr>
            <a:lvl8pPr marL="3199996" indent="0">
              <a:buNone/>
              <a:defRPr sz="900"/>
            </a:lvl8pPr>
            <a:lvl9pPr marL="3657138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4174B-399A-41FB-98E2-649599746768}" type="datetimeFigureOut">
              <a:rPr lang="zh-TW" altLang="en-US"/>
              <a:pPr>
                <a:defRPr/>
              </a:pPr>
              <a:t>2015/1/28</a:t>
            </a:fld>
            <a:endParaRPr lang="zh-TW" altLang="en-US" dirty="0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Inventec Confidential</a:t>
            </a: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E195A-67C1-4125-9446-BAB2C7ED6FE9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43" indent="0">
              <a:buNone/>
              <a:defRPr sz="2800"/>
            </a:lvl2pPr>
            <a:lvl3pPr marL="914284" indent="0">
              <a:buNone/>
              <a:defRPr sz="2400"/>
            </a:lvl3pPr>
            <a:lvl4pPr marL="1371427" indent="0">
              <a:buNone/>
              <a:defRPr sz="2000"/>
            </a:lvl4pPr>
            <a:lvl5pPr marL="1828569" indent="0">
              <a:buNone/>
              <a:defRPr sz="2000"/>
            </a:lvl5pPr>
            <a:lvl6pPr marL="2285711" indent="0">
              <a:buNone/>
              <a:defRPr sz="2000"/>
            </a:lvl6pPr>
            <a:lvl7pPr marL="2742853" indent="0">
              <a:buNone/>
              <a:defRPr sz="2000"/>
            </a:lvl7pPr>
            <a:lvl8pPr marL="3199996" indent="0">
              <a:buNone/>
              <a:defRPr sz="2000"/>
            </a:lvl8pPr>
            <a:lvl9pPr marL="3657138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43" indent="0">
              <a:buNone/>
              <a:defRPr sz="1200"/>
            </a:lvl2pPr>
            <a:lvl3pPr marL="914284" indent="0">
              <a:buNone/>
              <a:defRPr sz="1000"/>
            </a:lvl3pPr>
            <a:lvl4pPr marL="1371427" indent="0">
              <a:buNone/>
              <a:defRPr sz="900"/>
            </a:lvl4pPr>
            <a:lvl5pPr marL="1828569" indent="0">
              <a:buNone/>
              <a:defRPr sz="900"/>
            </a:lvl5pPr>
            <a:lvl6pPr marL="2285711" indent="0">
              <a:buNone/>
              <a:defRPr sz="900"/>
            </a:lvl6pPr>
            <a:lvl7pPr marL="2742853" indent="0">
              <a:buNone/>
              <a:defRPr sz="900"/>
            </a:lvl7pPr>
            <a:lvl8pPr marL="3199996" indent="0">
              <a:buNone/>
              <a:defRPr sz="900"/>
            </a:lvl8pPr>
            <a:lvl9pPr marL="3657138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BFE4B-45B9-4869-B8DF-1AEF99800550}" type="datetimeFigureOut">
              <a:rPr lang="zh-TW" altLang="en-US"/>
              <a:pPr>
                <a:defRPr/>
              </a:pPr>
              <a:t>2015/1/28</a:t>
            </a:fld>
            <a:endParaRPr lang="zh-TW" altLang="en-US" dirty="0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Inventec Confidential</a:t>
            </a: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43BA9-4E9C-4B8C-A696-5BE6625005CC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A6E1D-9017-453D-979C-395357434FB2}" type="datetimeFigureOut">
              <a:rPr lang="zh-TW" altLang="en-US"/>
              <a:pPr>
                <a:defRPr/>
              </a:pPr>
              <a:t>2015/1/28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Inventec Confidential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47261F-83A2-4C8B-A31E-E5165075D00C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81850" y="274668"/>
            <a:ext cx="222885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95300" y="274668"/>
            <a:ext cx="652145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8CFC4E-9E3D-4BF2-BD2F-53662ACBCB67}" type="datetimeFigureOut">
              <a:rPr lang="zh-TW" altLang="en-US"/>
              <a:pPr>
                <a:defRPr/>
              </a:pPr>
              <a:t>2015/1/28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Inventec Confidential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CCD04-2BC5-4D05-A7DB-1D0E3F31BBF6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DBEF0-72D7-42B9-9319-40AB99601BD2}" type="datetimeFigureOut">
              <a:rPr lang="zh-TW" altLang="en-US"/>
              <a:pPr>
                <a:defRPr/>
              </a:pPr>
              <a:t>2015/1/28</a:t>
            </a:fld>
            <a:endParaRPr lang="zh-TW" altLang="en-US" dirty="0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Inventec Confidential</a:t>
            </a: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1C764-6724-4462-93C1-5C7B9D879171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906000" cy="42144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23" tIns="41962" rIns="83923" bIns="4196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solidFill>
                <a:prstClr val="white"/>
              </a:solidFill>
              <a:ea typeface="微軟正黑體" pitchFamily="34" charset="-12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 flipV="1">
            <a:off x="0" y="3572274"/>
            <a:ext cx="9906000" cy="3285735"/>
          </a:xfrm>
          <a:prstGeom prst="rect">
            <a:avLst/>
          </a:prstGeom>
          <a:gradFill rotWithShape="1">
            <a:gsLst>
              <a:gs pos="0">
                <a:srgbClr val="BFBFBF"/>
              </a:gs>
              <a:gs pos="50000">
                <a:srgbClr val="FFFFFF"/>
              </a:gs>
              <a:gs pos="100000">
                <a:schemeClr val="bg1"/>
              </a:gs>
            </a:gsLst>
            <a:lin ang="16200000"/>
          </a:gradFill>
          <a:ln w="25400" algn="ctr">
            <a:noFill/>
            <a:miter lim="800000"/>
            <a:headEnd/>
            <a:tailEnd/>
          </a:ln>
        </p:spPr>
        <p:txBody>
          <a:bodyPr rot="10800000" lIns="83923" tIns="41962" rIns="83923" bIns="4196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solidFill>
                <a:prstClr val="white"/>
              </a:solidFill>
              <a:latin typeface="Calibri"/>
              <a:ea typeface="微軟正黑體" pitchFamily="34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643443" y="2786094"/>
            <a:ext cx="5262565" cy="655633"/>
          </a:xfrm>
          <a:effectLst/>
        </p:spPr>
        <p:txBody>
          <a:bodyPr>
            <a:noAutofit/>
          </a:bodyPr>
          <a:lstStyle>
            <a:lvl1pPr algn="l">
              <a:defRPr sz="27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86927" y="3714752"/>
            <a:ext cx="5262565" cy="785818"/>
          </a:xfrm>
        </p:spPr>
        <p:txBody>
          <a:bodyPr>
            <a:normAutofit/>
          </a:bodyPr>
          <a:lstStyle>
            <a:lvl1pPr marL="0" indent="0" algn="l">
              <a:buNone/>
              <a:defRPr sz="17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419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92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58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78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98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17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37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56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9906000" cy="42144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01" tIns="41951" rIns="83901" bIns="4195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solidFill>
                <a:prstClr val="white"/>
              </a:solidFill>
              <a:ea typeface="微軟正黑體" pitchFamily="34" charset="-120"/>
            </a:endParaRPr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 flipV="1">
            <a:off x="0" y="3572276"/>
            <a:ext cx="9906000" cy="3285735"/>
          </a:xfrm>
          <a:prstGeom prst="rect">
            <a:avLst/>
          </a:prstGeom>
          <a:gradFill rotWithShape="1">
            <a:gsLst>
              <a:gs pos="0">
                <a:srgbClr val="BFBFBF"/>
              </a:gs>
              <a:gs pos="50000">
                <a:srgbClr val="FFFFFF"/>
              </a:gs>
              <a:gs pos="100000">
                <a:schemeClr val="bg1"/>
              </a:gs>
            </a:gsLst>
            <a:lin ang="16200000"/>
          </a:gradFill>
          <a:ln w="25400" algn="ctr">
            <a:noFill/>
            <a:miter lim="800000"/>
            <a:headEnd/>
            <a:tailEnd/>
          </a:ln>
        </p:spPr>
        <p:txBody>
          <a:bodyPr rot="10800000" lIns="83901" tIns="41951" rIns="83901" bIns="4195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solidFill>
                <a:prstClr val="white"/>
              </a:solidFill>
              <a:latin typeface="Calibri"/>
              <a:ea typeface="微軟正黑體" pitchFamily="34" charset="-12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  <a:lvl2pPr>
              <a:defRPr>
                <a:latin typeface="+mj-lt"/>
                <a:ea typeface="微軟正黑體" pitchFamily="34" charset="-120"/>
              </a:defRPr>
            </a:lvl2pPr>
            <a:lvl3pPr>
              <a:defRPr>
                <a:latin typeface="+mj-lt"/>
                <a:ea typeface="微軟正黑體" pitchFamily="34" charset="-120"/>
              </a:defRPr>
            </a:lvl3pPr>
            <a:lvl4pPr>
              <a:defRPr>
                <a:latin typeface="+mj-lt"/>
                <a:ea typeface="微軟正黑體" pitchFamily="34" charset="-120"/>
              </a:defRPr>
            </a:lvl4pPr>
            <a:lvl5pPr>
              <a:defRPr>
                <a:latin typeface="+mj-lt"/>
                <a:ea typeface="微軟正黑體" pitchFamily="34" charset="-12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F9C9BD31-472F-4330-84AC-1DD1C5F06F7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2941" y="3308347"/>
            <a:ext cx="8435637" cy="714380"/>
          </a:xfrm>
          <a:effectLst/>
        </p:spPr>
        <p:txBody>
          <a:bodyPr anchor="t"/>
          <a:lstStyle>
            <a:lvl1pPr algn="l">
              <a:defRPr sz="3700" b="1" cap="all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64312" y="4071980"/>
            <a:ext cx="8435637" cy="450849"/>
          </a:xfrm>
        </p:spPr>
        <p:txBody>
          <a:bodyPr anchor="b"/>
          <a:lstStyle>
            <a:lvl1pPr marL="0" indent="0" algn="l">
              <a:buNone/>
              <a:defRPr sz="1900" b="1">
                <a:solidFill>
                  <a:schemeClr val="tx1"/>
                </a:solidFill>
                <a:latin typeface="+mj-lt"/>
              </a:defRPr>
            </a:lvl1pPr>
            <a:lvl2pPr marL="419613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3922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5884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7845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9806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51768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93729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35691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+mj-lt"/>
              </a:defRPr>
            </a:lvl1pPr>
          </a:lstStyle>
          <a:p>
            <a:pPr>
              <a:defRPr/>
            </a:pPr>
            <a:r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latin typeface="+mj-lt"/>
              </a:defRPr>
            </a:lvl1pPr>
          </a:lstStyle>
          <a:p>
            <a:pPr>
              <a:defRPr/>
            </a:pPr>
            <a:fld id="{C3FF863A-D620-4AE2-8B4C-131E0248214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E75AE80-8B24-4F6A-9BF4-46D3080B3340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16811126-9476-4F1D-AA79-8AD2DA7B613D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495300" y="1285875"/>
            <a:ext cx="8915400" cy="4840288"/>
          </a:xfrm>
        </p:spPr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  <a:lvl2pPr>
              <a:defRPr>
                <a:latin typeface="+mj-lt"/>
                <a:ea typeface="微軟正黑體" pitchFamily="34" charset="-120"/>
              </a:defRPr>
            </a:lvl2pPr>
            <a:lvl3pPr>
              <a:defRPr>
                <a:latin typeface="+mj-lt"/>
                <a:ea typeface="微軟正黑體" pitchFamily="34" charset="-120"/>
              </a:defRPr>
            </a:lvl3pPr>
            <a:lvl4pPr>
              <a:defRPr>
                <a:latin typeface="+mj-lt"/>
                <a:ea typeface="微軟正黑體" pitchFamily="34" charset="-120"/>
              </a:defRPr>
            </a:lvl4pPr>
            <a:lvl5pPr>
              <a:defRPr>
                <a:latin typeface="+mj-lt"/>
                <a:ea typeface="微軟正黑體" pitchFamily="34" charset="-12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95300" y="274650"/>
            <a:ext cx="8915400" cy="7969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95595" y="6356943"/>
            <a:ext cx="2311792" cy="364281"/>
          </a:xfrm>
          <a:prstGeom prst="rect">
            <a:avLst/>
          </a:prstGeom>
        </p:spPr>
        <p:txBody>
          <a:bodyPr lIns="83936" tIns="41968" rIns="83936" bIns="41968"/>
          <a:lstStyle>
            <a:lvl1pPr>
              <a:defRPr/>
            </a:lvl1pPr>
          </a:lstStyle>
          <a:p>
            <a:pPr>
              <a:defRPr/>
            </a:pPr>
            <a:endParaRPr lang="zh-TW" altLang="en-US" dirty="0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D5D96-2DB2-44A4-A603-58D375761D96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95300" y="1285875"/>
            <a:ext cx="8915400" cy="4840288"/>
          </a:xfrm>
        </p:spPr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  <a:lvl2pPr>
              <a:defRPr>
                <a:latin typeface="+mj-lt"/>
                <a:ea typeface="微軟正黑體" pitchFamily="34" charset="-120"/>
              </a:defRPr>
            </a:lvl2pPr>
            <a:lvl3pPr>
              <a:defRPr>
                <a:latin typeface="+mj-lt"/>
                <a:ea typeface="微軟正黑體" pitchFamily="34" charset="-120"/>
              </a:defRPr>
            </a:lvl3pPr>
            <a:lvl4pPr>
              <a:defRPr>
                <a:latin typeface="+mj-lt"/>
                <a:ea typeface="微軟正黑體" pitchFamily="34" charset="-120"/>
              </a:defRPr>
            </a:lvl4pPr>
            <a:lvl5pPr>
              <a:defRPr>
                <a:latin typeface="+mj-lt"/>
                <a:ea typeface="微軟正黑體" pitchFamily="34" charset="-12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altLang="zh-TW" dirty="0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B4CCE55E-7239-4841-AB90-5463F15BA22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altLang="zh-TW" dirty="0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E38917A8-E77B-4ECE-A18E-40A52D23A35D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495300" y="1285875"/>
            <a:ext cx="8915400" cy="4840288"/>
          </a:xfrm>
        </p:spPr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  <a:lvl2pPr>
              <a:defRPr>
                <a:latin typeface="+mj-lt"/>
                <a:ea typeface="微軟正黑體" pitchFamily="34" charset="-120"/>
              </a:defRPr>
            </a:lvl2pPr>
            <a:lvl3pPr>
              <a:defRPr>
                <a:latin typeface="+mj-lt"/>
                <a:ea typeface="微軟正黑體" pitchFamily="34" charset="-120"/>
              </a:defRPr>
            </a:lvl3pPr>
            <a:lvl4pPr>
              <a:defRPr>
                <a:latin typeface="+mj-lt"/>
                <a:ea typeface="微軟正黑體" pitchFamily="34" charset="-120"/>
              </a:defRPr>
            </a:lvl4pPr>
            <a:lvl5pPr>
              <a:defRPr>
                <a:latin typeface="+mj-lt"/>
                <a:ea typeface="微軟正黑體" pitchFamily="34" charset="-12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95300" y="274655"/>
            <a:ext cx="8915400" cy="7969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681DD-D2E6-4082-A4F1-E62FEDE6EE41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495300" y="1285875"/>
            <a:ext cx="8915400" cy="4840288"/>
          </a:xfrm>
        </p:spPr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  <a:lvl2pPr>
              <a:defRPr>
                <a:latin typeface="+mj-lt"/>
                <a:ea typeface="微軟正黑體" pitchFamily="34" charset="-120"/>
              </a:defRPr>
            </a:lvl2pPr>
            <a:lvl3pPr>
              <a:defRPr>
                <a:latin typeface="+mj-lt"/>
                <a:ea typeface="微軟正黑體" pitchFamily="34" charset="-120"/>
              </a:defRPr>
            </a:lvl3pPr>
            <a:lvl4pPr>
              <a:defRPr>
                <a:latin typeface="+mj-lt"/>
                <a:ea typeface="微軟正黑體" pitchFamily="34" charset="-120"/>
              </a:defRPr>
            </a:lvl4pPr>
            <a:lvl5pPr>
              <a:defRPr>
                <a:latin typeface="+mj-lt"/>
                <a:ea typeface="微軟正黑體" pitchFamily="34" charset="-12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95300" y="274654"/>
            <a:ext cx="8915400" cy="7969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95595" y="6356943"/>
            <a:ext cx="2311792" cy="364281"/>
          </a:xfrm>
          <a:prstGeom prst="rect">
            <a:avLst/>
          </a:prstGeom>
        </p:spPr>
        <p:txBody>
          <a:bodyPr lIns="83936" tIns="41968" rIns="83936" bIns="41968"/>
          <a:lstStyle>
            <a:lvl1pPr>
              <a:defRPr/>
            </a:lvl1pPr>
          </a:lstStyle>
          <a:p>
            <a:pPr>
              <a:defRPr/>
            </a:pPr>
            <a:endParaRPr lang="zh-TW" altLang="en-US" dirty="0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CE6AC5-55D3-4807-9A85-927FC29A3C81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altLang="zh-TW" dirty="0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E75AE80-8B24-4F6A-9BF4-46D3080B3340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95595" y="6356943"/>
            <a:ext cx="2311792" cy="364281"/>
          </a:xfrm>
          <a:prstGeom prst="rect">
            <a:avLst/>
          </a:prstGeom>
        </p:spPr>
        <p:txBody>
          <a:bodyPr lIns="83936" tIns="41968" rIns="83936" bIns="41968"/>
          <a:lstStyle>
            <a:lvl1pPr>
              <a:defRPr/>
            </a:lvl1pPr>
          </a:lstStyle>
          <a:p>
            <a:pPr>
              <a:defRPr/>
            </a:pPr>
            <a:endParaRPr lang="zh-TW" altLang="en-US" dirty="0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5AE80-8B24-4F6A-9BF4-46D3080B3340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95595" y="6356943"/>
            <a:ext cx="2311792" cy="364281"/>
          </a:xfrm>
          <a:prstGeom prst="rect">
            <a:avLst/>
          </a:prstGeom>
        </p:spPr>
        <p:txBody>
          <a:bodyPr lIns="83936" tIns="41968" rIns="83936" bIns="41968"/>
          <a:lstStyle>
            <a:lvl1pPr>
              <a:defRPr/>
            </a:lvl1pPr>
          </a:lstStyle>
          <a:p>
            <a:pPr>
              <a:defRPr/>
            </a:pPr>
            <a:endParaRPr lang="zh-TW" altLang="en-US" dirty="0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0326C-F689-4201-95FB-A27C16E28984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495300" y="1285875"/>
            <a:ext cx="8915400" cy="4840288"/>
          </a:xfrm>
        </p:spPr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  <a:lvl2pPr>
              <a:defRPr>
                <a:latin typeface="+mj-lt"/>
                <a:ea typeface="微軟正黑體" pitchFamily="34" charset="-120"/>
              </a:defRPr>
            </a:lvl2pPr>
            <a:lvl3pPr>
              <a:defRPr>
                <a:latin typeface="+mj-lt"/>
                <a:ea typeface="微軟正黑體" pitchFamily="34" charset="-120"/>
              </a:defRPr>
            </a:lvl3pPr>
            <a:lvl4pPr>
              <a:defRPr>
                <a:latin typeface="+mj-lt"/>
                <a:ea typeface="微軟正黑體" pitchFamily="34" charset="-120"/>
              </a:defRPr>
            </a:lvl4pPr>
            <a:lvl5pPr>
              <a:defRPr>
                <a:latin typeface="+mj-lt"/>
                <a:ea typeface="微軟正黑體" pitchFamily="34" charset="-12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95300" y="274650"/>
            <a:ext cx="8915400" cy="7969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95595" y="6356943"/>
            <a:ext cx="2311792" cy="364281"/>
          </a:xfrm>
          <a:prstGeom prst="rect">
            <a:avLst/>
          </a:prstGeom>
        </p:spPr>
        <p:txBody>
          <a:bodyPr lIns="83936" tIns="41968" rIns="83936" bIns="41968"/>
          <a:lstStyle>
            <a:lvl1pPr>
              <a:defRPr/>
            </a:lvl1pPr>
          </a:lstStyle>
          <a:p>
            <a:pPr>
              <a:defRPr/>
            </a:pPr>
            <a:endParaRPr lang="zh-TW" altLang="en-US" dirty="0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7AA485-CC04-4BBB-B29B-B427F028100F}" type="slidenum">
              <a:rPr lang="zh-TW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群組 6"/>
          <p:cNvGrpSpPr>
            <a:grpSpLocks/>
          </p:cNvGrpSpPr>
          <p:nvPr/>
        </p:nvGrpSpPr>
        <p:grpSpPr bwMode="auto">
          <a:xfrm>
            <a:off x="0" y="0"/>
            <a:ext cx="9906000" cy="6858000"/>
            <a:chOff x="0" y="0"/>
            <a:chExt cx="9144000" cy="6858000"/>
          </a:xfrm>
        </p:grpSpPr>
        <p:sp>
          <p:nvSpPr>
            <p:cNvPr id="8" name="矩形 7"/>
            <p:cNvSpPr/>
            <p:nvPr userDrawn="1"/>
          </p:nvSpPr>
          <p:spPr>
            <a:xfrm>
              <a:off x="0" y="0"/>
              <a:ext cx="9144000" cy="6429375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 dirty="0"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6357958"/>
              <a:ext cx="9144000" cy="50004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 dirty="0"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1027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95300" y="274639"/>
            <a:ext cx="89154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5" rIns="91428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95300" y="1285875"/>
            <a:ext cx="8915400" cy="484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5" rIns="91428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28" tIns="45715" rIns="91428" bIns="45715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</a:defRPr>
            </a:lvl1pPr>
          </a:lstStyle>
          <a:p>
            <a:pPr>
              <a:defRPr/>
            </a:pPr>
            <a:fld id="{C27A3652-1287-48E7-9C2C-3F5010671A61}" type="datetimeFigureOut">
              <a:rPr lang="zh-TW" altLang="en-US"/>
              <a:pPr>
                <a:defRPr/>
              </a:pPr>
              <a:t>2015/1/28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28" tIns="45715" rIns="91428" bIns="4571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</a:defRPr>
            </a:lvl1pPr>
          </a:lstStyle>
          <a:p>
            <a:pPr>
              <a:defRPr/>
            </a:pPr>
            <a:r>
              <a:rPr lang="en-US" altLang="zh-TW"/>
              <a:t>Inventec Confidential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28" tIns="45715" rIns="91428" bIns="45715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</a:defRPr>
            </a:lvl1pPr>
          </a:lstStyle>
          <a:p>
            <a:pPr>
              <a:defRPr/>
            </a:pPr>
            <a:fld id="{7F88F9E6-274A-48FB-A3E7-8BF167E5F456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  <p:pic>
        <p:nvPicPr>
          <p:cNvPr id="1032" name="內容版面配置區 5" descr="Inventec Logo_Min.wmf"/>
          <p:cNvPicPr>
            <a:picLocks noChangeAspect="1"/>
          </p:cNvPicPr>
          <p:nvPr/>
        </p:nvPicPr>
        <p:blipFill>
          <a:blip r:embed="rId14" cstate="print"/>
          <a:srcRect t="28120" b="31445"/>
          <a:stretch>
            <a:fillRect/>
          </a:stretch>
        </p:blipFill>
        <p:spPr bwMode="auto">
          <a:xfrm>
            <a:off x="8048625" y="6429377"/>
            <a:ext cx="1857375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64" r:id="rId2"/>
    <p:sldLayoutId id="2147483677" r:id="rId3"/>
    <p:sldLayoutId id="2147483663" r:id="rId4"/>
    <p:sldLayoutId id="2147483662" r:id="rId5"/>
    <p:sldLayoutId id="2147483661" r:id="rId6"/>
    <p:sldLayoutId id="2147483660" r:id="rId7"/>
    <p:sldLayoutId id="2147483659" r:id="rId8"/>
    <p:sldLayoutId id="2147483658" r:id="rId9"/>
    <p:sldLayoutId id="2147483657" r:id="rId10"/>
    <p:sldLayoutId id="2147483656" r:id="rId11"/>
    <p:sldLayoutId id="2147483655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微軟正黑體" pitchFamily="34" charset="-120"/>
          <a:cs typeface="微軟正黑體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  <a:cs typeface="微軟正黑體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  <a:cs typeface="微軟正黑體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  <a:cs typeface="微軟正黑體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  <a:cs typeface="微軟正黑體"/>
        </a:defRPr>
      </a:lvl5pPr>
      <a:lvl6pPr marL="457143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6pPr>
      <a:lvl7pPr marL="914284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7pPr>
      <a:lvl8pPr marL="1371427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8pPr>
      <a:lvl9pPr marL="1828569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j-lt"/>
          <a:ea typeface="微軟正黑體" pitchFamily="34" charset="-120"/>
          <a:cs typeface="微軟正黑體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262626"/>
          </a:solidFill>
          <a:latin typeface="+mj-lt"/>
          <a:ea typeface="微軟正黑體" pitchFamily="34" charset="-120"/>
          <a:cs typeface="微軟正黑體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rgbClr val="404040"/>
          </a:solidFill>
          <a:latin typeface="+mj-lt"/>
          <a:ea typeface="微軟正黑體" pitchFamily="34" charset="-120"/>
          <a:cs typeface="微軟正黑體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j-lt"/>
          <a:ea typeface="微軟正黑體" pitchFamily="34" charset="-120"/>
          <a:cs typeface="微軟正黑體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7F7F7F"/>
          </a:solidFill>
          <a:latin typeface="+mj-lt"/>
          <a:ea typeface="微軟正黑體" pitchFamily="34" charset="-120"/>
          <a:cs typeface="微軟正黑體"/>
        </a:defRPr>
      </a:lvl5pPr>
      <a:lvl6pPr marL="2514282" indent="-228571" algn="l" defTabSz="9142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4" indent="-228571" algn="l" defTabSz="9142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67" indent="-228571" algn="l" defTabSz="9142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08" indent="-228571" algn="l" defTabSz="9142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3" algn="l" defTabSz="914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4" algn="l" defTabSz="914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7" algn="l" defTabSz="914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69" algn="l" defTabSz="914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1" algn="l" defTabSz="914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3" algn="l" defTabSz="914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96" algn="l" defTabSz="914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38" algn="l" defTabSz="914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6"/>
          <p:cNvGrpSpPr>
            <a:grpSpLocks/>
          </p:cNvGrpSpPr>
          <p:nvPr/>
        </p:nvGrpSpPr>
        <p:grpSpPr bwMode="auto">
          <a:xfrm>
            <a:off x="0" y="0"/>
            <a:ext cx="9906000" cy="6858000"/>
            <a:chOff x="0" y="0"/>
            <a:chExt cx="9144000" cy="6858000"/>
          </a:xfrm>
        </p:grpSpPr>
        <p:sp>
          <p:nvSpPr>
            <p:cNvPr id="8" name="矩形 7"/>
            <p:cNvSpPr/>
            <p:nvPr userDrawn="1"/>
          </p:nvSpPr>
          <p:spPr>
            <a:xfrm>
              <a:off x="0" y="0"/>
              <a:ext cx="9144000" cy="6428925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 dirty="0">
                <a:solidFill>
                  <a:prstClr val="white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6357958"/>
              <a:ext cx="9144000" cy="50004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 dirty="0">
                <a:solidFill>
                  <a:prstClr val="white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1027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95600" y="275017"/>
            <a:ext cx="8914812" cy="796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3923" tIns="41962" rIns="83923" bIns="4196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95600" y="1285788"/>
            <a:ext cx="8914812" cy="4840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3923" tIns="41962" rIns="83923" bIns="419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1" y="6356941"/>
            <a:ext cx="1551006" cy="364281"/>
          </a:xfrm>
          <a:prstGeom prst="rect">
            <a:avLst/>
          </a:prstGeom>
        </p:spPr>
        <p:txBody>
          <a:bodyPr vert="horz" lIns="83923" tIns="41962" rIns="83923" bIns="41962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</a:defRPr>
            </a:lvl1pPr>
          </a:lstStyle>
          <a:p>
            <a:pPr>
              <a:defRPr/>
            </a:pPr>
            <a:r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7098614" y="6356941"/>
            <a:ext cx="2311792" cy="364281"/>
          </a:xfrm>
          <a:prstGeom prst="rect">
            <a:avLst/>
          </a:prstGeom>
        </p:spPr>
        <p:txBody>
          <a:bodyPr vert="horz" lIns="83923" tIns="41962" rIns="83923" bIns="41962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</a:defRPr>
            </a:lvl1pPr>
          </a:lstStyle>
          <a:p>
            <a:pPr>
              <a:defRPr/>
            </a:pPr>
            <a:fld id="{566B3443-88FF-483E-9A67-1965FD1BAB9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圖片 10" descr="Logo-英業達集團Inventec-TC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4566150" y="6448426"/>
            <a:ext cx="773702" cy="30154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400" b="1" kern="1200">
          <a:solidFill>
            <a:schemeClr val="tx1"/>
          </a:solidFill>
          <a:latin typeface="+mj-lt"/>
          <a:ea typeface="微軟正黑體" pitchFamily="34" charset="-120"/>
          <a:cs typeface="微軟正黑體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  <a:cs typeface="微軟正黑體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  <a:cs typeface="微軟正黑體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  <a:cs typeface="微軟正黑體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  <a:cs typeface="微軟正黑體"/>
        </a:defRPr>
      </a:lvl5pPr>
      <a:lvl6pPr marL="419613"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</a:defRPr>
      </a:lvl6pPr>
      <a:lvl7pPr marL="839228"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</a:defRPr>
      </a:lvl7pPr>
      <a:lvl8pPr marL="1258840"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</a:defRPr>
      </a:lvl8pPr>
      <a:lvl9pPr marL="1678455"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Calibri" pitchFamily="34" charset="0"/>
          <a:ea typeface="微軟正黑體" pitchFamily="34" charset="-120"/>
        </a:defRPr>
      </a:lvl9pPr>
    </p:titleStyle>
    <p:bodyStyle>
      <a:lvl1pPr marL="313274" indent="-31327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+mj-lt"/>
          <a:ea typeface="微軟正黑體" pitchFamily="34" charset="-120"/>
          <a:cs typeface="微軟正黑體"/>
        </a:defRPr>
      </a:lvl1pPr>
      <a:lvl2pPr marL="680459" indent="-26081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rgbClr val="262626"/>
          </a:solidFill>
          <a:latin typeface="+mj-lt"/>
          <a:ea typeface="微軟正黑體" pitchFamily="34" charset="-120"/>
          <a:cs typeface="微軟正黑體"/>
        </a:defRPr>
      </a:lvl2pPr>
      <a:lvl3pPr marL="1047643" indent="-20836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900" kern="1200">
          <a:solidFill>
            <a:srgbClr val="404040"/>
          </a:solidFill>
          <a:latin typeface="+mj-lt"/>
          <a:ea typeface="微軟正黑體" pitchFamily="34" charset="-120"/>
          <a:cs typeface="微軟正黑體"/>
        </a:defRPr>
      </a:lvl3pPr>
      <a:lvl4pPr marL="1467285" indent="-20836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900" kern="1200">
          <a:solidFill>
            <a:srgbClr val="595959"/>
          </a:solidFill>
          <a:latin typeface="+mj-lt"/>
          <a:ea typeface="微軟正黑體" pitchFamily="34" charset="-120"/>
          <a:cs typeface="微軟正黑體"/>
        </a:defRPr>
      </a:lvl4pPr>
      <a:lvl5pPr marL="1886925" indent="-20836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900" kern="1200">
          <a:solidFill>
            <a:srgbClr val="7F7F7F"/>
          </a:solidFill>
          <a:latin typeface="+mj-lt"/>
          <a:ea typeface="微軟正黑體" pitchFamily="34" charset="-120"/>
          <a:cs typeface="微軟正黑體"/>
        </a:defRPr>
      </a:lvl5pPr>
      <a:lvl6pPr marL="2307874" indent="-209807" algn="l" defTabSz="839228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27488" indent="-209807" algn="l" defTabSz="839228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47103" indent="-209807" algn="l" defTabSz="839228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566718" indent="-209807" algn="l" defTabSz="839228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39228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19613" algn="l" defTabSz="839228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39228" algn="l" defTabSz="839228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40" algn="l" defTabSz="839228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78455" algn="l" defTabSz="839228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098068" algn="l" defTabSz="839228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17682" algn="l" defTabSz="839228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37296" algn="l" defTabSz="839228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56910" algn="l" defTabSz="839228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副標題 2"/>
          <p:cNvSpPr>
            <a:spLocks/>
          </p:cNvSpPr>
          <p:nvPr/>
        </p:nvSpPr>
        <p:spPr bwMode="auto">
          <a:xfrm>
            <a:off x="541191" y="3642830"/>
            <a:ext cx="8280981" cy="1000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910" tIns="43955" rIns="87910" bIns="43955"/>
          <a:lstStyle/>
          <a:p>
            <a:pPr>
              <a:spcBef>
                <a:spcPct val="20000"/>
              </a:spcBef>
              <a:buFont typeface="Arial" charset="0"/>
              <a:buNone/>
            </a:pPr>
            <a:endParaRPr kumimoji="0" lang="zh-TW" altLang="en-US" b="1">
              <a:solidFill>
                <a:srgbClr val="595959"/>
              </a:solidFill>
              <a:latin typeface="Calibri" pitchFamily="34" charset="0"/>
              <a:ea typeface="微軟正黑體"/>
              <a:cs typeface="微軟正黑體"/>
            </a:endParaRPr>
          </a:p>
        </p:txBody>
      </p:sp>
      <p:sp>
        <p:nvSpPr>
          <p:cNvPr id="15365" name="頁尾版面配置區 29"/>
          <p:cNvSpPr txBox="1">
            <a:spLocks noGrp="1"/>
          </p:cNvSpPr>
          <p:nvPr/>
        </p:nvSpPr>
        <p:spPr bwMode="auto">
          <a:xfrm>
            <a:off x="0" y="6345426"/>
            <a:ext cx="3214744" cy="364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910" tIns="43955" rIns="87910" bIns="43955" anchor="ctr"/>
          <a:lstStyle/>
          <a:p>
            <a:endParaRPr kumimoji="0" lang="zh-TW" altLang="en-US" sz="1300" dirty="0">
              <a:solidFill>
                <a:srgbClr val="898989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2475" name="Rectangle 11"/>
          <p:cNvSpPr>
            <a:spLocks noChangeArrowheads="1"/>
          </p:cNvSpPr>
          <p:nvPr/>
        </p:nvSpPr>
        <p:spPr bwMode="auto">
          <a:xfrm>
            <a:off x="2" y="41741"/>
            <a:ext cx="193503" cy="373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784" tIns="47892" rIns="95784" bIns="47892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3" name="圖片 12" descr="Logo-英業達集團Inventec-TC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51473" y="1404371"/>
            <a:ext cx="3203056" cy="1275045"/>
          </a:xfrm>
          <a:prstGeom prst="rect">
            <a:avLst/>
          </a:prstGeom>
        </p:spPr>
      </p:pic>
      <p:grpSp>
        <p:nvGrpSpPr>
          <p:cNvPr id="2" name="群組 31"/>
          <p:cNvGrpSpPr/>
          <p:nvPr/>
        </p:nvGrpSpPr>
        <p:grpSpPr>
          <a:xfrm>
            <a:off x="-490526" y="4332823"/>
            <a:ext cx="10893864" cy="2564628"/>
            <a:chOff x="-452794" y="4332823"/>
            <a:chExt cx="10055875" cy="2564628"/>
          </a:xfrm>
        </p:grpSpPr>
        <p:pic>
          <p:nvPicPr>
            <p:cNvPr id="19" name="圖片 18" descr="1.jpg"/>
            <p:cNvPicPr>
              <a:picLocks noChangeAspect="1"/>
            </p:cNvPicPr>
            <p:nvPr/>
          </p:nvPicPr>
          <p:blipFill>
            <a:blip r:embed="rId4" cstate="email"/>
            <a:stretch>
              <a:fillRect/>
            </a:stretch>
          </p:blipFill>
          <p:spPr>
            <a:xfrm>
              <a:off x="-610" y="4336198"/>
              <a:ext cx="1840823" cy="2554333"/>
            </a:xfrm>
            <a:prstGeom prst="rect">
              <a:avLst/>
            </a:prstGeom>
          </p:spPr>
        </p:pic>
        <p:pic>
          <p:nvPicPr>
            <p:cNvPr id="20" name="圖片 19" descr="2.jpg"/>
            <p:cNvPicPr>
              <a:picLocks noChangeAspect="1"/>
            </p:cNvPicPr>
            <p:nvPr/>
          </p:nvPicPr>
          <p:blipFill>
            <a:blip r:embed="rId5" cstate="email"/>
            <a:stretch>
              <a:fillRect/>
            </a:stretch>
          </p:blipFill>
          <p:spPr>
            <a:xfrm>
              <a:off x="1835696" y="4336198"/>
              <a:ext cx="1840823" cy="2554333"/>
            </a:xfrm>
            <a:prstGeom prst="rect">
              <a:avLst/>
            </a:prstGeom>
          </p:spPr>
        </p:pic>
        <p:pic>
          <p:nvPicPr>
            <p:cNvPr id="21" name="圖片 20" descr="3.jpg"/>
            <p:cNvPicPr>
              <a:picLocks noChangeAspect="1"/>
            </p:cNvPicPr>
            <p:nvPr/>
          </p:nvPicPr>
          <p:blipFill>
            <a:blip r:embed="rId6" cstate="email"/>
            <a:stretch>
              <a:fillRect/>
            </a:stretch>
          </p:blipFill>
          <p:spPr>
            <a:xfrm>
              <a:off x="3673373" y="4336198"/>
              <a:ext cx="1819785" cy="2554333"/>
            </a:xfrm>
            <a:prstGeom prst="rect">
              <a:avLst/>
            </a:prstGeom>
          </p:spPr>
        </p:pic>
        <p:pic>
          <p:nvPicPr>
            <p:cNvPr id="22" name="圖片 21" descr="4.jpg"/>
            <p:cNvPicPr>
              <a:picLocks noChangeAspect="1"/>
            </p:cNvPicPr>
            <p:nvPr/>
          </p:nvPicPr>
          <p:blipFill>
            <a:blip r:embed="rId7" cstate="email"/>
            <a:stretch>
              <a:fillRect/>
            </a:stretch>
          </p:blipFill>
          <p:spPr>
            <a:xfrm>
              <a:off x="5479739" y="4332823"/>
              <a:ext cx="1832400" cy="2564628"/>
            </a:xfrm>
            <a:prstGeom prst="rect">
              <a:avLst/>
            </a:prstGeom>
          </p:spPr>
        </p:pic>
        <p:pic>
          <p:nvPicPr>
            <p:cNvPr id="23" name="圖片 22" descr="5.jpg"/>
            <p:cNvPicPr>
              <a:picLocks noChangeAspect="1"/>
            </p:cNvPicPr>
            <p:nvPr/>
          </p:nvPicPr>
          <p:blipFill>
            <a:blip r:embed="rId8" cstate="email"/>
            <a:stretch>
              <a:fillRect/>
            </a:stretch>
          </p:blipFill>
          <p:spPr>
            <a:xfrm>
              <a:off x="7310075" y="4336198"/>
              <a:ext cx="1840823" cy="2554333"/>
            </a:xfrm>
            <a:prstGeom prst="rect">
              <a:avLst/>
            </a:prstGeom>
          </p:spPr>
        </p:pic>
        <p:sp>
          <p:nvSpPr>
            <p:cNvPr id="24" name="文字方塊 23"/>
            <p:cNvSpPr txBox="1"/>
            <p:nvPr/>
          </p:nvSpPr>
          <p:spPr>
            <a:xfrm>
              <a:off x="-452794" y="4537503"/>
              <a:ext cx="2745190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5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自主創新</a:t>
              </a:r>
              <a:endParaRPr lang="en-US" altLang="zh-TW" sz="2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1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Innovation Ownership</a:t>
              </a:r>
              <a:endParaRPr lang="zh-TW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1383512" y="4537503"/>
              <a:ext cx="2745190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5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綠能環保</a:t>
              </a:r>
              <a:endParaRPr lang="en-US" altLang="zh-TW" sz="2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1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Sustainable Energy</a:t>
              </a:r>
              <a:endParaRPr lang="zh-TW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3210670" y="4537503"/>
              <a:ext cx="2745190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5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雲端服務</a:t>
              </a:r>
              <a:endParaRPr lang="en-US" altLang="zh-TW" sz="2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1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Cloud Service</a:t>
              </a:r>
              <a:endParaRPr lang="zh-TW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5019666" y="4537503"/>
              <a:ext cx="2745190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5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無線寬頻</a:t>
              </a:r>
              <a:endParaRPr lang="en-US" altLang="zh-TW" sz="2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1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Mobile Broadband</a:t>
              </a:r>
              <a:endParaRPr lang="zh-TW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6857891" y="4533656"/>
              <a:ext cx="27451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5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新興市場</a:t>
              </a:r>
              <a:endParaRPr lang="en-US" altLang="zh-TW" sz="2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2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Emerging Market</a:t>
              </a:r>
              <a:endParaRPr lang="zh-TW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</p:grpSp>
      <p:sp>
        <p:nvSpPr>
          <p:cNvPr id="31" name="副標題 2"/>
          <p:cNvSpPr txBox="1">
            <a:spLocks/>
          </p:cNvSpPr>
          <p:nvPr/>
        </p:nvSpPr>
        <p:spPr bwMode="auto">
          <a:xfrm>
            <a:off x="1280592" y="2818001"/>
            <a:ext cx="7344816" cy="592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0753" tIns="35377" rIns="70753" bIns="35377" numCol="1" anchor="ctr" anchorCtr="0" compatLnSpc="1">
            <a:prstTxWarp prst="textNoShape">
              <a:avLst/>
            </a:prstTxWarp>
            <a:noAutofit/>
          </a:bodyPr>
          <a:lstStyle/>
          <a:p>
            <a:pPr algn="ctr" defTabSz="770848">
              <a:spcBef>
                <a:spcPct val="20000"/>
              </a:spcBef>
              <a:defRPr/>
            </a:pPr>
            <a:r>
              <a:rPr kumimoji="0" lang="en-US" altLang="zh-TW" sz="3000" b="1" dirty="0" smtClean="0">
                <a:solidFill>
                  <a:srgbClr val="595959"/>
                </a:solidFill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RCTO TAA</a:t>
            </a:r>
            <a:r>
              <a:rPr kumimoji="0" lang="zh-TW" altLang="en-US" sz="3000" b="1" dirty="0" smtClean="0">
                <a:solidFill>
                  <a:srgbClr val="595959"/>
                </a:solidFill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</a:t>
            </a:r>
            <a:r>
              <a:rPr kumimoji="0" lang="en-US" altLang="zh-TW" sz="3000" b="1" dirty="0" smtClean="0">
                <a:solidFill>
                  <a:srgbClr val="595959"/>
                </a:solidFill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Plan </a:t>
            </a:r>
          </a:p>
        </p:txBody>
      </p:sp>
      <p:sp>
        <p:nvSpPr>
          <p:cNvPr id="32" name="副標題 2"/>
          <p:cNvSpPr txBox="1">
            <a:spLocks/>
          </p:cNvSpPr>
          <p:nvPr/>
        </p:nvSpPr>
        <p:spPr bwMode="auto">
          <a:xfrm>
            <a:off x="3408153" y="3624236"/>
            <a:ext cx="3089697" cy="653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3923" tIns="41962" rIns="83923" bIns="41962" numCol="1" anchor="t" anchorCtr="0" compatLnSpc="1">
            <a:prstTxWarp prst="textNoShape">
              <a:avLst/>
            </a:prstTxWarp>
            <a:normAutofit/>
          </a:bodyPr>
          <a:lstStyle/>
          <a:p>
            <a:pPr algn="ctr" defTabSz="839694">
              <a:spcBef>
                <a:spcPct val="20000"/>
              </a:spcBef>
              <a:defRPr/>
            </a:pPr>
            <a:r>
              <a:rPr kumimoji="0" lang="en-US" altLang="zh-CN" sz="1700" b="1" dirty="0" smtClean="0">
                <a:solidFill>
                  <a:srgbClr val="595959"/>
                </a:solidFill>
                <a:latin typeface="Calibri" pitchFamily="34" charset="0"/>
                <a:ea typeface="微軟正黑體" pitchFamily="34" charset="-120"/>
                <a:cs typeface="Calibri" pitchFamily="34" charset="0"/>
              </a:rPr>
              <a:t>January 28</a:t>
            </a:r>
            <a:r>
              <a:rPr kumimoji="0" lang="en-US" altLang="zh-CN" sz="1700" b="1" baseline="30000" dirty="0" smtClean="0">
                <a:solidFill>
                  <a:srgbClr val="595959"/>
                </a:solidFill>
                <a:latin typeface="Calibri" pitchFamily="34" charset="0"/>
                <a:ea typeface="微軟正黑體" pitchFamily="34" charset="-120"/>
                <a:cs typeface="Calibri" pitchFamily="34" charset="0"/>
              </a:rPr>
              <a:t>th</a:t>
            </a:r>
            <a:r>
              <a:rPr kumimoji="0" lang="en-US" altLang="zh-CN" sz="1700" b="1" dirty="0" smtClean="0">
                <a:solidFill>
                  <a:srgbClr val="595959"/>
                </a:solidFill>
                <a:latin typeface="Calibri" pitchFamily="34" charset="0"/>
                <a:ea typeface="微軟正黑體" pitchFamily="34" charset="-120"/>
                <a:cs typeface="Calibri" pitchFamily="34" charset="0"/>
              </a:rPr>
              <a:t> </a:t>
            </a:r>
            <a:r>
              <a:rPr kumimoji="0" lang="en-US" altLang="zh-TW" sz="1700" b="1" dirty="0" smtClean="0">
                <a:solidFill>
                  <a:srgbClr val="595959"/>
                </a:solidFill>
                <a:latin typeface="Calibri" pitchFamily="34" charset="0"/>
                <a:ea typeface="微軟正黑體" pitchFamily="34" charset="-120"/>
                <a:cs typeface="Calibri" pitchFamily="34" charset="0"/>
              </a:rPr>
              <a:t>2015</a:t>
            </a:r>
            <a:endParaRPr kumimoji="0" lang="en-US" altLang="zh-TW" sz="1700" b="1" dirty="0" smtClean="0">
              <a:solidFill>
                <a:srgbClr val="595959"/>
              </a:solidFill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  <a:p>
            <a:pPr algn="ctr" defTabSz="839694">
              <a:spcBef>
                <a:spcPct val="20000"/>
              </a:spcBef>
              <a:defRPr/>
            </a:pPr>
            <a:endParaRPr kumimoji="0" lang="en-US" altLang="zh-TW" sz="1700" b="1" dirty="0" smtClean="0">
              <a:solidFill>
                <a:srgbClr val="595959"/>
              </a:solidFill>
              <a:latin typeface="Calibri" pitchFamily="34" charset="0"/>
              <a:ea typeface="微軟正黑體" pitchFamily="34" charset="-12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Contents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 and Overview</a:t>
            </a:r>
          </a:p>
          <a:p>
            <a:r>
              <a:rPr lang="en-US" altLang="zh-TW" dirty="0" smtClean="0"/>
              <a:t>Key Milestone and High Level Process Flows</a:t>
            </a:r>
          </a:p>
          <a:p>
            <a:r>
              <a:rPr lang="en-US" altLang="zh-TW" dirty="0" smtClean="0"/>
              <a:t>Capacity Plan</a:t>
            </a:r>
          </a:p>
          <a:p>
            <a:r>
              <a:rPr lang="en-US" altLang="zh-TW" dirty="0" smtClean="0"/>
              <a:t>Factory Layout</a:t>
            </a:r>
          </a:p>
          <a:p>
            <a:r>
              <a:rPr lang="en-US" altLang="zh-TW" dirty="0" smtClean="0"/>
              <a:t>Resource Plan</a:t>
            </a:r>
          </a:p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0D7F62-1ECE-4394-BA60-7D459D81265B}" type="slidenum">
              <a:rPr lang="zh-TW" altLang="en-US" smtClean="0"/>
              <a:pPr>
                <a:defRPr/>
              </a:pPr>
              <a:t>2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TAA Introduction and 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pPr lvl="1"/>
            <a:r>
              <a:rPr lang="en-US" altLang="zh-TW" dirty="0" smtClean="0"/>
              <a:t>TAA refers to the Trade Agreements Act</a:t>
            </a:r>
          </a:p>
          <a:p>
            <a:pPr lvl="1"/>
            <a:r>
              <a:rPr lang="en-US" altLang="zh-TW" dirty="0" smtClean="0"/>
              <a:t>TAA requires that the U.S. Government may acquire only “U.S. – made or designated country end products</a:t>
            </a:r>
          </a:p>
          <a:p>
            <a:r>
              <a:rPr lang="en-US" altLang="zh-TW" dirty="0" smtClean="0"/>
              <a:t>Objective</a:t>
            </a:r>
          </a:p>
          <a:p>
            <a:pPr lvl="1"/>
            <a:r>
              <a:rPr lang="en-US" altLang="zh-TW" dirty="0" smtClean="0"/>
              <a:t>Establish a new factory in Taiwan to support HP TAA business</a:t>
            </a:r>
          </a:p>
          <a:p>
            <a:r>
              <a:rPr lang="en-US" altLang="zh-TW" dirty="0" smtClean="0"/>
              <a:t>Scope and Target Date</a:t>
            </a:r>
          </a:p>
          <a:p>
            <a:pPr lvl="1"/>
            <a:r>
              <a:rPr lang="en-US" altLang="zh-TW" dirty="0" smtClean="0"/>
              <a:t>To support combination of other ODM platforms NB/Mobility</a:t>
            </a:r>
          </a:p>
          <a:p>
            <a:pPr lvl="1"/>
            <a:r>
              <a:rPr lang="en-US" altLang="zh-TW" dirty="0" smtClean="0"/>
              <a:t>Go Live Readiness by 1</a:t>
            </a:r>
            <a:r>
              <a:rPr lang="en-US" altLang="zh-TW" baseline="30000" dirty="0" smtClean="0"/>
              <a:t>st</a:t>
            </a:r>
            <a:r>
              <a:rPr lang="en-US" altLang="zh-TW" dirty="0" smtClean="0"/>
              <a:t> June</a:t>
            </a:r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0D7F62-1ECE-4394-BA60-7D459D81265B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Key Milestone</a:t>
            </a:r>
            <a:endParaRPr lang="zh-TW" altLang="en-US" dirty="0" smtClean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0D7F62-1ECE-4394-BA60-7D459D81265B}" type="slidenum">
              <a:rPr lang="zh-TW" altLang="en-US" smtClean="0"/>
              <a:pPr>
                <a:defRPr/>
              </a:pPr>
              <a:t>4</a:t>
            </a:fld>
            <a:endParaRPr lang="zh-TW" altLang="en-US" dirty="0"/>
          </a:p>
        </p:txBody>
      </p:sp>
      <p:sp>
        <p:nvSpPr>
          <p:cNvPr id="41" name="內容版面配置區 2"/>
          <p:cNvSpPr>
            <a:spLocks noGrp="1"/>
          </p:cNvSpPr>
          <p:nvPr>
            <p:ph idx="1"/>
          </p:nvPr>
        </p:nvSpPr>
        <p:spPr>
          <a:xfrm>
            <a:off x="488504" y="1052736"/>
            <a:ext cx="8928992" cy="864096"/>
          </a:xfrm>
        </p:spPr>
        <p:txBody>
          <a:bodyPr/>
          <a:lstStyle/>
          <a:p>
            <a:r>
              <a:rPr lang="en-US" altLang="zh-TW" dirty="0" smtClean="0"/>
              <a:t>The following key milestones are base on official kickoff </a:t>
            </a:r>
            <a:r>
              <a:rPr lang="en-US" altLang="zh-TW" dirty="0" smtClean="0"/>
              <a:t>by 1/30</a:t>
            </a:r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  <p:grpSp>
        <p:nvGrpSpPr>
          <p:cNvPr id="3" name="群組 31"/>
          <p:cNvGrpSpPr/>
          <p:nvPr/>
        </p:nvGrpSpPr>
        <p:grpSpPr>
          <a:xfrm>
            <a:off x="488504" y="2132856"/>
            <a:ext cx="8784976" cy="3312368"/>
            <a:chOff x="488504" y="2132856"/>
            <a:chExt cx="8784976" cy="3312368"/>
          </a:xfrm>
        </p:grpSpPr>
        <p:cxnSp>
          <p:nvCxnSpPr>
            <p:cNvPr id="30" name="直線接點 29"/>
            <p:cNvCxnSpPr/>
            <p:nvPr/>
          </p:nvCxnSpPr>
          <p:spPr>
            <a:xfrm>
              <a:off x="7041232" y="2924944"/>
              <a:ext cx="0" cy="21602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接點 57"/>
            <p:cNvCxnSpPr/>
            <p:nvPr/>
          </p:nvCxnSpPr>
          <p:spPr>
            <a:xfrm>
              <a:off x="5313040" y="2924944"/>
              <a:ext cx="0" cy="21602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燕尾形向右箭號 28"/>
            <p:cNvSpPr/>
            <p:nvPr/>
          </p:nvSpPr>
          <p:spPr>
            <a:xfrm>
              <a:off x="488504" y="2132856"/>
              <a:ext cx="8784976" cy="1080120"/>
            </a:xfrm>
            <a:prstGeom prst="notched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848544" y="2638653"/>
              <a:ext cx="5605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2/2</a:t>
              </a:r>
              <a:endParaRPr lang="zh-TW" altLang="en-US" sz="1200" dirty="0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3152800" y="2647945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3/16</a:t>
              </a:r>
              <a:endParaRPr lang="zh-TW" altLang="en-US" sz="1200" dirty="0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5529064" y="2647945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4/27</a:t>
              </a:r>
              <a:endParaRPr lang="zh-TW" altLang="en-US" sz="1200" dirty="0"/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6393160" y="2647945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5/11</a:t>
              </a:r>
              <a:endParaRPr lang="zh-TW" altLang="en-US" sz="1200" dirty="0"/>
            </a:p>
          </p:txBody>
        </p:sp>
        <p:cxnSp>
          <p:nvCxnSpPr>
            <p:cNvPr id="47" name="直線接點 46"/>
            <p:cNvCxnSpPr/>
            <p:nvPr/>
          </p:nvCxnSpPr>
          <p:spPr>
            <a:xfrm>
              <a:off x="1064568" y="2924944"/>
              <a:ext cx="0" cy="21602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/>
            <p:cNvCxnSpPr/>
            <p:nvPr/>
          </p:nvCxnSpPr>
          <p:spPr>
            <a:xfrm>
              <a:off x="3430441" y="2935335"/>
              <a:ext cx="0" cy="21602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/>
            <p:cNvCxnSpPr/>
            <p:nvPr/>
          </p:nvCxnSpPr>
          <p:spPr>
            <a:xfrm>
              <a:off x="6609184" y="2924944"/>
              <a:ext cx="0" cy="21602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/>
            <p:cNvCxnSpPr/>
            <p:nvPr/>
          </p:nvCxnSpPr>
          <p:spPr>
            <a:xfrm>
              <a:off x="7473280" y="2924944"/>
              <a:ext cx="0" cy="21602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字方塊 53"/>
            <p:cNvSpPr txBox="1"/>
            <p:nvPr/>
          </p:nvSpPr>
          <p:spPr>
            <a:xfrm>
              <a:off x="5097016" y="2401143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4/20</a:t>
              </a: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7761312" y="2647945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6/1</a:t>
              </a:r>
              <a:endParaRPr lang="zh-TW" altLang="en-US" sz="1200" dirty="0"/>
            </a:p>
          </p:txBody>
        </p:sp>
        <p:cxnSp>
          <p:nvCxnSpPr>
            <p:cNvPr id="56" name="直線接點 55"/>
            <p:cNvCxnSpPr/>
            <p:nvPr/>
          </p:nvCxnSpPr>
          <p:spPr>
            <a:xfrm>
              <a:off x="7905328" y="2924944"/>
              <a:ext cx="0" cy="21602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/>
            <p:cNvSpPr/>
            <p:nvPr/>
          </p:nvSpPr>
          <p:spPr>
            <a:xfrm>
              <a:off x="3440832" y="3284984"/>
              <a:ext cx="3168352" cy="360040"/>
            </a:xfrm>
            <a:prstGeom prst="rect">
              <a:avLst/>
            </a:prstGeom>
            <a:solidFill>
              <a:srgbClr val="92D050"/>
            </a:solidFill>
            <a:scene3d>
              <a:camera prst="orthographicFront"/>
              <a:lightRig rig="threePt" dir="t"/>
            </a:scene3d>
            <a:sp3d>
              <a:bevelT w="63500" h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Recruitment and Training</a:t>
              </a:r>
              <a:endParaRPr lang="zh-TW" altLang="en-US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6609184" y="3645024"/>
              <a:ext cx="864096" cy="360040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 w="63500" h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/>
                <a:t>Pilot Run</a:t>
              </a:r>
              <a:endParaRPr lang="zh-TW" altLang="en-US" sz="1400" dirty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7041232" y="4005064"/>
              <a:ext cx="864096" cy="360040"/>
            </a:xfrm>
            <a:prstGeom prst="rect">
              <a:avLst/>
            </a:prstGeom>
            <a:solidFill>
              <a:srgbClr val="FFC000"/>
            </a:solidFill>
            <a:scene3d>
              <a:camera prst="orthographicFront"/>
              <a:lightRig rig="threePt" dir="t"/>
            </a:scene3d>
            <a:sp3d>
              <a:bevelT w="63500" h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/>
                <a:t>HP Audit</a:t>
              </a:r>
              <a:endParaRPr lang="zh-TW" altLang="en-US" sz="1400" dirty="0"/>
            </a:p>
          </p:txBody>
        </p:sp>
        <p:sp>
          <p:nvSpPr>
            <p:cNvPr id="51" name="矩形 50"/>
            <p:cNvSpPr/>
            <p:nvPr/>
          </p:nvSpPr>
          <p:spPr>
            <a:xfrm>
              <a:off x="5313040" y="4365104"/>
              <a:ext cx="2592288" cy="360040"/>
            </a:xfrm>
            <a:prstGeom prst="rect">
              <a:avLst/>
            </a:prstGeom>
            <a:solidFill>
              <a:srgbClr val="0070C0"/>
            </a:solidFill>
            <a:scene3d>
              <a:camera prst="orthographicFront"/>
              <a:lightRig rig="threePt" dir="t"/>
            </a:scene3d>
            <a:sp3d>
              <a:bevelT w="63500" h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UL Certificate</a:t>
              </a:r>
              <a:endParaRPr lang="zh-TW" altLang="en-US" dirty="0"/>
            </a:p>
          </p:txBody>
        </p:sp>
        <p:sp>
          <p:nvSpPr>
            <p:cNvPr id="52" name="矩形 51"/>
            <p:cNvSpPr/>
            <p:nvPr/>
          </p:nvSpPr>
          <p:spPr>
            <a:xfrm>
              <a:off x="5313040" y="4725144"/>
              <a:ext cx="2592288" cy="360040"/>
            </a:xfrm>
            <a:prstGeom prst="rect">
              <a:avLst/>
            </a:prstGeom>
            <a:solidFill>
              <a:srgbClr val="6699FF"/>
            </a:solidFill>
            <a:scene3d>
              <a:camera prst="orthographicFront"/>
              <a:lightRig rig="threePt" dir="t"/>
            </a:scene3d>
            <a:sp3d>
              <a:bevelT w="63500" h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CSA Certificate</a:t>
              </a:r>
              <a:endParaRPr lang="zh-TW" altLang="en-US" dirty="0"/>
            </a:p>
          </p:txBody>
        </p:sp>
        <p:sp>
          <p:nvSpPr>
            <p:cNvPr id="53" name="矩形 52"/>
            <p:cNvSpPr/>
            <p:nvPr/>
          </p:nvSpPr>
          <p:spPr>
            <a:xfrm>
              <a:off x="7905328" y="5085184"/>
              <a:ext cx="576064" cy="360040"/>
            </a:xfrm>
            <a:prstGeom prst="rect">
              <a:avLst/>
            </a:prstGeom>
            <a:solidFill>
              <a:srgbClr val="00B050"/>
            </a:solidFill>
            <a:scene3d>
              <a:camera prst="orthographicFront"/>
              <a:lightRig rig="threePt" dir="t"/>
            </a:scene3d>
            <a:sp3d>
              <a:bevelT w="63500" h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/>
                <a:t>FCS</a:t>
              </a:r>
              <a:endParaRPr lang="zh-TW" altLang="en-US" sz="1400" dirty="0"/>
            </a:p>
          </p:txBody>
        </p:sp>
        <p:sp>
          <p:nvSpPr>
            <p:cNvPr id="42" name="矩形 41"/>
            <p:cNvSpPr/>
            <p:nvPr/>
          </p:nvSpPr>
          <p:spPr>
            <a:xfrm>
              <a:off x="1064568" y="2924944"/>
              <a:ext cx="4680520" cy="360040"/>
            </a:xfrm>
            <a:prstGeom prst="rect">
              <a:avLst/>
            </a:prstGeom>
            <a:solidFill>
              <a:srgbClr val="00B050"/>
            </a:solidFill>
            <a:scene3d>
              <a:camera prst="orthographicFront"/>
              <a:lightRig rig="threePt" dir="t"/>
            </a:scene3d>
            <a:sp3d>
              <a:bevelT w="63500" h="254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Factory Setup</a:t>
              </a:r>
              <a:endParaRPr lang="zh-TW" altLang="en-US" dirty="0"/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7185248" y="2647945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5/25</a:t>
              </a:r>
              <a:endParaRPr lang="zh-TW" altLang="en-US" sz="1200" dirty="0"/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6753200" y="2647945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5/18</a:t>
              </a:r>
              <a:endParaRPr lang="zh-TW" alt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TAA Process Flow</a:t>
            </a:r>
            <a:endParaRPr lang="zh-TW" altLang="en-US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0D7F62-1ECE-4394-BA60-7D459D81265B}" type="slidenum">
              <a:rPr lang="zh-TW" altLang="en-US" smtClean="0"/>
              <a:pPr>
                <a:defRPr/>
              </a:pPr>
              <a:t>5</a:t>
            </a:fld>
            <a:endParaRPr lang="zh-TW" altLang="en-US" dirty="0"/>
          </a:p>
        </p:txBody>
      </p:sp>
      <p:sp>
        <p:nvSpPr>
          <p:cNvPr id="7" name="Text Box 42"/>
          <p:cNvSpPr txBox="1">
            <a:spLocks noChangeArrowheads="1"/>
          </p:cNvSpPr>
          <p:nvPr/>
        </p:nvSpPr>
        <p:spPr bwMode="auto">
          <a:xfrm>
            <a:off x="1028998" y="3501554"/>
            <a:ext cx="187134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Manufacture</a:t>
            </a:r>
            <a:endParaRPr lang="en-US" altLang="zh-TW" dirty="0">
              <a:latin typeface="Calibri" pitchFamily="34" charset="0"/>
            </a:endParaRPr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1028998" y="4221088"/>
            <a:ext cx="187766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Ship </a:t>
            </a:r>
            <a:endParaRPr lang="en-US" altLang="zh-TW" dirty="0">
              <a:latin typeface="Calibri" pitchFamily="34" charset="0"/>
            </a:endParaRPr>
          </a:p>
        </p:txBody>
      </p:sp>
      <p:cxnSp>
        <p:nvCxnSpPr>
          <p:cNvPr id="9" name="AutoShape 65"/>
          <p:cNvCxnSpPr>
            <a:cxnSpLocks noChangeShapeType="1"/>
            <a:stCxn id="10" idx="2"/>
            <a:endCxn id="7" idx="0"/>
          </p:cNvCxnSpPr>
          <p:nvPr/>
        </p:nvCxnSpPr>
        <p:spPr bwMode="auto">
          <a:xfrm flipH="1">
            <a:off x="1964668" y="3065507"/>
            <a:ext cx="544" cy="43604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" name="Text Box 60"/>
          <p:cNvSpPr txBox="1">
            <a:spLocks noChangeArrowheads="1"/>
          </p:cNvSpPr>
          <p:nvPr/>
        </p:nvSpPr>
        <p:spPr bwMode="auto">
          <a:xfrm>
            <a:off x="1028998" y="2696175"/>
            <a:ext cx="1872427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Order Execution</a:t>
            </a:r>
            <a:endParaRPr lang="en-US" altLang="zh-TW" dirty="0">
              <a:latin typeface="Calibri" pitchFamily="34" charset="0"/>
            </a:endParaRPr>
          </a:p>
        </p:txBody>
      </p:sp>
      <p:cxnSp>
        <p:nvCxnSpPr>
          <p:cNvPr id="11" name="AutoShape 65"/>
          <p:cNvCxnSpPr>
            <a:cxnSpLocks noChangeShapeType="1"/>
            <a:stCxn id="7" idx="2"/>
            <a:endCxn id="8" idx="0"/>
          </p:cNvCxnSpPr>
          <p:nvPr/>
        </p:nvCxnSpPr>
        <p:spPr bwMode="auto">
          <a:xfrm>
            <a:off x="1964668" y="3877791"/>
            <a:ext cx="3163" cy="34329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" name="Text Box 60"/>
          <p:cNvSpPr txBox="1">
            <a:spLocks noChangeArrowheads="1"/>
          </p:cNvSpPr>
          <p:nvPr/>
        </p:nvSpPr>
        <p:spPr bwMode="auto">
          <a:xfrm>
            <a:off x="1186869" y="1052736"/>
            <a:ext cx="1511300" cy="6480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HP</a:t>
            </a:r>
            <a:endParaRPr lang="en-US" altLang="zh-TW" dirty="0">
              <a:latin typeface="Calibri" pitchFamily="34" charset="0"/>
            </a:endParaRPr>
          </a:p>
        </p:txBody>
      </p:sp>
      <p:sp>
        <p:nvSpPr>
          <p:cNvPr id="13" name="Text Box 60"/>
          <p:cNvSpPr txBox="1">
            <a:spLocks noChangeArrowheads="1"/>
          </p:cNvSpPr>
          <p:nvPr/>
        </p:nvSpPr>
        <p:spPr bwMode="auto">
          <a:xfrm>
            <a:off x="4413374" y="2204864"/>
            <a:ext cx="2411834" cy="2952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TAA Factory</a:t>
            </a:r>
            <a:endParaRPr lang="en-US" altLang="zh-TW" dirty="0">
              <a:latin typeface="Calibri" pitchFamily="34" charset="0"/>
            </a:endParaRPr>
          </a:p>
        </p:txBody>
      </p:sp>
      <p:sp>
        <p:nvSpPr>
          <p:cNvPr id="16" name="Text Box 42"/>
          <p:cNvSpPr txBox="1">
            <a:spLocks noChangeArrowheads="1"/>
          </p:cNvSpPr>
          <p:nvPr/>
        </p:nvSpPr>
        <p:spPr bwMode="auto">
          <a:xfrm>
            <a:off x="4659510" y="3556819"/>
            <a:ext cx="194967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Manufacture</a:t>
            </a:r>
            <a:endParaRPr lang="en-US" altLang="zh-TW" dirty="0">
              <a:latin typeface="Calibri" pitchFamily="34" charset="0"/>
            </a:endParaRPr>
          </a:p>
        </p:txBody>
      </p:sp>
      <p:sp>
        <p:nvSpPr>
          <p:cNvPr id="17" name="Text Box 44"/>
          <p:cNvSpPr txBox="1">
            <a:spLocks noChangeArrowheads="1"/>
          </p:cNvSpPr>
          <p:nvPr/>
        </p:nvSpPr>
        <p:spPr bwMode="auto">
          <a:xfrm>
            <a:off x="4665836" y="4492923"/>
            <a:ext cx="1943348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Ship </a:t>
            </a:r>
            <a:endParaRPr lang="en-US" altLang="zh-TW" dirty="0">
              <a:latin typeface="Calibri" pitchFamily="34" charset="0"/>
            </a:endParaRPr>
          </a:p>
        </p:txBody>
      </p:sp>
      <p:cxnSp>
        <p:nvCxnSpPr>
          <p:cNvPr id="18" name="AutoShape 65"/>
          <p:cNvCxnSpPr>
            <a:cxnSpLocks noChangeShapeType="1"/>
            <a:stCxn id="19" idx="2"/>
            <a:endCxn id="16" idx="0"/>
          </p:cNvCxnSpPr>
          <p:nvPr/>
        </p:nvCxnSpPr>
        <p:spPr bwMode="auto">
          <a:xfrm flipH="1">
            <a:off x="5634347" y="2937688"/>
            <a:ext cx="544" cy="61913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" name="Text Box 60"/>
          <p:cNvSpPr txBox="1">
            <a:spLocks noChangeArrowheads="1"/>
          </p:cNvSpPr>
          <p:nvPr/>
        </p:nvSpPr>
        <p:spPr bwMode="auto">
          <a:xfrm>
            <a:off x="4660598" y="2568356"/>
            <a:ext cx="1948586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Order Execution</a:t>
            </a:r>
            <a:endParaRPr lang="en-US" altLang="zh-TW" dirty="0">
              <a:latin typeface="Calibri" pitchFamily="34" charset="0"/>
            </a:endParaRPr>
          </a:p>
        </p:txBody>
      </p:sp>
      <p:cxnSp>
        <p:nvCxnSpPr>
          <p:cNvPr id="20" name="AutoShape 65"/>
          <p:cNvCxnSpPr>
            <a:cxnSpLocks noChangeShapeType="1"/>
            <a:stCxn id="16" idx="2"/>
            <a:endCxn id="17" idx="0"/>
          </p:cNvCxnSpPr>
          <p:nvPr/>
        </p:nvCxnSpPr>
        <p:spPr bwMode="auto">
          <a:xfrm>
            <a:off x="5634347" y="3933056"/>
            <a:ext cx="3163" cy="55986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1" name="Text Box 60"/>
          <p:cNvSpPr txBox="1">
            <a:spLocks noChangeArrowheads="1"/>
          </p:cNvSpPr>
          <p:nvPr/>
        </p:nvSpPr>
        <p:spPr bwMode="auto">
          <a:xfrm>
            <a:off x="7545288" y="4352990"/>
            <a:ext cx="1511300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0"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Designated</a:t>
            </a:r>
          </a:p>
          <a:p>
            <a:pPr algn="ctr"/>
            <a:r>
              <a:rPr lang="en-US" altLang="zh-TW" dirty="0" smtClean="0">
                <a:latin typeface="Calibri" pitchFamily="34" charset="0"/>
              </a:rPr>
              <a:t>Destination</a:t>
            </a:r>
          </a:p>
        </p:txBody>
      </p:sp>
      <p:cxnSp>
        <p:nvCxnSpPr>
          <p:cNvPr id="22" name="AutoShape 65"/>
          <p:cNvCxnSpPr>
            <a:cxnSpLocks noChangeShapeType="1"/>
            <a:stCxn id="17" idx="3"/>
            <a:endCxn id="21" idx="1"/>
          </p:cNvCxnSpPr>
          <p:nvPr/>
        </p:nvCxnSpPr>
        <p:spPr bwMode="auto">
          <a:xfrm flipV="1">
            <a:off x="6609184" y="4676156"/>
            <a:ext cx="936104" cy="488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5" name="Text Box 60"/>
          <p:cNvSpPr txBox="1">
            <a:spLocks noChangeArrowheads="1"/>
          </p:cNvSpPr>
          <p:nvPr/>
        </p:nvSpPr>
        <p:spPr bwMode="auto">
          <a:xfrm>
            <a:off x="3296816" y="4221088"/>
            <a:ext cx="864096" cy="376237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HUB</a:t>
            </a:r>
            <a:endParaRPr lang="en-US" altLang="zh-TW" dirty="0">
              <a:latin typeface="Calibri" pitchFamily="34" charset="0"/>
            </a:endParaRPr>
          </a:p>
        </p:txBody>
      </p:sp>
      <p:sp>
        <p:nvSpPr>
          <p:cNvPr id="27" name="Text Box 60"/>
          <p:cNvSpPr txBox="1">
            <a:spLocks noChangeArrowheads="1"/>
          </p:cNvSpPr>
          <p:nvPr/>
        </p:nvSpPr>
        <p:spPr bwMode="auto">
          <a:xfrm>
            <a:off x="1186869" y="5302949"/>
            <a:ext cx="1511300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Designated</a:t>
            </a:r>
          </a:p>
          <a:p>
            <a:pPr algn="ctr"/>
            <a:r>
              <a:rPr lang="en-US" altLang="zh-TW" dirty="0" smtClean="0">
                <a:latin typeface="Calibri" pitchFamily="34" charset="0"/>
              </a:rPr>
              <a:t>Destination</a:t>
            </a:r>
            <a:endParaRPr lang="en-US" altLang="zh-TW" dirty="0">
              <a:latin typeface="Calibri" pitchFamily="34" charset="0"/>
            </a:endParaRPr>
          </a:p>
        </p:txBody>
      </p:sp>
      <p:cxnSp>
        <p:nvCxnSpPr>
          <p:cNvPr id="28" name="AutoShape 65"/>
          <p:cNvCxnSpPr>
            <a:cxnSpLocks noChangeShapeType="1"/>
            <a:stCxn id="61" idx="2"/>
            <a:endCxn id="27" idx="0"/>
          </p:cNvCxnSpPr>
          <p:nvPr/>
        </p:nvCxnSpPr>
        <p:spPr bwMode="auto">
          <a:xfrm flipH="1">
            <a:off x="1942519" y="5013176"/>
            <a:ext cx="4364" cy="28977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3" name="AutoShape 65"/>
          <p:cNvCxnSpPr>
            <a:cxnSpLocks noChangeShapeType="1"/>
            <a:stCxn id="12" idx="2"/>
            <a:endCxn id="61" idx="0"/>
          </p:cNvCxnSpPr>
          <p:nvPr/>
        </p:nvCxnSpPr>
        <p:spPr bwMode="auto">
          <a:xfrm>
            <a:off x="1942519" y="1700808"/>
            <a:ext cx="4364" cy="504056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36" name="AutoShape 65"/>
          <p:cNvCxnSpPr>
            <a:cxnSpLocks noChangeShapeType="1"/>
            <a:stCxn id="12" idx="3"/>
            <a:endCxn id="13" idx="0"/>
          </p:cNvCxnSpPr>
          <p:nvPr/>
        </p:nvCxnSpPr>
        <p:spPr bwMode="auto">
          <a:xfrm>
            <a:off x="2698169" y="1376772"/>
            <a:ext cx="2921122" cy="828092"/>
          </a:xfrm>
          <a:prstGeom prst="bentConnector2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39" name="Text Box 60"/>
          <p:cNvSpPr txBox="1">
            <a:spLocks noChangeArrowheads="1"/>
          </p:cNvSpPr>
          <p:nvPr/>
        </p:nvSpPr>
        <p:spPr bwMode="auto">
          <a:xfrm>
            <a:off x="7618164" y="2146711"/>
            <a:ext cx="1511300" cy="6480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Suppliers</a:t>
            </a:r>
            <a:endParaRPr lang="en-US" altLang="zh-TW" dirty="0">
              <a:latin typeface="Calibri" pitchFamily="34" charset="0"/>
            </a:endParaRPr>
          </a:p>
        </p:txBody>
      </p:sp>
      <p:cxnSp>
        <p:nvCxnSpPr>
          <p:cNvPr id="40" name="AutoShape 65"/>
          <p:cNvCxnSpPr>
            <a:cxnSpLocks noChangeShapeType="1"/>
            <a:stCxn id="39" idx="2"/>
            <a:endCxn id="13" idx="3"/>
          </p:cNvCxnSpPr>
          <p:nvPr/>
        </p:nvCxnSpPr>
        <p:spPr bwMode="auto">
          <a:xfrm rot="5400000">
            <a:off x="7156389" y="2463602"/>
            <a:ext cx="886245" cy="1548606"/>
          </a:xfrm>
          <a:prstGeom prst="bentConnector2">
            <a:avLst/>
          </a:prstGeom>
          <a:noFill/>
          <a:ln w="28575">
            <a:solidFill>
              <a:schemeClr val="tx1"/>
            </a:solidFill>
            <a:prstDash val="solid"/>
            <a:round/>
            <a:headEnd/>
            <a:tailEnd type="triangle" w="med" len="med"/>
          </a:ln>
        </p:spPr>
      </p:cxnSp>
      <p:cxnSp>
        <p:nvCxnSpPr>
          <p:cNvPr id="47" name="AutoShape 65"/>
          <p:cNvCxnSpPr>
            <a:cxnSpLocks noChangeShapeType="1"/>
            <a:endCxn id="39" idx="1"/>
          </p:cNvCxnSpPr>
          <p:nvPr/>
        </p:nvCxnSpPr>
        <p:spPr bwMode="auto">
          <a:xfrm>
            <a:off x="6897216" y="2470747"/>
            <a:ext cx="720948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54" name="AutoShape 65"/>
          <p:cNvCxnSpPr>
            <a:cxnSpLocks noChangeShapeType="1"/>
            <a:stCxn id="25" idx="0"/>
            <a:endCxn id="13" idx="1"/>
          </p:cNvCxnSpPr>
          <p:nvPr/>
        </p:nvCxnSpPr>
        <p:spPr bwMode="auto">
          <a:xfrm rot="5400000" flipH="1" flipV="1">
            <a:off x="3801089" y="3608803"/>
            <a:ext cx="540060" cy="684510"/>
          </a:xfrm>
          <a:prstGeom prst="bent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1" name="Text Box 60"/>
          <p:cNvSpPr txBox="1">
            <a:spLocks noChangeArrowheads="1"/>
          </p:cNvSpPr>
          <p:nvPr/>
        </p:nvSpPr>
        <p:spPr bwMode="auto">
          <a:xfrm>
            <a:off x="812974" y="2204864"/>
            <a:ext cx="2267818" cy="2808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ODM</a:t>
            </a:r>
            <a:endParaRPr lang="en-US" altLang="zh-TW" dirty="0">
              <a:latin typeface="Calibri" pitchFamily="34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2720752" y="1423809"/>
            <a:ext cx="1152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>
                <a:latin typeface="+mj-lt"/>
              </a:rPr>
              <a:t>Forecast/Order</a:t>
            </a:r>
            <a:endParaRPr lang="zh-TW" altLang="en-US" sz="1200" dirty="0">
              <a:latin typeface="+mj-lt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1965102" y="1844824"/>
            <a:ext cx="1259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>
                <a:latin typeface="+mj-lt"/>
              </a:rPr>
              <a:t>Forecast/Order</a:t>
            </a:r>
            <a:endParaRPr lang="zh-TW" altLang="en-US" sz="1200" dirty="0">
              <a:latin typeface="+mj-lt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6825208" y="2492896"/>
            <a:ext cx="1080120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>
                <a:latin typeface="+mj-lt"/>
              </a:rPr>
              <a:t>Order</a:t>
            </a:r>
            <a:endParaRPr lang="zh-TW" altLang="en-US" sz="1200" dirty="0">
              <a:latin typeface="+mj-lt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6825208" y="3717032"/>
            <a:ext cx="864096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>
                <a:latin typeface="+mj-lt"/>
              </a:rPr>
              <a:t>Materials</a:t>
            </a:r>
            <a:endParaRPr lang="zh-TW" altLang="en-US" sz="1200" dirty="0">
              <a:latin typeface="+mj-lt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3152800" y="4581128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>
                <a:latin typeface="+mj-lt"/>
              </a:rPr>
              <a:t>Materials/HALB</a:t>
            </a:r>
            <a:endParaRPr lang="zh-TW" altLang="en-US" sz="1200" dirty="0">
              <a:latin typeface="+mj-lt"/>
            </a:endParaRPr>
          </a:p>
        </p:txBody>
      </p:sp>
      <p:cxnSp>
        <p:nvCxnSpPr>
          <p:cNvPr id="108" name="AutoShape 65"/>
          <p:cNvCxnSpPr>
            <a:cxnSpLocks noChangeShapeType="1"/>
          </p:cNvCxnSpPr>
          <p:nvPr/>
        </p:nvCxnSpPr>
        <p:spPr bwMode="auto">
          <a:xfrm flipH="1">
            <a:off x="3080792" y="2780928"/>
            <a:ext cx="1296144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111" name="文字方塊 110"/>
          <p:cNvSpPr txBox="1"/>
          <p:nvPr/>
        </p:nvSpPr>
        <p:spPr>
          <a:xfrm>
            <a:off x="3152800" y="2780928"/>
            <a:ext cx="1152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>
                <a:latin typeface="+mj-lt"/>
              </a:rPr>
              <a:t>Forecast/Order</a:t>
            </a:r>
            <a:endParaRPr lang="zh-TW" altLang="en-US" sz="1200" dirty="0">
              <a:latin typeface="+mj-lt"/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6825208" y="2204864"/>
            <a:ext cx="1080120" cy="288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>
                <a:latin typeface="+mj-lt"/>
              </a:rPr>
              <a:t>Forecast</a:t>
            </a:r>
            <a:endParaRPr lang="zh-TW" altLang="en-US" sz="1200" dirty="0">
              <a:latin typeface="+mj-lt"/>
            </a:endParaRPr>
          </a:p>
        </p:txBody>
      </p:sp>
      <p:cxnSp>
        <p:nvCxnSpPr>
          <p:cNvPr id="127" name="AutoShape 65"/>
          <p:cNvCxnSpPr>
            <a:cxnSpLocks noChangeShapeType="1"/>
          </p:cNvCxnSpPr>
          <p:nvPr/>
        </p:nvCxnSpPr>
        <p:spPr bwMode="auto">
          <a:xfrm>
            <a:off x="3080792" y="4437112"/>
            <a:ext cx="216892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olid"/>
            <a:round/>
            <a:headEnd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</p:spPr>
        <p:txBody>
          <a:bodyPr/>
          <a:lstStyle/>
          <a:p>
            <a:pPr>
              <a:defRPr/>
            </a:pPr>
            <a:fld id="{F9C9BD31-472F-4330-84AC-1DD1C5F06F7A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  <p:sp>
        <p:nvSpPr>
          <p:cNvPr id="8" name="頁尾版面配置區 6"/>
          <p:cNvSpPr>
            <a:spLocks noGrp="1"/>
          </p:cNvSpPr>
          <p:nvPr>
            <p:ph type="ftr" sz="quarter" idx="11"/>
          </p:nvPr>
        </p:nvSpPr>
        <p:spPr>
          <a:xfrm>
            <a:off x="1" y="6356939"/>
            <a:ext cx="1551006" cy="364281"/>
          </a:xfrm>
        </p:spPr>
        <p:txBody>
          <a:bodyPr/>
          <a:lstStyle/>
          <a:p>
            <a:pPr>
              <a:defRPr/>
            </a:pPr>
            <a:r>
              <a:rPr lang="en-US" altLang="zh-TW" dirty="0" smtClean="0"/>
              <a:t>Inventec Confidential</a:t>
            </a:r>
            <a:endParaRPr lang="zh-TW" altLang="en-US" dirty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684213" y="836712"/>
            <a:ext cx="1150937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>
                <a:latin typeface="Calibri" pitchFamily="34" charset="0"/>
              </a:rPr>
              <a:t>LCM</a:t>
            </a:r>
          </a:p>
        </p:txBody>
      </p:sp>
      <p:sp>
        <p:nvSpPr>
          <p:cNvPr id="10" name="Text Box 25"/>
          <p:cNvSpPr txBox="1">
            <a:spLocks noChangeArrowheads="1"/>
          </p:cNvSpPr>
          <p:nvPr/>
        </p:nvSpPr>
        <p:spPr bwMode="auto">
          <a:xfrm>
            <a:off x="2293938" y="836712"/>
            <a:ext cx="115252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>
                <a:latin typeface="Calibri" pitchFamily="34" charset="0"/>
              </a:rPr>
              <a:t>B/U</a:t>
            </a:r>
          </a:p>
        </p:txBody>
      </p:sp>
      <p:sp>
        <p:nvSpPr>
          <p:cNvPr id="11" name="Text Box 41"/>
          <p:cNvSpPr txBox="1">
            <a:spLocks noChangeArrowheads="1"/>
          </p:cNvSpPr>
          <p:nvPr/>
        </p:nvSpPr>
        <p:spPr bwMode="auto">
          <a:xfrm>
            <a:off x="3852863" y="836712"/>
            <a:ext cx="15113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>
                <a:latin typeface="Calibri" pitchFamily="34" charset="0"/>
              </a:rPr>
              <a:t>Keyparts</a:t>
            </a:r>
          </a:p>
        </p:txBody>
      </p:sp>
      <p:sp>
        <p:nvSpPr>
          <p:cNvPr id="12" name="Text Box 42"/>
          <p:cNvSpPr txBox="1">
            <a:spLocks noChangeArrowheads="1"/>
          </p:cNvSpPr>
          <p:nvPr/>
        </p:nvSpPr>
        <p:spPr bwMode="auto">
          <a:xfrm>
            <a:off x="2124075" y="3573562"/>
            <a:ext cx="15113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Diag. Test</a:t>
            </a:r>
            <a:endParaRPr lang="en-US" altLang="zh-TW" dirty="0">
              <a:latin typeface="Calibri" pitchFamily="34" charset="0"/>
            </a:endParaRPr>
          </a:p>
        </p:txBody>
      </p:sp>
      <p:sp>
        <p:nvSpPr>
          <p:cNvPr id="13" name="Text Box 43"/>
          <p:cNvSpPr txBox="1">
            <a:spLocks noChangeArrowheads="1"/>
          </p:cNvSpPr>
          <p:nvPr/>
        </p:nvSpPr>
        <p:spPr bwMode="auto">
          <a:xfrm>
            <a:off x="1942952" y="5085752"/>
            <a:ext cx="1892821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Image download</a:t>
            </a:r>
            <a:endParaRPr lang="en-US" altLang="zh-TW" dirty="0">
              <a:latin typeface="Calibri" pitchFamily="34" charset="0"/>
            </a:endParaRPr>
          </a:p>
        </p:txBody>
      </p:sp>
      <p:sp>
        <p:nvSpPr>
          <p:cNvPr id="14" name="Text Box 44"/>
          <p:cNvSpPr txBox="1">
            <a:spLocks noChangeArrowheads="1"/>
          </p:cNvSpPr>
          <p:nvPr/>
        </p:nvSpPr>
        <p:spPr bwMode="auto">
          <a:xfrm>
            <a:off x="2130400" y="4293096"/>
            <a:ext cx="15113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Run-In </a:t>
            </a:r>
            <a:endParaRPr lang="en-US" altLang="zh-TW" dirty="0">
              <a:latin typeface="Calibri" pitchFamily="34" charset="0"/>
            </a:endParaRPr>
          </a:p>
        </p:txBody>
      </p:sp>
      <p:sp>
        <p:nvSpPr>
          <p:cNvPr id="15" name="Text Box 45"/>
          <p:cNvSpPr txBox="1">
            <a:spLocks noChangeArrowheads="1"/>
          </p:cNvSpPr>
          <p:nvPr/>
        </p:nvSpPr>
        <p:spPr bwMode="auto">
          <a:xfrm>
            <a:off x="6091238" y="2348880"/>
            <a:ext cx="1798637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OA 3.0</a:t>
            </a:r>
            <a:endParaRPr lang="en-US" altLang="zh-TW" dirty="0">
              <a:latin typeface="Calibri" pitchFamily="34" charset="0"/>
            </a:endParaRPr>
          </a:p>
        </p:txBody>
      </p:sp>
      <p:sp>
        <p:nvSpPr>
          <p:cNvPr id="17" name="Text Box 47"/>
          <p:cNvSpPr txBox="1">
            <a:spLocks noChangeArrowheads="1"/>
          </p:cNvSpPr>
          <p:nvPr/>
        </p:nvSpPr>
        <p:spPr bwMode="auto">
          <a:xfrm>
            <a:off x="6091238" y="3916858"/>
            <a:ext cx="1798637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>
                <a:latin typeface="Calibri" pitchFamily="34" charset="0"/>
              </a:rPr>
              <a:t>Packing</a:t>
            </a:r>
          </a:p>
        </p:txBody>
      </p:sp>
      <p:sp>
        <p:nvSpPr>
          <p:cNvPr id="19" name="Text Box 49"/>
          <p:cNvSpPr txBox="1">
            <a:spLocks noChangeArrowheads="1"/>
          </p:cNvSpPr>
          <p:nvPr/>
        </p:nvSpPr>
        <p:spPr bwMode="auto">
          <a:xfrm>
            <a:off x="6091238" y="4708947"/>
            <a:ext cx="1798637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>
                <a:latin typeface="Calibri" pitchFamily="34" charset="0"/>
              </a:rPr>
              <a:t>Shipment</a:t>
            </a:r>
          </a:p>
        </p:txBody>
      </p:sp>
      <p:cxnSp>
        <p:nvCxnSpPr>
          <p:cNvPr id="20" name="AutoShape 50"/>
          <p:cNvCxnSpPr>
            <a:cxnSpLocks noChangeShapeType="1"/>
            <a:stCxn id="10" idx="2"/>
            <a:endCxn id="28" idx="0"/>
          </p:cNvCxnSpPr>
          <p:nvPr/>
        </p:nvCxnSpPr>
        <p:spPr bwMode="auto">
          <a:xfrm>
            <a:off x="2870200" y="1212949"/>
            <a:ext cx="3175" cy="7762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" name="AutoShape 55"/>
          <p:cNvCxnSpPr>
            <a:cxnSpLocks noChangeShapeType="1"/>
            <a:stCxn id="15" idx="2"/>
          </p:cNvCxnSpPr>
          <p:nvPr/>
        </p:nvCxnSpPr>
        <p:spPr bwMode="auto">
          <a:xfrm>
            <a:off x="6990557" y="2725118"/>
            <a:ext cx="794" cy="471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4" name="AutoShape 56"/>
          <p:cNvCxnSpPr>
            <a:cxnSpLocks noChangeShapeType="1"/>
            <a:endCxn id="17" idx="0"/>
          </p:cNvCxnSpPr>
          <p:nvPr/>
        </p:nvCxnSpPr>
        <p:spPr bwMode="auto">
          <a:xfrm flipH="1">
            <a:off x="6990557" y="3573016"/>
            <a:ext cx="794" cy="34384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" name="AutoShape 57"/>
          <p:cNvCxnSpPr>
            <a:cxnSpLocks noChangeShapeType="1"/>
            <a:stCxn id="17" idx="2"/>
            <a:endCxn id="19" idx="0"/>
          </p:cNvCxnSpPr>
          <p:nvPr/>
        </p:nvCxnSpPr>
        <p:spPr bwMode="auto">
          <a:xfrm>
            <a:off x="6990557" y="4293096"/>
            <a:ext cx="0" cy="41585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7" name="AutoShape 59"/>
          <p:cNvCxnSpPr>
            <a:cxnSpLocks noChangeShapeType="1"/>
            <a:stCxn id="35" idx="3"/>
            <a:endCxn id="15" idx="0"/>
          </p:cNvCxnSpPr>
          <p:nvPr/>
        </p:nvCxnSpPr>
        <p:spPr bwMode="auto">
          <a:xfrm flipV="1">
            <a:off x="3648842" y="2348880"/>
            <a:ext cx="3341715" cy="3755835"/>
          </a:xfrm>
          <a:prstGeom prst="bentConnector4">
            <a:avLst>
              <a:gd name="adj1" fmla="val 36544"/>
              <a:gd name="adj2" fmla="val 112554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8" name="Text Box 60"/>
          <p:cNvSpPr txBox="1">
            <a:spLocks noChangeArrowheads="1"/>
          </p:cNvSpPr>
          <p:nvPr/>
        </p:nvSpPr>
        <p:spPr bwMode="auto">
          <a:xfrm>
            <a:off x="2117725" y="1989237"/>
            <a:ext cx="15113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>
                <a:latin typeface="Calibri" pitchFamily="34" charset="0"/>
              </a:rPr>
              <a:t>Assembly</a:t>
            </a:r>
          </a:p>
        </p:txBody>
      </p:sp>
      <p:cxnSp>
        <p:nvCxnSpPr>
          <p:cNvPr id="29" name="AutoShape 61"/>
          <p:cNvCxnSpPr>
            <a:cxnSpLocks noChangeShapeType="1"/>
            <a:stCxn id="9" idx="2"/>
            <a:endCxn id="28" idx="0"/>
          </p:cNvCxnSpPr>
          <p:nvPr/>
        </p:nvCxnSpPr>
        <p:spPr bwMode="auto">
          <a:xfrm rot="16200000" flipH="1">
            <a:off x="1678781" y="794643"/>
            <a:ext cx="776288" cy="1612900"/>
          </a:xfrm>
          <a:prstGeom prst="bentConnector3">
            <a:avLst>
              <a:gd name="adj1" fmla="val 49898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" name="AutoShape 62"/>
          <p:cNvCxnSpPr>
            <a:cxnSpLocks noChangeShapeType="1"/>
            <a:stCxn id="11" idx="2"/>
            <a:endCxn id="28" idx="0"/>
          </p:cNvCxnSpPr>
          <p:nvPr/>
        </p:nvCxnSpPr>
        <p:spPr bwMode="auto">
          <a:xfrm rot="5400000">
            <a:off x="3352800" y="733524"/>
            <a:ext cx="776288" cy="1735138"/>
          </a:xfrm>
          <a:prstGeom prst="bentConnector3">
            <a:avLst>
              <a:gd name="adj1" fmla="val 49898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2" name="AutoShape 64"/>
          <p:cNvCxnSpPr>
            <a:cxnSpLocks noChangeShapeType="1"/>
            <a:stCxn id="28" idx="2"/>
          </p:cNvCxnSpPr>
          <p:nvPr/>
        </p:nvCxnSpPr>
        <p:spPr bwMode="auto">
          <a:xfrm>
            <a:off x="2873375" y="2365474"/>
            <a:ext cx="6350" cy="4159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3" name="AutoShape 65"/>
          <p:cNvCxnSpPr>
            <a:cxnSpLocks noChangeShapeType="1"/>
            <a:endCxn id="12" idx="0"/>
          </p:cNvCxnSpPr>
          <p:nvPr/>
        </p:nvCxnSpPr>
        <p:spPr bwMode="auto">
          <a:xfrm>
            <a:off x="2879725" y="3157637"/>
            <a:ext cx="0" cy="4159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5" name="Text Box 67"/>
          <p:cNvSpPr txBox="1">
            <a:spLocks noChangeArrowheads="1"/>
          </p:cNvSpPr>
          <p:nvPr/>
        </p:nvSpPr>
        <p:spPr bwMode="auto">
          <a:xfrm>
            <a:off x="2136674" y="5916596"/>
            <a:ext cx="1512168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2PP</a:t>
            </a:r>
            <a:endParaRPr lang="en-US" altLang="zh-TW" dirty="0">
              <a:latin typeface="Calibri" pitchFamily="34" charset="0"/>
            </a:endParaRPr>
          </a:p>
        </p:txBody>
      </p:sp>
      <p:sp>
        <p:nvSpPr>
          <p:cNvPr id="38" name="Text Box 60"/>
          <p:cNvSpPr txBox="1">
            <a:spLocks noChangeArrowheads="1"/>
          </p:cNvSpPr>
          <p:nvPr/>
        </p:nvSpPr>
        <p:spPr bwMode="auto">
          <a:xfrm>
            <a:off x="2125162" y="2764731"/>
            <a:ext cx="15113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Cosmetic</a:t>
            </a:r>
            <a:endParaRPr lang="en-US" altLang="zh-TW" dirty="0">
              <a:latin typeface="Calibri" pitchFamily="34" charset="0"/>
            </a:endParaRPr>
          </a:p>
        </p:txBody>
      </p:sp>
      <p:cxnSp>
        <p:nvCxnSpPr>
          <p:cNvPr id="37" name="AutoShape 65"/>
          <p:cNvCxnSpPr>
            <a:cxnSpLocks noChangeShapeType="1"/>
            <a:stCxn id="12" idx="2"/>
            <a:endCxn id="14" idx="0"/>
          </p:cNvCxnSpPr>
          <p:nvPr/>
        </p:nvCxnSpPr>
        <p:spPr bwMode="auto">
          <a:xfrm>
            <a:off x="2879725" y="3949799"/>
            <a:ext cx="6325" cy="34329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9" name="AutoShape 65"/>
          <p:cNvCxnSpPr>
            <a:cxnSpLocks noChangeShapeType="1"/>
            <a:stCxn id="14" idx="2"/>
            <a:endCxn id="13" idx="0"/>
          </p:cNvCxnSpPr>
          <p:nvPr/>
        </p:nvCxnSpPr>
        <p:spPr bwMode="auto">
          <a:xfrm>
            <a:off x="2886050" y="4669333"/>
            <a:ext cx="3313" cy="41641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0" name="AutoShape 65"/>
          <p:cNvCxnSpPr>
            <a:cxnSpLocks noChangeShapeType="1"/>
            <a:stCxn id="13" idx="2"/>
            <a:endCxn id="35" idx="0"/>
          </p:cNvCxnSpPr>
          <p:nvPr/>
        </p:nvCxnSpPr>
        <p:spPr bwMode="auto">
          <a:xfrm>
            <a:off x="2889363" y="5455084"/>
            <a:ext cx="3395" cy="4615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" name="Text Box 47"/>
          <p:cNvSpPr txBox="1">
            <a:spLocks noChangeArrowheads="1"/>
          </p:cNvSpPr>
          <p:nvPr/>
        </p:nvSpPr>
        <p:spPr bwMode="auto">
          <a:xfrm>
            <a:off x="6091238" y="3196778"/>
            <a:ext cx="1798637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 smtClean="0">
                <a:latin typeface="Calibri" pitchFamily="34" charset="0"/>
              </a:rPr>
              <a:t>Cosmetic</a:t>
            </a:r>
            <a:endParaRPr lang="en-US" altLang="zh-TW" dirty="0">
              <a:latin typeface="Calibri" pitchFamily="34" charset="0"/>
            </a:endParaRPr>
          </a:p>
        </p:txBody>
      </p:sp>
      <p:sp>
        <p:nvSpPr>
          <p:cNvPr id="31" name="標題 1"/>
          <p:cNvSpPr txBox="1">
            <a:spLocks/>
          </p:cNvSpPr>
          <p:nvPr/>
        </p:nvSpPr>
        <p:spPr>
          <a:xfrm>
            <a:off x="430676" y="-27384"/>
            <a:ext cx="9475324" cy="796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5" rIns="91428" bIns="45715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Final Assembly Process Flow </a:t>
            </a:r>
            <a:r>
              <a:rPr kumimoji="0" lang="zh-TW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 </a:t>
            </a:r>
            <a:r>
              <a:rPr kumimoji="0" lang="en-US" altLang="zh-TW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Capacity </a:t>
            </a:r>
            <a:r>
              <a:rPr lang="en-US" altLang="zh-TW" dirty="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Plan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95300" y="1108992"/>
            <a:ext cx="8915400" cy="4840288"/>
          </a:xfrm>
        </p:spPr>
        <p:txBody>
          <a:bodyPr/>
          <a:lstStyle/>
          <a:p>
            <a:r>
              <a:rPr lang="en-US" altLang="zh-TW" dirty="0" smtClean="0"/>
              <a:t>Monthly capacity 15.8K per line</a:t>
            </a:r>
          </a:p>
          <a:p>
            <a:pPr lvl="1"/>
            <a:r>
              <a:rPr lang="en-US" altLang="zh-TW" dirty="0" smtClean="0"/>
              <a:t>8 hours a day, 5 days a week and 22 days a month</a:t>
            </a:r>
          </a:p>
          <a:p>
            <a:r>
              <a:rPr lang="en-US" altLang="zh-TW" dirty="0" smtClean="0"/>
              <a:t>The capacity can be increased when order upside</a:t>
            </a:r>
          </a:p>
          <a:p>
            <a:pPr lvl="1"/>
            <a:r>
              <a:rPr lang="en-US" altLang="zh-TW" dirty="0" smtClean="0"/>
              <a:t>OT on weekday and Saturday When order between 15K~28K</a:t>
            </a:r>
          </a:p>
          <a:p>
            <a:pPr lvl="1"/>
            <a:r>
              <a:rPr lang="en-US" altLang="zh-TW" dirty="0" smtClean="0"/>
              <a:t>Dual line with OT on weekday and Saturday when order between 30K~55K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0D7F62-1ECE-4394-BA60-7D459D81265B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1784648" y="4005064"/>
            <a:ext cx="6336704" cy="2160240"/>
            <a:chOff x="-2175792" y="2492896"/>
            <a:chExt cx="6336704" cy="2224286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-2175792" y="2492896"/>
              <a:ext cx="6324600" cy="2224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橢圓 7"/>
            <p:cNvSpPr/>
            <p:nvPr/>
          </p:nvSpPr>
          <p:spPr>
            <a:xfrm>
              <a:off x="72008" y="3212976"/>
              <a:ext cx="776536" cy="3600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 dirty="0" smtClean="0"/>
            </a:p>
          </p:txBody>
        </p:sp>
        <p:sp>
          <p:nvSpPr>
            <p:cNvPr id="9" name="橢圓 8"/>
            <p:cNvSpPr/>
            <p:nvPr/>
          </p:nvSpPr>
          <p:spPr>
            <a:xfrm>
              <a:off x="3368824" y="3573016"/>
              <a:ext cx="776536" cy="3600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 dirty="0" smtClean="0"/>
            </a:p>
          </p:txBody>
        </p:sp>
        <p:sp>
          <p:nvSpPr>
            <p:cNvPr id="10" name="橢圓 9"/>
            <p:cNvSpPr/>
            <p:nvPr/>
          </p:nvSpPr>
          <p:spPr>
            <a:xfrm>
              <a:off x="56456" y="3933056"/>
              <a:ext cx="776536" cy="360040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 dirty="0" smtClean="0"/>
            </a:p>
          </p:txBody>
        </p:sp>
        <p:sp>
          <p:nvSpPr>
            <p:cNvPr id="11" name="橢圓 10"/>
            <p:cNvSpPr/>
            <p:nvPr/>
          </p:nvSpPr>
          <p:spPr>
            <a:xfrm>
              <a:off x="3384376" y="4293096"/>
              <a:ext cx="776536" cy="360040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 dirty="0" smtClean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5" rIns="91428" bIns="45715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TW" dirty="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Factory Layout</a:t>
            </a:r>
            <a:endParaRPr lang="zh-TW" altLang="en-US" dirty="0" smtClean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0D7F62-1ECE-4394-BA60-7D459D81265B}" type="slidenum">
              <a:rPr lang="zh-TW" altLang="en-US" smtClean="0"/>
              <a:pPr>
                <a:defRPr/>
              </a:pPr>
              <a:t>8</a:t>
            </a:fld>
            <a:endParaRPr lang="zh-TW" altLang="en-US" dirty="0"/>
          </a:p>
        </p:txBody>
      </p:sp>
      <p:grpSp>
        <p:nvGrpSpPr>
          <p:cNvPr id="3" name="群組 5"/>
          <p:cNvGrpSpPr/>
          <p:nvPr/>
        </p:nvGrpSpPr>
        <p:grpSpPr>
          <a:xfrm>
            <a:off x="1208585" y="908720"/>
            <a:ext cx="2775058" cy="5400600"/>
            <a:chOff x="8409384" y="1164936"/>
            <a:chExt cx="1248776" cy="3920248"/>
          </a:xfrm>
        </p:grpSpPr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2" cstate="print"/>
            <a:srcRect l="48843" t="2891" r="40363" b="13337"/>
            <a:stretch>
              <a:fillRect/>
            </a:stretch>
          </p:blipFill>
          <p:spPr bwMode="auto">
            <a:xfrm>
              <a:off x="8409384" y="1164936"/>
              <a:ext cx="1248776" cy="3920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矩形 7"/>
            <p:cNvSpPr/>
            <p:nvPr/>
          </p:nvSpPr>
          <p:spPr>
            <a:xfrm>
              <a:off x="8409384" y="1217206"/>
              <a:ext cx="720080" cy="542358"/>
            </a:xfrm>
            <a:prstGeom prst="rect">
              <a:avLst/>
            </a:prstGeom>
            <a:solidFill>
              <a:schemeClr val="accent3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 smtClean="0">
                  <a:solidFill>
                    <a:srgbClr val="FF0000"/>
                  </a:solidFill>
                </a:rPr>
                <a:t>Office</a:t>
              </a:r>
              <a:endParaRPr lang="zh-TW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9577491" y="1793268"/>
              <a:ext cx="79209" cy="1584176"/>
            </a:xfrm>
            <a:prstGeom prst="rect">
              <a:avLst/>
            </a:prstGeom>
            <a:solidFill>
              <a:srgbClr val="FFFF00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TW" sz="1400" b="1" dirty="0" smtClean="0">
                  <a:solidFill>
                    <a:srgbClr val="FF0000"/>
                  </a:solidFill>
                </a:rPr>
                <a:t>WIP</a:t>
              </a:r>
              <a:endParaRPr lang="zh-TW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9219474" y="2564904"/>
              <a:ext cx="226825" cy="2363470"/>
            </a:xfrm>
            <a:prstGeom prst="rect">
              <a:avLst/>
            </a:prstGeom>
            <a:solidFill>
              <a:schemeClr val="accent5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TW" sz="1200" b="1" dirty="0" smtClean="0">
                  <a:solidFill>
                    <a:srgbClr val="FF0000"/>
                  </a:solidFill>
                </a:rPr>
                <a:t>Assembly  Line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8733420" y="2680765"/>
              <a:ext cx="291632" cy="2404419"/>
            </a:xfrm>
            <a:prstGeom prst="rect">
              <a:avLst/>
            </a:prstGeom>
            <a:solidFill>
              <a:schemeClr val="accent5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TW" sz="1400" b="1" dirty="0" smtClean="0">
                  <a:solidFill>
                    <a:srgbClr val="FF0000"/>
                  </a:solidFill>
                </a:rPr>
                <a:t>PA  Line</a:t>
              </a:r>
              <a:endParaRPr lang="zh-TW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8553400" y="1844824"/>
              <a:ext cx="648072" cy="288032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 smtClean="0">
                  <a:solidFill>
                    <a:srgbClr val="FF0000"/>
                  </a:solidFill>
                </a:rPr>
                <a:t>Finish Goods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8409384" y="3068960"/>
              <a:ext cx="162018" cy="2016224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TW" sz="1400" b="1" dirty="0" smtClean="0">
                  <a:solidFill>
                    <a:srgbClr val="FF0000"/>
                  </a:solidFill>
                </a:rPr>
                <a:t>Finish Goods</a:t>
              </a:r>
            </a:p>
          </p:txBody>
        </p:sp>
        <p:sp>
          <p:nvSpPr>
            <p:cNvPr id="47" name="矩形 46"/>
            <p:cNvSpPr/>
            <p:nvPr/>
          </p:nvSpPr>
          <p:spPr>
            <a:xfrm>
              <a:off x="9446299" y="4248864"/>
              <a:ext cx="210600" cy="679509"/>
            </a:xfrm>
            <a:prstGeom prst="rect">
              <a:avLst/>
            </a:prstGeom>
            <a:solidFill>
              <a:schemeClr val="accent5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TW" sz="1200" b="1" dirty="0" smtClean="0">
                  <a:solidFill>
                    <a:srgbClr val="FF0000"/>
                  </a:solidFill>
                </a:rPr>
                <a:t>Run-in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9025052" y="4353404"/>
              <a:ext cx="194422" cy="574969"/>
            </a:xfrm>
            <a:prstGeom prst="rect">
              <a:avLst/>
            </a:prstGeom>
            <a:solidFill>
              <a:schemeClr val="accent5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TW" sz="1200" b="1" dirty="0" smtClean="0">
                  <a:solidFill>
                    <a:srgbClr val="FF0000"/>
                  </a:solidFill>
                </a:rPr>
                <a:t>Run-in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4" name="文字方塊 13"/>
          <p:cNvSpPr txBox="1"/>
          <p:nvPr/>
        </p:nvSpPr>
        <p:spPr>
          <a:xfrm>
            <a:off x="560512" y="90872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4F</a:t>
            </a:r>
            <a:endParaRPr lang="zh-TW" altLang="en-US" dirty="0"/>
          </a:p>
        </p:txBody>
      </p:sp>
      <p:sp>
        <p:nvSpPr>
          <p:cNvPr id="16" name="Line 28"/>
          <p:cNvSpPr>
            <a:spLocks noChangeShapeType="1"/>
          </p:cNvSpPr>
          <p:nvPr/>
        </p:nvSpPr>
        <p:spPr bwMode="auto">
          <a:xfrm flipV="1">
            <a:off x="2936776" y="2060848"/>
            <a:ext cx="416496" cy="0"/>
          </a:xfrm>
          <a:prstGeom prst="line">
            <a:avLst/>
          </a:prstGeom>
          <a:noFill/>
          <a:ln w="34925">
            <a:solidFill>
              <a:srgbClr val="00CC00"/>
            </a:solidFill>
            <a:round/>
            <a:headEnd type="none" w="med" len="med"/>
            <a:tailEnd type="triangle" w="med" len="med"/>
          </a:ln>
        </p:spPr>
        <p:txBody>
          <a:bodyPr lIns="90000" tIns="46800" rIns="90000" bIns="46800"/>
          <a:lstStyle/>
          <a:p>
            <a:endParaRPr lang="zh-TW" altLang="en-US"/>
          </a:p>
        </p:txBody>
      </p:sp>
      <p:sp>
        <p:nvSpPr>
          <p:cNvPr id="17" name="Line 28"/>
          <p:cNvSpPr>
            <a:spLocks noChangeShapeType="1"/>
          </p:cNvSpPr>
          <p:nvPr/>
        </p:nvSpPr>
        <p:spPr bwMode="auto">
          <a:xfrm>
            <a:off x="3512840" y="2924944"/>
            <a:ext cx="30490" cy="2471321"/>
          </a:xfrm>
          <a:prstGeom prst="line">
            <a:avLst/>
          </a:prstGeom>
          <a:noFill/>
          <a:ln w="34925">
            <a:solidFill>
              <a:schemeClr val="accent6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90000" tIns="46800" rIns="90000" bIns="46800"/>
          <a:lstStyle/>
          <a:p>
            <a:endParaRPr lang="zh-TW" altLang="en-US"/>
          </a:p>
        </p:txBody>
      </p:sp>
      <p:sp>
        <p:nvSpPr>
          <p:cNvPr id="18" name="Line 28"/>
          <p:cNvSpPr>
            <a:spLocks noChangeShapeType="1"/>
          </p:cNvSpPr>
          <p:nvPr/>
        </p:nvSpPr>
        <p:spPr bwMode="auto">
          <a:xfrm flipH="1" flipV="1">
            <a:off x="2072680" y="4005064"/>
            <a:ext cx="0" cy="1584176"/>
          </a:xfrm>
          <a:prstGeom prst="line">
            <a:avLst/>
          </a:prstGeom>
          <a:noFill/>
          <a:ln w="34925">
            <a:solidFill>
              <a:schemeClr val="accent6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90000" tIns="46800" rIns="90000" bIns="46800"/>
          <a:lstStyle/>
          <a:p>
            <a:endParaRPr lang="zh-TW" altLang="en-US"/>
          </a:p>
        </p:txBody>
      </p:sp>
      <p:sp>
        <p:nvSpPr>
          <p:cNvPr id="19" name="Line 28"/>
          <p:cNvSpPr>
            <a:spLocks noChangeShapeType="1"/>
          </p:cNvSpPr>
          <p:nvPr/>
        </p:nvSpPr>
        <p:spPr bwMode="auto">
          <a:xfrm flipH="1" flipV="1">
            <a:off x="3800872" y="1916832"/>
            <a:ext cx="19756" cy="1888826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 type="triangle" w="med" len="med"/>
            <a:tailEnd type="none" w="med" len="med"/>
          </a:ln>
        </p:spPr>
        <p:txBody>
          <a:bodyPr lIns="90000" tIns="46800" rIns="90000" bIns="46800"/>
          <a:lstStyle/>
          <a:p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3224808" y="1556792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 smtClean="0"/>
              <a:t>Elev.</a:t>
            </a:r>
            <a:endParaRPr lang="zh-TW" altLang="en-US" sz="1100" dirty="0"/>
          </a:p>
        </p:txBody>
      </p:sp>
      <p:grpSp>
        <p:nvGrpSpPr>
          <p:cNvPr id="6" name="群組 20"/>
          <p:cNvGrpSpPr/>
          <p:nvPr/>
        </p:nvGrpSpPr>
        <p:grpSpPr>
          <a:xfrm>
            <a:off x="5745088" y="1844824"/>
            <a:ext cx="3456384" cy="2448272"/>
            <a:chOff x="2432720" y="1124743"/>
            <a:chExt cx="2736304" cy="1408259"/>
          </a:xfrm>
        </p:grpSpPr>
        <p:pic>
          <p:nvPicPr>
            <p:cNvPr id="22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 l="21269" t="9526" r="57543" b="73893"/>
            <a:stretch>
              <a:fillRect/>
            </a:stretch>
          </p:blipFill>
          <p:spPr bwMode="auto">
            <a:xfrm>
              <a:off x="2432720" y="1124743"/>
              <a:ext cx="2736304" cy="8640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矩形 22"/>
            <p:cNvSpPr/>
            <p:nvPr/>
          </p:nvSpPr>
          <p:spPr>
            <a:xfrm>
              <a:off x="2432720" y="1170248"/>
              <a:ext cx="1080120" cy="530560"/>
            </a:xfrm>
            <a:prstGeom prst="rect">
              <a:avLst/>
            </a:prstGeom>
            <a:solidFill>
              <a:srgbClr val="FFFF00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rgbClr val="FF0000"/>
                  </a:solidFill>
                </a:rPr>
                <a:t>Raw Material </a:t>
              </a:r>
              <a:endParaRPr lang="zh-TW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512840" y="1154888"/>
              <a:ext cx="720080" cy="289891"/>
            </a:xfrm>
            <a:prstGeom prst="rect">
              <a:avLst/>
            </a:prstGeom>
            <a:solidFill>
              <a:srgbClr val="FFFF00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b="1" dirty="0" smtClean="0">
                  <a:solidFill>
                    <a:srgbClr val="FF0000"/>
                  </a:solidFill>
                </a:rPr>
                <a:t>Expensive Raw Material </a:t>
              </a:r>
              <a:endParaRPr lang="zh-TW" altLang="en-US" sz="800" b="1" dirty="0">
                <a:solidFill>
                  <a:srgbClr val="FF0000"/>
                </a:solidFill>
              </a:endParaRPr>
            </a:p>
          </p:txBody>
        </p:sp>
        <p:pic>
          <p:nvPicPr>
            <p:cNvPr id="2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 l="29075" t="49596" r="61446" b="39350"/>
            <a:stretch>
              <a:fillRect/>
            </a:stretch>
          </p:blipFill>
          <p:spPr bwMode="auto">
            <a:xfrm>
              <a:off x="3480756" y="1956937"/>
              <a:ext cx="1224136" cy="5760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矩形 25"/>
            <p:cNvSpPr/>
            <p:nvPr/>
          </p:nvSpPr>
          <p:spPr>
            <a:xfrm>
              <a:off x="3584848" y="1958521"/>
              <a:ext cx="1080120" cy="550312"/>
            </a:xfrm>
            <a:prstGeom prst="rect">
              <a:avLst/>
            </a:prstGeom>
            <a:solidFill>
              <a:srgbClr val="FFFF00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rgbClr val="FF0000"/>
                  </a:solidFill>
                </a:rPr>
                <a:t>Packing Material </a:t>
              </a:r>
              <a:endParaRPr lang="zh-TW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3512840" y="1442919"/>
              <a:ext cx="720080" cy="257888"/>
            </a:xfrm>
            <a:prstGeom prst="rect">
              <a:avLst/>
            </a:prstGeom>
            <a:solidFill>
              <a:schemeClr val="accent3">
                <a:lumMod val="5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b="1" dirty="0" smtClean="0">
                  <a:solidFill>
                    <a:srgbClr val="FF0000"/>
                  </a:solidFill>
                </a:rPr>
                <a:t>Office</a:t>
              </a:r>
              <a:endParaRPr lang="zh-TW" altLang="en-US" sz="8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5385048" y="908720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B1F</a:t>
            </a:r>
            <a:endParaRPr lang="zh-TW" altLang="en-US" dirty="0"/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 flipH="1" flipV="1">
            <a:off x="5961112" y="3212976"/>
            <a:ext cx="2448272" cy="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 type="triangle" w="med" len="med"/>
            <a:tailEnd type="none" w="med" len="med"/>
          </a:ln>
        </p:spPr>
        <p:txBody>
          <a:bodyPr lIns="90000" tIns="46800" rIns="90000" bIns="46800"/>
          <a:lstStyle/>
          <a:p>
            <a:endParaRPr lang="zh-TW" alt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V="1">
            <a:off x="6969224" y="3284984"/>
            <a:ext cx="0" cy="108012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 type="none" w="med" len="med"/>
            <a:tailEnd type="triangle" w="med" len="med"/>
          </a:ln>
        </p:spPr>
        <p:txBody>
          <a:bodyPr lIns="90000" tIns="46800" rIns="90000" bIns="46800"/>
          <a:lstStyle/>
          <a:p>
            <a:endParaRPr lang="zh-TW" altLang="en-US"/>
          </a:p>
        </p:txBody>
      </p:sp>
      <p:sp>
        <p:nvSpPr>
          <p:cNvPr id="31" name="Line 28"/>
          <p:cNvSpPr>
            <a:spLocks noChangeShapeType="1"/>
          </p:cNvSpPr>
          <p:nvPr/>
        </p:nvSpPr>
        <p:spPr bwMode="auto">
          <a:xfrm flipH="1" flipV="1">
            <a:off x="8147002" y="2399042"/>
            <a:ext cx="0" cy="216024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 type="triangle" w="med" len="med"/>
            <a:tailEnd type="none" w="med" len="med"/>
          </a:ln>
        </p:spPr>
        <p:txBody>
          <a:bodyPr lIns="90000" tIns="46800" rIns="90000" bIns="46800"/>
          <a:lstStyle/>
          <a:p>
            <a:endParaRPr lang="zh-TW" altLang="en-US"/>
          </a:p>
        </p:txBody>
      </p:sp>
      <p:sp>
        <p:nvSpPr>
          <p:cNvPr id="32" name="矩形圖說文字 31"/>
          <p:cNvSpPr/>
          <p:nvPr/>
        </p:nvSpPr>
        <p:spPr>
          <a:xfrm>
            <a:off x="7905328" y="1412776"/>
            <a:ext cx="1008112" cy="288032"/>
          </a:xfrm>
          <a:prstGeom prst="wedgeRectCallout">
            <a:avLst>
              <a:gd name="adj1" fmla="val -6677"/>
              <a:gd name="adj2" fmla="val 353649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To 4F</a:t>
            </a:r>
          </a:p>
        </p:txBody>
      </p:sp>
      <p:sp>
        <p:nvSpPr>
          <p:cNvPr id="33" name="矩形 32"/>
          <p:cNvSpPr/>
          <p:nvPr/>
        </p:nvSpPr>
        <p:spPr>
          <a:xfrm>
            <a:off x="8193360" y="2852936"/>
            <a:ext cx="432048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 smtClean="0"/>
              <a:t>Elev.</a:t>
            </a:r>
            <a:endParaRPr lang="zh-TW" altLang="en-US" sz="1100" dirty="0"/>
          </a:p>
        </p:txBody>
      </p:sp>
      <p:sp>
        <p:nvSpPr>
          <p:cNvPr id="34" name="矩形圖說文字 33"/>
          <p:cNvSpPr/>
          <p:nvPr/>
        </p:nvSpPr>
        <p:spPr>
          <a:xfrm>
            <a:off x="6609184" y="4653136"/>
            <a:ext cx="1224136" cy="432048"/>
          </a:xfrm>
          <a:prstGeom prst="wedgeRectCallout">
            <a:avLst>
              <a:gd name="adj1" fmla="val 95533"/>
              <a:gd name="adj2" fmla="val -1701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:</a:t>
            </a:r>
            <a:r>
              <a:rPr lang="zh-TW" altLang="en-US" sz="1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1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265 (m</a:t>
            </a:r>
            <a:r>
              <a:rPr lang="en-US" altLang="zh-TW" sz="1000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TW" sz="1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TW" altLang="en-US" sz="1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endParaRPr lang="zh-TW" altLang="en-US" sz="1000" dirty="0"/>
          </a:p>
        </p:txBody>
      </p:sp>
      <p:sp>
        <p:nvSpPr>
          <p:cNvPr id="35" name="矩形圖說文字 34"/>
          <p:cNvSpPr/>
          <p:nvPr/>
        </p:nvSpPr>
        <p:spPr>
          <a:xfrm>
            <a:off x="5889104" y="1340768"/>
            <a:ext cx="1224136" cy="432048"/>
          </a:xfrm>
          <a:prstGeom prst="wedgeRectCallout">
            <a:avLst>
              <a:gd name="adj1" fmla="val 30104"/>
              <a:gd name="adj2" fmla="val 1382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:</a:t>
            </a:r>
            <a:r>
              <a:rPr lang="zh-TW" altLang="en-US" sz="1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1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440 (m</a:t>
            </a:r>
            <a:r>
              <a:rPr lang="en-US" altLang="zh-TW" sz="1000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TW" sz="1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TW" altLang="en-US" sz="1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endParaRPr lang="zh-TW" altLang="en-US" sz="1000" dirty="0"/>
          </a:p>
        </p:txBody>
      </p:sp>
      <p:sp>
        <p:nvSpPr>
          <p:cNvPr id="36" name="矩形 35"/>
          <p:cNvSpPr/>
          <p:nvPr/>
        </p:nvSpPr>
        <p:spPr>
          <a:xfrm>
            <a:off x="5745088" y="1916832"/>
            <a:ext cx="2304256" cy="9361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7176370" y="3321480"/>
            <a:ext cx="1440160" cy="8996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1" name="群組 45"/>
          <p:cNvGrpSpPr/>
          <p:nvPr/>
        </p:nvGrpSpPr>
        <p:grpSpPr>
          <a:xfrm>
            <a:off x="5529064" y="5445224"/>
            <a:ext cx="2408922" cy="803561"/>
            <a:chOff x="5097016" y="5013176"/>
            <a:chExt cx="2408922" cy="803561"/>
          </a:xfrm>
        </p:grpSpPr>
        <p:sp>
          <p:nvSpPr>
            <p:cNvPr id="39" name="Text Box 29"/>
            <p:cNvSpPr txBox="1">
              <a:spLocks noChangeArrowheads="1"/>
            </p:cNvSpPr>
            <p:nvPr/>
          </p:nvSpPr>
          <p:spPr bwMode="auto">
            <a:xfrm>
              <a:off x="5529064" y="5013176"/>
              <a:ext cx="1695534" cy="371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TW" dirty="0" smtClean="0"/>
                <a:t>Raw material</a:t>
              </a:r>
              <a:endParaRPr kumimoji="0" lang="zh-TW" altLang="en-US" b="0" dirty="0">
                <a:ea typeface="新細明體" charset="-120"/>
              </a:endParaRPr>
            </a:p>
          </p:txBody>
        </p:sp>
        <p:sp>
          <p:nvSpPr>
            <p:cNvPr id="40" name="Line 28"/>
            <p:cNvSpPr>
              <a:spLocks noChangeShapeType="1"/>
            </p:cNvSpPr>
            <p:nvPr/>
          </p:nvSpPr>
          <p:spPr bwMode="auto">
            <a:xfrm flipH="1">
              <a:off x="5097016" y="5229200"/>
              <a:ext cx="430588" cy="1696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lIns="90000" tIns="46800" rIns="90000" bIns="46800"/>
            <a:lstStyle/>
            <a:p>
              <a:endParaRPr lang="zh-TW" altLang="en-US"/>
            </a:p>
          </p:txBody>
        </p:sp>
        <p:sp>
          <p:nvSpPr>
            <p:cNvPr id="41" name="Line 28"/>
            <p:cNvSpPr>
              <a:spLocks noChangeShapeType="1"/>
            </p:cNvSpPr>
            <p:nvPr/>
          </p:nvSpPr>
          <p:spPr bwMode="auto">
            <a:xfrm flipH="1">
              <a:off x="5097016" y="5445664"/>
              <a:ext cx="432048" cy="0"/>
            </a:xfrm>
            <a:prstGeom prst="line">
              <a:avLst/>
            </a:prstGeom>
            <a:noFill/>
            <a:ln w="34925">
              <a:solidFill>
                <a:schemeClr val="accent6">
                  <a:lumMod val="50000"/>
                </a:schemeClr>
              </a:solidFill>
              <a:round/>
              <a:headEnd type="none" w="med" len="med"/>
              <a:tailEnd type="triangle" w="med" len="med"/>
            </a:ln>
          </p:spPr>
          <p:txBody>
            <a:bodyPr lIns="90000" tIns="46800" rIns="90000" bIns="46800"/>
            <a:lstStyle/>
            <a:p>
              <a:endParaRPr lang="zh-TW" altLang="en-US"/>
            </a:p>
          </p:txBody>
        </p:sp>
        <p:sp>
          <p:nvSpPr>
            <p:cNvPr id="42" name="Text Box 29"/>
            <p:cNvSpPr txBox="1">
              <a:spLocks noChangeArrowheads="1"/>
            </p:cNvSpPr>
            <p:nvPr/>
          </p:nvSpPr>
          <p:spPr bwMode="auto">
            <a:xfrm>
              <a:off x="5529064" y="5229200"/>
              <a:ext cx="1976874" cy="371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TW" dirty="0" smtClean="0"/>
                <a:t>Manufacturing</a:t>
              </a:r>
              <a:endParaRPr kumimoji="0" lang="zh-TW" altLang="en-US" dirty="0" smtClean="0"/>
            </a:p>
          </p:txBody>
        </p:sp>
        <p:sp>
          <p:nvSpPr>
            <p:cNvPr id="43" name="Text Box 29"/>
            <p:cNvSpPr txBox="1">
              <a:spLocks noChangeArrowheads="1"/>
            </p:cNvSpPr>
            <p:nvPr/>
          </p:nvSpPr>
          <p:spPr bwMode="auto">
            <a:xfrm>
              <a:off x="5529064" y="5445224"/>
              <a:ext cx="1976874" cy="371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TW" dirty="0" smtClean="0"/>
                <a:t>Finish Goods</a:t>
              </a:r>
              <a:endParaRPr kumimoji="0" lang="zh-TW" altLang="en-US" dirty="0" smtClean="0"/>
            </a:p>
          </p:txBody>
        </p:sp>
        <p:sp>
          <p:nvSpPr>
            <p:cNvPr id="44" name="Line 28"/>
            <p:cNvSpPr>
              <a:spLocks noChangeShapeType="1"/>
            </p:cNvSpPr>
            <p:nvPr/>
          </p:nvSpPr>
          <p:spPr bwMode="auto">
            <a:xfrm flipH="1">
              <a:off x="5097016" y="5638946"/>
              <a:ext cx="432048" cy="0"/>
            </a:xfrm>
            <a:prstGeom prst="line">
              <a:avLst/>
            </a:prstGeom>
            <a:noFill/>
            <a:ln w="34925">
              <a:solidFill>
                <a:srgbClr val="00B050"/>
              </a:solidFill>
              <a:round/>
              <a:headEnd type="none" w="med" len="med"/>
              <a:tailEnd type="triangle" w="med" len="med"/>
            </a:ln>
          </p:spPr>
          <p:txBody>
            <a:bodyPr lIns="90000" tIns="46800" rIns="90000" bIns="46800"/>
            <a:lstStyle/>
            <a:p>
              <a:endParaRPr lang="zh-TW" altLang="en-US"/>
            </a:p>
          </p:txBody>
        </p:sp>
      </p:grpSp>
      <p:sp>
        <p:nvSpPr>
          <p:cNvPr id="45" name="文字方塊 44"/>
          <p:cNvSpPr txBox="1"/>
          <p:nvPr/>
        </p:nvSpPr>
        <p:spPr>
          <a:xfrm>
            <a:off x="7833320" y="5517232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B4F: 1765 M</a:t>
            </a:r>
            <a:r>
              <a:rPr lang="en-US" altLang="zh-TW" baseline="30000" dirty="0" smtClean="0"/>
              <a:t>2</a:t>
            </a:r>
            <a:r>
              <a:rPr lang="zh-TW" altLang="en-US" dirty="0" smtClean="0"/>
              <a:t>        </a:t>
            </a:r>
            <a:endParaRPr lang="en-US" altLang="zh-TW" dirty="0" smtClean="0"/>
          </a:p>
          <a:p>
            <a:r>
              <a:rPr lang="en-US" altLang="zh-TW" dirty="0" smtClean="0"/>
              <a:t>BB1F:  705 M</a:t>
            </a:r>
            <a:r>
              <a:rPr lang="en-US" altLang="zh-TW" baseline="30000" dirty="0" smtClean="0"/>
              <a:t>2</a:t>
            </a:r>
            <a:endParaRPr lang="zh-TW" altLang="en-US" dirty="0"/>
          </a:p>
        </p:txBody>
      </p:sp>
      <p:sp>
        <p:nvSpPr>
          <p:cNvPr id="49" name="Text Box 29"/>
          <p:cNvSpPr txBox="1">
            <a:spLocks noChangeArrowheads="1"/>
          </p:cNvSpPr>
          <p:nvPr/>
        </p:nvSpPr>
        <p:spPr bwMode="auto">
          <a:xfrm>
            <a:off x="3296816" y="2779327"/>
            <a:ext cx="504056" cy="21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TW" sz="800" dirty="0" smtClean="0">
                <a:solidFill>
                  <a:srgbClr val="FF0000"/>
                </a:solidFill>
              </a:rPr>
              <a:t>Line 1</a:t>
            </a:r>
          </a:p>
        </p:txBody>
      </p:sp>
      <p:sp>
        <p:nvSpPr>
          <p:cNvPr id="50" name="Text Box 29"/>
          <p:cNvSpPr txBox="1">
            <a:spLocks noChangeArrowheads="1"/>
          </p:cNvSpPr>
          <p:nvPr/>
        </p:nvSpPr>
        <p:spPr bwMode="auto">
          <a:xfrm>
            <a:off x="2864768" y="2780928"/>
            <a:ext cx="504056" cy="21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TW" sz="800" dirty="0" smtClean="0">
                <a:solidFill>
                  <a:srgbClr val="FF0000"/>
                </a:solidFill>
              </a:rPr>
              <a:t>Line 2</a:t>
            </a:r>
          </a:p>
        </p:txBody>
      </p:sp>
      <p:sp>
        <p:nvSpPr>
          <p:cNvPr id="15" name="矩形圖說文字 14"/>
          <p:cNvSpPr/>
          <p:nvPr/>
        </p:nvSpPr>
        <p:spPr>
          <a:xfrm>
            <a:off x="4304928" y="1268760"/>
            <a:ext cx="1008112" cy="288032"/>
          </a:xfrm>
          <a:prstGeom prst="wedgeRectCallout">
            <a:avLst>
              <a:gd name="adj1" fmla="val -109848"/>
              <a:gd name="adj2" fmla="val 73753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From  B1F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Resource Plan</a:t>
            </a:r>
            <a:endParaRPr lang="zh-TW" altLang="en-US" dirty="0" smtClean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0D7F62-1ECE-4394-BA60-7D459D81265B}" type="slidenum">
              <a:rPr lang="zh-TW" altLang="en-US" smtClean="0"/>
              <a:pPr>
                <a:defRPr/>
              </a:pPr>
              <a:t>9</a:t>
            </a:fld>
            <a:endParaRPr lang="zh-TW" altLang="en-US" dirty="0"/>
          </a:p>
        </p:txBody>
      </p:sp>
      <p:pic>
        <p:nvPicPr>
          <p:cNvPr id="6" name="Picture 42" descr="m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4159" y="1475492"/>
            <a:ext cx="2414651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4" descr="m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20932" y="1475492"/>
            <a:ext cx="1285251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5" descr="m0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56071" y="1475492"/>
            <a:ext cx="1285251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46" descr="m0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89126" y="1489779"/>
            <a:ext cx="1285251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/>
          <p:cNvSpPr>
            <a:spLocks/>
          </p:cNvSpPr>
          <p:nvPr/>
        </p:nvSpPr>
        <p:spPr bwMode="white">
          <a:xfrm>
            <a:off x="2058570" y="1665815"/>
            <a:ext cx="1238246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kumimoji="0" lang="en-US" altLang="zh-TW" sz="1600" dirty="0" smtClean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Hiring </a:t>
            </a:r>
            <a:endParaRPr kumimoji="0" lang="en-US" altLang="zh-TW" sz="1600" b="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1" name="Title 1"/>
          <p:cNvSpPr>
            <a:spLocks/>
          </p:cNvSpPr>
          <p:nvPr/>
        </p:nvSpPr>
        <p:spPr bwMode="white">
          <a:xfrm>
            <a:off x="4309558" y="1666799"/>
            <a:ext cx="1238246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kumimoji="0" lang="en-US" altLang="zh-TW" sz="1600" dirty="0" smtClean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Week </a:t>
            </a:r>
            <a:r>
              <a:rPr kumimoji="0" lang="en-US" altLang="zh-TW" sz="1600" dirty="0" smtClean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4/27</a:t>
            </a:r>
            <a:endParaRPr kumimoji="0" lang="en-US" altLang="zh-TW" sz="1600" b="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2" name="Title 1"/>
          <p:cNvSpPr>
            <a:spLocks/>
          </p:cNvSpPr>
          <p:nvPr/>
        </p:nvSpPr>
        <p:spPr bwMode="white">
          <a:xfrm>
            <a:off x="5572852" y="1647863"/>
            <a:ext cx="1238246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kumimoji="0" lang="en-US" altLang="zh-TW" sz="1600" dirty="0" smtClean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Week +2</a:t>
            </a:r>
            <a:endParaRPr kumimoji="0" lang="en-US" altLang="zh-TW" sz="1600" b="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3" name="Title 1"/>
          <p:cNvSpPr>
            <a:spLocks/>
          </p:cNvSpPr>
          <p:nvPr/>
        </p:nvSpPr>
        <p:spPr bwMode="white">
          <a:xfrm>
            <a:off x="6811098" y="1658976"/>
            <a:ext cx="1238246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kumimoji="0" lang="en-US" altLang="zh-TW" sz="1600" dirty="0" smtClean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Weeks +4</a:t>
            </a:r>
            <a:endParaRPr kumimoji="0" lang="en-US" altLang="zh-TW" sz="1600" b="0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444898" y="2123564"/>
            <a:ext cx="1549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Mid of March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6307989" y="2123564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May</a:t>
            </a:r>
            <a:endParaRPr lang="zh-TW" altLang="en-US" dirty="0"/>
          </a:p>
        </p:txBody>
      </p:sp>
      <p:cxnSp>
        <p:nvCxnSpPr>
          <p:cNvPr id="16" name="直線單箭頭接點 15"/>
          <p:cNvCxnSpPr/>
          <p:nvPr/>
        </p:nvCxnSpPr>
        <p:spPr>
          <a:xfrm>
            <a:off x="4781580" y="1313396"/>
            <a:ext cx="0" cy="288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5961112" y="1324547"/>
            <a:ext cx="0" cy="288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7185248" y="1324547"/>
            <a:ext cx="0" cy="288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5423603" y="964475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Training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6681192" y="964475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Pilot run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4226101" y="979864"/>
            <a:ext cx="1161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/>
              <a:t>On Board</a:t>
            </a:r>
            <a:endParaRPr lang="zh-TW" alt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24608" y="2706588"/>
            <a:ext cx="7128792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837506" y="3308352"/>
            <a:ext cx="8435975" cy="714375"/>
          </a:xfrm>
        </p:spPr>
        <p:txBody>
          <a:bodyPr lIns="91440" tIns="45720" rIns="91440" bIns="45720" rtlCol="0"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4000" dirty="0" smtClean="0">
                <a:solidFill>
                  <a:srgbClr val="FF0000"/>
                </a:solidFill>
                <a:latin typeface="微軟正黑體" pitchFamily="34" charset="-120"/>
                <a:cs typeface="Arial Unicode MS" pitchFamily="34" charset="-120"/>
              </a:rPr>
              <a:t>Thanks</a:t>
            </a:r>
            <a:r>
              <a:rPr lang="zh-TW" altLang="en-US" sz="4000" dirty="0" smtClean="0">
                <a:solidFill>
                  <a:srgbClr val="FF0000"/>
                </a:solidFill>
                <a:latin typeface="微軟正黑體" pitchFamily="34" charset="-120"/>
                <a:cs typeface="Arial Unicode MS" pitchFamily="34" charset="-120"/>
              </a:rPr>
              <a:t>  </a:t>
            </a:r>
            <a:r>
              <a:rPr lang="en-US" altLang="zh-TW" sz="4000" dirty="0" smtClean="0">
                <a:solidFill>
                  <a:srgbClr val="FF0000"/>
                </a:solidFill>
                <a:latin typeface="微軟正黑體" pitchFamily="34" charset="-120"/>
                <a:cs typeface="Arial Unicode MS" pitchFamily="34" charset="-120"/>
              </a:rPr>
              <a:t>!</a:t>
            </a:r>
            <a:endParaRPr lang="zh-TW" altLang="en-US" sz="4000" dirty="0">
              <a:solidFill>
                <a:srgbClr val="FF0000"/>
              </a:solidFill>
              <a:latin typeface="微軟正黑體" pitchFamily="34" charset="-120"/>
              <a:cs typeface="Arial Unicode MS" pitchFamily="34" charset="-120"/>
            </a:endParaRPr>
          </a:p>
        </p:txBody>
      </p:sp>
      <p:sp>
        <p:nvSpPr>
          <p:cNvPr id="68610" name="文字版面配置區 2"/>
          <p:cNvSpPr>
            <a:spLocks noGrp="1"/>
          </p:cNvSpPr>
          <p:nvPr>
            <p:ph type="body" idx="4294967295"/>
          </p:nvPr>
        </p:nvSpPr>
        <p:spPr>
          <a:xfrm>
            <a:off x="465139" y="4071938"/>
            <a:ext cx="8434387" cy="450850"/>
          </a:xfrm>
        </p:spPr>
        <p:txBody>
          <a:bodyPr lIns="91440" tIns="45720" rIns="91440" bIns="45720" anchor="b"/>
          <a:lstStyle/>
          <a:p>
            <a:pPr marL="0" indent="0" eaLnBrk="1" hangingPunct="1">
              <a:buFont typeface="Arial" charset="0"/>
              <a:buNone/>
            </a:pPr>
            <a:r>
              <a:rPr lang="en-US" altLang="zh-TW" sz="2000" b="1" dirty="0" smtClean="0">
                <a:ea typeface="微軟正黑體"/>
              </a:rPr>
              <a:t>Questions and Answers</a:t>
            </a:r>
            <a:endParaRPr lang="zh-TW" altLang="en-US" sz="2000" b="1" dirty="0" smtClean="0">
              <a:ea typeface="微軟正黑體"/>
            </a:endParaRPr>
          </a:p>
        </p:txBody>
      </p:sp>
      <p:sp>
        <p:nvSpPr>
          <p:cNvPr id="4" name="頁尾版面配置區 6"/>
          <p:cNvSpPr>
            <a:spLocks noGrp="1"/>
          </p:cNvSpPr>
          <p:nvPr>
            <p:ph type="ftr" sz="quarter" idx="11"/>
          </p:nvPr>
        </p:nvSpPr>
        <p:spPr>
          <a:xfrm>
            <a:off x="1" y="6356941"/>
            <a:ext cx="1551006" cy="364281"/>
          </a:xfrm>
        </p:spPr>
        <p:txBody>
          <a:bodyPr/>
          <a:lstStyle/>
          <a:p>
            <a:pPr>
              <a:defRPr/>
            </a:pPr>
            <a:r>
              <a:rPr lang="en-US" altLang="zh-TW" dirty="0" smtClean="0"/>
              <a:t>Inventec Confidential</a:t>
            </a:r>
            <a:endParaRPr lang="zh-TW" altLang="en-US" dirty="0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7099300" y="6356352"/>
            <a:ext cx="2311400" cy="365125"/>
          </a:xfrm>
        </p:spPr>
        <p:txBody>
          <a:bodyPr/>
          <a:lstStyle/>
          <a:p>
            <a:pPr>
              <a:defRPr/>
            </a:pPr>
            <a:fld id="{F9C9BD31-472F-4330-84AC-1DD1C5F06F7A}" type="slidenum">
              <a:rPr lang="zh-TW" altLang="en-US" smtClean="0"/>
              <a:pPr>
                <a:defRPr/>
              </a:pPr>
              <a:t>10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01106_IEC PPT template_TC_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</a:spPr>
      <a:bodyPr rtlCol="0" anchor="ctr"/>
      <a:lstStyle>
        <a:defPPr algn="ctr"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CDDDFEFCF8D0184D95E23DDB2AA1C556" ma:contentTypeVersion="0" ma:contentTypeDescription="建立新的文件。" ma:contentTypeScope="" ma:versionID="9522ce15a2aad856bb2e8b9382fc58b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9ca1165369cbf929f3384faf68dff5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3ED4B8-62C1-47FD-8B89-4C2DF81817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20150A-C5A6-4544-8063-7DC501F270F9}">
  <ds:schemaRefs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0C2B642-0E6B-4599-A3A9-3809623187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11653</TotalTime>
  <Words>355</Words>
  <Application>Microsoft Office PowerPoint</Application>
  <PresentationFormat>A4 紙張 (210x297 公釐)</PresentationFormat>
  <Paragraphs>148</Paragraphs>
  <Slides>10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10</vt:i4>
      </vt:variant>
    </vt:vector>
  </HeadingPairs>
  <TitlesOfParts>
    <vt:vector size="12" baseType="lpstr">
      <vt:lpstr>Office 佈景主題</vt:lpstr>
      <vt:lpstr>201106_IEC PPT template_TC_EN</vt:lpstr>
      <vt:lpstr>投影片 1</vt:lpstr>
      <vt:lpstr>Contents</vt:lpstr>
      <vt:lpstr>TAA Introduction and Overview</vt:lpstr>
      <vt:lpstr>Key Milestone</vt:lpstr>
      <vt:lpstr>TAA Process Flow</vt:lpstr>
      <vt:lpstr>投影片 6</vt:lpstr>
      <vt:lpstr>Capacity Plan</vt:lpstr>
      <vt:lpstr>Factory Layout</vt:lpstr>
      <vt:lpstr>Resource Plan</vt:lpstr>
      <vt:lpstr>Thanks  !</vt:lpstr>
    </vt:vector>
  </TitlesOfParts>
  <Company>Inventec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IEC970760</dc:creator>
  <cp:lastModifiedBy>Lin, Scott (林財富 IEC1)</cp:lastModifiedBy>
  <cp:revision>1412</cp:revision>
  <dcterms:created xsi:type="dcterms:W3CDTF">2009-02-10T10:12:43Z</dcterms:created>
  <dcterms:modified xsi:type="dcterms:W3CDTF">2015-01-28T15:24:45Z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/>
  </property>
  <property fmtid="{D5CDD505-2E9C-101B-9397-08002B2CF9AE}" pid="3" name="SPSDescription">
    <vt:lpwstr/>
  </property>
  <property fmtid="{D5CDD505-2E9C-101B-9397-08002B2CF9AE}" pid="4" name="Status">
    <vt:lpwstr/>
  </property>
  <property fmtid="{D5CDD505-2E9C-101B-9397-08002B2CF9AE}" pid="5" name="ContentTypeId">
    <vt:lpwstr>0x010100CDDDFEFCF8D0184D95E23DDB2AA1C556</vt:lpwstr>
  </property>
</Properties>
</file>