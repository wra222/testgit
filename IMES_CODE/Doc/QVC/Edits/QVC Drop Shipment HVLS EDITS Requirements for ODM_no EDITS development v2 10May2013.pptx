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04" r:id="rId1"/>
  </p:sldMasterIdLst>
  <p:notesMasterIdLst>
    <p:notesMasterId r:id="rId14"/>
  </p:notesMasterIdLst>
  <p:handoutMasterIdLst>
    <p:handoutMasterId r:id="rId15"/>
  </p:handoutMasterIdLst>
  <p:sldIdLst>
    <p:sldId id="553" r:id="rId2"/>
    <p:sldId id="778" r:id="rId3"/>
    <p:sldId id="779" r:id="rId4"/>
    <p:sldId id="785" r:id="rId5"/>
    <p:sldId id="786" r:id="rId6"/>
    <p:sldId id="787" r:id="rId7"/>
    <p:sldId id="788" r:id="rId8"/>
    <p:sldId id="782" r:id="rId9"/>
    <p:sldId id="789" r:id="rId10"/>
    <p:sldId id="784" r:id="rId11"/>
    <p:sldId id="775" r:id="rId12"/>
    <p:sldId id="783" r:id="rId13"/>
  </p:sldIdLst>
  <p:sldSz cx="9144000" cy="5143500" type="screen16x9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HP Simplified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FA"/>
    <a:srgbClr val="0000FF"/>
    <a:srgbClr val="65CFFF"/>
    <a:srgbClr val="00FFCC"/>
    <a:srgbClr val="D9F3FF"/>
    <a:srgbClr val="CBDDF0"/>
    <a:srgbClr val="3333FF"/>
    <a:srgbClr val="3399FF"/>
    <a:srgbClr val="E7EFF8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01" autoAdjust="0"/>
    <p:restoredTop sz="44854" autoAdjust="0"/>
  </p:normalViewPr>
  <p:slideViewPr>
    <p:cSldViewPr snapToGrid="0">
      <p:cViewPr>
        <p:scale>
          <a:sx n="90" d="100"/>
          <a:sy n="90" d="100"/>
        </p:scale>
        <p:origin x="-1176" y="-234"/>
      </p:cViewPr>
      <p:guideLst>
        <p:guide orient="horz" pos="3083"/>
        <p:guide orient="horz" pos="743"/>
        <p:guide orient="horz" pos="893"/>
        <p:guide orient="horz" pos="438"/>
        <p:guide orient="horz" pos="1671"/>
        <p:guide orient="horz" pos="2776"/>
        <p:guide orient="horz" pos="146"/>
        <p:guide pos="1794"/>
        <p:guide pos="2736"/>
        <p:guide pos="202"/>
        <p:guide pos="5322"/>
        <p:guide pos="5625"/>
        <p:guide pos="2878"/>
        <p:guide pos="3555"/>
        <p:guide pos="1965"/>
        <p:guide pos="3723"/>
      </p:guideLst>
    </p:cSldViewPr>
  </p:slideViewPr>
  <p:outlineViewPr>
    <p:cViewPr>
      <p:scale>
        <a:sx n="33" d="100"/>
        <a:sy n="33" d="100"/>
      </p:scale>
      <p:origin x="0" y="198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notesViewPr>
    <p:cSldViewPr snapToGrid="0" snapToObjects="1" showGuides="1">
      <p:cViewPr varScale="1">
        <p:scale>
          <a:sx n="117" d="100"/>
          <a:sy n="117" d="100"/>
        </p:scale>
        <p:origin x="-4024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78B55-319B-2D4F-AE49-6C1B6E1A4DDA}" type="datetimeFigureOut">
              <a:rPr lang="en-US" smtClean="0">
                <a:latin typeface="HP Simplified"/>
                <a:cs typeface="HP Simplified"/>
              </a:rPr>
              <a:pPr/>
              <a:t>5/10/2013</a:t>
            </a:fld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27340-60F0-7D46-BC5B-91B08A318A82}" type="slidenum">
              <a:rPr lang="en-GB" smtClean="0">
                <a:latin typeface="HP Simplified"/>
                <a:cs typeface="HP Simplified"/>
              </a:rPr>
              <a:pPr/>
              <a:t>‹#›</a:t>
            </a:fld>
            <a:endParaRPr lang="en-GB" dirty="0">
              <a:latin typeface="HP Simplified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493217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D9CAF8C-0805-8440-B43D-DCCAAA4D80CE}" type="datetimeFigureOut">
              <a:rPr lang="en-US" smtClean="0"/>
              <a:pPr/>
              <a:t>5/10/2013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2A853E8-D85F-5D49-95D2-E1D96ABFE2B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0798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slid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036820"/>
            <a:ext cx="6858000" cy="1206484"/>
          </a:xfrm>
        </p:spPr>
        <p:txBody>
          <a:bodyPr anchor="b"/>
          <a:lstStyle>
            <a:lvl1pPr>
              <a:lnSpc>
                <a:spcPct val="90000"/>
              </a:lnSpc>
              <a:defRPr sz="4600" spc="-1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3251684"/>
            <a:ext cx="68580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" name="Picture 1" descr="HP_White_RGB_150_LG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365760"/>
            <a:ext cx="1883664" cy="188366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2012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2276755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7744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>
                <a:solidFill>
                  <a:schemeClr val="tx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© Copyright 2012 Hewlett-Packard Development Company, L.P. </a:t>
            </a:r>
            <a:r>
              <a:rPr lang="en-US" sz="700" b="0" i="0" baseline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  <p:pic>
        <p:nvPicPr>
          <p:cNvPr id="5" name="Picture 4" descr="HP_Blue_RGB_150_SM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35424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90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quote slide with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40919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4000" b="1" i="0" kern="1200" spc="-100" noProof="0" dirty="0">
                <a:solidFill>
                  <a:schemeClr val="bg1"/>
                </a:solidFill>
                <a:latin typeface="HP Simplified" pitchFamily="34" charset="0"/>
                <a:ea typeface="+mj-ea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2012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5269" y="3305361"/>
            <a:ext cx="5148072" cy="6492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8848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0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5252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70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0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228975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0999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itle with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331471" y="235063"/>
            <a:ext cx="8460105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328613" y="1188720"/>
            <a:ext cx="4030662" cy="3219769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4568825" y="1185864"/>
            <a:ext cx="387826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71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4705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, sub titl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68827" y="1186047"/>
            <a:ext cx="3878263" cy="3222441"/>
          </a:xfrm>
        </p:spPr>
        <p:txBody>
          <a:bodyPr anchor="ctr"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69" y="235063"/>
            <a:ext cx="8458200" cy="429768"/>
          </a:xfrm>
        </p:spPr>
        <p:txBody>
          <a:bodyPr/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0"/>
            <a:ext cx="4011612" cy="3219768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71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0519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itle, sub title with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2" y="235063"/>
            <a:ext cx="8460105" cy="429768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29184" y="1189039"/>
            <a:ext cx="252374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7"/>
          </p:nvPr>
        </p:nvSpPr>
        <p:spPr>
          <a:xfrm>
            <a:off x="3124486" y="1189039"/>
            <a:ext cx="2523744" cy="3222625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5919788" y="1189039"/>
            <a:ext cx="2527300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71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351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328614" y="235064"/>
            <a:ext cx="8123236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 bwMode="black">
          <a:xfrm>
            <a:off x="330200" y="1188720"/>
            <a:ext cx="8119872" cy="32197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44501" y="4758803"/>
            <a:ext cx="8012545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© Copyright 2012 Hewlett-Packard Development Company, L.P. </a:t>
            </a:r>
            <a:r>
              <a:rPr lang="en-US" sz="700" b="0" i="0" baseline="0" dirty="0" smtClean="0">
                <a:solidFill>
                  <a:srgbClr val="B9B8BB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  <p:sp>
        <p:nvSpPr>
          <p:cNvPr id="8" name="TextBox 7"/>
          <p:cNvSpPr txBox="1"/>
          <p:nvPr/>
        </p:nvSpPr>
        <p:spPr bwMode="gray">
          <a:xfrm>
            <a:off x="329184" y="4788485"/>
            <a:ext cx="323009" cy="149332"/>
          </a:xfrm>
          <a:prstGeom prst="rect">
            <a:avLst/>
          </a:prstGeom>
        </p:spPr>
        <p:txBody>
          <a:bodyPr vert="horz" wrap="none" lIns="0" tIns="45720" rIns="91440" bIns="45720" rtlCol="0" anchor="ctr">
            <a:noAutofit/>
          </a:bodyPr>
          <a:lstStyle/>
          <a:p>
            <a:pPr marL="0" algn="l" defTabSz="914400" rtl="0" eaLnBrk="1" latinLnBrk="0" hangingPunct="1"/>
            <a:fld id="{6C5AF65D-6854-49AF-ABC5-48B5BA0EA842}" type="slidenum">
              <a:rPr lang="en-US" sz="700" b="0" i="0" kern="1200" smtClean="0">
                <a:solidFill>
                  <a:srgbClr val="B9B8BB"/>
                </a:solidFill>
                <a:latin typeface="HP Simplified"/>
                <a:ea typeface="+mn-ea"/>
                <a:cs typeface="HP Simplified"/>
              </a:rPr>
              <a:pPr marL="0" algn="l" defTabSz="914400" rtl="0" eaLnBrk="1" latinLnBrk="0" hangingPunct="1"/>
              <a:t>‹#›</a:t>
            </a:fld>
            <a:endParaRPr lang="en-US" sz="700" b="0" i="0" kern="1200" dirty="0" smtClean="0">
              <a:solidFill>
                <a:srgbClr val="B9B8BB"/>
              </a:solidFill>
              <a:latin typeface="HP Simplified"/>
              <a:ea typeface="+mn-ea"/>
              <a:cs typeface="HP Simplified"/>
            </a:endParaRPr>
          </a:p>
        </p:txBody>
      </p:sp>
      <p:pic>
        <p:nvPicPr>
          <p:cNvPr id="4" name="Picture 3" descr="HP_Blue_RGB_150_SM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35424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7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4" r:id="rId2"/>
    <p:sldLayoutId id="2147483833" r:id="rId3"/>
    <p:sldLayoutId id="2147483837" r:id="rId4"/>
    <p:sldLayoutId id="2147483809" r:id="rId5"/>
    <p:sldLayoutId id="2147483823" r:id="rId6"/>
    <p:sldLayoutId id="2147483824" r:id="rId7"/>
    <p:sldLayoutId id="2147483825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lang="en-GB" sz="2800" b="1" i="0" kern="1200" dirty="0" smtClean="0">
          <a:solidFill>
            <a:srgbClr val="000000"/>
          </a:solidFill>
          <a:latin typeface="HP Simplified" pitchFamily="34" charset="0"/>
          <a:ea typeface="+mj-ea"/>
          <a:cs typeface="HP Simplified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Arial"/>
        <a:buNone/>
        <a:defRPr sz="1800" b="1" i="0" kern="1200">
          <a:solidFill>
            <a:schemeClr val="accent1"/>
          </a:solidFill>
          <a:latin typeface="HP Simplified" pitchFamily="34" charset="0"/>
          <a:ea typeface="+mn-ea"/>
          <a:cs typeface="HP Simplified" pitchFamily="34" charset="0"/>
        </a:defRPr>
      </a:lvl1pPr>
      <a:lvl2pPr marL="0" indent="0" algn="l" defTabSz="430213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Lucida Grande"/>
        <a:buNone/>
        <a:defRPr sz="16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2pPr>
      <a:lvl3pPr marL="169863" indent="-16986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/>
        <a:buChar char="•"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3pPr>
      <a:lvl4pPr marL="341313" indent="-180975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80000"/>
        <a:buFont typeface="Lucida Grande"/>
        <a:buChar char="−"/>
        <a:defRPr lang="en-US" sz="1400" b="0" i="0" kern="1200" dirty="0" smtClean="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4pPr>
      <a:lvl5pPr marL="469900" indent="-15081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/>
        <a:buChar char="•"/>
        <a:tabLst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5pPr>
      <a:lvl6pPr marL="2286000" indent="0" algn="l" defTabSz="457200" rtl="0" eaLnBrk="1" latinLnBrk="0" hangingPunct="1">
        <a:lnSpc>
          <a:spcPts val="2500"/>
        </a:lnSpc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5.emf"/><Relationship Id="rId7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90968" y="2036820"/>
            <a:ext cx="6858000" cy="1206484"/>
          </a:xfrm>
        </p:spPr>
        <p:txBody>
          <a:bodyPr/>
          <a:lstStyle/>
          <a:p>
            <a:r>
              <a:rPr lang="en-US" spc="-100" dirty="0" smtClean="0"/>
              <a:t>QVC Drop Shipments</a:t>
            </a:r>
            <a:br>
              <a:rPr lang="en-US" spc="-100" dirty="0" smtClean="0"/>
            </a:br>
            <a:r>
              <a:rPr lang="en-US" sz="3200" spc="-100" dirty="0" smtClean="0"/>
              <a:t>HVLS – EDITS </a:t>
            </a:r>
            <a:r>
              <a:rPr lang="en-US" sz="3200" dirty="0" smtClean="0"/>
              <a:t>Requirements Summary</a:t>
            </a:r>
            <a:br>
              <a:rPr lang="en-US" sz="3200" dirty="0" smtClean="0"/>
            </a:br>
            <a:r>
              <a:rPr lang="en-US" sz="3200" dirty="0" smtClean="0"/>
              <a:t>for ODM</a:t>
            </a:r>
            <a:r>
              <a:rPr lang="en-US" sz="3200" spc="-100" dirty="0" smtClean="0"/>
              <a:t/>
            </a:r>
            <a:br>
              <a:rPr lang="en-US" sz="3200" spc="-100" dirty="0" smtClean="0"/>
            </a:br>
            <a:r>
              <a:rPr lang="en-US" sz="1800" b="0" spc="-100" dirty="0" smtClean="0"/>
              <a:t> May 10, 2013   </a:t>
            </a:r>
            <a:endParaRPr lang="en-US" sz="3600" b="0" spc="-1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22321" y="3412550"/>
            <a:ext cx="6858000" cy="9144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PPS Global Inbound Programs Team</a:t>
            </a:r>
          </a:p>
          <a:p>
            <a:r>
              <a:rPr lang="en-US" dirty="0" smtClean="0"/>
              <a:t>Al Ramirez/Jennifer Zhang</a:t>
            </a:r>
          </a:p>
        </p:txBody>
      </p:sp>
    </p:spTree>
    <p:extLst>
      <p:ext uri="{BB962C8B-B14F-4D97-AF65-F5344CB8AC3E}">
        <p14:creationId xmlns:p14="http://schemas.microsoft.com/office/powerpoint/2010/main" val="26337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ODM Requirements Summary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Drop Shipment – HVLS EDITS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581399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New Customer Packing List  for QVC Drop </a:t>
            </a:r>
            <a:r>
              <a:rPr lang="en-US" dirty="0" smtClean="0"/>
              <a:t>Shipments</a:t>
            </a:r>
            <a:endParaRPr lang="en-US" dirty="0"/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2 </a:t>
            </a:r>
            <a:r>
              <a:rPr lang="en-US" dirty="0" smtClean="0"/>
              <a:t>format </a:t>
            </a:r>
            <a:r>
              <a:rPr lang="en-US" dirty="0"/>
              <a:t>variations supported by EDITS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Each format will require 2 pages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QVC Special </a:t>
            </a:r>
            <a:r>
              <a:rPr lang="en-US" dirty="0"/>
              <a:t>Data Elements 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38 </a:t>
            </a:r>
            <a:r>
              <a:rPr lang="en-US" dirty="0"/>
              <a:t>New Key Value Pair </a:t>
            </a:r>
            <a:r>
              <a:rPr lang="en-US" dirty="0" smtClean="0"/>
              <a:t>Data to be supported by ODM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ODM mapping and data base support required</a:t>
            </a:r>
            <a:endParaRPr lang="en-US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Packing </a:t>
            </a:r>
            <a:r>
              <a:rPr lang="en-US" dirty="0"/>
              <a:t>List </a:t>
            </a:r>
            <a:r>
              <a:rPr lang="en-US" dirty="0" smtClean="0"/>
              <a:t>Barcodes </a:t>
            </a:r>
            <a:r>
              <a:rPr lang="en-US" dirty="0"/>
              <a:t>will </a:t>
            </a:r>
            <a:r>
              <a:rPr lang="en-US" dirty="0" smtClean="0"/>
              <a:t>Require Code </a:t>
            </a:r>
            <a:r>
              <a:rPr lang="en-US" dirty="0"/>
              <a:t>128 </a:t>
            </a:r>
            <a:r>
              <a:rPr lang="en-US" dirty="0" smtClean="0"/>
              <a:t>Symbology 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ODM will require necessary software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FedEx Trans-In File Modification </a:t>
            </a:r>
            <a:r>
              <a:rPr lang="en-US" i="1" dirty="0" smtClean="0"/>
              <a:t>(</a:t>
            </a:r>
            <a:r>
              <a:rPr lang="en-US" i="1" dirty="0"/>
              <a:t>Not HVLS – EDITS related</a:t>
            </a:r>
            <a:r>
              <a:rPr lang="en-US" i="1" dirty="0" smtClean="0"/>
              <a:t>)</a:t>
            </a:r>
            <a:r>
              <a:rPr lang="en-US" dirty="0" smtClean="0"/>
              <a:t> 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Possible modification required for Trans-in file  (shipment data sent by ODM to FedEx)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Operations Changes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Special Customer Packing List attachment to shipping box </a:t>
            </a:r>
            <a:r>
              <a:rPr lang="en-US" i="1" dirty="0"/>
              <a:t>(Not HVLS – EDITS related</a:t>
            </a:r>
            <a:r>
              <a:rPr lang="en-US" i="1" dirty="0" smtClean="0"/>
              <a:t>)</a:t>
            </a:r>
            <a:endParaRPr lang="en-US" dirty="0" smtClean="0"/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2-page or 1-page two-sided Customer Packing List printing process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05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– EDITS Requirements			1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932151"/>
            <a:ext cx="8119872" cy="3984419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QVC Customer </a:t>
            </a:r>
            <a:r>
              <a:rPr lang="en-US" dirty="0"/>
              <a:t>Packing List  for QVC Drop </a:t>
            </a:r>
            <a:r>
              <a:rPr lang="en-US" dirty="0" smtClean="0"/>
              <a:t>Shipments</a:t>
            </a:r>
            <a:endParaRPr lang="en-US" dirty="0"/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2 </a:t>
            </a:r>
            <a:r>
              <a:rPr lang="en-US" dirty="0" smtClean="0"/>
              <a:t>format </a:t>
            </a:r>
            <a:r>
              <a:rPr lang="en-US" dirty="0"/>
              <a:t>variations supported by </a:t>
            </a:r>
            <a:r>
              <a:rPr lang="en-US" dirty="0" smtClean="0"/>
              <a:t>EDITS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Format 1 – QVC Regular Packing List – (Customer Packing List)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Format </a:t>
            </a:r>
            <a:r>
              <a:rPr lang="en-US" dirty="0" smtClean="0"/>
              <a:t>2 </a:t>
            </a:r>
            <a:r>
              <a:rPr lang="en-US" dirty="0"/>
              <a:t>– QVC </a:t>
            </a:r>
            <a:r>
              <a:rPr lang="en-US" dirty="0" smtClean="0"/>
              <a:t>Non-Returnable Goods Packing </a:t>
            </a:r>
            <a:r>
              <a:rPr lang="en-US" dirty="0"/>
              <a:t>List – (Customer Packing List)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EDITS will determine which format is required for each QVC shipment based on EDI850 data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2 Pages per Packing List – ODM to Determine Which They Will Support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1 sheet with 2-sided page printing (front &amp; back)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2 sheets with page 1 and page 2 printed on individual sheets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EDITS will require unique templates based on ODM printing preference 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Static text on 2</a:t>
            </a:r>
            <a:r>
              <a:rPr lang="en-US" baseline="30000" dirty="0" smtClean="0"/>
              <a:t>nd</a:t>
            </a:r>
            <a:r>
              <a:rPr lang="en-US" dirty="0" smtClean="0"/>
              <a:t> page will differ based 1 or 2 sheet printing format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Other EDITS Shipping Documents and Labels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Transportation Packing List – no change to current HP standard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Box Shipping Label – no change to current HP standard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Box Id Attachment – Will not be printed or utilized with QVC Customer Packing List</a:t>
            </a:r>
          </a:p>
          <a:p>
            <a:pPr marL="455613" lvl="2" indent="-285750"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64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– EDITS Requirements			2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1019381"/>
            <a:ext cx="8119872" cy="3581399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QVC Special Data Elements 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38 New Key Value </a:t>
            </a:r>
            <a:r>
              <a:rPr lang="en-US" dirty="0" smtClean="0"/>
              <a:t>Pairs to </a:t>
            </a:r>
            <a:r>
              <a:rPr lang="en-US" dirty="0"/>
              <a:t>be supported by ODM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ODM </a:t>
            </a:r>
            <a:r>
              <a:rPr lang="en-US" dirty="0"/>
              <a:t>mapping and data base support </a:t>
            </a:r>
            <a:r>
              <a:rPr lang="en-US" dirty="0" smtClean="0"/>
              <a:t>required – see QVC Key Value Pair Table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Up to 32 Key Value pairs with unique QVC shipment data will be provided in EDI850 from HP to ODM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4 Key Value Pairs will be required to store encoded barcodes (not sent in EDI850)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2 Key Value Pairs will be required to store ODM calculated pricing data</a:t>
            </a:r>
          </a:p>
          <a:p>
            <a:pPr lvl="3" indent="0">
              <a:buNone/>
            </a:pPr>
            <a:endParaRPr lang="en-US" dirty="0" smtClean="0"/>
          </a:p>
          <a:p>
            <a:pPr marL="455613" lvl="2" indent="-285750">
              <a:buFont typeface="Arial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" y="2967139"/>
            <a:ext cx="3141994" cy="1894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60" y="2967138"/>
            <a:ext cx="2872740" cy="1894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20" y="2967138"/>
            <a:ext cx="2872740" cy="1431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408021"/>
              </p:ext>
            </p:extLst>
          </p:nvPr>
        </p:nvGraphicFramePr>
        <p:xfrm>
          <a:off x="7158990" y="2051087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Worksheet" showAsIcon="1" r:id="rId7" imgW="914400" imgH="828720" progId="Excel.Sheet.12">
                  <p:embed/>
                </p:oleObj>
              </mc:Choice>
              <mc:Fallback>
                <p:oleObj name="Worksheet" showAsIcon="1" r:id="rId7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58990" y="2051087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48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– EDITS Requirements			3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868353"/>
            <a:ext cx="8119872" cy="3581399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ODM will be Required to Calculate Two Pricing Values 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MERCHANDISE: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/>
              <a:t>Calculated value = Key_detail_retail_unit_price * Quantity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/>
              <a:t>Key value pair x unit quantity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 TOTAL AMOUNT: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Calculated value= Key_detail_retail_unit_price * Quantity +</a:t>
            </a:r>
            <a:r>
              <a:rPr lang="en-US" dirty="0" err="1" smtClean="0">
                <a:solidFill>
                  <a:srgbClr val="FF0000"/>
                </a:solidFill>
              </a:rPr>
              <a:t>Key_detail_retail_unit_sh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dirty="0" err="1" smtClean="0">
                <a:solidFill>
                  <a:srgbClr val="FF0000"/>
                </a:solidFill>
              </a:rPr>
              <a:t>Key_detail_retail_item_tax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- </a:t>
            </a:r>
            <a:r>
              <a:rPr lang="en-US" dirty="0" err="1" smtClean="0">
                <a:solidFill>
                  <a:srgbClr val="FF0000"/>
                </a:solidFill>
              </a:rPr>
              <a:t>Key_detail_retail_item_cr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8" b="14746"/>
          <a:stretch/>
        </p:blipFill>
        <p:spPr bwMode="auto">
          <a:xfrm>
            <a:off x="488949" y="2937937"/>
            <a:ext cx="6788109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433733" y="4495116"/>
            <a:ext cx="982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000" b="1" dirty="0" smtClean="0">
                <a:solidFill>
                  <a:srgbClr val="0000FF"/>
                </a:solidFill>
                <a:latin typeface="HP Simplified" pitchFamily="34" charset="0"/>
                <a:cs typeface="HP Simplified" pitchFamily="34" charset="0"/>
              </a:rPr>
              <a:t>Total Amount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842000" y="4618226"/>
            <a:ext cx="1591733" cy="0"/>
          </a:xfrm>
          <a:prstGeom prst="straightConnector1">
            <a:avLst/>
          </a:prstGeom>
          <a:ln w="22225" cmpd="sng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0600" y="4770626"/>
            <a:ext cx="9228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000" b="1" dirty="0" smtClean="0">
                <a:solidFill>
                  <a:srgbClr val="0000FF"/>
                </a:solidFill>
                <a:latin typeface="HP Simplified" pitchFamily="34" charset="0"/>
                <a:cs typeface="HP Simplified" pitchFamily="34" charset="0"/>
              </a:rPr>
              <a:t>Merchandise</a:t>
            </a:r>
          </a:p>
        </p:txBody>
      </p:sp>
      <p:cxnSp>
        <p:nvCxnSpPr>
          <p:cNvPr id="14" name="Straight Arrow Connector 13"/>
          <p:cNvCxnSpPr>
            <a:stCxn id="13" idx="3"/>
          </p:cNvCxnSpPr>
          <p:nvPr/>
        </p:nvCxnSpPr>
        <p:spPr>
          <a:xfrm flipV="1">
            <a:off x="1913467" y="4618227"/>
            <a:ext cx="635000" cy="275510"/>
          </a:xfrm>
          <a:prstGeom prst="straightConnector1">
            <a:avLst/>
          </a:prstGeom>
          <a:ln w="22225" cmpd="sng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9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QVC – EDITS </a:t>
            </a:r>
            <a:r>
              <a:rPr lang="en-US" dirty="0" smtClean="0"/>
              <a:t>Requirements                     4 of 7</a:t>
            </a:r>
            <a:r>
              <a:rPr lang="en-US" dirty="0"/>
              <a:t>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393912"/>
          </a:xfrm>
        </p:spPr>
        <p:txBody>
          <a:bodyPr/>
          <a:lstStyle/>
          <a:p>
            <a:pPr marL="627063" lvl="3" indent="-285750">
              <a:buFont typeface="Arial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Pls</a:t>
            </a:r>
            <a:r>
              <a:rPr lang="en-US" dirty="0">
                <a:solidFill>
                  <a:srgbClr val="FF0000"/>
                </a:solidFill>
              </a:rPr>
              <a:t> set  default value 0.00 if </a:t>
            </a:r>
            <a:r>
              <a:rPr lang="en-US" dirty="0" smtClean="0">
                <a:solidFill>
                  <a:srgbClr val="FF0000"/>
                </a:solidFill>
              </a:rPr>
              <a:t>there is no value from EDI 850 for below keys.</a:t>
            </a:r>
          </a:p>
          <a:p>
            <a:pPr marL="627063" lvl="3" indent="-285750">
              <a:buFont typeface="Arial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Pls</a:t>
            </a:r>
            <a:r>
              <a:rPr lang="en-US" dirty="0">
                <a:solidFill>
                  <a:srgbClr val="FF0000"/>
                </a:solidFill>
              </a:rPr>
              <a:t> set  default value 0.00 if </a:t>
            </a:r>
            <a:r>
              <a:rPr lang="en-US" dirty="0" smtClean="0">
                <a:solidFill>
                  <a:srgbClr val="FF0000"/>
                </a:solidFill>
              </a:rPr>
              <a:t>calculation result is zero.</a:t>
            </a:r>
            <a:endParaRPr lang="en-US" dirty="0">
              <a:solidFill>
                <a:srgbClr val="FF0000"/>
              </a:solidFill>
            </a:endParaRPr>
          </a:p>
          <a:p>
            <a:pPr lvl="3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627063" lvl="3" indent="-285750">
              <a:buFont typeface="Arial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746483"/>
              </p:ext>
            </p:extLst>
          </p:nvPr>
        </p:nvGraphicFramePr>
        <p:xfrm>
          <a:off x="1358328" y="1620765"/>
          <a:ext cx="2044700" cy="952500"/>
        </p:xfrm>
        <a:graphic>
          <a:graphicData uri="http://schemas.openxmlformats.org/drawingml/2006/table">
            <a:tbl>
              <a:tblPr/>
              <a:tblGrid>
                <a:gridCol w="20447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Key_detail_retail_unit_price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Key_detail_retail_unit_sh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Key_detail_retail_st_price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Key_detail_retail_item_cr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Key_detail_retail_item_tax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456735"/>
              </p:ext>
            </p:extLst>
          </p:nvPr>
        </p:nvGraphicFramePr>
        <p:xfrm>
          <a:off x="1356556" y="3656974"/>
          <a:ext cx="2197100" cy="786206"/>
        </p:xfrm>
        <a:graphic>
          <a:graphicData uri="http://schemas.openxmlformats.org/drawingml/2006/table">
            <a:tbl>
              <a:tblPr/>
              <a:tblGrid>
                <a:gridCol w="2197100"/>
              </a:tblGrid>
              <a:tr h="31413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Calculated by ODM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KEY_DETAIL_MERCHANDISE_PRICE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4140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Calculated by ODM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KEY_DETAIL_TOTAL_AMOUNT_PRICE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76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QVC – EDITS </a:t>
            </a:r>
            <a:r>
              <a:rPr lang="en-US" dirty="0" smtClean="0"/>
              <a:t>Requirements                   5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39817" y="1188721"/>
            <a:ext cx="8119872" cy="3228975"/>
          </a:xfrm>
        </p:spPr>
        <p:txBody>
          <a:bodyPr/>
          <a:lstStyle/>
          <a:p>
            <a:r>
              <a:rPr lang="en-US" dirty="0" smtClean="0"/>
              <a:t>EDITS will use below key value pair to determine whether 1 page or 2 pages are printed.</a:t>
            </a:r>
          </a:p>
          <a:p>
            <a:endParaRPr lang="en-US" dirty="0"/>
          </a:p>
          <a:p>
            <a:r>
              <a:rPr lang="en-US" sz="1200" dirty="0"/>
              <a:t>&lt;UDF_HEADER&gt;</a:t>
            </a:r>
          </a:p>
          <a:p>
            <a:r>
              <a:rPr lang="en-US" sz="1200" dirty="0"/>
              <a:t>    &lt;KEY&gt;ODM_TEXT2&lt;/KEY&gt;</a:t>
            </a:r>
          </a:p>
          <a:p>
            <a:r>
              <a:rPr lang="en-US" sz="1200" dirty="0"/>
              <a:t>    &lt;VALUE&gt;RETURN_INS&lt;/VALUE&gt;</a:t>
            </a:r>
          </a:p>
          <a:p>
            <a:r>
              <a:rPr lang="en-US" sz="1200" dirty="0"/>
              <a:t>&lt;/UDF_HEADER&gt;</a:t>
            </a:r>
          </a:p>
          <a:p>
            <a:endParaRPr lang="en-US" dirty="0" smtClean="0"/>
          </a:p>
          <a:p>
            <a:r>
              <a:rPr lang="en-US" sz="1400" dirty="0"/>
              <a:t>If ./UDF_HEADER/KEY='ODM_TEXT2' and ./UDF_HEADER/VALUE=</a:t>
            </a:r>
            <a:r>
              <a:rPr lang="en-US" sz="1400" dirty="0" smtClean="0"/>
              <a:t>'RETURN_INS‘, the second page will be printed.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546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– EDITS Requirements	6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857720"/>
            <a:ext cx="8119872" cy="4243248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Packing List Barcodes will Require Code 128 Symbology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1200" dirty="0">
                <a:solidFill>
                  <a:srgbClr val="00ADFA"/>
                </a:solidFill>
              </a:rPr>
              <a:t>&lt;UDF_HEADER&gt;</a:t>
            </a:r>
          </a:p>
          <a:p>
            <a:r>
              <a:rPr lang="en-US" sz="1200" dirty="0">
                <a:solidFill>
                  <a:srgbClr val="00ADFA"/>
                </a:solidFill>
              </a:rPr>
              <a:t>	</a:t>
            </a:r>
            <a:r>
              <a:rPr lang="en-US" sz="1200" dirty="0" smtClean="0">
                <a:solidFill>
                  <a:srgbClr val="00ADFA"/>
                </a:solidFill>
              </a:rPr>
              <a:t>&lt;</a:t>
            </a:r>
            <a:r>
              <a:rPr lang="en-US" sz="1200" dirty="0">
                <a:solidFill>
                  <a:srgbClr val="00ADFA"/>
                </a:solidFill>
              </a:rPr>
              <a:t>KEY&gt;KEY_HEADER_UPSRN_ENCODE&lt;/KEY&gt;</a:t>
            </a:r>
          </a:p>
          <a:p>
            <a:r>
              <a:rPr lang="en-US" sz="1200" dirty="0">
                <a:solidFill>
                  <a:srgbClr val="00ADFA"/>
                </a:solidFill>
              </a:rPr>
              <a:t>	</a:t>
            </a:r>
            <a:r>
              <a:rPr lang="en-US" sz="1200" dirty="0" smtClean="0">
                <a:solidFill>
                  <a:srgbClr val="00ADFA"/>
                </a:solidFill>
              </a:rPr>
              <a:t>&lt;</a:t>
            </a:r>
            <a:r>
              <a:rPr lang="en-US" sz="1200" dirty="0">
                <a:solidFill>
                  <a:srgbClr val="00ADFA"/>
                </a:solidFill>
              </a:rPr>
              <a:t>VALUE&gt;&lt;</a:t>
            </a:r>
            <a:r>
              <a:rPr lang="en-US" sz="1200" dirty="0">
                <a:solidFill>
                  <a:srgbClr val="FF0000"/>
                </a:solidFill>
              </a:rPr>
              <a:t>![CDATA[</a:t>
            </a:r>
            <a:r>
              <a:rPr lang="en-US" sz="1200" dirty="0" err="1">
                <a:solidFill>
                  <a:srgbClr val="00ADFA"/>
                </a:solidFill>
              </a:rPr>
              <a:t>ÍJ"n</a:t>
            </a:r>
            <a:r>
              <a:rPr lang="en-US" sz="1200" dirty="0">
                <a:solidFill>
                  <a:srgbClr val="00ADFA"/>
                </a:solidFill>
              </a:rPr>
              <a:t>/AÎ</a:t>
            </a:r>
            <a:r>
              <a:rPr lang="en-US" sz="1200" dirty="0">
                <a:solidFill>
                  <a:srgbClr val="FF0000"/>
                </a:solidFill>
              </a:rPr>
              <a:t>]]</a:t>
            </a:r>
            <a:r>
              <a:rPr lang="en-US" sz="1200" dirty="0">
                <a:solidFill>
                  <a:srgbClr val="00ADFA"/>
                </a:solidFill>
              </a:rPr>
              <a:t>&gt;&lt;/VALUE&gt;</a:t>
            </a:r>
          </a:p>
          <a:p>
            <a:r>
              <a:rPr lang="en-US" sz="1200" dirty="0" smtClean="0">
                <a:solidFill>
                  <a:srgbClr val="00ADFA"/>
                </a:solidFill>
              </a:rPr>
              <a:t>&lt;/</a:t>
            </a:r>
            <a:r>
              <a:rPr lang="en-US" sz="1200" dirty="0">
                <a:solidFill>
                  <a:srgbClr val="00ADFA"/>
                </a:solidFill>
              </a:rPr>
              <a:t>UDF_HEADER&gt;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893" y="444683"/>
            <a:ext cx="3053427" cy="413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963786" y="666138"/>
            <a:ext cx="25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FF0000"/>
                </a:solidFill>
                <a:latin typeface="HP Simplified" pitchFamily="34" charset="0"/>
                <a:cs typeface="HP Simplified" pitchFamily="34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3766" y="1044691"/>
            <a:ext cx="25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FF0000"/>
                </a:solidFill>
                <a:latin typeface="HP Simplified" pitchFamily="34" charset="0"/>
                <a:cs typeface="HP Simplified" pitchFamily="34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3774" y="4245951"/>
            <a:ext cx="25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FF0000"/>
                </a:solidFill>
                <a:latin typeface="HP Simplified" pitchFamily="34" charset="0"/>
                <a:cs typeface="HP Simplified" pitchFamily="34" charset="0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7553" y="1807536"/>
            <a:ext cx="25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FF0000"/>
                </a:solidFill>
                <a:latin typeface="HP Simplified" pitchFamily="34" charset="0"/>
                <a:cs typeface="HP Simplified" pitchFamily="34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7553" y="2268279"/>
            <a:ext cx="25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FF0000"/>
                </a:solidFill>
                <a:latin typeface="HP Simplified" pitchFamily="34" charset="0"/>
                <a:cs typeface="HP Simplified" pitchFamily="34" charset="0"/>
              </a:rPr>
              <a:t>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39539"/>
              </p:ext>
            </p:extLst>
          </p:nvPr>
        </p:nvGraphicFramePr>
        <p:xfrm>
          <a:off x="149437" y="1195544"/>
          <a:ext cx="5751623" cy="2910475"/>
        </p:xfrm>
        <a:graphic>
          <a:graphicData uri="http://schemas.openxmlformats.org/drawingml/2006/table">
            <a:tbl>
              <a:tblPr/>
              <a:tblGrid>
                <a:gridCol w="1445437"/>
                <a:gridCol w="1350334"/>
                <a:gridCol w="1573619"/>
                <a:gridCol w="1382233"/>
              </a:tblGrid>
              <a:tr h="32338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Barcode Name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HP Packing Slip Template for QVC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3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Barcode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 value pair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description</a:t>
                      </a:r>
                    </a:p>
                  </a:txBody>
                  <a:tcPr marL="7768" marR="7768" marT="77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</a:tr>
              <a:tr h="3233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 Postal Barcode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128C symbology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KEY_HEADER_UPSRN_ENCODE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420 +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“Returns to Zip”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</a:tr>
              <a:tr h="3233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 UPS Barcode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128 auto symbology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KEY_HEADER_UPSGTN_ENCODE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UPS Ground Tracking Number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</a:tr>
              <a:tr h="3233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3.USPS Delivery Confirmation Barcode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GS1-128 symbology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KEY_HEADER_USPSDN_ENCODE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ourier New"/>
                        </a:rPr>
                        <a:t>42056902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ourier New"/>
                        </a:rPr>
                        <a:t>+ USPS delivery confirmation number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</a:tr>
              <a:tr h="6467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Barcode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(RETURN YOUR WAY LABEL SECTION)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128C symbology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KEY_HEADER_ENDCUST_PO_ENCODE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end customer PO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</a:tr>
              <a:tr h="6467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Barcode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(ORDER MESSAGE &amp; PAGE FOOTER SECTION)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128C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symbology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KEY_HEADER_ENDCUST_PO_ENCODE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end customer PO</a:t>
                      </a:r>
                    </a:p>
                  </a:txBody>
                  <a:tcPr marL="7768" marR="7768" marT="77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32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QVC – EDITS Requirements	6 of 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latin typeface="Calibri"/>
              </a:rPr>
              <a:t>Further explanation on USPS 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Delivery Confirmation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Barcode:</a:t>
            </a:r>
          </a:p>
          <a:p>
            <a:endParaRPr lang="en-US" dirty="0">
              <a:solidFill>
                <a:srgbClr val="000000"/>
              </a:solidFill>
              <a:latin typeface="Calibri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libri"/>
              </a:rPr>
              <a:t>e.g. USPS delivery confirmation number from EDI 850 is 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      </a:t>
            </a:r>
            <a:r>
              <a:rPr lang="en-US" dirty="0" smtClean="0"/>
              <a:t>9158901003037003172195</a:t>
            </a:r>
          </a:p>
          <a:p>
            <a:endParaRPr lang="en-US" dirty="0" smtClean="0">
              <a:solidFill>
                <a:srgbClr val="000000"/>
              </a:solidFill>
              <a:latin typeface="Calibri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libri"/>
              </a:rPr>
              <a:t>Data to encode shall be: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     </a:t>
            </a:r>
            <a:r>
              <a:rPr lang="en-US" dirty="0">
                <a:solidFill>
                  <a:srgbClr val="FF0000"/>
                </a:solidFill>
              </a:rPr>
              <a:t>42056902(</a:t>
            </a:r>
            <a:r>
              <a:rPr lang="en-US" dirty="0"/>
              <a:t>91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58901003037003172195 </a:t>
            </a:r>
            <a:endParaRPr lang="en-US" dirty="0">
              <a:solidFill>
                <a:srgbClr val="000000"/>
              </a:solidFill>
              <a:latin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42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– EDITS Requirements			7 of 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1027848"/>
            <a:ext cx="8119872" cy="3581399"/>
          </a:xfrm>
        </p:spPr>
        <p:txBody>
          <a:bodyPr/>
          <a:lstStyle/>
          <a:p>
            <a:pPr marL="285750" lvl="1" indent="-285750">
              <a:buFont typeface="Arial" pitchFamily="34" charset="0"/>
              <a:buChar char="•"/>
            </a:pPr>
            <a:r>
              <a:rPr lang="en-US" dirty="0" smtClean="0"/>
              <a:t>FedEx </a:t>
            </a:r>
            <a:r>
              <a:rPr lang="en-US" dirty="0"/>
              <a:t>Trans-In File </a:t>
            </a:r>
            <a:r>
              <a:rPr lang="en-US" dirty="0" smtClean="0"/>
              <a:t>Modification </a:t>
            </a:r>
            <a:r>
              <a:rPr lang="en-US" i="1" dirty="0" smtClean="0"/>
              <a:t>(Not HVLS – EDITS related)</a:t>
            </a:r>
            <a:endParaRPr lang="en-US" i="1" dirty="0"/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Possible modification required for Trans-in file  (shipment data sent by ODM to FedEx</a:t>
            </a:r>
            <a:r>
              <a:rPr lang="en-US" dirty="0" smtClean="0"/>
              <a:t>)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Additional address line information must be passed from ODM to FedEx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 smtClean="0"/>
              <a:t>Return address in trans-in file shall show: </a:t>
            </a:r>
          </a:p>
          <a:p>
            <a:pPr lvl="3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DO </a:t>
            </a:r>
            <a:r>
              <a:rPr lang="en-US" dirty="0">
                <a:solidFill>
                  <a:srgbClr val="FF0000"/>
                </a:solidFill>
              </a:rPr>
              <a:t>NOT RETURN TO ORIGIN..SEE FACTORY LABEL FOR RETURN INFORMATION</a:t>
            </a:r>
            <a:r>
              <a:rPr lang="en-US" dirty="0" smtClean="0">
                <a:solidFill>
                  <a:srgbClr val="FF0000"/>
                </a:solidFill>
              </a:rPr>
              <a:t>HP </a:t>
            </a:r>
          </a:p>
          <a:p>
            <a:pPr lvl="3" indent="0">
              <a:buNone/>
            </a:pPr>
            <a:endParaRPr lang="en-US" dirty="0"/>
          </a:p>
          <a:p>
            <a:pPr lvl="3" indent="0">
              <a:buNone/>
            </a:pPr>
            <a:r>
              <a:rPr lang="en-US" dirty="0" smtClean="0"/>
              <a:t>Operations </a:t>
            </a:r>
            <a:r>
              <a:rPr lang="en-US" dirty="0"/>
              <a:t>Changes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Special Customer Packing List attachment to shipping </a:t>
            </a:r>
            <a:r>
              <a:rPr lang="en-US" dirty="0" smtClean="0"/>
              <a:t>box - </a:t>
            </a:r>
            <a:r>
              <a:rPr lang="en-US" i="1" dirty="0"/>
              <a:t>(Not HVLS – EDITS related)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Customer name and address must not be visible in once Packing List is place in pouch and attached to shipping box</a:t>
            </a:r>
            <a:endParaRPr lang="en-US" dirty="0"/>
          </a:p>
          <a:p>
            <a:pPr marL="455613" lvl="2" indent="-285750">
              <a:buFont typeface="Arial" pitchFamily="34" charset="0"/>
              <a:buChar char="•"/>
            </a:pPr>
            <a:r>
              <a:rPr lang="en-US" dirty="0"/>
              <a:t>2-page or 1-page two-sided Customer Packing List printing </a:t>
            </a:r>
            <a:r>
              <a:rPr lang="en-US" dirty="0" smtClean="0"/>
              <a:t>process</a:t>
            </a:r>
          </a:p>
          <a:p>
            <a:pPr marL="627063" lvl="3" indent="-285750">
              <a:buFont typeface="Arial" pitchFamily="34" charset="0"/>
              <a:buChar char="•"/>
            </a:pPr>
            <a:r>
              <a:rPr lang="en-US" dirty="0" smtClean="0"/>
              <a:t>Special printer or printing processes required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78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QVC Customer Packing List Samples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Sample QVC Customer Regular Packing List – 1</a:t>
            </a:r>
            <a:r>
              <a:rPr lang="en-US" baseline="30000" dirty="0" smtClean="0"/>
              <a:t>st</a:t>
            </a:r>
            <a:r>
              <a:rPr lang="en-US" dirty="0" smtClean="0"/>
              <a:t> Page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Sample QVC Customer </a:t>
            </a:r>
            <a:r>
              <a:rPr lang="en-US" dirty="0" smtClean="0"/>
              <a:t>Non-Returnable Goods  </a:t>
            </a:r>
            <a:r>
              <a:rPr lang="en-US" dirty="0"/>
              <a:t>Packing List – 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 dirty="0" smtClean="0"/>
              <a:t>Page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838894"/>
              </p:ext>
            </p:extLst>
          </p:nvPr>
        </p:nvGraphicFramePr>
        <p:xfrm>
          <a:off x="414867" y="153140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BMP 图像" showAsIcon="1" r:id="rId3" imgW="914400" imgH="792360" progId="Paint.Picture">
                  <p:embed/>
                </p:oleObj>
              </mc:Choice>
              <mc:Fallback>
                <p:oleObj name="BMP 图像" showAsIcon="1" r:id="rId3" imgW="914400" imgH="792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867" y="153140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538549"/>
              </p:ext>
            </p:extLst>
          </p:nvPr>
        </p:nvGraphicFramePr>
        <p:xfrm>
          <a:off x="423334" y="279294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BMP 图像" showAsIcon="1" r:id="rId5" imgW="914400" imgH="792360" progId="Paint.Picture">
                  <p:embed/>
                </p:oleObj>
              </mc:Choice>
              <mc:Fallback>
                <p:oleObj name="BMP 图像" showAsIcon="1" r:id="rId5" imgW="914400" imgH="792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334" y="279294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257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Summary Project Tasks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QVC Drop Shipment – HVLS </a:t>
            </a:r>
            <a:r>
              <a:rPr lang="en-US" dirty="0" smtClean="0"/>
              <a:t>EDITS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688079"/>
          </a:xfrm>
        </p:spPr>
        <p:txBody>
          <a:bodyPr/>
          <a:lstStyle/>
          <a:p>
            <a:r>
              <a:rPr lang="en-US" dirty="0" smtClean="0"/>
              <a:t>Key Project Activities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HP Resource Assignment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ODM Kick-off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sz="1200" dirty="0" smtClean="0"/>
              <a:t>Requirements Review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sz="1200" dirty="0" smtClean="0"/>
              <a:t>Timeline Review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sz="1200" dirty="0" smtClean="0"/>
              <a:t>Team Review</a:t>
            </a:r>
          </a:p>
          <a:p>
            <a:pPr marL="455613" lvl="2" indent="-285750">
              <a:buFont typeface="Arial" pitchFamily="34" charset="0"/>
              <a:buChar char="•"/>
            </a:pPr>
            <a:r>
              <a:rPr lang="en-US" sz="1200" dirty="0" smtClean="0"/>
              <a:t>Regular Meeting Schedule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ODM Development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HP EDITS Condition Table &amp; Template Updates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ODM Integration Testing 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Operations Readiness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ODM User Acceptance Testing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EDITS Wave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1400" dirty="0" smtClean="0"/>
              <a:t>Live Operations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455613" lvl="2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488837"/>
      </p:ext>
    </p:extLst>
  </p:cSld>
  <p:clrMapOvr>
    <a:masterClrMapping/>
  </p:clrMapOvr>
</p:sld>
</file>

<file path=ppt/theme/theme1.xml><?xml version="1.0" encoding="utf-8"?>
<a:theme xmlns:a="http://schemas.openxmlformats.org/drawingml/2006/main" name="2012 TP Template">
  <a:themeElements>
    <a:clrScheme name="Custom 17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96D6"/>
      </a:accent1>
      <a:accent2>
        <a:srgbClr val="F05332"/>
      </a:accent2>
      <a:accent3>
        <a:srgbClr val="822980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defTabSz="430213">
          <a:spcAft>
            <a:spcPts val="400"/>
          </a:spcAft>
          <a:buSzPct val="100000"/>
          <a:defRPr sz="1600" dirty="0" smtClean="0">
            <a:solidFill>
              <a:srgbClr val="000000"/>
            </a:solidFill>
            <a:latin typeface="HP Simplified" pitchFamily="34" charset="0"/>
            <a:cs typeface="HP Simplifie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HP Theme colors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96D6"/>
      </a:accent1>
      <a:accent2>
        <a:srgbClr val="F05332"/>
      </a:accent2>
      <a:accent3>
        <a:srgbClr val="B7CA34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2012 TP Template</Template>
  <TotalTime>48245</TotalTime>
  <Words>775</Words>
  <Application>Microsoft Office PowerPoint</Application>
  <PresentationFormat>On-screen Show (16:9)</PresentationFormat>
  <Paragraphs>171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Lucida Grande</vt:lpstr>
      <vt:lpstr>Calibri</vt:lpstr>
      <vt:lpstr>HP Simplified</vt:lpstr>
      <vt:lpstr>Courier New</vt:lpstr>
      <vt:lpstr>2012 TP Template</vt:lpstr>
      <vt:lpstr>Worksheet</vt:lpstr>
      <vt:lpstr>BMP 图像</vt:lpstr>
      <vt:lpstr>QVC Drop Shipments HVLS – EDITS Requirements Summary for ODM  May 10, 2013   </vt:lpstr>
      <vt:lpstr>QVC Drop Shipment – HVLS EDITS</vt:lpstr>
      <vt:lpstr>QVC – EDITS Requirements   1 of 7</vt:lpstr>
      <vt:lpstr>QVC – EDITS Requirements   2 of 7</vt:lpstr>
      <vt:lpstr>QVC – EDITS Requirements   3 of 7</vt:lpstr>
      <vt:lpstr>QVC – EDITS Requirements                     4 of 7 </vt:lpstr>
      <vt:lpstr>QVC – EDITS Requirements                   5 of 7</vt:lpstr>
      <vt:lpstr>QVC – EDITS Requirements 6 of 7</vt:lpstr>
      <vt:lpstr>QVC – EDITS Requirements 6 of 7</vt:lpstr>
      <vt:lpstr>QVC – EDITS Requirements   7 of 7</vt:lpstr>
      <vt:lpstr>QVC Customer Packing List Samples</vt:lpstr>
      <vt:lpstr>QVC Drop Shipment – HVLS EDITS</vt:lpstr>
    </vt:vector>
  </TitlesOfParts>
  <Company>HP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Origin Hub POC</dc:title>
  <dc:creator>Al Ramirez</dc:creator>
  <cp:lastModifiedBy>Yi Zhang</cp:lastModifiedBy>
  <cp:revision>512</cp:revision>
  <cp:lastPrinted>2012-04-13T15:38:33Z</cp:lastPrinted>
  <dcterms:created xsi:type="dcterms:W3CDTF">2012-08-15T18:43:41Z</dcterms:created>
  <dcterms:modified xsi:type="dcterms:W3CDTF">2013-05-10T07:57:56Z</dcterms:modified>
</cp:coreProperties>
</file>