
<file path=[Content_Types].xml><?xml version="1.0" encoding="utf-8"?>
<Types xmlns="http://schemas.openxmlformats.org/package/2006/content-types">
  <Override PartName="/ppt/slideMasters/slideMaster3.xml" ContentType="application/vnd.openxmlformats-officedocument.presentationml.slideMaster+xml"/>
  <Override PartName="/ppt/slides/slide47.xml" ContentType="application/vnd.openxmlformats-officedocument.presentationml.slide+xml"/>
  <Override PartName="/ppt/slides/slide58.xml" ContentType="application/vnd.openxmlformats-officedocument.presentationml.slide+xml"/>
  <Override PartName="/ppt/slideLayouts/slideLayout57.xml" ContentType="application/vnd.openxmlformats-officedocument.presentationml.slideLayout+xml"/>
  <Override PartName="/ppt/theme/theme5.xml" ContentType="application/vnd.openxmlformats-officedocument.theme+xml"/>
  <Override PartName="/ppt/slideLayouts/slideLayout157.xml" ContentType="application/vnd.openxmlformats-officedocument.presentationml.slideLayout+xml"/>
  <Override PartName="/ppt/slides/slide36.xml" ContentType="application/vnd.openxmlformats-officedocument.presentationml.slide+xml"/>
  <Override PartName="/ppt/slides/slide83.xml" ContentType="application/vnd.openxmlformats-officedocument.presentationml.slide+xml"/>
  <Override PartName="/ppt/slideLayouts/slideLayout46.xml" ContentType="application/vnd.openxmlformats-officedocument.presentationml.slideLayout+xml"/>
  <Override PartName="/ppt/slideLayouts/slideLayout93.xml" ContentType="application/vnd.openxmlformats-officedocument.presentationml.slideLayout+xml"/>
  <Override PartName="/ppt/slideLayouts/slideLayout135.xml" ContentType="application/vnd.openxmlformats-officedocument.presentationml.slideLayout+xml"/>
  <Override PartName="/ppt/slideLayouts/slideLayout146.xml" ContentType="application/vnd.openxmlformats-officedocument.presentationml.slideLayout+xml"/>
  <Override PartName="/ppt/slideLayouts/slideLayout182.xml" ContentType="application/vnd.openxmlformats-officedocument.presentationml.slideLayout+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82.xml" ContentType="application/vnd.openxmlformats-officedocument.presentationml.slideLayout+xml"/>
  <Override PartName="/ppt/slideLayouts/slideLayout124.xml" ContentType="application/vnd.openxmlformats-officedocument.presentationml.slideLayout+xml"/>
  <Override PartName="/ppt/slideLayouts/slideLayout171.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Layouts/slideLayout113.xml" ContentType="application/vnd.openxmlformats-officedocument.presentationml.slideLayout+xml"/>
  <Override PartName="/ppt/slideLayouts/slideLayout160.xml" ContentType="application/vnd.openxmlformats-officedocument.presentationml.slideLayout+xml"/>
  <Override PartName="/ppt/tableStyles.xml" ContentType="application/vnd.openxmlformats-officedocument.presentationml.tableStyles+xml"/>
  <Override PartName="/ppt/slideLayouts/slideLayout102.xml" ContentType="application/vnd.openxmlformats-officedocument.presentationml.slideLayout+xml"/>
  <Override PartName="/ppt/slideMasters/slideMaster8.xml" ContentType="application/vnd.openxmlformats-officedocument.presentationml.slideMaster+xml"/>
  <Override PartName="/ppt/slideMasters/slideMaster11.xml" ContentType="application/vnd.openxmlformats-officedocument.presentationml.slideMaster+xml"/>
  <Default Extension="xlsx" ContentType="application/vnd.openxmlformats-officedocument.spreadsheetml.sheet"/>
  <Override PartName="/ppt/slides/slide77.xml" ContentType="application/vnd.openxmlformats-officedocument.presentationml.slide+xml"/>
  <Override PartName="/ppt/slides/slide88.xml" ContentType="application/vnd.openxmlformats-officedocument.presentationml.slide+xml"/>
  <Override PartName="/ppt/slideLayouts/slideLayout87.xml" ContentType="application/vnd.openxmlformats-officedocument.presentationml.slideLayout+xml"/>
  <Override PartName="/ppt/slideLayouts/slideLayout98.xml" ContentType="application/vnd.openxmlformats-officedocument.presentationml.slideLayout+xml"/>
  <Override PartName="/ppt/theme/theme10.xml" ContentType="application/vnd.openxmlformats-officedocument.them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76.xml" ContentType="application/vnd.openxmlformats-officedocument.presentationml.slideLayout+xml"/>
  <Override PartName="/ppt/slideLayouts/slideLayout118.xml" ContentType="application/vnd.openxmlformats-officedocument.presentationml.slideLayout+xml"/>
  <Override PartName="/ppt/slideLayouts/slideLayout129.xml" ContentType="application/vnd.openxmlformats-officedocument.presentationml.slideLayout+xml"/>
  <Override PartName="/ppt/slideLayouts/slideLayout165.xml" ContentType="application/vnd.openxmlformats-officedocument.presentationml.slideLayout+xml"/>
  <Override PartName="/ppt/slideLayouts/slideLayout176.xml" ContentType="application/vnd.openxmlformats-officedocument.presentationml.slideLayout+xml"/>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107.xml" ContentType="application/vnd.openxmlformats-officedocument.presentationml.slideLayout+xml"/>
  <Override PartName="/ppt/slideLayouts/slideLayout154.xml" ContentType="application/vnd.openxmlformats-officedocument.presentationml.slideLayout+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Default Extension="emf" ContentType="image/x-emf"/>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90.xml" ContentType="application/vnd.openxmlformats-officedocument.presentationml.slideLayout+xml"/>
  <Override PartName="/ppt/slideLayouts/slideLayout143.xml" ContentType="application/vnd.openxmlformats-officedocument.presentationml.slideLayout+xml"/>
  <Override PartName="/ppt/presentation.xml" ContentType="application/vnd.openxmlformats-officedocument.presentationml.presentation.main+xml"/>
  <Override PartName="/ppt/slides/slide22.xml" ContentType="application/vnd.openxmlformats-officedocument.presentationml.slide+xml"/>
  <Override PartName="/ppt/slideLayouts/slideLayout32.xml" ContentType="application/vnd.openxmlformats-officedocument.presentationml.slideLayout+xml"/>
  <Override PartName="/ppt/slideLayouts/slideLayout1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slideLayouts/slideLayout110.xml" ContentType="application/vnd.openxmlformats-officedocument.presentationml.slideLayout+xml"/>
  <Override PartName="/ppt/slideLayouts/slideLayout121.xml" ContentType="application/vnd.openxmlformats-officedocument.presentationml.slideLayout+xml"/>
  <Override PartName="/ppt/slideLayouts/slideLayout10.xml" ContentType="application/vnd.openxmlformats-officedocument.presentationml.slideLayout+xml"/>
  <Override PartName="/ppt/theme/theme15.xml" ContentType="application/vnd.openxmlformats-officedocument.theme+xml"/>
  <Override PartName="/ppt/slideMasters/slideMaster5.xml" ContentType="application/vnd.openxmlformats-officedocument.presentationml.slideMaster+xml"/>
  <Override PartName="/ppt/slides/slide49.xml" ContentType="application/vnd.openxmlformats-officedocument.presentationml.slide+xml"/>
  <Override PartName="/ppt/slideLayouts/slideLayout59.xml" ContentType="application/vnd.openxmlformats-officedocument.presentationml.slideLayout+xml"/>
  <Override PartName="/ppt/theme/theme7.xml" ContentType="application/vnd.openxmlformats-officedocument.theme+xml"/>
  <Override PartName="/ppt/slideLayouts/slideLayout159.xml" ContentType="application/vnd.openxmlformats-officedocument.presentationml.slideLayout+xml"/>
  <Override PartName="/ppt/slides/slide38.xml" ContentType="application/vnd.openxmlformats-officedocument.presentationml.slide+xml"/>
  <Override PartName="/ppt/slides/slide85.xml" ContentType="application/vnd.openxmlformats-officedocument.presentationml.slide+xml"/>
  <Override PartName="/ppt/slideLayouts/slideLayout48.xml" ContentType="application/vnd.openxmlformats-officedocument.presentationml.slideLayout+xml"/>
  <Override PartName="/ppt/slideLayouts/slideLayout95.xml" ContentType="application/vnd.openxmlformats-officedocument.presentationml.slideLayout+xml"/>
  <Override PartName="/ppt/slideLayouts/slideLayout137.xml" ContentType="application/vnd.openxmlformats-officedocument.presentationml.slideLayout+xml"/>
  <Override PartName="/ppt/slideLayouts/slideLayout148.xml" ContentType="application/vnd.openxmlformats-officedocument.presentationml.slideLayout+xml"/>
  <Override PartName="/ppt/slides/slide27.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slideLayouts/slideLayout84.xml" ContentType="application/vnd.openxmlformats-officedocument.presentationml.slideLayout+xml"/>
  <Override PartName="/ppt/slideLayouts/slideLayout126.xml" ContentType="application/vnd.openxmlformats-officedocument.presentationml.slideLayout+xml"/>
  <Override PartName="/ppt/slideLayouts/slideLayout173.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Override PartName="/ppt/slideLayouts/slideLayout115.xml" ContentType="application/vnd.openxmlformats-officedocument.presentationml.slideLayout+xml"/>
  <Default Extension="wmf" ContentType="image/x-wmf"/>
  <Override PartName="/ppt/slideLayouts/slideLayout162.xml" ContentType="application/vnd.openxmlformats-officedocument.presentationml.slideLayout+xml"/>
  <Override PartName="/ppt/slides/slide41.xml" ContentType="application/vnd.openxmlformats-officedocument.presentationml.slide+xml"/>
  <Override PartName="/ppt/slideLayouts/slideLayout51.xml" ContentType="application/vnd.openxmlformats-officedocument.presentationml.slideLayout+xml"/>
  <Override PartName="/ppt/slideLayouts/slideLayout104.xml" ContentType="application/vnd.openxmlformats-officedocument.presentationml.slideLayout+xml"/>
  <Override PartName="/ppt/slideLayouts/slideLayout140.xml" ContentType="application/vnd.openxmlformats-officedocument.presentationml.slideLayout+xml"/>
  <Override PartName="/ppt/slideLayouts/slideLayout151.xml" ContentType="application/vnd.openxmlformats-officedocument.presentationml.slideLayout+xml"/>
  <Override PartName="/ppt/slides/slide30.xml" ContentType="application/vnd.openxmlformats-officedocument.presentationml.slide+xml"/>
  <Override PartName="/ppt/slideLayouts/slideLayout40.xml" ContentType="application/vnd.openxmlformats-officedocument.presentationml.slideLayout+xml"/>
  <Override PartName="/ppt/slideMasters/slideMaster13.xml" ContentType="application/vnd.openxmlformats-officedocument.presentationml.slideMaster+xml"/>
  <Override PartName="/ppt/slideMasters/slideMaster6.xml" ContentType="application/vnd.openxmlformats-officedocument.presentationml.slideMaster+xml"/>
  <Override PartName="/ppt/slides/slide79.xml" ContentType="application/vnd.openxmlformats-officedocument.presentationml.slide+xml"/>
  <Override PartName="/ppt/slideLayouts/slideLayout89.xml" ContentType="application/vnd.openxmlformats-officedocument.presentationml.slideLayout+xml"/>
  <Override PartName="/ppt/theme/theme8.xml" ContentType="application/vnd.openxmlformats-officedocument.theme+xml"/>
  <Override PartName="/ppt/theme/theme12.xml" ContentType="application/vnd.openxmlformats-officedocument.them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slideLayouts/slideLayout78.xml" ContentType="application/vnd.openxmlformats-officedocument.presentationml.slideLayout+xml"/>
  <Override PartName="/ppt/slideLayouts/slideLayout149.xml" ContentType="application/vnd.openxmlformats-officedocument.presentationml.slideLayout+xml"/>
  <Override PartName="/ppt/slideLayouts/slideLayout178.xml" ContentType="application/vnd.openxmlformats-officedocument.presentationml.slideLayout+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slideLayouts/slideLayout85.xml" ContentType="application/vnd.openxmlformats-officedocument.presentationml.slideLayout+xml"/>
  <Override PartName="/ppt/slideLayouts/slideLayout96.xml" ContentType="application/vnd.openxmlformats-officedocument.presentationml.slideLayout+xml"/>
  <Override PartName="/ppt/slideLayouts/slideLayout109.xml" ContentType="application/vnd.openxmlformats-officedocument.presentationml.slideLayout+xml"/>
  <Override PartName="/ppt/slideLayouts/slideLayout138.xml" ContentType="application/vnd.openxmlformats-officedocument.presentationml.slideLayout+xml"/>
  <Override PartName="/ppt/slideLayouts/slideLayout156.xml" ContentType="application/vnd.openxmlformats-officedocument.presentationml.slideLayout+xml"/>
  <Override PartName="/ppt/slideLayouts/slideLayout16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slideLayouts/slideLayout74.xml" ContentType="application/vnd.openxmlformats-officedocument.presentationml.slideLayout+xml"/>
  <Override PartName="/ppt/slideLayouts/slideLayout116.xml" ContentType="application/vnd.openxmlformats-officedocument.presentationml.slideLayout+xml"/>
  <Override PartName="/ppt/slideLayouts/slideLayout127.xml" ContentType="application/vnd.openxmlformats-officedocument.presentationml.slideLayout+xml"/>
  <Override PartName="/ppt/slideLayouts/slideLayout145.xml" ContentType="application/vnd.openxmlformats-officedocument.presentationml.slideLayout+xml"/>
  <Override PartName="/ppt/slideLayouts/slideLayout163.xml" ContentType="application/vnd.openxmlformats-officedocument.presentationml.slideLayout+xml"/>
  <Override PartName="/ppt/slideLayouts/slideLayout174.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Layouts/slideLayout16.xml" ContentType="application/vnd.openxmlformats-officedocument.presentationml.slideLayout+xml"/>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slideLayouts/slideLayout81.xml" ContentType="application/vnd.openxmlformats-officedocument.presentationml.slideLayout+xml"/>
  <Override PartName="/ppt/slideLayouts/slideLayout92.xml" ContentType="application/vnd.openxmlformats-officedocument.presentationml.slideLayout+xml"/>
  <Override PartName="/ppt/slideLayouts/slideLayout105.xml" ContentType="application/vnd.openxmlformats-officedocument.presentationml.slideLayout+xml"/>
  <Override PartName="/ppt/slideLayouts/slideLayout134.xml" ContentType="application/vnd.openxmlformats-officedocument.presentationml.slideLayout+xml"/>
  <Override PartName="/ppt/slideLayouts/slideLayout152.xml" ContentType="application/vnd.openxmlformats-officedocument.presentationml.slideLayout+xml"/>
  <Override PartName="/ppt/slideLayouts/slideLayout181.xml" ContentType="application/vnd.openxmlformats-officedocument.presentationml.slideLayout+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70.xml" ContentType="application/vnd.openxmlformats-officedocument.presentationml.slideLayout+xml"/>
  <Override PartName="/ppt/slideLayouts/slideLayout112.xml" ContentType="application/vnd.openxmlformats-officedocument.presentationml.slideLayout+xml"/>
  <Override PartName="/ppt/slideLayouts/slideLayout123.xml" ContentType="application/vnd.openxmlformats-officedocument.presentationml.slideLayout+xml"/>
  <Override PartName="/ppt/slideLayouts/slideLayout141.xml" ContentType="application/vnd.openxmlformats-officedocument.presentationml.slideLayout+xml"/>
  <Override PartName="/ppt/slideLayouts/slideLayout170.xml" ContentType="application/vnd.openxmlformats-officedocument.presentationml.slideLayout+xml"/>
  <Override PartName="/ppt/slideMasters/slideMaster14.xml" ContentType="application/vnd.openxmlformats-officedocument.presentationml.slideMaster+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slideLayouts/slideLayout101.xml" ContentType="application/vnd.openxmlformats-officedocument.presentationml.slideLayout+xml"/>
  <Override PartName="/ppt/slideLayouts/slideLayout130.xml" ContentType="application/vnd.openxmlformats-officedocument.presentationml.slideLayout+xml"/>
  <Override PartName="/ppt/theme/theme17.xml" ContentType="application/vnd.openxmlformats-officedocument.theme+xml"/>
  <Override PartName="/ppt/slideMasters/slideMaster7.xml" ContentType="application/vnd.openxmlformats-officedocument.presentationml.slideMaster+xml"/>
  <Override PartName="/ppt/slideMasters/slideMaster10.xml" ContentType="application/vnd.openxmlformats-officedocument.presentationml.slideMaster+xml"/>
  <Override PartName="/ppt/theme/theme9.xml" ContentType="application/vnd.openxmlformats-officedocument.theme+xml"/>
  <Override PartName="/ppt/theme/theme13.xml" ContentType="application/vnd.openxmlformats-officedocument.theme+xml"/>
  <Override PartName="/ppt/slideLayouts/slideLayout179.xml" ContentType="application/vnd.openxmlformats-officedocument.presentationml.slideLayout+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Layouts/slideLayout97.xml" ContentType="application/vnd.openxmlformats-officedocument.presentationml.slideLayout+xml"/>
  <Override PartName="/ppt/slideLayouts/slideLayout139.xml" ContentType="application/vnd.openxmlformats-officedocument.presentationml.slideLayout+xml"/>
  <Override PartName="/ppt/slideLayouts/slideLayout168.xml" ContentType="application/vnd.openxmlformats-officedocument.presentationml.slideLayout+xml"/>
  <Override PartName="/ppt/slides/slide29.xml" ContentType="application/vnd.openxmlformats-officedocument.presentationml.slide+xml"/>
  <Override PartName="/ppt/slides/slide76.xml" ContentType="application/vnd.openxmlformats-officedocument.presentationml.slide+xml"/>
  <Override PartName="/ppt/slideLayouts/slideLayout39.xml" ContentType="application/vnd.openxmlformats-officedocument.presentationml.slideLayout+xml"/>
  <Override PartName="/ppt/slideLayouts/slideLayout86.xml" ContentType="application/vnd.openxmlformats-officedocument.presentationml.slideLayout+xml"/>
  <Override PartName="/ppt/slideLayouts/slideLayout128.xml" ContentType="application/vnd.openxmlformats-officedocument.presentationml.slideLayout+xml"/>
  <Override PartName="/ppt/slideLayouts/slideLayout175.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slideLayouts/slideLayout117.xml" ContentType="application/vnd.openxmlformats-officedocument.presentationml.slideLayout+xml"/>
  <Override PartName="/ppt/slideLayouts/slideLayout164.xml" ContentType="application/vnd.openxmlformats-officedocument.presentationml.slideLayout+xml"/>
  <Override PartName="/ppt/slides/slide43.xml" ContentType="application/vnd.openxmlformats-officedocument.presentationml.slide+xml"/>
  <Override PartName="/ppt/theme/theme1.xml" ContentType="application/vnd.openxmlformats-officedocument.theme+xml"/>
  <Override PartName="/ppt/slideLayouts/slideLayout53.xml" ContentType="application/vnd.openxmlformats-officedocument.presentationml.slideLayout+xml"/>
  <Override PartName="/ppt/slideLayouts/slideLayout106.xml" ContentType="application/vnd.openxmlformats-officedocument.presentationml.slideLayout+xml"/>
  <Override PartName="/ppt/slideLayouts/slideLayout142.xml" ContentType="application/vnd.openxmlformats-officedocument.presentationml.slideLayout+xml"/>
  <Override PartName="/ppt/slideLayouts/slideLayout153.xml" ContentType="application/vnd.openxmlformats-officedocument.presentationml.slideLayout+xml"/>
  <Override PartName="/ppt/slides/slide32.xml" ContentType="application/vnd.openxmlformats-officedocument.presentationml.slide+xml"/>
  <Override PartName="/ppt/slideLayouts/slideLayout42.xml" ContentType="application/vnd.openxmlformats-officedocument.presentationml.slideLayout+xml"/>
  <Override PartName="/ppt/slideLayouts/slideLayout131.xml" ContentType="application/vnd.openxmlformats-officedocument.presentationml.slideLayout+xml"/>
  <Override PartName="/ppt/slideMasters/slideMaster15.xml" ContentType="application/vnd.openxmlformats-officedocument.presentationml.slideMaster+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20.xml" ContentType="application/vnd.openxmlformats-officedocument.presentationml.slideLayout+xml"/>
  <Override PartName="/ppt/theme/theme14.xml" ContentType="application/vnd.openxmlformats-officedocument.theme+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69.xml" ContentType="application/vnd.openxmlformats-officedocument.presentationml.slideLayout+xml"/>
  <Override PartName="/ppt/theme/theme6.xml" ContentType="application/vnd.openxmlformats-officedocument.theme+xml"/>
  <Override PartName="/ppt/slideLayouts/slideLayout158.xml" ContentType="application/vnd.openxmlformats-officedocument.presentationml.slideLayout+xml"/>
  <Override PartName="/ppt/slideLayouts/slideLayout169.xml" ContentType="application/vnd.openxmlformats-officedocument.presentationml.slideLayout+xml"/>
  <Override PartName="/ppt/slides/slide48.xml" ContentType="application/vnd.openxmlformats-officedocument.presentationml.slide+xml"/>
  <Override PartName="/ppt/slideLayouts/slideLayout58.xml" ContentType="application/vnd.openxmlformats-officedocument.presentationml.slideLayout+xml"/>
  <Override PartName="/ppt/slideLayouts/slideLayout147.xml" ContentType="application/vnd.openxmlformats-officedocument.presentationml.slideLayout+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83.xml" ContentType="application/vnd.openxmlformats-officedocument.presentationml.slideLayout+xml"/>
  <Override PartName="/ppt/slideLayouts/slideLayout94.xml" ContentType="application/vnd.openxmlformats-officedocument.presentationml.slideLayout+xml"/>
  <Override PartName="/ppt/slideLayouts/slideLayout136.xml" ContentType="application/vnd.openxmlformats-officedocument.presentationml.slideLayout+xml"/>
  <Override PartName="/ppt/slideLayouts/slideLayout183.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72.xml" ContentType="application/vnd.openxmlformats-officedocument.presentationml.slideLayout+xml"/>
  <Override PartName="/ppt/slideLayouts/slideLayout114.xml" ContentType="application/vnd.openxmlformats-officedocument.presentationml.slideLayout+xml"/>
  <Override PartName="/ppt/slideLayouts/slideLayout125.xml" ContentType="application/vnd.openxmlformats-officedocument.presentationml.slideLayout+xml"/>
  <Override PartName="/ppt/slideLayouts/slideLayout161.xml" ContentType="application/vnd.openxmlformats-officedocument.presentationml.slideLayout+xml"/>
  <Override PartName="/ppt/slideLayouts/slideLayout172.xml" ContentType="application/vnd.openxmlformats-officedocument.presentationml.slideLayout+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slideLayouts/slideLayout103.xml" ContentType="application/vnd.openxmlformats-officedocument.presentationml.slideLayout+xml"/>
  <Override PartName="/ppt/slideLayouts/slideLayout150.xml" ContentType="application/vnd.openxmlformats-officedocument.presentationml.slideLayout+xml"/>
  <Override PartName="/ppt/slides/slide40.xml" ContentType="application/vnd.openxmlformats-officedocument.presentationml.slide+xml"/>
  <Override PartName="/ppt/slideLayouts/slideLayout50.xml" ContentType="application/vnd.openxmlformats-officedocument.presentationml.slideLayout+xml"/>
  <Override PartName="/ppt/slideMasters/slideMaster9.xml" ContentType="application/vnd.openxmlformats-officedocument.presentationml.slideMaster+xml"/>
  <Override PartName="/ppt/slideMasters/slideMaster12.xml" ContentType="application/vnd.openxmlformats-officedocument.presentationml.slideMaster+xml"/>
  <Default Extension="vml" ContentType="application/vnd.openxmlformats-officedocument.vmlDrawing"/>
  <Override PartName="/ppt/slides/slide89.xml" ContentType="application/vnd.openxmlformats-officedocument.presentationml.slide+xml"/>
  <Override PartName="/ppt/slideLayouts/slideLayout99.xml" ContentType="application/vnd.openxmlformats-officedocument.presentationml.slideLayout+xml"/>
  <Override PartName="/ppt/slides/slide78.xml" ContentType="application/vnd.openxmlformats-officedocument.presentationml.slide+xml"/>
  <Override PartName="/ppt/handoutMasters/handoutMaster1.xml" ContentType="application/vnd.openxmlformats-officedocument.presentationml.handoutMaster+xml"/>
  <Override PartName="/ppt/slideLayouts/slideLayout88.xml" ContentType="application/vnd.openxmlformats-officedocument.presentationml.slideLayout+xml"/>
  <Override PartName="/ppt/theme/theme11.xml" ContentType="application/vnd.openxmlformats-officedocument.theme+xml"/>
  <Override PartName="/ppt/slideLayouts/slideLayout177.xml" ContentType="application/vnd.openxmlformats-officedocument.presentationml.slideLayout+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Layouts/slideLayout119.xml" ContentType="application/vnd.openxmlformats-officedocument.presentationml.slideLayout+xml"/>
  <Override PartName="/ppt/slideLayouts/slideLayout166.xml" ContentType="application/vnd.openxmlformats-officedocument.presentationml.slideLayout+xml"/>
  <Override PartName="/ppt/slideMasters/slideMaster1.xml" ContentType="application/vnd.openxmlformats-officedocument.presentationml.slideMaster+xml"/>
  <Override PartName="/ppt/slides/slide45.xml" ContentType="application/vnd.openxmlformats-officedocument.presentationml.slide+xml"/>
  <Override PartName="/ppt/theme/theme3.xml" ContentType="application/vnd.openxmlformats-officedocument.theme+xml"/>
  <Override PartName="/ppt/slideLayouts/slideLayout55.xml" ContentType="application/vnd.openxmlformats-officedocument.presentationml.slideLayout+xml"/>
  <Override PartName="/ppt/slideLayouts/slideLayout108.xml" ContentType="application/vnd.openxmlformats-officedocument.presentationml.slideLayout+xml"/>
  <Override PartName="/ppt/slideLayouts/slideLayout155.xml" ContentType="application/vnd.openxmlformats-officedocument.presentationml.slideLayout+xml"/>
  <Override PartName="/ppt/slides/slide34.xml" ContentType="application/vnd.openxmlformats-officedocument.presentationml.slide+xml"/>
  <Override PartName="/ppt/slides/slide81.xml" ContentType="application/vnd.openxmlformats-officedocument.presentationml.slide+xml"/>
  <Override PartName="/ppt/slideLayouts/slideLayout44.xml" ContentType="application/vnd.openxmlformats-officedocument.presentationml.slideLayout+xml"/>
  <Override PartName="/ppt/slideLayouts/slideLayout91.xml" ContentType="application/vnd.openxmlformats-officedocument.presentationml.slideLayout+xml"/>
  <Override PartName="/ppt/slideLayouts/slideLayout133.xml" ContentType="application/vnd.openxmlformats-officedocument.presentationml.slideLayout+xml"/>
  <Override PartName="/ppt/slideLayouts/slideLayout144.xml" ContentType="application/vnd.openxmlformats-officedocument.presentationml.slideLayout+xml"/>
  <Override PartName="/ppt/slideLayouts/slideLayout180.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80.xml" ContentType="application/vnd.openxmlformats-officedocument.presentationml.slideLayout+xml"/>
  <Override PartName="/ppt/slideLayouts/slideLayout122.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111.xml" ContentType="application/vnd.openxmlformats-officedocument.presentationml.slideLayout+xml"/>
  <Override PartName="/ppt/theme/theme16.xml" ContentType="application/vnd.openxmlformats-officedocument.theme+xml"/>
  <Override PartName="/ppt/slideLayouts/slideLayout10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4" r:id="rId1"/>
    <p:sldMasterId id="2147483840" r:id="rId2"/>
    <p:sldMasterId id="2147483853" r:id="rId3"/>
    <p:sldMasterId id="2147483866" r:id="rId4"/>
    <p:sldMasterId id="2147483879" r:id="rId5"/>
    <p:sldMasterId id="2147483892" r:id="rId6"/>
    <p:sldMasterId id="2147483905" r:id="rId7"/>
    <p:sldMasterId id="2147483920" r:id="rId8"/>
    <p:sldMasterId id="2147483935" r:id="rId9"/>
    <p:sldMasterId id="2147483946" r:id="rId10"/>
    <p:sldMasterId id="2147483957" r:id="rId11"/>
    <p:sldMasterId id="2147483968" r:id="rId12"/>
    <p:sldMasterId id="2147483979" r:id="rId13"/>
    <p:sldMasterId id="2147483995" r:id="rId14"/>
    <p:sldMasterId id="2147484013" r:id="rId15"/>
  </p:sldMasterIdLst>
  <p:notesMasterIdLst>
    <p:notesMasterId r:id="rId105"/>
  </p:notesMasterIdLst>
  <p:handoutMasterIdLst>
    <p:handoutMasterId r:id="rId106"/>
  </p:handoutMasterIdLst>
  <p:sldIdLst>
    <p:sldId id="734" r:id="rId16"/>
    <p:sldId id="754" r:id="rId17"/>
    <p:sldId id="723" r:id="rId18"/>
    <p:sldId id="618" r:id="rId19"/>
    <p:sldId id="638" r:id="rId20"/>
    <p:sldId id="636" r:id="rId21"/>
    <p:sldId id="671" r:id="rId22"/>
    <p:sldId id="672" r:id="rId23"/>
    <p:sldId id="679" r:id="rId24"/>
    <p:sldId id="637" r:id="rId25"/>
    <p:sldId id="635" r:id="rId26"/>
    <p:sldId id="715" r:id="rId27"/>
    <p:sldId id="632" r:id="rId28"/>
    <p:sldId id="666" r:id="rId29"/>
    <p:sldId id="639" r:id="rId30"/>
    <p:sldId id="640" r:id="rId31"/>
    <p:sldId id="641" r:id="rId32"/>
    <p:sldId id="642" r:id="rId33"/>
    <p:sldId id="681" r:id="rId34"/>
    <p:sldId id="645" r:id="rId35"/>
    <p:sldId id="662" r:id="rId36"/>
    <p:sldId id="663" r:id="rId37"/>
    <p:sldId id="716" r:id="rId38"/>
    <p:sldId id="694" r:id="rId39"/>
    <p:sldId id="746" r:id="rId40"/>
    <p:sldId id="682" r:id="rId41"/>
    <p:sldId id="688" r:id="rId42"/>
    <p:sldId id="683" r:id="rId43"/>
    <p:sldId id="674" r:id="rId44"/>
    <p:sldId id="680" r:id="rId45"/>
    <p:sldId id="673" r:id="rId46"/>
    <p:sldId id="697" r:id="rId47"/>
    <p:sldId id="684" r:id="rId48"/>
    <p:sldId id="661" r:id="rId49"/>
    <p:sldId id="693" r:id="rId50"/>
    <p:sldId id="660" r:id="rId51"/>
    <p:sldId id="686" r:id="rId52"/>
    <p:sldId id="653" r:id="rId53"/>
    <p:sldId id="675" r:id="rId54"/>
    <p:sldId id="687" r:id="rId55"/>
    <p:sldId id="670" r:id="rId56"/>
    <p:sldId id="692" r:id="rId57"/>
    <p:sldId id="689" r:id="rId58"/>
    <p:sldId id="657" r:id="rId59"/>
    <p:sldId id="718" r:id="rId60"/>
    <p:sldId id="717" r:id="rId61"/>
    <p:sldId id="678" r:id="rId62"/>
    <p:sldId id="658" r:id="rId63"/>
    <p:sldId id="695" r:id="rId64"/>
    <p:sldId id="619" r:id="rId65"/>
    <p:sldId id="620" r:id="rId66"/>
    <p:sldId id="621" r:id="rId67"/>
    <p:sldId id="696" r:id="rId68"/>
    <p:sldId id="698" r:id="rId69"/>
    <p:sldId id="699" r:id="rId70"/>
    <p:sldId id="622" r:id="rId71"/>
    <p:sldId id="706" r:id="rId72"/>
    <p:sldId id="714" r:id="rId73"/>
    <p:sldId id="710" r:id="rId74"/>
    <p:sldId id="711" r:id="rId75"/>
    <p:sldId id="750" r:id="rId76"/>
    <p:sldId id="752" r:id="rId77"/>
    <p:sldId id="707" r:id="rId78"/>
    <p:sldId id="623" r:id="rId79"/>
    <p:sldId id="713" r:id="rId80"/>
    <p:sldId id="690" r:id="rId81"/>
    <p:sldId id="759" r:id="rId82"/>
    <p:sldId id="763" r:id="rId83"/>
    <p:sldId id="760" r:id="rId84"/>
    <p:sldId id="761" r:id="rId85"/>
    <p:sldId id="659" r:id="rId86"/>
    <p:sldId id="626" r:id="rId87"/>
    <p:sldId id="627" r:id="rId88"/>
    <p:sldId id="705" r:id="rId89"/>
    <p:sldId id="719" r:id="rId90"/>
    <p:sldId id="720" r:id="rId91"/>
    <p:sldId id="721" r:id="rId92"/>
    <p:sldId id="722" r:id="rId93"/>
    <p:sldId id="724" r:id="rId94"/>
    <p:sldId id="730" r:id="rId95"/>
    <p:sldId id="725" r:id="rId96"/>
    <p:sldId id="744" r:id="rId97"/>
    <p:sldId id="747" r:id="rId98"/>
    <p:sldId id="729" r:id="rId99"/>
    <p:sldId id="726" r:id="rId100"/>
    <p:sldId id="758" r:id="rId101"/>
    <p:sldId id="748" r:id="rId102"/>
    <p:sldId id="745" r:id="rId103"/>
    <p:sldId id="736" r:id="rId10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FF"/>
    <a:srgbClr val="3399FF"/>
    <a:srgbClr val="FF3737"/>
    <a:srgbClr val="33CCFF"/>
    <a:srgbClr val="99CCFF"/>
    <a:srgbClr val="66CCFF"/>
    <a:srgbClr val="009999"/>
    <a:srgbClr val="CC66FF"/>
    <a:srgbClr val="6600FF"/>
    <a:srgbClr val="99FF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35" autoAdjust="0"/>
    <p:restoredTop sz="97112" autoAdjust="0"/>
  </p:normalViewPr>
  <p:slideViewPr>
    <p:cSldViewPr snapToGrid="0">
      <p:cViewPr>
        <p:scale>
          <a:sx n="110" d="100"/>
          <a:sy n="110" d="100"/>
        </p:scale>
        <p:origin x="-582" y="-72"/>
      </p:cViewPr>
      <p:guideLst>
        <p:guide orient="horz" pos="3083"/>
        <p:guide orient="horz" pos="743"/>
        <p:guide orient="horz" pos="893"/>
        <p:guide orient="horz" pos="438"/>
        <p:guide orient="horz" pos="1671"/>
        <p:guide orient="horz" pos="2236"/>
        <p:guide orient="horz" pos="146"/>
        <p:guide orient="horz" pos="2443"/>
        <p:guide pos="1794"/>
        <p:guide pos="2736"/>
        <p:guide pos="202"/>
        <p:guide pos="5322"/>
        <p:guide pos="5625"/>
        <p:guide pos="2878"/>
        <p:guide pos="3555"/>
        <p:guide pos="1965"/>
        <p:guide pos="3723"/>
      </p:guideLst>
    </p:cSldViewPr>
  </p:slideViewPr>
  <p:outlineViewPr>
    <p:cViewPr>
      <p:scale>
        <a:sx n="33" d="100"/>
        <a:sy n="33" d="100"/>
      </p:scale>
      <p:origin x="0" y="19848"/>
    </p:cViewPr>
  </p:outlineViewPr>
  <p:notesTextViewPr>
    <p:cViewPr>
      <p:scale>
        <a:sx n="100" d="100"/>
        <a:sy n="100" d="100"/>
      </p:scale>
      <p:origin x="0" y="0"/>
    </p:cViewPr>
  </p:notesTextViewPr>
  <p:sorterViewPr>
    <p:cViewPr>
      <p:scale>
        <a:sx n="130" d="100"/>
        <a:sy n="130" d="100"/>
      </p:scale>
      <p:origin x="0" y="0"/>
    </p:cViewPr>
  </p:sorterViewPr>
  <p:notesViewPr>
    <p:cSldViewPr snapToGrid="0" snapToObjects="1" showGuides="1">
      <p:cViewPr varScale="1">
        <p:scale>
          <a:sx n="117" d="100"/>
          <a:sy n="117" d="100"/>
        </p:scale>
        <p:origin x="-4024" y="-11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11.xml"/><Relationship Id="rId21" Type="http://schemas.openxmlformats.org/officeDocument/2006/relationships/slide" Target="slides/slide6.xml"/><Relationship Id="rId42" Type="http://schemas.openxmlformats.org/officeDocument/2006/relationships/slide" Target="slides/slide27.xml"/><Relationship Id="rId47" Type="http://schemas.openxmlformats.org/officeDocument/2006/relationships/slide" Target="slides/slide32.xml"/><Relationship Id="rId63" Type="http://schemas.openxmlformats.org/officeDocument/2006/relationships/slide" Target="slides/slide48.xml"/><Relationship Id="rId68" Type="http://schemas.openxmlformats.org/officeDocument/2006/relationships/slide" Target="slides/slide53.xml"/><Relationship Id="rId84" Type="http://schemas.openxmlformats.org/officeDocument/2006/relationships/slide" Target="slides/slide69.xml"/><Relationship Id="rId89" Type="http://schemas.openxmlformats.org/officeDocument/2006/relationships/slide" Target="slides/slide74.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07" Type="http://schemas.openxmlformats.org/officeDocument/2006/relationships/presProps" Target="presProps.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slide" Target="slides/slide30.xml"/><Relationship Id="rId53" Type="http://schemas.openxmlformats.org/officeDocument/2006/relationships/slide" Target="slides/slide38.xml"/><Relationship Id="rId58" Type="http://schemas.openxmlformats.org/officeDocument/2006/relationships/slide" Target="slides/slide43.xml"/><Relationship Id="rId66" Type="http://schemas.openxmlformats.org/officeDocument/2006/relationships/slide" Target="slides/slide51.xml"/><Relationship Id="rId74" Type="http://schemas.openxmlformats.org/officeDocument/2006/relationships/slide" Target="slides/slide59.xml"/><Relationship Id="rId79" Type="http://schemas.openxmlformats.org/officeDocument/2006/relationships/slide" Target="slides/slide64.xml"/><Relationship Id="rId87" Type="http://schemas.openxmlformats.org/officeDocument/2006/relationships/slide" Target="slides/slide72.xml"/><Relationship Id="rId102" Type="http://schemas.openxmlformats.org/officeDocument/2006/relationships/slide" Target="slides/slide87.xml"/><Relationship Id="rId110"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46.xml"/><Relationship Id="rId82" Type="http://schemas.openxmlformats.org/officeDocument/2006/relationships/slide" Target="slides/slide67.xml"/><Relationship Id="rId90" Type="http://schemas.openxmlformats.org/officeDocument/2006/relationships/slide" Target="slides/slide75.xml"/><Relationship Id="rId95" Type="http://schemas.openxmlformats.org/officeDocument/2006/relationships/slide" Target="slides/slide80.xml"/><Relationship Id="rId19" Type="http://schemas.openxmlformats.org/officeDocument/2006/relationships/slide" Target="slides/slide4.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slide" Target="slides/slide28.xml"/><Relationship Id="rId48" Type="http://schemas.openxmlformats.org/officeDocument/2006/relationships/slide" Target="slides/slide33.xml"/><Relationship Id="rId56" Type="http://schemas.openxmlformats.org/officeDocument/2006/relationships/slide" Target="slides/slide41.xml"/><Relationship Id="rId64" Type="http://schemas.openxmlformats.org/officeDocument/2006/relationships/slide" Target="slides/slide49.xml"/><Relationship Id="rId69" Type="http://schemas.openxmlformats.org/officeDocument/2006/relationships/slide" Target="slides/slide54.xml"/><Relationship Id="rId77" Type="http://schemas.openxmlformats.org/officeDocument/2006/relationships/slide" Target="slides/slide62.xml"/><Relationship Id="rId100" Type="http://schemas.openxmlformats.org/officeDocument/2006/relationships/slide" Target="slides/slide85.xml"/><Relationship Id="rId105" Type="http://schemas.openxmlformats.org/officeDocument/2006/relationships/notesMaster" Target="notesMasters/notesMaster1.xml"/><Relationship Id="rId8" Type="http://schemas.openxmlformats.org/officeDocument/2006/relationships/slideMaster" Target="slideMasters/slideMaster8.xml"/><Relationship Id="rId51" Type="http://schemas.openxmlformats.org/officeDocument/2006/relationships/slide" Target="slides/slide36.xml"/><Relationship Id="rId72" Type="http://schemas.openxmlformats.org/officeDocument/2006/relationships/slide" Target="slides/slide57.xml"/><Relationship Id="rId80" Type="http://schemas.openxmlformats.org/officeDocument/2006/relationships/slide" Target="slides/slide65.xml"/><Relationship Id="rId85" Type="http://schemas.openxmlformats.org/officeDocument/2006/relationships/slide" Target="slides/slide70.xml"/><Relationship Id="rId93" Type="http://schemas.openxmlformats.org/officeDocument/2006/relationships/slide" Target="slides/slide78.xml"/><Relationship Id="rId98" Type="http://schemas.openxmlformats.org/officeDocument/2006/relationships/slide" Target="slides/slide83.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slide" Target="slides/slide31.xml"/><Relationship Id="rId59" Type="http://schemas.openxmlformats.org/officeDocument/2006/relationships/slide" Target="slides/slide44.xml"/><Relationship Id="rId67" Type="http://schemas.openxmlformats.org/officeDocument/2006/relationships/slide" Target="slides/slide52.xml"/><Relationship Id="rId103" Type="http://schemas.openxmlformats.org/officeDocument/2006/relationships/slide" Target="slides/slide88.xml"/><Relationship Id="rId108" Type="http://schemas.openxmlformats.org/officeDocument/2006/relationships/viewProps" Target="viewProps.xml"/><Relationship Id="rId20" Type="http://schemas.openxmlformats.org/officeDocument/2006/relationships/slide" Target="slides/slide5.xml"/><Relationship Id="rId41" Type="http://schemas.openxmlformats.org/officeDocument/2006/relationships/slide" Target="slides/slide26.xml"/><Relationship Id="rId54" Type="http://schemas.openxmlformats.org/officeDocument/2006/relationships/slide" Target="slides/slide39.xml"/><Relationship Id="rId62" Type="http://schemas.openxmlformats.org/officeDocument/2006/relationships/slide" Target="slides/slide47.xml"/><Relationship Id="rId70" Type="http://schemas.openxmlformats.org/officeDocument/2006/relationships/slide" Target="slides/slide55.xml"/><Relationship Id="rId75" Type="http://schemas.openxmlformats.org/officeDocument/2006/relationships/slide" Target="slides/slide60.xml"/><Relationship Id="rId83" Type="http://schemas.openxmlformats.org/officeDocument/2006/relationships/slide" Target="slides/slide68.xml"/><Relationship Id="rId88" Type="http://schemas.openxmlformats.org/officeDocument/2006/relationships/slide" Target="slides/slide73.xml"/><Relationship Id="rId91" Type="http://schemas.openxmlformats.org/officeDocument/2006/relationships/slide" Target="slides/slide76.xml"/><Relationship Id="rId96" Type="http://schemas.openxmlformats.org/officeDocument/2006/relationships/slide" Target="slides/slide8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slide" Target="slides/slide34.xml"/><Relationship Id="rId57" Type="http://schemas.openxmlformats.org/officeDocument/2006/relationships/slide" Target="slides/slide42.xml"/><Relationship Id="rId106" Type="http://schemas.openxmlformats.org/officeDocument/2006/relationships/handoutMaster" Target="handoutMasters/handoutMaster1.xml"/><Relationship Id="rId10" Type="http://schemas.openxmlformats.org/officeDocument/2006/relationships/slideMaster" Target="slideMasters/slideMaster10.xml"/><Relationship Id="rId31" Type="http://schemas.openxmlformats.org/officeDocument/2006/relationships/slide" Target="slides/slide16.xml"/><Relationship Id="rId44" Type="http://schemas.openxmlformats.org/officeDocument/2006/relationships/slide" Target="slides/slide29.xml"/><Relationship Id="rId52" Type="http://schemas.openxmlformats.org/officeDocument/2006/relationships/slide" Target="slides/slide37.xml"/><Relationship Id="rId60" Type="http://schemas.openxmlformats.org/officeDocument/2006/relationships/slide" Target="slides/slide45.xml"/><Relationship Id="rId65" Type="http://schemas.openxmlformats.org/officeDocument/2006/relationships/slide" Target="slides/slide50.xml"/><Relationship Id="rId73" Type="http://schemas.openxmlformats.org/officeDocument/2006/relationships/slide" Target="slides/slide58.xml"/><Relationship Id="rId78" Type="http://schemas.openxmlformats.org/officeDocument/2006/relationships/slide" Target="slides/slide63.xml"/><Relationship Id="rId81" Type="http://schemas.openxmlformats.org/officeDocument/2006/relationships/slide" Target="slides/slide66.xml"/><Relationship Id="rId86" Type="http://schemas.openxmlformats.org/officeDocument/2006/relationships/slide" Target="slides/slide71.xml"/><Relationship Id="rId94" Type="http://schemas.openxmlformats.org/officeDocument/2006/relationships/slide" Target="slides/slide79.xml"/><Relationship Id="rId99" Type="http://schemas.openxmlformats.org/officeDocument/2006/relationships/slide" Target="slides/slide84.xml"/><Relationship Id="rId101" Type="http://schemas.openxmlformats.org/officeDocument/2006/relationships/slide" Target="slides/slide86.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 Target="slides/slide3.xml"/><Relationship Id="rId39" Type="http://schemas.openxmlformats.org/officeDocument/2006/relationships/slide" Target="slides/slide24.xml"/><Relationship Id="rId109" Type="http://schemas.openxmlformats.org/officeDocument/2006/relationships/theme" Target="theme/theme1.xml"/><Relationship Id="rId34" Type="http://schemas.openxmlformats.org/officeDocument/2006/relationships/slide" Target="slides/slide19.xml"/><Relationship Id="rId50" Type="http://schemas.openxmlformats.org/officeDocument/2006/relationships/slide" Target="slides/slide35.xml"/><Relationship Id="rId55" Type="http://schemas.openxmlformats.org/officeDocument/2006/relationships/slide" Target="slides/slide40.xml"/><Relationship Id="rId76" Type="http://schemas.openxmlformats.org/officeDocument/2006/relationships/slide" Target="slides/slide61.xml"/><Relationship Id="rId97" Type="http://schemas.openxmlformats.org/officeDocument/2006/relationships/slide" Target="slides/slide82.xml"/><Relationship Id="rId104" Type="http://schemas.openxmlformats.org/officeDocument/2006/relationships/slide" Target="slides/slide89.xml"/><Relationship Id="rId7" Type="http://schemas.openxmlformats.org/officeDocument/2006/relationships/slideMaster" Target="slideMasters/slideMaster7.xml"/><Relationship Id="rId71" Type="http://schemas.openxmlformats.org/officeDocument/2006/relationships/slide" Target="slides/slide56.xml"/><Relationship Id="rId92" Type="http://schemas.openxmlformats.org/officeDocument/2006/relationships/slide" Target="slides/slide7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latin typeface="HP Simplified"/>
              <a:cs typeface="HP Simplified"/>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A678B55-319B-2D4F-AE49-6C1B6E1A4DDA}" type="datetimeFigureOut">
              <a:rPr lang="en-US" smtClean="0">
                <a:latin typeface="HP Simplified"/>
                <a:cs typeface="HP Simplified"/>
              </a:rPr>
              <a:pPr/>
              <a:t>11/16/2012</a:t>
            </a:fld>
            <a:endParaRPr lang="en-GB" dirty="0">
              <a:latin typeface="HP Simplified"/>
              <a:cs typeface="HP Simplifie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latin typeface="HP Simplified"/>
              <a:cs typeface="HP Simplified"/>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1B27340-60F0-7D46-BC5B-91B08A318A82}" type="slidenum">
              <a:rPr lang="en-GB" smtClean="0">
                <a:latin typeface="HP Simplified"/>
                <a:cs typeface="HP Simplified"/>
              </a:rPr>
              <a:pPr/>
              <a:t>‹#›</a:t>
            </a:fld>
            <a:endParaRPr lang="en-GB" dirty="0">
              <a:latin typeface="HP Simplified"/>
              <a:cs typeface="HP Simplified"/>
            </a:endParaRPr>
          </a:p>
        </p:txBody>
      </p:sp>
    </p:spTree>
    <p:extLst>
      <p:ext uri="{BB962C8B-B14F-4D97-AF65-F5344CB8AC3E}">
        <p14:creationId xmlns:p14="http://schemas.microsoft.com/office/powerpoint/2010/main" xmlns="" val="4932174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HP Simplified"/>
                <a:cs typeface="HP Simplified"/>
              </a:defRPr>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HP Simplified"/>
                <a:cs typeface="HP Simplified"/>
              </a:defRPr>
            </a:lvl1pPr>
          </a:lstStyle>
          <a:p>
            <a:fld id="{2D9CAF8C-0805-8440-B43D-DCCAAA4D80CE}" type="datetimeFigureOut">
              <a:rPr lang="en-US" smtClean="0"/>
              <a:pPr/>
              <a:t>11/16/2012</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GB"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HP Simplified"/>
                <a:cs typeface="HP Simplified"/>
              </a:defRPr>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HP Simplified"/>
                <a:cs typeface="HP Simplified"/>
              </a:defRPr>
            </a:lvl1pPr>
          </a:lstStyle>
          <a:p>
            <a:fld id="{22A853E8-D85F-5D49-95D2-E1D96ABFE2B9}" type="slidenum">
              <a:rPr lang="en-GB" smtClean="0"/>
              <a:pPr/>
              <a:t>‹#›</a:t>
            </a:fld>
            <a:endParaRPr lang="en-GB" dirty="0"/>
          </a:p>
        </p:txBody>
      </p:sp>
    </p:spTree>
    <p:extLst>
      <p:ext uri="{BB962C8B-B14F-4D97-AF65-F5344CB8AC3E}">
        <p14:creationId xmlns:p14="http://schemas.microsoft.com/office/powerpoint/2010/main" xmlns="" val="268807980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HP Simplified"/>
        <a:ea typeface="+mn-ea"/>
        <a:cs typeface="HP Simplified"/>
      </a:defRPr>
    </a:lvl1pPr>
    <a:lvl2pPr marL="457200" algn="l" defTabSz="457200" rtl="0" eaLnBrk="1" latinLnBrk="0" hangingPunct="1">
      <a:defRPr sz="1200" kern="1200">
        <a:solidFill>
          <a:schemeClr val="tx1"/>
        </a:solidFill>
        <a:latin typeface="HP Simplified"/>
        <a:ea typeface="+mn-ea"/>
        <a:cs typeface="HP Simplified"/>
      </a:defRPr>
    </a:lvl2pPr>
    <a:lvl3pPr marL="914400" algn="l" defTabSz="457200" rtl="0" eaLnBrk="1" latinLnBrk="0" hangingPunct="1">
      <a:defRPr sz="1200" kern="1200">
        <a:solidFill>
          <a:schemeClr val="tx1"/>
        </a:solidFill>
        <a:latin typeface="HP Simplified"/>
        <a:ea typeface="+mn-ea"/>
        <a:cs typeface="HP Simplified"/>
      </a:defRPr>
    </a:lvl3pPr>
    <a:lvl4pPr marL="1371600" algn="l" defTabSz="457200" rtl="0" eaLnBrk="1" latinLnBrk="0" hangingPunct="1">
      <a:defRPr sz="1200" kern="1200">
        <a:solidFill>
          <a:schemeClr val="tx1"/>
        </a:solidFill>
        <a:latin typeface="HP Simplified"/>
        <a:ea typeface="+mn-ea"/>
        <a:cs typeface="HP Simplified"/>
      </a:defRPr>
    </a:lvl4pPr>
    <a:lvl5pPr marL="1828800" algn="l" defTabSz="457200" rtl="0" eaLnBrk="1" latinLnBrk="0" hangingPunct="1">
      <a:defRPr sz="1200" kern="1200">
        <a:solidFill>
          <a:schemeClr val="tx1"/>
        </a:solidFill>
        <a:latin typeface="HP Simplified"/>
        <a:ea typeface="+mn-ea"/>
        <a:cs typeface="HP Simplified"/>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png"/><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png"/><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png"/><Relationship Id="rId1" Type="http://schemas.openxmlformats.org/officeDocument/2006/relationships/slideMaster" Target="../slideMasters/slideMaster15.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White title slide">
    <p:bg>
      <p:bgPr>
        <a:gradFill flip="none" rotWithShape="1">
          <a:gsLst>
            <a:gs pos="16000">
              <a:srgbClr val="33CCFF"/>
            </a:gs>
            <a:gs pos="42000">
              <a:srgbClr val="0A128C"/>
            </a:gs>
            <a:gs pos="44000">
              <a:srgbClr val="181CC7">
                <a:alpha val="70000"/>
              </a:srgbClr>
            </a:gs>
            <a:gs pos="52000">
              <a:schemeClr val="tx1"/>
            </a:gs>
          </a:gsLst>
          <a:path path="circle">
            <a:fillToRect t="100000" r="100000"/>
          </a:path>
          <a:tileRect l="-100000" b="-100000"/>
        </a:gradFill>
        <a:effectLst/>
      </p:bgPr>
    </p:bg>
    <p:spTree>
      <p:nvGrpSpPr>
        <p:cNvPr id="1" name=""/>
        <p:cNvGrpSpPr/>
        <p:nvPr/>
      </p:nvGrpSpPr>
      <p:grpSpPr>
        <a:xfrm>
          <a:off x="0" y="0"/>
          <a:ext cx="0" cy="0"/>
          <a:chOff x="0" y="0"/>
          <a:chExt cx="0" cy="0"/>
        </a:xfrm>
      </p:grpSpPr>
      <p:pic>
        <p:nvPicPr>
          <p:cNvPr id="2051" name="Picture 3"/>
          <p:cNvPicPr>
            <a:picLocks noChangeAspect="1" noChangeArrowheads="1"/>
          </p:cNvPicPr>
          <p:nvPr userDrawn="1"/>
        </p:nvPicPr>
        <p:blipFill rotWithShape="1">
          <a:blip r:embed="rId2">
            <a:extLst>
              <a:ext uri="{28A0092B-C50C-407E-A947-70E740481C1C}">
                <a14:useLocalDpi xmlns:a14="http://schemas.microsoft.com/office/drawing/2010/main" xmlns="" val="0"/>
              </a:ext>
            </a:extLst>
          </a:blip>
          <a:srcRect l="-1" r="159" b="696"/>
          <a:stretch/>
        </p:blipFill>
        <p:spPr bwMode="auto">
          <a:xfrm>
            <a:off x="5976351" y="482600"/>
            <a:ext cx="3035808" cy="15727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 name="Title 1"/>
          <p:cNvSpPr>
            <a:spLocks noGrp="1"/>
          </p:cNvSpPr>
          <p:nvPr>
            <p:ph type="ctrTitle" hasCustomPrompt="1"/>
          </p:nvPr>
        </p:nvSpPr>
        <p:spPr bwMode="black">
          <a:xfrm>
            <a:off x="329183" y="2015068"/>
            <a:ext cx="6875949" cy="1228237"/>
          </a:xfrm>
        </p:spPr>
        <p:txBody>
          <a:bodyPr anchor="ctr"/>
          <a:lstStyle>
            <a:lvl1pPr>
              <a:lnSpc>
                <a:spcPct val="90000"/>
              </a:lnSpc>
              <a:defRPr sz="4600" spc="-100">
                <a:ln>
                  <a:solidFill>
                    <a:schemeClr val="bg1">
                      <a:lumMod val="75000"/>
                    </a:schemeClr>
                  </a:solidFill>
                </a:ln>
                <a:solidFill>
                  <a:srgbClr val="000000"/>
                </a:solidFill>
                <a:effectLst>
                  <a:glow rad="228600">
                    <a:schemeClr val="accent5">
                      <a:satMod val="175000"/>
                      <a:alpha val="40000"/>
                    </a:schemeClr>
                  </a:glow>
                </a:effectLst>
              </a:defRPr>
            </a:lvl1pPr>
          </a:lstStyle>
          <a:p>
            <a:r>
              <a:rPr lang="en-US" dirty="0" smtClean="0"/>
              <a:t>Title</a:t>
            </a:r>
            <a:endParaRPr lang="en-US" dirty="0"/>
          </a:p>
        </p:txBody>
      </p:sp>
      <p:sp>
        <p:nvSpPr>
          <p:cNvPr id="9" name="Subtitle 2"/>
          <p:cNvSpPr>
            <a:spLocks noGrp="1"/>
          </p:cNvSpPr>
          <p:nvPr>
            <p:ph type="subTitle" idx="1" hasCustomPrompt="1"/>
          </p:nvPr>
        </p:nvSpPr>
        <p:spPr bwMode="black">
          <a:xfrm>
            <a:off x="329184" y="3316628"/>
            <a:ext cx="6858000" cy="914400"/>
          </a:xfrm>
        </p:spPr>
        <p:txBody>
          <a:bodyPr/>
          <a:lstStyle>
            <a:lvl1pPr marL="0" indent="0" algn="l">
              <a:buNone/>
              <a:defRPr b="0">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extBox 5"/>
          <p:cNvSpPr txBox="1"/>
          <p:nvPr userDrawn="1"/>
        </p:nvSpPr>
        <p:spPr>
          <a:xfrm>
            <a:off x="329300" y="4758803"/>
            <a:ext cx="8012545" cy="228600"/>
          </a:xfrm>
          <a:prstGeom prst="rect">
            <a:avLst/>
          </a:prstGeom>
          <a:noFill/>
        </p:spPr>
        <p:txBody>
          <a:bodyPr wrap="square" lIns="0" rtlCol="0">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chemeClr val="tx1">
                    <a:lumMod val="95000"/>
                    <a:lumOff val="5000"/>
                  </a:schemeClr>
                </a:solidFill>
                <a:latin typeface="HP Simplified"/>
                <a:cs typeface="HP Simplified"/>
              </a:rPr>
              <a:t>© Copyright 2012 Hewlett-Packard Development Company, L.P. </a:t>
            </a:r>
            <a:r>
              <a:rPr lang="en-US" sz="700" b="0" i="0" baseline="0" dirty="0" smtClean="0">
                <a:solidFill>
                  <a:schemeClr val="tx1">
                    <a:lumMod val="95000"/>
                    <a:lumOff val="5000"/>
                  </a:schemeClr>
                </a:solidFill>
                <a:latin typeface="HP Simplified"/>
                <a:cs typeface="HP Simplified"/>
              </a:rPr>
              <a:t> </a:t>
            </a:r>
            <a:r>
              <a:rPr lang="en-US" sz="700" b="0" i="0" dirty="0" smtClean="0">
                <a:solidFill>
                  <a:schemeClr val="tx1">
                    <a:lumMod val="95000"/>
                    <a:lumOff val="5000"/>
                  </a:schemeClr>
                </a:solidFill>
                <a:latin typeface="HP Simplified"/>
                <a:cs typeface="HP Simplified"/>
              </a:rPr>
              <a:t>The information contained herein is subject to change without notice.</a:t>
            </a:r>
          </a:p>
        </p:txBody>
      </p:sp>
      <p:pic>
        <p:nvPicPr>
          <p:cNvPr id="26" name="Picture 25" descr="HP_White_RGB_150_SM.png"/>
          <p:cNvPicPr>
            <a:picLocks noChangeAspect="1"/>
          </p:cNvPicPr>
          <p:nvPr userDrawn="1"/>
        </p:nvPicPr>
        <p:blipFill>
          <a:blip r:embed="rId3" cstate="print">
            <a:extLst>
              <a:ext uri="{28A0092B-C50C-407E-A947-70E740481C1C}">
                <a14:useLocalDpi xmlns:a14="http://schemas.microsoft.com/office/drawing/2010/main" xmlns=""/>
              </a:ext>
            </a:extLst>
          </a:blip>
          <a:stretch>
            <a:fillRect/>
          </a:stretch>
        </p:blipFill>
        <p:spPr>
          <a:xfrm>
            <a:off x="8341847" y="4372056"/>
            <a:ext cx="529105" cy="529105"/>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title slide ">
    <p:bg>
      <p:bgPr>
        <a:solidFill>
          <a:schemeClr val="accent1"/>
        </a:solidFill>
        <a:effectLst/>
      </p:bgPr>
    </p:bg>
    <p:spTree>
      <p:nvGrpSpPr>
        <p:cNvPr id="1" name=""/>
        <p:cNvGrpSpPr/>
        <p:nvPr/>
      </p:nvGrpSpPr>
      <p:grpSpPr>
        <a:xfrm>
          <a:off x="0" y="0"/>
          <a:ext cx="0" cy="0"/>
          <a:chOff x="0" y="0"/>
          <a:chExt cx="0" cy="0"/>
        </a:xfrm>
      </p:grpSpPr>
      <p:sp>
        <p:nvSpPr>
          <p:cNvPr id="10" name="Title 1"/>
          <p:cNvSpPr>
            <a:spLocks noGrp="1"/>
          </p:cNvSpPr>
          <p:nvPr>
            <p:ph type="ctrTitle" hasCustomPrompt="1"/>
          </p:nvPr>
        </p:nvSpPr>
        <p:spPr bwMode="black">
          <a:xfrm>
            <a:off x="329184" y="2036820"/>
            <a:ext cx="6858000" cy="1206484"/>
          </a:xfrm>
        </p:spPr>
        <p:txBody>
          <a:bodyPr anchor="b"/>
          <a:lstStyle>
            <a:lvl1pPr>
              <a:lnSpc>
                <a:spcPct val="90000"/>
              </a:lnSpc>
              <a:defRPr sz="4600" spc="-100">
                <a:solidFill>
                  <a:schemeClr val="bg1"/>
                </a:solidFill>
              </a:defRPr>
            </a:lvl1pPr>
          </a:lstStyle>
          <a:p>
            <a:r>
              <a:rPr lang="en-US" dirty="0" smtClean="0"/>
              <a:t>Click to edit master </a:t>
            </a:r>
            <a:br>
              <a:rPr lang="en-US" dirty="0" smtClean="0"/>
            </a:br>
            <a:r>
              <a:rPr lang="en-US" dirty="0" smtClean="0"/>
              <a:t>title style</a:t>
            </a:r>
            <a:endParaRPr lang="en-US" dirty="0"/>
          </a:p>
        </p:txBody>
      </p:sp>
      <p:sp>
        <p:nvSpPr>
          <p:cNvPr id="11" name="Subtitle 2"/>
          <p:cNvSpPr>
            <a:spLocks noGrp="1"/>
          </p:cNvSpPr>
          <p:nvPr>
            <p:ph type="subTitle" idx="1" hasCustomPrompt="1"/>
          </p:nvPr>
        </p:nvSpPr>
        <p:spPr bwMode="black">
          <a:xfrm>
            <a:off x="329184" y="3316628"/>
            <a:ext cx="6858000" cy="914400"/>
          </a:xfrm>
        </p:spPr>
        <p:txBody>
          <a:bodyPr/>
          <a:lstStyle>
            <a:lvl1pPr marL="0" indent="0" algn="l">
              <a:buNone/>
              <a:defRPr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White_RGB_150_LG.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6949440" y="365760"/>
            <a:ext cx="1883664" cy="1883664"/>
          </a:xfrm>
          <a:prstGeom prst="rect">
            <a:avLst/>
          </a:prstGeom>
        </p:spPr>
      </p:pic>
      <p:sp>
        <p:nvSpPr>
          <p:cNvPr id="6" name="TextBox 5"/>
          <p:cNvSpPr txBox="1"/>
          <p:nvPr userDrawn="1"/>
        </p:nvSpPr>
        <p:spPr>
          <a:xfrm>
            <a:off x="329300" y="4758803"/>
            <a:ext cx="8012545" cy="228600"/>
          </a:xfrm>
          <a:prstGeom prst="rect">
            <a:avLst/>
          </a:prstGeom>
          <a:noFill/>
        </p:spPr>
        <p:txBody>
          <a:bodyPr wrap="square" lIns="0" rtlCol="0">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chemeClr val="bg1"/>
                </a:solidFill>
                <a:latin typeface="HP Simplified"/>
                <a:cs typeface="HP Simplified"/>
              </a:rPr>
              <a:t>© Copyright 2012 Hewlett-Packard Development Company, L.P. </a:t>
            </a:r>
            <a:r>
              <a:rPr lang="en-US" sz="700" b="0" i="0" baseline="0" dirty="0" smtClean="0">
                <a:solidFill>
                  <a:schemeClr val="bg1"/>
                </a:solidFill>
                <a:latin typeface="HP Simplified"/>
                <a:cs typeface="HP Simplified"/>
              </a:rPr>
              <a:t> </a:t>
            </a:r>
            <a:r>
              <a:rPr lang="en-US" sz="700" b="0" i="0" dirty="0" smtClean="0">
                <a:solidFill>
                  <a:schemeClr val="bg1"/>
                </a:solidFill>
                <a:latin typeface="HP Simplified"/>
                <a:cs typeface="HP Simplified"/>
              </a:rPr>
              <a:t>The information contained herein is subject to change without notice.</a:t>
            </a:r>
          </a:p>
        </p:txBody>
      </p:sp>
    </p:spTree>
    <p:extLst>
      <p:ext uri="{BB962C8B-B14F-4D97-AF65-F5344CB8AC3E}">
        <p14:creationId xmlns:p14="http://schemas.microsoft.com/office/powerpoint/2010/main" xmlns="" val="227675573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divider slide">
    <p:spTree>
      <p:nvGrpSpPr>
        <p:cNvPr id="1" name=""/>
        <p:cNvGrpSpPr/>
        <p:nvPr/>
      </p:nvGrpSpPr>
      <p:grpSpPr>
        <a:xfrm>
          <a:off x="0" y="0"/>
          <a:ext cx="0" cy="0"/>
          <a:chOff x="0" y="0"/>
          <a:chExt cx="0" cy="0"/>
        </a:xfrm>
      </p:grpSpPr>
      <p:pic>
        <p:nvPicPr>
          <p:cNvPr id="5" name="Picture 4" descr="HP_Blue_RGB_150_SM.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8503920" y="4535424"/>
            <a:ext cx="365760" cy="365760"/>
          </a:xfrm>
          <a:prstGeom prst="rect">
            <a:avLst/>
          </a:prstGeom>
        </p:spPr>
      </p:pic>
      <p:sp>
        <p:nvSpPr>
          <p:cNvPr id="16" name="Title 1"/>
          <p:cNvSpPr>
            <a:spLocks noGrp="1"/>
          </p:cNvSpPr>
          <p:nvPr>
            <p:ph type="ctrTitle" hasCustomPrompt="1"/>
          </p:nvPr>
        </p:nvSpPr>
        <p:spPr bwMode="black">
          <a:xfrm>
            <a:off x="329184" y="237746"/>
            <a:ext cx="7222352" cy="2006703"/>
          </a:xfrm>
          <a:prstGeom prst="rect">
            <a:avLst/>
          </a:prstGeom>
        </p:spPr>
        <p:txBody>
          <a:bodyPr wrap="square" lIns="0" tIns="0" rIns="0" bIns="0" anchor="t" anchorCtr="0">
            <a:noAutofit/>
          </a:bodyPr>
          <a:lstStyle>
            <a:lvl1pPr algn="l">
              <a:lnSpc>
                <a:spcPct val="90000"/>
              </a:lnSpc>
              <a:defRPr sz="4000" b="1" i="0" spc="-100">
                <a:solidFill>
                  <a:schemeClr val="tx1"/>
                </a:solidFill>
                <a:latin typeface="HP Simplified" pitchFamily="34" charset="0"/>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sp>
        <p:nvSpPr>
          <p:cNvPr id="6" name="TextBox 5"/>
          <p:cNvSpPr txBox="1"/>
          <p:nvPr userDrawn="1"/>
        </p:nvSpPr>
        <p:spPr>
          <a:xfrm>
            <a:off x="329300" y="4758803"/>
            <a:ext cx="8012545" cy="228600"/>
          </a:xfrm>
          <a:prstGeom prst="rect">
            <a:avLst/>
          </a:prstGeom>
          <a:noFill/>
        </p:spPr>
        <p:txBody>
          <a:bodyPr wrap="square" lIns="0" rtlCol="0">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chemeClr val="accent5"/>
                </a:solidFill>
                <a:latin typeface="HP Simplified"/>
                <a:cs typeface="HP Simplified"/>
              </a:rPr>
              <a:t>© Copyright 2012 Hewlett-Packard Development Company, L.P. </a:t>
            </a:r>
            <a:r>
              <a:rPr lang="en-US" sz="700" b="0" i="0" baseline="0" dirty="0" smtClean="0">
                <a:solidFill>
                  <a:schemeClr val="accent5"/>
                </a:solidFill>
                <a:latin typeface="HP Simplified"/>
                <a:cs typeface="HP Simplified"/>
              </a:rPr>
              <a:t> </a:t>
            </a:r>
            <a:r>
              <a:rPr lang="en-US" sz="700" b="0" i="0" dirty="0" smtClean="0">
                <a:solidFill>
                  <a:schemeClr val="accent5"/>
                </a:solidFill>
                <a:latin typeface="HP Simplified"/>
                <a:cs typeface="HP Simplified"/>
              </a:rPr>
              <a:t>The information contained herein is subject to change without notice.</a:t>
            </a:r>
          </a:p>
        </p:txBody>
      </p:sp>
    </p:spTree>
    <p:extLst>
      <p:ext uri="{BB962C8B-B14F-4D97-AF65-F5344CB8AC3E}">
        <p14:creationId xmlns:p14="http://schemas.microsoft.com/office/powerpoint/2010/main" xmlns="" val="357479056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lue quote slide with subtitl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329184" y="240920"/>
            <a:ext cx="7222352" cy="2006703"/>
          </a:xfrm>
          <a:prstGeom prst="rect">
            <a:avLst/>
          </a:prstGeom>
        </p:spPr>
        <p:txBody>
          <a:bodyPr wrap="square" lIns="0" tIns="0" rIns="0" bIns="0" anchor="t" anchorCtr="0">
            <a:noAutofit/>
          </a:bodyPr>
          <a:lstStyle>
            <a:lvl1pPr algn="l" defTabSz="457200" rtl="0" eaLnBrk="1" latinLnBrk="0" hangingPunct="1">
              <a:lnSpc>
                <a:spcPct val="90000"/>
              </a:lnSpc>
              <a:spcBef>
                <a:spcPct val="0"/>
              </a:spcBef>
              <a:spcAft>
                <a:spcPts val="0"/>
              </a:spcAft>
              <a:buNone/>
              <a:defRPr lang="en-US" sz="4000" b="1" i="0" kern="1200" spc="-100" noProof="0" dirty="0">
                <a:solidFill>
                  <a:schemeClr val="bg1"/>
                </a:solidFill>
                <a:latin typeface="HP Simplified" pitchFamily="34" charset="0"/>
                <a:ea typeface="+mj-ea"/>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print">
            <a:extLst>
              <a:ext uri="{28A0092B-C50C-407E-A947-70E740481C1C}">
                <a14:useLocalDpi xmlns:a14="http://schemas.microsoft.com/office/drawing/2010/main" xmlns=""/>
              </a:ext>
            </a:extLst>
          </a:blip>
          <a:stretch>
            <a:fillRect/>
          </a:stretch>
        </p:blipFill>
        <p:spPr>
          <a:xfrm>
            <a:off x="8505214" y="4535424"/>
            <a:ext cx="365736" cy="365736"/>
          </a:xfrm>
          <a:prstGeom prst="rect">
            <a:avLst/>
          </a:prstGeom>
        </p:spPr>
      </p:pic>
      <p:sp>
        <p:nvSpPr>
          <p:cNvPr id="6" name="TextBox 5"/>
          <p:cNvSpPr txBox="1"/>
          <p:nvPr userDrawn="1"/>
        </p:nvSpPr>
        <p:spPr>
          <a:xfrm>
            <a:off x="329300" y="4758803"/>
            <a:ext cx="8012545" cy="228600"/>
          </a:xfrm>
          <a:prstGeom prst="rect">
            <a:avLst/>
          </a:prstGeom>
          <a:noFill/>
        </p:spPr>
        <p:txBody>
          <a:bodyPr wrap="square" lIns="0" rtlCol="0">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chemeClr val="bg1"/>
                </a:solidFill>
                <a:latin typeface="HP Simplified"/>
                <a:cs typeface="HP Simplified"/>
              </a:rPr>
              <a:t>© Copyright 2012 Hewlett-Packard Development Company, L.P. </a:t>
            </a:r>
            <a:r>
              <a:rPr lang="en-US" sz="700" b="0" i="0" baseline="0" dirty="0" smtClean="0">
                <a:solidFill>
                  <a:schemeClr val="bg1"/>
                </a:solidFill>
                <a:latin typeface="HP Simplified"/>
                <a:cs typeface="HP Simplified"/>
              </a:rPr>
              <a:t> </a:t>
            </a:r>
            <a:r>
              <a:rPr lang="en-US" sz="700" b="0" i="0" dirty="0" smtClean="0">
                <a:solidFill>
                  <a:schemeClr val="bg1"/>
                </a:solidFill>
                <a:latin typeface="HP Simplified"/>
                <a:cs typeface="HP Simplified"/>
              </a:rPr>
              <a:t>The information contained herein is subject to change without notice.</a:t>
            </a:r>
          </a:p>
        </p:txBody>
      </p:sp>
      <p:sp>
        <p:nvSpPr>
          <p:cNvPr id="5" name="Subtitle 2"/>
          <p:cNvSpPr>
            <a:spLocks noGrp="1"/>
          </p:cNvSpPr>
          <p:nvPr>
            <p:ph type="subTitle" idx="1" hasCustomPrompt="1"/>
          </p:nvPr>
        </p:nvSpPr>
        <p:spPr>
          <a:xfrm>
            <a:off x="325269" y="3305361"/>
            <a:ext cx="5148072" cy="649224"/>
          </a:xfrm>
          <a:prstGeom prst="rect">
            <a:avLst/>
          </a:prstGeom>
        </p:spPr>
        <p:txBody>
          <a:bodyPr>
            <a:noAutofit/>
          </a:bodyPr>
          <a:lstStyle>
            <a:lvl1pPr marL="0" indent="0" algn="l">
              <a:lnSpc>
                <a:spcPct val="100000"/>
              </a:lnSpc>
              <a:spcBef>
                <a:spcPts val="0"/>
              </a:spcBef>
              <a:buNone/>
              <a:defRPr sz="1800" b="0">
                <a:solidFill>
                  <a:srgbClr val="FFFFFF"/>
                </a:solidFill>
                <a:latin typeface="+mn-lt"/>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3158848588"/>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8194964" y="0"/>
            <a:ext cx="949036" cy="93518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703519" y="110624"/>
            <a:ext cx="1364284" cy="6998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xmlns="" val="62525205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ub title with content">
    <p:bg>
      <p:bgPr>
        <a:solidFill>
          <a:schemeClr val="bg1"/>
        </a:solidFill>
        <a:effectLst/>
      </p:bgPr>
    </p:bg>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329184" y="1188722"/>
            <a:ext cx="8119872" cy="3228975"/>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Rectangle 4"/>
          <p:cNvSpPr/>
          <p:nvPr userDrawn="1"/>
        </p:nvSpPr>
        <p:spPr>
          <a:xfrm>
            <a:off x="8194964" y="0"/>
            <a:ext cx="949036" cy="93518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703519" y="110624"/>
            <a:ext cx="1364284" cy="6998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Subtitle 2"/>
          <p:cNvSpPr>
            <a:spLocks noGrp="1"/>
          </p:cNvSpPr>
          <p:nvPr>
            <p:ph type="subTitle" idx="1" hasCustomPrompt="1"/>
          </p:nvPr>
        </p:nvSpPr>
        <p:spPr bwMode="black">
          <a:xfrm>
            <a:off x="331470" y="751390"/>
            <a:ext cx="8117206"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xmlns="" val="3419709994"/>
      </p:ext>
    </p:extLst>
  </p:cSld>
  <p:clrMapOvr>
    <a:masterClrMapping/>
  </p:clrMapOvr>
  <p:timing>
    <p:tnLst>
      <p:par>
        <p:cTn id="1" dur="indefinite" restart="never" nodeType="tmRoot"/>
      </p:par>
    </p:tnLst>
  </p:timing>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ub title with bullets">
    <p:bg>
      <p:bgPr>
        <a:solidFill>
          <a:schemeClr val="bg1"/>
        </a:solidFill>
        <a:effectLst/>
      </p:bgPr>
    </p:bg>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329184" y="1188722"/>
            <a:ext cx="8119872" cy="3228975"/>
          </a:xfrm>
        </p:spPr>
        <p:txBody>
          <a:bodyPr wrap="square">
            <a:noAutofit/>
          </a:bodyPr>
          <a:lstStyle>
            <a:lvl1pPr marL="171450" indent="-171450">
              <a:buFont typeface="HP Simplified" pitchFamily="34" charset="0"/>
              <a:buChar char="•"/>
              <a:defRPr sz="1400" b="0">
                <a:solidFill>
                  <a:schemeClr val="tx1"/>
                </a:solidFill>
              </a:defRPr>
            </a:lvl1pPr>
            <a:lvl2pPr marL="342900" indent="-171450">
              <a:buSzPct val="80000"/>
              <a:buFont typeface="HP Simplified" pitchFamily="34" charset="0"/>
              <a:buChar char="–"/>
              <a:defRPr sz="1400">
                <a:solidFill>
                  <a:srgbClr val="000000"/>
                </a:solidFill>
              </a:defRPr>
            </a:lvl2pPr>
            <a:lvl3pPr marL="512763" indent="-169863">
              <a:defRPr sz="1400">
                <a:solidFill>
                  <a:srgbClr val="000000"/>
                </a:solidFill>
              </a:defRPr>
            </a:lvl3pPr>
            <a:lvl4pPr marL="690563" indent="-180975">
              <a:defRPr sz="1400">
                <a:solidFill>
                  <a:srgbClr val="000000"/>
                </a:solidFill>
              </a:defRPr>
            </a:lvl4pPr>
            <a:lvl5pPr marL="833438" indent="-150813">
              <a:defRPr sz="1400">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Rectangle 4"/>
          <p:cNvSpPr/>
          <p:nvPr userDrawn="1"/>
        </p:nvSpPr>
        <p:spPr>
          <a:xfrm>
            <a:off x="8194964" y="0"/>
            <a:ext cx="949036" cy="93518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703519" y="110624"/>
            <a:ext cx="1364284" cy="6998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Subtitle 2"/>
          <p:cNvSpPr>
            <a:spLocks noGrp="1"/>
          </p:cNvSpPr>
          <p:nvPr>
            <p:ph type="subTitle" idx="1" hasCustomPrompt="1"/>
          </p:nvPr>
        </p:nvSpPr>
        <p:spPr bwMode="black">
          <a:xfrm>
            <a:off x="331470" y="751390"/>
            <a:ext cx="8117206"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xmlns="" val="3419709994"/>
      </p:ext>
    </p:extLst>
  </p:cSld>
  <p:clrMapOvr>
    <a:masterClrMapping/>
  </p:clrMapOvr>
  <p:timing>
    <p:tnLst>
      <p:par>
        <p:cTn id="1" dur="indefinite" restart="never" nodeType="tmRoot"/>
      </p:par>
    </p:tnLst>
  </p:timing>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 title with two columns">
    <p:spTree>
      <p:nvGrpSpPr>
        <p:cNvPr id="1" name=""/>
        <p:cNvGrpSpPr/>
        <p:nvPr/>
      </p:nvGrpSpPr>
      <p:grpSpPr>
        <a:xfrm>
          <a:off x="0" y="0"/>
          <a:ext cx="0" cy="0"/>
          <a:chOff x="0" y="0"/>
          <a:chExt cx="0" cy="0"/>
        </a:xfrm>
      </p:grpSpPr>
      <p:sp>
        <p:nvSpPr>
          <p:cNvPr id="8" name="Content Placeholder 7"/>
          <p:cNvSpPr>
            <a:spLocks noGrp="1"/>
          </p:cNvSpPr>
          <p:nvPr>
            <p:ph sz="quarter" idx="16"/>
          </p:nvPr>
        </p:nvSpPr>
        <p:spPr>
          <a:xfrm>
            <a:off x="332330" y="1188731"/>
            <a:ext cx="4030662" cy="321976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7"/>
          </p:nvPr>
        </p:nvSpPr>
        <p:spPr>
          <a:xfrm>
            <a:off x="4568825" y="1185864"/>
            <a:ext cx="3878264"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Rectangle 5"/>
          <p:cNvSpPr/>
          <p:nvPr userDrawn="1"/>
        </p:nvSpPr>
        <p:spPr>
          <a:xfrm>
            <a:off x="8194964" y="0"/>
            <a:ext cx="949036" cy="93518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703519" y="110624"/>
            <a:ext cx="1364284" cy="6998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3" name="Title Placeholder 1"/>
          <p:cNvSpPr>
            <a:spLocks noGrp="1"/>
          </p:cNvSpPr>
          <p:nvPr>
            <p:ph type="title" hasCustomPrompt="1"/>
          </p:nvPr>
        </p:nvSpPr>
        <p:spPr bwMode="black">
          <a:xfrm>
            <a:off x="331589" y="235122"/>
            <a:ext cx="8460105" cy="430887"/>
          </a:xfrm>
          <a:prstGeom prst="rect">
            <a:avLst/>
          </a:prstGeom>
          <a:ln>
            <a:noFill/>
          </a:ln>
        </p:spPr>
        <p:txBody>
          <a:bodyPr vert="horz" wrap="square" lIns="0" tIns="0" rIns="0" bIns="0" rtlCol="0" anchor="t" anchorCtr="0">
            <a:spAutoFit/>
          </a:bodyPr>
          <a:lstStyle>
            <a:lvl1pPr>
              <a:defRPr>
                <a:solidFill>
                  <a:srgbClr val="000000"/>
                </a:solidFill>
              </a:defRPr>
            </a:lvl1pPr>
          </a:lstStyle>
          <a:p>
            <a:r>
              <a:rPr lang="en-US" noProof="0" dirty="0" smtClean="0"/>
              <a:t>Click to edit master title style</a:t>
            </a:r>
            <a:endParaRPr lang="en-US" noProof="0" dirty="0"/>
          </a:p>
        </p:txBody>
      </p:sp>
      <p:sp>
        <p:nvSpPr>
          <p:cNvPr id="5" name="Subtitle 2"/>
          <p:cNvSpPr>
            <a:spLocks noGrp="1"/>
          </p:cNvSpPr>
          <p:nvPr>
            <p:ph type="subTitle" idx="1" hasCustomPrompt="1"/>
          </p:nvPr>
        </p:nvSpPr>
        <p:spPr bwMode="black">
          <a:xfrm>
            <a:off x="331589"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328470572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page, sub title with image">
    <p:bg>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4568840" y="1186049"/>
            <a:ext cx="3878263" cy="3222441"/>
          </a:xfrm>
        </p:spPr>
        <p:txBody>
          <a:bodyPr anchor="ctr"/>
          <a:lstStyle>
            <a:lvl1pPr algn="ctr">
              <a:defRPr b="0">
                <a:solidFill>
                  <a:schemeClr val="tx1"/>
                </a:solidFill>
              </a:defRPr>
            </a:lvl1pPr>
          </a:lstStyle>
          <a:p>
            <a:r>
              <a:rPr lang="en-US" dirty="0" smtClean="0"/>
              <a:t>Click icon to add picture</a:t>
            </a:r>
            <a:endParaRPr lang="en-US" dirty="0"/>
          </a:p>
        </p:txBody>
      </p:sp>
      <p:sp>
        <p:nvSpPr>
          <p:cNvPr id="6" name="Content Placeholder 5"/>
          <p:cNvSpPr>
            <a:spLocks noGrp="1"/>
          </p:cNvSpPr>
          <p:nvPr>
            <p:ph sz="quarter" idx="10"/>
          </p:nvPr>
        </p:nvSpPr>
        <p:spPr>
          <a:xfrm>
            <a:off x="329184" y="1188720"/>
            <a:ext cx="4011612" cy="321976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8194964" y="0"/>
            <a:ext cx="949036" cy="93518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703519" y="110624"/>
            <a:ext cx="1364284" cy="6998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Title 6"/>
          <p:cNvSpPr>
            <a:spLocks noGrp="1"/>
          </p:cNvSpPr>
          <p:nvPr>
            <p:ph type="title" hasCustomPrompt="1"/>
          </p:nvPr>
        </p:nvSpPr>
        <p:spPr bwMode="black">
          <a:xfrm>
            <a:off x="331469" y="235063"/>
            <a:ext cx="8458200" cy="429768"/>
          </a:xfrm>
        </p:spPr>
        <p:txBody>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5" name="Subtitle 2"/>
          <p:cNvSpPr>
            <a:spLocks noGrp="1"/>
          </p:cNvSpPr>
          <p:nvPr>
            <p:ph type="subTitle" idx="1" hasCustomPrompt="1"/>
          </p:nvPr>
        </p:nvSpPr>
        <p:spPr bwMode="black">
          <a:xfrm>
            <a:off x="331589"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65051986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title, sub title with three columns">
    <p:spTree>
      <p:nvGrpSpPr>
        <p:cNvPr id="1" name=""/>
        <p:cNvGrpSpPr/>
        <p:nvPr/>
      </p:nvGrpSpPr>
      <p:grpSpPr>
        <a:xfrm>
          <a:off x="0" y="0"/>
          <a:ext cx="0" cy="0"/>
          <a:chOff x="0" y="0"/>
          <a:chExt cx="0" cy="0"/>
        </a:xfrm>
      </p:grpSpPr>
      <p:sp>
        <p:nvSpPr>
          <p:cNvPr id="9" name="Content Placeholder 8"/>
          <p:cNvSpPr>
            <a:spLocks noGrp="1"/>
          </p:cNvSpPr>
          <p:nvPr>
            <p:ph sz="quarter" idx="16"/>
          </p:nvPr>
        </p:nvSpPr>
        <p:spPr>
          <a:xfrm>
            <a:off x="329184" y="1189039"/>
            <a:ext cx="2523744"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11"/>
          <p:cNvSpPr>
            <a:spLocks noGrp="1"/>
          </p:cNvSpPr>
          <p:nvPr>
            <p:ph sz="quarter" idx="17"/>
          </p:nvPr>
        </p:nvSpPr>
        <p:spPr>
          <a:xfrm>
            <a:off x="3124486" y="1189052"/>
            <a:ext cx="2523744" cy="322262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Content Placeholder 13"/>
          <p:cNvSpPr>
            <a:spLocks noGrp="1"/>
          </p:cNvSpPr>
          <p:nvPr>
            <p:ph sz="quarter" idx="18"/>
          </p:nvPr>
        </p:nvSpPr>
        <p:spPr>
          <a:xfrm>
            <a:off x="5919788" y="1189039"/>
            <a:ext cx="2527300"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8194964" y="0"/>
            <a:ext cx="949036" cy="93518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703519" y="110624"/>
            <a:ext cx="1364284" cy="6998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Title 6"/>
          <p:cNvSpPr>
            <a:spLocks noGrp="1"/>
          </p:cNvSpPr>
          <p:nvPr>
            <p:ph type="title" hasCustomPrompt="1"/>
          </p:nvPr>
        </p:nvSpPr>
        <p:spPr bwMode="black">
          <a:xfrm>
            <a:off x="331590" y="235063"/>
            <a:ext cx="8460105" cy="429768"/>
          </a:xfrm>
        </p:spPr>
        <p:txBody>
          <a:bodyPr/>
          <a:lstStyle>
            <a:lvl1pPr>
              <a:defRPr>
                <a:solidFill>
                  <a:srgbClr val="000000"/>
                </a:solidFill>
              </a:defRPr>
            </a:lvl1pPr>
          </a:lstStyle>
          <a:p>
            <a:r>
              <a:rPr lang="en-US" noProof="0" dirty="0" smtClean="0"/>
              <a:t>Click to edit master title style</a:t>
            </a:r>
            <a:endParaRPr lang="en-US" noProof="0" dirty="0"/>
          </a:p>
        </p:txBody>
      </p:sp>
      <p:sp>
        <p:nvSpPr>
          <p:cNvPr id="6" name="Subtitle 2"/>
          <p:cNvSpPr>
            <a:spLocks noGrp="1"/>
          </p:cNvSpPr>
          <p:nvPr>
            <p:ph type="subTitle" idx="1" hasCustomPrompt="1"/>
          </p:nvPr>
        </p:nvSpPr>
        <p:spPr bwMode="black">
          <a:xfrm>
            <a:off x="331589"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28735121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315498466"/>
      </p:ext>
    </p:extLst>
  </p:cSld>
  <p:clrMapOvr>
    <a:masterClrMapping/>
  </p:clrMapOvr>
  <p:transition spd="med">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1"/>
      </p:bgRef>
    </p:bg>
    <p:spTree>
      <p:nvGrpSpPr>
        <p:cNvPr id="1" name=""/>
        <p:cNvGrpSpPr/>
        <p:nvPr/>
      </p:nvGrpSpPr>
      <p:grpSpPr>
        <a:xfrm>
          <a:off x="0" y="0"/>
          <a:ext cx="0" cy="0"/>
          <a:chOff x="0" y="0"/>
          <a:chExt cx="0" cy="0"/>
        </a:xfrm>
      </p:grpSpPr>
      <p:pic>
        <p:nvPicPr>
          <p:cNvPr id="4" name="Picture 7" descr="HP_D_RGB_M.png"/>
          <p:cNvPicPr>
            <a:picLocks noChangeAspect="1"/>
          </p:cNvPicPr>
          <p:nvPr userDrawn="1"/>
        </p:nvPicPr>
        <p:blipFill>
          <a:blip r:embed="rId2" cstate="print"/>
          <a:srcRect/>
          <a:stretch>
            <a:fillRect/>
          </a:stretch>
        </p:blipFill>
        <p:spPr bwMode="auto">
          <a:xfrm>
            <a:off x="6903097" y="661818"/>
            <a:ext cx="1517015" cy="1137761"/>
          </a:xfrm>
          <a:prstGeom prst="rect">
            <a:avLst/>
          </a:prstGeom>
          <a:noFill/>
          <a:ln w="9525">
            <a:noFill/>
            <a:miter lim="800000"/>
            <a:headEnd/>
            <a:tailEnd/>
          </a:ln>
        </p:spPr>
      </p:pic>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75977A33-3B78-47F9-A063-6913D7750EC5}" type="datetime1">
              <a:rPr lang="en-US" smtClean="0">
                <a:solidFill>
                  <a:prstClr val="white">
                    <a:tint val="75000"/>
                  </a:prstClr>
                </a:solidFill>
              </a:rPr>
              <a:pPr>
                <a:defRPr/>
              </a:pPr>
              <a:t>11/16/2012</a:t>
            </a:fld>
            <a:endParaRPr lang="en-US" dirty="0">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smtClean="0">
                <a:solidFill>
                  <a:prstClr val="white">
                    <a:tint val="75000"/>
                  </a:prstClr>
                </a:solidFill>
              </a:rPr>
              <a:t>© 2012 Hewlett-Packard Company - HP Confidential</a:t>
            </a:r>
            <a:endParaRPr lang="en-US" dirty="0">
              <a:solidFill>
                <a:prstClr val="white">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536159-4EBC-4956-80D1-D691668E34FE}" type="slidenum">
              <a:rPr lang="en-US">
                <a:solidFill>
                  <a:prstClr val="white">
                    <a:tint val="75000"/>
                  </a:prstClr>
                </a:solidFill>
              </a:rPr>
              <a:pPr>
                <a:defRPr/>
              </a:pPr>
              <a:t>‹#›</a:t>
            </a:fld>
            <a:endParaRPr lang="en-US" dirty="0">
              <a:solidFill>
                <a:prstClr val="white">
                  <a:tint val="75000"/>
                </a:prstClr>
              </a:solidFill>
            </a:endParaRPr>
          </a:p>
        </p:txBody>
      </p:sp>
    </p:spTree>
    <p:extLst>
      <p:ext uri="{BB962C8B-B14F-4D97-AF65-F5344CB8AC3E}">
        <p14:creationId xmlns:p14="http://schemas.microsoft.com/office/powerpoint/2010/main" xmlns="" val="1599305364"/>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200151"/>
            <a:ext cx="8229600" cy="339447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EA8BB888-0697-4350-8298-E0CD0DF9CFE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5F75D6F-272E-4811-8F6B-E4C2FF79A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192746489"/>
      </p:ext>
    </p:extLst>
  </p:cSld>
  <p:clrMapOvr>
    <a:masterClrMapping/>
  </p:clrMapOvr>
  <p:transition spd="med">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normAutofit/>
          </a:bodyPr>
          <a:lstStyle>
            <a:lvl1pPr>
              <a:defRPr sz="2000" b="1">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000" b="1">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B9C4FF6E-1DEC-4D9C-895F-280C75CCD1F8}"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584C529-9E14-40CB-AFDB-1714415109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33230990"/>
      </p:ext>
    </p:extLst>
  </p:cSld>
  <p:clrMapOvr>
    <a:masterClrMapping/>
  </p:clrMapOvr>
  <p:transition spd="med">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9858"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489858" y="1151335"/>
            <a:ext cx="4040188"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89858" y="1631156"/>
            <a:ext cx="4040188"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77687" y="1151335"/>
            <a:ext cx="4041775"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77687" y="1631156"/>
            <a:ext cx="4041775"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8" name="Date Placeholder 3"/>
          <p:cNvSpPr>
            <a:spLocks noGrp="1"/>
          </p:cNvSpPr>
          <p:nvPr>
            <p:ph type="dt" sz="half" idx="11"/>
          </p:nvPr>
        </p:nvSpPr>
        <p:spPr/>
        <p:txBody>
          <a:bodyPr/>
          <a:lstStyle>
            <a:lvl1pPr>
              <a:defRPr/>
            </a:lvl1pPr>
          </a:lstStyle>
          <a:p>
            <a:pPr>
              <a:defRPr/>
            </a:pPr>
            <a:fld id="{A040D6B0-E7A3-4EDB-AE76-A681F5EBB97E}"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E108263-9A77-4E1A-9184-293EEEFA79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040254335"/>
      </p:ext>
    </p:extLst>
  </p:cSld>
  <p:clrMapOvr>
    <a:masterClrMapping/>
  </p:clrMapOvr>
  <p:transition spd="med">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11"/>
          </p:nvPr>
        </p:nvSpPr>
        <p:spPr/>
        <p:txBody>
          <a:bodyPr/>
          <a:lstStyle>
            <a:lvl1pPr>
              <a:defRPr/>
            </a:lvl1pPr>
          </a:lstStyle>
          <a:p>
            <a:pPr>
              <a:defRPr/>
            </a:pPr>
            <a:fld id="{B4927C7E-EBDA-42F6-8B62-59C143241654}"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28E1C2A3-9072-4F9E-9CE1-76C6EAC3B0F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964761085"/>
      </p:ext>
    </p:extLst>
  </p:cSld>
  <p:clrMapOvr>
    <a:masterClrMapping/>
  </p:clrMapOvr>
  <p:transition spd="med">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7CA02831-9FCC-49D9-AFEE-B22EA5F9AF42}"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31571E2-899E-4F5A-BAD5-50AB52FB4C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717295451"/>
      </p:ext>
    </p:extLst>
  </p:cSld>
  <p:clrMapOvr>
    <a:masterClrMapping/>
  </p:clrMapOvr>
  <p:transition spd="med">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DF6E525E-7FA1-4430-805F-C8E0A53A470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9ECFAF0-4CA5-42E1-A53C-4310B5D9169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602206223"/>
      </p:ext>
    </p:extLst>
  </p:cSld>
  <p:clrMapOvr>
    <a:masterClrMapping/>
  </p:clrMapOvr>
  <p:transition spd="med">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a:prstGeom prst="rect">
            <a:avLst/>
          </a:prstGeom>
        </p:spPr>
        <p:txBody>
          <a:bodyPr anchor="b"/>
          <a:lstStyle>
            <a:lvl1pPr algn="l">
              <a:defRPr sz="2000" b="1">
                <a:solidFill>
                  <a:schemeClr val="tx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4025562"/>
            <a:ext cx="5486400" cy="603647"/>
          </a:xfrm>
          <a:prstGeom prst="rect">
            <a:avLst/>
          </a:prstGeo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1D2F5AC4-199A-4D08-AC6A-8BB9C244285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BE66F2-AE08-498A-B6F7-6BC61C51D6B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841626834"/>
      </p:ext>
    </p:extLst>
  </p:cSld>
  <p:clrMapOvr>
    <a:masterClrMapping/>
  </p:clrMapOvr>
  <p:transition spd="med">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a:prstGeom prst="rect">
            <a:avLst/>
          </a:prstGeom>
        </p:spPr>
        <p:txBody>
          <a:bodyPr vert="eaVert"/>
          <a:lstStyle>
            <a:lvl1pPr>
              <a:defRPr>
                <a:solidFill>
                  <a:schemeClr val="tx1"/>
                </a:solidFill>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205980"/>
            <a:ext cx="6019800" cy="4388644"/>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ADC08C04-2700-4591-B9A1-0E946CDCA8AA}"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9E06965-FC6A-4994-BB99-5452580217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660766091"/>
      </p:ext>
    </p:extLst>
  </p:cSld>
  <p:clrMapOvr>
    <a:masterClrMapping/>
  </p:clrMapOvr>
  <p:transition spd="med">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0" y="4763691"/>
            <a:ext cx="9144000" cy="273844"/>
          </a:xfrm>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F92ECE36-7098-4256-9B89-F25D8DB1A1FB}"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FAF554F-BB91-4BBC-A556-A67D02F08C7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962233557"/>
      </p:ext>
    </p:extLst>
  </p:cSld>
  <p:clrMapOvr>
    <a:masterClrMapping/>
  </p:clrMapOvr>
  <p:transition spd="med">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Slide Blue">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bwMode="gray">
          <a:xfrm>
            <a:off x="365125" y="4849475"/>
            <a:ext cx="3943350" cy="200055"/>
          </a:xfrm>
          <a:prstGeom prst="rect">
            <a:avLst/>
          </a:prstGeom>
          <a:noFill/>
        </p:spPr>
        <p:txBody>
          <a:bodyPr>
            <a:spAutoFit/>
          </a:bodyPr>
          <a:lstStyle/>
          <a:p>
            <a:pPr defTabSz="914400" fontAlgn="base">
              <a:spcBef>
                <a:spcPct val="0"/>
              </a:spcBef>
              <a:spcAft>
                <a:spcPct val="0"/>
              </a:spcAft>
              <a:defRPr/>
            </a:pPr>
            <a:r>
              <a:rPr lang="en-US" sz="700" dirty="0">
                <a:solidFill>
                  <a:srgbClr val="196EA3"/>
                </a:solidFill>
                <a:latin typeface="Futura Bk" pitchFamily="34" charset="0"/>
              </a:rPr>
              <a:t>©2009 HP Confidential</a:t>
            </a:r>
          </a:p>
        </p:txBody>
      </p:sp>
      <p:pic>
        <p:nvPicPr>
          <p:cNvPr id="6" name="Picture 7"/>
          <p:cNvPicPr>
            <a:picLocks noChangeAspect="1" noChangeArrowheads="1"/>
          </p:cNvPicPr>
          <p:nvPr userDrawn="1"/>
        </p:nvPicPr>
        <p:blipFill>
          <a:blip r:embed="rId2" cstate="print"/>
          <a:srcRect r="7471" b="6709"/>
          <a:stretch>
            <a:fillRect/>
          </a:stretch>
        </p:blipFill>
        <p:spPr bwMode="auto">
          <a:xfrm>
            <a:off x="7994650" y="1453812"/>
            <a:ext cx="1149350" cy="3689747"/>
          </a:xfrm>
          <a:prstGeom prst="rect">
            <a:avLst/>
          </a:prstGeom>
          <a:noFill/>
          <a:ln w="9525">
            <a:noFill/>
            <a:miter lim="800000"/>
            <a:headEnd/>
            <a:tailEnd/>
          </a:ln>
        </p:spPr>
      </p:pic>
      <p:sp>
        <p:nvSpPr>
          <p:cNvPr id="3" name="Subtitle 2"/>
          <p:cNvSpPr>
            <a:spLocks noGrp="1"/>
          </p:cNvSpPr>
          <p:nvPr>
            <p:ph type="subTitle" idx="1"/>
          </p:nvPr>
        </p:nvSpPr>
        <p:spPr bwMode="black">
          <a:xfrm>
            <a:off x="357089" y="3799046"/>
            <a:ext cx="6400800" cy="701763"/>
          </a:xfrm>
          <a:prstGeom prst="rect">
            <a:avLst/>
          </a:prstGeom>
        </p:spPr>
        <p:txBody>
          <a:bodyPr anchor="b">
            <a:noAutofit/>
          </a:bodyPr>
          <a:lstStyle>
            <a:lvl1pPr marL="0" marR="0" indent="0" algn="l" defTabSz="914400" rtl="0" eaLnBrk="1" fontAlgn="auto" latinLnBrk="0" hangingPunct="1">
              <a:lnSpc>
                <a:spcPct val="120000"/>
              </a:lnSpc>
              <a:spcBef>
                <a:spcPts val="0"/>
              </a:spcBef>
              <a:spcAft>
                <a:spcPts val="0"/>
              </a:spcAft>
              <a:buClrTx/>
              <a:buSzPct val="100000"/>
              <a:buFontTx/>
              <a:buNone/>
              <a:tabLst/>
              <a:defRPr sz="1500">
                <a:solidFill>
                  <a:schemeClr val="bg1"/>
                </a:solidFill>
                <a:latin typeface="Futura Bk"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itle 10"/>
          <p:cNvSpPr>
            <a:spLocks noGrp="1"/>
          </p:cNvSpPr>
          <p:nvPr>
            <p:ph type="title"/>
          </p:nvPr>
        </p:nvSpPr>
        <p:spPr bwMode="black">
          <a:xfrm>
            <a:off x="929640" y="2069307"/>
            <a:ext cx="7274560" cy="988218"/>
          </a:xfrm>
          <a:prstGeom prst="rect">
            <a:avLst/>
          </a:prstGeom>
        </p:spPr>
        <p:txBody>
          <a:bodyPr/>
          <a:lstStyle>
            <a:lvl1pPr algn="ctr">
              <a:lnSpc>
                <a:spcPts val="4000"/>
              </a:lnSpc>
              <a:defRPr sz="400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xmlns="" val="1084779386"/>
      </p:ext>
    </p:extLst>
  </p:cSld>
  <p:clrMapOvr>
    <a:masterClrMapping/>
  </p:clrMapOvr>
  <p:transition spd="med">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tx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8E0DEF91-63D7-405E-9535-99E1796A8B8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F73C24-D277-46A9-9806-5663364F55AF}"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79701876"/>
      </p:ext>
    </p:extLst>
  </p:cSld>
  <p:clrMapOvr>
    <a:masterClrMapping/>
  </p:clrMapOvr>
  <p:transition spd="med">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1"/>
      </p:bgRef>
    </p:bg>
    <p:spTree>
      <p:nvGrpSpPr>
        <p:cNvPr id="1" name=""/>
        <p:cNvGrpSpPr/>
        <p:nvPr/>
      </p:nvGrpSpPr>
      <p:grpSpPr>
        <a:xfrm>
          <a:off x="0" y="0"/>
          <a:ext cx="0" cy="0"/>
          <a:chOff x="0" y="0"/>
          <a:chExt cx="0" cy="0"/>
        </a:xfrm>
      </p:grpSpPr>
      <p:pic>
        <p:nvPicPr>
          <p:cNvPr id="4" name="Picture 7" descr="HP_D_RGB_M.png"/>
          <p:cNvPicPr>
            <a:picLocks noChangeAspect="1"/>
          </p:cNvPicPr>
          <p:nvPr userDrawn="1"/>
        </p:nvPicPr>
        <p:blipFill>
          <a:blip r:embed="rId2" cstate="print"/>
          <a:srcRect/>
          <a:stretch>
            <a:fillRect/>
          </a:stretch>
        </p:blipFill>
        <p:spPr bwMode="auto">
          <a:xfrm>
            <a:off x="6903097" y="661817"/>
            <a:ext cx="1517015" cy="1137761"/>
          </a:xfrm>
          <a:prstGeom prst="rect">
            <a:avLst/>
          </a:prstGeom>
          <a:noFill/>
          <a:ln w="9525">
            <a:noFill/>
            <a:miter lim="800000"/>
            <a:headEnd/>
            <a:tailEnd/>
          </a:ln>
        </p:spPr>
      </p:pic>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75977A33-3B78-47F9-A063-6913D7750EC5}" type="datetime1">
              <a:rPr lang="en-US" smtClean="0">
                <a:solidFill>
                  <a:prstClr val="white">
                    <a:tint val="75000"/>
                  </a:prstClr>
                </a:solidFill>
              </a:rPr>
              <a:pPr>
                <a:defRPr/>
              </a:pPr>
              <a:t>11/16/2012</a:t>
            </a:fld>
            <a:endParaRPr lang="en-US" dirty="0">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smtClean="0">
                <a:solidFill>
                  <a:prstClr val="white">
                    <a:tint val="75000"/>
                  </a:prstClr>
                </a:solidFill>
              </a:rPr>
              <a:t>© 2012 Hewlett-Packard Company - HP Confidential</a:t>
            </a:r>
            <a:endParaRPr lang="en-US" dirty="0">
              <a:solidFill>
                <a:prstClr val="white">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536159-4EBC-4956-80D1-D691668E34FE}" type="slidenum">
              <a:rPr lang="en-US">
                <a:solidFill>
                  <a:prstClr val="white">
                    <a:tint val="75000"/>
                  </a:prstClr>
                </a:solidFill>
              </a:rPr>
              <a:pPr>
                <a:defRPr/>
              </a:pPr>
              <a:t>‹#›</a:t>
            </a:fld>
            <a:endParaRPr lang="en-US" dirty="0">
              <a:solidFill>
                <a:prstClr val="white">
                  <a:tint val="75000"/>
                </a:prstClr>
              </a:solidFill>
            </a:endParaRPr>
          </a:p>
        </p:txBody>
      </p:sp>
    </p:spTree>
    <p:extLst>
      <p:ext uri="{BB962C8B-B14F-4D97-AF65-F5344CB8AC3E}">
        <p14:creationId xmlns:p14="http://schemas.microsoft.com/office/powerpoint/2010/main" xmlns="" val="4092616501"/>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200151"/>
            <a:ext cx="8229600" cy="339447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EA8BB888-0697-4350-8298-E0CD0DF9CFE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5F75D6F-272E-4811-8F6B-E4C2FF79A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650166931"/>
      </p:ext>
    </p:extLst>
  </p:cSld>
  <p:clrMapOvr>
    <a:masterClrMapping/>
  </p:clrMapOvr>
  <p:transition spd="med">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normAutofit/>
          </a:bodyPr>
          <a:lstStyle>
            <a:lvl1pPr>
              <a:defRPr sz="2000" b="1">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000" b="1">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B9C4FF6E-1DEC-4D9C-895F-280C75CCD1F8}"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584C529-9E14-40CB-AFDB-1714415109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325453334"/>
      </p:ext>
    </p:extLst>
  </p:cSld>
  <p:clrMapOvr>
    <a:masterClrMapping/>
  </p:clrMapOvr>
  <p:transition spd="med">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9858"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489858" y="1151335"/>
            <a:ext cx="4040188"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89858" y="1631156"/>
            <a:ext cx="4040188"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77687" y="1151335"/>
            <a:ext cx="4041775"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77687" y="1631156"/>
            <a:ext cx="4041775"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8" name="Date Placeholder 3"/>
          <p:cNvSpPr>
            <a:spLocks noGrp="1"/>
          </p:cNvSpPr>
          <p:nvPr>
            <p:ph type="dt" sz="half" idx="11"/>
          </p:nvPr>
        </p:nvSpPr>
        <p:spPr/>
        <p:txBody>
          <a:bodyPr/>
          <a:lstStyle>
            <a:lvl1pPr>
              <a:defRPr/>
            </a:lvl1pPr>
          </a:lstStyle>
          <a:p>
            <a:pPr>
              <a:defRPr/>
            </a:pPr>
            <a:fld id="{A040D6B0-E7A3-4EDB-AE76-A681F5EBB97E}"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E108263-9A77-4E1A-9184-293EEEFA79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180688232"/>
      </p:ext>
    </p:extLst>
  </p:cSld>
  <p:clrMapOvr>
    <a:masterClrMapping/>
  </p:clrMapOvr>
  <p:transition spd="med">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11"/>
          </p:nvPr>
        </p:nvSpPr>
        <p:spPr/>
        <p:txBody>
          <a:bodyPr/>
          <a:lstStyle>
            <a:lvl1pPr>
              <a:defRPr/>
            </a:lvl1pPr>
          </a:lstStyle>
          <a:p>
            <a:pPr>
              <a:defRPr/>
            </a:pPr>
            <a:fld id="{B4927C7E-EBDA-42F6-8B62-59C143241654}"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28E1C2A3-9072-4F9E-9CE1-76C6EAC3B0F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243834724"/>
      </p:ext>
    </p:extLst>
  </p:cSld>
  <p:clrMapOvr>
    <a:masterClrMapping/>
  </p:clrMapOvr>
  <p:transition spd="med">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7CA02831-9FCC-49D9-AFEE-B22EA5F9AF42}"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31571E2-899E-4F5A-BAD5-50AB52FB4C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510874015"/>
      </p:ext>
    </p:extLst>
  </p:cSld>
  <p:clrMapOvr>
    <a:masterClrMapping/>
  </p:clrMapOvr>
  <p:transition spd="med">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DF6E525E-7FA1-4430-805F-C8E0A53A470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9ECFAF0-4CA5-42E1-A53C-4310B5D9169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338228762"/>
      </p:ext>
    </p:extLst>
  </p:cSld>
  <p:clrMapOvr>
    <a:masterClrMapping/>
  </p:clrMapOvr>
  <p:transition spd="med">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a:prstGeom prst="rect">
            <a:avLst/>
          </a:prstGeom>
        </p:spPr>
        <p:txBody>
          <a:bodyPr anchor="b"/>
          <a:lstStyle>
            <a:lvl1pPr algn="l">
              <a:defRPr sz="2000" b="1">
                <a:solidFill>
                  <a:schemeClr val="tx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4025561"/>
            <a:ext cx="5486400" cy="603647"/>
          </a:xfrm>
          <a:prstGeom prst="rect">
            <a:avLst/>
          </a:prstGeo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1D2F5AC4-199A-4D08-AC6A-8BB9C244285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BE66F2-AE08-498A-B6F7-6BC61C51D6B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04964302"/>
      </p:ext>
    </p:extLst>
  </p:cSld>
  <p:clrMapOvr>
    <a:masterClrMapping/>
  </p:clrMapOvr>
  <p:transition spd="med">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a:prstGeom prst="rect">
            <a:avLst/>
          </a:prstGeom>
        </p:spPr>
        <p:txBody>
          <a:bodyPr vert="eaVert"/>
          <a:lstStyle>
            <a:lvl1pPr>
              <a:defRPr>
                <a:solidFill>
                  <a:schemeClr val="tx1"/>
                </a:solidFill>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205980"/>
            <a:ext cx="6019800" cy="4388644"/>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ADC08C04-2700-4591-B9A1-0E946CDCA8AA}"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9E06965-FC6A-4994-BB99-5452580217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688790617"/>
      </p:ext>
    </p:extLst>
  </p:cSld>
  <p:clrMapOvr>
    <a:masterClrMapping/>
  </p:clrMapOvr>
  <p:transition spd="med">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0" y="4763691"/>
            <a:ext cx="9144000" cy="273844"/>
          </a:xfrm>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F92ECE36-7098-4256-9B89-F25D8DB1A1FB}"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FAF554F-BB91-4BBC-A556-A67D02F08C7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126885398"/>
      </p:ext>
    </p:extLst>
  </p:cSld>
  <p:clrMapOvr>
    <a:masterClrMapping/>
  </p:clrMapOvr>
  <p:transition spd="med">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Slide Blue">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bwMode="gray">
          <a:xfrm>
            <a:off x="365125" y="4849474"/>
            <a:ext cx="3943350" cy="200055"/>
          </a:xfrm>
          <a:prstGeom prst="rect">
            <a:avLst/>
          </a:prstGeom>
          <a:noFill/>
        </p:spPr>
        <p:txBody>
          <a:bodyPr>
            <a:spAutoFit/>
          </a:bodyPr>
          <a:lstStyle/>
          <a:p>
            <a:pPr defTabSz="914400" fontAlgn="base">
              <a:spcBef>
                <a:spcPct val="0"/>
              </a:spcBef>
              <a:spcAft>
                <a:spcPct val="0"/>
              </a:spcAft>
              <a:defRPr/>
            </a:pPr>
            <a:r>
              <a:rPr lang="en-US" sz="700" dirty="0">
                <a:solidFill>
                  <a:srgbClr val="196EA3"/>
                </a:solidFill>
                <a:latin typeface="Futura Bk" pitchFamily="34" charset="0"/>
              </a:rPr>
              <a:t>©2009 HP Confidential</a:t>
            </a:r>
          </a:p>
        </p:txBody>
      </p:sp>
      <p:pic>
        <p:nvPicPr>
          <p:cNvPr id="6" name="Picture 7"/>
          <p:cNvPicPr>
            <a:picLocks noChangeAspect="1" noChangeArrowheads="1"/>
          </p:cNvPicPr>
          <p:nvPr userDrawn="1"/>
        </p:nvPicPr>
        <p:blipFill>
          <a:blip r:embed="rId2" cstate="print"/>
          <a:srcRect r="7471" b="6709"/>
          <a:stretch>
            <a:fillRect/>
          </a:stretch>
        </p:blipFill>
        <p:spPr bwMode="auto">
          <a:xfrm>
            <a:off x="7994650" y="1453811"/>
            <a:ext cx="1149350" cy="3689747"/>
          </a:xfrm>
          <a:prstGeom prst="rect">
            <a:avLst/>
          </a:prstGeom>
          <a:noFill/>
          <a:ln w="9525">
            <a:noFill/>
            <a:miter lim="800000"/>
            <a:headEnd/>
            <a:tailEnd/>
          </a:ln>
        </p:spPr>
      </p:pic>
      <p:sp>
        <p:nvSpPr>
          <p:cNvPr id="3" name="Subtitle 2"/>
          <p:cNvSpPr>
            <a:spLocks noGrp="1"/>
          </p:cNvSpPr>
          <p:nvPr>
            <p:ph type="subTitle" idx="1"/>
          </p:nvPr>
        </p:nvSpPr>
        <p:spPr bwMode="black">
          <a:xfrm>
            <a:off x="357089" y="3799046"/>
            <a:ext cx="6400800" cy="701763"/>
          </a:xfrm>
          <a:prstGeom prst="rect">
            <a:avLst/>
          </a:prstGeom>
        </p:spPr>
        <p:txBody>
          <a:bodyPr anchor="b">
            <a:noAutofit/>
          </a:bodyPr>
          <a:lstStyle>
            <a:lvl1pPr marL="0" marR="0" indent="0" algn="l" defTabSz="914400" rtl="0" eaLnBrk="1" fontAlgn="auto" latinLnBrk="0" hangingPunct="1">
              <a:lnSpc>
                <a:spcPct val="120000"/>
              </a:lnSpc>
              <a:spcBef>
                <a:spcPts val="0"/>
              </a:spcBef>
              <a:spcAft>
                <a:spcPts val="0"/>
              </a:spcAft>
              <a:buClrTx/>
              <a:buSzPct val="100000"/>
              <a:buFontTx/>
              <a:buNone/>
              <a:tabLst/>
              <a:defRPr sz="1500">
                <a:solidFill>
                  <a:schemeClr val="bg1"/>
                </a:solidFill>
                <a:latin typeface="Futura Bk"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itle 10"/>
          <p:cNvSpPr>
            <a:spLocks noGrp="1"/>
          </p:cNvSpPr>
          <p:nvPr>
            <p:ph type="title"/>
          </p:nvPr>
        </p:nvSpPr>
        <p:spPr bwMode="black">
          <a:xfrm>
            <a:off x="929640" y="2069307"/>
            <a:ext cx="7274560" cy="988218"/>
          </a:xfrm>
          <a:prstGeom prst="rect">
            <a:avLst/>
          </a:prstGeom>
        </p:spPr>
        <p:txBody>
          <a:bodyPr/>
          <a:lstStyle>
            <a:lvl1pPr algn="ctr">
              <a:lnSpc>
                <a:spcPts val="4000"/>
              </a:lnSpc>
              <a:defRPr sz="400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xmlns="" val="2617302115"/>
      </p:ext>
    </p:extLst>
  </p:cSld>
  <p:clrMapOvr>
    <a:masterClrMapping/>
  </p:clrMapOvr>
  <p:transition spd="med">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tx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8E0DEF91-63D7-405E-9535-99E1796A8B8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F73C24-D277-46A9-9806-5663364F55AF}"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036684741"/>
      </p:ext>
    </p:extLst>
  </p:cSld>
  <p:clrMapOvr>
    <a:masterClrMapping/>
  </p:clrMapOvr>
  <p:transition spd="med">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1"/>
      </p:bgRef>
    </p:bg>
    <p:spTree>
      <p:nvGrpSpPr>
        <p:cNvPr id="1" name=""/>
        <p:cNvGrpSpPr/>
        <p:nvPr/>
      </p:nvGrpSpPr>
      <p:grpSpPr>
        <a:xfrm>
          <a:off x="0" y="0"/>
          <a:ext cx="0" cy="0"/>
          <a:chOff x="0" y="0"/>
          <a:chExt cx="0" cy="0"/>
        </a:xfrm>
      </p:grpSpPr>
      <p:pic>
        <p:nvPicPr>
          <p:cNvPr id="4" name="Picture 7" descr="HP_D_RGB_M.png"/>
          <p:cNvPicPr>
            <a:picLocks noChangeAspect="1"/>
          </p:cNvPicPr>
          <p:nvPr userDrawn="1"/>
        </p:nvPicPr>
        <p:blipFill>
          <a:blip r:embed="rId2" cstate="print"/>
          <a:srcRect/>
          <a:stretch>
            <a:fillRect/>
          </a:stretch>
        </p:blipFill>
        <p:spPr bwMode="auto">
          <a:xfrm>
            <a:off x="6903097" y="661815"/>
            <a:ext cx="1517015" cy="1137761"/>
          </a:xfrm>
          <a:prstGeom prst="rect">
            <a:avLst/>
          </a:prstGeom>
          <a:noFill/>
          <a:ln w="9525">
            <a:noFill/>
            <a:miter lim="800000"/>
            <a:headEnd/>
            <a:tailEnd/>
          </a:ln>
        </p:spPr>
      </p:pic>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75977A33-3B78-47F9-A063-6913D7750EC5}" type="datetime1">
              <a:rPr lang="en-US" smtClean="0">
                <a:solidFill>
                  <a:prstClr val="white">
                    <a:tint val="75000"/>
                  </a:prstClr>
                </a:solidFill>
              </a:rPr>
              <a:pPr>
                <a:defRPr/>
              </a:pPr>
              <a:t>11/16/2012</a:t>
            </a:fld>
            <a:endParaRPr lang="en-US" dirty="0">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smtClean="0">
                <a:solidFill>
                  <a:prstClr val="white">
                    <a:tint val="75000"/>
                  </a:prstClr>
                </a:solidFill>
              </a:rPr>
              <a:t>© 2012 Hewlett-Packard Company - HP Confidential</a:t>
            </a:r>
            <a:endParaRPr lang="en-US" dirty="0">
              <a:solidFill>
                <a:prstClr val="white">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536159-4EBC-4956-80D1-D691668E34FE}" type="slidenum">
              <a:rPr lang="en-US">
                <a:solidFill>
                  <a:prstClr val="white">
                    <a:tint val="75000"/>
                  </a:prstClr>
                </a:solidFill>
              </a:rPr>
              <a:pPr>
                <a:defRPr/>
              </a:pPr>
              <a:t>‹#›</a:t>
            </a:fld>
            <a:endParaRPr lang="en-US" dirty="0">
              <a:solidFill>
                <a:prstClr val="white">
                  <a:tint val="75000"/>
                </a:prstClr>
              </a:solidFill>
            </a:endParaRPr>
          </a:p>
        </p:txBody>
      </p:sp>
    </p:spTree>
    <p:extLst>
      <p:ext uri="{BB962C8B-B14F-4D97-AF65-F5344CB8AC3E}">
        <p14:creationId xmlns:p14="http://schemas.microsoft.com/office/powerpoint/2010/main" xmlns="" val="1888964318"/>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200151"/>
            <a:ext cx="8229600" cy="339447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EA8BB888-0697-4350-8298-E0CD0DF9CFE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5F75D6F-272E-4811-8F6B-E4C2FF79A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055112586"/>
      </p:ext>
    </p:extLst>
  </p:cSld>
  <p:clrMapOvr>
    <a:masterClrMapping/>
  </p:clrMapOvr>
  <p:transition spd="med">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normAutofit/>
          </a:bodyPr>
          <a:lstStyle>
            <a:lvl1pPr>
              <a:defRPr sz="2000" b="1">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000" b="1">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B9C4FF6E-1DEC-4D9C-895F-280C75CCD1F8}"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584C529-9E14-40CB-AFDB-1714415109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345741930"/>
      </p:ext>
    </p:extLst>
  </p:cSld>
  <p:clrMapOvr>
    <a:masterClrMapping/>
  </p:clrMapOvr>
  <p:transition spd="med">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9858"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489858" y="1151335"/>
            <a:ext cx="4040188"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89858" y="1631156"/>
            <a:ext cx="4040188"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77687" y="1151335"/>
            <a:ext cx="4041775"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77687" y="1631156"/>
            <a:ext cx="4041775"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8" name="Date Placeholder 3"/>
          <p:cNvSpPr>
            <a:spLocks noGrp="1"/>
          </p:cNvSpPr>
          <p:nvPr>
            <p:ph type="dt" sz="half" idx="11"/>
          </p:nvPr>
        </p:nvSpPr>
        <p:spPr/>
        <p:txBody>
          <a:bodyPr/>
          <a:lstStyle>
            <a:lvl1pPr>
              <a:defRPr/>
            </a:lvl1pPr>
          </a:lstStyle>
          <a:p>
            <a:pPr>
              <a:defRPr/>
            </a:pPr>
            <a:fld id="{A040D6B0-E7A3-4EDB-AE76-A681F5EBB97E}"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E108263-9A77-4E1A-9184-293EEEFA79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504609061"/>
      </p:ext>
    </p:extLst>
  </p:cSld>
  <p:clrMapOvr>
    <a:masterClrMapping/>
  </p:clrMapOvr>
  <p:transition spd="med">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11"/>
          </p:nvPr>
        </p:nvSpPr>
        <p:spPr/>
        <p:txBody>
          <a:bodyPr/>
          <a:lstStyle>
            <a:lvl1pPr>
              <a:defRPr/>
            </a:lvl1pPr>
          </a:lstStyle>
          <a:p>
            <a:pPr>
              <a:defRPr/>
            </a:pPr>
            <a:fld id="{B4927C7E-EBDA-42F6-8B62-59C143241654}"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28E1C2A3-9072-4F9E-9CE1-76C6EAC3B0F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303230491"/>
      </p:ext>
    </p:extLst>
  </p:cSld>
  <p:clrMapOvr>
    <a:masterClrMapping/>
  </p:clrMapOvr>
  <p:transition spd="med">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7CA02831-9FCC-49D9-AFEE-B22EA5F9AF42}"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31571E2-899E-4F5A-BAD5-50AB52FB4C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552218670"/>
      </p:ext>
    </p:extLst>
  </p:cSld>
  <p:clrMapOvr>
    <a:masterClrMapping/>
  </p:clrMapOvr>
  <p:transition spd="med">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DF6E525E-7FA1-4430-805F-C8E0A53A470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9ECFAF0-4CA5-42E1-A53C-4310B5D9169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636518129"/>
      </p:ext>
    </p:extLst>
  </p:cSld>
  <p:clrMapOvr>
    <a:masterClrMapping/>
  </p:clrMapOvr>
  <p:transition spd="med">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a:prstGeom prst="rect">
            <a:avLst/>
          </a:prstGeom>
        </p:spPr>
        <p:txBody>
          <a:bodyPr anchor="b"/>
          <a:lstStyle>
            <a:lvl1pPr algn="l">
              <a:defRPr sz="2000" b="1">
                <a:solidFill>
                  <a:schemeClr val="tx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4025559"/>
            <a:ext cx="5486400" cy="603647"/>
          </a:xfrm>
          <a:prstGeom prst="rect">
            <a:avLst/>
          </a:prstGeo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1D2F5AC4-199A-4D08-AC6A-8BB9C244285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BE66F2-AE08-498A-B6F7-6BC61C51D6B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087341451"/>
      </p:ext>
    </p:extLst>
  </p:cSld>
  <p:clrMapOvr>
    <a:masterClrMapping/>
  </p:clrMapOvr>
  <p:transition spd="med">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a:prstGeom prst="rect">
            <a:avLst/>
          </a:prstGeom>
        </p:spPr>
        <p:txBody>
          <a:bodyPr vert="eaVert"/>
          <a:lstStyle>
            <a:lvl1pPr>
              <a:defRPr>
                <a:solidFill>
                  <a:schemeClr val="tx1"/>
                </a:solidFill>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205980"/>
            <a:ext cx="6019800" cy="4388644"/>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ADC08C04-2700-4591-B9A1-0E946CDCA8AA}"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9E06965-FC6A-4994-BB99-5452580217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761092331"/>
      </p:ext>
    </p:extLst>
  </p:cSld>
  <p:clrMapOvr>
    <a:masterClrMapping/>
  </p:clrMapOvr>
  <p:transition spd="med">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0" y="4763691"/>
            <a:ext cx="9144000" cy="273844"/>
          </a:xfrm>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F92ECE36-7098-4256-9B89-F25D8DB1A1FB}"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FAF554F-BB91-4BBC-A556-A67D02F08C7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943586555"/>
      </p:ext>
    </p:extLst>
  </p:cSld>
  <p:clrMapOvr>
    <a:masterClrMapping/>
  </p:clrMapOvr>
  <p:transition spd="med">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Slide Blue">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bwMode="gray">
          <a:xfrm>
            <a:off x="365125" y="4849472"/>
            <a:ext cx="3943350" cy="200055"/>
          </a:xfrm>
          <a:prstGeom prst="rect">
            <a:avLst/>
          </a:prstGeom>
          <a:noFill/>
        </p:spPr>
        <p:txBody>
          <a:bodyPr>
            <a:spAutoFit/>
          </a:bodyPr>
          <a:lstStyle/>
          <a:p>
            <a:pPr defTabSz="914400" fontAlgn="base">
              <a:spcBef>
                <a:spcPct val="0"/>
              </a:spcBef>
              <a:spcAft>
                <a:spcPct val="0"/>
              </a:spcAft>
              <a:defRPr/>
            </a:pPr>
            <a:r>
              <a:rPr lang="en-US" sz="700" dirty="0">
                <a:solidFill>
                  <a:srgbClr val="196EA3"/>
                </a:solidFill>
                <a:latin typeface="Futura Bk" pitchFamily="34" charset="0"/>
              </a:rPr>
              <a:t>©2009 HP Confidential</a:t>
            </a:r>
          </a:p>
        </p:txBody>
      </p:sp>
      <p:pic>
        <p:nvPicPr>
          <p:cNvPr id="6" name="Picture 7"/>
          <p:cNvPicPr>
            <a:picLocks noChangeAspect="1" noChangeArrowheads="1"/>
          </p:cNvPicPr>
          <p:nvPr userDrawn="1"/>
        </p:nvPicPr>
        <p:blipFill>
          <a:blip r:embed="rId2" cstate="print"/>
          <a:srcRect r="7471" b="6709"/>
          <a:stretch>
            <a:fillRect/>
          </a:stretch>
        </p:blipFill>
        <p:spPr bwMode="auto">
          <a:xfrm>
            <a:off x="7994650" y="1453809"/>
            <a:ext cx="1149350" cy="3689747"/>
          </a:xfrm>
          <a:prstGeom prst="rect">
            <a:avLst/>
          </a:prstGeom>
          <a:noFill/>
          <a:ln w="9525">
            <a:noFill/>
            <a:miter lim="800000"/>
            <a:headEnd/>
            <a:tailEnd/>
          </a:ln>
        </p:spPr>
      </p:pic>
      <p:sp>
        <p:nvSpPr>
          <p:cNvPr id="3" name="Subtitle 2"/>
          <p:cNvSpPr>
            <a:spLocks noGrp="1"/>
          </p:cNvSpPr>
          <p:nvPr>
            <p:ph type="subTitle" idx="1"/>
          </p:nvPr>
        </p:nvSpPr>
        <p:spPr bwMode="black">
          <a:xfrm>
            <a:off x="357089" y="3799046"/>
            <a:ext cx="6400800" cy="701763"/>
          </a:xfrm>
          <a:prstGeom prst="rect">
            <a:avLst/>
          </a:prstGeom>
        </p:spPr>
        <p:txBody>
          <a:bodyPr anchor="b">
            <a:noAutofit/>
          </a:bodyPr>
          <a:lstStyle>
            <a:lvl1pPr marL="0" marR="0" indent="0" algn="l" defTabSz="914400" rtl="0" eaLnBrk="1" fontAlgn="auto" latinLnBrk="0" hangingPunct="1">
              <a:lnSpc>
                <a:spcPct val="120000"/>
              </a:lnSpc>
              <a:spcBef>
                <a:spcPts val="0"/>
              </a:spcBef>
              <a:spcAft>
                <a:spcPts val="0"/>
              </a:spcAft>
              <a:buClrTx/>
              <a:buSzPct val="100000"/>
              <a:buFontTx/>
              <a:buNone/>
              <a:tabLst/>
              <a:defRPr sz="1500">
                <a:solidFill>
                  <a:schemeClr val="bg1"/>
                </a:solidFill>
                <a:latin typeface="Futura Bk"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itle 10"/>
          <p:cNvSpPr>
            <a:spLocks noGrp="1"/>
          </p:cNvSpPr>
          <p:nvPr>
            <p:ph type="title"/>
          </p:nvPr>
        </p:nvSpPr>
        <p:spPr bwMode="black">
          <a:xfrm>
            <a:off x="929640" y="2069307"/>
            <a:ext cx="7274560" cy="988218"/>
          </a:xfrm>
          <a:prstGeom prst="rect">
            <a:avLst/>
          </a:prstGeom>
        </p:spPr>
        <p:txBody>
          <a:bodyPr/>
          <a:lstStyle>
            <a:lvl1pPr algn="ctr">
              <a:lnSpc>
                <a:spcPts val="4000"/>
              </a:lnSpc>
              <a:defRPr sz="400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xmlns="" val="3062577341"/>
      </p:ext>
    </p:extLst>
  </p:cSld>
  <p:clrMapOvr>
    <a:masterClrMapping/>
  </p:clrMapOvr>
  <p:transition spd="med">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tx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8E0DEF91-63D7-405E-9535-99E1796A8B8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F73C24-D277-46A9-9806-5663364F55AF}"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152393726"/>
      </p:ext>
    </p:extLst>
  </p:cSld>
  <p:clrMapOvr>
    <a:masterClrMapping/>
  </p:clrMapOvr>
  <p:transition spd="med">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1"/>
      </p:bgRef>
    </p:bg>
    <p:spTree>
      <p:nvGrpSpPr>
        <p:cNvPr id="1" name=""/>
        <p:cNvGrpSpPr/>
        <p:nvPr/>
      </p:nvGrpSpPr>
      <p:grpSpPr>
        <a:xfrm>
          <a:off x="0" y="0"/>
          <a:ext cx="0" cy="0"/>
          <a:chOff x="0" y="0"/>
          <a:chExt cx="0" cy="0"/>
        </a:xfrm>
      </p:grpSpPr>
      <p:pic>
        <p:nvPicPr>
          <p:cNvPr id="4" name="Picture 7" descr="HP_D_RGB_M.png"/>
          <p:cNvPicPr>
            <a:picLocks noChangeAspect="1"/>
          </p:cNvPicPr>
          <p:nvPr userDrawn="1"/>
        </p:nvPicPr>
        <p:blipFill>
          <a:blip r:embed="rId2" cstate="print"/>
          <a:srcRect/>
          <a:stretch>
            <a:fillRect/>
          </a:stretch>
        </p:blipFill>
        <p:spPr bwMode="auto">
          <a:xfrm>
            <a:off x="6903097" y="661812"/>
            <a:ext cx="1517015" cy="1137761"/>
          </a:xfrm>
          <a:prstGeom prst="rect">
            <a:avLst/>
          </a:prstGeom>
          <a:noFill/>
          <a:ln w="9525">
            <a:noFill/>
            <a:miter lim="800000"/>
            <a:headEnd/>
            <a:tailEnd/>
          </a:ln>
        </p:spPr>
      </p:pic>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75977A33-3B78-47F9-A063-6913D7750EC5}" type="datetime1">
              <a:rPr lang="en-US" smtClean="0">
                <a:solidFill>
                  <a:prstClr val="white">
                    <a:tint val="75000"/>
                  </a:prstClr>
                </a:solidFill>
              </a:rPr>
              <a:pPr>
                <a:defRPr/>
              </a:pPr>
              <a:t>11/16/2012</a:t>
            </a:fld>
            <a:endParaRPr lang="en-US" dirty="0">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smtClean="0">
                <a:solidFill>
                  <a:prstClr val="white">
                    <a:tint val="75000"/>
                  </a:prstClr>
                </a:solidFill>
              </a:rPr>
              <a:t>© 2012 Hewlett-Packard Company - HP Confidential</a:t>
            </a:r>
            <a:endParaRPr lang="en-US" dirty="0">
              <a:solidFill>
                <a:prstClr val="white">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536159-4EBC-4956-80D1-D691668E34FE}" type="slidenum">
              <a:rPr lang="en-US">
                <a:solidFill>
                  <a:prstClr val="white">
                    <a:tint val="75000"/>
                  </a:prstClr>
                </a:solidFill>
              </a:rPr>
              <a:pPr>
                <a:defRPr/>
              </a:pPr>
              <a:t>‹#›</a:t>
            </a:fld>
            <a:endParaRPr lang="en-US" dirty="0">
              <a:solidFill>
                <a:prstClr val="white">
                  <a:tint val="75000"/>
                </a:prstClr>
              </a:solidFill>
            </a:endParaRPr>
          </a:p>
        </p:txBody>
      </p:sp>
    </p:spTree>
    <p:extLst>
      <p:ext uri="{BB962C8B-B14F-4D97-AF65-F5344CB8AC3E}">
        <p14:creationId xmlns:p14="http://schemas.microsoft.com/office/powerpoint/2010/main" xmlns="" val="3235287660"/>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200151"/>
            <a:ext cx="8229600" cy="339447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EA8BB888-0697-4350-8298-E0CD0DF9CFE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5F75D6F-272E-4811-8F6B-E4C2FF79A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162207306"/>
      </p:ext>
    </p:extLst>
  </p:cSld>
  <p:clrMapOvr>
    <a:masterClrMapping/>
  </p:clrMapOvr>
  <p:transition spd="med">
    <p:fade/>
  </p:transition>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normAutofit/>
          </a:bodyPr>
          <a:lstStyle>
            <a:lvl1pPr>
              <a:defRPr sz="2000" b="1">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000" b="1">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B9C4FF6E-1DEC-4D9C-895F-280C75CCD1F8}"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584C529-9E14-40CB-AFDB-1714415109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803065095"/>
      </p:ext>
    </p:extLst>
  </p:cSld>
  <p:clrMapOvr>
    <a:masterClrMapping/>
  </p:clrMapOvr>
  <p:transition spd="med">
    <p:fade/>
  </p:transition>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9858"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489858" y="1151335"/>
            <a:ext cx="4040188"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89858" y="1631156"/>
            <a:ext cx="4040188"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77687" y="1151335"/>
            <a:ext cx="4041775"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77687" y="1631156"/>
            <a:ext cx="4041775"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8" name="Date Placeholder 3"/>
          <p:cNvSpPr>
            <a:spLocks noGrp="1"/>
          </p:cNvSpPr>
          <p:nvPr>
            <p:ph type="dt" sz="half" idx="11"/>
          </p:nvPr>
        </p:nvSpPr>
        <p:spPr/>
        <p:txBody>
          <a:bodyPr/>
          <a:lstStyle>
            <a:lvl1pPr>
              <a:defRPr/>
            </a:lvl1pPr>
          </a:lstStyle>
          <a:p>
            <a:pPr>
              <a:defRPr/>
            </a:pPr>
            <a:fld id="{A040D6B0-E7A3-4EDB-AE76-A681F5EBB97E}"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E108263-9A77-4E1A-9184-293EEEFA79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376431406"/>
      </p:ext>
    </p:extLst>
  </p:cSld>
  <p:clrMapOvr>
    <a:masterClrMapping/>
  </p:clrMapOvr>
  <p:transition spd="med">
    <p:fade/>
  </p:transition>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11"/>
          </p:nvPr>
        </p:nvSpPr>
        <p:spPr/>
        <p:txBody>
          <a:bodyPr/>
          <a:lstStyle>
            <a:lvl1pPr>
              <a:defRPr/>
            </a:lvl1pPr>
          </a:lstStyle>
          <a:p>
            <a:pPr>
              <a:defRPr/>
            </a:pPr>
            <a:fld id="{B4927C7E-EBDA-42F6-8B62-59C143241654}"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28E1C2A3-9072-4F9E-9CE1-76C6EAC3B0F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837975832"/>
      </p:ext>
    </p:extLst>
  </p:cSld>
  <p:clrMapOvr>
    <a:masterClrMapping/>
  </p:clrMapOvr>
  <p:transition spd="med">
    <p:fade/>
  </p:transition>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7CA02831-9FCC-49D9-AFEE-B22EA5F9AF42}"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31571E2-899E-4F5A-BAD5-50AB52FB4C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845614019"/>
      </p:ext>
    </p:extLst>
  </p:cSld>
  <p:clrMapOvr>
    <a:masterClrMapping/>
  </p:clrMapOvr>
  <p:transition spd="med">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DF6E525E-7FA1-4430-805F-C8E0A53A470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9ECFAF0-4CA5-42E1-A53C-4310B5D9169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745476887"/>
      </p:ext>
    </p:extLst>
  </p:cSld>
  <p:clrMapOvr>
    <a:masterClrMapping/>
  </p:clrMapOvr>
  <p:transition spd="med">
    <p:fade/>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a:prstGeom prst="rect">
            <a:avLst/>
          </a:prstGeom>
        </p:spPr>
        <p:txBody>
          <a:bodyPr anchor="b"/>
          <a:lstStyle>
            <a:lvl1pPr algn="l">
              <a:defRPr sz="2000" b="1">
                <a:solidFill>
                  <a:schemeClr val="tx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4025556"/>
            <a:ext cx="5486400" cy="603647"/>
          </a:xfrm>
          <a:prstGeom prst="rect">
            <a:avLst/>
          </a:prstGeo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1D2F5AC4-199A-4D08-AC6A-8BB9C244285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BE66F2-AE08-498A-B6F7-6BC61C51D6B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021913823"/>
      </p:ext>
    </p:extLst>
  </p:cSld>
  <p:clrMapOvr>
    <a:masterClrMapping/>
  </p:clrMapOvr>
  <p:transition spd="med">
    <p:fade/>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a:prstGeom prst="rect">
            <a:avLst/>
          </a:prstGeom>
        </p:spPr>
        <p:txBody>
          <a:bodyPr vert="eaVert"/>
          <a:lstStyle>
            <a:lvl1pPr>
              <a:defRPr>
                <a:solidFill>
                  <a:schemeClr val="tx1"/>
                </a:solidFill>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205980"/>
            <a:ext cx="6019800" cy="4388644"/>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ADC08C04-2700-4591-B9A1-0E946CDCA8AA}"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9E06965-FC6A-4994-BB99-5452580217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763495495"/>
      </p:ext>
    </p:extLst>
  </p:cSld>
  <p:clrMapOvr>
    <a:masterClrMapping/>
  </p:clrMapOvr>
  <p:transition spd="med">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0" y="4763691"/>
            <a:ext cx="9144000" cy="273844"/>
          </a:xfrm>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F92ECE36-7098-4256-9B89-F25D8DB1A1FB}"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FAF554F-BB91-4BBC-A556-A67D02F08C7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799203646"/>
      </p:ext>
    </p:extLst>
  </p:cSld>
  <p:clrMapOvr>
    <a:masterClrMapping/>
  </p:clrMapOvr>
  <p:transition spd="med">
    <p:fade/>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Title Slide Blue">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bwMode="gray">
          <a:xfrm>
            <a:off x="365125" y="4849469"/>
            <a:ext cx="3943350" cy="200055"/>
          </a:xfrm>
          <a:prstGeom prst="rect">
            <a:avLst/>
          </a:prstGeom>
          <a:noFill/>
        </p:spPr>
        <p:txBody>
          <a:bodyPr>
            <a:spAutoFit/>
          </a:bodyPr>
          <a:lstStyle/>
          <a:p>
            <a:pPr defTabSz="914400" fontAlgn="base">
              <a:spcBef>
                <a:spcPct val="0"/>
              </a:spcBef>
              <a:spcAft>
                <a:spcPct val="0"/>
              </a:spcAft>
              <a:defRPr/>
            </a:pPr>
            <a:r>
              <a:rPr lang="en-US" sz="700" dirty="0">
                <a:solidFill>
                  <a:srgbClr val="196EA3"/>
                </a:solidFill>
                <a:latin typeface="Futura Bk" pitchFamily="34" charset="0"/>
              </a:rPr>
              <a:t>©2009 HP Confidential</a:t>
            </a:r>
          </a:p>
        </p:txBody>
      </p:sp>
      <p:pic>
        <p:nvPicPr>
          <p:cNvPr id="6" name="Picture 7"/>
          <p:cNvPicPr>
            <a:picLocks noChangeAspect="1" noChangeArrowheads="1"/>
          </p:cNvPicPr>
          <p:nvPr userDrawn="1"/>
        </p:nvPicPr>
        <p:blipFill>
          <a:blip r:embed="rId2" cstate="print"/>
          <a:srcRect r="7471" b="6709"/>
          <a:stretch>
            <a:fillRect/>
          </a:stretch>
        </p:blipFill>
        <p:spPr bwMode="auto">
          <a:xfrm>
            <a:off x="7994650" y="1453806"/>
            <a:ext cx="1149350" cy="3689747"/>
          </a:xfrm>
          <a:prstGeom prst="rect">
            <a:avLst/>
          </a:prstGeom>
          <a:noFill/>
          <a:ln w="9525">
            <a:noFill/>
            <a:miter lim="800000"/>
            <a:headEnd/>
            <a:tailEnd/>
          </a:ln>
        </p:spPr>
      </p:pic>
      <p:sp>
        <p:nvSpPr>
          <p:cNvPr id="3" name="Subtitle 2"/>
          <p:cNvSpPr>
            <a:spLocks noGrp="1"/>
          </p:cNvSpPr>
          <p:nvPr>
            <p:ph type="subTitle" idx="1"/>
          </p:nvPr>
        </p:nvSpPr>
        <p:spPr bwMode="black">
          <a:xfrm>
            <a:off x="357089" y="3799046"/>
            <a:ext cx="6400800" cy="701763"/>
          </a:xfrm>
          <a:prstGeom prst="rect">
            <a:avLst/>
          </a:prstGeom>
        </p:spPr>
        <p:txBody>
          <a:bodyPr anchor="b">
            <a:noAutofit/>
          </a:bodyPr>
          <a:lstStyle>
            <a:lvl1pPr marL="0" marR="0" indent="0" algn="l" defTabSz="914400" rtl="0" eaLnBrk="1" fontAlgn="auto" latinLnBrk="0" hangingPunct="1">
              <a:lnSpc>
                <a:spcPct val="120000"/>
              </a:lnSpc>
              <a:spcBef>
                <a:spcPts val="0"/>
              </a:spcBef>
              <a:spcAft>
                <a:spcPts val="0"/>
              </a:spcAft>
              <a:buClrTx/>
              <a:buSzPct val="100000"/>
              <a:buFontTx/>
              <a:buNone/>
              <a:tabLst/>
              <a:defRPr sz="1500">
                <a:solidFill>
                  <a:schemeClr val="bg1"/>
                </a:solidFill>
                <a:latin typeface="Futura Bk"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itle 10"/>
          <p:cNvSpPr>
            <a:spLocks noGrp="1"/>
          </p:cNvSpPr>
          <p:nvPr>
            <p:ph type="title"/>
          </p:nvPr>
        </p:nvSpPr>
        <p:spPr bwMode="black">
          <a:xfrm>
            <a:off x="929640" y="2069307"/>
            <a:ext cx="7274560" cy="988218"/>
          </a:xfrm>
          <a:prstGeom prst="rect">
            <a:avLst/>
          </a:prstGeom>
        </p:spPr>
        <p:txBody>
          <a:bodyPr/>
          <a:lstStyle>
            <a:lvl1pPr algn="ctr">
              <a:lnSpc>
                <a:spcPts val="4000"/>
              </a:lnSpc>
              <a:defRPr sz="400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xmlns="" val="2352982995"/>
      </p:ext>
    </p:extLst>
  </p:cSld>
  <p:clrMapOvr>
    <a:masterClrMapping/>
  </p:clrMapOvr>
  <p:transition spd="med">
    <p:fade/>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tx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8E0DEF91-63D7-405E-9535-99E1796A8B8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F73C24-D277-46A9-9806-5663364F55AF}"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616213445"/>
      </p:ext>
    </p:extLst>
  </p:cSld>
  <p:clrMapOvr>
    <a:masterClrMapping/>
  </p:clrMapOvr>
  <p:transition spd="med">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1"/>
      </p:bgRef>
    </p:bg>
    <p:spTree>
      <p:nvGrpSpPr>
        <p:cNvPr id="1" name=""/>
        <p:cNvGrpSpPr/>
        <p:nvPr/>
      </p:nvGrpSpPr>
      <p:grpSpPr>
        <a:xfrm>
          <a:off x="0" y="0"/>
          <a:ext cx="0" cy="0"/>
          <a:chOff x="0" y="0"/>
          <a:chExt cx="0" cy="0"/>
        </a:xfrm>
      </p:grpSpPr>
      <p:pic>
        <p:nvPicPr>
          <p:cNvPr id="4" name="Picture 7" descr="HP_D_RGB_M.png"/>
          <p:cNvPicPr>
            <a:picLocks noChangeAspect="1"/>
          </p:cNvPicPr>
          <p:nvPr userDrawn="1"/>
        </p:nvPicPr>
        <p:blipFill>
          <a:blip r:embed="rId2" cstate="print"/>
          <a:srcRect/>
          <a:stretch>
            <a:fillRect/>
          </a:stretch>
        </p:blipFill>
        <p:spPr bwMode="auto">
          <a:xfrm>
            <a:off x="6903097" y="661808"/>
            <a:ext cx="1517015" cy="1137761"/>
          </a:xfrm>
          <a:prstGeom prst="rect">
            <a:avLst/>
          </a:prstGeom>
          <a:noFill/>
          <a:ln w="9525">
            <a:noFill/>
            <a:miter lim="800000"/>
            <a:headEnd/>
            <a:tailEnd/>
          </a:ln>
        </p:spPr>
      </p:pic>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75977A33-3B78-47F9-A063-6913D7750EC5}" type="datetime1">
              <a:rPr lang="en-US" smtClean="0">
                <a:solidFill>
                  <a:prstClr val="white">
                    <a:tint val="75000"/>
                  </a:prstClr>
                </a:solidFill>
              </a:rPr>
              <a:pPr>
                <a:defRPr/>
              </a:pPr>
              <a:t>11/16/2012</a:t>
            </a:fld>
            <a:endParaRPr lang="en-US" dirty="0">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smtClean="0">
                <a:solidFill>
                  <a:prstClr val="white">
                    <a:tint val="75000"/>
                  </a:prstClr>
                </a:solidFill>
              </a:rPr>
              <a:t>© 2012 Hewlett-Packard Company - HP Confidential</a:t>
            </a:r>
            <a:endParaRPr lang="en-US" dirty="0">
              <a:solidFill>
                <a:prstClr val="white">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536159-4EBC-4956-80D1-D691668E34FE}" type="slidenum">
              <a:rPr lang="en-US">
                <a:solidFill>
                  <a:prstClr val="white">
                    <a:tint val="75000"/>
                  </a:prstClr>
                </a:solidFill>
              </a:rPr>
              <a:pPr>
                <a:defRPr/>
              </a:pPr>
              <a:t>‹#›</a:t>
            </a:fld>
            <a:endParaRPr lang="en-US" dirty="0">
              <a:solidFill>
                <a:prstClr val="white">
                  <a:tint val="75000"/>
                </a:prstClr>
              </a:solidFill>
            </a:endParaRPr>
          </a:p>
        </p:txBody>
      </p:sp>
    </p:spTree>
    <p:extLst>
      <p:ext uri="{BB962C8B-B14F-4D97-AF65-F5344CB8AC3E}">
        <p14:creationId xmlns:p14="http://schemas.microsoft.com/office/powerpoint/2010/main" xmlns="" val="134027294"/>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200151"/>
            <a:ext cx="8229600" cy="339447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EA8BB888-0697-4350-8298-E0CD0DF9CFE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5F75D6F-272E-4811-8F6B-E4C2FF79A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878181345"/>
      </p:ext>
    </p:extLst>
  </p:cSld>
  <p:clrMapOvr>
    <a:masterClrMapping/>
  </p:clrMapOvr>
  <p:transition spd="med">
    <p:fade/>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normAutofit/>
          </a:bodyPr>
          <a:lstStyle>
            <a:lvl1pPr>
              <a:defRPr sz="2000" b="1">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000" b="1">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B9C4FF6E-1DEC-4D9C-895F-280C75CCD1F8}"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584C529-9E14-40CB-AFDB-1714415109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070581879"/>
      </p:ext>
    </p:extLst>
  </p:cSld>
  <p:clrMapOvr>
    <a:masterClrMapping/>
  </p:clrMapOvr>
  <p:transition spd="med">
    <p:fade/>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9858"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489858" y="1151335"/>
            <a:ext cx="4040188"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89858" y="1631156"/>
            <a:ext cx="4040188"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77687" y="1151335"/>
            <a:ext cx="4041775"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77687" y="1631156"/>
            <a:ext cx="4041775"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8" name="Date Placeholder 3"/>
          <p:cNvSpPr>
            <a:spLocks noGrp="1"/>
          </p:cNvSpPr>
          <p:nvPr>
            <p:ph type="dt" sz="half" idx="11"/>
          </p:nvPr>
        </p:nvSpPr>
        <p:spPr/>
        <p:txBody>
          <a:bodyPr/>
          <a:lstStyle>
            <a:lvl1pPr>
              <a:defRPr/>
            </a:lvl1pPr>
          </a:lstStyle>
          <a:p>
            <a:pPr>
              <a:defRPr/>
            </a:pPr>
            <a:fld id="{A040D6B0-E7A3-4EDB-AE76-A681F5EBB97E}"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E108263-9A77-4E1A-9184-293EEEFA79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21365284"/>
      </p:ext>
    </p:extLst>
  </p:cSld>
  <p:clrMapOvr>
    <a:masterClrMapping/>
  </p:clrMapOvr>
  <p:transition spd="med">
    <p:fade/>
  </p:transition>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11"/>
          </p:nvPr>
        </p:nvSpPr>
        <p:spPr/>
        <p:txBody>
          <a:bodyPr/>
          <a:lstStyle>
            <a:lvl1pPr>
              <a:defRPr/>
            </a:lvl1pPr>
          </a:lstStyle>
          <a:p>
            <a:pPr>
              <a:defRPr/>
            </a:pPr>
            <a:fld id="{B4927C7E-EBDA-42F6-8B62-59C143241654}"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28E1C2A3-9072-4F9E-9CE1-76C6EAC3B0F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976977111"/>
      </p:ext>
    </p:extLst>
  </p:cSld>
  <p:clrMapOvr>
    <a:masterClrMapping/>
  </p:clrMapOvr>
  <p:transition spd="med">
    <p:fade/>
  </p:transition>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7CA02831-9FCC-49D9-AFEE-B22EA5F9AF42}"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31571E2-899E-4F5A-BAD5-50AB52FB4C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950591587"/>
      </p:ext>
    </p:extLst>
  </p:cSld>
  <p:clrMapOvr>
    <a:masterClrMapping/>
  </p:clrMapOvr>
  <p:transition spd="med">
    <p:fade/>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DF6E525E-7FA1-4430-805F-C8E0A53A470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9ECFAF0-4CA5-42E1-A53C-4310B5D9169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145179401"/>
      </p:ext>
    </p:extLst>
  </p:cSld>
  <p:clrMapOvr>
    <a:masterClrMapping/>
  </p:clrMapOvr>
  <p:transition spd="med">
    <p:fade/>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a:prstGeom prst="rect">
            <a:avLst/>
          </a:prstGeom>
        </p:spPr>
        <p:txBody>
          <a:bodyPr anchor="b"/>
          <a:lstStyle>
            <a:lvl1pPr algn="l">
              <a:defRPr sz="2000" b="1">
                <a:solidFill>
                  <a:schemeClr val="tx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4025552"/>
            <a:ext cx="5486400" cy="603647"/>
          </a:xfrm>
          <a:prstGeom prst="rect">
            <a:avLst/>
          </a:prstGeo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1D2F5AC4-199A-4D08-AC6A-8BB9C244285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BE66F2-AE08-498A-B6F7-6BC61C51D6B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859271173"/>
      </p:ext>
    </p:extLst>
  </p:cSld>
  <p:clrMapOvr>
    <a:masterClrMapping/>
  </p:clrMapOvr>
  <p:transition spd="med">
    <p:fade/>
  </p:transition>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a:prstGeom prst="rect">
            <a:avLst/>
          </a:prstGeom>
        </p:spPr>
        <p:txBody>
          <a:bodyPr vert="eaVert"/>
          <a:lstStyle>
            <a:lvl1pPr>
              <a:defRPr>
                <a:solidFill>
                  <a:schemeClr val="tx1"/>
                </a:solidFill>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205980"/>
            <a:ext cx="6019800" cy="4388644"/>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ADC08C04-2700-4591-B9A1-0E946CDCA8AA}"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9E06965-FC6A-4994-BB99-5452580217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604042092"/>
      </p:ext>
    </p:extLst>
  </p:cSld>
  <p:clrMapOvr>
    <a:masterClrMapping/>
  </p:clrMapOvr>
  <p:transition spd="med">
    <p:fade/>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0" y="4763691"/>
            <a:ext cx="9144000" cy="273844"/>
          </a:xfrm>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F92ECE36-7098-4256-9B89-F25D8DB1A1FB}"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FAF554F-BB91-4BBC-A556-A67D02F08C7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625094685"/>
      </p:ext>
    </p:extLst>
  </p:cSld>
  <p:clrMapOvr>
    <a:masterClrMapping/>
  </p:clrMapOvr>
  <p:transition spd="med">
    <p:fade/>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Title Slide Blue">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bwMode="gray">
          <a:xfrm>
            <a:off x="365125" y="4849465"/>
            <a:ext cx="3943350" cy="200055"/>
          </a:xfrm>
          <a:prstGeom prst="rect">
            <a:avLst/>
          </a:prstGeom>
          <a:noFill/>
        </p:spPr>
        <p:txBody>
          <a:bodyPr>
            <a:spAutoFit/>
          </a:bodyPr>
          <a:lstStyle/>
          <a:p>
            <a:pPr defTabSz="914400" fontAlgn="base">
              <a:spcBef>
                <a:spcPct val="0"/>
              </a:spcBef>
              <a:spcAft>
                <a:spcPct val="0"/>
              </a:spcAft>
              <a:defRPr/>
            </a:pPr>
            <a:r>
              <a:rPr lang="en-US" sz="700" dirty="0">
                <a:solidFill>
                  <a:srgbClr val="196EA3"/>
                </a:solidFill>
                <a:latin typeface="Futura Bk" pitchFamily="34" charset="0"/>
              </a:rPr>
              <a:t>©2009 HP Confidential</a:t>
            </a:r>
          </a:p>
        </p:txBody>
      </p:sp>
      <p:pic>
        <p:nvPicPr>
          <p:cNvPr id="6" name="Picture 7"/>
          <p:cNvPicPr>
            <a:picLocks noChangeAspect="1" noChangeArrowheads="1"/>
          </p:cNvPicPr>
          <p:nvPr userDrawn="1"/>
        </p:nvPicPr>
        <p:blipFill>
          <a:blip r:embed="rId2" cstate="print"/>
          <a:srcRect r="7471" b="6709"/>
          <a:stretch>
            <a:fillRect/>
          </a:stretch>
        </p:blipFill>
        <p:spPr bwMode="auto">
          <a:xfrm>
            <a:off x="7994650" y="1453802"/>
            <a:ext cx="1149350" cy="3689747"/>
          </a:xfrm>
          <a:prstGeom prst="rect">
            <a:avLst/>
          </a:prstGeom>
          <a:noFill/>
          <a:ln w="9525">
            <a:noFill/>
            <a:miter lim="800000"/>
            <a:headEnd/>
            <a:tailEnd/>
          </a:ln>
        </p:spPr>
      </p:pic>
      <p:sp>
        <p:nvSpPr>
          <p:cNvPr id="3" name="Subtitle 2"/>
          <p:cNvSpPr>
            <a:spLocks noGrp="1"/>
          </p:cNvSpPr>
          <p:nvPr>
            <p:ph type="subTitle" idx="1"/>
          </p:nvPr>
        </p:nvSpPr>
        <p:spPr bwMode="black">
          <a:xfrm>
            <a:off x="357089" y="3799046"/>
            <a:ext cx="6400800" cy="701763"/>
          </a:xfrm>
          <a:prstGeom prst="rect">
            <a:avLst/>
          </a:prstGeom>
        </p:spPr>
        <p:txBody>
          <a:bodyPr anchor="b">
            <a:noAutofit/>
          </a:bodyPr>
          <a:lstStyle>
            <a:lvl1pPr marL="0" marR="0" indent="0" algn="l" defTabSz="914400" rtl="0" eaLnBrk="1" fontAlgn="auto" latinLnBrk="0" hangingPunct="1">
              <a:lnSpc>
                <a:spcPct val="120000"/>
              </a:lnSpc>
              <a:spcBef>
                <a:spcPts val="0"/>
              </a:spcBef>
              <a:spcAft>
                <a:spcPts val="0"/>
              </a:spcAft>
              <a:buClrTx/>
              <a:buSzPct val="100000"/>
              <a:buFontTx/>
              <a:buNone/>
              <a:tabLst/>
              <a:defRPr sz="1500">
                <a:solidFill>
                  <a:schemeClr val="bg1"/>
                </a:solidFill>
                <a:latin typeface="Futura Bk"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itle 10"/>
          <p:cNvSpPr>
            <a:spLocks noGrp="1"/>
          </p:cNvSpPr>
          <p:nvPr>
            <p:ph type="title"/>
          </p:nvPr>
        </p:nvSpPr>
        <p:spPr bwMode="black">
          <a:xfrm>
            <a:off x="929640" y="2069307"/>
            <a:ext cx="7274560" cy="988218"/>
          </a:xfrm>
          <a:prstGeom prst="rect">
            <a:avLst/>
          </a:prstGeom>
        </p:spPr>
        <p:txBody>
          <a:bodyPr/>
          <a:lstStyle>
            <a:lvl1pPr algn="ctr">
              <a:lnSpc>
                <a:spcPts val="4000"/>
              </a:lnSpc>
              <a:defRPr sz="400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xmlns="" val="655038658"/>
      </p:ext>
    </p:extLst>
  </p:cSld>
  <p:clrMapOvr>
    <a:masterClrMapping/>
  </p:clrMapOvr>
  <p:transition spd="med">
    <p:fade/>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tx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8E0DEF91-63D7-405E-9535-99E1796A8B8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F73C24-D277-46A9-9806-5663364F55AF}"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058020078"/>
      </p:ext>
    </p:extLst>
  </p:cSld>
  <p:clrMapOvr>
    <a:masterClrMapping/>
  </p:clrMapOvr>
  <p:transition spd="med">
    <p:fade/>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1"/>
      </p:bgRef>
    </p:bg>
    <p:spTree>
      <p:nvGrpSpPr>
        <p:cNvPr id="1" name=""/>
        <p:cNvGrpSpPr/>
        <p:nvPr/>
      </p:nvGrpSpPr>
      <p:grpSpPr>
        <a:xfrm>
          <a:off x="0" y="0"/>
          <a:ext cx="0" cy="0"/>
          <a:chOff x="0" y="0"/>
          <a:chExt cx="0" cy="0"/>
        </a:xfrm>
      </p:grpSpPr>
      <p:pic>
        <p:nvPicPr>
          <p:cNvPr id="4" name="Picture 7" descr="HP_D_RGB_M.png"/>
          <p:cNvPicPr>
            <a:picLocks noChangeAspect="1"/>
          </p:cNvPicPr>
          <p:nvPr userDrawn="1"/>
        </p:nvPicPr>
        <p:blipFill>
          <a:blip r:embed="rId2" cstate="print"/>
          <a:srcRect/>
          <a:stretch>
            <a:fillRect/>
          </a:stretch>
        </p:blipFill>
        <p:spPr bwMode="auto">
          <a:xfrm>
            <a:off x="6903097" y="661803"/>
            <a:ext cx="1517015" cy="1137761"/>
          </a:xfrm>
          <a:prstGeom prst="rect">
            <a:avLst/>
          </a:prstGeom>
          <a:noFill/>
          <a:ln w="9525">
            <a:noFill/>
            <a:miter lim="800000"/>
            <a:headEnd/>
            <a:tailEnd/>
          </a:ln>
        </p:spPr>
      </p:pic>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75977A33-3B78-47F9-A063-6913D7750EC5}" type="datetime1">
              <a:rPr lang="en-US" smtClean="0">
                <a:solidFill>
                  <a:prstClr val="white">
                    <a:tint val="75000"/>
                  </a:prstClr>
                </a:solidFill>
              </a:rPr>
              <a:pPr>
                <a:defRPr/>
              </a:pPr>
              <a:t>11/16/2012</a:t>
            </a:fld>
            <a:endParaRPr lang="en-US" dirty="0">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smtClean="0">
                <a:solidFill>
                  <a:prstClr val="white">
                    <a:tint val="75000"/>
                  </a:prstClr>
                </a:solidFill>
              </a:rPr>
              <a:t>© 2012 Hewlett-Packard Company - HP Confidential</a:t>
            </a:r>
            <a:endParaRPr lang="en-US" dirty="0">
              <a:solidFill>
                <a:prstClr val="white">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536159-4EBC-4956-80D1-D691668E34FE}" type="slidenum">
              <a:rPr lang="en-US">
                <a:solidFill>
                  <a:prstClr val="white">
                    <a:tint val="75000"/>
                  </a:prstClr>
                </a:solidFill>
              </a:rPr>
              <a:pPr>
                <a:defRPr/>
              </a:pPr>
              <a:t>‹#›</a:t>
            </a:fld>
            <a:endParaRPr lang="en-US" dirty="0">
              <a:solidFill>
                <a:prstClr val="white">
                  <a:tint val="75000"/>
                </a:prstClr>
              </a:solidFill>
            </a:endParaRPr>
          </a:p>
        </p:txBody>
      </p:sp>
    </p:spTree>
    <p:extLst>
      <p:ext uri="{BB962C8B-B14F-4D97-AF65-F5344CB8AC3E}">
        <p14:creationId xmlns:p14="http://schemas.microsoft.com/office/powerpoint/2010/main" xmlns="" val="3960789398"/>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200151"/>
            <a:ext cx="8229600" cy="339447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EA8BB888-0697-4350-8298-E0CD0DF9CFE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5F75D6F-272E-4811-8F6B-E4C2FF79A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236689427"/>
      </p:ext>
    </p:extLst>
  </p:cSld>
  <p:clrMapOvr>
    <a:masterClrMapping/>
  </p:clrMapOvr>
  <p:transition spd="med">
    <p:fade/>
  </p:transition>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normAutofit/>
          </a:bodyPr>
          <a:lstStyle>
            <a:lvl1pPr>
              <a:defRPr sz="2000" b="1">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000" b="1">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B9C4FF6E-1DEC-4D9C-895F-280C75CCD1F8}"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584C529-9E14-40CB-AFDB-1714415109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130163988"/>
      </p:ext>
    </p:extLst>
  </p:cSld>
  <p:clrMapOvr>
    <a:masterClrMapping/>
  </p:clrMapOvr>
  <p:transition spd="med">
    <p:fade/>
  </p:transition>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9858"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489858" y="1151335"/>
            <a:ext cx="4040188"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89858" y="1631156"/>
            <a:ext cx="4040188"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77687" y="1151335"/>
            <a:ext cx="4041775"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77687" y="1631156"/>
            <a:ext cx="4041775"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8" name="Date Placeholder 3"/>
          <p:cNvSpPr>
            <a:spLocks noGrp="1"/>
          </p:cNvSpPr>
          <p:nvPr>
            <p:ph type="dt" sz="half" idx="11"/>
          </p:nvPr>
        </p:nvSpPr>
        <p:spPr/>
        <p:txBody>
          <a:bodyPr/>
          <a:lstStyle>
            <a:lvl1pPr>
              <a:defRPr/>
            </a:lvl1pPr>
          </a:lstStyle>
          <a:p>
            <a:pPr>
              <a:defRPr/>
            </a:pPr>
            <a:fld id="{A040D6B0-E7A3-4EDB-AE76-A681F5EBB97E}"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E108263-9A77-4E1A-9184-293EEEFA79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043410217"/>
      </p:ext>
    </p:extLst>
  </p:cSld>
  <p:clrMapOvr>
    <a:masterClrMapping/>
  </p:clrMapOvr>
  <p:transition spd="med">
    <p:fade/>
  </p:transition>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11"/>
          </p:nvPr>
        </p:nvSpPr>
        <p:spPr/>
        <p:txBody>
          <a:bodyPr/>
          <a:lstStyle>
            <a:lvl1pPr>
              <a:defRPr/>
            </a:lvl1pPr>
          </a:lstStyle>
          <a:p>
            <a:pPr>
              <a:defRPr/>
            </a:pPr>
            <a:fld id="{B4927C7E-EBDA-42F6-8B62-59C143241654}"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28E1C2A3-9072-4F9E-9CE1-76C6EAC3B0F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251412636"/>
      </p:ext>
    </p:extLst>
  </p:cSld>
  <p:clrMapOvr>
    <a:masterClrMapping/>
  </p:clrMapOvr>
  <p:transition spd="med">
    <p:fade/>
  </p:transition>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7CA02831-9FCC-49D9-AFEE-B22EA5F9AF42}"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31571E2-899E-4F5A-BAD5-50AB52FB4C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070445213"/>
      </p:ext>
    </p:extLst>
  </p:cSld>
  <p:clrMapOvr>
    <a:masterClrMapping/>
  </p:clrMapOvr>
  <p:transition spd="med">
    <p:fade/>
  </p:transition>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DF6E525E-7FA1-4430-805F-C8E0A53A470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9ECFAF0-4CA5-42E1-A53C-4310B5D9169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936040190"/>
      </p:ext>
    </p:extLst>
  </p:cSld>
  <p:clrMapOvr>
    <a:masterClrMapping/>
  </p:clrMapOvr>
  <p:transition spd="med">
    <p:fade/>
  </p:transition>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a:prstGeom prst="rect">
            <a:avLst/>
          </a:prstGeom>
        </p:spPr>
        <p:txBody>
          <a:bodyPr anchor="b"/>
          <a:lstStyle>
            <a:lvl1pPr algn="l">
              <a:defRPr sz="2000" b="1">
                <a:solidFill>
                  <a:schemeClr val="tx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4025547"/>
            <a:ext cx="5486400" cy="603647"/>
          </a:xfrm>
          <a:prstGeom prst="rect">
            <a:avLst/>
          </a:prstGeo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1D2F5AC4-199A-4D08-AC6A-8BB9C244285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BE66F2-AE08-498A-B6F7-6BC61C51D6B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22226445"/>
      </p:ext>
    </p:extLst>
  </p:cSld>
  <p:clrMapOvr>
    <a:masterClrMapping/>
  </p:clrMapOvr>
  <p:transition spd="med">
    <p:fade/>
  </p:transition>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a:prstGeom prst="rect">
            <a:avLst/>
          </a:prstGeom>
        </p:spPr>
        <p:txBody>
          <a:bodyPr vert="eaVert"/>
          <a:lstStyle>
            <a:lvl1pPr>
              <a:defRPr>
                <a:solidFill>
                  <a:schemeClr val="tx1"/>
                </a:solidFill>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205980"/>
            <a:ext cx="6019800" cy="4388644"/>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ADC08C04-2700-4591-B9A1-0E946CDCA8AA}"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9E06965-FC6A-4994-BB99-5452580217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509224251"/>
      </p:ext>
    </p:extLst>
  </p:cSld>
  <p:clrMapOvr>
    <a:masterClrMapping/>
  </p:clrMapOvr>
  <p:transition spd="med">
    <p:fade/>
  </p:transition>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0" y="4763691"/>
            <a:ext cx="9144000" cy="273844"/>
          </a:xfrm>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F92ECE36-7098-4256-9B89-F25D8DB1A1FB}"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FAF554F-BB91-4BBC-A556-A67D02F08C7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363841359"/>
      </p:ext>
    </p:extLst>
  </p:cSld>
  <p:clrMapOvr>
    <a:masterClrMapping/>
  </p:clrMapOvr>
  <p:transition spd="med">
    <p:fade/>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Title Slide Blue">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bwMode="gray">
          <a:xfrm>
            <a:off x="365125" y="4849460"/>
            <a:ext cx="3943350" cy="200055"/>
          </a:xfrm>
          <a:prstGeom prst="rect">
            <a:avLst/>
          </a:prstGeom>
          <a:noFill/>
        </p:spPr>
        <p:txBody>
          <a:bodyPr>
            <a:spAutoFit/>
          </a:bodyPr>
          <a:lstStyle/>
          <a:p>
            <a:pPr defTabSz="914400" fontAlgn="base">
              <a:spcBef>
                <a:spcPct val="0"/>
              </a:spcBef>
              <a:spcAft>
                <a:spcPct val="0"/>
              </a:spcAft>
              <a:defRPr/>
            </a:pPr>
            <a:r>
              <a:rPr lang="en-US" sz="700" dirty="0">
                <a:solidFill>
                  <a:srgbClr val="196EA3"/>
                </a:solidFill>
                <a:latin typeface="Futura Bk" pitchFamily="34" charset="0"/>
              </a:rPr>
              <a:t>©2009 HP Confidential</a:t>
            </a:r>
          </a:p>
        </p:txBody>
      </p:sp>
      <p:pic>
        <p:nvPicPr>
          <p:cNvPr id="6" name="Picture 7"/>
          <p:cNvPicPr>
            <a:picLocks noChangeAspect="1" noChangeArrowheads="1"/>
          </p:cNvPicPr>
          <p:nvPr userDrawn="1"/>
        </p:nvPicPr>
        <p:blipFill>
          <a:blip r:embed="rId2" cstate="print"/>
          <a:srcRect r="7471" b="6709"/>
          <a:stretch>
            <a:fillRect/>
          </a:stretch>
        </p:blipFill>
        <p:spPr bwMode="auto">
          <a:xfrm>
            <a:off x="7994650" y="1453797"/>
            <a:ext cx="1149350" cy="3689747"/>
          </a:xfrm>
          <a:prstGeom prst="rect">
            <a:avLst/>
          </a:prstGeom>
          <a:noFill/>
          <a:ln w="9525">
            <a:noFill/>
            <a:miter lim="800000"/>
            <a:headEnd/>
            <a:tailEnd/>
          </a:ln>
        </p:spPr>
      </p:pic>
      <p:sp>
        <p:nvSpPr>
          <p:cNvPr id="3" name="Subtitle 2"/>
          <p:cNvSpPr>
            <a:spLocks noGrp="1"/>
          </p:cNvSpPr>
          <p:nvPr>
            <p:ph type="subTitle" idx="1"/>
          </p:nvPr>
        </p:nvSpPr>
        <p:spPr bwMode="black">
          <a:xfrm>
            <a:off x="357089" y="3799046"/>
            <a:ext cx="6400800" cy="701763"/>
          </a:xfrm>
          <a:prstGeom prst="rect">
            <a:avLst/>
          </a:prstGeom>
        </p:spPr>
        <p:txBody>
          <a:bodyPr anchor="b">
            <a:noAutofit/>
          </a:bodyPr>
          <a:lstStyle>
            <a:lvl1pPr marL="0" marR="0" indent="0" algn="l" defTabSz="914400" rtl="0" eaLnBrk="1" fontAlgn="auto" latinLnBrk="0" hangingPunct="1">
              <a:lnSpc>
                <a:spcPct val="120000"/>
              </a:lnSpc>
              <a:spcBef>
                <a:spcPts val="0"/>
              </a:spcBef>
              <a:spcAft>
                <a:spcPts val="0"/>
              </a:spcAft>
              <a:buClrTx/>
              <a:buSzPct val="100000"/>
              <a:buFontTx/>
              <a:buNone/>
              <a:tabLst/>
              <a:defRPr sz="1500">
                <a:solidFill>
                  <a:schemeClr val="bg1"/>
                </a:solidFill>
                <a:latin typeface="Futura Bk"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itle 10"/>
          <p:cNvSpPr>
            <a:spLocks noGrp="1"/>
          </p:cNvSpPr>
          <p:nvPr>
            <p:ph type="title"/>
          </p:nvPr>
        </p:nvSpPr>
        <p:spPr bwMode="black">
          <a:xfrm>
            <a:off x="929640" y="2069307"/>
            <a:ext cx="7274560" cy="988218"/>
          </a:xfrm>
          <a:prstGeom prst="rect">
            <a:avLst/>
          </a:prstGeom>
        </p:spPr>
        <p:txBody>
          <a:bodyPr/>
          <a:lstStyle>
            <a:lvl1pPr algn="ctr">
              <a:lnSpc>
                <a:spcPts val="4000"/>
              </a:lnSpc>
              <a:defRPr sz="400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xmlns="" val="2849862063"/>
      </p:ext>
    </p:extLst>
  </p:cSld>
  <p:clrMapOvr>
    <a:masterClrMapping/>
  </p:clrMapOvr>
  <p:transition spd="med">
    <p:fade/>
  </p:transition>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2Line, with Subtitle">
    <p:spTree>
      <p:nvGrpSpPr>
        <p:cNvPr id="1" name=""/>
        <p:cNvGrpSpPr/>
        <p:nvPr/>
      </p:nvGrpSpPr>
      <p:grpSpPr>
        <a:xfrm>
          <a:off x="0" y="0"/>
          <a:ext cx="0" cy="0"/>
          <a:chOff x="0" y="0"/>
          <a:chExt cx="0" cy="0"/>
        </a:xfrm>
      </p:grpSpPr>
      <p:sp>
        <p:nvSpPr>
          <p:cNvPr id="18" name="Title 8"/>
          <p:cNvSpPr>
            <a:spLocks noGrp="1"/>
          </p:cNvSpPr>
          <p:nvPr>
            <p:ph type="title" hasCustomPrompt="1"/>
          </p:nvPr>
        </p:nvSpPr>
        <p:spPr>
          <a:xfrm>
            <a:off x="341313" y="315519"/>
            <a:ext cx="8375650" cy="656033"/>
          </a:xfrm>
          <a:prstGeom prst="rect">
            <a:avLst/>
          </a:prstGeom>
        </p:spPr>
        <p:txBody>
          <a:bodyPr anchor="t" anchorCtr="0">
            <a:noAutofit/>
          </a:bodyPr>
          <a:lstStyle>
            <a:lvl1pPr marL="0" marR="0" indent="0" algn="l" defTabSz="914400" rtl="0" eaLnBrk="1" fontAlgn="auto" latinLnBrk="0" hangingPunct="1">
              <a:lnSpc>
                <a:spcPts val="3300"/>
              </a:lnSpc>
              <a:spcBef>
                <a:spcPct val="0"/>
              </a:spcBef>
              <a:spcAft>
                <a:spcPts val="0"/>
              </a:spcAft>
              <a:buClrTx/>
              <a:buSzTx/>
              <a:buFontTx/>
              <a:buNone/>
              <a:tabLst/>
              <a:defRPr sz="3300" baseline="0">
                <a:solidFill>
                  <a:srgbClr val="000000"/>
                </a:solidFill>
                <a:latin typeface="Futura Bk" pitchFamily="34" charset="0"/>
              </a:defRPr>
            </a:lvl1pPr>
          </a:lstStyle>
          <a:p>
            <a:r>
              <a:rPr lang="en-US" dirty="0" smtClean="0"/>
              <a:t>DOUBLE LINE TITLE</a:t>
            </a:r>
            <a:br>
              <a:rPr lang="en-US" dirty="0" smtClean="0"/>
            </a:br>
            <a:r>
              <a:rPr lang="en-US" dirty="0" smtClean="0"/>
              <a:t>FOR ADDED CONTENT</a:t>
            </a:r>
            <a:endParaRPr lang="en-US" dirty="0"/>
          </a:p>
        </p:txBody>
      </p:sp>
      <p:sp>
        <p:nvSpPr>
          <p:cNvPr id="19" name="Text Placeholder 12"/>
          <p:cNvSpPr>
            <a:spLocks noGrp="1"/>
          </p:cNvSpPr>
          <p:nvPr>
            <p:ph type="body" sz="quarter" idx="14" hasCustomPrompt="1"/>
          </p:nvPr>
        </p:nvSpPr>
        <p:spPr>
          <a:xfrm>
            <a:off x="358775" y="971594"/>
            <a:ext cx="8370380" cy="294965"/>
          </a:xfrm>
          <a:prstGeom prst="rect">
            <a:avLst/>
          </a:prstGeom>
        </p:spPr>
        <p:txBody>
          <a:bodyPr/>
          <a:lstStyle>
            <a:lvl1pPr marL="0" indent="0">
              <a:lnSpc>
                <a:spcPct val="100000"/>
              </a:lnSpc>
              <a:buNone/>
              <a:defRPr lang="en-US" sz="2000" kern="1200" dirty="0" smtClean="0">
                <a:solidFill>
                  <a:srgbClr val="7B7B79"/>
                </a:solidFill>
                <a:latin typeface="Futura Bk" pitchFamily="34" charset="0"/>
                <a:ea typeface="+mn-ea"/>
                <a:cs typeface="+mn-cs"/>
              </a:defRPr>
            </a:lvl1pPr>
            <a:lvl2pPr>
              <a:defRPr lang="en-US" sz="2000" kern="1200" dirty="0" smtClean="0">
                <a:solidFill>
                  <a:srgbClr val="FFFFFF"/>
                </a:solidFill>
                <a:latin typeface="Futura Bk" pitchFamily="34" charset="0"/>
                <a:ea typeface="+mn-ea"/>
                <a:cs typeface="+mn-cs"/>
              </a:defRPr>
            </a:lvl2pPr>
            <a:lvl3pPr>
              <a:defRPr lang="en-US" sz="2000" kern="1200" dirty="0" smtClean="0">
                <a:solidFill>
                  <a:srgbClr val="FFFFFF"/>
                </a:solidFill>
                <a:latin typeface="Futura Bk" pitchFamily="34" charset="0"/>
                <a:ea typeface="+mn-ea"/>
                <a:cs typeface="+mn-cs"/>
              </a:defRPr>
            </a:lvl3pPr>
            <a:lvl4pPr>
              <a:defRPr lang="en-US" sz="2000" kern="1200" dirty="0" smtClean="0">
                <a:solidFill>
                  <a:srgbClr val="FFFFFF"/>
                </a:solidFill>
                <a:latin typeface="Futura Bk" pitchFamily="34" charset="0"/>
                <a:ea typeface="+mn-ea"/>
                <a:cs typeface="+mn-cs"/>
              </a:defRPr>
            </a:lvl4pPr>
            <a:lvl5pPr>
              <a:defRPr lang="en-US" sz="2000" kern="1200" dirty="0" smtClean="0">
                <a:solidFill>
                  <a:srgbClr val="FFFFFF"/>
                </a:solidFill>
                <a:latin typeface="Futura Bk" pitchFamily="34" charset="0"/>
                <a:ea typeface="+mn-ea"/>
                <a:cs typeface="+mn-cs"/>
              </a:defRPr>
            </a:lvl5pPr>
          </a:lstStyle>
          <a:p>
            <a:pPr lvl="0"/>
            <a:r>
              <a:rPr lang="en-US" dirty="0" smtClean="0"/>
              <a:t>Subtitle Placeholder Here</a:t>
            </a:r>
          </a:p>
        </p:txBody>
      </p:sp>
      <p:pic>
        <p:nvPicPr>
          <p:cNvPr id="6" name="Picture 2"/>
          <p:cNvPicPr>
            <a:picLocks noChangeAspect="1" noChangeArrowheads="1"/>
          </p:cNvPicPr>
          <p:nvPr userDrawn="1"/>
        </p:nvPicPr>
        <p:blipFill>
          <a:blip r:embed="rId2" cstate="print"/>
          <a:srcRect/>
          <a:stretch>
            <a:fillRect/>
          </a:stretch>
        </p:blipFill>
        <p:spPr bwMode="auto">
          <a:xfrm>
            <a:off x="8494865" y="4690872"/>
            <a:ext cx="401637" cy="301228"/>
          </a:xfrm>
          <a:prstGeom prst="rect">
            <a:avLst/>
          </a:prstGeom>
          <a:noFill/>
          <a:ln w="9525">
            <a:noFill/>
            <a:miter lim="800000"/>
            <a:headEnd/>
            <a:tailEnd/>
          </a:ln>
          <a:effectLst/>
        </p:spPr>
      </p:pic>
    </p:spTree>
    <p:extLst>
      <p:ext uri="{BB962C8B-B14F-4D97-AF65-F5344CB8AC3E}">
        <p14:creationId xmlns:p14="http://schemas.microsoft.com/office/powerpoint/2010/main" xmlns="" val="1625854974"/>
      </p:ext>
    </p:extLst>
  </p:cSld>
  <p:clrMapOvr>
    <a:masterClrMapping/>
  </p:clrMapOvr>
  <p:transition/>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Line Only">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339725" y="315512"/>
            <a:ext cx="8375650" cy="329803"/>
          </a:xfrm>
          <a:prstGeom prst="rect">
            <a:avLst/>
          </a:prstGeom>
        </p:spPr>
        <p:txBody>
          <a:bodyPr anchor="t" anchorCtr="0">
            <a:noAutofit/>
          </a:bodyPr>
          <a:lstStyle>
            <a:lvl1pPr marL="0" marR="0" indent="0" algn="l" defTabSz="914400" rtl="0" eaLnBrk="1" fontAlgn="auto" latinLnBrk="0" hangingPunct="1">
              <a:lnSpc>
                <a:spcPts val="3300"/>
              </a:lnSpc>
              <a:spcBef>
                <a:spcPct val="0"/>
              </a:spcBef>
              <a:spcAft>
                <a:spcPts val="0"/>
              </a:spcAft>
              <a:buClrTx/>
              <a:buSzTx/>
              <a:buFontTx/>
              <a:buNone/>
              <a:tabLst/>
              <a:defRPr sz="3300" baseline="0">
                <a:solidFill>
                  <a:srgbClr val="000000"/>
                </a:solidFill>
                <a:latin typeface="Futura Bk" pitchFamily="34" charset="0"/>
              </a:defRPr>
            </a:lvl1pPr>
          </a:lstStyle>
          <a:p>
            <a:r>
              <a:rPr lang="en-US" dirty="0" smtClean="0"/>
              <a:t>SINGLE LINE TITLE</a:t>
            </a:r>
            <a:endParaRPr lang="en-US" dirty="0"/>
          </a:p>
        </p:txBody>
      </p:sp>
      <p:pic>
        <p:nvPicPr>
          <p:cNvPr id="5" name="Picture 2"/>
          <p:cNvPicPr>
            <a:picLocks noChangeAspect="1" noChangeArrowheads="1"/>
          </p:cNvPicPr>
          <p:nvPr userDrawn="1"/>
        </p:nvPicPr>
        <p:blipFill>
          <a:blip r:embed="rId2" cstate="print"/>
          <a:srcRect/>
          <a:stretch>
            <a:fillRect/>
          </a:stretch>
        </p:blipFill>
        <p:spPr bwMode="auto">
          <a:xfrm>
            <a:off x="8494865" y="4690872"/>
            <a:ext cx="401637" cy="301228"/>
          </a:xfrm>
          <a:prstGeom prst="rect">
            <a:avLst/>
          </a:prstGeom>
          <a:noFill/>
          <a:ln w="9525">
            <a:noFill/>
            <a:miter lim="800000"/>
            <a:headEnd/>
            <a:tailEnd/>
          </a:ln>
          <a:effectLst/>
        </p:spPr>
      </p:pic>
    </p:spTree>
    <p:extLst>
      <p:ext uri="{BB962C8B-B14F-4D97-AF65-F5344CB8AC3E}">
        <p14:creationId xmlns:p14="http://schemas.microsoft.com/office/powerpoint/2010/main" xmlns="" val="645508675"/>
      </p:ext>
    </p:extLst>
  </p:cSld>
  <p:clrMapOvr>
    <a:masterClrMapping/>
  </p:clrMapOvr>
  <p:transition/>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tx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8E0DEF91-63D7-405E-9535-99E1796A8B8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F73C24-D277-46A9-9806-5663364F55AF}"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318258999"/>
      </p:ext>
    </p:extLst>
  </p:cSld>
  <p:clrMapOvr>
    <a:masterClrMapping/>
  </p:clrMapOvr>
  <p:transition spd="med">
    <p:fade/>
  </p:transition>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1"/>
      </p:bgRef>
    </p:bg>
    <p:spTree>
      <p:nvGrpSpPr>
        <p:cNvPr id="1" name=""/>
        <p:cNvGrpSpPr/>
        <p:nvPr/>
      </p:nvGrpSpPr>
      <p:grpSpPr>
        <a:xfrm>
          <a:off x="0" y="0"/>
          <a:ext cx="0" cy="0"/>
          <a:chOff x="0" y="0"/>
          <a:chExt cx="0" cy="0"/>
        </a:xfrm>
      </p:grpSpPr>
      <p:pic>
        <p:nvPicPr>
          <p:cNvPr id="4" name="Picture 7" descr="HP_D_RGB_M.png"/>
          <p:cNvPicPr>
            <a:picLocks noChangeAspect="1"/>
          </p:cNvPicPr>
          <p:nvPr userDrawn="1"/>
        </p:nvPicPr>
        <p:blipFill>
          <a:blip r:embed="rId2" cstate="print"/>
          <a:srcRect/>
          <a:stretch>
            <a:fillRect/>
          </a:stretch>
        </p:blipFill>
        <p:spPr bwMode="auto">
          <a:xfrm>
            <a:off x="6903097" y="661797"/>
            <a:ext cx="1517015" cy="1137761"/>
          </a:xfrm>
          <a:prstGeom prst="rect">
            <a:avLst/>
          </a:prstGeom>
          <a:noFill/>
          <a:ln w="9525">
            <a:noFill/>
            <a:miter lim="800000"/>
            <a:headEnd/>
            <a:tailEnd/>
          </a:ln>
        </p:spPr>
      </p:pic>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75977A33-3B78-47F9-A063-6913D7750EC5}" type="datetime1">
              <a:rPr lang="en-US" smtClean="0">
                <a:solidFill>
                  <a:prstClr val="white">
                    <a:tint val="75000"/>
                  </a:prstClr>
                </a:solidFill>
              </a:rPr>
              <a:pPr>
                <a:defRPr/>
              </a:pPr>
              <a:t>11/16/2012</a:t>
            </a:fld>
            <a:endParaRPr lang="en-US" dirty="0">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smtClean="0">
                <a:solidFill>
                  <a:prstClr val="white">
                    <a:tint val="75000"/>
                  </a:prstClr>
                </a:solidFill>
              </a:rPr>
              <a:t>© 2012 Hewlett-Packard Company - HP Confidential</a:t>
            </a:r>
            <a:endParaRPr lang="en-US" dirty="0">
              <a:solidFill>
                <a:prstClr val="white">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536159-4EBC-4956-80D1-D691668E34FE}" type="slidenum">
              <a:rPr lang="en-US">
                <a:solidFill>
                  <a:prstClr val="white">
                    <a:tint val="75000"/>
                  </a:prstClr>
                </a:solidFill>
              </a:rPr>
              <a:pPr>
                <a:defRPr/>
              </a:pPr>
              <a:t>‹#›</a:t>
            </a:fld>
            <a:endParaRPr lang="en-US" dirty="0">
              <a:solidFill>
                <a:prstClr val="white">
                  <a:tint val="75000"/>
                </a:prstClr>
              </a:solidFill>
            </a:endParaRPr>
          </a:p>
        </p:txBody>
      </p:sp>
    </p:spTree>
    <p:extLst>
      <p:ext uri="{BB962C8B-B14F-4D97-AF65-F5344CB8AC3E}">
        <p14:creationId xmlns:p14="http://schemas.microsoft.com/office/powerpoint/2010/main" xmlns="" val="3943536964"/>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7200" y="1200151"/>
            <a:ext cx="8229600" cy="3394472"/>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EA8BB888-0697-4350-8298-E0CD0DF9CFE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5F75D6F-272E-4811-8F6B-E4C2FF79A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250387255"/>
      </p:ext>
    </p:extLst>
  </p:cSld>
  <p:clrMapOvr>
    <a:masterClrMapping/>
  </p:clrMapOvr>
  <p:transition spd="med">
    <p:fade/>
  </p:transition>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normAutofit/>
          </a:bodyPr>
          <a:lstStyle>
            <a:lvl1pPr>
              <a:defRPr sz="2000" b="1">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000" b="1">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2012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B9C4FF6E-1DEC-4D9C-895F-280C75CCD1F8}"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584C529-9E14-40CB-AFDB-1714415109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084727334"/>
      </p:ext>
    </p:extLst>
  </p:cSld>
  <p:clrMapOvr>
    <a:masterClrMapping/>
  </p:clrMapOvr>
  <p:transition spd="med">
    <p:fade/>
  </p:transition>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89858"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489858" y="1151335"/>
            <a:ext cx="4040188"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89858" y="1631156"/>
            <a:ext cx="4040188"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77687" y="1151335"/>
            <a:ext cx="4041775" cy="479822"/>
          </a:xfrm>
          <a:prstGeom prst="rect">
            <a:avLst/>
          </a:prstGeom>
        </p:spPr>
        <p:txBody>
          <a:bodyPr anchor="b">
            <a:noAutofit/>
          </a:bodyPr>
          <a:lstStyle>
            <a:lvl1pPr marL="0" indent="0">
              <a:buNone/>
              <a:defRPr sz="20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77687" y="1631156"/>
            <a:ext cx="4041775" cy="2963466"/>
          </a:xfrm>
          <a:prstGeom prst="rect">
            <a:avLst/>
          </a:prstGeom>
        </p:spPr>
        <p:txBody>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8" name="Date Placeholder 3"/>
          <p:cNvSpPr>
            <a:spLocks noGrp="1"/>
          </p:cNvSpPr>
          <p:nvPr>
            <p:ph type="dt" sz="half" idx="11"/>
          </p:nvPr>
        </p:nvSpPr>
        <p:spPr/>
        <p:txBody>
          <a:bodyPr/>
          <a:lstStyle>
            <a:lvl1pPr>
              <a:defRPr/>
            </a:lvl1pPr>
          </a:lstStyle>
          <a:p>
            <a:pPr>
              <a:defRPr/>
            </a:pPr>
            <a:fld id="{A040D6B0-E7A3-4EDB-AE76-A681F5EBB97E}"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E108263-9A77-4E1A-9184-293EEEFA79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233729114"/>
      </p:ext>
    </p:extLst>
  </p:cSld>
  <p:clrMapOvr>
    <a:masterClrMapping/>
  </p:clrMapOvr>
  <p:transition spd="med">
    <p:fade/>
  </p:transition>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11"/>
          </p:nvPr>
        </p:nvSpPr>
        <p:spPr/>
        <p:txBody>
          <a:bodyPr/>
          <a:lstStyle>
            <a:lvl1pPr>
              <a:defRPr/>
            </a:lvl1pPr>
          </a:lstStyle>
          <a:p>
            <a:pPr>
              <a:defRPr/>
            </a:pPr>
            <a:fld id="{B4927C7E-EBDA-42F6-8B62-59C143241654}"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28E1C2A3-9072-4F9E-9CE1-76C6EAC3B0F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476182040"/>
      </p:ext>
    </p:extLst>
  </p:cSld>
  <p:clrMapOvr>
    <a:masterClrMapping/>
  </p:clrMapOvr>
  <p:transition spd="med">
    <p:fade/>
  </p:transition>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7CA02831-9FCC-49D9-AFEE-B22EA5F9AF42}"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31571E2-899E-4F5A-BAD5-50AB52FB4C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193506516"/>
      </p:ext>
    </p:extLst>
  </p:cSld>
  <p:clrMapOvr>
    <a:masterClrMapping/>
  </p:clrMapOvr>
  <p:transition spd="med">
    <p:fade/>
  </p:transition>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DF6E525E-7FA1-4430-805F-C8E0A53A470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9ECFAF0-4CA5-42E1-A53C-4310B5D9169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23849341"/>
      </p:ext>
    </p:extLst>
  </p:cSld>
  <p:clrMapOvr>
    <a:masterClrMapping/>
  </p:clrMapOvr>
  <p:transition spd="med">
    <p:fade/>
  </p:transition>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a:prstGeom prst="rect">
            <a:avLst/>
          </a:prstGeom>
        </p:spPr>
        <p:txBody>
          <a:bodyPr anchor="b"/>
          <a:lstStyle>
            <a:lvl1pPr algn="l">
              <a:defRPr sz="2000" b="1">
                <a:solidFill>
                  <a:schemeClr val="tx1"/>
                </a:solidFill>
              </a:defRPr>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4025541"/>
            <a:ext cx="5486400" cy="603647"/>
          </a:xfrm>
          <a:prstGeom prst="rect">
            <a:avLst/>
          </a:prstGeo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1D2F5AC4-199A-4D08-AC6A-8BB9C244285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BE66F2-AE08-498A-B6F7-6BC61C51D6B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287781207"/>
      </p:ext>
    </p:extLst>
  </p:cSld>
  <p:clrMapOvr>
    <a:masterClrMapping/>
  </p:clrMapOvr>
  <p:transition spd="med">
    <p:fade/>
  </p:transition>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a:prstGeom prst="rect">
            <a:avLst/>
          </a:prstGeom>
        </p:spPr>
        <p:txBody>
          <a:bodyPr vert="eaVert"/>
          <a:lstStyle>
            <a:lvl1pPr>
              <a:defRPr>
                <a:solidFill>
                  <a:schemeClr val="tx1"/>
                </a:solidFill>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205980"/>
            <a:ext cx="6019800" cy="4388644"/>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ADC08C04-2700-4591-B9A1-0E946CDCA8AA}"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9E06965-FC6A-4994-BB99-5452580217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203701442"/>
      </p:ext>
    </p:extLst>
  </p:cSld>
  <p:clrMapOvr>
    <a:masterClrMapping/>
  </p:clrMapOvr>
  <p:transition spd="med">
    <p:fade/>
  </p:transition>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solidFill>
                  <a:schemeClr val="tx1"/>
                </a:solidFil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0" y="4763691"/>
            <a:ext cx="9144000" cy="273844"/>
          </a:xfrm>
        </p:spPr>
        <p:txBody>
          <a:bodyPr/>
          <a:lstStyle>
            <a:lvl1pPr>
              <a:defRPr/>
            </a:lvl1pPr>
          </a:lstStyle>
          <a:p>
            <a:pPr>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F92ECE36-7098-4256-9B89-F25D8DB1A1FB}"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FAF554F-BB91-4BBC-A556-A67D02F08C7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256604601"/>
      </p:ext>
    </p:extLst>
  </p:cSld>
  <p:clrMapOvr>
    <a:masterClrMapping/>
  </p:clrMapOvr>
  <p:transition spd="med">
    <p:fade/>
  </p:transition>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Title Slide Blue">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bwMode="gray">
          <a:xfrm>
            <a:off x="365125" y="4849454"/>
            <a:ext cx="3943350" cy="200055"/>
          </a:xfrm>
          <a:prstGeom prst="rect">
            <a:avLst/>
          </a:prstGeom>
          <a:noFill/>
        </p:spPr>
        <p:txBody>
          <a:bodyPr>
            <a:spAutoFit/>
          </a:bodyPr>
          <a:lstStyle/>
          <a:p>
            <a:pPr defTabSz="914400" fontAlgn="base">
              <a:spcBef>
                <a:spcPct val="0"/>
              </a:spcBef>
              <a:spcAft>
                <a:spcPct val="0"/>
              </a:spcAft>
              <a:defRPr/>
            </a:pPr>
            <a:r>
              <a:rPr lang="en-US" sz="700" dirty="0">
                <a:solidFill>
                  <a:srgbClr val="196EA3"/>
                </a:solidFill>
                <a:latin typeface="Futura Bk" pitchFamily="34" charset="0"/>
              </a:rPr>
              <a:t>©2009 HP Confidential</a:t>
            </a:r>
          </a:p>
        </p:txBody>
      </p:sp>
      <p:pic>
        <p:nvPicPr>
          <p:cNvPr id="6" name="Picture 7"/>
          <p:cNvPicPr>
            <a:picLocks noChangeAspect="1" noChangeArrowheads="1"/>
          </p:cNvPicPr>
          <p:nvPr userDrawn="1"/>
        </p:nvPicPr>
        <p:blipFill>
          <a:blip r:embed="rId2" cstate="print"/>
          <a:srcRect r="7471" b="6709"/>
          <a:stretch>
            <a:fillRect/>
          </a:stretch>
        </p:blipFill>
        <p:spPr bwMode="auto">
          <a:xfrm>
            <a:off x="7994650" y="1453791"/>
            <a:ext cx="1149350" cy="3689747"/>
          </a:xfrm>
          <a:prstGeom prst="rect">
            <a:avLst/>
          </a:prstGeom>
          <a:noFill/>
          <a:ln w="9525">
            <a:noFill/>
            <a:miter lim="800000"/>
            <a:headEnd/>
            <a:tailEnd/>
          </a:ln>
        </p:spPr>
      </p:pic>
      <p:sp>
        <p:nvSpPr>
          <p:cNvPr id="3" name="Subtitle 2"/>
          <p:cNvSpPr>
            <a:spLocks noGrp="1"/>
          </p:cNvSpPr>
          <p:nvPr>
            <p:ph type="subTitle" idx="1"/>
          </p:nvPr>
        </p:nvSpPr>
        <p:spPr bwMode="black">
          <a:xfrm>
            <a:off x="357089" y="3799046"/>
            <a:ext cx="6400800" cy="701763"/>
          </a:xfrm>
          <a:prstGeom prst="rect">
            <a:avLst/>
          </a:prstGeom>
        </p:spPr>
        <p:txBody>
          <a:bodyPr anchor="b">
            <a:noAutofit/>
          </a:bodyPr>
          <a:lstStyle>
            <a:lvl1pPr marL="0" marR="0" indent="0" algn="l" defTabSz="914400" rtl="0" eaLnBrk="1" fontAlgn="auto" latinLnBrk="0" hangingPunct="1">
              <a:lnSpc>
                <a:spcPct val="120000"/>
              </a:lnSpc>
              <a:spcBef>
                <a:spcPts val="0"/>
              </a:spcBef>
              <a:spcAft>
                <a:spcPts val="0"/>
              </a:spcAft>
              <a:buClrTx/>
              <a:buSzPct val="100000"/>
              <a:buFontTx/>
              <a:buNone/>
              <a:tabLst/>
              <a:defRPr sz="1500">
                <a:solidFill>
                  <a:schemeClr val="bg1"/>
                </a:solidFill>
                <a:latin typeface="Futura Bk"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itle 10"/>
          <p:cNvSpPr>
            <a:spLocks noGrp="1"/>
          </p:cNvSpPr>
          <p:nvPr>
            <p:ph type="title"/>
          </p:nvPr>
        </p:nvSpPr>
        <p:spPr bwMode="black">
          <a:xfrm>
            <a:off x="929640" y="2069307"/>
            <a:ext cx="7274560" cy="988218"/>
          </a:xfrm>
          <a:prstGeom prst="rect">
            <a:avLst/>
          </a:prstGeom>
        </p:spPr>
        <p:txBody>
          <a:bodyPr/>
          <a:lstStyle>
            <a:lvl1pPr algn="ctr">
              <a:lnSpc>
                <a:spcPts val="4000"/>
              </a:lnSpc>
              <a:defRPr sz="400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xmlns="" val="226614412"/>
      </p:ext>
    </p:extLst>
  </p:cSld>
  <p:clrMapOvr>
    <a:masterClrMapping/>
  </p:clrMapOvr>
  <p:transition spd="med">
    <p:fade/>
  </p:transition>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2Line, with Subtitle">
    <p:spTree>
      <p:nvGrpSpPr>
        <p:cNvPr id="1" name=""/>
        <p:cNvGrpSpPr/>
        <p:nvPr/>
      </p:nvGrpSpPr>
      <p:grpSpPr>
        <a:xfrm>
          <a:off x="0" y="0"/>
          <a:ext cx="0" cy="0"/>
          <a:chOff x="0" y="0"/>
          <a:chExt cx="0" cy="0"/>
        </a:xfrm>
      </p:grpSpPr>
      <p:sp>
        <p:nvSpPr>
          <p:cNvPr id="18" name="Title 8"/>
          <p:cNvSpPr>
            <a:spLocks noGrp="1"/>
          </p:cNvSpPr>
          <p:nvPr>
            <p:ph type="title" hasCustomPrompt="1"/>
          </p:nvPr>
        </p:nvSpPr>
        <p:spPr>
          <a:xfrm>
            <a:off x="341313" y="315519"/>
            <a:ext cx="8375650" cy="656033"/>
          </a:xfrm>
          <a:prstGeom prst="rect">
            <a:avLst/>
          </a:prstGeom>
        </p:spPr>
        <p:txBody>
          <a:bodyPr anchor="t" anchorCtr="0">
            <a:noAutofit/>
          </a:bodyPr>
          <a:lstStyle>
            <a:lvl1pPr marL="0" marR="0" indent="0" algn="l" defTabSz="914400" rtl="0" eaLnBrk="1" fontAlgn="auto" latinLnBrk="0" hangingPunct="1">
              <a:lnSpc>
                <a:spcPts val="3300"/>
              </a:lnSpc>
              <a:spcBef>
                <a:spcPct val="0"/>
              </a:spcBef>
              <a:spcAft>
                <a:spcPts val="0"/>
              </a:spcAft>
              <a:buClrTx/>
              <a:buSzTx/>
              <a:buFontTx/>
              <a:buNone/>
              <a:tabLst/>
              <a:defRPr sz="3300" baseline="0">
                <a:solidFill>
                  <a:srgbClr val="000000"/>
                </a:solidFill>
                <a:latin typeface="Futura Bk" pitchFamily="34" charset="0"/>
              </a:defRPr>
            </a:lvl1pPr>
          </a:lstStyle>
          <a:p>
            <a:r>
              <a:rPr lang="en-US" dirty="0" smtClean="0"/>
              <a:t>DOUBLE LINE TITLE</a:t>
            </a:r>
            <a:br>
              <a:rPr lang="en-US" dirty="0" smtClean="0"/>
            </a:br>
            <a:r>
              <a:rPr lang="en-US" dirty="0" smtClean="0"/>
              <a:t>FOR ADDED CONTENT</a:t>
            </a:r>
            <a:endParaRPr lang="en-US" dirty="0"/>
          </a:p>
        </p:txBody>
      </p:sp>
      <p:sp>
        <p:nvSpPr>
          <p:cNvPr id="19" name="Text Placeholder 12"/>
          <p:cNvSpPr>
            <a:spLocks noGrp="1"/>
          </p:cNvSpPr>
          <p:nvPr>
            <p:ph type="body" sz="quarter" idx="14" hasCustomPrompt="1"/>
          </p:nvPr>
        </p:nvSpPr>
        <p:spPr>
          <a:xfrm>
            <a:off x="358775" y="971588"/>
            <a:ext cx="8370380" cy="294965"/>
          </a:xfrm>
          <a:prstGeom prst="rect">
            <a:avLst/>
          </a:prstGeom>
        </p:spPr>
        <p:txBody>
          <a:bodyPr/>
          <a:lstStyle>
            <a:lvl1pPr marL="0" indent="0">
              <a:lnSpc>
                <a:spcPct val="100000"/>
              </a:lnSpc>
              <a:buNone/>
              <a:defRPr lang="en-US" sz="2000" kern="1200" dirty="0" smtClean="0">
                <a:solidFill>
                  <a:srgbClr val="7B7B79"/>
                </a:solidFill>
                <a:latin typeface="Futura Bk" pitchFamily="34" charset="0"/>
                <a:ea typeface="+mn-ea"/>
                <a:cs typeface="+mn-cs"/>
              </a:defRPr>
            </a:lvl1pPr>
            <a:lvl2pPr>
              <a:defRPr lang="en-US" sz="2000" kern="1200" dirty="0" smtClean="0">
                <a:solidFill>
                  <a:srgbClr val="FFFFFF"/>
                </a:solidFill>
                <a:latin typeface="Futura Bk" pitchFamily="34" charset="0"/>
                <a:ea typeface="+mn-ea"/>
                <a:cs typeface="+mn-cs"/>
              </a:defRPr>
            </a:lvl2pPr>
            <a:lvl3pPr>
              <a:defRPr lang="en-US" sz="2000" kern="1200" dirty="0" smtClean="0">
                <a:solidFill>
                  <a:srgbClr val="FFFFFF"/>
                </a:solidFill>
                <a:latin typeface="Futura Bk" pitchFamily="34" charset="0"/>
                <a:ea typeface="+mn-ea"/>
                <a:cs typeface="+mn-cs"/>
              </a:defRPr>
            </a:lvl3pPr>
            <a:lvl4pPr>
              <a:defRPr lang="en-US" sz="2000" kern="1200" dirty="0" smtClean="0">
                <a:solidFill>
                  <a:srgbClr val="FFFFFF"/>
                </a:solidFill>
                <a:latin typeface="Futura Bk" pitchFamily="34" charset="0"/>
                <a:ea typeface="+mn-ea"/>
                <a:cs typeface="+mn-cs"/>
              </a:defRPr>
            </a:lvl4pPr>
            <a:lvl5pPr>
              <a:defRPr lang="en-US" sz="2000" kern="1200" dirty="0" smtClean="0">
                <a:solidFill>
                  <a:srgbClr val="FFFFFF"/>
                </a:solidFill>
                <a:latin typeface="Futura Bk" pitchFamily="34" charset="0"/>
                <a:ea typeface="+mn-ea"/>
                <a:cs typeface="+mn-cs"/>
              </a:defRPr>
            </a:lvl5pPr>
          </a:lstStyle>
          <a:p>
            <a:pPr lvl="0"/>
            <a:r>
              <a:rPr lang="en-US" dirty="0" smtClean="0"/>
              <a:t>Subtitle Placeholder Here</a:t>
            </a:r>
          </a:p>
        </p:txBody>
      </p:sp>
      <p:pic>
        <p:nvPicPr>
          <p:cNvPr id="6" name="Picture 2"/>
          <p:cNvPicPr>
            <a:picLocks noChangeAspect="1" noChangeArrowheads="1"/>
          </p:cNvPicPr>
          <p:nvPr userDrawn="1"/>
        </p:nvPicPr>
        <p:blipFill>
          <a:blip r:embed="rId2" cstate="print"/>
          <a:srcRect/>
          <a:stretch>
            <a:fillRect/>
          </a:stretch>
        </p:blipFill>
        <p:spPr bwMode="auto">
          <a:xfrm>
            <a:off x="8494853" y="4690872"/>
            <a:ext cx="401637" cy="301228"/>
          </a:xfrm>
          <a:prstGeom prst="rect">
            <a:avLst/>
          </a:prstGeom>
          <a:noFill/>
          <a:ln w="9525">
            <a:noFill/>
            <a:miter lim="800000"/>
            <a:headEnd/>
            <a:tailEnd/>
          </a:ln>
          <a:effectLst/>
        </p:spPr>
      </p:pic>
    </p:spTree>
    <p:extLst>
      <p:ext uri="{BB962C8B-B14F-4D97-AF65-F5344CB8AC3E}">
        <p14:creationId xmlns:p14="http://schemas.microsoft.com/office/powerpoint/2010/main" xmlns="" val="1068803667"/>
      </p:ext>
    </p:extLst>
  </p:cSld>
  <p:clrMapOvr>
    <a:masterClrMapping/>
  </p:clrMapOvr>
  <p:transition/>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Line Only">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339725" y="315506"/>
            <a:ext cx="8375650" cy="329803"/>
          </a:xfrm>
          <a:prstGeom prst="rect">
            <a:avLst/>
          </a:prstGeom>
        </p:spPr>
        <p:txBody>
          <a:bodyPr anchor="t" anchorCtr="0">
            <a:noAutofit/>
          </a:bodyPr>
          <a:lstStyle>
            <a:lvl1pPr marL="0" marR="0" indent="0" algn="l" defTabSz="914400" rtl="0" eaLnBrk="1" fontAlgn="auto" latinLnBrk="0" hangingPunct="1">
              <a:lnSpc>
                <a:spcPts val="3300"/>
              </a:lnSpc>
              <a:spcBef>
                <a:spcPct val="0"/>
              </a:spcBef>
              <a:spcAft>
                <a:spcPts val="0"/>
              </a:spcAft>
              <a:buClrTx/>
              <a:buSzTx/>
              <a:buFontTx/>
              <a:buNone/>
              <a:tabLst/>
              <a:defRPr sz="3300" baseline="0">
                <a:solidFill>
                  <a:srgbClr val="000000"/>
                </a:solidFill>
                <a:latin typeface="Futura Bk" pitchFamily="34" charset="0"/>
              </a:defRPr>
            </a:lvl1pPr>
          </a:lstStyle>
          <a:p>
            <a:r>
              <a:rPr lang="en-US" dirty="0" smtClean="0"/>
              <a:t>SINGLE LINE TITLE</a:t>
            </a:r>
            <a:endParaRPr lang="en-US" dirty="0"/>
          </a:p>
        </p:txBody>
      </p:sp>
      <p:pic>
        <p:nvPicPr>
          <p:cNvPr id="5" name="Picture 2"/>
          <p:cNvPicPr>
            <a:picLocks noChangeAspect="1" noChangeArrowheads="1"/>
          </p:cNvPicPr>
          <p:nvPr userDrawn="1"/>
        </p:nvPicPr>
        <p:blipFill>
          <a:blip r:embed="rId2" cstate="print"/>
          <a:srcRect/>
          <a:stretch>
            <a:fillRect/>
          </a:stretch>
        </p:blipFill>
        <p:spPr bwMode="auto">
          <a:xfrm>
            <a:off x="8494853" y="4690872"/>
            <a:ext cx="401637" cy="301228"/>
          </a:xfrm>
          <a:prstGeom prst="rect">
            <a:avLst/>
          </a:prstGeom>
          <a:noFill/>
          <a:ln w="9525">
            <a:noFill/>
            <a:miter lim="800000"/>
            <a:headEnd/>
            <a:tailEnd/>
          </a:ln>
          <a:effectLst/>
        </p:spPr>
      </p:pic>
    </p:spTree>
    <p:extLst>
      <p:ext uri="{BB962C8B-B14F-4D97-AF65-F5344CB8AC3E}">
        <p14:creationId xmlns:p14="http://schemas.microsoft.com/office/powerpoint/2010/main" xmlns="" val="4034042154"/>
      </p:ext>
    </p:extLst>
  </p:cSld>
  <p:clrMapOvr>
    <a:masterClrMapping/>
  </p:clrMapOvr>
  <p:transition/>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White title slide">
    <p:spTree>
      <p:nvGrpSpPr>
        <p:cNvPr id="1" name=""/>
        <p:cNvGrpSpPr/>
        <p:nvPr/>
      </p:nvGrpSpPr>
      <p:grpSpPr>
        <a:xfrm>
          <a:off x="0" y="0"/>
          <a:ext cx="0" cy="0"/>
          <a:chOff x="0" y="0"/>
          <a:chExt cx="0" cy="0"/>
        </a:xfrm>
      </p:grpSpPr>
      <p:sp>
        <p:nvSpPr>
          <p:cNvPr id="8" name="Title 1"/>
          <p:cNvSpPr>
            <a:spLocks noGrp="1"/>
          </p:cNvSpPr>
          <p:nvPr>
            <p:ph type="ctrTitle" hasCustomPrompt="1"/>
          </p:nvPr>
        </p:nvSpPr>
        <p:spPr bwMode="black">
          <a:xfrm>
            <a:off x="329184" y="2036820"/>
            <a:ext cx="6858000" cy="1206484"/>
          </a:xfrm>
        </p:spPr>
        <p:txBody>
          <a:bodyPr anchor="b"/>
          <a:lstStyle>
            <a:lvl1pPr>
              <a:lnSpc>
                <a:spcPct val="90000"/>
              </a:lnSpc>
              <a:defRPr sz="4600" spc="-100">
                <a:solidFill>
                  <a:srgbClr val="000000"/>
                </a:solidFill>
              </a:defRPr>
            </a:lvl1pPr>
          </a:lstStyle>
          <a:p>
            <a:r>
              <a:rPr lang="en-US" dirty="0" smtClean="0"/>
              <a:t>Click to edit master </a:t>
            </a:r>
            <a:br>
              <a:rPr lang="en-US" dirty="0" smtClean="0"/>
            </a:br>
            <a:r>
              <a:rPr lang="en-US" dirty="0" smtClean="0"/>
              <a:t>title style</a:t>
            </a:r>
            <a:endParaRPr lang="en-US" dirty="0"/>
          </a:p>
        </p:txBody>
      </p:sp>
      <p:sp>
        <p:nvSpPr>
          <p:cNvPr id="9" name="Subtitle 2"/>
          <p:cNvSpPr>
            <a:spLocks noGrp="1"/>
          </p:cNvSpPr>
          <p:nvPr>
            <p:ph type="subTitle" idx="1" hasCustomPrompt="1"/>
          </p:nvPr>
        </p:nvSpPr>
        <p:spPr bwMode="black">
          <a:xfrm>
            <a:off x="329184" y="3316628"/>
            <a:ext cx="6858000" cy="914400"/>
          </a:xfrm>
        </p:spPr>
        <p:txBody>
          <a:bodyPr/>
          <a:lstStyle>
            <a:lvl1pPr marL="0" indent="0" algn="l">
              <a:buNone/>
              <a:defRPr b="0">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Blue_RGB_150_LG.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6949440" y="365760"/>
            <a:ext cx="1883664" cy="1883664"/>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pic>
        <p:nvPicPr>
          <p:cNvPr id="7" name="Picture 2"/>
          <p:cNvPicPr>
            <a:picLocks noChangeAspect="1" noChangeArrowheads="1"/>
          </p:cNvPicPr>
          <p:nvPr userDrawn="1"/>
        </p:nvPicPr>
        <p:blipFill>
          <a:blip r:embed="rId3"/>
          <a:srcRect/>
          <a:stretch>
            <a:fillRect/>
          </a:stretch>
        </p:blipFill>
        <p:spPr bwMode="auto">
          <a:xfrm>
            <a:off x="129708" y="815333"/>
            <a:ext cx="1483773" cy="1222782"/>
          </a:xfrm>
          <a:prstGeom prst="rect">
            <a:avLst/>
          </a:prstGeom>
          <a:noFill/>
          <a:ln w="9525">
            <a:noFill/>
            <a:miter lim="800000"/>
            <a:headEnd/>
            <a:tailEnd/>
          </a:ln>
          <a:effectLst/>
        </p:spPr>
      </p:pic>
    </p:spTree>
    <p:extLst>
      <p:ext uri="{BB962C8B-B14F-4D97-AF65-F5344CB8AC3E}">
        <p14:creationId xmlns:p14="http://schemas.microsoft.com/office/powerpoint/2010/main" xmlns="" val="2722906256"/>
      </p:ext>
    </p:extLst>
  </p:cSld>
  <p:clrMapOvr>
    <a:masterClrMapping/>
  </p:clrMapOvr>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Blue title slide ">
    <p:bg>
      <p:bgPr>
        <a:solidFill>
          <a:schemeClr val="accent1"/>
        </a:solidFill>
        <a:effectLst/>
      </p:bgPr>
    </p:bg>
    <p:spTree>
      <p:nvGrpSpPr>
        <p:cNvPr id="1" name=""/>
        <p:cNvGrpSpPr/>
        <p:nvPr/>
      </p:nvGrpSpPr>
      <p:grpSpPr>
        <a:xfrm>
          <a:off x="0" y="0"/>
          <a:ext cx="0" cy="0"/>
          <a:chOff x="0" y="0"/>
          <a:chExt cx="0" cy="0"/>
        </a:xfrm>
      </p:grpSpPr>
      <p:sp>
        <p:nvSpPr>
          <p:cNvPr id="10" name="Title 1"/>
          <p:cNvSpPr>
            <a:spLocks noGrp="1"/>
          </p:cNvSpPr>
          <p:nvPr>
            <p:ph type="ctrTitle" hasCustomPrompt="1"/>
          </p:nvPr>
        </p:nvSpPr>
        <p:spPr bwMode="black">
          <a:xfrm>
            <a:off x="329184" y="2036820"/>
            <a:ext cx="6858000" cy="1206484"/>
          </a:xfrm>
        </p:spPr>
        <p:txBody>
          <a:bodyPr anchor="b"/>
          <a:lstStyle>
            <a:lvl1pPr>
              <a:lnSpc>
                <a:spcPct val="90000"/>
              </a:lnSpc>
              <a:defRPr sz="4600" spc="-100">
                <a:solidFill>
                  <a:schemeClr val="bg1"/>
                </a:solidFill>
              </a:defRPr>
            </a:lvl1pPr>
          </a:lstStyle>
          <a:p>
            <a:r>
              <a:rPr lang="en-US" dirty="0" smtClean="0"/>
              <a:t>Click to edit master </a:t>
            </a:r>
            <a:br>
              <a:rPr lang="en-US" dirty="0" smtClean="0"/>
            </a:br>
            <a:r>
              <a:rPr lang="en-US" dirty="0" smtClean="0"/>
              <a:t>title style</a:t>
            </a:r>
            <a:endParaRPr lang="en-US" dirty="0"/>
          </a:p>
        </p:txBody>
      </p:sp>
      <p:sp>
        <p:nvSpPr>
          <p:cNvPr id="11" name="Subtitle 2"/>
          <p:cNvSpPr>
            <a:spLocks noGrp="1"/>
          </p:cNvSpPr>
          <p:nvPr>
            <p:ph type="subTitle" idx="1" hasCustomPrompt="1"/>
          </p:nvPr>
        </p:nvSpPr>
        <p:spPr bwMode="black">
          <a:xfrm>
            <a:off x="329184" y="3316628"/>
            <a:ext cx="6858000" cy="914400"/>
          </a:xfrm>
        </p:spPr>
        <p:txBody>
          <a:bodyPr/>
          <a:lstStyle>
            <a:lvl1pPr marL="0" indent="0" algn="l">
              <a:buNone/>
              <a:defRPr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White_RGB_150_LG.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6949440" y="365760"/>
            <a:ext cx="1883664" cy="1883664"/>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prstClr val="white"/>
                </a:solidFill>
                <a:cs typeface="HP Simplified"/>
              </a:rPr>
              <a:t>© Copyright 2012 Hewlett-Packard Development Company, L.P.  The information contained herein is subject to change without notice.</a:t>
            </a:r>
          </a:p>
        </p:txBody>
      </p:sp>
    </p:spTree>
    <p:extLst>
      <p:ext uri="{BB962C8B-B14F-4D97-AF65-F5344CB8AC3E}">
        <p14:creationId xmlns:p14="http://schemas.microsoft.com/office/powerpoint/2010/main" xmlns="" val="4232340341"/>
      </p:ext>
    </p:extLst>
  </p:cSld>
  <p:clrMapOvr>
    <a:masterClrMapping/>
  </p:clrMapOvr>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White divider slide">
    <p:spTree>
      <p:nvGrpSpPr>
        <p:cNvPr id="1" name=""/>
        <p:cNvGrpSpPr/>
        <p:nvPr/>
      </p:nvGrpSpPr>
      <p:grpSpPr>
        <a:xfrm>
          <a:off x="0" y="0"/>
          <a:ext cx="0" cy="0"/>
          <a:chOff x="0" y="0"/>
          <a:chExt cx="0" cy="0"/>
        </a:xfrm>
      </p:grpSpPr>
      <p:pic>
        <p:nvPicPr>
          <p:cNvPr id="5" name="Picture 4" descr="HP_Blue_RGB_150_SM.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8503920" y="4535424"/>
            <a:ext cx="365760" cy="365760"/>
          </a:xfrm>
          <a:prstGeom prst="rect">
            <a:avLst/>
          </a:prstGeom>
        </p:spPr>
      </p:pic>
      <p:sp>
        <p:nvSpPr>
          <p:cNvPr id="16" name="Title 1"/>
          <p:cNvSpPr>
            <a:spLocks noGrp="1"/>
          </p:cNvSpPr>
          <p:nvPr>
            <p:ph type="ctrTitle" hasCustomPrompt="1"/>
          </p:nvPr>
        </p:nvSpPr>
        <p:spPr bwMode="black">
          <a:xfrm>
            <a:off x="329184" y="237746"/>
            <a:ext cx="7222352" cy="2006703"/>
          </a:xfrm>
          <a:prstGeom prst="rect">
            <a:avLst/>
          </a:prstGeom>
        </p:spPr>
        <p:txBody>
          <a:bodyPr wrap="square" lIns="0" tIns="0" rIns="0" bIns="0" anchor="t" anchorCtr="0">
            <a:noAutofit/>
          </a:bodyPr>
          <a:lstStyle>
            <a:lvl1pPr algn="l">
              <a:lnSpc>
                <a:spcPct val="90000"/>
              </a:lnSpc>
              <a:defRPr sz="4000" b="1" i="0" spc="-100">
                <a:solidFill>
                  <a:schemeClr val="tx1"/>
                </a:solidFill>
                <a:latin typeface="HP Simplified" pitchFamily="34" charset="0"/>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spTree>
    <p:extLst>
      <p:ext uri="{BB962C8B-B14F-4D97-AF65-F5344CB8AC3E}">
        <p14:creationId xmlns:p14="http://schemas.microsoft.com/office/powerpoint/2010/main" xmlns="" val="2064378475"/>
      </p:ext>
    </p:extLst>
  </p:cSld>
  <p:clrMapOvr>
    <a:masterClrMapping/>
  </p:clrMapOvr>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Blue quote slide with subtitl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329184" y="240920"/>
            <a:ext cx="7222352" cy="2006703"/>
          </a:xfrm>
          <a:prstGeom prst="rect">
            <a:avLst/>
          </a:prstGeom>
        </p:spPr>
        <p:txBody>
          <a:bodyPr wrap="square" lIns="0" tIns="0" rIns="0" bIns="0" anchor="t" anchorCtr="0">
            <a:noAutofit/>
          </a:bodyPr>
          <a:lstStyle>
            <a:lvl1pPr algn="l" defTabSz="457200" rtl="0" eaLnBrk="1" latinLnBrk="0" hangingPunct="1">
              <a:lnSpc>
                <a:spcPct val="90000"/>
              </a:lnSpc>
              <a:spcBef>
                <a:spcPct val="0"/>
              </a:spcBef>
              <a:spcAft>
                <a:spcPts val="0"/>
              </a:spcAft>
              <a:buNone/>
              <a:defRPr lang="en-US" sz="4000" b="1" i="0" kern="1200" spc="-100" noProof="0" dirty="0">
                <a:solidFill>
                  <a:schemeClr val="bg1"/>
                </a:solidFill>
                <a:latin typeface="HP Simplified" pitchFamily="34" charset="0"/>
                <a:ea typeface="+mj-ea"/>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print">
            <a:extLst>
              <a:ext uri="{28A0092B-C50C-407E-A947-70E740481C1C}">
                <a14:useLocalDpi xmlns:a14="http://schemas.microsoft.com/office/drawing/2010/main" xmlns=""/>
              </a:ext>
            </a:extLst>
          </a:blip>
          <a:stretch>
            <a:fillRect/>
          </a:stretch>
        </p:blipFill>
        <p:spPr>
          <a:xfrm>
            <a:off x="8505214" y="4535424"/>
            <a:ext cx="365736" cy="365736"/>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prstClr val="white"/>
                </a:solidFill>
                <a:cs typeface="HP Simplified"/>
              </a:rPr>
              <a:t>© Copyright 2012 Hewlett-Packard Development Company, L.P.  The information contained herein is subject to change without notice.</a:t>
            </a:r>
          </a:p>
        </p:txBody>
      </p:sp>
      <p:sp>
        <p:nvSpPr>
          <p:cNvPr id="5" name="Subtitle 2"/>
          <p:cNvSpPr>
            <a:spLocks noGrp="1"/>
          </p:cNvSpPr>
          <p:nvPr>
            <p:ph type="subTitle" idx="1" hasCustomPrompt="1"/>
          </p:nvPr>
        </p:nvSpPr>
        <p:spPr>
          <a:xfrm>
            <a:off x="325269" y="3305361"/>
            <a:ext cx="5148072" cy="649224"/>
          </a:xfrm>
          <a:prstGeom prst="rect">
            <a:avLst/>
          </a:prstGeom>
        </p:spPr>
        <p:txBody>
          <a:bodyPr>
            <a:noAutofit/>
          </a:bodyPr>
          <a:lstStyle>
            <a:lvl1pPr marL="0" indent="0" algn="l">
              <a:lnSpc>
                <a:spcPct val="100000"/>
              </a:lnSpc>
              <a:spcBef>
                <a:spcPts val="0"/>
              </a:spcBef>
              <a:buNone/>
              <a:defRPr sz="1800" b="0">
                <a:solidFill>
                  <a:srgbClr val="FFFFFF"/>
                </a:solidFill>
                <a:latin typeface="+mn-lt"/>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2270628262"/>
      </p:ext>
    </p:extLst>
  </p:cSld>
  <p:clrMapOvr>
    <a:masterClrMapping/>
  </p:clrMapOvr>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xmlns="" val="2131204104"/>
      </p:ext>
    </p:extLst>
  </p:cSld>
  <p:clrMapOvr>
    <a:masterClrMapping/>
  </p:clrMapOvr>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331470" y="751390"/>
            <a:ext cx="8117206"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2"/>
            <a:ext cx="8119872" cy="3228975"/>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694570032"/>
      </p:ext>
    </p:extLst>
  </p:cSld>
  <p:clrMapOvr>
    <a:masterClrMapping/>
  </p:clrMapOvr>
  <p:timing>
    <p:tnLst>
      <p:par>
        <p:cTn id="1" dur="indefinite" restart="never" nodeType="tmRoot"/>
      </p:par>
    </p:tnLst>
  </p:timing>
  <p:hf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sub title with bullets">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331470" y="751390"/>
            <a:ext cx="8117206"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2"/>
            <a:ext cx="8119872" cy="3228975"/>
          </a:xfrm>
        </p:spPr>
        <p:txBody>
          <a:bodyPr wrap="square">
            <a:noAutofit/>
          </a:bodyPr>
          <a:lstStyle>
            <a:lvl1pPr marL="171450" indent="-171450">
              <a:buFont typeface="HP Simplified" pitchFamily="34" charset="0"/>
              <a:buChar char="•"/>
              <a:defRPr sz="1400" b="0">
                <a:solidFill>
                  <a:schemeClr val="tx1"/>
                </a:solidFill>
              </a:defRPr>
            </a:lvl1pPr>
            <a:lvl2pPr marL="342900" indent="-171450">
              <a:buSzPct val="80000"/>
              <a:buFont typeface="HP Simplified" pitchFamily="34" charset="0"/>
              <a:buChar char="–"/>
              <a:defRPr sz="1400">
                <a:solidFill>
                  <a:srgbClr val="000000"/>
                </a:solidFill>
              </a:defRPr>
            </a:lvl2pPr>
            <a:lvl3pPr marL="512763" indent="-169863">
              <a:defRPr sz="1400">
                <a:solidFill>
                  <a:srgbClr val="000000"/>
                </a:solidFill>
              </a:defRPr>
            </a:lvl3pPr>
            <a:lvl4pPr marL="690563" indent="-180975">
              <a:defRPr sz="1400">
                <a:solidFill>
                  <a:srgbClr val="000000"/>
                </a:solidFill>
              </a:defRPr>
            </a:lvl4pPr>
            <a:lvl5pPr marL="833438" indent="-150813">
              <a:defRPr sz="1400">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020155654"/>
      </p:ext>
    </p:extLst>
  </p:cSld>
  <p:clrMapOvr>
    <a:masterClrMapping/>
  </p:clrMapOvr>
  <p:timing>
    <p:tnLst>
      <p:par>
        <p:cTn id="1" dur="indefinite" restart="never" nodeType="tmRoot"/>
      </p:par>
    </p:tnLst>
  </p:timing>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ub title with two columns">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bwMode="black">
          <a:xfrm>
            <a:off x="331545" y="235101"/>
            <a:ext cx="8460105" cy="430887"/>
          </a:xfrm>
          <a:prstGeom prst="rect">
            <a:avLst/>
          </a:prstGeom>
          <a:ln>
            <a:noFill/>
          </a:ln>
        </p:spPr>
        <p:txBody>
          <a:bodyPr vert="horz" wrap="square" lIns="0" tIns="0" rIns="0" bIns="0" rtlCol="0" anchor="t" anchorCtr="0">
            <a:spAutoFit/>
          </a:bodyPr>
          <a:lstStyle>
            <a:lvl1pPr>
              <a:defRPr>
                <a:solidFill>
                  <a:srgbClr val="000000"/>
                </a:solidFill>
              </a:defRPr>
            </a:lvl1pPr>
          </a:lstStyle>
          <a:p>
            <a:r>
              <a:rPr lang="en-US" noProof="0" dirty="0" smtClean="0"/>
              <a:t>Click to edit master title style</a:t>
            </a:r>
            <a:endParaRPr lang="en-US" noProof="0" dirty="0"/>
          </a:p>
        </p:txBody>
      </p:sp>
      <p:sp>
        <p:nvSpPr>
          <p:cNvPr id="8" name="Content Placeholder 7"/>
          <p:cNvSpPr>
            <a:spLocks noGrp="1"/>
          </p:cNvSpPr>
          <p:nvPr>
            <p:ph sz="quarter" idx="16"/>
          </p:nvPr>
        </p:nvSpPr>
        <p:spPr>
          <a:xfrm>
            <a:off x="332330" y="1188731"/>
            <a:ext cx="4030662" cy="321976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7"/>
          </p:nvPr>
        </p:nvSpPr>
        <p:spPr>
          <a:xfrm>
            <a:off x="4568825" y="1185864"/>
            <a:ext cx="3878264"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4220897594"/>
      </p:ext>
    </p:extLst>
  </p:cSld>
  <p:clrMapOvr>
    <a:masterClrMapping/>
  </p:clrMapOvr>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Half page, sub title with image">
    <p:bg>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4568840" y="1186049"/>
            <a:ext cx="3878263" cy="3222441"/>
          </a:xfrm>
        </p:spPr>
        <p:txBody>
          <a:bodyPr anchor="ctr"/>
          <a:lstStyle>
            <a:lvl1pPr algn="ctr">
              <a:defRPr b="0">
                <a:solidFill>
                  <a:schemeClr val="tx1"/>
                </a:solidFill>
              </a:defRPr>
            </a:lvl1pPr>
          </a:lstStyle>
          <a:p>
            <a:r>
              <a:rPr lang="en-US" dirty="0" smtClean="0"/>
              <a:t>Click icon to add picture</a:t>
            </a:r>
            <a:endParaRPr lang="en-US" dirty="0"/>
          </a:p>
        </p:txBody>
      </p:sp>
      <p:sp>
        <p:nvSpPr>
          <p:cNvPr id="7" name="Title 6"/>
          <p:cNvSpPr>
            <a:spLocks noGrp="1"/>
          </p:cNvSpPr>
          <p:nvPr>
            <p:ph type="title" hasCustomPrompt="1"/>
          </p:nvPr>
        </p:nvSpPr>
        <p:spPr bwMode="black">
          <a:xfrm>
            <a:off x="331469" y="235063"/>
            <a:ext cx="8458200" cy="429768"/>
          </a:xfrm>
        </p:spPr>
        <p:txBody>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0"/>
            <a:ext cx="4011612" cy="321976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4167640170"/>
      </p:ext>
    </p:extLst>
  </p:cSld>
  <p:clrMapOvr>
    <a:masterClrMapping/>
  </p:clrMapOvr>
  <p:timing>
    <p:tnLst>
      <p:par>
        <p:cTn id="1" dur="indefinite" restart="never" nodeType="tmRoot"/>
      </p:par>
    </p:tn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Ttitle, sub title with three columns">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331546" y="235063"/>
            <a:ext cx="8460105" cy="429768"/>
          </a:xfrm>
        </p:spPr>
        <p:txBody>
          <a:bodyPr/>
          <a:lstStyle>
            <a:lvl1pPr>
              <a:defRPr>
                <a:solidFill>
                  <a:srgbClr val="000000"/>
                </a:solidFill>
              </a:defRPr>
            </a:lvl1pPr>
          </a:lstStyle>
          <a:p>
            <a:r>
              <a:rPr lang="en-US" noProof="0" dirty="0" smtClean="0"/>
              <a:t>Click to edit master title style</a:t>
            </a:r>
            <a:endParaRPr lang="en-US" noProof="0" dirty="0"/>
          </a:p>
        </p:txBody>
      </p:sp>
      <p:sp>
        <p:nvSpPr>
          <p:cNvPr id="9" name="Content Placeholder 8"/>
          <p:cNvSpPr>
            <a:spLocks noGrp="1"/>
          </p:cNvSpPr>
          <p:nvPr>
            <p:ph sz="quarter" idx="16"/>
          </p:nvPr>
        </p:nvSpPr>
        <p:spPr>
          <a:xfrm>
            <a:off x="329184" y="1189039"/>
            <a:ext cx="2523744"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11"/>
          <p:cNvSpPr>
            <a:spLocks noGrp="1"/>
          </p:cNvSpPr>
          <p:nvPr>
            <p:ph sz="quarter" idx="17"/>
          </p:nvPr>
        </p:nvSpPr>
        <p:spPr>
          <a:xfrm>
            <a:off x="3124486" y="1189052"/>
            <a:ext cx="2523744" cy="322262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Content Placeholder 13"/>
          <p:cNvSpPr>
            <a:spLocks noGrp="1"/>
          </p:cNvSpPr>
          <p:nvPr>
            <p:ph sz="quarter" idx="18"/>
          </p:nvPr>
        </p:nvSpPr>
        <p:spPr>
          <a:xfrm>
            <a:off x="5919788" y="1189039"/>
            <a:ext cx="2527300"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221507359"/>
      </p:ext>
    </p:extLst>
  </p:cSld>
  <p:clrMapOvr>
    <a:masterClrMapping/>
  </p:clrMapOvr>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White title slide">
    <p:spTree>
      <p:nvGrpSpPr>
        <p:cNvPr id="1" name=""/>
        <p:cNvGrpSpPr/>
        <p:nvPr/>
      </p:nvGrpSpPr>
      <p:grpSpPr>
        <a:xfrm>
          <a:off x="0" y="0"/>
          <a:ext cx="0" cy="0"/>
          <a:chOff x="0" y="0"/>
          <a:chExt cx="0" cy="0"/>
        </a:xfrm>
      </p:grpSpPr>
      <p:sp>
        <p:nvSpPr>
          <p:cNvPr id="8" name="Title 1"/>
          <p:cNvSpPr>
            <a:spLocks noGrp="1"/>
          </p:cNvSpPr>
          <p:nvPr>
            <p:ph type="ctrTitle" hasCustomPrompt="1"/>
          </p:nvPr>
        </p:nvSpPr>
        <p:spPr bwMode="black">
          <a:xfrm>
            <a:off x="329184" y="2036820"/>
            <a:ext cx="6858000" cy="1206484"/>
          </a:xfrm>
        </p:spPr>
        <p:txBody>
          <a:bodyPr anchor="b"/>
          <a:lstStyle>
            <a:lvl1pPr>
              <a:lnSpc>
                <a:spcPct val="90000"/>
              </a:lnSpc>
              <a:defRPr sz="4600" spc="-100">
                <a:solidFill>
                  <a:srgbClr val="000000"/>
                </a:solidFill>
              </a:defRPr>
            </a:lvl1pPr>
          </a:lstStyle>
          <a:p>
            <a:r>
              <a:rPr lang="en-US" dirty="0" smtClean="0"/>
              <a:t>Click to edit master </a:t>
            </a:r>
            <a:br>
              <a:rPr lang="en-US" dirty="0" smtClean="0"/>
            </a:br>
            <a:r>
              <a:rPr lang="en-US" dirty="0" smtClean="0"/>
              <a:t>title style</a:t>
            </a:r>
            <a:endParaRPr lang="en-US" dirty="0"/>
          </a:p>
        </p:txBody>
      </p:sp>
      <p:sp>
        <p:nvSpPr>
          <p:cNvPr id="9" name="Subtitle 2"/>
          <p:cNvSpPr>
            <a:spLocks noGrp="1"/>
          </p:cNvSpPr>
          <p:nvPr>
            <p:ph type="subTitle" idx="1" hasCustomPrompt="1"/>
          </p:nvPr>
        </p:nvSpPr>
        <p:spPr bwMode="black">
          <a:xfrm>
            <a:off x="329184" y="3316628"/>
            <a:ext cx="6858000" cy="914400"/>
          </a:xfrm>
        </p:spPr>
        <p:txBody>
          <a:bodyPr/>
          <a:lstStyle>
            <a:lvl1pPr marL="0" indent="0" algn="l">
              <a:buNone/>
              <a:defRPr b="0">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Blue_RGB_150_LG.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6949440" y="365760"/>
            <a:ext cx="1883664" cy="1883664"/>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pic>
        <p:nvPicPr>
          <p:cNvPr id="7" name="Picture 2"/>
          <p:cNvPicPr>
            <a:picLocks noChangeAspect="1" noChangeArrowheads="1"/>
          </p:cNvPicPr>
          <p:nvPr userDrawn="1"/>
        </p:nvPicPr>
        <p:blipFill>
          <a:blip r:embed="rId3"/>
          <a:srcRect/>
          <a:stretch>
            <a:fillRect/>
          </a:stretch>
        </p:blipFill>
        <p:spPr bwMode="auto">
          <a:xfrm>
            <a:off x="129708" y="815333"/>
            <a:ext cx="1483773" cy="1222782"/>
          </a:xfrm>
          <a:prstGeom prst="rect">
            <a:avLst/>
          </a:prstGeom>
          <a:noFill/>
          <a:ln w="9525">
            <a:noFill/>
            <a:miter lim="800000"/>
            <a:headEnd/>
            <a:tailEnd/>
          </a:ln>
          <a:effectLst/>
        </p:spPr>
      </p:pic>
    </p:spTree>
    <p:extLst>
      <p:ext uri="{BB962C8B-B14F-4D97-AF65-F5344CB8AC3E}">
        <p14:creationId xmlns:p14="http://schemas.microsoft.com/office/powerpoint/2010/main" xmlns="" val="2001216101"/>
      </p:ext>
    </p:extLst>
  </p:cSld>
  <p:clrMapOvr>
    <a:masterClrMapping/>
  </p:clrMapOvr>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Blue title slide ">
    <p:bg>
      <p:bgPr>
        <a:solidFill>
          <a:schemeClr val="accent1"/>
        </a:solidFill>
        <a:effectLst/>
      </p:bgPr>
    </p:bg>
    <p:spTree>
      <p:nvGrpSpPr>
        <p:cNvPr id="1" name=""/>
        <p:cNvGrpSpPr/>
        <p:nvPr/>
      </p:nvGrpSpPr>
      <p:grpSpPr>
        <a:xfrm>
          <a:off x="0" y="0"/>
          <a:ext cx="0" cy="0"/>
          <a:chOff x="0" y="0"/>
          <a:chExt cx="0" cy="0"/>
        </a:xfrm>
      </p:grpSpPr>
      <p:sp>
        <p:nvSpPr>
          <p:cNvPr id="10" name="Title 1"/>
          <p:cNvSpPr>
            <a:spLocks noGrp="1"/>
          </p:cNvSpPr>
          <p:nvPr>
            <p:ph type="ctrTitle" hasCustomPrompt="1"/>
          </p:nvPr>
        </p:nvSpPr>
        <p:spPr bwMode="black">
          <a:xfrm>
            <a:off x="329184" y="2036820"/>
            <a:ext cx="6858000" cy="1206484"/>
          </a:xfrm>
        </p:spPr>
        <p:txBody>
          <a:bodyPr anchor="b"/>
          <a:lstStyle>
            <a:lvl1pPr>
              <a:lnSpc>
                <a:spcPct val="90000"/>
              </a:lnSpc>
              <a:defRPr sz="4600" spc="-100">
                <a:solidFill>
                  <a:schemeClr val="bg1"/>
                </a:solidFill>
              </a:defRPr>
            </a:lvl1pPr>
          </a:lstStyle>
          <a:p>
            <a:r>
              <a:rPr lang="en-US" dirty="0" smtClean="0"/>
              <a:t>Click to edit master </a:t>
            </a:r>
            <a:br>
              <a:rPr lang="en-US" dirty="0" smtClean="0"/>
            </a:br>
            <a:r>
              <a:rPr lang="en-US" dirty="0" smtClean="0"/>
              <a:t>title style</a:t>
            </a:r>
            <a:endParaRPr lang="en-US" dirty="0"/>
          </a:p>
        </p:txBody>
      </p:sp>
      <p:sp>
        <p:nvSpPr>
          <p:cNvPr id="11" name="Subtitle 2"/>
          <p:cNvSpPr>
            <a:spLocks noGrp="1"/>
          </p:cNvSpPr>
          <p:nvPr>
            <p:ph type="subTitle" idx="1" hasCustomPrompt="1"/>
          </p:nvPr>
        </p:nvSpPr>
        <p:spPr bwMode="black">
          <a:xfrm>
            <a:off x="329184" y="3316628"/>
            <a:ext cx="6858000" cy="914400"/>
          </a:xfrm>
        </p:spPr>
        <p:txBody>
          <a:bodyPr/>
          <a:lstStyle>
            <a:lvl1pPr marL="0" indent="0" algn="l">
              <a:buNone/>
              <a:defRPr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White_RGB_150_LG.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6949440" y="365760"/>
            <a:ext cx="1883664" cy="1883664"/>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prstClr val="white"/>
                </a:solidFill>
                <a:cs typeface="HP Simplified"/>
              </a:rPr>
              <a:t>© Copyright 2012 Hewlett-Packard Development Company, L.P.  The information contained herein is subject to change without notice.</a:t>
            </a:r>
          </a:p>
        </p:txBody>
      </p:sp>
    </p:spTree>
    <p:extLst>
      <p:ext uri="{BB962C8B-B14F-4D97-AF65-F5344CB8AC3E}">
        <p14:creationId xmlns:p14="http://schemas.microsoft.com/office/powerpoint/2010/main" xmlns="" val="2803285101"/>
      </p:ext>
    </p:extLst>
  </p:cSld>
  <p:clrMapOvr>
    <a:masterClrMapping/>
  </p:clrMapOvr>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White divider slide">
    <p:spTree>
      <p:nvGrpSpPr>
        <p:cNvPr id="1" name=""/>
        <p:cNvGrpSpPr/>
        <p:nvPr/>
      </p:nvGrpSpPr>
      <p:grpSpPr>
        <a:xfrm>
          <a:off x="0" y="0"/>
          <a:ext cx="0" cy="0"/>
          <a:chOff x="0" y="0"/>
          <a:chExt cx="0" cy="0"/>
        </a:xfrm>
      </p:grpSpPr>
      <p:pic>
        <p:nvPicPr>
          <p:cNvPr id="5" name="Picture 4" descr="HP_Blue_RGB_150_SM.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8503920" y="4535424"/>
            <a:ext cx="365760" cy="365760"/>
          </a:xfrm>
          <a:prstGeom prst="rect">
            <a:avLst/>
          </a:prstGeom>
        </p:spPr>
      </p:pic>
      <p:sp>
        <p:nvSpPr>
          <p:cNvPr id="16" name="Title 1"/>
          <p:cNvSpPr>
            <a:spLocks noGrp="1"/>
          </p:cNvSpPr>
          <p:nvPr>
            <p:ph type="ctrTitle" hasCustomPrompt="1"/>
          </p:nvPr>
        </p:nvSpPr>
        <p:spPr bwMode="black">
          <a:xfrm>
            <a:off x="329184" y="237746"/>
            <a:ext cx="7222352" cy="2006703"/>
          </a:xfrm>
          <a:prstGeom prst="rect">
            <a:avLst/>
          </a:prstGeom>
        </p:spPr>
        <p:txBody>
          <a:bodyPr wrap="square" lIns="0" tIns="0" rIns="0" bIns="0" anchor="t" anchorCtr="0">
            <a:noAutofit/>
          </a:bodyPr>
          <a:lstStyle>
            <a:lvl1pPr algn="l">
              <a:lnSpc>
                <a:spcPct val="90000"/>
              </a:lnSpc>
              <a:defRPr sz="4000" b="1" i="0" spc="-100">
                <a:solidFill>
                  <a:schemeClr val="tx1"/>
                </a:solidFill>
                <a:latin typeface="HP Simplified" pitchFamily="34" charset="0"/>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spTree>
    <p:extLst>
      <p:ext uri="{BB962C8B-B14F-4D97-AF65-F5344CB8AC3E}">
        <p14:creationId xmlns:p14="http://schemas.microsoft.com/office/powerpoint/2010/main" xmlns="" val="1561911735"/>
      </p:ext>
    </p:extLst>
  </p:cSld>
  <p:clrMapOvr>
    <a:masterClrMapping/>
  </p:clrMapOvr>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Blue quote slide with subtitl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329184" y="240920"/>
            <a:ext cx="7222352" cy="2006703"/>
          </a:xfrm>
          <a:prstGeom prst="rect">
            <a:avLst/>
          </a:prstGeom>
        </p:spPr>
        <p:txBody>
          <a:bodyPr wrap="square" lIns="0" tIns="0" rIns="0" bIns="0" anchor="t" anchorCtr="0">
            <a:noAutofit/>
          </a:bodyPr>
          <a:lstStyle>
            <a:lvl1pPr algn="l" defTabSz="457200" rtl="0" eaLnBrk="1" latinLnBrk="0" hangingPunct="1">
              <a:lnSpc>
                <a:spcPct val="90000"/>
              </a:lnSpc>
              <a:spcBef>
                <a:spcPct val="0"/>
              </a:spcBef>
              <a:spcAft>
                <a:spcPts val="0"/>
              </a:spcAft>
              <a:buNone/>
              <a:defRPr lang="en-US" sz="4000" b="1" i="0" kern="1200" spc="-100" noProof="0" dirty="0">
                <a:solidFill>
                  <a:schemeClr val="bg1"/>
                </a:solidFill>
                <a:latin typeface="HP Simplified" pitchFamily="34" charset="0"/>
                <a:ea typeface="+mj-ea"/>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print">
            <a:extLst>
              <a:ext uri="{28A0092B-C50C-407E-A947-70E740481C1C}">
                <a14:useLocalDpi xmlns:a14="http://schemas.microsoft.com/office/drawing/2010/main" xmlns=""/>
              </a:ext>
            </a:extLst>
          </a:blip>
          <a:stretch>
            <a:fillRect/>
          </a:stretch>
        </p:blipFill>
        <p:spPr>
          <a:xfrm>
            <a:off x="8505214" y="4535424"/>
            <a:ext cx="365736" cy="365736"/>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prstClr val="white"/>
                </a:solidFill>
                <a:cs typeface="HP Simplified"/>
              </a:rPr>
              <a:t>© Copyright 2012 Hewlett-Packard Development Company, L.P.  The information contained herein is subject to change without notice.</a:t>
            </a:r>
          </a:p>
        </p:txBody>
      </p:sp>
      <p:sp>
        <p:nvSpPr>
          <p:cNvPr id="5" name="Subtitle 2"/>
          <p:cNvSpPr>
            <a:spLocks noGrp="1"/>
          </p:cNvSpPr>
          <p:nvPr>
            <p:ph type="subTitle" idx="1" hasCustomPrompt="1"/>
          </p:nvPr>
        </p:nvSpPr>
        <p:spPr>
          <a:xfrm>
            <a:off x="325269" y="3305361"/>
            <a:ext cx="5148072" cy="649224"/>
          </a:xfrm>
          <a:prstGeom prst="rect">
            <a:avLst/>
          </a:prstGeom>
        </p:spPr>
        <p:txBody>
          <a:bodyPr>
            <a:noAutofit/>
          </a:bodyPr>
          <a:lstStyle>
            <a:lvl1pPr marL="0" indent="0" algn="l">
              <a:lnSpc>
                <a:spcPct val="100000"/>
              </a:lnSpc>
              <a:spcBef>
                <a:spcPts val="0"/>
              </a:spcBef>
              <a:buNone/>
              <a:defRPr sz="1800" b="0">
                <a:solidFill>
                  <a:srgbClr val="FFFFFF"/>
                </a:solidFill>
                <a:latin typeface="+mn-lt"/>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1924304153"/>
      </p:ext>
    </p:extLst>
  </p:cSld>
  <p:clrMapOvr>
    <a:masterClrMapping/>
  </p:clrMapOvr>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xmlns="" val="2013797421"/>
      </p:ext>
    </p:extLst>
  </p:cSld>
  <p:clrMapOvr>
    <a:masterClrMapping/>
  </p:clrMapOvr>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331470" y="751390"/>
            <a:ext cx="8117206"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2"/>
            <a:ext cx="8119872" cy="3228975"/>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862568112"/>
      </p:ext>
    </p:extLst>
  </p:cSld>
  <p:clrMapOvr>
    <a:masterClrMapping/>
  </p:clrMapOvr>
  <p:timing>
    <p:tnLst>
      <p:par>
        <p:cTn id="1" dur="indefinite" restart="never" nodeType="tmRoot"/>
      </p:par>
    </p:tnLst>
  </p:timing>
  <p:hf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Title, sub title with bullets">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331470" y="751390"/>
            <a:ext cx="8117206"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2"/>
            <a:ext cx="8119872" cy="3228975"/>
          </a:xfrm>
        </p:spPr>
        <p:txBody>
          <a:bodyPr wrap="square">
            <a:noAutofit/>
          </a:bodyPr>
          <a:lstStyle>
            <a:lvl1pPr marL="171450" indent="-171450">
              <a:buFont typeface="HP Simplified" pitchFamily="34" charset="0"/>
              <a:buChar char="•"/>
              <a:defRPr sz="1400" b="0">
                <a:solidFill>
                  <a:schemeClr val="tx1"/>
                </a:solidFill>
              </a:defRPr>
            </a:lvl1pPr>
            <a:lvl2pPr marL="342900" indent="-171450">
              <a:buSzPct val="80000"/>
              <a:buFont typeface="HP Simplified" pitchFamily="34" charset="0"/>
              <a:buChar char="–"/>
              <a:defRPr sz="1400">
                <a:solidFill>
                  <a:srgbClr val="000000"/>
                </a:solidFill>
              </a:defRPr>
            </a:lvl2pPr>
            <a:lvl3pPr marL="512763" indent="-169863">
              <a:defRPr sz="1400">
                <a:solidFill>
                  <a:srgbClr val="000000"/>
                </a:solidFill>
              </a:defRPr>
            </a:lvl3pPr>
            <a:lvl4pPr marL="690563" indent="-180975">
              <a:defRPr sz="1400">
                <a:solidFill>
                  <a:srgbClr val="000000"/>
                </a:solidFill>
              </a:defRPr>
            </a:lvl4pPr>
            <a:lvl5pPr marL="833438" indent="-150813">
              <a:defRPr sz="1400">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515784909"/>
      </p:ext>
    </p:extLst>
  </p:cSld>
  <p:clrMapOvr>
    <a:masterClrMapping/>
  </p:clrMapOvr>
  <p:timing>
    <p:tnLst>
      <p:par>
        <p:cTn id="1" dur="indefinite" restart="never" nodeType="tmRoot"/>
      </p:par>
    </p:tnLst>
  </p:timing>
  <p:hf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sub title with two columns">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bwMode="black">
          <a:xfrm>
            <a:off x="331545" y="235101"/>
            <a:ext cx="8460105" cy="430887"/>
          </a:xfrm>
          <a:prstGeom prst="rect">
            <a:avLst/>
          </a:prstGeom>
          <a:ln>
            <a:noFill/>
          </a:ln>
        </p:spPr>
        <p:txBody>
          <a:bodyPr vert="horz" wrap="square" lIns="0" tIns="0" rIns="0" bIns="0" rtlCol="0" anchor="t" anchorCtr="0">
            <a:spAutoFit/>
          </a:bodyPr>
          <a:lstStyle>
            <a:lvl1pPr>
              <a:defRPr>
                <a:solidFill>
                  <a:srgbClr val="000000"/>
                </a:solidFill>
              </a:defRPr>
            </a:lvl1pPr>
          </a:lstStyle>
          <a:p>
            <a:r>
              <a:rPr lang="en-US" noProof="0" dirty="0" smtClean="0"/>
              <a:t>Click to edit master title style</a:t>
            </a:r>
            <a:endParaRPr lang="en-US" noProof="0" dirty="0"/>
          </a:p>
        </p:txBody>
      </p:sp>
      <p:sp>
        <p:nvSpPr>
          <p:cNvPr id="8" name="Content Placeholder 7"/>
          <p:cNvSpPr>
            <a:spLocks noGrp="1"/>
          </p:cNvSpPr>
          <p:nvPr>
            <p:ph sz="quarter" idx="16"/>
          </p:nvPr>
        </p:nvSpPr>
        <p:spPr>
          <a:xfrm>
            <a:off x="332330" y="1188731"/>
            <a:ext cx="4030662" cy="321976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7"/>
          </p:nvPr>
        </p:nvSpPr>
        <p:spPr>
          <a:xfrm>
            <a:off x="4568825" y="1185864"/>
            <a:ext cx="3878264"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3229736380"/>
      </p:ext>
    </p:extLst>
  </p:cSld>
  <p:clrMapOvr>
    <a:masterClrMapping/>
  </p:clrMapOvr>
  <p:timing>
    <p:tnLst>
      <p:par>
        <p:cTn id="1" dur="indefinite" restart="never" nodeType="tmRoot"/>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Half page, sub title with image">
    <p:bg>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4568840" y="1186049"/>
            <a:ext cx="3878263" cy="3222441"/>
          </a:xfrm>
        </p:spPr>
        <p:txBody>
          <a:bodyPr anchor="ctr"/>
          <a:lstStyle>
            <a:lvl1pPr algn="ctr">
              <a:defRPr b="0">
                <a:solidFill>
                  <a:schemeClr val="tx1"/>
                </a:solidFill>
              </a:defRPr>
            </a:lvl1pPr>
          </a:lstStyle>
          <a:p>
            <a:r>
              <a:rPr lang="en-US" dirty="0" smtClean="0"/>
              <a:t>Click icon to add picture</a:t>
            </a:r>
            <a:endParaRPr lang="en-US" dirty="0"/>
          </a:p>
        </p:txBody>
      </p:sp>
      <p:sp>
        <p:nvSpPr>
          <p:cNvPr id="7" name="Title 6"/>
          <p:cNvSpPr>
            <a:spLocks noGrp="1"/>
          </p:cNvSpPr>
          <p:nvPr>
            <p:ph type="title" hasCustomPrompt="1"/>
          </p:nvPr>
        </p:nvSpPr>
        <p:spPr bwMode="black">
          <a:xfrm>
            <a:off x="331469" y="235063"/>
            <a:ext cx="8458200" cy="429768"/>
          </a:xfrm>
        </p:spPr>
        <p:txBody>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0"/>
            <a:ext cx="4011612" cy="321976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313331928"/>
      </p:ext>
    </p:extLst>
  </p:cSld>
  <p:clrMapOvr>
    <a:masterClrMapping/>
  </p:clrMapOvr>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Ttitle, sub title with three columns">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331546" y="235063"/>
            <a:ext cx="8460105" cy="429768"/>
          </a:xfrm>
        </p:spPr>
        <p:txBody>
          <a:bodyPr/>
          <a:lstStyle>
            <a:lvl1pPr>
              <a:defRPr>
                <a:solidFill>
                  <a:srgbClr val="000000"/>
                </a:solidFill>
              </a:defRPr>
            </a:lvl1pPr>
          </a:lstStyle>
          <a:p>
            <a:r>
              <a:rPr lang="en-US" noProof="0" dirty="0" smtClean="0"/>
              <a:t>Click to edit master title style</a:t>
            </a:r>
            <a:endParaRPr lang="en-US" noProof="0" dirty="0"/>
          </a:p>
        </p:txBody>
      </p:sp>
      <p:sp>
        <p:nvSpPr>
          <p:cNvPr id="9" name="Content Placeholder 8"/>
          <p:cNvSpPr>
            <a:spLocks noGrp="1"/>
          </p:cNvSpPr>
          <p:nvPr>
            <p:ph sz="quarter" idx="16"/>
          </p:nvPr>
        </p:nvSpPr>
        <p:spPr>
          <a:xfrm>
            <a:off x="329184" y="1189039"/>
            <a:ext cx="2523744"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11"/>
          <p:cNvSpPr>
            <a:spLocks noGrp="1"/>
          </p:cNvSpPr>
          <p:nvPr>
            <p:ph sz="quarter" idx="17"/>
          </p:nvPr>
        </p:nvSpPr>
        <p:spPr>
          <a:xfrm>
            <a:off x="3124486" y="1189052"/>
            <a:ext cx="2523744" cy="322262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Content Placeholder 13"/>
          <p:cNvSpPr>
            <a:spLocks noGrp="1"/>
          </p:cNvSpPr>
          <p:nvPr>
            <p:ph sz="quarter" idx="18"/>
          </p:nvPr>
        </p:nvSpPr>
        <p:spPr>
          <a:xfrm>
            <a:off x="5919788" y="1189039"/>
            <a:ext cx="2527300"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939329661"/>
      </p:ext>
    </p:extLst>
  </p:cSld>
  <p:clrMapOvr>
    <a:masterClrMapping/>
  </p:clrMapOvr>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White title slide">
    <p:spTree>
      <p:nvGrpSpPr>
        <p:cNvPr id="1" name=""/>
        <p:cNvGrpSpPr/>
        <p:nvPr/>
      </p:nvGrpSpPr>
      <p:grpSpPr>
        <a:xfrm>
          <a:off x="0" y="0"/>
          <a:ext cx="0" cy="0"/>
          <a:chOff x="0" y="0"/>
          <a:chExt cx="0" cy="0"/>
        </a:xfrm>
      </p:grpSpPr>
      <p:sp>
        <p:nvSpPr>
          <p:cNvPr id="8" name="Title 1"/>
          <p:cNvSpPr>
            <a:spLocks noGrp="1"/>
          </p:cNvSpPr>
          <p:nvPr>
            <p:ph type="ctrTitle" hasCustomPrompt="1"/>
          </p:nvPr>
        </p:nvSpPr>
        <p:spPr bwMode="black">
          <a:xfrm>
            <a:off x="329184" y="2036820"/>
            <a:ext cx="6858000" cy="1206484"/>
          </a:xfrm>
        </p:spPr>
        <p:txBody>
          <a:bodyPr anchor="b"/>
          <a:lstStyle>
            <a:lvl1pPr>
              <a:lnSpc>
                <a:spcPct val="90000"/>
              </a:lnSpc>
              <a:defRPr sz="4600" spc="-100">
                <a:solidFill>
                  <a:srgbClr val="000000"/>
                </a:solidFill>
              </a:defRPr>
            </a:lvl1pPr>
          </a:lstStyle>
          <a:p>
            <a:r>
              <a:rPr lang="en-US" dirty="0" smtClean="0"/>
              <a:t>Click to edit master </a:t>
            </a:r>
            <a:br>
              <a:rPr lang="en-US" dirty="0" smtClean="0"/>
            </a:br>
            <a:r>
              <a:rPr lang="en-US" dirty="0" smtClean="0"/>
              <a:t>title style</a:t>
            </a:r>
            <a:endParaRPr lang="en-US" dirty="0"/>
          </a:p>
        </p:txBody>
      </p:sp>
      <p:sp>
        <p:nvSpPr>
          <p:cNvPr id="9" name="Subtitle 2"/>
          <p:cNvSpPr>
            <a:spLocks noGrp="1"/>
          </p:cNvSpPr>
          <p:nvPr>
            <p:ph type="subTitle" idx="1" hasCustomPrompt="1"/>
          </p:nvPr>
        </p:nvSpPr>
        <p:spPr bwMode="black">
          <a:xfrm>
            <a:off x="329184" y="3316628"/>
            <a:ext cx="6858000" cy="914400"/>
          </a:xfrm>
        </p:spPr>
        <p:txBody>
          <a:bodyPr/>
          <a:lstStyle>
            <a:lvl1pPr marL="0" indent="0" algn="l">
              <a:buNone/>
              <a:defRPr b="0">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Blue_RGB_150_LG.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6949440" y="365760"/>
            <a:ext cx="1883664" cy="1883664"/>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pic>
        <p:nvPicPr>
          <p:cNvPr id="7" name="Picture 2"/>
          <p:cNvPicPr>
            <a:picLocks noChangeAspect="1" noChangeArrowheads="1"/>
          </p:cNvPicPr>
          <p:nvPr userDrawn="1"/>
        </p:nvPicPr>
        <p:blipFill>
          <a:blip r:embed="rId3"/>
          <a:srcRect/>
          <a:stretch>
            <a:fillRect/>
          </a:stretch>
        </p:blipFill>
        <p:spPr bwMode="auto">
          <a:xfrm>
            <a:off x="129708" y="815333"/>
            <a:ext cx="1483773" cy="1222782"/>
          </a:xfrm>
          <a:prstGeom prst="rect">
            <a:avLst/>
          </a:prstGeom>
          <a:noFill/>
          <a:ln w="9525">
            <a:noFill/>
            <a:miter lim="800000"/>
            <a:headEnd/>
            <a:tailEnd/>
          </a:ln>
          <a:effectLst/>
        </p:spPr>
      </p:pic>
    </p:spTree>
    <p:extLst>
      <p:ext uri="{BB962C8B-B14F-4D97-AF65-F5344CB8AC3E}">
        <p14:creationId xmlns:p14="http://schemas.microsoft.com/office/powerpoint/2010/main" xmlns="" val="1944966662"/>
      </p:ext>
    </p:extLst>
  </p:cSld>
  <p:clrMapOvr>
    <a:masterClrMapping/>
  </p:clrMapOvr>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Blue title slide ">
    <p:bg>
      <p:bgPr>
        <a:solidFill>
          <a:schemeClr val="accent1"/>
        </a:solidFill>
        <a:effectLst/>
      </p:bgPr>
    </p:bg>
    <p:spTree>
      <p:nvGrpSpPr>
        <p:cNvPr id="1" name=""/>
        <p:cNvGrpSpPr/>
        <p:nvPr/>
      </p:nvGrpSpPr>
      <p:grpSpPr>
        <a:xfrm>
          <a:off x="0" y="0"/>
          <a:ext cx="0" cy="0"/>
          <a:chOff x="0" y="0"/>
          <a:chExt cx="0" cy="0"/>
        </a:xfrm>
      </p:grpSpPr>
      <p:sp>
        <p:nvSpPr>
          <p:cNvPr id="10" name="Title 1"/>
          <p:cNvSpPr>
            <a:spLocks noGrp="1"/>
          </p:cNvSpPr>
          <p:nvPr>
            <p:ph type="ctrTitle" hasCustomPrompt="1"/>
          </p:nvPr>
        </p:nvSpPr>
        <p:spPr bwMode="black">
          <a:xfrm>
            <a:off x="329184" y="2036820"/>
            <a:ext cx="6858000" cy="1206484"/>
          </a:xfrm>
        </p:spPr>
        <p:txBody>
          <a:bodyPr anchor="b"/>
          <a:lstStyle>
            <a:lvl1pPr>
              <a:lnSpc>
                <a:spcPct val="90000"/>
              </a:lnSpc>
              <a:defRPr sz="4600" spc="-100">
                <a:solidFill>
                  <a:schemeClr val="bg1"/>
                </a:solidFill>
              </a:defRPr>
            </a:lvl1pPr>
          </a:lstStyle>
          <a:p>
            <a:r>
              <a:rPr lang="en-US" dirty="0" smtClean="0"/>
              <a:t>Click to edit master </a:t>
            </a:r>
            <a:br>
              <a:rPr lang="en-US" dirty="0" smtClean="0"/>
            </a:br>
            <a:r>
              <a:rPr lang="en-US" dirty="0" smtClean="0"/>
              <a:t>title style</a:t>
            </a:r>
            <a:endParaRPr lang="en-US" dirty="0"/>
          </a:p>
        </p:txBody>
      </p:sp>
      <p:sp>
        <p:nvSpPr>
          <p:cNvPr id="11" name="Subtitle 2"/>
          <p:cNvSpPr>
            <a:spLocks noGrp="1"/>
          </p:cNvSpPr>
          <p:nvPr>
            <p:ph type="subTitle" idx="1" hasCustomPrompt="1"/>
          </p:nvPr>
        </p:nvSpPr>
        <p:spPr bwMode="black">
          <a:xfrm>
            <a:off x="329184" y="3316628"/>
            <a:ext cx="6858000" cy="914400"/>
          </a:xfrm>
        </p:spPr>
        <p:txBody>
          <a:bodyPr/>
          <a:lstStyle>
            <a:lvl1pPr marL="0" indent="0" algn="l">
              <a:buNone/>
              <a:defRPr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White_RGB_150_LG.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6949440" y="365760"/>
            <a:ext cx="1883664" cy="1883664"/>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prstClr val="white"/>
                </a:solidFill>
                <a:cs typeface="HP Simplified"/>
              </a:rPr>
              <a:t>© Copyright 2012 Hewlett-Packard Development Company, L.P.  The information contained herein is subject to change without notice.</a:t>
            </a:r>
          </a:p>
        </p:txBody>
      </p:sp>
    </p:spTree>
    <p:extLst>
      <p:ext uri="{BB962C8B-B14F-4D97-AF65-F5344CB8AC3E}">
        <p14:creationId xmlns:p14="http://schemas.microsoft.com/office/powerpoint/2010/main" xmlns="" val="2557433618"/>
      </p:ext>
    </p:extLst>
  </p:cSld>
  <p:clrMapOvr>
    <a:masterClrMapping/>
  </p:clrMapOvr>
  <p:timing>
    <p:tnLst>
      <p:par>
        <p:cTn id="1" dur="indefinite" restart="never" nodeType="tmRoot"/>
      </p:par>
    </p:tn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White divider slide">
    <p:spTree>
      <p:nvGrpSpPr>
        <p:cNvPr id="1" name=""/>
        <p:cNvGrpSpPr/>
        <p:nvPr/>
      </p:nvGrpSpPr>
      <p:grpSpPr>
        <a:xfrm>
          <a:off x="0" y="0"/>
          <a:ext cx="0" cy="0"/>
          <a:chOff x="0" y="0"/>
          <a:chExt cx="0" cy="0"/>
        </a:xfrm>
      </p:grpSpPr>
      <p:pic>
        <p:nvPicPr>
          <p:cNvPr id="5" name="Picture 4" descr="HP_Blue_RGB_150_SM.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8503920" y="4535424"/>
            <a:ext cx="365760" cy="365760"/>
          </a:xfrm>
          <a:prstGeom prst="rect">
            <a:avLst/>
          </a:prstGeom>
        </p:spPr>
      </p:pic>
      <p:sp>
        <p:nvSpPr>
          <p:cNvPr id="16" name="Title 1"/>
          <p:cNvSpPr>
            <a:spLocks noGrp="1"/>
          </p:cNvSpPr>
          <p:nvPr>
            <p:ph type="ctrTitle" hasCustomPrompt="1"/>
          </p:nvPr>
        </p:nvSpPr>
        <p:spPr bwMode="black">
          <a:xfrm>
            <a:off x="329184" y="237746"/>
            <a:ext cx="7222352" cy="2006703"/>
          </a:xfrm>
          <a:prstGeom prst="rect">
            <a:avLst/>
          </a:prstGeom>
        </p:spPr>
        <p:txBody>
          <a:bodyPr wrap="square" lIns="0" tIns="0" rIns="0" bIns="0" anchor="t" anchorCtr="0">
            <a:noAutofit/>
          </a:bodyPr>
          <a:lstStyle>
            <a:lvl1pPr algn="l">
              <a:lnSpc>
                <a:spcPct val="90000"/>
              </a:lnSpc>
              <a:defRPr sz="4000" b="1" i="0" spc="-100">
                <a:solidFill>
                  <a:schemeClr val="tx1"/>
                </a:solidFill>
                <a:latin typeface="HP Simplified" pitchFamily="34" charset="0"/>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spTree>
    <p:extLst>
      <p:ext uri="{BB962C8B-B14F-4D97-AF65-F5344CB8AC3E}">
        <p14:creationId xmlns:p14="http://schemas.microsoft.com/office/powerpoint/2010/main" xmlns="" val="1102241524"/>
      </p:ext>
    </p:extLst>
  </p:cSld>
  <p:clrMapOvr>
    <a:masterClrMapping/>
  </p:clrMapOvr>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Blue quote slide with subtitl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329184" y="240920"/>
            <a:ext cx="7222352" cy="2006703"/>
          </a:xfrm>
          <a:prstGeom prst="rect">
            <a:avLst/>
          </a:prstGeom>
        </p:spPr>
        <p:txBody>
          <a:bodyPr wrap="square" lIns="0" tIns="0" rIns="0" bIns="0" anchor="t" anchorCtr="0">
            <a:noAutofit/>
          </a:bodyPr>
          <a:lstStyle>
            <a:lvl1pPr algn="l" defTabSz="457200" rtl="0" eaLnBrk="1" latinLnBrk="0" hangingPunct="1">
              <a:lnSpc>
                <a:spcPct val="90000"/>
              </a:lnSpc>
              <a:spcBef>
                <a:spcPct val="0"/>
              </a:spcBef>
              <a:spcAft>
                <a:spcPts val="0"/>
              </a:spcAft>
              <a:buNone/>
              <a:defRPr lang="en-US" sz="4000" b="1" i="0" kern="1200" spc="-100" noProof="0" dirty="0">
                <a:solidFill>
                  <a:schemeClr val="bg1"/>
                </a:solidFill>
                <a:latin typeface="HP Simplified" pitchFamily="34" charset="0"/>
                <a:ea typeface="+mj-ea"/>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print">
            <a:extLst>
              <a:ext uri="{28A0092B-C50C-407E-A947-70E740481C1C}">
                <a14:useLocalDpi xmlns:a14="http://schemas.microsoft.com/office/drawing/2010/main" xmlns=""/>
              </a:ext>
            </a:extLst>
          </a:blip>
          <a:stretch>
            <a:fillRect/>
          </a:stretch>
        </p:blipFill>
        <p:spPr>
          <a:xfrm>
            <a:off x="8505214" y="4535424"/>
            <a:ext cx="365736" cy="365736"/>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prstClr val="white"/>
                </a:solidFill>
                <a:cs typeface="HP Simplified"/>
              </a:rPr>
              <a:t>© Copyright 2012 Hewlett-Packard Development Company, L.P.  The information contained herein is subject to change without notice.</a:t>
            </a:r>
          </a:p>
        </p:txBody>
      </p:sp>
      <p:sp>
        <p:nvSpPr>
          <p:cNvPr id="5" name="Subtitle 2"/>
          <p:cNvSpPr>
            <a:spLocks noGrp="1"/>
          </p:cNvSpPr>
          <p:nvPr>
            <p:ph type="subTitle" idx="1" hasCustomPrompt="1"/>
          </p:nvPr>
        </p:nvSpPr>
        <p:spPr>
          <a:xfrm>
            <a:off x="325269" y="3305361"/>
            <a:ext cx="5148072" cy="649224"/>
          </a:xfrm>
          <a:prstGeom prst="rect">
            <a:avLst/>
          </a:prstGeom>
        </p:spPr>
        <p:txBody>
          <a:bodyPr>
            <a:noAutofit/>
          </a:bodyPr>
          <a:lstStyle>
            <a:lvl1pPr marL="0" indent="0" algn="l">
              <a:lnSpc>
                <a:spcPct val="100000"/>
              </a:lnSpc>
              <a:spcBef>
                <a:spcPts val="0"/>
              </a:spcBef>
              <a:buNone/>
              <a:defRPr sz="1800" b="0">
                <a:solidFill>
                  <a:srgbClr val="FFFFFF"/>
                </a:solidFill>
                <a:latin typeface="+mn-lt"/>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3517859623"/>
      </p:ext>
    </p:extLst>
  </p:cSld>
  <p:clrMapOvr>
    <a:masterClrMapping/>
  </p:clrMapOvr>
  <p:timing>
    <p:tnLst>
      <p:par>
        <p:cTn id="1" dur="indefinite" restart="never" nodeType="tmRoot"/>
      </p:par>
    </p:tn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xmlns="" val="364764594"/>
      </p:ext>
    </p:extLst>
  </p:cSld>
  <p:clrMapOvr>
    <a:masterClrMapping/>
  </p:clrMapOvr>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331470" y="751390"/>
            <a:ext cx="8117206"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2"/>
            <a:ext cx="8119872" cy="3228975"/>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1845985987"/>
      </p:ext>
    </p:extLst>
  </p:cSld>
  <p:clrMapOvr>
    <a:masterClrMapping/>
  </p:clrMapOvr>
  <p:timing>
    <p:tnLst>
      <p:par>
        <p:cTn id="1" dur="indefinite" restart="never" nodeType="tmRoot"/>
      </p:par>
    </p:tnLst>
  </p:timing>
  <p:hf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itle, sub title with bullets">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331470" y="751390"/>
            <a:ext cx="8117206"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2"/>
            <a:ext cx="8119872" cy="3228975"/>
          </a:xfrm>
        </p:spPr>
        <p:txBody>
          <a:bodyPr wrap="square">
            <a:noAutofit/>
          </a:bodyPr>
          <a:lstStyle>
            <a:lvl1pPr marL="171450" indent="-171450">
              <a:buFont typeface="HP Simplified" pitchFamily="34" charset="0"/>
              <a:buChar char="•"/>
              <a:defRPr sz="1400" b="0">
                <a:solidFill>
                  <a:schemeClr val="tx1"/>
                </a:solidFill>
              </a:defRPr>
            </a:lvl1pPr>
            <a:lvl2pPr marL="342900" indent="-171450">
              <a:buSzPct val="80000"/>
              <a:buFont typeface="HP Simplified" pitchFamily="34" charset="0"/>
              <a:buChar char="–"/>
              <a:defRPr sz="1400">
                <a:solidFill>
                  <a:srgbClr val="000000"/>
                </a:solidFill>
              </a:defRPr>
            </a:lvl2pPr>
            <a:lvl3pPr marL="512763" indent="-169863">
              <a:defRPr sz="1400">
                <a:solidFill>
                  <a:srgbClr val="000000"/>
                </a:solidFill>
              </a:defRPr>
            </a:lvl3pPr>
            <a:lvl4pPr marL="690563" indent="-180975">
              <a:defRPr sz="1400">
                <a:solidFill>
                  <a:srgbClr val="000000"/>
                </a:solidFill>
              </a:defRPr>
            </a:lvl4pPr>
            <a:lvl5pPr marL="833438" indent="-150813">
              <a:defRPr sz="1400">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057846787"/>
      </p:ext>
    </p:extLst>
  </p:cSld>
  <p:clrMapOvr>
    <a:masterClrMapping/>
  </p:clrMapOvr>
  <p:timing>
    <p:tnLst>
      <p:par>
        <p:cTn id="1" dur="indefinite" restart="never" nodeType="tmRoot"/>
      </p:par>
    </p:tnLst>
  </p:timing>
  <p:hf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sub title with two columns">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bwMode="black">
          <a:xfrm>
            <a:off x="331545" y="235101"/>
            <a:ext cx="8460105" cy="430887"/>
          </a:xfrm>
          <a:prstGeom prst="rect">
            <a:avLst/>
          </a:prstGeom>
          <a:ln>
            <a:noFill/>
          </a:ln>
        </p:spPr>
        <p:txBody>
          <a:bodyPr vert="horz" wrap="square" lIns="0" tIns="0" rIns="0" bIns="0" rtlCol="0" anchor="t" anchorCtr="0">
            <a:spAutoFit/>
          </a:bodyPr>
          <a:lstStyle>
            <a:lvl1pPr>
              <a:defRPr>
                <a:solidFill>
                  <a:srgbClr val="000000"/>
                </a:solidFill>
              </a:defRPr>
            </a:lvl1pPr>
          </a:lstStyle>
          <a:p>
            <a:r>
              <a:rPr lang="en-US" noProof="0" dirty="0" smtClean="0"/>
              <a:t>Click to edit master title style</a:t>
            </a:r>
            <a:endParaRPr lang="en-US" noProof="0" dirty="0"/>
          </a:p>
        </p:txBody>
      </p:sp>
      <p:sp>
        <p:nvSpPr>
          <p:cNvPr id="8" name="Content Placeholder 7"/>
          <p:cNvSpPr>
            <a:spLocks noGrp="1"/>
          </p:cNvSpPr>
          <p:nvPr>
            <p:ph sz="quarter" idx="16"/>
          </p:nvPr>
        </p:nvSpPr>
        <p:spPr>
          <a:xfrm>
            <a:off x="332330" y="1188731"/>
            <a:ext cx="4030662" cy="321976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7"/>
          </p:nvPr>
        </p:nvSpPr>
        <p:spPr>
          <a:xfrm>
            <a:off x="4568825" y="1185864"/>
            <a:ext cx="3878264"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2094417847"/>
      </p:ext>
    </p:extLst>
  </p:cSld>
  <p:clrMapOvr>
    <a:masterClrMapping/>
  </p:clrMapOvr>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Half page, sub title with image">
    <p:bg>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4568840" y="1186049"/>
            <a:ext cx="3878263" cy="3222441"/>
          </a:xfrm>
        </p:spPr>
        <p:txBody>
          <a:bodyPr anchor="ctr"/>
          <a:lstStyle>
            <a:lvl1pPr algn="ctr">
              <a:defRPr b="0">
                <a:solidFill>
                  <a:schemeClr val="tx1"/>
                </a:solidFill>
              </a:defRPr>
            </a:lvl1pPr>
          </a:lstStyle>
          <a:p>
            <a:r>
              <a:rPr lang="en-US" dirty="0" smtClean="0"/>
              <a:t>Click icon to add picture</a:t>
            </a:r>
            <a:endParaRPr lang="en-US" dirty="0"/>
          </a:p>
        </p:txBody>
      </p:sp>
      <p:sp>
        <p:nvSpPr>
          <p:cNvPr id="7" name="Title 6"/>
          <p:cNvSpPr>
            <a:spLocks noGrp="1"/>
          </p:cNvSpPr>
          <p:nvPr>
            <p:ph type="title" hasCustomPrompt="1"/>
          </p:nvPr>
        </p:nvSpPr>
        <p:spPr bwMode="black">
          <a:xfrm>
            <a:off x="331469" y="235063"/>
            <a:ext cx="8458200" cy="429768"/>
          </a:xfrm>
        </p:spPr>
        <p:txBody>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0"/>
            <a:ext cx="4011612" cy="321976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3718319558"/>
      </p:ext>
    </p:extLst>
  </p:cSld>
  <p:clrMapOvr>
    <a:masterClrMapping/>
  </p:clrMapOvr>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Ttitle, sub title with three columns">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331546" y="235063"/>
            <a:ext cx="8460105" cy="429768"/>
          </a:xfrm>
        </p:spPr>
        <p:txBody>
          <a:bodyPr/>
          <a:lstStyle>
            <a:lvl1pPr>
              <a:defRPr>
                <a:solidFill>
                  <a:srgbClr val="000000"/>
                </a:solidFill>
              </a:defRPr>
            </a:lvl1pPr>
          </a:lstStyle>
          <a:p>
            <a:r>
              <a:rPr lang="en-US" noProof="0" dirty="0" smtClean="0"/>
              <a:t>Click to edit master title style</a:t>
            </a:r>
            <a:endParaRPr lang="en-US" noProof="0" dirty="0"/>
          </a:p>
        </p:txBody>
      </p:sp>
      <p:sp>
        <p:nvSpPr>
          <p:cNvPr id="9" name="Content Placeholder 8"/>
          <p:cNvSpPr>
            <a:spLocks noGrp="1"/>
          </p:cNvSpPr>
          <p:nvPr>
            <p:ph sz="quarter" idx="16"/>
          </p:nvPr>
        </p:nvSpPr>
        <p:spPr>
          <a:xfrm>
            <a:off x="329184" y="1189039"/>
            <a:ext cx="2523744"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11"/>
          <p:cNvSpPr>
            <a:spLocks noGrp="1"/>
          </p:cNvSpPr>
          <p:nvPr>
            <p:ph sz="quarter" idx="17"/>
          </p:nvPr>
        </p:nvSpPr>
        <p:spPr>
          <a:xfrm>
            <a:off x="3124486" y="1189052"/>
            <a:ext cx="2523744" cy="322262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Content Placeholder 13"/>
          <p:cNvSpPr>
            <a:spLocks noGrp="1"/>
          </p:cNvSpPr>
          <p:nvPr>
            <p:ph sz="quarter" idx="18"/>
          </p:nvPr>
        </p:nvSpPr>
        <p:spPr>
          <a:xfrm>
            <a:off x="5919788" y="1189039"/>
            <a:ext cx="2527300"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3284416561"/>
      </p:ext>
    </p:extLst>
  </p:cSld>
  <p:clrMapOvr>
    <a:masterClrMapping/>
  </p:clrMapOvr>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userDrawn="1">
  <p:cSld name="White title slide">
    <p:spTree>
      <p:nvGrpSpPr>
        <p:cNvPr id="1" name=""/>
        <p:cNvGrpSpPr/>
        <p:nvPr/>
      </p:nvGrpSpPr>
      <p:grpSpPr>
        <a:xfrm>
          <a:off x="0" y="0"/>
          <a:ext cx="0" cy="0"/>
          <a:chOff x="0" y="0"/>
          <a:chExt cx="0" cy="0"/>
        </a:xfrm>
      </p:grpSpPr>
      <p:sp>
        <p:nvSpPr>
          <p:cNvPr id="8" name="Title 1"/>
          <p:cNvSpPr>
            <a:spLocks noGrp="1"/>
          </p:cNvSpPr>
          <p:nvPr>
            <p:ph type="ctrTitle" hasCustomPrompt="1"/>
          </p:nvPr>
        </p:nvSpPr>
        <p:spPr bwMode="black">
          <a:xfrm>
            <a:off x="329184" y="2036820"/>
            <a:ext cx="6858000" cy="1206484"/>
          </a:xfrm>
        </p:spPr>
        <p:txBody>
          <a:bodyPr anchor="b"/>
          <a:lstStyle>
            <a:lvl1pPr>
              <a:lnSpc>
                <a:spcPct val="90000"/>
              </a:lnSpc>
              <a:defRPr sz="4600" spc="-100">
                <a:solidFill>
                  <a:srgbClr val="000000"/>
                </a:solidFill>
              </a:defRPr>
            </a:lvl1pPr>
          </a:lstStyle>
          <a:p>
            <a:r>
              <a:rPr lang="en-US" dirty="0" smtClean="0"/>
              <a:t>Click to edit master </a:t>
            </a:r>
            <a:br>
              <a:rPr lang="en-US" dirty="0" smtClean="0"/>
            </a:br>
            <a:r>
              <a:rPr lang="en-US" dirty="0" smtClean="0"/>
              <a:t>title style</a:t>
            </a:r>
            <a:endParaRPr lang="en-US" dirty="0"/>
          </a:p>
        </p:txBody>
      </p:sp>
      <p:sp>
        <p:nvSpPr>
          <p:cNvPr id="9" name="Subtitle 2"/>
          <p:cNvSpPr>
            <a:spLocks noGrp="1"/>
          </p:cNvSpPr>
          <p:nvPr>
            <p:ph type="subTitle" idx="1" hasCustomPrompt="1"/>
          </p:nvPr>
        </p:nvSpPr>
        <p:spPr bwMode="black">
          <a:xfrm>
            <a:off x="329184" y="3316628"/>
            <a:ext cx="6858000" cy="914400"/>
          </a:xfrm>
        </p:spPr>
        <p:txBody>
          <a:bodyPr/>
          <a:lstStyle>
            <a:lvl1pPr marL="0" indent="0" algn="l">
              <a:buNone/>
              <a:defRPr b="0">
                <a:solidFill>
                  <a:srgbClr val="0000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Blue_RGB_150_LG.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6949440" y="365760"/>
            <a:ext cx="1883664" cy="1883664"/>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pic>
        <p:nvPicPr>
          <p:cNvPr id="7" name="Picture 2"/>
          <p:cNvPicPr>
            <a:picLocks noChangeAspect="1" noChangeArrowheads="1"/>
          </p:cNvPicPr>
          <p:nvPr userDrawn="1"/>
        </p:nvPicPr>
        <p:blipFill>
          <a:blip r:embed="rId3"/>
          <a:srcRect/>
          <a:stretch>
            <a:fillRect/>
          </a:stretch>
        </p:blipFill>
        <p:spPr bwMode="auto">
          <a:xfrm>
            <a:off x="129708" y="815333"/>
            <a:ext cx="1483773" cy="1222782"/>
          </a:xfrm>
          <a:prstGeom prst="rect">
            <a:avLst/>
          </a:prstGeom>
          <a:noFill/>
          <a:ln w="9525">
            <a:noFill/>
            <a:miter lim="800000"/>
            <a:headEnd/>
            <a:tailEnd/>
          </a:ln>
          <a:effectLst/>
        </p:spPr>
      </p:pic>
    </p:spTree>
    <p:extLst>
      <p:ext uri="{BB962C8B-B14F-4D97-AF65-F5344CB8AC3E}">
        <p14:creationId xmlns:p14="http://schemas.microsoft.com/office/powerpoint/2010/main" xmlns="" val="3088790495"/>
      </p:ext>
    </p:extLst>
  </p:cSld>
  <p:clrMapOvr>
    <a:masterClrMapping/>
  </p:clrMapOvr>
  <p:timing>
    <p:tnLst>
      <p:par>
        <p:cTn id="1" dur="indefinite" restart="never" nodeType="tmRoot"/>
      </p:par>
    </p:tn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Blue title slide ">
    <p:bg>
      <p:bgPr>
        <a:solidFill>
          <a:schemeClr val="accent1"/>
        </a:solidFill>
        <a:effectLst/>
      </p:bgPr>
    </p:bg>
    <p:spTree>
      <p:nvGrpSpPr>
        <p:cNvPr id="1" name=""/>
        <p:cNvGrpSpPr/>
        <p:nvPr/>
      </p:nvGrpSpPr>
      <p:grpSpPr>
        <a:xfrm>
          <a:off x="0" y="0"/>
          <a:ext cx="0" cy="0"/>
          <a:chOff x="0" y="0"/>
          <a:chExt cx="0" cy="0"/>
        </a:xfrm>
      </p:grpSpPr>
      <p:sp>
        <p:nvSpPr>
          <p:cNvPr id="10" name="Title 1"/>
          <p:cNvSpPr>
            <a:spLocks noGrp="1"/>
          </p:cNvSpPr>
          <p:nvPr>
            <p:ph type="ctrTitle" hasCustomPrompt="1"/>
          </p:nvPr>
        </p:nvSpPr>
        <p:spPr bwMode="black">
          <a:xfrm>
            <a:off x="329184" y="2036820"/>
            <a:ext cx="6858000" cy="1206484"/>
          </a:xfrm>
        </p:spPr>
        <p:txBody>
          <a:bodyPr anchor="b"/>
          <a:lstStyle>
            <a:lvl1pPr>
              <a:lnSpc>
                <a:spcPct val="90000"/>
              </a:lnSpc>
              <a:defRPr sz="4600" spc="-100">
                <a:solidFill>
                  <a:schemeClr val="bg1"/>
                </a:solidFill>
              </a:defRPr>
            </a:lvl1pPr>
          </a:lstStyle>
          <a:p>
            <a:r>
              <a:rPr lang="en-US" dirty="0" smtClean="0"/>
              <a:t>Click to edit master </a:t>
            </a:r>
            <a:br>
              <a:rPr lang="en-US" dirty="0" smtClean="0"/>
            </a:br>
            <a:r>
              <a:rPr lang="en-US" dirty="0" smtClean="0"/>
              <a:t>title style</a:t>
            </a:r>
            <a:endParaRPr lang="en-US" dirty="0"/>
          </a:p>
        </p:txBody>
      </p:sp>
      <p:sp>
        <p:nvSpPr>
          <p:cNvPr id="11" name="Subtitle 2"/>
          <p:cNvSpPr>
            <a:spLocks noGrp="1"/>
          </p:cNvSpPr>
          <p:nvPr>
            <p:ph type="subTitle" idx="1" hasCustomPrompt="1"/>
          </p:nvPr>
        </p:nvSpPr>
        <p:spPr bwMode="black">
          <a:xfrm>
            <a:off x="329184" y="3316628"/>
            <a:ext cx="6858000" cy="914400"/>
          </a:xfrm>
        </p:spPr>
        <p:txBody>
          <a:bodyPr/>
          <a:lstStyle>
            <a:lvl1pPr marL="0" indent="0" algn="l">
              <a:buNone/>
              <a:defRPr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pic>
        <p:nvPicPr>
          <p:cNvPr id="2" name="Picture 1" descr="HP_White_RGB_150_LG.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6949440" y="365760"/>
            <a:ext cx="1883664" cy="1883664"/>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prstClr val="white"/>
                </a:solidFill>
                <a:cs typeface="HP Simplified"/>
              </a:rPr>
              <a:t>© Copyright 2012 Hewlett-Packard Development Company, L.P.  The information contained herein is subject to change without notice.</a:t>
            </a:r>
          </a:p>
        </p:txBody>
      </p:sp>
    </p:spTree>
    <p:extLst>
      <p:ext uri="{BB962C8B-B14F-4D97-AF65-F5344CB8AC3E}">
        <p14:creationId xmlns:p14="http://schemas.microsoft.com/office/powerpoint/2010/main" xmlns="" val="543980058"/>
      </p:ext>
    </p:extLst>
  </p:cSld>
  <p:clrMapOvr>
    <a:masterClrMapping/>
  </p:clrMapOvr>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White divider slide">
    <p:spTree>
      <p:nvGrpSpPr>
        <p:cNvPr id="1" name=""/>
        <p:cNvGrpSpPr/>
        <p:nvPr/>
      </p:nvGrpSpPr>
      <p:grpSpPr>
        <a:xfrm>
          <a:off x="0" y="0"/>
          <a:ext cx="0" cy="0"/>
          <a:chOff x="0" y="0"/>
          <a:chExt cx="0" cy="0"/>
        </a:xfrm>
      </p:grpSpPr>
      <p:pic>
        <p:nvPicPr>
          <p:cNvPr id="5" name="Picture 4" descr="HP_Blue_RGB_150_SM.png"/>
          <p:cNvPicPr>
            <a:picLocks noChangeAspect="1"/>
          </p:cNvPicPr>
          <p:nvPr userDrawn="1"/>
        </p:nvPicPr>
        <p:blipFill>
          <a:blip r:embed="rId2">
            <a:extLst>
              <a:ext uri="{28A0092B-C50C-407E-A947-70E740481C1C}">
                <a14:useLocalDpi xmlns:a14="http://schemas.microsoft.com/office/drawing/2010/main" xmlns="" val="0"/>
              </a:ext>
            </a:extLst>
          </a:blip>
          <a:stretch>
            <a:fillRect/>
          </a:stretch>
        </p:blipFill>
        <p:spPr>
          <a:xfrm>
            <a:off x="8503920" y="4535424"/>
            <a:ext cx="365760" cy="365760"/>
          </a:xfrm>
          <a:prstGeom prst="rect">
            <a:avLst/>
          </a:prstGeom>
        </p:spPr>
      </p:pic>
      <p:sp>
        <p:nvSpPr>
          <p:cNvPr id="16" name="Title 1"/>
          <p:cNvSpPr>
            <a:spLocks noGrp="1"/>
          </p:cNvSpPr>
          <p:nvPr>
            <p:ph type="ctrTitle" hasCustomPrompt="1"/>
          </p:nvPr>
        </p:nvSpPr>
        <p:spPr bwMode="black">
          <a:xfrm>
            <a:off x="329184" y="237746"/>
            <a:ext cx="7222352" cy="2006703"/>
          </a:xfrm>
          <a:prstGeom prst="rect">
            <a:avLst/>
          </a:prstGeom>
        </p:spPr>
        <p:txBody>
          <a:bodyPr wrap="square" lIns="0" tIns="0" rIns="0" bIns="0" anchor="t" anchorCtr="0">
            <a:noAutofit/>
          </a:bodyPr>
          <a:lstStyle>
            <a:lvl1pPr algn="l">
              <a:lnSpc>
                <a:spcPct val="90000"/>
              </a:lnSpc>
              <a:defRPr sz="4000" b="1" i="0" spc="-100">
                <a:solidFill>
                  <a:schemeClr val="tx1"/>
                </a:solidFill>
                <a:latin typeface="HP Simplified" pitchFamily="34" charset="0"/>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spTree>
    <p:extLst>
      <p:ext uri="{BB962C8B-B14F-4D97-AF65-F5344CB8AC3E}">
        <p14:creationId xmlns:p14="http://schemas.microsoft.com/office/powerpoint/2010/main" xmlns="" val="1815924303"/>
      </p:ext>
    </p:extLst>
  </p:cSld>
  <p:clrMapOvr>
    <a:masterClrMapping/>
  </p:clrMapOvr>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Blue quote slide with subtitle">
    <p:bg>
      <p:bgPr>
        <a:solidFill>
          <a:schemeClr val="accent1"/>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329184" y="240920"/>
            <a:ext cx="7222352" cy="2006703"/>
          </a:xfrm>
          <a:prstGeom prst="rect">
            <a:avLst/>
          </a:prstGeom>
        </p:spPr>
        <p:txBody>
          <a:bodyPr wrap="square" lIns="0" tIns="0" rIns="0" bIns="0" anchor="t" anchorCtr="0">
            <a:noAutofit/>
          </a:bodyPr>
          <a:lstStyle>
            <a:lvl1pPr algn="l" defTabSz="457200" rtl="0" eaLnBrk="1" latinLnBrk="0" hangingPunct="1">
              <a:lnSpc>
                <a:spcPct val="90000"/>
              </a:lnSpc>
              <a:spcBef>
                <a:spcPct val="0"/>
              </a:spcBef>
              <a:spcAft>
                <a:spcPts val="0"/>
              </a:spcAft>
              <a:buNone/>
              <a:defRPr lang="en-US" sz="4000" b="1" i="0" kern="1200" spc="-100" noProof="0" dirty="0">
                <a:solidFill>
                  <a:schemeClr val="bg1"/>
                </a:solidFill>
                <a:latin typeface="HP Simplified" pitchFamily="34" charset="0"/>
                <a:ea typeface="+mj-ea"/>
                <a:cs typeface="HP Simplified" pitchFamily="34" charset="0"/>
              </a:defRPr>
            </a:lvl1pPr>
          </a:lstStyle>
          <a:p>
            <a:r>
              <a:rPr lang="en-US" noProof="0" dirty="0" smtClean="0"/>
              <a:t>Click to edit </a:t>
            </a:r>
            <a:br>
              <a:rPr lang="en-US" noProof="0" dirty="0" smtClean="0"/>
            </a:br>
            <a:r>
              <a:rPr lang="en-US" noProof="0" dirty="0" smtClean="0"/>
              <a:t>master </a:t>
            </a:r>
            <a:br>
              <a:rPr lang="en-US" noProof="0" dirty="0" smtClean="0"/>
            </a:br>
            <a:r>
              <a:rPr lang="en-US" noProof="0" dirty="0" smtClean="0"/>
              <a:t>title style</a:t>
            </a:r>
            <a:endParaRPr lang="en-US" noProof="0" dirty="0"/>
          </a:p>
        </p:txBody>
      </p:sp>
      <p:pic>
        <p:nvPicPr>
          <p:cNvPr id="7" name="Picture 6" descr="HP_White_RGB_150_SM.png"/>
          <p:cNvPicPr>
            <a:picLocks noChangeAspect="1"/>
          </p:cNvPicPr>
          <p:nvPr userDrawn="1"/>
        </p:nvPicPr>
        <p:blipFill>
          <a:blip r:embed="rId2" cstate="print">
            <a:extLst>
              <a:ext uri="{28A0092B-C50C-407E-A947-70E740481C1C}">
                <a14:useLocalDpi xmlns:a14="http://schemas.microsoft.com/office/drawing/2010/main" xmlns=""/>
              </a:ext>
            </a:extLst>
          </a:blip>
          <a:stretch>
            <a:fillRect/>
          </a:stretch>
        </p:blipFill>
        <p:spPr>
          <a:xfrm>
            <a:off x="8505214" y="4535424"/>
            <a:ext cx="365736" cy="365736"/>
          </a:xfrm>
          <a:prstGeom prst="rect">
            <a:avLst/>
          </a:prstGeom>
        </p:spPr>
      </p:pic>
      <p:sp>
        <p:nvSpPr>
          <p:cNvPr id="6" name="TextBox 5"/>
          <p:cNvSpPr txBox="1"/>
          <p:nvPr userDrawn="1"/>
        </p:nvSpPr>
        <p:spPr>
          <a:xfrm>
            <a:off x="329260" y="4758803"/>
            <a:ext cx="8012545" cy="228600"/>
          </a:xfrm>
          <a:prstGeom prst="rect">
            <a:avLst/>
          </a:prstGeom>
          <a:noFill/>
        </p:spPr>
        <p:txBody>
          <a:bodyPr wrap="square" lIns="0" rtlCol="0">
            <a:noAutofit/>
          </a:bodyPr>
          <a:lstStyle/>
          <a:p>
            <a:pPr>
              <a:defRPr/>
            </a:pPr>
            <a:r>
              <a:rPr lang="en-US" sz="700" dirty="0" smtClean="0">
                <a:solidFill>
                  <a:prstClr val="white"/>
                </a:solidFill>
                <a:cs typeface="HP Simplified"/>
              </a:rPr>
              <a:t>© Copyright 2012 Hewlett-Packard Development Company, L.P.  The information contained herein is subject to change without notice.</a:t>
            </a:r>
          </a:p>
        </p:txBody>
      </p:sp>
      <p:sp>
        <p:nvSpPr>
          <p:cNvPr id="5" name="Subtitle 2"/>
          <p:cNvSpPr>
            <a:spLocks noGrp="1"/>
          </p:cNvSpPr>
          <p:nvPr>
            <p:ph type="subTitle" idx="1" hasCustomPrompt="1"/>
          </p:nvPr>
        </p:nvSpPr>
        <p:spPr>
          <a:xfrm>
            <a:off x="325269" y="3305361"/>
            <a:ext cx="5148072" cy="649224"/>
          </a:xfrm>
          <a:prstGeom prst="rect">
            <a:avLst/>
          </a:prstGeom>
        </p:spPr>
        <p:txBody>
          <a:bodyPr>
            <a:noAutofit/>
          </a:bodyPr>
          <a:lstStyle>
            <a:lvl1pPr marL="0" indent="0" algn="l">
              <a:lnSpc>
                <a:spcPct val="100000"/>
              </a:lnSpc>
              <a:spcBef>
                <a:spcPts val="0"/>
              </a:spcBef>
              <a:buNone/>
              <a:defRPr sz="1800" b="0">
                <a:solidFill>
                  <a:srgbClr val="FFFFFF"/>
                </a:solidFill>
                <a:latin typeface="+mn-lt"/>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3489183513"/>
      </p:ext>
    </p:extLst>
  </p:cSld>
  <p:clrMapOvr>
    <a:masterClrMapping/>
  </p:clrMapOvr>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Tree>
    <p:extLst>
      <p:ext uri="{BB962C8B-B14F-4D97-AF65-F5344CB8AC3E}">
        <p14:creationId xmlns:p14="http://schemas.microsoft.com/office/powerpoint/2010/main" xmlns="" val="3890178448"/>
      </p:ext>
    </p:extLst>
  </p:cSld>
  <p:clrMapOvr>
    <a:masterClrMapping/>
  </p:clrMapOvr>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331470" y="751390"/>
            <a:ext cx="8117206"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2"/>
            <a:ext cx="8119872" cy="3228975"/>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085235239"/>
      </p:ext>
    </p:extLst>
  </p:cSld>
  <p:clrMapOvr>
    <a:masterClrMapping/>
  </p:clrMapOvr>
  <p:timing>
    <p:tnLst>
      <p:par>
        <p:cTn id="1" dur="indefinite" restart="never" nodeType="tmRoot"/>
      </p:par>
    </p:tnLst>
  </p:timing>
  <p:hf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itle, sub title with bullets">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331470" y="751390"/>
            <a:ext cx="8117206"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
        <p:nvSpPr>
          <p:cNvPr id="7" name="Title 6"/>
          <p:cNvSpPr>
            <a:spLocks noGrp="1"/>
          </p:cNvSpPr>
          <p:nvPr>
            <p:ph type="title" hasCustomPrompt="1"/>
          </p:nvPr>
        </p:nvSpPr>
        <p:spPr bwMode="black">
          <a:xfrm>
            <a:off x="331470" y="235064"/>
            <a:ext cx="8117206" cy="430887"/>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2"/>
            <a:ext cx="8119872" cy="3228975"/>
          </a:xfrm>
        </p:spPr>
        <p:txBody>
          <a:bodyPr wrap="square">
            <a:noAutofit/>
          </a:bodyPr>
          <a:lstStyle>
            <a:lvl1pPr marL="171450" indent="-171450">
              <a:buFont typeface="HP Simplified" pitchFamily="34" charset="0"/>
              <a:buChar char="•"/>
              <a:defRPr sz="1400" b="0">
                <a:solidFill>
                  <a:schemeClr val="tx1"/>
                </a:solidFill>
              </a:defRPr>
            </a:lvl1pPr>
            <a:lvl2pPr marL="342900" indent="-171450">
              <a:buSzPct val="80000"/>
              <a:buFont typeface="HP Simplified" pitchFamily="34" charset="0"/>
              <a:buChar char="–"/>
              <a:defRPr sz="1400">
                <a:solidFill>
                  <a:srgbClr val="000000"/>
                </a:solidFill>
              </a:defRPr>
            </a:lvl2pPr>
            <a:lvl3pPr marL="512763" indent="-169863">
              <a:defRPr sz="1400">
                <a:solidFill>
                  <a:srgbClr val="000000"/>
                </a:solidFill>
              </a:defRPr>
            </a:lvl3pPr>
            <a:lvl4pPr marL="690563" indent="-180975">
              <a:defRPr sz="1400">
                <a:solidFill>
                  <a:srgbClr val="000000"/>
                </a:solidFill>
              </a:defRPr>
            </a:lvl4pPr>
            <a:lvl5pPr marL="833438" indent="-150813">
              <a:defRPr sz="1400">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xmlns="" val="2106124115"/>
      </p:ext>
    </p:extLst>
  </p:cSld>
  <p:clrMapOvr>
    <a:masterClrMapping/>
  </p:clrMapOvr>
  <p:timing>
    <p:tnLst>
      <p:par>
        <p:cTn id="1" dur="indefinite" restart="never" nodeType="tmRoot"/>
      </p:par>
    </p:tnLst>
  </p:timing>
  <p:hf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sub title with two columns">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bwMode="black">
          <a:xfrm>
            <a:off x="331545" y="235101"/>
            <a:ext cx="8460105" cy="430887"/>
          </a:xfrm>
          <a:prstGeom prst="rect">
            <a:avLst/>
          </a:prstGeom>
          <a:ln>
            <a:noFill/>
          </a:ln>
        </p:spPr>
        <p:txBody>
          <a:bodyPr vert="horz" wrap="square" lIns="0" tIns="0" rIns="0" bIns="0" rtlCol="0" anchor="t" anchorCtr="0">
            <a:spAutoFit/>
          </a:bodyPr>
          <a:lstStyle>
            <a:lvl1pPr>
              <a:defRPr>
                <a:solidFill>
                  <a:srgbClr val="000000"/>
                </a:solidFill>
              </a:defRPr>
            </a:lvl1pPr>
          </a:lstStyle>
          <a:p>
            <a:r>
              <a:rPr lang="en-US" noProof="0" dirty="0" smtClean="0"/>
              <a:t>Click to edit master title style</a:t>
            </a:r>
            <a:endParaRPr lang="en-US" noProof="0" dirty="0"/>
          </a:p>
        </p:txBody>
      </p:sp>
      <p:sp>
        <p:nvSpPr>
          <p:cNvPr id="8" name="Content Placeholder 7"/>
          <p:cNvSpPr>
            <a:spLocks noGrp="1"/>
          </p:cNvSpPr>
          <p:nvPr>
            <p:ph sz="quarter" idx="16"/>
          </p:nvPr>
        </p:nvSpPr>
        <p:spPr>
          <a:xfrm>
            <a:off x="332330" y="1188731"/>
            <a:ext cx="4030662" cy="3219769"/>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Content Placeholder 9"/>
          <p:cNvSpPr>
            <a:spLocks noGrp="1"/>
          </p:cNvSpPr>
          <p:nvPr>
            <p:ph sz="quarter" idx="17"/>
          </p:nvPr>
        </p:nvSpPr>
        <p:spPr>
          <a:xfrm>
            <a:off x="4568825" y="1185864"/>
            <a:ext cx="3878264"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2407906280"/>
      </p:ext>
    </p:extLst>
  </p:cSld>
  <p:clrMapOvr>
    <a:masterClrMapping/>
  </p:clrMapOvr>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Half page, sub title with image">
    <p:bg>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4568840" y="1186049"/>
            <a:ext cx="3878263" cy="3222441"/>
          </a:xfrm>
        </p:spPr>
        <p:txBody>
          <a:bodyPr anchor="ctr"/>
          <a:lstStyle>
            <a:lvl1pPr algn="ctr">
              <a:defRPr b="0">
                <a:solidFill>
                  <a:schemeClr val="tx1"/>
                </a:solidFill>
              </a:defRPr>
            </a:lvl1pPr>
          </a:lstStyle>
          <a:p>
            <a:r>
              <a:rPr lang="en-US" dirty="0" smtClean="0"/>
              <a:t>Click icon to add picture</a:t>
            </a:r>
            <a:endParaRPr lang="en-US" dirty="0"/>
          </a:p>
        </p:txBody>
      </p:sp>
      <p:sp>
        <p:nvSpPr>
          <p:cNvPr id="7" name="Title 6"/>
          <p:cNvSpPr>
            <a:spLocks noGrp="1"/>
          </p:cNvSpPr>
          <p:nvPr>
            <p:ph type="title" hasCustomPrompt="1"/>
          </p:nvPr>
        </p:nvSpPr>
        <p:spPr bwMode="black">
          <a:xfrm>
            <a:off x="331469" y="235063"/>
            <a:ext cx="8458200" cy="429768"/>
          </a:xfrm>
        </p:spPr>
        <p:txBody>
          <a:bodyPr/>
          <a:lstStyle>
            <a:lvl1pPr>
              <a:defRPr b="1" i="0">
                <a:solidFill>
                  <a:srgbClr val="000000"/>
                </a:solidFill>
                <a:latin typeface="HP Simplified" pitchFamily="34" charset="0"/>
                <a:cs typeface="HP Simplified" pitchFamily="34" charset="0"/>
              </a:defRPr>
            </a:lvl1pPr>
          </a:lstStyle>
          <a:p>
            <a:r>
              <a:rPr lang="en-US" noProof="0" dirty="0" smtClean="0"/>
              <a:t>Click to edit master title style</a:t>
            </a:r>
            <a:endParaRPr lang="en-US" noProof="0" dirty="0"/>
          </a:p>
        </p:txBody>
      </p:sp>
      <p:sp>
        <p:nvSpPr>
          <p:cNvPr id="6" name="Content Placeholder 5"/>
          <p:cNvSpPr>
            <a:spLocks noGrp="1"/>
          </p:cNvSpPr>
          <p:nvPr>
            <p:ph sz="quarter" idx="10"/>
          </p:nvPr>
        </p:nvSpPr>
        <p:spPr>
          <a:xfrm>
            <a:off x="329184" y="1188720"/>
            <a:ext cx="4011612" cy="3219768"/>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1185641455"/>
      </p:ext>
    </p:extLst>
  </p:cSld>
  <p:clrMapOvr>
    <a:masterClrMapping/>
  </p:clrMapOvr>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Ttitle, sub title with three columns">
    <p:spTree>
      <p:nvGrpSpPr>
        <p:cNvPr id="1" name=""/>
        <p:cNvGrpSpPr/>
        <p:nvPr/>
      </p:nvGrpSpPr>
      <p:grpSpPr>
        <a:xfrm>
          <a:off x="0" y="0"/>
          <a:ext cx="0" cy="0"/>
          <a:chOff x="0" y="0"/>
          <a:chExt cx="0" cy="0"/>
        </a:xfrm>
      </p:grpSpPr>
      <p:sp>
        <p:nvSpPr>
          <p:cNvPr id="7" name="Title 6"/>
          <p:cNvSpPr>
            <a:spLocks noGrp="1"/>
          </p:cNvSpPr>
          <p:nvPr>
            <p:ph type="title" hasCustomPrompt="1"/>
          </p:nvPr>
        </p:nvSpPr>
        <p:spPr bwMode="black">
          <a:xfrm>
            <a:off x="331546" y="235063"/>
            <a:ext cx="8460105" cy="429768"/>
          </a:xfrm>
        </p:spPr>
        <p:txBody>
          <a:bodyPr/>
          <a:lstStyle>
            <a:lvl1pPr>
              <a:defRPr>
                <a:solidFill>
                  <a:srgbClr val="000000"/>
                </a:solidFill>
              </a:defRPr>
            </a:lvl1pPr>
          </a:lstStyle>
          <a:p>
            <a:r>
              <a:rPr lang="en-US" noProof="0" dirty="0" smtClean="0"/>
              <a:t>Click to edit master title style</a:t>
            </a:r>
            <a:endParaRPr lang="en-US" noProof="0" dirty="0"/>
          </a:p>
        </p:txBody>
      </p:sp>
      <p:sp>
        <p:nvSpPr>
          <p:cNvPr id="9" name="Content Placeholder 8"/>
          <p:cNvSpPr>
            <a:spLocks noGrp="1"/>
          </p:cNvSpPr>
          <p:nvPr>
            <p:ph sz="quarter" idx="16"/>
          </p:nvPr>
        </p:nvSpPr>
        <p:spPr>
          <a:xfrm>
            <a:off x="329184" y="1189039"/>
            <a:ext cx="2523744"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2" name="Content Placeholder 11"/>
          <p:cNvSpPr>
            <a:spLocks noGrp="1"/>
          </p:cNvSpPr>
          <p:nvPr>
            <p:ph sz="quarter" idx="17"/>
          </p:nvPr>
        </p:nvSpPr>
        <p:spPr>
          <a:xfrm>
            <a:off x="3124486" y="1189052"/>
            <a:ext cx="2523744" cy="322262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Content Placeholder 13"/>
          <p:cNvSpPr>
            <a:spLocks noGrp="1"/>
          </p:cNvSpPr>
          <p:nvPr>
            <p:ph sz="quarter" idx="18"/>
          </p:nvPr>
        </p:nvSpPr>
        <p:spPr>
          <a:xfrm>
            <a:off x="5919788" y="1189039"/>
            <a:ext cx="2527300" cy="322262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ubtitle 2"/>
          <p:cNvSpPr>
            <a:spLocks noGrp="1"/>
          </p:cNvSpPr>
          <p:nvPr>
            <p:ph type="subTitle" idx="1" hasCustomPrompt="1"/>
          </p:nvPr>
        </p:nvSpPr>
        <p:spPr bwMode="black">
          <a:xfrm>
            <a:off x="331545" y="751390"/>
            <a:ext cx="8460105" cy="276999"/>
          </a:xfrm>
          <a:prstGeom prst="rect">
            <a:avLst/>
          </a:prstGeom>
        </p:spPr>
        <p:txBody>
          <a:bodyPr wrap="square" anchor="t">
            <a:noAutofit/>
          </a:bodyPr>
          <a:lstStyle>
            <a:lvl1pPr marL="0" indent="0" algn="l">
              <a:lnSpc>
                <a:spcPct val="100000"/>
              </a:lnSpc>
              <a:buNone/>
              <a:defRPr sz="1800" b="0" i="0">
                <a:solidFill>
                  <a:srgbClr val="000000"/>
                </a:solidFill>
                <a:latin typeface="HP Simplified" pitchFamily="34" charset="0"/>
                <a:cs typeface="HP Simplified"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dirty="0" smtClean="0"/>
              <a:t>Click to edit master subtitle style</a:t>
            </a:r>
            <a:endParaRPr lang="en-US" noProof="0" dirty="0"/>
          </a:p>
        </p:txBody>
      </p:sp>
    </p:spTree>
    <p:extLst>
      <p:ext uri="{BB962C8B-B14F-4D97-AF65-F5344CB8AC3E}">
        <p14:creationId xmlns:p14="http://schemas.microsoft.com/office/powerpoint/2010/main" xmlns="" val="2436385546"/>
      </p:ext>
    </p:extLst>
  </p:cSld>
  <p:clrMapOvr>
    <a:masterClrMapping/>
  </p:clrMapOvr>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8E0DEF91-63D7-405E-9535-99E1796A8B8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F73C24-D277-46A9-9806-5663364F55A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xmlns="" val="1319227485"/>
      </p:ext>
    </p:extLst>
  </p:cSld>
  <p:clrMapOvr>
    <a:masterClrMapping/>
  </p:clrMapOvr>
  <p:transition spd="med">
    <p:fade/>
  </p:transition>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1"/>
      </p:bgRef>
    </p:bg>
    <p:spTree>
      <p:nvGrpSpPr>
        <p:cNvPr id="1" name=""/>
        <p:cNvGrpSpPr/>
        <p:nvPr/>
      </p:nvGrpSpPr>
      <p:grpSpPr>
        <a:xfrm>
          <a:off x="0" y="0"/>
          <a:ext cx="0" cy="0"/>
          <a:chOff x="0" y="0"/>
          <a:chExt cx="0" cy="0"/>
        </a:xfrm>
      </p:grpSpPr>
      <p:pic>
        <p:nvPicPr>
          <p:cNvPr id="4" name="Picture 7" descr="HP_D_RGB_M.png"/>
          <p:cNvPicPr>
            <a:picLocks noChangeAspect="1"/>
          </p:cNvPicPr>
          <p:nvPr userDrawn="1"/>
        </p:nvPicPr>
        <p:blipFill>
          <a:blip r:embed="rId2" cstate="print"/>
          <a:srcRect/>
          <a:stretch>
            <a:fillRect/>
          </a:stretch>
        </p:blipFill>
        <p:spPr bwMode="auto">
          <a:xfrm>
            <a:off x="6903097" y="661790"/>
            <a:ext cx="1517015" cy="1137761"/>
          </a:xfrm>
          <a:prstGeom prst="rect">
            <a:avLst/>
          </a:prstGeom>
          <a:noFill/>
          <a:ln w="9525">
            <a:noFill/>
            <a:miter lim="800000"/>
            <a:headEnd/>
            <a:tailEnd/>
          </a:ln>
        </p:spPr>
      </p:pic>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75977A33-3B78-47F9-A063-6913D7750EC5}" type="datetime1">
              <a:rPr lang="en-US" smtClean="0">
                <a:solidFill>
                  <a:prstClr val="white">
                    <a:tint val="75000"/>
                  </a:prstClr>
                </a:solidFill>
              </a:rPr>
              <a:pPr>
                <a:defRPr/>
              </a:pPr>
              <a:t>11/16/2012</a:t>
            </a:fld>
            <a:endParaRPr lang="en-US" dirty="0">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smtClean="0">
                <a:solidFill>
                  <a:prstClr val="white">
                    <a:tint val="75000"/>
                  </a:prstClr>
                </a:solidFill>
              </a:rPr>
              <a:t>© 2011 Hewlett-Packard Company - HP Confidential</a:t>
            </a:r>
            <a:endParaRPr lang="en-US" dirty="0">
              <a:solidFill>
                <a:prstClr val="white">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536159-4EBC-4956-80D1-D691668E34FE}" type="slidenum">
              <a:rPr lang="en-US">
                <a:solidFill>
                  <a:prstClr val="white">
                    <a:tint val="75000"/>
                  </a:prstClr>
                </a:solidFill>
              </a:rPr>
              <a:pPr>
                <a:defRPr/>
              </a:pPr>
              <a:t>‹#›</a:t>
            </a:fld>
            <a:endParaRPr lang="en-US">
              <a:solidFill>
                <a:prstClr val="white">
                  <a:tint val="75000"/>
                </a:prstClr>
              </a:solidFill>
            </a:endParaRPr>
          </a:p>
        </p:txBody>
      </p:sp>
    </p:spTree>
    <p:extLst>
      <p:ext uri="{BB962C8B-B14F-4D97-AF65-F5344CB8AC3E}">
        <p14:creationId xmlns:p14="http://schemas.microsoft.com/office/powerpoint/2010/main" xmlns="" val="3544629623"/>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EA8BB888-0697-4350-8298-E0CD0DF9CFE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5F75D6F-272E-4811-8F6B-E4C2FF79A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625822644"/>
      </p:ext>
    </p:extLst>
  </p:cSld>
  <p:clrMapOvr>
    <a:masterClrMapping/>
  </p:clrMapOvr>
  <p:transition spd="med">
    <p:fade/>
  </p:transition>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normAutofit/>
          </a:bodyPr>
          <a:lstStyle>
            <a:lvl1pPr>
              <a:defRPr sz="2000" b="1"/>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000" b="1"/>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B9C4FF6E-1DEC-4D9C-895F-280C75CCD1F8}"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584C529-9E14-40CB-AFDB-1714415109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040724839"/>
      </p:ext>
    </p:extLst>
  </p:cSld>
  <p:clrMapOvr>
    <a:masterClrMapping/>
  </p:clrMapOvr>
  <p:transition spd="med">
    <p:fade/>
  </p:transition>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33" y="1151335"/>
            <a:ext cx="4041775" cy="47982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33" y="1631156"/>
            <a:ext cx="4041775" cy="2963466"/>
          </a:xfrm>
          <a:prstGeom prst="rect">
            <a:avLst/>
          </a:prstGeo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8" name="Date Placeholder 3"/>
          <p:cNvSpPr>
            <a:spLocks noGrp="1"/>
          </p:cNvSpPr>
          <p:nvPr>
            <p:ph type="dt" sz="half" idx="11"/>
          </p:nvPr>
        </p:nvSpPr>
        <p:spPr/>
        <p:txBody>
          <a:bodyPr/>
          <a:lstStyle>
            <a:lvl1pPr>
              <a:defRPr/>
            </a:lvl1pPr>
          </a:lstStyle>
          <a:p>
            <a:pPr>
              <a:defRPr/>
            </a:pPr>
            <a:fld id="{A040D6B0-E7A3-4EDB-AE76-A681F5EBB97E}"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E108263-9A77-4E1A-9184-293EEEFA79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720092741"/>
      </p:ext>
    </p:extLst>
  </p:cSld>
  <p:clrMapOvr>
    <a:masterClrMapping/>
  </p:clrMapOvr>
  <p:transition spd="med">
    <p:fade/>
  </p:transition>
  <p:timing>
    <p:tnLst>
      <p:par>
        <p:cTn id="1" dur="indefinite" restart="never" nodeType="tmRoot"/>
      </p:par>
    </p:tn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4" name="Date Placeholder 3"/>
          <p:cNvSpPr>
            <a:spLocks noGrp="1"/>
          </p:cNvSpPr>
          <p:nvPr>
            <p:ph type="dt" sz="half" idx="11"/>
          </p:nvPr>
        </p:nvSpPr>
        <p:spPr/>
        <p:txBody>
          <a:bodyPr/>
          <a:lstStyle>
            <a:lvl1pPr>
              <a:defRPr/>
            </a:lvl1pPr>
          </a:lstStyle>
          <a:p>
            <a:pPr>
              <a:defRPr/>
            </a:pPr>
            <a:fld id="{B4927C7E-EBDA-42F6-8B62-59C143241654}"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28E1C2A3-9072-4F9E-9CE1-76C6EAC3B0F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070662320"/>
      </p:ext>
    </p:extLst>
  </p:cSld>
  <p:clrMapOvr>
    <a:masterClrMapping/>
  </p:clrMapOvr>
  <p:transition spd="med">
    <p:fade/>
  </p:transition>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7CA02831-9FCC-49D9-AFEE-B22EA5F9AF42}"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31571E2-899E-4F5A-BAD5-50AB52FB4C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638481853"/>
      </p:ext>
    </p:extLst>
  </p:cSld>
  <p:clrMapOvr>
    <a:masterClrMapping/>
  </p:clrMapOvr>
  <p:transition spd="med">
    <p:fade/>
  </p:transition>
  <p:timing>
    <p:tnLst>
      <p:par>
        <p:cTn id="1" dur="indefinite" restart="never" nodeType="tmRoot"/>
      </p:par>
    </p:tn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DF6E525E-7FA1-4430-805F-C8E0A53A470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9ECFAF0-4CA5-42E1-A53C-4310B5D9169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062831751"/>
      </p:ext>
    </p:extLst>
  </p:cSld>
  <p:clrMapOvr>
    <a:masterClrMapping/>
  </p:clrMapOvr>
  <p:transition spd="med">
    <p:fade/>
  </p:transition>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3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1D2F5AC4-199A-4D08-AC6A-8BB9C244285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BE66F2-AE08-498A-B6F7-6BC61C51D6B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136495275"/>
      </p:ext>
    </p:extLst>
  </p:cSld>
  <p:clrMapOvr>
    <a:masterClrMapping/>
  </p:clrMapOvr>
  <p:transition spd="med">
    <p:fade/>
  </p:transition>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80"/>
            <a:ext cx="6019800" cy="4388644"/>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ADC08C04-2700-4591-B9A1-0E946CDCA8AA}"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9E06965-FC6A-4994-BB99-5452580217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3069376"/>
      </p:ext>
    </p:extLst>
  </p:cSld>
  <p:clrMapOvr>
    <a:masterClrMapping/>
  </p:clrMapOvr>
  <p:transition spd="med">
    <p:fade/>
  </p:transition>
  <p:timing>
    <p:tnLst>
      <p:par>
        <p:cTn id="1" dur="indefinite" restart="never" nodeType="tmRoot"/>
      </p:par>
    </p:tn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0" y="4763691"/>
            <a:ext cx="9144000" cy="273844"/>
          </a:xfrm>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F92ECE36-7098-4256-9B89-F25D8DB1A1FB}"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FAF554F-BB91-4BBC-A556-A67D02F08C7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xmlns="" val="3499322170"/>
      </p:ext>
    </p:extLst>
  </p:cSld>
  <p:clrMapOvr>
    <a:masterClrMapping/>
  </p:clrMapOvr>
  <p:transition spd="med">
    <p:fade/>
  </p:transition>
  <p:timing>
    <p:tnLst>
      <p:par>
        <p:cTn id="1" dur="indefinite" restart="never" nodeType="tmRoot"/>
      </p:par>
    </p:tn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Title Slide Blue">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bwMode="gray">
          <a:xfrm>
            <a:off x="365125" y="4849447"/>
            <a:ext cx="3943350" cy="200055"/>
          </a:xfrm>
          <a:prstGeom prst="rect">
            <a:avLst/>
          </a:prstGeom>
          <a:noFill/>
        </p:spPr>
        <p:txBody>
          <a:bodyPr>
            <a:spAutoFit/>
          </a:bodyPr>
          <a:lstStyle/>
          <a:p>
            <a:pPr defTabSz="914400" fontAlgn="base">
              <a:spcBef>
                <a:spcPct val="0"/>
              </a:spcBef>
              <a:spcAft>
                <a:spcPct val="0"/>
              </a:spcAft>
              <a:defRPr/>
            </a:pPr>
            <a:r>
              <a:rPr lang="en-US" sz="700" dirty="0">
                <a:solidFill>
                  <a:srgbClr val="196EA3"/>
                </a:solidFill>
                <a:latin typeface="Futura Bk" pitchFamily="34" charset="0"/>
              </a:rPr>
              <a:t>©2009 HP Confidential</a:t>
            </a:r>
          </a:p>
        </p:txBody>
      </p:sp>
      <p:pic>
        <p:nvPicPr>
          <p:cNvPr id="6" name="Picture 7"/>
          <p:cNvPicPr>
            <a:picLocks noChangeAspect="1" noChangeArrowheads="1"/>
          </p:cNvPicPr>
          <p:nvPr userDrawn="1"/>
        </p:nvPicPr>
        <p:blipFill>
          <a:blip r:embed="rId2" cstate="print"/>
          <a:srcRect r="7471" b="6709"/>
          <a:stretch>
            <a:fillRect/>
          </a:stretch>
        </p:blipFill>
        <p:spPr bwMode="auto">
          <a:xfrm>
            <a:off x="7994650" y="1453784"/>
            <a:ext cx="1149350" cy="3689747"/>
          </a:xfrm>
          <a:prstGeom prst="rect">
            <a:avLst/>
          </a:prstGeom>
          <a:noFill/>
          <a:ln w="9525">
            <a:noFill/>
            <a:miter lim="800000"/>
            <a:headEnd/>
            <a:tailEnd/>
          </a:ln>
        </p:spPr>
      </p:pic>
      <p:sp>
        <p:nvSpPr>
          <p:cNvPr id="3" name="Subtitle 2"/>
          <p:cNvSpPr>
            <a:spLocks noGrp="1"/>
          </p:cNvSpPr>
          <p:nvPr>
            <p:ph type="subTitle" idx="1"/>
          </p:nvPr>
        </p:nvSpPr>
        <p:spPr bwMode="black">
          <a:xfrm>
            <a:off x="357089" y="3799046"/>
            <a:ext cx="6400800" cy="701763"/>
          </a:xfrm>
          <a:prstGeom prst="rect">
            <a:avLst/>
          </a:prstGeom>
        </p:spPr>
        <p:txBody>
          <a:bodyPr anchor="b">
            <a:noAutofit/>
          </a:bodyPr>
          <a:lstStyle>
            <a:lvl1pPr marL="0" marR="0" indent="0" algn="l" defTabSz="914400" rtl="0" eaLnBrk="1" fontAlgn="auto" latinLnBrk="0" hangingPunct="1">
              <a:lnSpc>
                <a:spcPct val="120000"/>
              </a:lnSpc>
              <a:spcBef>
                <a:spcPts val="0"/>
              </a:spcBef>
              <a:spcAft>
                <a:spcPts val="0"/>
              </a:spcAft>
              <a:buClrTx/>
              <a:buSzPct val="100000"/>
              <a:buFontTx/>
              <a:buNone/>
              <a:tabLst/>
              <a:defRPr sz="1500">
                <a:solidFill>
                  <a:schemeClr val="bg1"/>
                </a:solidFill>
                <a:latin typeface="Futura Bk"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itle 10"/>
          <p:cNvSpPr>
            <a:spLocks noGrp="1"/>
          </p:cNvSpPr>
          <p:nvPr>
            <p:ph type="title"/>
          </p:nvPr>
        </p:nvSpPr>
        <p:spPr bwMode="black">
          <a:xfrm>
            <a:off x="929640" y="2069307"/>
            <a:ext cx="7274560" cy="988218"/>
          </a:xfrm>
          <a:prstGeom prst="rect">
            <a:avLst/>
          </a:prstGeom>
        </p:spPr>
        <p:txBody>
          <a:bodyPr/>
          <a:lstStyle>
            <a:lvl1pPr algn="ctr">
              <a:lnSpc>
                <a:spcPts val="4000"/>
              </a:lnSpc>
              <a:defRPr sz="400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xmlns="" val="3417396036"/>
      </p:ext>
    </p:extLst>
  </p:cSld>
  <p:clrMapOvr>
    <a:masterClrMapping/>
  </p:clrMapOvr>
  <p:transition spd="med">
    <p:fade/>
  </p:transition>
  <p:timing>
    <p:tnLst>
      <p:par>
        <p:cTn id="1" dur="indefinite" restart="never" nodeType="tmRoot"/>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標題投影片">
    <p:spTree>
      <p:nvGrpSpPr>
        <p:cNvPr id="1" name=""/>
        <p:cNvGrpSpPr/>
        <p:nvPr/>
      </p:nvGrpSpPr>
      <p:grpSpPr>
        <a:xfrm>
          <a:off x="0" y="0"/>
          <a:ext cx="0" cy="0"/>
          <a:chOff x="0" y="0"/>
          <a:chExt cx="0" cy="0"/>
        </a:xfrm>
      </p:grpSpPr>
      <p:pic>
        <p:nvPicPr>
          <p:cNvPr id="2" name="Picture 26" descr="02"/>
          <p:cNvPicPr>
            <a:picLocks noChangeAspect="1" noChangeArrowheads="1"/>
          </p:cNvPicPr>
          <p:nvPr userDrawn="1"/>
        </p:nvPicPr>
        <p:blipFill>
          <a:blip r:embed="rId2" cstate="print"/>
          <a:srcRect/>
          <a:stretch>
            <a:fillRect/>
          </a:stretch>
        </p:blipFill>
        <p:spPr bwMode="auto">
          <a:xfrm>
            <a:off x="0" y="0"/>
            <a:ext cx="9144000" cy="1122760"/>
          </a:xfrm>
          <a:prstGeom prst="rect">
            <a:avLst/>
          </a:prstGeom>
          <a:noFill/>
          <a:ln w="9525">
            <a:noFill/>
            <a:miter lim="800000"/>
            <a:headEnd/>
            <a:tailEnd/>
          </a:ln>
        </p:spPr>
      </p:pic>
      <p:pic>
        <p:nvPicPr>
          <p:cNvPr id="3" name="Picture 21" descr="LOGO"/>
          <p:cNvPicPr>
            <a:picLocks noChangeAspect="1" noChangeArrowheads="1"/>
          </p:cNvPicPr>
          <p:nvPr userDrawn="1"/>
        </p:nvPicPr>
        <p:blipFill>
          <a:blip r:embed="rId3" cstate="print"/>
          <a:srcRect/>
          <a:stretch>
            <a:fillRect/>
          </a:stretch>
        </p:blipFill>
        <p:spPr bwMode="auto">
          <a:xfrm>
            <a:off x="7567613" y="4819681"/>
            <a:ext cx="1460500" cy="214313"/>
          </a:xfrm>
          <a:prstGeom prst="rect">
            <a:avLst/>
          </a:prstGeom>
          <a:noFill/>
          <a:ln w="9525">
            <a:noFill/>
            <a:miter lim="800000"/>
            <a:headEnd/>
            <a:tailEnd/>
          </a:ln>
        </p:spPr>
      </p:pic>
      <p:sp>
        <p:nvSpPr>
          <p:cNvPr id="4" name="Rectangle 27"/>
          <p:cNvSpPr>
            <a:spLocks noChangeArrowheads="1"/>
          </p:cNvSpPr>
          <p:nvPr userDrawn="1"/>
        </p:nvSpPr>
        <p:spPr bwMode="auto">
          <a:xfrm>
            <a:off x="196884" y="4836350"/>
            <a:ext cx="1495425" cy="165497"/>
          </a:xfrm>
          <a:prstGeom prst="rect">
            <a:avLst/>
          </a:prstGeom>
          <a:noFill/>
          <a:ln w="9525">
            <a:noFill/>
            <a:miter lim="800000"/>
            <a:headEnd/>
            <a:tailEnd/>
          </a:ln>
          <a:effectLst/>
        </p:spPr>
        <p:txBody>
          <a:bodyPr/>
          <a:lstStyle/>
          <a:p>
            <a:pPr algn="ctr" defTabSz="914400" fontAlgn="base">
              <a:spcBef>
                <a:spcPct val="0"/>
              </a:spcBef>
              <a:spcAft>
                <a:spcPct val="0"/>
              </a:spcAft>
            </a:pPr>
            <a:r>
              <a:rPr lang="en-US" altLang="zh-CN" sz="1200">
                <a:solidFill>
                  <a:srgbClr val="00506E"/>
                </a:solidFill>
                <a:latin typeface="Helvetica 55 Roman" pitchFamily="34" charset="0"/>
              </a:rPr>
              <a:t>SFCS instruction</a:t>
            </a:r>
            <a:endParaRPr lang="en-US" altLang="zh-TW" sz="1200">
              <a:solidFill>
                <a:srgbClr val="00506E"/>
              </a:solidFill>
              <a:latin typeface="Arial" charset="0"/>
            </a:endParaRPr>
          </a:p>
        </p:txBody>
      </p:sp>
    </p:spTree>
    <p:extLst>
      <p:ext uri="{BB962C8B-B14F-4D97-AF65-F5344CB8AC3E}">
        <p14:creationId xmlns:p14="http://schemas.microsoft.com/office/powerpoint/2010/main" xmlns="" val="216122745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2Line, with Subtitle">
    <p:spTree>
      <p:nvGrpSpPr>
        <p:cNvPr id="1" name=""/>
        <p:cNvGrpSpPr/>
        <p:nvPr/>
      </p:nvGrpSpPr>
      <p:grpSpPr>
        <a:xfrm>
          <a:off x="0" y="0"/>
          <a:ext cx="0" cy="0"/>
          <a:chOff x="0" y="0"/>
          <a:chExt cx="0" cy="0"/>
        </a:xfrm>
      </p:grpSpPr>
      <p:sp>
        <p:nvSpPr>
          <p:cNvPr id="18" name="Title 8"/>
          <p:cNvSpPr>
            <a:spLocks noGrp="1"/>
          </p:cNvSpPr>
          <p:nvPr>
            <p:ph type="title" hasCustomPrompt="1"/>
          </p:nvPr>
        </p:nvSpPr>
        <p:spPr>
          <a:xfrm>
            <a:off x="341313" y="315519"/>
            <a:ext cx="8375650" cy="656033"/>
          </a:xfrm>
          <a:prstGeom prst="rect">
            <a:avLst/>
          </a:prstGeom>
        </p:spPr>
        <p:txBody>
          <a:bodyPr anchor="t" anchorCtr="0">
            <a:noAutofit/>
          </a:bodyPr>
          <a:lstStyle>
            <a:lvl1pPr marL="0" marR="0" indent="0" algn="l" defTabSz="914400" rtl="0" eaLnBrk="1" fontAlgn="auto" latinLnBrk="0" hangingPunct="1">
              <a:lnSpc>
                <a:spcPts val="3300"/>
              </a:lnSpc>
              <a:spcBef>
                <a:spcPct val="0"/>
              </a:spcBef>
              <a:spcAft>
                <a:spcPts val="0"/>
              </a:spcAft>
              <a:buClrTx/>
              <a:buSzTx/>
              <a:buFontTx/>
              <a:buNone/>
              <a:tabLst/>
              <a:defRPr sz="3300" baseline="0">
                <a:solidFill>
                  <a:srgbClr val="000000"/>
                </a:solidFill>
                <a:latin typeface="Futura Bk" pitchFamily="34" charset="0"/>
              </a:defRPr>
            </a:lvl1pPr>
          </a:lstStyle>
          <a:p>
            <a:r>
              <a:rPr lang="en-US" dirty="0" smtClean="0"/>
              <a:t>DOUBLE LINE TITLE</a:t>
            </a:r>
            <a:br>
              <a:rPr lang="en-US" dirty="0" smtClean="0"/>
            </a:br>
            <a:r>
              <a:rPr lang="en-US" dirty="0" smtClean="0"/>
              <a:t>FOR ADDED CONTENT</a:t>
            </a:r>
            <a:endParaRPr lang="en-US" dirty="0"/>
          </a:p>
        </p:txBody>
      </p:sp>
      <p:sp>
        <p:nvSpPr>
          <p:cNvPr id="19" name="Text Placeholder 12"/>
          <p:cNvSpPr>
            <a:spLocks noGrp="1"/>
          </p:cNvSpPr>
          <p:nvPr>
            <p:ph type="body" sz="quarter" idx="14" hasCustomPrompt="1"/>
          </p:nvPr>
        </p:nvSpPr>
        <p:spPr>
          <a:xfrm>
            <a:off x="358775" y="971581"/>
            <a:ext cx="8370380" cy="294965"/>
          </a:xfrm>
          <a:prstGeom prst="rect">
            <a:avLst/>
          </a:prstGeom>
        </p:spPr>
        <p:txBody>
          <a:bodyPr/>
          <a:lstStyle>
            <a:lvl1pPr marL="0" indent="0">
              <a:lnSpc>
                <a:spcPct val="100000"/>
              </a:lnSpc>
              <a:buNone/>
              <a:defRPr lang="en-US" sz="2000" kern="1200" dirty="0" smtClean="0">
                <a:solidFill>
                  <a:srgbClr val="7B7B79"/>
                </a:solidFill>
                <a:latin typeface="Futura Bk" pitchFamily="34" charset="0"/>
                <a:ea typeface="+mn-ea"/>
                <a:cs typeface="+mn-cs"/>
              </a:defRPr>
            </a:lvl1pPr>
            <a:lvl2pPr>
              <a:defRPr lang="en-US" sz="2000" kern="1200" dirty="0" smtClean="0">
                <a:solidFill>
                  <a:srgbClr val="FFFFFF"/>
                </a:solidFill>
                <a:latin typeface="Futura Bk" pitchFamily="34" charset="0"/>
                <a:ea typeface="+mn-ea"/>
                <a:cs typeface="+mn-cs"/>
              </a:defRPr>
            </a:lvl2pPr>
            <a:lvl3pPr>
              <a:defRPr lang="en-US" sz="2000" kern="1200" dirty="0" smtClean="0">
                <a:solidFill>
                  <a:srgbClr val="FFFFFF"/>
                </a:solidFill>
                <a:latin typeface="Futura Bk" pitchFamily="34" charset="0"/>
                <a:ea typeface="+mn-ea"/>
                <a:cs typeface="+mn-cs"/>
              </a:defRPr>
            </a:lvl3pPr>
            <a:lvl4pPr>
              <a:defRPr lang="en-US" sz="2000" kern="1200" dirty="0" smtClean="0">
                <a:solidFill>
                  <a:srgbClr val="FFFFFF"/>
                </a:solidFill>
                <a:latin typeface="Futura Bk" pitchFamily="34" charset="0"/>
                <a:ea typeface="+mn-ea"/>
                <a:cs typeface="+mn-cs"/>
              </a:defRPr>
            </a:lvl4pPr>
            <a:lvl5pPr>
              <a:defRPr lang="en-US" sz="2000" kern="1200" dirty="0" smtClean="0">
                <a:solidFill>
                  <a:srgbClr val="FFFFFF"/>
                </a:solidFill>
                <a:latin typeface="Futura Bk" pitchFamily="34" charset="0"/>
                <a:ea typeface="+mn-ea"/>
                <a:cs typeface="+mn-cs"/>
              </a:defRPr>
            </a:lvl5pPr>
          </a:lstStyle>
          <a:p>
            <a:pPr lvl="0"/>
            <a:r>
              <a:rPr lang="en-US" dirty="0" smtClean="0"/>
              <a:t>Subtitle Placeholder Here</a:t>
            </a:r>
          </a:p>
        </p:txBody>
      </p:sp>
      <p:pic>
        <p:nvPicPr>
          <p:cNvPr id="6" name="Picture 2"/>
          <p:cNvPicPr>
            <a:picLocks noChangeAspect="1" noChangeArrowheads="1"/>
          </p:cNvPicPr>
          <p:nvPr userDrawn="1"/>
        </p:nvPicPr>
        <p:blipFill>
          <a:blip r:embed="rId2" cstate="print"/>
          <a:srcRect/>
          <a:stretch>
            <a:fillRect/>
          </a:stretch>
        </p:blipFill>
        <p:spPr bwMode="auto">
          <a:xfrm>
            <a:off x="8494839" y="4690872"/>
            <a:ext cx="401637" cy="301228"/>
          </a:xfrm>
          <a:prstGeom prst="rect">
            <a:avLst/>
          </a:prstGeom>
          <a:noFill/>
          <a:ln w="9525">
            <a:noFill/>
            <a:miter lim="800000"/>
            <a:headEnd/>
            <a:tailEnd/>
          </a:ln>
          <a:effectLst/>
        </p:spPr>
      </p:pic>
    </p:spTree>
    <p:extLst>
      <p:ext uri="{BB962C8B-B14F-4D97-AF65-F5344CB8AC3E}">
        <p14:creationId xmlns:p14="http://schemas.microsoft.com/office/powerpoint/2010/main" xmlns="" val="2327944549"/>
      </p:ext>
    </p:extLst>
  </p:cSld>
  <p:clrMapOvr>
    <a:masterClrMapping/>
  </p:clrMapOvr>
  <p:transition/>
  <p:timing>
    <p:tnLst>
      <p:par>
        <p:cTn id="1" dur="indefinite" restart="never" nodeType="tmRoot"/>
      </p:par>
    </p:tn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1Line, Subtitle and Content">
    <p:spTree>
      <p:nvGrpSpPr>
        <p:cNvPr id="1" name=""/>
        <p:cNvGrpSpPr/>
        <p:nvPr/>
      </p:nvGrpSpPr>
      <p:grpSpPr>
        <a:xfrm>
          <a:off x="0" y="0"/>
          <a:ext cx="0" cy="0"/>
          <a:chOff x="0" y="0"/>
          <a:chExt cx="0" cy="0"/>
        </a:xfrm>
      </p:grpSpPr>
      <p:sp>
        <p:nvSpPr>
          <p:cNvPr id="13" name="Text Placeholder 12"/>
          <p:cNvSpPr>
            <a:spLocks noGrp="1"/>
          </p:cNvSpPr>
          <p:nvPr>
            <p:ph type="body" sz="quarter" idx="14" hasCustomPrompt="1"/>
          </p:nvPr>
        </p:nvSpPr>
        <p:spPr>
          <a:xfrm>
            <a:off x="358775" y="659637"/>
            <a:ext cx="8370380" cy="294965"/>
          </a:xfrm>
          <a:prstGeom prst="rect">
            <a:avLst/>
          </a:prstGeom>
        </p:spPr>
        <p:txBody>
          <a:bodyPr/>
          <a:lstStyle>
            <a:lvl1pPr marL="0" indent="0">
              <a:lnSpc>
                <a:spcPct val="100000"/>
              </a:lnSpc>
              <a:buNone/>
              <a:defRPr lang="en-US" sz="2000" kern="1200" dirty="0" smtClean="0">
                <a:solidFill>
                  <a:srgbClr val="7B7B79"/>
                </a:solidFill>
                <a:latin typeface="Futura Bk" pitchFamily="34" charset="0"/>
                <a:ea typeface="+mn-ea"/>
                <a:cs typeface="+mn-cs"/>
              </a:defRPr>
            </a:lvl1pPr>
            <a:lvl2pPr>
              <a:defRPr lang="en-US" sz="2000" kern="1200" dirty="0" smtClean="0">
                <a:solidFill>
                  <a:srgbClr val="FFFFFF"/>
                </a:solidFill>
                <a:latin typeface="Futura Bk" pitchFamily="34" charset="0"/>
                <a:ea typeface="+mn-ea"/>
                <a:cs typeface="+mn-cs"/>
              </a:defRPr>
            </a:lvl2pPr>
            <a:lvl3pPr>
              <a:defRPr lang="en-US" sz="2000" kern="1200" dirty="0" smtClean="0">
                <a:solidFill>
                  <a:srgbClr val="FFFFFF"/>
                </a:solidFill>
                <a:latin typeface="Futura Bk" pitchFamily="34" charset="0"/>
                <a:ea typeface="+mn-ea"/>
                <a:cs typeface="+mn-cs"/>
              </a:defRPr>
            </a:lvl3pPr>
            <a:lvl4pPr>
              <a:defRPr lang="en-US" sz="2000" kern="1200" dirty="0" smtClean="0">
                <a:solidFill>
                  <a:srgbClr val="FFFFFF"/>
                </a:solidFill>
                <a:latin typeface="Futura Bk" pitchFamily="34" charset="0"/>
                <a:ea typeface="+mn-ea"/>
                <a:cs typeface="+mn-cs"/>
              </a:defRPr>
            </a:lvl4pPr>
            <a:lvl5pPr>
              <a:defRPr lang="en-US" sz="2000" kern="1200" dirty="0" smtClean="0">
                <a:solidFill>
                  <a:srgbClr val="FFFFFF"/>
                </a:solidFill>
                <a:latin typeface="Futura Bk" pitchFamily="34" charset="0"/>
                <a:ea typeface="+mn-ea"/>
                <a:cs typeface="+mn-cs"/>
              </a:defRPr>
            </a:lvl5pPr>
          </a:lstStyle>
          <a:p>
            <a:pPr lvl="0"/>
            <a:r>
              <a:rPr lang="en-US" dirty="0" smtClean="0"/>
              <a:t>Subtitle Placeholder Here</a:t>
            </a:r>
          </a:p>
        </p:txBody>
      </p:sp>
      <p:sp>
        <p:nvSpPr>
          <p:cNvPr id="15" name="Title 8"/>
          <p:cNvSpPr>
            <a:spLocks noGrp="1"/>
          </p:cNvSpPr>
          <p:nvPr>
            <p:ph type="title" hasCustomPrompt="1"/>
          </p:nvPr>
        </p:nvSpPr>
        <p:spPr>
          <a:xfrm>
            <a:off x="339725" y="315499"/>
            <a:ext cx="8375650" cy="329803"/>
          </a:xfrm>
          <a:prstGeom prst="rect">
            <a:avLst/>
          </a:prstGeom>
        </p:spPr>
        <p:txBody>
          <a:bodyPr anchor="t" anchorCtr="0">
            <a:noAutofit/>
          </a:bodyPr>
          <a:lstStyle>
            <a:lvl1pPr marL="0" marR="0" indent="0" algn="l" defTabSz="914400" rtl="0" eaLnBrk="1" fontAlgn="auto" latinLnBrk="0" hangingPunct="1">
              <a:lnSpc>
                <a:spcPts val="3300"/>
              </a:lnSpc>
              <a:spcBef>
                <a:spcPct val="0"/>
              </a:spcBef>
              <a:spcAft>
                <a:spcPts val="0"/>
              </a:spcAft>
              <a:buClr>
                <a:srgbClr val="000000"/>
              </a:buClr>
              <a:buSzTx/>
              <a:buFontTx/>
              <a:buNone/>
              <a:tabLst/>
              <a:defRPr sz="3300" baseline="0">
                <a:solidFill>
                  <a:srgbClr val="000000"/>
                </a:solidFill>
                <a:latin typeface="Futura Bk" pitchFamily="34" charset="0"/>
              </a:defRPr>
            </a:lvl1pPr>
          </a:lstStyle>
          <a:p>
            <a:r>
              <a:rPr lang="en-US" dirty="0" smtClean="0"/>
              <a:t>SINGLE LINE TITLE</a:t>
            </a:r>
            <a:endParaRPr lang="en-US" dirty="0"/>
          </a:p>
        </p:txBody>
      </p:sp>
      <p:sp>
        <p:nvSpPr>
          <p:cNvPr id="14" name="Text Placeholder 26"/>
          <p:cNvSpPr>
            <a:spLocks noGrp="1"/>
          </p:cNvSpPr>
          <p:nvPr>
            <p:ph type="body" sz="quarter" idx="10"/>
          </p:nvPr>
        </p:nvSpPr>
        <p:spPr>
          <a:xfrm>
            <a:off x="365760" y="1147572"/>
            <a:ext cx="8348472" cy="3449574"/>
          </a:xfrm>
          <a:prstGeom prst="rect">
            <a:avLst/>
          </a:prstGeom>
        </p:spPr>
        <p:txBody>
          <a:bodyPr>
            <a:normAutofit/>
          </a:bodyPr>
          <a:lstStyle>
            <a:lvl1pPr>
              <a:lnSpc>
                <a:spcPct val="110000"/>
              </a:lnSpc>
              <a:spcBef>
                <a:spcPts val="1000"/>
              </a:spcBef>
              <a:buClr>
                <a:srgbClr val="000000"/>
              </a:buClr>
              <a:defRPr>
                <a:solidFill>
                  <a:srgbClr val="000000"/>
                </a:solidFill>
              </a:defRPr>
            </a:lvl1pPr>
            <a:lvl2pPr marL="342900" indent="-114300">
              <a:lnSpc>
                <a:spcPct val="110000"/>
              </a:lnSpc>
              <a:spcBef>
                <a:spcPts val="500"/>
              </a:spcBef>
              <a:buClr>
                <a:srgbClr val="000000"/>
              </a:buClr>
              <a:buSzPct val="80000"/>
              <a:buFont typeface="Arial" pitchFamily="34" charset="0"/>
              <a:buChar char="•"/>
              <a:defRPr>
                <a:solidFill>
                  <a:srgbClr val="000000"/>
                </a:solidFill>
              </a:defRPr>
            </a:lvl2pPr>
            <a:lvl3pPr marL="571500" indent="-168275">
              <a:lnSpc>
                <a:spcPct val="110000"/>
              </a:lnSpc>
              <a:spcBef>
                <a:spcPts val="400"/>
              </a:spcBef>
              <a:buClr>
                <a:srgbClr val="000000"/>
              </a:buClr>
              <a:buFont typeface="Futura Bk" pitchFamily="34" charset="0"/>
              <a:buChar char="−"/>
              <a:defRPr sz="1200">
                <a:solidFill>
                  <a:srgbClr val="000000"/>
                </a:solidFill>
              </a:defRPr>
            </a:lvl3pPr>
            <a:lvl4pPr marL="800100" indent="-114300">
              <a:lnSpc>
                <a:spcPct val="110000"/>
              </a:lnSpc>
              <a:spcBef>
                <a:spcPts val="400"/>
              </a:spcBef>
              <a:buClr>
                <a:srgbClr val="000000"/>
              </a:buClr>
              <a:buSzPct val="80000"/>
              <a:buFont typeface="Arial" pitchFamily="34" charset="0"/>
              <a:buChar char="•"/>
              <a:defRPr sz="1200">
                <a:solidFill>
                  <a:srgbClr val="000000"/>
                </a:solidFill>
              </a:defRPr>
            </a:lvl4pPr>
            <a:lvl5pPr marL="1028700" indent="-174625">
              <a:lnSpc>
                <a:spcPct val="110000"/>
              </a:lnSpc>
              <a:spcBef>
                <a:spcPts val="400"/>
              </a:spcBef>
              <a:buClr>
                <a:srgbClr val="000000"/>
              </a:buClr>
              <a:buFont typeface="Futura Bk" pitchFamily="34" charset="0"/>
              <a:buChar char="−"/>
              <a:defRPr sz="1200">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xmlns="" val="2365140168"/>
      </p:ext>
    </p:extLst>
  </p:cSld>
  <p:clrMapOvr>
    <a:masterClrMapping/>
  </p:clrMapOvr>
  <p:transition/>
  <p:timing>
    <p:tnLst>
      <p:par>
        <p:cTn id="1" dur="indefinite" restart="never" nodeType="tmRoot"/>
      </p:par>
    </p:tn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8E0DEF91-63D7-405E-9535-99E1796A8B8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F73C24-D277-46A9-9806-5663364F55A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xmlns="" val="4186208034"/>
      </p:ext>
    </p:extLst>
  </p:cSld>
  <p:clrMapOvr>
    <a:masterClrMapping/>
  </p:clrMapOvr>
  <p:transition spd="med">
    <p:fade/>
  </p:transition>
  <p:timing>
    <p:tnLst>
      <p:par>
        <p:cTn id="1" dur="indefinite" restart="never" nodeType="tmRoot"/>
      </p:par>
    </p:tn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1"/>
      </p:bgRef>
    </p:bg>
    <p:spTree>
      <p:nvGrpSpPr>
        <p:cNvPr id="1" name=""/>
        <p:cNvGrpSpPr/>
        <p:nvPr/>
      </p:nvGrpSpPr>
      <p:grpSpPr>
        <a:xfrm>
          <a:off x="0" y="0"/>
          <a:ext cx="0" cy="0"/>
          <a:chOff x="0" y="0"/>
          <a:chExt cx="0" cy="0"/>
        </a:xfrm>
      </p:grpSpPr>
      <p:pic>
        <p:nvPicPr>
          <p:cNvPr id="4" name="Picture 7" descr="HP_D_RGB_M.png"/>
          <p:cNvPicPr>
            <a:picLocks noChangeAspect="1"/>
          </p:cNvPicPr>
          <p:nvPr userDrawn="1"/>
        </p:nvPicPr>
        <p:blipFill>
          <a:blip r:embed="rId2" cstate="print"/>
          <a:srcRect/>
          <a:stretch>
            <a:fillRect/>
          </a:stretch>
        </p:blipFill>
        <p:spPr bwMode="auto">
          <a:xfrm>
            <a:off x="6903097" y="661782"/>
            <a:ext cx="1517015" cy="1137761"/>
          </a:xfrm>
          <a:prstGeom prst="rect">
            <a:avLst/>
          </a:prstGeom>
          <a:noFill/>
          <a:ln w="9525">
            <a:noFill/>
            <a:miter lim="800000"/>
            <a:headEnd/>
            <a:tailEnd/>
          </a:ln>
        </p:spPr>
      </p:pic>
      <p:sp>
        <p:nvSpPr>
          <p:cNvPr id="2" name="Title 1"/>
          <p:cNvSpPr>
            <a:spLocks noGrp="1"/>
          </p:cNvSpPr>
          <p:nvPr>
            <p:ph type="ctrTitle"/>
          </p:nvPr>
        </p:nvSpPr>
        <p:spPr>
          <a:xfrm>
            <a:off x="685800" y="2097890"/>
            <a:ext cx="7772400" cy="1102519"/>
          </a:xfrm>
          <a:prstGeom prst="rect">
            <a:avLst/>
          </a:prstGeom>
        </p:spPr>
        <p:txBody>
          <a:bodyPr>
            <a:normAutofit/>
          </a:bodyPr>
          <a:lstStyle>
            <a:lvl1pPr>
              <a:defRPr sz="4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75977A33-3B78-47F9-A063-6913D7750EC5}" type="datetime1">
              <a:rPr lang="en-US" smtClean="0">
                <a:solidFill>
                  <a:prstClr val="white">
                    <a:tint val="75000"/>
                  </a:prstClr>
                </a:solidFill>
              </a:rPr>
              <a:pPr>
                <a:defRPr/>
              </a:pPr>
              <a:t>11/16/2012</a:t>
            </a:fld>
            <a:endParaRPr lang="en-US" dirty="0">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smtClean="0">
                <a:solidFill>
                  <a:prstClr val="white">
                    <a:tint val="75000"/>
                  </a:prstClr>
                </a:solidFill>
              </a:rPr>
              <a:t>© 2011 Hewlett-Packard Company - HP Confidential</a:t>
            </a:r>
            <a:endParaRPr lang="en-US" dirty="0">
              <a:solidFill>
                <a:prstClr val="white">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536159-4EBC-4956-80D1-D691668E34FE}" type="slidenum">
              <a:rPr lang="en-US">
                <a:solidFill>
                  <a:prstClr val="white">
                    <a:tint val="75000"/>
                  </a:prstClr>
                </a:solidFill>
              </a:rPr>
              <a:pPr>
                <a:defRPr/>
              </a:pPr>
              <a:t>‹#›</a:t>
            </a:fld>
            <a:endParaRPr lang="en-US">
              <a:solidFill>
                <a:prstClr val="white">
                  <a:tint val="75000"/>
                </a:prstClr>
              </a:solidFill>
            </a:endParaRPr>
          </a:p>
        </p:txBody>
      </p:sp>
    </p:spTree>
    <p:extLst>
      <p:ext uri="{BB962C8B-B14F-4D97-AF65-F5344CB8AC3E}">
        <p14:creationId xmlns:p14="http://schemas.microsoft.com/office/powerpoint/2010/main" xmlns="" val="2095164409"/>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EA8BB888-0697-4350-8298-E0CD0DF9CFE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5F75D6F-272E-4811-8F6B-E4C2FF79A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614203448"/>
      </p:ext>
    </p:extLst>
  </p:cSld>
  <p:clrMapOvr>
    <a:masterClrMapping/>
  </p:clrMapOvr>
  <p:transition spd="med">
    <p:fade/>
  </p:transition>
  <p:timing>
    <p:tnLst>
      <p:par>
        <p:cTn id="1" dur="indefinite" restart="never" nodeType="tmRoot"/>
      </p:par>
    </p:tn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normAutofit/>
          </a:bodyPr>
          <a:lstStyle>
            <a:lvl1pPr>
              <a:defRPr sz="2000" b="1"/>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000" b="1"/>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B9C4FF6E-1DEC-4D9C-895F-280C75CCD1F8}"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584C529-9E14-40CB-AFDB-1714415109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075032047"/>
      </p:ext>
    </p:extLst>
  </p:cSld>
  <p:clrMapOvr>
    <a:masterClrMapping/>
  </p:clrMapOvr>
  <p:transition spd="med">
    <p:fade/>
  </p:transition>
  <p:timing>
    <p:tnLst>
      <p:par>
        <p:cTn id="1" dur="indefinite" restart="never" nodeType="tmRoot"/>
      </p:par>
    </p:tn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33" y="1151335"/>
            <a:ext cx="4041775" cy="47982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33" y="1631156"/>
            <a:ext cx="4041775" cy="2963466"/>
          </a:xfrm>
          <a:prstGeom prst="rect">
            <a:avLst/>
          </a:prstGeo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8" name="Date Placeholder 3"/>
          <p:cNvSpPr>
            <a:spLocks noGrp="1"/>
          </p:cNvSpPr>
          <p:nvPr>
            <p:ph type="dt" sz="half" idx="11"/>
          </p:nvPr>
        </p:nvSpPr>
        <p:spPr/>
        <p:txBody>
          <a:bodyPr/>
          <a:lstStyle>
            <a:lvl1pPr>
              <a:defRPr/>
            </a:lvl1pPr>
          </a:lstStyle>
          <a:p>
            <a:pPr>
              <a:defRPr/>
            </a:pPr>
            <a:fld id="{A040D6B0-E7A3-4EDB-AE76-A681F5EBB97E}"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E108263-9A77-4E1A-9184-293EEEFA79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09707004"/>
      </p:ext>
    </p:extLst>
  </p:cSld>
  <p:clrMapOvr>
    <a:masterClrMapping/>
  </p:clrMapOvr>
  <p:transition spd="med">
    <p:fade/>
  </p:transition>
  <p:timing>
    <p:tnLst>
      <p:par>
        <p:cTn id="1" dur="indefinite" restart="never" nodeType="tmRoot"/>
      </p:par>
    </p:tn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4" name="Date Placeholder 3"/>
          <p:cNvSpPr>
            <a:spLocks noGrp="1"/>
          </p:cNvSpPr>
          <p:nvPr>
            <p:ph type="dt" sz="half" idx="11"/>
          </p:nvPr>
        </p:nvSpPr>
        <p:spPr/>
        <p:txBody>
          <a:bodyPr/>
          <a:lstStyle>
            <a:lvl1pPr>
              <a:defRPr/>
            </a:lvl1pPr>
          </a:lstStyle>
          <a:p>
            <a:pPr>
              <a:defRPr/>
            </a:pPr>
            <a:fld id="{B4927C7E-EBDA-42F6-8B62-59C143241654}"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28E1C2A3-9072-4F9E-9CE1-76C6EAC3B0F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130224320"/>
      </p:ext>
    </p:extLst>
  </p:cSld>
  <p:clrMapOvr>
    <a:masterClrMapping/>
  </p:clrMapOvr>
  <p:transition spd="med">
    <p:fade/>
  </p:transition>
  <p:timing>
    <p:tnLst>
      <p:par>
        <p:cTn id="1" dur="indefinite" restart="never" nodeType="tmRoot"/>
      </p:par>
    </p:tnLst>
  </p:timing>
</p:sldLayout>
</file>

<file path=ppt/slideLayouts/slideLayout1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7CA02831-9FCC-49D9-AFEE-B22EA5F9AF42}"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31571E2-899E-4F5A-BAD5-50AB52FB4C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927202423"/>
      </p:ext>
    </p:extLst>
  </p:cSld>
  <p:clrMapOvr>
    <a:masterClrMapping/>
  </p:clrMapOvr>
  <p:transition spd="med">
    <p:fade/>
  </p:transition>
  <p:timing>
    <p:tnLst>
      <p:par>
        <p:cTn id="1" dur="indefinite" restart="never" nodeType="tmRoot"/>
      </p:par>
    </p:tn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DF6E525E-7FA1-4430-805F-C8E0A53A470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9ECFAF0-4CA5-42E1-A53C-4310B5D9169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326345392"/>
      </p:ext>
    </p:extLst>
  </p:cSld>
  <p:clrMapOvr>
    <a:masterClrMapping/>
  </p:clrMapOvr>
  <p:transition spd="med">
    <p:fade/>
  </p:transition>
  <p:timing>
    <p:tnLst>
      <p:par>
        <p:cTn id="1" dur="indefinite" restart="never" nodeType="tmRoot"/>
      </p:par>
    </p:tnLst>
  </p:timing>
</p:sldLayout>
</file>

<file path=ppt/slideLayouts/slideLayout1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26"/>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1D2F5AC4-199A-4D08-AC6A-8BB9C244285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BE66F2-AE08-498A-B6F7-6BC61C51D6B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133693551"/>
      </p:ext>
    </p:extLst>
  </p:cSld>
  <p:clrMapOvr>
    <a:masterClrMapping/>
  </p:clrMapOvr>
  <p:transition spd="med">
    <p:fade/>
  </p:transition>
  <p:timing>
    <p:tnLst>
      <p:par>
        <p:cTn id="1" dur="indefinite" restart="never" nodeType="tmRoot"/>
      </p:par>
    </p:tn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80"/>
            <a:ext cx="6019800" cy="4388644"/>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ADC08C04-2700-4591-B9A1-0E946CDCA8AA}"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9E06965-FC6A-4994-BB99-5452580217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20214928"/>
      </p:ext>
    </p:extLst>
  </p:cSld>
  <p:clrMapOvr>
    <a:masterClrMapping/>
  </p:clrMapOvr>
  <p:transition spd="med">
    <p:fade/>
  </p:transition>
  <p:timing>
    <p:tnLst>
      <p:par>
        <p:cTn id="1" dur="indefinite" restart="never" nodeType="tmRoot"/>
      </p:par>
    </p:tn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0" y="4763691"/>
            <a:ext cx="9144000" cy="273844"/>
          </a:xfrm>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F92ECE36-7098-4256-9B89-F25D8DB1A1FB}"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FAF554F-BB91-4BBC-A556-A67D02F08C7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xmlns="" val="3531076475"/>
      </p:ext>
    </p:extLst>
  </p:cSld>
  <p:clrMapOvr>
    <a:masterClrMapping/>
  </p:clrMapOvr>
  <p:transition spd="med">
    <p:fade/>
  </p:transition>
  <p:timing>
    <p:tnLst>
      <p:par>
        <p:cTn id="1" dur="indefinite" restart="never" nodeType="tmRoot"/>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Title Slide Blue">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bwMode="gray">
          <a:xfrm>
            <a:off x="365125" y="4849439"/>
            <a:ext cx="3943350" cy="200055"/>
          </a:xfrm>
          <a:prstGeom prst="rect">
            <a:avLst/>
          </a:prstGeom>
          <a:noFill/>
        </p:spPr>
        <p:txBody>
          <a:bodyPr>
            <a:spAutoFit/>
          </a:bodyPr>
          <a:lstStyle/>
          <a:p>
            <a:pPr defTabSz="914400" fontAlgn="base">
              <a:spcBef>
                <a:spcPct val="0"/>
              </a:spcBef>
              <a:spcAft>
                <a:spcPct val="0"/>
              </a:spcAft>
              <a:defRPr/>
            </a:pPr>
            <a:r>
              <a:rPr lang="en-US" sz="700" dirty="0">
                <a:solidFill>
                  <a:srgbClr val="196EA3"/>
                </a:solidFill>
                <a:latin typeface="Futura Bk" pitchFamily="34" charset="0"/>
              </a:rPr>
              <a:t>©2009 HP Confidential</a:t>
            </a:r>
          </a:p>
        </p:txBody>
      </p:sp>
      <p:pic>
        <p:nvPicPr>
          <p:cNvPr id="6" name="Picture 7"/>
          <p:cNvPicPr>
            <a:picLocks noChangeAspect="1" noChangeArrowheads="1"/>
          </p:cNvPicPr>
          <p:nvPr userDrawn="1"/>
        </p:nvPicPr>
        <p:blipFill>
          <a:blip r:embed="rId2" cstate="print"/>
          <a:srcRect r="7471" b="6709"/>
          <a:stretch>
            <a:fillRect/>
          </a:stretch>
        </p:blipFill>
        <p:spPr bwMode="auto">
          <a:xfrm>
            <a:off x="7994650" y="1453776"/>
            <a:ext cx="1149350" cy="3689747"/>
          </a:xfrm>
          <a:prstGeom prst="rect">
            <a:avLst/>
          </a:prstGeom>
          <a:noFill/>
          <a:ln w="9525">
            <a:noFill/>
            <a:miter lim="800000"/>
            <a:headEnd/>
            <a:tailEnd/>
          </a:ln>
        </p:spPr>
      </p:pic>
      <p:sp>
        <p:nvSpPr>
          <p:cNvPr id="3" name="Subtitle 2"/>
          <p:cNvSpPr>
            <a:spLocks noGrp="1"/>
          </p:cNvSpPr>
          <p:nvPr>
            <p:ph type="subTitle" idx="1"/>
          </p:nvPr>
        </p:nvSpPr>
        <p:spPr bwMode="black">
          <a:xfrm>
            <a:off x="357089" y="3799046"/>
            <a:ext cx="6400800" cy="701763"/>
          </a:xfrm>
          <a:prstGeom prst="rect">
            <a:avLst/>
          </a:prstGeom>
        </p:spPr>
        <p:txBody>
          <a:bodyPr anchor="b">
            <a:noAutofit/>
          </a:bodyPr>
          <a:lstStyle>
            <a:lvl1pPr marL="0" marR="0" indent="0" algn="l" defTabSz="914400" rtl="0" eaLnBrk="1" fontAlgn="auto" latinLnBrk="0" hangingPunct="1">
              <a:lnSpc>
                <a:spcPct val="120000"/>
              </a:lnSpc>
              <a:spcBef>
                <a:spcPts val="0"/>
              </a:spcBef>
              <a:spcAft>
                <a:spcPts val="0"/>
              </a:spcAft>
              <a:buClrTx/>
              <a:buSzPct val="100000"/>
              <a:buFontTx/>
              <a:buNone/>
              <a:tabLst/>
              <a:defRPr sz="1500">
                <a:solidFill>
                  <a:schemeClr val="bg1"/>
                </a:solidFill>
                <a:latin typeface="Futura Bk"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itle 10"/>
          <p:cNvSpPr>
            <a:spLocks noGrp="1"/>
          </p:cNvSpPr>
          <p:nvPr>
            <p:ph type="title"/>
          </p:nvPr>
        </p:nvSpPr>
        <p:spPr bwMode="black">
          <a:xfrm>
            <a:off x="929640" y="2069307"/>
            <a:ext cx="7274560" cy="988218"/>
          </a:xfrm>
          <a:prstGeom prst="rect">
            <a:avLst/>
          </a:prstGeom>
        </p:spPr>
        <p:txBody>
          <a:bodyPr/>
          <a:lstStyle>
            <a:lvl1pPr algn="ctr">
              <a:lnSpc>
                <a:spcPts val="4000"/>
              </a:lnSpc>
              <a:defRPr sz="400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xmlns="" val="4085846850"/>
      </p:ext>
    </p:extLst>
  </p:cSld>
  <p:clrMapOvr>
    <a:masterClrMapping/>
  </p:clrMapOvr>
  <p:transition spd="med">
    <p:fade/>
  </p:transition>
  <p:timing>
    <p:tnLst>
      <p:par>
        <p:cTn id="1" dur="indefinite" restart="never" nodeType="tmRoot"/>
      </p:par>
    </p:tn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標題投影片">
    <p:spTree>
      <p:nvGrpSpPr>
        <p:cNvPr id="1" name=""/>
        <p:cNvGrpSpPr/>
        <p:nvPr/>
      </p:nvGrpSpPr>
      <p:grpSpPr>
        <a:xfrm>
          <a:off x="0" y="0"/>
          <a:ext cx="0" cy="0"/>
          <a:chOff x="0" y="0"/>
          <a:chExt cx="0" cy="0"/>
        </a:xfrm>
      </p:grpSpPr>
      <p:pic>
        <p:nvPicPr>
          <p:cNvPr id="2" name="Picture 26" descr="02"/>
          <p:cNvPicPr>
            <a:picLocks noChangeAspect="1" noChangeArrowheads="1"/>
          </p:cNvPicPr>
          <p:nvPr userDrawn="1"/>
        </p:nvPicPr>
        <p:blipFill>
          <a:blip r:embed="rId2" cstate="print"/>
          <a:srcRect/>
          <a:stretch>
            <a:fillRect/>
          </a:stretch>
        </p:blipFill>
        <p:spPr bwMode="auto">
          <a:xfrm>
            <a:off x="0" y="0"/>
            <a:ext cx="9144000" cy="1122760"/>
          </a:xfrm>
          <a:prstGeom prst="rect">
            <a:avLst/>
          </a:prstGeom>
          <a:noFill/>
          <a:ln w="9525">
            <a:noFill/>
            <a:miter lim="800000"/>
            <a:headEnd/>
            <a:tailEnd/>
          </a:ln>
        </p:spPr>
      </p:pic>
      <p:pic>
        <p:nvPicPr>
          <p:cNvPr id="3" name="Picture 21" descr="LOGO"/>
          <p:cNvPicPr>
            <a:picLocks noChangeAspect="1" noChangeArrowheads="1"/>
          </p:cNvPicPr>
          <p:nvPr userDrawn="1"/>
        </p:nvPicPr>
        <p:blipFill>
          <a:blip r:embed="rId3" cstate="print"/>
          <a:srcRect/>
          <a:stretch>
            <a:fillRect/>
          </a:stretch>
        </p:blipFill>
        <p:spPr bwMode="auto">
          <a:xfrm>
            <a:off x="7567613" y="4819673"/>
            <a:ext cx="1460500" cy="214313"/>
          </a:xfrm>
          <a:prstGeom prst="rect">
            <a:avLst/>
          </a:prstGeom>
          <a:noFill/>
          <a:ln w="9525">
            <a:noFill/>
            <a:miter lim="800000"/>
            <a:headEnd/>
            <a:tailEnd/>
          </a:ln>
        </p:spPr>
      </p:pic>
      <p:sp>
        <p:nvSpPr>
          <p:cNvPr id="4" name="Rectangle 27"/>
          <p:cNvSpPr>
            <a:spLocks noChangeArrowheads="1"/>
          </p:cNvSpPr>
          <p:nvPr userDrawn="1"/>
        </p:nvSpPr>
        <p:spPr bwMode="auto">
          <a:xfrm>
            <a:off x="196884" y="4836342"/>
            <a:ext cx="1495425" cy="165497"/>
          </a:xfrm>
          <a:prstGeom prst="rect">
            <a:avLst/>
          </a:prstGeom>
          <a:noFill/>
          <a:ln w="9525">
            <a:noFill/>
            <a:miter lim="800000"/>
            <a:headEnd/>
            <a:tailEnd/>
          </a:ln>
          <a:effectLst/>
        </p:spPr>
        <p:txBody>
          <a:bodyPr/>
          <a:lstStyle/>
          <a:p>
            <a:pPr algn="ctr" defTabSz="914400" fontAlgn="base">
              <a:spcBef>
                <a:spcPct val="0"/>
              </a:spcBef>
              <a:spcAft>
                <a:spcPct val="0"/>
              </a:spcAft>
            </a:pPr>
            <a:r>
              <a:rPr lang="en-US" altLang="zh-CN" sz="1200">
                <a:solidFill>
                  <a:srgbClr val="00506E"/>
                </a:solidFill>
                <a:latin typeface="Helvetica 55 Roman" pitchFamily="34" charset="0"/>
              </a:rPr>
              <a:t>SFCS instruction</a:t>
            </a:r>
            <a:endParaRPr lang="en-US" altLang="zh-TW" sz="1200">
              <a:solidFill>
                <a:srgbClr val="00506E"/>
              </a:solidFill>
              <a:latin typeface="Arial" charset="0"/>
            </a:endParaRPr>
          </a:p>
        </p:txBody>
      </p:sp>
    </p:spTree>
    <p:extLst>
      <p:ext uri="{BB962C8B-B14F-4D97-AF65-F5344CB8AC3E}">
        <p14:creationId xmlns:p14="http://schemas.microsoft.com/office/powerpoint/2010/main" xmlns="" val="2405250038"/>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2Line, with Subtitle">
    <p:spTree>
      <p:nvGrpSpPr>
        <p:cNvPr id="1" name=""/>
        <p:cNvGrpSpPr/>
        <p:nvPr/>
      </p:nvGrpSpPr>
      <p:grpSpPr>
        <a:xfrm>
          <a:off x="0" y="0"/>
          <a:ext cx="0" cy="0"/>
          <a:chOff x="0" y="0"/>
          <a:chExt cx="0" cy="0"/>
        </a:xfrm>
      </p:grpSpPr>
      <p:sp>
        <p:nvSpPr>
          <p:cNvPr id="18" name="Title 8"/>
          <p:cNvSpPr>
            <a:spLocks noGrp="1"/>
          </p:cNvSpPr>
          <p:nvPr>
            <p:ph type="title" hasCustomPrompt="1"/>
          </p:nvPr>
        </p:nvSpPr>
        <p:spPr>
          <a:xfrm>
            <a:off x="341313" y="315519"/>
            <a:ext cx="8375650" cy="656033"/>
          </a:xfrm>
          <a:prstGeom prst="rect">
            <a:avLst/>
          </a:prstGeom>
        </p:spPr>
        <p:txBody>
          <a:bodyPr anchor="t" anchorCtr="0">
            <a:noAutofit/>
          </a:bodyPr>
          <a:lstStyle>
            <a:lvl1pPr marL="0" marR="0" indent="0" algn="l" defTabSz="914400" rtl="0" eaLnBrk="1" fontAlgn="auto" latinLnBrk="0" hangingPunct="1">
              <a:lnSpc>
                <a:spcPts val="3300"/>
              </a:lnSpc>
              <a:spcBef>
                <a:spcPct val="0"/>
              </a:spcBef>
              <a:spcAft>
                <a:spcPts val="0"/>
              </a:spcAft>
              <a:buClrTx/>
              <a:buSzTx/>
              <a:buFontTx/>
              <a:buNone/>
              <a:tabLst/>
              <a:defRPr sz="3300" baseline="0">
                <a:solidFill>
                  <a:srgbClr val="000000"/>
                </a:solidFill>
                <a:latin typeface="Futura Bk" pitchFamily="34" charset="0"/>
              </a:defRPr>
            </a:lvl1pPr>
          </a:lstStyle>
          <a:p>
            <a:r>
              <a:rPr lang="en-US" dirty="0" smtClean="0"/>
              <a:t>DOUBLE LINE TITLE</a:t>
            </a:r>
            <a:br>
              <a:rPr lang="en-US" dirty="0" smtClean="0"/>
            </a:br>
            <a:r>
              <a:rPr lang="en-US" dirty="0" smtClean="0"/>
              <a:t>FOR ADDED CONTENT</a:t>
            </a:r>
            <a:endParaRPr lang="en-US" dirty="0"/>
          </a:p>
        </p:txBody>
      </p:sp>
      <p:sp>
        <p:nvSpPr>
          <p:cNvPr id="19" name="Text Placeholder 12"/>
          <p:cNvSpPr>
            <a:spLocks noGrp="1"/>
          </p:cNvSpPr>
          <p:nvPr>
            <p:ph type="body" sz="quarter" idx="14" hasCustomPrompt="1"/>
          </p:nvPr>
        </p:nvSpPr>
        <p:spPr>
          <a:xfrm>
            <a:off x="358775" y="971573"/>
            <a:ext cx="8370380" cy="294965"/>
          </a:xfrm>
          <a:prstGeom prst="rect">
            <a:avLst/>
          </a:prstGeom>
        </p:spPr>
        <p:txBody>
          <a:bodyPr/>
          <a:lstStyle>
            <a:lvl1pPr marL="0" indent="0">
              <a:lnSpc>
                <a:spcPct val="100000"/>
              </a:lnSpc>
              <a:buNone/>
              <a:defRPr lang="en-US" sz="2000" kern="1200" dirty="0" smtClean="0">
                <a:solidFill>
                  <a:srgbClr val="7B7B79"/>
                </a:solidFill>
                <a:latin typeface="Futura Bk" pitchFamily="34" charset="0"/>
                <a:ea typeface="+mn-ea"/>
                <a:cs typeface="+mn-cs"/>
              </a:defRPr>
            </a:lvl1pPr>
            <a:lvl2pPr>
              <a:defRPr lang="en-US" sz="2000" kern="1200" dirty="0" smtClean="0">
                <a:solidFill>
                  <a:srgbClr val="FFFFFF"/>
                </a:solidFill>
                <a:latin typeface="Futura Bk" pitchFamily="34" charset="0"/>
                <a:ea typeface="+mn-ea"/>
                <a:cs typeface="+mn-cs"/>
              </a:defRPr>
            </a:lvl2pPr>
            <a:lvl3pPr>
              <a:defRPr lang="en-US" sz="2000" kern="1200" dirty="0" smtClean="0">
                <a:solidFill>
                  <a:srgbClr val="FFFFFF"/>
                </a:solidFill>
                <a:latin typeface="Futura Bk" pitchFamily="34" charset="0"/>
                <a:ea typeface="+mn-ea"/>
                <a:cs typeface="+mn-cs"/>
              </a:defRPr>
            </a:lvl3pPr>
            <a:lvl4pPr>
              <a:defRPr lang="en-US" sz="2000" kern="1200" dirty="0" smtClean="0">
                <a:solidFill>
                  <a:srgbClr val="FFFFFF"/>
                </a:solidFill>
                <a:latin typeface="Futura Bk" pitchFamily="34" charset="0"/>
                <a:ea typeface="+mn-ea"/>
                <a:cs typeface="+mn-cs"/>
              </a:defRPr>
            </a:lvl4pPr>
            <a:lvl5pPr>
              <a:defRPr lang="en-US" sz="2000" kern="1200" dirty="0" smtClean="0">
                <a:solidFill>
                  <a:srgbClr val="FFFFFF"/>
                </a:solidFill>
                <a:latin typeface="Futura Bk" pitchFamily="34" charset="0"/>
                <a:ea typeface="+mn-ea"/>
                <a:cs typeface="+mn-cs"/>
              </a:defRPr>
            </a:lvl5pPr>
          </a:lstStyle>
          <a:p>
            <a:pPr lvl="0"/>
            <a:r>
              <a:rPr lang="en-US" dirty="0" smtClean="0"/>
              <a:t>Subtitle Placeholder Here</a:t>
            </a:r>
          </a:p>
        </p:txBody>
      </p:sp>
      <p:pic>
        <p:nvPicPr>
          <p:cNvPr id="6" name="Picture 2"/>
          <p:cNvPicPr>
            <a:picLocks noChangeAspect="1" noChangeArrowheads="1"/>
          </p:cNvPicPr>
          <p:nvPr userDrawn="1"/>
        </p:nvPicPr>
        <p:blipFill>
          <a:blip r:embed="rId2" cstate="print"/>
          <a:srcRect/>
          <a:stretch>
            <a:fillRect/>
          </a:stretch>
        </p:blipFill>
        <p:spPr bwMode="auto">
          <a:xfrm>
            <a:off x="8494823" y="4690872"/>
            <a:ext cx="401637" cy="301228"/>
          </a:xfrm>
          <a:prstGeom prst="rect">
            <a:avLst/>
          </a:prstGeom>
          <a:noFill/>
          <a:ln w="9525">
            <a:noFill/>
            <a:miter lim="800000"/>
            <a:headEnd/>
            <a:tailEnd/>
          </a:ln>
          <a:effectLst/>
        </p:spPr>
      </p:pic>
    </p:spTree>
    <p:extLst>
      <p:ext uri="{BB962C8B-B14F-4D97-AF65-F5344CB8AC3E}">
        <p14:creationId xmlns:p14="http://schemas.microsoft.com/office/powerpoint/2010/main" xmlns="" val="1779323888"/>
      </p:ext>
    </p:extLst>
  </p:cSld>
  <p:clrMapOvr>
    <a:masterClrMapping/>
  </p:clrMapOvr>
  <p:transition/>
  <p:timing>
    <p:tnLst>
      <p:par>
        <p:cTn id="1" dur="indefinite" restart="never" nodeType="tmRoot"/>
      </p:par>
    </p:tnLst>
  </p:timing>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1Line, Subtitle and Content">
    <p:spTree>
      <p:nvGrpSpPr>
        <p:cNvPr id="1" name=""/>
        <p:cNvGrpSpPr/>
        <p:nvPr/>
      </p:nvGrpSpPr>
      <p:grpSpPr>
        <a:xfrm>
          <a:off x="0" y="0"/>
          <a:ext cx="0" cy="0"/>
          <a:chOff x="0" y="0"/>
          <a:chExt cx="0" cy="0"/>
        </a:xfrm>
      </p:grpSpPr>
      <p:sp>
        <p:nvSpPr>
          <p:cNvPr id="13" name="Text Placeholder 12"/>
          <p:cNvSpPr>
            <a:spLocks noGrp="1"/>
          </p:cNvSpPr>
          <p:nvPr>
            <p:ph type="body" sz="quarter" idx="14" hasCustomPrompt="1"/>
          </p:nvPr>
        </p:nvSpPr>
        <p:spPr>
          <a:xfrm>
            <a:off x="358775" y="659629"/>
            <a:ext cx="8370380" cy="294965"/>
          </a:xfrm>
          <a:prstGeom prst="rect">
            <a:avLst/>
          </a:prstGeom>
        </p:spPr>
        <p:txBody>
          <a:bodyPr/>
          <a:lstStyle>
            <a:lvl1pPr marL="0" indent="0">
              <a:lnSpc>
                <a:spcPct val="100000"/>
              </a:lnSpc>
              <a:buNone/>
              <a:defRPr lang="en-US" sz="2000" kern="1200" dirty="0" smtClean="0">
                <a:solidFill>
                  <a:srgbClr val="7B7B79"/>
                </a:solidFill>
                <a:latin typeface="Futura Bk" pitchFamily="34" charset="0"/>
                <a:ea typeface="+mn-ea"/>
                <a:cs typeface="+mn-cs"/>
              </a:defRPr>
            </a:lvl1pPr>
            <a:lvl2pPr>
              <a:defRPr lang="en-US" sz="2000" kern="1200" dirty="0" smtClean="0">
                <a:solidFill>
                  <a:srgbClr val="FFFFFF"/>
                </a:solidFill>
                <a:latin typeface="Futura Bk" pitchFamily="34" charset="0"/>
                <a:ea typeface="+mn-ea"/>
                <a:cs typeface="+mn-cs"/>
              </a:defRPr>
            </a:lvl2pPr>
            <a:lvl3pPr>
              <a:defRPr lang="en-US" sz="2000" kern="1200" dirty="0" smtClean="0">
                <a:solidFill>
                  <a:srgbClr val="FFFFFF"/>
                </a:solidFill>
                <a:latin typeface="Futura Bk" pitchFamily="34" charset="0"/>
                <a:ea typeface="+mn-ea"/>
                <a:cs typeface="+mn-cs"/>
              </a:defRPr>
            </a:lvl3pPr>
            <a:lvl4pPr>
              <a:defRPr lang="en-US" sz="2000" kern="1200" dirty="0" smtClean="0">
                <a:solidFill>
                  <a:srgbClr val="FFFFFF"/>
                </a:solidFill>
                <a:latin typeface="Futura Bk" pitchFamily="34" charset="0"/>
                <a:ea typeface="+mn-ea"/>
                <a:cs typeface="+mn-cs"/>
              </a:defRPr>
            </a:lvl4pPr>
            <a:lvl5pPr>
              <a:defRPr lang="en-US" sz="2000" kern="1200" dirty="0" smtClean="0">
                <a:solidFill>
                  <a:srgbClr val="FFFFFF"/>
                </a:solidFill>
                <a:latin typeface="Futura Bk" pitchFamily="34" charset="0"/>
                <a:ea typeface="+mn-ea"/>
                <a:cs typeface="+mn-cs"/>
              </a:defRPr>
            </a:lvl5pPr>
          </a:lstStyle>
          <a:p>
            <a:pPr lvl="0"/>
            <a:r>
              <a:rPr lang="en-US" dirty="0" smtClean="0"/>
              <a:t>Subtitle Placeholder Here</a:t>
            </a:r>
          </a:p>
        </p:txBody>
      </p:sp>
      <p:sp>
        <p:nvSpPr>
          <p:cNvPr id="15" name="Title 8"/>
          <p:cNvSpPr>
            <a:spLocks noGrp="1"/>
          </p:cNvSpPr>
          <p:nvPr>
            <p:ph type="title" hasCustomPrompt="1"/>
          </p:nvPr>
        </p:nvSpPr>
        <p:spPr>
          <a:xfrm>
            <a:off x="339725" y="315491"/>
            <a:ext cx="8375650" cy="329803"/>
          </a:xfrm>
          <a:prstGeom prst="rect">
            <a:avLst/>
          </a:prstGeom>
        </p:spPr>
        <p:txBody>
          <a:bodyPr anchor="t" anchorCtr="0">
            <a:noAutofit/>
          </a:bodyPr>
          <a:lstStyle>
            <a:lvl1pPr marL="0" marR="0" indent="0" algn="l" defTabSz="914400" rtl="0" eaLnBrk="1" fontAlgn="auto" latinLnBrk="0" hangingPunct="1">
              <a:lnSpc>
                <a:spcPts val="3300"/>
              </a:lnSpc>
              <a:spcBef>
                <a:spcPct val="0"/>
              </a:spcBef>
              <a:spcAft>
                <a:spcPts val="0"/>
              </a:spcAft>
              <a:buClr>
                <a:srgbClr val="000000"/>
              </a:buClr>
              <a:buSzTx/>
              <a:buFontTx/>
              <a:buNone/>
              <a:tabLst/>
              <a:defRPr sz="3300" baseline="0">
                <a:solidFill>
                  <a:srgbClr val="000000"/>
                </a:solidFill>
                <a:latin typeface="Futura Bk" pitchFamily="34" charset="0"/>
              </a:defRPr>
            </a:lvl1pPr>
          </a:lstStyle>
          <a:p>
            <a:r>
              <a:rPr lang="en-US" dirty="0" smtClean="0"/>
              <a:t>SINGLE LINE TITLE</a:t>
            </a:r>
            <a:endParaRPr lang="en-US" dirty="0"/>
          </a:p>
        </p:txBody>
      </p:sp>
      <p:sp>
        <p:nvSpPr>
          <p:cNvPr id="14" name="Text Placeholder 26"/>
          <p:cNvSpPr>
            <a:spLocks noGrp="1"/>
          </p:cNvSpPr>
          <p:nvPr>
            <p:ph type="body" sz="quarter" idx="10"/>
          </p:nvPr>
        </p:nvSpPr>
        <p:spPr>
          <a:xfrm>
            <a:off x="365760" y="1147572"/>
            <a:ext cx="8348472" cy="3449574"/>
          </a:xfrm>
          <a:prstGeom prst="rect">
            <a:avLst/>
          </a:prstGeom>
        </p:spPr>
        <p:txBody>
          <a:bodyPr>
            <a:normAutofit/>
          </a:bodyPr>
          <a:lstStyle>
            <a:lvl1pPr>
              <a:lnSpc>
                <a:spcPct val="110000"/>
              </a:lnSpc>
              <a:spcBef>
                <a:spcPts val="1000"/>
              </a:spcBef>
              <a:buClr>
                <a:srgbClr val="000000"/>
              </a:buClr>
              <a:defRPr>
                <a:solidFill>
                  <a:srgbClr val="000000"/>
                </a:solidFill>
              </a:defRPr>
            </a:lvl1pPr>
            <a:lvl2pPr marL="342900" indent="-114300">
              <a:lnSpc>
                <a:spcPct val="110000"/>
              </a:lnSpc>
              <a:spcBef>
                <a:spcPts val="500"/>
              </a:spcBef>
              <a:buClr>
                <a:srgbClr val="000000"/>
              </a:buClr>
              <a:buSzPct val="80000"/>
              <a:buFont typeface="Arial" pitchFamily="34" charset="0"/>
              <a:buChar char="•"/>
              <a:defRPr>
                <a:solidFill>
                  <a:srgbClr val="000000"/>
                </a:solidFill>
              </a:defRPr>
            </a:lvl2pPr>
            <a:lvl3pPr marL="571500" indent="-168275">
              <a:lnSpc>
                <a:spcPct val="110000"/>
              </a:lnSpc>
              <a:spcBef>
                <a:spcPts val="400"/>
              </a:spcBef>
              <a:buClr>
                <a:srgbClr val="000000"/>
              </a:buClr>
              <a:buFont typeface="Futura Bk" pitchFamily="34" charset="0"/>
              <a:buChar char="−"/>
              <a:defRPr sz="1200">
                <a:solidFill>
                  <a:srgbClr val="000000"/>
                </a:solidFill>
              </a:defRPr>
            </a:lvl3pPr>
            <a:lvl4pPr marL="800100" indent="-114300">
              <a:lnSpc>
                <a:spcPct val="110000"/>
              </a:lnSpc>
              <a:spcBef>
                <a:spcPts val="400"/>
              </a:spcBef>
              <a:buClr>
                <a:srgbClr val="000000"/>
              </a:buClr>
              <a:buSzPct val="80000"/>
              <a:buFont typeface="Arial" pitchFamily="34" charset="0"/>
              <a:buChar char="•"/>
              <a:defRPr sz="1200">
                <a:solidFill>
                  <a:srgbClr val="000000"/>
                </a:solidFill>
              </a:defRPr>
            </a:lvl4pPr>
            <a:lvl5pPr marL="1028700" indent="-174625">
              <a:lnSpc>
                <a:spcPct val="110000"/>
              </a:lnSpc>
              <a:spcBef>
                <a:spcPts val="400"/>
              </a:spcBef>
              <a:buClr>
                <a:srgbClr val="000000"/>
              </a:buClr>
              <a:buFont typeface="Futura Bk" pitchFamily="34" charset="0"/>
              <a:buChar char="−"/>
              <a:defRPr sz="1200">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xmlns="" val="3691619789"/>
      </p:ext>
    </p:extLst>
  </p:cSld>
  <p:clrMapOvr>
    <a:masterClrMapping/>
  </p:clrMapOvr>
  <p:transition/>
  <p:timing>
    <p:tnLst>
      <p:par>
        <p:cTn id="1" dur="indefinite" restart="never" nodeType="tmRoot"/>
      </p:par>
    </p:tn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97883"/>
            <a:ext cx="7772400" cy="1102519"/>
          </a:xfrm>
          <a:prstGeom prst="rect">
            <a:avLst/>
          </a:prstGeom>
        </p:spPr>
        <p:txBody>
          <a:bodyPr>
            <a:normAutofit/>
          </a:bodyPr>
          <a:lstStyle>
            <a:lvl1pPr>
              <a:defRPr sz="44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8E0DEF91-63D7-405E-9535-99E1796A8B8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F73C24-D277-46A9-9806-5663364F55A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xmlns="" val="2256282350"/>
      </p:ext>
    </p:extLst>
  </p:cSld>
  <p:clrMapOvr>
    <a:masterClrMapping/>
  </p:clrMapOvr>
  <p:transition spd="med">
    <p:fade/>
  </p:transition>
  <p:timing>
    <p:tnLst>
      <p:par>
        <p:cTn id="1" dur="indefinite" restart="never" nodeType="tmRoot"/>
      </p:par>
    </p:tn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type="title" preserve="1">
  <p:cSld name="1_Title Slide">
    <p:bg>
      <p:bgRef idx="1002">
        <a:schemeClr val="bg1"/>
      </p:bgRef>
    </p:bg>
    <p:spTree>
      <p:nvGrpSpPr>
        <p:cNvPr id="1" name=""/>
        <p:cNvGrpSpPr/>
        <p:nvPr/>
      </p:nvGrpSpPr>
      <p:grpSpPr>
        <a:xfrm>
          <a:off x="0" y="0"/>
          <a:ext cx="0" cy="0"/>
          <a:chOff x="0" y="0"/>
          <a:chExt cx="0" cy="0"/>
        </a:xfrm>
      </p:grpSpPr>
      <p:pic>
        <p:nvPicPr>
          <p:cNvPr id="4" name="Picture 7" descr="HP_D_RGB_M.png"/>
          <p:cNvPicPr>
            <a:picLocks noChangeAspect="1"/>
          </p:cNvPicPr>
          <p:nvPr userDrawn="1"/>
        </p:nvPicPr>
        <p:blipFill>
          <a:blip r:embed="rId2" cstate="print"/>
          <a:srcRect/>
          <a:stretch>
            <a:fillRect/>
          </a:stretch>
        </p:blipFill>
        <p:spPr bwMode="auto">
          <a:xfrm>
            <a:off x="6903088" y="661760"/>
            <a:ext cx="1517015" cy="1137761"/>
          </a:xfrm>
          <a:prstGeom prst="rect">
            <a:avLst/>
          </a:prstGeom>
          <a:noFill/>
          <a:ln w="9525">
            <a:noFill/>
            <a:miter lim="800000"/>
            <a:headEnd/>
            <a:tailEnd/>
          </a:ln>
        </p:spPr>
      </p:pic>
      <p:sp>
        <p:nvSpPr>
          <p:cNvPr id="2" name="Title 1"/>
          <p:cNvSpPr>
            <a:spLocks noGrp="1"/>
          </p:cNvSpPr>
          <p:nvPr>
            <p:ph type="ctrTitle"/>
          </p:nvPr>
        </p:nvSpPr>
        <p:spPr>
          <a:xfrm>
            <a:off x="685800" y="2097883"/>
            <a:ext cx="7772400" cy="1102519"/>
          </a:xfrm>
          <a:prstGeom prst="rect">
            <a:avLst/>
          </a:prstGeom>
        </p:spPr>
        <p:txBody>
          <a:bodyPr>
            <a:normAutofit/>
          </a:bodyPr>
          <a:lstStyle>
            <a:lvl1pPr>
              <a:defRPr sz="4400">
                <a:solidFill>
                  <a:schemeClr val="bg1"/>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pPr>
              <a:defRPr/>
            </a:pPr>
            <a:fld id="{75977A33-3B78-47F9-A063-6913D7750EC5}" type="datetime1">
              <a:rPr lang="en-US" smtClean="0">
                <a:solidFill>
                  <a:prstClr val="white">
                    <a:tint val="75000"/>
                  </a:prstClr>
                </a:solidFill>
              </a:rPr>
              <a:pPr>
                <a:defRPr/>
              </a:pPr>
              <a:t>11/16/2012</a:t>
            </a:fld>
            <a:endParaRPr lang="en-US" dirty="0">
              <a:solidFill>
                <a:prstClr val="white">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dirty="0" smtClean="0">
                <a:solidFill>
                  <a:prstClr val="white">
                    <a:tint val="75000"/>
                  </a:prstClr>
                </a:solidFill>
              </a:rPr>
              <a:t>© 2011 Hewlett-Packard Company - HP Confidential</a:t>
            </a:r>
            <a:endParaRPr lang="en-US" dirty="0">
              <a:solidFill>
                <a:prstClr val="white">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5536159-4EBC-4956-80D1-D691668E34FE}" type="slidenum">
              <a:rPr lang="en-US">
                <a:solidFill>
                  <a:prstClr val="white">
                    <a:tint val="75000"/>
                  </a:prstClr>
                </a:solidFill>
              </a:rPr>
              <a:pPr>
                <a:defRPr/>
              </a:pPr>
              <a:t>‹#›</a:t>
            </a:fld>
            <a:endParaRPr lang="en-US">
              <a:solidFill>
                <a:prstClr val="white">
                  <a:tint val="75000"/>
                </a:prstClr>
              </a:solidFill>
            </a:endParaRPr>
          </a:p>
        </p:txBody>
      </p:sp>
    </p:spTree>
    <p:extLst>
      <p:ext uri="{BB962C8B-B14F-4D97-AF65-F5344CB8AC3E}">
        <p14:creationId xmlns:p14="http://schemas.microsoft.com/office/powerpoint/2010/main" xmlns="" val="2705752944"/>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EA8BB888-0697-4350-8298-E0CD0DF9CFE6}"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5F75D6F-272E-4811-8F6B-E4C2FF79A0E7}"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1391369618"/>
      </p:ext>
    </p:extLst>
  </p:cSld>
  <p:clrMapOvr>
    <a:masterClrMapping/>
  </p:clrMapOvr>
  <p:transition spd="med">
    <p:fade/>
  </p:transition>
  <p:timing>
    <p:tnLst>
      <p:par>
        <p:cTn id="1" dur="indefinite" restart="never" nodeType="tmRoot"/>
      </p:par>
    </p:tn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a:prstGeom prst="rect">
            <a:avLst/>
          </a:prstGeom>
        </p:spPr>
        <p:txBody>
          <a:bodyPr>
            <a:normAutofit/>
          </a:bodyPr>
          <a:lstStyle>
            <a:lvl1pPr>
              <a:defRPr sz="2000" b="1"/>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000" b="1"/>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B9C4FF6E-1DEC-4D9C-895F-280C75CCD1F8}"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D584C529-9E14-40CB-AFDB-171441510948}"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832009119"/>
      </p:ext>
    </p:extLst>
  </p:cSld>
  <p:clrMapOvr>
    <a:masterClrMapping/>
  </p:clrMapOvr>
  <p:transition spd="med">
    <p:fade/>
  </p:transition>
  <p:timing>
    <p:tnLst>
      <p:par>
        <p:cTn id="1" dur="indefinite" restart="never" nodeType="tmRoot"/>
      </p:par>
    </p:tnLst>
  </p:timing>
</p:sldLayout>
</file>

<file path=ppt/slideLayouts/slideLayout1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8" y="1151335"/>
            <a:ext cx="4041775" cy="479822"/>
          </a:xfrm>
          <a:prstGeom prst="rect">
            <a:avLst/>
          </a:prstGeo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8" y="1631156"/>
            <a:ext cx="4041775" cy="2963466"/>
          </a:xfrm>
          <a:prstGeom prst="rect">
            <a:avLst/>
          </a:prstGeo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8" name="Date Placeholder 3"/>
          <p:cNvSpPr>
            <a:spLocks noGrp="1"/>
          </p:cNvSpPr>
          <p:nvPr>
            <p:ph type="dt" sz="half" idx="11"/>
          </p:nvPr>
        </p:nvSpPr>
        <p:spPr/>
        <p:txBody>
          <a:bodyPr/>
          <a:lstStyle>
            <a:lvl1pPr>
              <a:defRPr/>
            </a:lvl1pPr>
          </a:lstStyle>
          <a:p>
            <a:pPr>
              <a:defRPr/>
            </a:pPr>
            <a:fld id="{A040D6B0-E7A3-4EDB-AE76-A681F5EBB97E}"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CE108263-9A77-4E1A-9184-293EEEFA79C0}"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06178424"/>
      </p:ext>
    </p:extLst>
  </p:cSld>
  <p:clrMapOvr>
    <a:masterClrMapping/>
  </p:clrMapOvr>
  <p:transition spd="med">
    <p:fade/>
  </p:transition>
  <p:timing>
    <p:tnLst>
      <p:par>
        <p:cTn id="1" dur="indefinite" restart="never" nodeType="tmRoot"/>
      </p:par>
    </p:tnLst>
  </p:timing>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4" name="Date Placeholder 3"/>
          <p:cNvSpPr>
            <a:spLocks noGrp="1"/>
          </p:cNvSpPr>
          <p:nvPr>
            <p:ph type="dt" sz="half" idx="11"/>
          </p:nvPr>
        </p:nvSpPr>
        <p:spPr/>
        <p:txBody>
          <a:bodyPr/>
          <a:lstStyle>
            <a:lvl1pPr>
              <a:defRPr/>
            </a:lvl1pPr>
          </a:lstStyle>
          <a:p>
            <a:pPr>
              <a:defRPr/>
            </a:pPr>
            <a:fld id="{B4927C7E-EBDA-42F6-8B62-59C143241654}"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28E1C2A3-9072-4F9E-9CE1-76C6EAC3B0F1}"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458334965"/>
      </p:ext>
    </p:extLst>
  </p:cSld>
  <p:clrMapOvr>
    <a:masterClrMapping/>
  </p:clrMapOvr>
  <p:transition spd="med">
    <p:fade/>
  </p:transition>
  <p:timing>
    <p:tnLst>
      <p:par>
        <p:cTn id="1" dur="indefinite" restart="never" nodeType="tmRoot"/>
      </p:par>
    </p:tnLst>
  </p:timing>
</p:sldLayout>
</file>

<file path=ppt/slideLayouts/slideLayout1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7CA02831-9FCC-49D9-AFEE-B22EA5F9AF42}"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431571E2-899E-4F5A-BAD5-50AB52FB4C76}"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222597269"/>
      </p:ext>
    </p:extLst>
  </p:cSld>
  <p:clrMapOvr>
    <a:masterClrMapping/>
  </p:clrMapOvr>
  <p:transition spd="med">
    <p:fade/>
  </p:transition>
  <p:timing>
    <p:tnLst>
      <p:par>
        <p:cTn id="1" dur="indefinite" restart="never" nodeType="tmRoot"/>
      </p:par>
    </p:tnLst>
  </p:timing>
</p:sldLayout>
</file>

<file path=ppt/slideLayouts/slideLayout17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3" name="Date Placeholder 3"/>
          <p:cNvSpPr>
            <a:spLocks noGrp="1"/>
          </p:cNvSpPr>
          <p:nvPr>
            <p:ph type="dt" sz="half" idx="11"/>
          </p:nvPr>
        </p:nvSpPr>
        <p:spPr/>
        <p:txBody>
          <a:bodyPr/>
          <a:lstStyle>
            <a:lvl1pPr>
              <a:defRPr/>
            </a:lvl1pPr>
          </a:lstStyle>
          <a:p>
            <a:pPr>
              <a:defRPr/>
            </a:pPr>
            <a:fld id="{DF6E525E-7FA1-4430-805F-C8E0A53A470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39ECFAF0-4CA5-42E1-A53C-4310B5D91692}"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340995074"/>
      </p:ext>
    </p:extLst>
  </p:cSld>
  <p:clrMapOvr>
    <a:masterClrMapping/>
  </p:clrMapOvr>
  <p:transition spd="med">
    <p:fade/>
  </p:transition>
  <p:timing>
    <p:tnLst>
      <p:par>
        <p:cTn id="1" dur="indefinite" restart="never" nodeType="tmRoot"/>
      </p:par>
    </p:tnLst>
  </p:timing>
</p:sldLayout>
</file>

<file path=ppt/slideLayouts/slideLayout1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6" name="Date Placeholder 3"/>
          <p:cNvSpPr>
            <a:spLocks noGrp="1"/>
          </p:cNvSpPr>
          <p:nvPr>
            <p:ph type="dt" sz="half" idx="11"/>
          </p:nvPr>
        </p:nvSpPr>
        <p:spPr/>
        <p:txBody>
          <a:bodyPr/>
          <a:lstStyle>
            <a:lvl1pPr>
              <a:defRPr/>
            </a:lvl1pPr>
          </a:lstStyle>
          <a:p>
            <a:pPr>
              <a:defRPr/>
            </a:pPr>
            <a:fld id="{1D2F5AC4-199A-4D08-AC6A-8BB9C2442853}"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BE66F2-AE08-498A-B6F7-6BC61C51D6BA}"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183425405"/>
      </p:ext>
    </p:extLst>
  </p:cSld>
  <p:clrMapOvr>
    <a:masterClrMapping/>
  </p:clrMapOvr>
  <p:transition spd="med">
    <p:fade/>
  </p:transition>
  <p:timing>
    <p:tnLst>
      <p:par>
        <p:cTn id="1" dur="indefinite" restart="never" nodeType="tmRoot"/>
      </p:par>
    </p:tn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ADC08C04-2700-4591-B9A1-0E946CDCA8AA}"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D9E06965-FC6A-4994-BB99-54525802177E}" type="slidenum">
              <a:rPr lang="en-US">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xmlns="" val="2877913518"/>
      </p:ext>
    </p:extLst>
  </p:cSld>
  <p:clrMapOvr>
    <a:masterClrMapping/>
  </p:clrMapOvr>
  <p:transition spd="med">
    <p:fade/>
  </p:transition>
  <p:timing>
    <p:tnLst>
      <p:par>
        <p:cTn id="1" dur="indefinite" restart="never" nodeType="tmRoot"/>
      </p:par>
    </p:tnLst>
  </p:timing>
</p:sldLayout>
</file>

<file path=ppt/slideLayouts/slideLayout1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Footer Placeholder 4"/>
          <p:cNvSpPr>
            <a:spLocks noGrp="1"/>
          </p:cNvSpPr>
          <p:nvPr>
            <p:ph type="ftr" sz="quarter" idx="10"/>
          </p:nvPr>
        </p:nvSpPr>
        <p:spPr>
          <a:xfrm>
            <a:off x="0" y="4763691"/>
            <a:ext cx="9144000" cy="273844"/>
          </a:xfrm>
        </p:spPr>
        <p:txBody>
          <a:bodyPr/>
          <a:lstStyle>
            <a:lvl1pPr>
              <a:defRPr/>
            </a:lvl1pPr>
          </a:lstStyle>
          <a:p>
            <a:pPr>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5" name="Date Placeholder 3"/>
          <p:cNvSpPr>
            <a:spLocks noGrp="1"/>
          </p:cNvSpPr>
          <p:nvPr>
            <p:ph type="dt" sz="half" idx="11"/>
          </p:nvPr>
        </p:nvSpPr>
        <p:spPr/>
        <p:txBody>
          <a:bodyPr/>
          <a:lstStyle>
            <a:lvl1pPr>
              <a:defRPr/>
            </a:lvl1pPr>
          </a:lstStyle>
          <a:p>
            <a:pPr>
              <a:defRPr/>
            </a:pPr>
            <a:fld id="{F92ECE36-7098-4256-9B89-F25D8DB1A1FB}" type="datetime1">
              <a:rPr lang="en-US" smtClean="0">
                <a:solidFill>
                  <a:prstClr val="black">
                    <a:tint val="75000"/>
                  </a:prstClr>
                </a:solidFill>
              </a:rPr>
              <a:pPr>
                <a:defRPr/>
              </a:pPr>
              <a:t>11/16/2012</a:t>
            </a:fld>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EFAF554F-BB91-4BBC-A556-A67D02F08C7A}"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xmlns="" val="1131091729"/>
      </p:ext>
    </p:extLst>
  </p:cSld>
  <p:clrMapOvr>
    <a:masterClrMapping/>
  </p:clrMapOvr>
  <p:transition spd="med">
    <p:fade/>
  </p:transition>
  <p:timing>
    <p:tnLst>
      <p:par>
        <p:cTn id="1" dur="indefinite" restart="never" nodeType="tmRoot"/>
      </p:par>
    </p:tnLst>
  </p:timing>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Title Slide Blue">
    <p:bg>
      <p:bgPr>
        <a:solidFill>
          <a:schemeClr val="tx1"/>
        </a:solidFill>
        <a:effectLst/>
      </p:bgPr>
    </p:bg>
    <p:spTree>
      <p:nvGrpSpPr>
        <p:cNvPr id="1" name=""/>
        <p:cNvGrpSpPr/>
        <p:nvPr/>
      </p:nvGrpSpPr>
      <p:grpSpPr>
        <a:xfrm>
          <a:off x="0" y="0"/>
          <a:ext cx="0" cy="0"/>
          <a:chOff x="0" y="0"/>
          <a:chExt cx="0" cy="0"/>
        </a:xfrm>
      </p:grpSpPr>
      <p:sp>
        <p:nvSpPr>
          <p:cNvPr id="5" name="TextBox 4"/>
          <p:cNvSpPr txBox="1"/>
          <p:nvPr userDrawn="1"/>
        </p:nvSpPr>
        <p:spPr bwMode="gray">
          <a:xfrm>
            <a:off x="365125" y="4849417"/>
            <a:ext cx="3943350" cy="200055"/>
          </a:xfrm>
          <a:prstGeom prst="rect">
            <a:avLst/>
          </a:prstGeom>
          <a:noFill/>
        </p:spPr>
        <p:txBody>
          <a:bodyPr>
            <a:spAutoFit/>
          </a:bodyPr>
          <a:lstStyle/>
          <a:p>
            <a:pPr defTabSz="914400" fontAlgn="base">
              <a:spcBef>
                <a:spcPct val="0"/>
              </a:spcBef>
              <a:spcAft>
                <a:spcPct val="0"/>
              </a:spcAft>
              <a:defRPr/>
            </a:pPr>
            <a:r>
              <a:rPr lang="en-US" sz="700" dirty="0">
                <a:solidFill>
                  <a:srgbClr val="196EA3"/>
                </a:solidFill>
                <a:latin typeface="Futura Bk" pitchFamily="34" charset="0"/>
              </a:rPr>
              <a:t>©2009 HP Confidential</a:t>
            </a:r>
          </a:p>
        </p:txBody>
      </p:sp>
      <p:pic>
        <p:nvPicPr>
          <p:cNvPr id="6" name="Picture 7"/>
          <p:cNvPicPr>
            <a:picLocks noChangeAspect="1" noChangeArrowheads="1"/>
          </p:cNvPicPr>
          <p:nvPr userDrawn="1"/>
        </p:nvPicPr>
        <p:blipFill>
          <a:blip r:embed="rId2" cstate="print"/>
          <a:srcRect r="7471" b="6709"/>
          <a:stretch>
            <a:fillRect/>
          </a:stretch>
        </p:blipFill>
        <p:spPr bwMode="auto">
          <a:xfrm>
            <a:off x="7994650" y="1453754"/>
            <a:ext cx="1149350" cy="3689747"/>
          </a:xfrm>
          <a:prstGeom prst="rect">
            <a:avLst/>
          </a:prstGeom>
          <a:noFill/>
          <a:ln w="9525">
            <a:noFill/>
            <a:miter lim="800000"/>
            <a:headEnd/>
            <a:tailEnd/>
          </a:ln>
        </p:spPr>
      </p:pic>
      <p:sp>
        <p:nvSpPr>
          <p:cNvPr id="3" name="Subtitle 2"/>
          <p:cNvSpPr>
            <a:spLocks noGrp="1"/>
          </p:cNvSpPr>
          <p:nvPr>
            <p:ph type="subTitle" idx="1"/>
          </p:nvPr>
        </p:nvSpPr>
        <p:spPr bwMode="black">
          <a:xfrm>
            <a:off x="357089" y="3799046"/>
            <a:ext cx="6400800" cy="701763"/>
          </a:xfrm>
          <a:prstGeom prst="rect">
            <a:avLst/>
          </a:prstGeom>
        </p:spPr>
        <p:txBody>
          <a:bodyPr anchor="b">
            <a:noAutofit/>
          </a:bodyPr>
          <a:lstStyle>
            <a:lvl1pPr marL="0" marR="0" indent="0" algn="l" defTabSz="914400" rtl="0" eaLnBrk="1" fontAlgn="auto" latinLnBrk="0" hangingPunct="1">
              <a:lnSpc>
                <a:spcPct val="120000"/>
              </a:lnSpc>
              <a:spcBef>
                <a:spcPts val="0"/>
              </a:spcBef>
              <a:spcAft>
                <a:spcPts val="0"/>
              </a:spcAft>
              <a:buClrTx/>
              <a:buSzPct val="100000"/>
              <a:buFontTx/>
              <a:buNone/>
              <a:tabLst/>
              <a:defRPr sz="1500">
                <a:solidFill>
                  <a:schemeClr val="bg1"/>
                </a:solidFill>
                <a:latin typeface="Futura Bk"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smtClean="0"/>
          </a:p>
        </p:txBody>
      </p:sp>
      <p:sp>
        <p:nvSpPr>
          <p:cNvPr id="11" name="Title 10"/>
          <p:cNvSpPr>
            <a:spLocks noGrp="1"/>
          </p:cNvSpPr>
          <p:nvPr>
            <p:ph type="title"/>
          </p:nvPr>
        </p:nvSpPr>
        <p:spPr bwMode="black">
          <a:xfrm>
            <a:off x="929640" y="2069307"/>
            <a:ext cx="7274560" cy="988218"/>
          </a:xfrm>
          <a:prstGeom prst="rect">
            <a:avLst/>
          </a:prstGeom>
        </p:spPr>
        <p:txBody>
          <a:bodyPr/>
          <a:lstStyle>
            <a:lvl1pPr algn="ctr">
              <a:lnSpc>
                <a:spcPts val="4000"/>
              </a:lnSpc>
              <a:defRPr sz="4000">
                <a:solidFill>
                  <a:schemeClr val="bg1"/>
                </a:solidFill>
              </a:defRPr>
            </a:lvl1pPr>
          </a:lstStyle>
          <a:p>
            <a:r>
              <a:rPr lang="en-US" smtClean="0"/>
              <a:t>Click to edit Master title style</a:t>
            </a:r>
            <a:endParaRPr lang="en-US" dirty="0"/>
          </a:p>
        </p:txBody>
      </p:sp>
    </p:spTree>
    <p:extLst>
      <p:ext uri="{BB962C8B-B14F-4D97-AF65-F5344CB8AC3E}">
        <p14:creationId xmlns:p14="http://schemas.microsoft.com/office/powerpoint/2010/main" xmlns="" val="3705611134"/>
      </p:ext>
    </p:extLst>
  </p:cSld>
  <p:clrMapOvr>
    <a:masterClrMapping/>
  </p:clrMapOvr>
  <p:transition spd="med">
    <p:fade/>
  </p:transition>
  <p:timing>
    <p:tnLst>
      <p:par>
        <p:cTn id="1" dur="indefinite" restart="never" nodeType="tmRoot"/>
      </p:par>
    </p:tnLst>
  </p:timing>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標題投影片">
    <p:spTree>
      <p:nvGrpSpPr>
        <p:cNvPr id="1" name=""/>
        <p:cNvGrpSpPr/>
        <p:nvPr/>
      </p:nvGrpSpPr>
      <p:grpSpPr>
        <a:xfrm>
          <a:off x="0" y="0"/>
          <a:ext cx="0" cy="0"/>
          <a:chOff x="0" y="0"/>
          <a:chExt cx="0" cy="0"/>
        </a:xfrm>
      </p:grpSpPr>
      <p:pic>
        <p:nvPicPr>
          <p:cNvPr id="2" name="Picture 26" descr="02"/>
          <p:cNvPicPr>
            <a:picLocks noChangeAspect="1" noChangeArrowheads="1"/>
          </p:cNvPicPr>
          <p:nvPr userDrawn="1"/>
        </p:nvPicPr>
        <p:blipFill>
          <a:blip r:embed="rId2" cstate="print"/>
          <a:srcRect/>
          <a:stretch>
            <a:fillRect/>
          </a:stretch>
        </p:blipFill>
        <p:spPr bwMode="auto">
          <a:xfrm>
            <a:off x="0" y="0"/>
            <a:ext cx="9144000" cy="1122760"/>
          </a:xfrm>
          <a:prstGeom prst="rect">
            <a:avLst/>
          </a:prstGeom>
          <a:noFill/>
          <a:ln w="9525">
            <a:noFill/>
            <a:miter lim="800000"/>
            <a:headEnd/>
            <a:tailEnd/>
          </a:ln>
        </p:spPr>
      </p:pic>
      <p:pic>
        <p:nvPicPr>
          <p:cNvPr id="3" name="Picture 21" descr="LOGO"/>
          <p:cNvPicPr>
            <a:picLocks noChangeAspect="1" noChangeArrowheads="1"/>
          </p:cNvPicPr>
          <p:nvPr userDrawn="1"/>
        </p:nvPicPr>
        <p:blipFill>
          <a:blip r:embed="rId3" cstate="print"/>
          <a:srcRect/>
          <a:stretch>
            <a:fillRect/>
          </a:stretch>
        </p:blipFill>
        <p:spPr bwMode="auto">
          <a:xfrm>
            <a:off x="7567613" y="4819651"/>
            <a:ext cx="1460500" cy="214313"/>
          </a:xfrm>
          <a:prstGeom prst="rect">
            <a:avLst/>
          </a:prstGeom>
          <a:noFill/>
          <a:ln w="9525">
            <a:noFill/>
            <a:miter lim="800000"/>
            <a:headEnd/>
            <a:tailEnd/>
          </a:ln>
        </p:spPr>
      </p:pic>
      <p:sp>
        <p:nvSpPr>
          <p:cNvPr id="4" name="Rectangle 27"/>
          <p:cNvSpPr>
            <a:spLocks noChangeArrowheads="1"/>
          </p:cNvSpPr>
          <p:nvPr userDrawn="1"/>
        </p:nvSpPr>
        <p:spPr bwMode="auto">
          <a:xfrm>
            <a:off x="196851" y="4836320"/>
            <a:ext cx="1495425" cy="165497"/>
          </a:xfrm>
          <a:prstGeom prst="rect">
            <a:avLst/>
          </a:prstGeom>
          <a:noFill/>
          <a:ln w="9525">
            <a:noFill/>
            <a:miter lim="800000"/>
            <a:headEnd/>
            <a:tailEnd/>
          </a:ln>
          <a:effectLst/>
        </p:spPr>
        <p:txBody>
          <a:bodyPr/>
          <a:lstStyle/>
          <a:p>
            <a:pPr algn="ctr" defTabSz="914400" fontAlgn="base">
              <a:spcBef>
                <a:spcPct val="0"/>
              </a:spcBef>
              <a:spcAft>
                <a:spcPct val="0"/>
              </a:spcAft>
            </a:pPr>
            <a:r>
              <a:rPr lang="en-US" altLang="zh-CN" sz="1200">
                <a:solidFill>
                  <a:srgbClr val="00506E"/>
                </a:solidFill>
                <a:latin typeface="Helvetica 55 Roman" pitchFamily="34" charset="0"/>
              </a:rPr>
              <a:t>SFCS instruction</a:t>
            </a:r>
            <a:endParaRPr lang="en-US" altLang="zh-TW" sz="1200">
              <a:solidFill>
                <a:srgbClr val="00506E"/>
              </a:solidFill>
              <a:latin typeface="Arial" charset="0"/>
            </a:endParaRPr>
          </a:p>
        </p:txBody>
      </p:sp>
    </p:spTree>
    <p:extLst>
      <p:ext uri="{BB962C8B-B14F-4D97-AF65-F5344CB8AC3E}">
        <p14:creationId xmlns:p14="http://schemas.microsoft.com/office/powerpoint/2010/main" xmlns="" val="662646801"/>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2Line, with Subtitle">
    <p:spTree>
      <p:nvGrpSpPr>
        <p:cNvPr id="1" name=""/>
        <p:cNvGrpSpPr/>
        <p:nvPr/>
      </p:nvGrpSpPr>
      <p:grpSpPr>
        <a:xfrm>
          <a:off x="0" y="0"/>
          <a:ext cx="0" cy="0"/>
          <a:chOff x="0" y="0"/>
          <a:chExt cx="0" cy="0"/>
        </a:xfrm>
      </p:grpSpPr>
      <p:sp>
        <p:nvSpPr>
          <p:cNvPr id="18" name="Title 8"/>
          <p:cNvSpPr>
            <a:spLocks noGrp="1"/>
          </p:cNvSpPr>
          <p:nvPr>
            <p:ph type="title" hasCustomPrompt="1"/>
          </p:nvPr>
        </p:nvSpPr>
        <p:spPr>
          <a:xfrm>
            <a:off x="341313" y="315518"/>
            <a:ext cx="8375650" cy="656033"/>
          </a:xfrm>
          <a:prstGeom prst="rect">
            <a:avLst/>
          </a:prstGeom>
        </p:spPr>
        <p:txBody>
          <a:bodyPr anchor="t" anchorCtr="0">
            <a:noAutofit/>
          </a:bodyPr>
          <a:lstStyle>
            <a:lvl1pPr marL="0" marR="0" indent="0" algn="l" defTabSz="914400" rtl="0" eaLnBrk="1" fontAlgn="auto" latinLnBrk="0" hangingPunct="1">
              <a:lnSpc>
                <a:spcPts val="3300"/>
              </a:lnSpc>
              <a:spcBef>
                <a:spcPct val="0"/>
              </a:spcBef>
              <a:spcAft>
                <a:spcPts val="0"/>
              </a:spcAft>
              <a:buClrTx/>
              <a:buSzTx/>
              <a:buFontTx/>
              <a:buNone/>
              <a:tabLst/>
              <a:defRPr sz="3300" baseline="0">
                <a:solidFill>
                  <a:srgbClr val="000000"/>
                </a:solidFill>
                <a:latin typeface="Futura Bk" pitchFamily="34" charset="0"/>
              </a:defRPr>
            </a:lvl1pPr>
          </a:lstStyle>
          <a:p>
            <a:r>
              <a:rPr lang="en-US" dirty="0" smtClean="0"/>
              <a:t>DOUBLE LINE TITLE</a:t>
            </a:r>
            <a:br>
              <a:rPr lang="en-US" dirty="0" smtClean="0"/>
            </a:br>
            <a:r>
              <a:rPr lang="en-US" dirty="0" smtClean="0"/>
              <a:t>FOR ADDED CONTENT</a:t>
            </a:r>
            <a:endParaRPr lang="en-US" dirty="0"/>
          </a:p>
        </p:txBody>
      </p:sp>
      <p:sp>
        <p:nvSpPr>
          <p:cNvPr id="19" name="Text Placeholder 12"/>
          <p:cNvSpPr>
            <a:spLocks noGrp="1"/>
          </p:cNvSpPr>
          <p:nvPr>
            <p:ph type="body" sz="quarter" idx="14" hasCustomPrompt="1"/>
          </p:nvPr>
        </p:nvSpPr>
        <p:spPr>
          <a:xfrm>
            <a:off x="358775" y="971551"/>
            <a:ext cx="8370380" cy="294965"/>
          </a:xfrm>
          <a:prstGeom prst="rect">
            <a:avLst/>
          </a:prstGeom>
        </p:spPr>
        <p:txBody>
          <a:bodyPr/>
          <a:lstStyle>
            <a:lvl1pPr marL="0" indent="0">
              <a:lnSpc>
                <a:spcPct val="100000"/>
              </a:lnSpc>
              <a:buNone/>
              <a:defRPr lang="en-US" sz="2000" kern="1200" dirty="0" smtClean="0">
                <a:solidFill>
                  <a:srgbClr val="7B7B79"/>
                </a:solidFill>
                <a:latin typeface="Futura Bk" pitchFamily="34" charset="0"/>
                <a:ea typeface="+mn-ea"/>
                <a:cs typeface="+mn-cs"/>
              </a:defRPr>
            </a:lvl1pPr>
            <a:lvl2pPr>
              <a:defRPr lang="en-US" sz="2000" kern="1200" dirty="0" smtClean="0">
                <a:solidFill>
                  <a:srgbClr val="FFFFFF"/>
                </a:solidFill>
                <a:latin typeface="Futura Bk" pitchFamily="34" charset="0"/>
                <a:ea typeface="+mn-ea"/>
                <a:cs typeface="+mn-cs"/>
              </a:defRPr>
            </a:lvl2pPr>
            <a:lvl3pPr>
              <a:defRPr lang="en-US" sz="2000" kern="1200" dirty="0" smtClean="0">
                <a:solidFill>
                  <a:srgbClr val="FFFFFF"/>
                </a:solidFill>
                <a:latin typeface="Futura Bk" pitchFamily="34" charset="0"/>
                <a:ea typeface="+mn-ea"/>
                <a:cs typeface="+mn-cs"/>
              </a:defRPr>
            </a:lvl3pPr>
            <a:lvl4pPr>
              <a:defRPr lang="en-US" sz="2000" kern="1200" dirty="0" smtClean="0">
                <a:solidFill>
                  <a:srgbClr val="FFFFFF"/>
                </a:solidFill>
                <a:latin typeface="Futura Bk" pitchFamily="34" charset="0"/>
                <a:ea typeface="+mn-ea"/>
                <a:cs typeface="+mn-cs"/>
              </a:defRPr>
            </a:lvl4pPr>
            <a:lvl5pPr>
              <a:defRPr lang="en-US" sz="2000" kern="1200" dirty="0" smtClean="0">
                <a:solidFill>
                  <a:srgbClr val="FFFFFF"/>
                </a:solidFill>
                <a:latin typeface="Futura Bk" pitchFamily="34" charset="0"/>
                <a:ea typeface="+mn-ea"/>
                <a:cs typeface="+mn-cs"/>
              </a:defRPr>
            </a:lvl5pPr>
          </a:lstStyle>
          <a:p>
            <a:pPr lvl="0"/>
            <a:r>
              <a:rPr lang="en-US" dirty="0" smtClean="0"/>
              <a:t>Subtitle Placeholder Here</a:t>
            </a:r>
          </a:p>
        </p:txBody>
      </p:sp>
      <p:pic>
        <p:nvPicPr>
          <p:cNvPr id="6" name="Picture 2"/>
          <p:cNvPicPr>
            <a:picLocks noChangeAspect="1" noChangeArrowheads="1"/>
          </p:cNvPicPr>
          <p:nvPr userDrawn="1"/>
        </p:nvPicPr>
        <p:blipFill>
          <a:blip r:embed="rId2" cstate="print"/>
          <a:srcRect/>
          <a:stretch>
            <a:fillRect/>
          </a:stretch>
        </p:blipFill>
        <p:spPr bwMode="auto">
          <a:xfrm>
            <a:off x="8494779" y="4690872"/>
            <a:ext cx="401637" cy="301228"/>
          </a:xfrm>
          <a:prstGeom prst="rect">
            <a:avLst/>
          </a:prstGeom>
          <a:noFill/>
          <a:ln w="9525">
            <a:noFill/>
            <a:miter lim="800000"/>
            <a:headEnd/>
            <a:tailEnd/>
          </a:ln>
          <a:effectLst/>
        </p:spPr>
      </p:pic>
    </p:spTree>
    <p:extLst>
      <p:ext uri="{BB962C8B-B14F-4D97-AF65-F5344CB8AC3E}">
        <p14:creationId xmlns:p14="http://schemas.microsoft.com/office/powerpoint/2010/main" xmlns="" val="2915848205"/>
      </p:ext>
    </p:extLst>
  </p:cSld>
  <p:clrMapOvr>
    <a:masterClrMapping/>
  </p:clrMapOvr>
  <p:transition/>
  <p:timing>
    <p:tnLst>
      <p:par>
        <p:cTn id="1" dur="indefinite" restart="never" nodeType="tmRoot"/>
      </p:par>
    </p:tnLst>
  </p:timing>
</p:sldLayout>
</file>

<file path=ppt/slideLayouts/slideLayout183.xml><?xml version="1.0" encoding="utf-8"?>
<p:sldLayout xmlns:a="http://schemas.openxmlformats.org/drawingml/2006/main" xmlns:r="http://schemas.openxmlformats.org/officeDocument/2006/relationships" xmlns:p="http://schemas.openxmlformats.org/presentationml/2006/main" userDrawn="1">
  <p:cSld name="1Line, Subtitle and Content">
    <p:spTree>
      <p:nvGrpSpPr>
        <p:cNvPr id="1" name=""/>
        <p:cNvGrpSpPr/>
        <p:nvPr/>
      </p:nvGrpSpPr>
      <p:grpSpPr>
        <a:xfrm>
          <a:off x="0" y="0"/>
          <a:ext cx="0" cy="0"/>
          <a:chOff x="0" y="0"/>
          <a:chExt cx="0" cy="0"/>
        </a:xfrm>
      </p:grpSpPr>
      <p:sp>
        <p:nvSpPr>
          <p:cNvPr id="13" name="Text Placeholder 12"/>
          <p:cNvSpPr>
            <a:spLocks noGrp="1"/>
          </p:cNvSpPr>
          <p:nvPr>
            <p:ph type="body" sz="quarter" idx="14" hasCustomPrompt="1"/>
          </p:nvPr>
        </p:nvSpPr>
        <p:spPr>
          <a:xfrm>
            <a:off x="358775" y="659607"/>
            <a:ext cx="8370380" cy="294965"/>
          </a:xfrm>
          <a:prstGeom prst="rect">
            <a:avLst/>
          </a:prstGeom>
        </p:spPr>
        <p:txBody>
          <a:bodyPr/>
          <a:lstStyle>
            <a:lvl1pPr marL="0" indent="0">
              <a:lnSpc>
                <a:spcPct val="100000"/>
              </a:lnSpc>
              <a:buNone/>
              <a:defRPr lang="en-US" sz="2000" kern="1200" dirty="0" smtClean="0">
                <a:solidFill>
                  <a:srgbClr val="7B7B79"/>
                </a:solidFill>
                <a:latin typeface="Futura Bk" pitchFamily="34" charset="0"/>
                <a:ea typeface="+mn-ea"/>
                <a:cs typeface="+mn-cs"/>
              </a:defRPr>
            </a:lvl1pPr>
            <a:lvl2pPr>
              <a:defRPr lang="en-US" sz="2000" kern="1200" dirty="0" smtClean="0">
                <a:solidFill>
                  <a:srgbClr val="FFFFFF"/>
                </a:solidFill>
                <a:latin typeface="Futura Bk" pitchFamily="34" charset="0"/>
                <a:ea typeface="+mn-ea"/>
                <a:cs typeface="+mn-cs"/>
              </a:defRPr>
            </a:lvl2pPr>
            <a:lvl3pPr>
              <a:defRPr lang="en-US" sz="2000" kern="1200" dirty="0" smtClean="0">
                <a:solidFill>
                  <a:srgbClr val="FFFFFF"/>
                </a:solidFill>
                <a:latin typeface="Futura Bk" pitchFamily="34" charset="0"/>
                <a:ea typeface="+mn-ea"/>
                <a:cs typeface="+mn-cs"/>
              </a:defRPr>
            </a:lvl3pPr>
            <a:lvl4pPr>
              <a:defRPr lang="en-US" sz="2000" kern="1200" dirty="0" smtClean="0">
                <a:solidFill>
                  <a:srgbClr val="FFFFFF"/>
                </a:solidFill>
                <a:latin typeface="Futura Bk" pitchFamily="34" charset="0"/>
                <a:ea typeface="+mn-ea"/>
                <a:cs typeface="+mn-cs"/>
              </a:defRPr>
            </a:lvl4pPr>
            <a:lvl5pPr>
              <a:defRPr lang="en-US" sz="2000" kern="1200" dirty="0" smtClean="0">
                <a:solidFill>
                  <a:srgbClr val="FFFFFF"/>
                </a:solidFill>
                <a:latin typeface="Futura Bk" pitchFamily="34" charset="0"/>
                <a:ea typeface="+mn-ea"/>
                <a:cs typeface="+mn-cs"/>
              </a:defRPr>
            </a:lvl5pPr>
          </a:lstStyle>
          <a:p>
            <a:pPr lvl="0"/>
            <a:r>
              <a:rPr lang="en-US" dirty="0" smtClean="0"/>
              <a:t>Subtitle Placeholder Here</a:t>
            </a:r>
          </a:p>
        </p:txBody>
      </p:sp>
      <p:sp>
        <p:nvSpPr>
          <p:cNvPr id="15" name="Title 8"/>
          <p:cNvSpPr>
            <a:spLocks noGrp="1"/>
          </p:cNvSpPr>
          <p:nvPr>
            <p:ph type="title" hasCustomPrompt="1"/>
          </p:nvPr>
        </p:nvSpPr>
        <p:spPr>
          <a:xfrm>
            <a:off x="339725" y="315469"/>
            <a:ext cx="8375650" cy="329803"/>
          </a:xfrm>
          <a:prstGeom prst="rect">
            <a:avLst/>
          </a:prstGeom>
        </p:spPr>
        <p:txBody>
          <a:bodyPr anchor="t" anchorCtr="0">
            <a:noAutofit/>
          </a:bodyPr>
          <a:lstStyle>
            <a:lvl1pPr marL="0" marR="0" indent="0" algn="l" defTabSz="914400" rtl="0" eaLnBrk="1" fontAlgn="auto" latinLnBrk="0" hangingPunct="1">
              <a:lnSpc>
                <a:spcPts val="3300"/>
              </a:lnSpc>
              <a:spcBef>
                <a:spcPct val="0"/>
              </a:spcBef>
              <a:spcAft>
                <a:spcPts val="0"/>
              </a:spcAft>
              <a:buClr>
                <a:srgbClr val="000000"/>
              </a:buClr>
              <a:buSzTx/>
              <a:buFontTx/>
              <a:buNone/>
              <a:tabLst/>
              <a:defRPr sz="3300" baseline="0">
                <a:solidFill>
                  <a:srgbClr val="000000"/>
                </a:solidFill>
                <a:latin typeface="Futura Bk" pitchFamily="34" charset="0"/>
              </a:defRPr>
            </a:lvl1pPr>
          </a:lstStyle>
          <a:p>
            <a:r>
              <a:rPr lang="en-US" dirty="0" smtClean="0"/>
              <a:t>SINGLE LINE TITLE</a:t>
            </a:r>
            <a:endParaRPr lang="en-US" dirty="0"/>
          </a:p>
        </p:txBody>
      </p:sp>
      <p:sp>
        <p:nvSpPr>
          <p:cNvPr id="14" name="Text Placeholder 26"/>
          <p:cNvSpPr>
            <a:spLocks noGrp="1"/>
          </p:cNvSpPr>
          <p:nvPr>
            <p:ph type="body" sz="quarter" idx="10"/>
          </p:nvPr>
        </p:nvSpPr>
        <p:spPr>
          <a:xfrm>
            <a:off x="365760" y="1147572"/>
            <a:ext cx="8348472" cy="3449574"/>
          </a:xfrm>
          <a:prstGeom prst="rect">
            <a:avLst/>
          </a:prstGeom>
        </p:spPr>
        <p:txBody>
          <a:bodyPr>
            <a:normAutofit/>
          </a:bodyPr>
          <a:lstStyle>
            <a:lvl1pPr>
              <a:lnSpc>
                <a:spcPct val="110000"/>
              </a:lnSpc>
              <a:spcBef>
                <a:spcPts val="1000"/>
              </a:spcBef>
              <a:buClr>
                <a:srgbClr val="000000"/>
              </a:buClr>
              <a:defRPr>
                <a:solidFill>
                  <a:srgbClr val="000000"/>
                </a:solidFill>
              </a:defRPr>
            </a:lvl1pPr>
            <a:lvl2pPr marL="342900" indent="-114300">
              <a:lnSpc>
                <a:spcPct val="110000"/>
              </a:lnSpc>
              <a:spcBef>
                <a:spcPts val="500"/>
              </a:spcBef>
              <a:buClr>
                <a:srgbClr val="000000"/>
              </a:buClr>
              <a:buSzPct val="80000"/>
              <a:buFont typeface="Arial" pitchFamily="34" charset="0"/>
              <a:buChar char="•"/>
              <a:defRPr>
                <a:solidFill>
                  <a:srgbClr val="000000"/>
                </a:solidFill>
              </a:defRPr>
            </a:lvl2pPr>
            <a:lvl3pPr marL="571500" indent="-168275">
              <a:lnSpc>
                <a:spcPct val="110000"/>
              </a:lnSpc>
              <a:spcBef>
                <a:spcPts val="400"/>
              </a:spcBef>
              <a:buClr>
                <a:srgbClr val="000000"/>
              </a:buClr>
              <a:buFont typeface="Futura Bk" pitchFamily="34" charset="0"/>
              <a:buChar char="−"/>
              <a:defRPr sz="1200">
                <a:solidFill>
                  <a:srgbClr val="000000"/>
                </a:solidFill>
              </a:defRPr>
            </a:lvl3pPr>
            <a:lvl4pPr marL="800100" indent="-114300">
              <a:lnSpc>
                <a:spcPct val="110000"/>
              </a:lnSpc>
              <a:spcBef>
                <a:spcPts val="400"/>
              </a:spcBef>
              <a:buClr>
                <a:srgbClr val="000000"/>
              </a:buClr>
              <a:buSzPct val="80000"/>
              <a:buFont typeface="Arial" pitchFamily="34" charset="0"/>
              <a:buChar char="•"/>
              <a:defRPr sz="1200">
                <a:solidFill>
                  <a:srgbClr val="000000"/>
                </a:solidFill>
              </a:defRPr>
            </a:lvl4pPr>
            <a:lvl5pPr marL="1028700" indent="-174625">
              <a:lnSpc>
                <a:spcPct val="110000"/>
              </a:lnSpc>
              <a:spcBef>
                <a:spcPts val="400"/>
              </a:spcBef>
              <a:buClr>
                <a:srgbClr val="000000"/>
              </a:buClr>
              <a:buFont typeface="Futura Bk" pitchFamily="34" charset="0"/>
              <a:buChar char="−"/>
              <a:defRPr sz="1200">
                <a:solidFill>
                  <a:srgbClr val="00000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xmlns="" val="366029645"/>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9.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image" Target="../media/image9.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13" Type="http://schemas.openxmlformats.org/officeDocument/2006/relationships/theme" Target="../theme/theme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image" Target="../media/image9.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2" Type="http://schemas.openxmlformats.org/officeDocument/2006/relationships/slideLayout" Target="../slideLayouts/slideLayout72.xml"/><Relationship Id="rId16" Type="http://schemas.openxmlformats.org/officeDocument/2006/relationships/image" Target="../media/image9.png"/><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theme" Target="../theme/theme7.xml"/><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2.xml"/><Relationship Id="rId13" Type="http://schemas.openxmlformats.org/officeDocument/2006/relationships/slideLayout" Target="../slideLayouts/slideLayout97.xml"/><Relationship Id="rId3" Type="http://schemas.openxmlformats.org/officeDocument/2006/relationships/slideLayout" Target="../slideLayouts/slideLayout87.xml"/><Relationship Id="rId7" Type="http://schemas.openxmlformats.org/officeDocument/2006/relationships/slideLayout" Target="../slideLayouts/slideLayout91.xml"/><Relationship Id="rId12" Type="http://schemas.openxmlformats.org/officeDocument/2006/relationships/slideLayout" Target="../slideLayouts/slideLayout96.xml"/><Relationship Id="rId2" Type="http://schemas.openxmlformats.org/officeDocument/2006/relationships/slideLayout" Target="../slideLayouts/slideLayout86.xml"/><Relationship Id="rId16" Type="http://schemas.openxmlformats.org/officeDocument/2006/relationships/image" Target="../media/image9.png"/><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5" Type="http://schemas.openxmlformats.org/officeDocument/2006/relationships/slideLayout" Target="../slideLayouts/slideLayout89.xml"/><Relationship Id="rId15" Type="http://schemas.openxmlformats.org/officeDocument/2006/relationships/theme" Target="../theme/theme8.xml"/><Relationship Id="rId10" Type="http://schemas.openxmlformats.org/officeDocument/2006/relationships/slideLayout" Target="../slideLayouts/slideLayout94.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image" Target="../media/image2.png"/><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image" Target="../media/image1.png"/><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theme" Target="../theme/theme9.xml"/><Relationship Id="rId5" Type="http://schemas.openxmlformats.org/officeDocument/2006/relationships/slideLayout" Target="../slideLayouts/slideLayout103.xml"/><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6.xml"/><Relationship Id="rId13" Type="http://schemas.openxmlformats.org/officeDocument/2006/relationships/image" Target="../media/image2.png"/><Relationship Id="rId3" Type="http://schemas.openxmlformats.org/officeDocument/2006/relationships/slideLayout" Target="../slideLayouts/slideLayout111.xml"/><Relationship Id="rId7" Type="http://schemas.openxmlformats.org/officeDocument/2006/relationships/slideLayout" Target="../slideLayouts/slideLayout115.xml"/><Relationship Id="rId12" Type="http://schemas.openxmlformats.org/officeDocument/2006/relationships/image" Target="../media/image1.png"/><Relationship Id="rId2" Type="http://schemas.openxmlformats.org/officeDocument/2006/relationships/slideLayout" Target="../slideLayouts/slideLayout110.xml"/><Relationship Id="rId1" Type="http://schemas.openxmlformats.org/officeDocument/2006/relationships/slideLayout" Target="../slideLayouts/slideLayout109.xml"/><Relationship Id="rId6" Type="http://schemas.openxmlformats.org/officeDocument/2006/relationships/slideLayout" Target="../slideLayouts/slideLayout114.xml"/><Relationship Id="rId11" Type="http://schemas.openxmlformats.org/officeDocument/2006/relationships/theme" Target="../theme/theme10.xml"/><Relationship Id="rId5" Type="http://schemas.openxmlformats.org/officeDocument/2006/relationships/slideLayout" Target="../slideLayouts/slideLayout113.xml"/><Relationship Id="rId10" Type="http://schemas.openxmlformats.org/officeDocument/2006/relationships/slideLayout" Target="../slideLayouts/slideLayout118.xml"/><Relationship Id="rId4" Type="http://schemas.openxmlformats.org/officeDocument/2006/relationships/slideLayout" Target="../slideLayouts/slideLayout112.xml"/><Relationship Id="rId9" Type="http://schemas.openxmlformats.org/officeDocument/2006/relationships/slideLayout" Target="../slideLayouts/slideLayout11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26.xml"/><Relationship Id="rId13" Type="http://schemas.openxmlformats.org/officeDocument/2006/relationships/image" Target="../media/image2.png"/><Relationship Id="rId3" Type="http://schemas.openxmlformats.org/officeDocument/2006/relationships/slideLayout" Target="../slideLayouts/slideLayout121.xml"/><Relationship Id="rId7" Type="http://schemas.openxmlformats.org/officeDocument/2006/relationships/slideLayout" Target="../slideLayouts/slideLayout125.xml"/><Relationship Id="rId12" Type="http://schemas.openxmlformats.org/officeDocument/2006/relationships/image" Target="../media/image1.png"/><Relationship Id="rId2" Type="http://schemas.openxmlformats.org/officeDocument/2006/relationships/slideLayout" Target="../slideLayouts/slideLayout120.xml"/><Relationship Id="rId1" Type="http://schemas.openxmlformats.org/officeDocument/2006/relationships/slideLayout" Target="../slideLayouts/slideLayout119.xml"/><Relationship Id="rId6" Type="http://schemas.openxmlformats.org/officeDocument/2006/relationships/slideLayout" Target="../slideLayouts/slideLayout124.xml"/><Relationship Id="rId11" Type="http://schemas.openxmlformats.org/officeDocument/2006/relationships/theme" Target="../theme/theme11.xml"/><Relationship Id="rId5" Type="http://schemas.openxmlformats.org/officeDocument/2006/relationships/slideLayout" Target="../slideLayouts/slideLayout123.xml"/><Relationship Id="rId10" Type="http://schemas.openxmlformats.org/officeDocument/2006/relationships/slideLayout" Target="../slideLayouts/slideLayout128.xml"/><Relationship Id="rId4" Type="http://schemas.openxmlformats.org/officeDocument/2006/relationships/slideLayout" Target="../slideLayouts/slideLayout122.xml"/><Relationship Id="rId9" Type="http://schemas.openxmlformats.org/officeDocument/2006/relationships/slideLayout" Target="../slideLayouts/slideLayout127.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6.xml"/><Relationship Id="rId13" Type="http://schemas.openxmlformats.org/officeDocument/2006/relationships/image" Target="../media/image2.png"/><Relationship Id="rId3" Type="http://schemas.openxmlformats.org/officeDocument/2006/relationships/slideLayout" Target="../slideLayouts/slideLayout131.xml"/><Relationship Id="rId7" Type="http://schemas.openxmlformats.org/officeDocument/2006/relationships/slideLayout" Target="../slideLayouts/slideLayout135.xml"/><Relationship Id="rId12" Type="http://schemas.openxmlformats.org/officeDocument/2006/relationships/image" Target="../media/image1.png"/><Relationship Id="rId2" Type="http://schemas.openxmlformats.org/officeDocument/2006/relationships/slideLayout" Target="../slideLayouts/slideLayout130.xml"/><Relationship Id="rId1" Type="http://schemas.openxmlformats.org/officeDocument/2006/relationships/slideLayout" Target="../slideLayouts/slideLayout129.xml"/><Relationship Id="rId6" Type="http://schemas.openxmlformats.org/officeDocument/2006/relationships/slideLayout" Target="../slideLayouts/slideLayout134.xml"/><Relationship Id="rId11" Type="http://schemas.openxmlformats.org/officeDocument/2006/relationships/theme" Target="../theme/theme12.xml"/><Relationship Id="rId5" Type="http://schemas.openxmlformats.org/officeDocument/2006/relationships/slideLayout" Target="../slideLayouts/slideLayout133.xml"/><Relationship Id="rId10" Type="http://schemas.openxmlformats.org/officeDocument/2006/relationships/slideLayout" Target="../slideLayouts/slideLayout138.xml"/><Relationship Id="rId4" Type="http://schemas.openxmlformats.org/officeDocument/2006/relationships/slideLayout" Target="../slideLayouts/slideLayout132.xml"/><Relationship Id="rId9" Type="http://schemas.openxmlformats.org/officeDocument/2006/relationships/slideLayout" Target="../slideLayouts/slideLayout137.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slideLayout" Target="../slideLayouts/slideLayout151.xml"/><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17" Type="http://schemas.openxmlformats.org/officeDocument/2006/relationships/image" Target="../media/image9.png"/><Relationship Id="rId2" Type="http://schemas.openxmlformats.org/officeDocument/2006/relationships/slideLayout" Target="../slideLayouts/slideLayout140.xml"/><Relationship Id="rId16" Type="http://schemas.openxmlformats.org/officeDocument/2006/relationships/theme" Target="../theme/theme13.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slideLayout" Target="../slideLayouts/slideLayout153.xml"/><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slideLayout" Target="../slideLayouts/slideLayout152.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1.xml"/><Relationship Id="rId13" Type="http://schemas.openxmlformats.org/officeDocument/2006/relationships/slideLayout" Target="../slideLayouts/slideLayout166.xml"/><Relationship Id="rId3" Type="http://schemas.openxmlformats.org/officeDocument/2006/relationships/slideLayout" Target="../slideLayouts/slideLayout156.xml"/><Relationship Id="rId7" Type="http://schemas.openxmlformats.org/officeDocument/2006/relationships/slideLayout" Target="../slideLayouts/slideLayout160.xml"/><Relationship Id="rId12" Type="http://schemas.openxmlformats.org/officeDocument/2006/relationships/slideLayout" Target="../slideLayouts/slideLayout165.xml"/><Relationship Id="rId17" Type="http://schemas.openxmlformats.org/officeDocument/2006/relationships/image" Target="../media/image9.png"/><Relationship Id="rId2" Type="http://schemas.openxmlformats.org/officeDocument/2006/relationships/slideLayout" Target="../slideLayouts/slideLayout155.xml"/><Relationship Id="rId16" Type="http://schemas.openxmlformats.org/officeDocument/2006/relationships/theme" Target="../theme/theme14.xml"/><Relationship Id="rId1" Type="http://schemas.openxmlformats.org/officeDocument/2006/relationships/slideLayout" Target="../slideLayouts/slideLayout154.xml"/><Relationship Id="rId6" Type="http://schemas.openxmlformats.org/officeDocument/2006/relationships/slideLayout" Target="../slideLayouts/slideLayout159.xml"/><Relationship Id="rId11" Type="http://schemas.openxmlformats.org/officeDocument/2006/relationships/slideLayout" Target="../slideLayouts/slideLayout164.xml"/><Relationship Id="rId5" Type="http://schemas.openxmlformats.org/officeDocument/2006/relationships/slideLayout" Target="../slideLayouts/slideLayout158.xml"/><Relationship Id="rId15" Type="http://schemas.openxmlformats.org/officeDocument/2006/relationships/slideLayout" Target="../slideLayouts/slideLayout168.xml"/><Relationship Id="rId10" Type="http://schemas.openxmlformats.org/officeDocument/2006/relationships/slideLayout" Target="../slideLayouts/slideLayout163.xml"/><Relationship Id="rId4" Type="http://schemas.openxmlformats.org/officeDocument/2006/relationships/slideLayout" Target="../slideLayouts/slideLayout157.xml"/><Relationship Id="rId9" Type="http://schemas.openxmlformats.org/officeDocument/2006/relationships/slideLayout" Target="../slideLayouts/slideLayout162.xml"/><Relationship Id="rId14" Type="http://schemas.openxmlformats.org/officeDocument/2006/relationships/slideLayout" Target="../slideLayouts/slideLayout167.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slideLayout" Target="../slideLayouts/slideLayout181.xml"/><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17" Type="http://schemas.openxmlformats.org/officeDocument/2006/relationships/image" Target="../media/image9.png"/><Relationship Id="rId2" Type="http://schemas.openxmlformats.org/officeDocument/2006/relationships/slideLayout" Target="../slideLayouts/slideLayout170.xml"/><Relationship Id="rId16" Type="http://schemas.openxmlformats.org/officeDocument/2006/relationships/theme" Target="../theme/theme15.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5" Type="http://schemas.openxmlformats.org/officeDocument/2006/relationships/slideLayout" Target="../slideLayouts/slideLayout183.xml"/><Relationship Id="rId10" Type="http://schemas.openxmlformats.org/officeDocument/2006/relationships/slideLayout" Target="../slideLayouts/slideLayout178.xml"/><Relationship Id="rId4" Type="http://schemas.openxmlformats.org/officeDocument/2006/relationships/slideLayout" Target="../slideLayouts/slideLayout172.xml"/><Relationship Id="rId9" Type="http://schemas.openxmlformats.org/officeDocument/2006/relationships/slideLayout" Target="../slideLayouts/slideLayout177.xml"/><Relationship Id="rId14" Type="http://schemas.openxmlformats.org/officeDocument/2006/relationships/slideLayout" Target="../slideLayouts/slideLayout1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328614" y="235064"/>
            <a:ext cx="8123236" cy="430887"/>
          </a:xfrm>
          <a:prstGeom prst="rect">
            <a:avLst/>
          </a:prstGeom>
          <a:ln>
            <a:noFill/>
          </a:ln>
        </p:spPr>
        <p:txBody>
          <a:bodyPr vert="horz" wrap="square" lIns="0" tIns="0" rIns="0" bIns="0" rtlCol="0" anchor="t" anchorCtr="0">
            <a:noAutofit/>
          </a:bodyPr>
          <a:lstStyle/>
          <a:p>
            <a:r>
              <a:rPr lang="en-US" noProof="0" smtClean="0"/>
              <a:t>Click to edit Master title style</a:t>
            </a:r>
            <a:endParaRPr lang="en-US" noProof="0" dirty="0"/>
          </a:p>
        </p:txBody>
      </p:sp>
      <p:sp>
        <p:nvSpPr>
          <p:cNvPr id="7" name="Text Placeholder 6"/>
          <p:cNvSpPr>
            <a:spLocks noGrp="1"/>
          </p:cNvSpPr>
          <p:nvPr>
            <p:ph type="body" idx="1"/>
          </p:nvPr>
        </p:nvSpPr>
        <p:spPr bwMode="black">
          <a:xfrm>
            <a:off x="330200" y="1188720"/>
            <a:ext cx="8119872" cy="3219768"/>
          </a:xfrm>
          <a:prstGeom prst="rect">
            <a:avLst/>
          </a:prstGeom>
        </p:spPr>
        <p:txBody>
          <a:bodyPr vert="horz" wrap="square"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Box 8"/>
          <p:cNvSpPr txBox="1"/>
          <p:nvPr/>
        </p:nvSpPr>
        <p:spPr>
          <a:xfrm>
            <a:off x="444618" y="4758803"/>
            <a:ext cx="8012545" cy="228600"/>
          </a:xfrm>
          <a:prstGeom prst="rect">
            <a:avLst/>
          </a:prstGeom>
          <a:noFill/>
        </p:spPr>
        <p:txBody>
          <a:bodyPr wrap="square" rtlCol="0">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700" b="0" i="0" dirty="0" smtClean="0">
                <a:solidFill>
                  <a:srgbClr val="B9B8BB"/>
                </a:solidFill>
                <a:latin typeface="HP Simplified"/>
                <a:cs typeface="HP Simplified"/>
              </a:rPr>
              <a:t>© Copyright 2012 Hewlett-Packard Development Company, L.P. </a:t>
            </a:r>
            <a:r>
              <a:rPr lang="en-US" sz="700" b="0" i="0" baseline="0" dirty="0" smtClean="0">
                <a:solidFill>
                  <a:srgbClr val="B9B8BB"/>
                </a:solidFill>
                <a:latin typeface="HP Simplified"/>
                <a:cs typeface="HP Simplified"/>
              </a:rPr>
              <a:t> </a:t>
            </a:r>
            <a:r>
              <a:rPr lang="en-US" sz="700" b="0" i="0" dirty="0" smtClean="0">
                <a:solidFill>
                  <a:srgbClr val="B9B8BB"/>
                </a:solidFill>
                <a:latin typeface="HP Simplified"/>
                <a:cs typeface="HP Simplified"/>
              </a:rPr>
              <a:t>The information contained herein is subject to change without notice.</a:t>
            </a:r>
          </a:p>
        </p:txBody>
      </p:sp>
      <p:sp>
        <p:nvSpPr>
          <p:cNvPr id="8" name="TextBox 7"/>
          <p:cNvSpPr txBox="1"/>
          <p:nvPr/>
        </p:nvSpPr>
        <p:spPr bwMode="gray">
          <a:xfrm>
            <a:off x="329217" y="4788486"/>
            <a:ext cx="323009" cy="149332"/>
          </a:xfrm>
          <a:prstGeom prst="rect">
            <a:avLst/>
          </a:prstGeom>
        </p:spPr>
        <p:txBody>
          <a:bodyPr vert="horz" wrap="none" lIns="0" tIns="45720" rIns="91440" bIns="45720" rtlCol="0" anchor="ctr">
            <a:noAutofit/>
          </a:bodyPr>
          <a:lstStyle/>
          <a:p>
            <a:pPr marL="0" algn="l" defTabSz="914400" rtl="0" eaLnBrk="1" latinLnBrk="0" hangingPunct="1"/>
            <a:fld id="{6C5AF65D-6854-49AF-ABC5-48B5BA0EA842}" type="slidenum">
              <a:rPr lang="en-US" sz="700" b="0" i="0" kern="1200" smtClean="0">
                <a:solidFill>
                  <a:srgbClr val="B9B8BB"/>
                </a:solidFill>
                <a:latin typeface="HP Simplified"/>
                <a:ea typeface="+mn-ea"/>
                <a:cs typeface="HP Simplified"/>
              </a:rPr>
              <a:pPr marL="0" algn="l" defTabSz="914400" rtl="0" eaLnBrk="1" latinLnBrk="0" hangingPunct="1"/>
              <a:t>‹#›</a:t>
            </a:fld>
            <a:endParaRPr lang="en-US" sz="700" b="0" i="0" kern="1200" dirty="0" smtClean="0">
              <a:solidFill>
                <a:srgbClr val="B9B8BB"/>
              </a:solidFill>
              <a:latin typeface="HP Simplified"/>
              <a:ea typeface="+mn-ea"/>
              <a:cs typeface="HP Simplified"/>
            </a:endParaRPr>
          </a:p>
        </p:txBody>
      </p:sp>
      <p:pic>
        <p:nvPicPr>
          <p:cNvPr id="4" name="Picture 3" descr="HP_Blue_RGB_150_SM.png"/>
          <p:cNvPicPr>
            <a:picLocks noChangeAspect="1"/>
          </p:cNvPicPr>
          <p:nvPr/>
        </p:nvPicPr>
        <p:blipFill>
          <a:blip r:embed="rId12">
            <a:extLst>
              <a:ext uri="{28A0092B-C50C-407E-A947-70E740481C1C}">
                <a14:useLocalDpi xmlns:a14="http://schemas.microsoft.com/office/drawing/2010/main" xmlns="" val="0"/>
              </a:ext>
            </a:extLst>
          </a:blip>
          <a:stretch>
            <a:fillRect/>
          </a:stretch>
        </p:blipFill>
        <p:spPr>
          <a:xfrm>
            <a:off x="8503920" y="4535424"/>
            <a:ext cx="365760" cy="365760"/>
          </a:xfrm>
          <a:prstGeom prst="rect">
            <a:avLst/>
          </a:prstGeom>
        </p:spPr>
      </p:pic>
      <p:pic>
        <p:nvPicPr>
          <p:cNvPr id="10" name="Picture 2"/>
          <p:cNvPicPr>
            <a:picLocks noChangeAspect="1" noChangeArrowheads="1"/>
          </p:cNvPicPr>
          <p:nvPr userDrawn="1"/>
        </p:nvPicPr>
        <p:blipFill>
          <a:blip r:embed="rId13"/>
          <a:srcRect/>
          <a:stretch>
            <a:fillRect/>
          </a:stretch>
        </p:blipFill>
        <p:spPr bwMode="auto">
          <a:xfrm>
            <a:off x="8368300" y="59"/>
            <a:ext cx="847036" cy="698045"/>
          </a:xfrm>
          <a:prstGeom prst="rect">
            <a:avLst/>
          </a:prstGeom>
          <a:noFill/>
          <a:ln w="9525">
            <a:noFill/>
            <a:miter lim="800000"/>
            <a:headEnd/>
            <a:tailEnd/>
          </a:ln>
          <a:effectLst/>
        </p:spPr>
      </p:pic>
    </p:spTree>
    <p:extLst>
      <p:ext uri="{BB962C8B-B14F-4D97-AF65-F5344CB8AC3E}">
        <p14:creationId xmlns:p14="http://schemas.microsoft.com/office/powerpoint/2010/main" xmlns="" val="2606275834"/>
      </p:ext>
    </p:extLst>
  </p:cSld>
  <p:clrMap bg1="lt1" tx1="dk1" bg2="lt2" tx2="dk2" accent1="accent1" accent2="accent2" accent3="accent3" accent4="accent4" accent5="accent5" accent6="accent6" hlink="hlink" folHlink="folHlink"/>
  <p:sldLayoutIdLst>
    <p:sldLayoutId id="2147483816" r:id="rId1"/>
    <p:sldLayoutId id="2147483830" r:id="rId2"/>
    <p:sldLayoutId id="2147483834" r:id="rId3"/>
    <p:sldLayoutId id="2147483833" r:id="rId4"/>
    <p:sldLayoutId id="2147483837" r:id="rId5"/>
    <p:sldLayoutId id="2147483809" r:id="rId6"/>
    <p:sldLayoutId id="2147483839" r:id="rId7"/>
    <p:sldLayoutId id="2147483823" r:id="rId8"/>
    <p:sldLayoutId id="2147483824" r:id="rId9"/>
    <p:sldLayoutId id="2147483825" r:id="rId10"/>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spcAft>
          <a:spcPts val="0"/>
        </a:spcAft>
        <a:buNone/>
        <a:defRPr lang="en-GB" sz="2800" b="1" i="0" kern="1200" dirty="0" smtClean="0">
          <a:solidFill>
            <a:srgbClr val="000000"/>
          </a:solidFill>
          <a:latin typeface="HP Simplified" pitchFamily="34" charset="0"/>
          <a:ea typeface="+mj-ea"/>
          <a:cs typeface="HP Simplified" pitchFamily="34" charset="0"/>
        </a:defRPr>
      </a:lvl1pPr>
    </p:titleStyle>
    <p:body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dirty="0" smtClean="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4770837"/>
            <a:ext cx="9144000" cy="273844"/>
          </a:xfrm>
          <a:prstGeom prst="rect">
            <a:avLst/>
          </a:prstGeom>
        </p:spPr>
        <p:txBody>
          <a:bodyPr vert="horz" lIns="91440" tIns="45720" rIns="91440" bIns="45720" rtlCol="0" anchor="ctr"/>
          <a:lstStyle>
            <a:lvl1pPr algn="ctr" fontAlgn="auto">
              <a:spcBef>
                <a:spcPts val="0"/>
              </a:spcBef>
              <a:spcAft>
                <a:spcPts val="0"/>
              </a:spcAft>
              <a:defRPr sz="800">
                <a:solidFill>
                  <a:schemeClr val="tx1">
                    <a:tint val="75000"/>
                  </a:schemeClr>
                </a:solidFill>
                <a:latin typeface="Futura Bk" pitchFamily="34" charset="0"/>
              </a:defRPr>
            </a:lvl1pPr>
          </a:lstStyle>
          <a:p>
            <a:pPr defTabSz="914400">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800">
                <a:solidFill>
                  <a:schemeClr val="tx1">
                    <a:tint val="75000"/>
                  </a:schemeClr>
                </a:solidFill>
                <a:latin typeface="Futura Bk" pitchFamily="34" charset="0"/>
              </a:defRPr>
            </a:lvl1pPr>
          </a:lstStyle>
          <a:p>
            <a:pPr defTabSz="914400">
              <a:defRPr/>
            </a:pPr>
            <a:fld id="{C82771A6-17C1-4774-A7CD-C8EF54C4CC6F}" type="datetime1">
              <a:rPr lang="en-US" smtClean="0">
                <a:solidFill>
                  <a:prstClr val="black">
                    <a:tint val="75000"/>
                  </a:prstClr>
                </a:solidFill>
              </a:rPr>
              <a:pPr defTabSz="914400">
                <a:defRPr/>
              </a:pPr>
              <a:t>11/16/2012</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800">
                <a:solidFill>
                  <a:schemeClr val="tx1">
                    <a:tint val="75000"/>
                  </a:schemeClr>
                </a:solidFill>
                <a:latin typeface="Futura Bk" pitchFamily="34" charset="0"/>
              </a:defRPr>
            </a:lvl1pPr>
          </a:lstStyle>
          <a:p>
            <a:pPr defTabSz="914400">
              <a:defRPr/>
            </a:pPr>
            <a:fld id="{F3C16A76-00C6-413F-AD4F-021C6AF5512B}" type="slidenum">
              <a:rPr lang="en-US">
                <a:solidFill>
                  <a:prstClr val="black">
                    <a:tint val="75000"/>
                  </a:prstClr>
                </a:solidFill>
              </a:rPr>
              <a:pPr defTabSz="914400">
                <a:defRPr/>
              </a:pPr>
              <a:t>‹#›</a:t>
            </a:fld>
            <a:endParaRPr lang="en-US" dirty="0">
              <a:solidFill>
                <a:prstClr val="black">
                  <a:tint val="75000"/>
                </a:prstClr>
              </a:solidFill>
            </a:endParaRPr>
          </a:p>
        </p:txBody>
      </p:sp>
      <p:sp>
        <p:nvSpPr>
          <p:cNvPr id="9" name="Title 1"/>
          <p:cNvSpPr txBox="1">
            <a:spLocks/>
          </p:cNvSpPr>
          <p:nvPr userDrawn="1"/>
        </p:nvSpPr>
        <p:spPr>
          <a:xfrm>
            <a:off x="685800" y="2097890"/>
            <a:ext cx="7772400" cy="1102519"/>
          </a:xfrm>
          <a:prstGeom prst="rect">
            <a:avLst/>
          </a:prstGeom>
        </p:spPr>
        <p:txBody>
          <a:bodyPr>
            <a:normAutofit/>
          </a:bodyPr>
          <a:lstStyle>
            <a:lvl1pPr>
              <a:defRPr sz="4400">
                <a:solidFill>
                  <a:schemeClr val="bg1"/>
                </a:solidFill>
              </a:defRPr>
            </a:lvl1pPr>
          </a:lstStyle>
          <a:p>
            <a:pPr defTabSz="914400" eaLnBrk="0" fontAlgn="base" hangingPunct="0">
              <a:spcBef>
                <a:spcPct val="0"/>
              </a:spcBef>
              <a:spcAft>
                <a:spcPct val="0"/>
              </a:spcAft>
              <a:defRPr/>
            </a:pPr>
            <a:r>
              <a:rPr lang="en-US" dirty="0" smtClean="0">
                <a:solidFill>
                  <a:prstClr val="white"/>
                </a:solidFill>
                <a:latin typeface="Futura Bk" pitchFamily="34" charset="0"/>
              </a:rPr>
              <a:t>Click to edit Master title style</a:t>
            </a:r>
            <a:endParaRPr lang="en-US" dirty="0">
              <a:solidFill>
                <a:prstClr val="white"/>
              </a:solidFill>
              <a:latin typeface="Futura Bk" pitchFamily="34" charset="0"/>
            </a:endParaRPr>
          </a:p>
        </p:txBody>
      </p:sp>
      <p:sp>
        <p:nvSpPr>
          <p:cNvPr id="10" name="Subtitle 2"/>
          <p:cNvSpPr txBox="1">
            <a:spLocks/>
          </p:cNvSpPr>
          <p:nvPr userDrawn="1"/>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defTabSz="914400" eaLnBrk="0" fontAlgn="base" hangingPunct="0">
              <a:spcBef>
                <a:spcPct val="20000"/>
              </a:spcBef>
              <a:spcAft>
                <a:spcPct val="0"/>
              </a:spcAft>
              <a:buFont typeface="Arial" charset="0"/>
              <a:buNone/>
              <a:defRPr/>
            </a:pPr>
            <a:r>
              <a:rPr lang="en-US" sz="2000" dirty="0" smtClean="0">
                <a:solidFill>
                  <a:prstClr val="white"/>
                </a:solidFill>
                <a:latin typeface="Futura Bk" pitchFamily="34" charset="0"/>
              </a:rPr>
              <a:t>Click to edit Master subtitle style</a:t>
            </a:r>
            <a:endParaRPr lang="en-US" sz="2000" dirty="0">
              <a:solidFill>
                <a:prstClr val="white"/>
              </a:solidFill>
              <a:latin typeface="Futura Bk" pitchFamily="34" charset="0"/>
            </a:endParaRPr>
          </a:p>
        </p:txBody>
      </p:sp>
    </p:spTree>
    <p:extLst>
      <p:ext uri="{BB962C8B-B14F-4D97-AF65-F5344CB8AC3E}">
        <p14:creationId xmlns:p14="http://schemas.microsoft.com/office/powerpoint/2010/main" xmlns="" val="1770189526"/>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Lst>
  <p:transition spd="med">
    <p:fade/>
  </p:transition>
  <p:timing>
    <p:tnLst>
      <p:par>
        <p:cTn id="1" dur="indefinite" restart="never" nodeType="tmRoot"/>
      </p:par>
    </p:tnLst>
  </p:timing>
  <p:hf hdr="0"/>
  <p:txStyles>
    <p:titleStyle>
      <a:lvl1pPr algn="l" rtl="0" eaLnBrk="0" fontAlgn="base" hangingPunct="0">
        <a:spcBef>
          <a:spcPct val="0"/>
        </a:spcBef>
        <a:spcAft>
          <a:spcPct val="0"/>
        </a:spcAft>
        <a:defRPr sz="3200" kern="1200">
          <a:solidFill>
            <a:schemeClr val="bg1"/>
          </a:solidFill>
          <a:latin typeface="Futura Bk" pitchFamily="34" charset="0"/>
          <a:ea typeface="+mj-ea"/>
          <a:cs typeface="+mj-cs"/>
        </a:defRPr>
      </a:lvl1pPr>
      <a:lvl2pPr algn="l" rtl="0" eaLnBrk="0" fontAlgn="base" hangingPunct="0">
        <a:spcBef>
          <a:spcPct val="0"/>
        </a:spcBef>
        <a:spcAft>
          <a:spcPct val="0"/>
        </a:spcAft>
        <a:defRPr sz="3200">
          <a:solidFill>
            <a:schemeClr val="bg1"/>
          </a:solidFill>
          <a:latin typeface="Futura Bk" pitchFamily="34" charset="0"/>
        </a:defRPr>
      </a:lvl2pPr>
      <a:lvl3pPr algn="l" rtl="0" eaLnBrk="0" fontAlgn="base" hangingPunct="0">
        <a:spcBef>
          <a:spcPct val="0"/>
        </a:spcBef>
        <a:spcAft>
          <a:spcPct val="0"/>
        </a:spcAft>
        <a:defRPr sz="3200">
          <a:solidFill>
            <a:schemeClr val="bg1"/>
          </a:solidFill>
          <a:latin typeface="Futura Bk" pitchFamily="34" charset="0"/>
        </a:defRPr>
      </a:lvl3pPr>
      <a:lvl4pPr algn="l" rtl="0" eaLnBrk="0" fontAlgn="base" hangingPunct="0">
        <a:spcBef>
          <a:spcPct val="0"/>
        </a:spcBef>
        <a:spcAft>
          <a:spcPct val="0"/>
        </a:spcAft>
        <a:defRPr sz="3200">
          <a:solidFill>
            <a:schemeClr val="bg1"/>
          </a:solidFill>
          <a:latin typeface="Futura Bk" pitchFamily="34" charset="0"/>
        </a:defRPr>
      </a:lvl4pPr>
      <a:lvl5pPr algn="l" rtl="0" eaLnBrk="0" fontAlgn="base" hangingPunct="0">
        <a:spcBef>
          <a:spcPct val="0"/>
        </a:spcBef>
        <a:spcAft>
          <a:spcPct val="0"/>
        </a:spcAft>
        <a:defRPr sz="3200">
          <a:solidFill>
            <a:schemeClr val="bg1"/>
          </a:solidFill>
          <a:latin typeface="Futura Bk" pitchFamily="34" charset="0"/>
        </a:defRPr>
      </a:lvl5pPr>
      <a:lvl6pPr marL="457200" algn="l" rtl="0" fontAlgn="base">
        <a:spcBef>
          <a:spcPct val="0"/>
        </a:spcBef>
        <a:spcAft>
          <a:spcPct val="0"/>
        </a:spcAft>
        <a:defRPr sz="3200">
          <a:solidFill>
            <a:schemeClr val="bg1"/>
          </a:solidFill>
          <a:latin typeface="Futura Bk" pitchFamily="34" charset="0"/>
        </a:defRPr>
      </a:lvl6pPr>
      <a:lvl7pPr marL="914400" algn="l" rtl="0" fontAlgn="base">
        <a:spcBef>
          <a:spcPct val="0"/>
        </a:spcBef>
        <a:spcAft>
          <a:spcPct val="0"/>
        </a:spcAft>
        <a:defRPr sz="3200">
          <a:solidFill>
            <a:schemeClr val="bg1"/>
          </a:solidFill>
          <a:latin typeface="Futura Bk" pitchFamily="34" charset="0"/>
        </a:defRPr>
      </a:lvl7pPr>
      <a:lvl8pPr marL="1371600" algn="l" rtl="0" fontAlgn="base">
        <a:spcBef>
          <a:spcPct val="0"/>
        </a:spcBef>
        <a:spcAft>
          <a:spcPct val="0"/>
        </a:spcAft>
        <a:defRPr sz="3200">
          <a:solidFill>
            <a:schemeClr val="bg1"/>
          </a:solidFill>
          <a:latin typeface="Futura Bk" pitchFamily="34" charset="0"/>
        </a:defRPr>
      </a:lvl8pPr>
      <a:lvl9pPr marL="1828800" algn="l" rtl="0" fontAlgn="base">
        <a:spcBef>
          <a:spcPct val="0"/>
        </a:spcBef>
        <a:spcAft>
          <a:spcPct val="0"/>
        </a:spcAft>
        <a:defRPr sz="3200">
          <a:solidFill>
            <a:schemeClr val="bg1"/>
          </a:solidFill>
          <a:latin typeface="Futura Bk"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bg1"/>
          </a:solidFill>
          <a:latin typeface="Futura Bk" pitchFamily="34" charset="0"/>
          <a:ea typeface="+mn-ea"/>
          <a:cs typeface="+mn-cs"/>
        </a:defRPr>
      </a:lvl1pPr>
      <a:lvl2pPr marL="742950" indent="-28575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2pPr>
      <a:lvl3pPr marL="11430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4770837"/>
            <a:ext cx="9144000" cy="273844"/>
          </a:xfrm>
          <a:prstGeom prst="rect">
            <a:avLst/>
          </a:prstGeom>
        </p:spPr>
        <p:txBody>
          <a:bodyPr vert="horz" lIns="91440" tIns="45720" rIns="91440" bIns="45720" rtlCol="0" anchor="ctr"/>
          <a:lstStyle>
            <a:lvl1pPr algn="ctr" fontAlgn="auto">
              <a:spcBef>
                <a:spcPts val="0"/>
              </a:spcBef>
              <a:spcAft>
                <a:spcPts val="0"/>
              </a:spcAft>
              <a:defRPr sz="800">
                <a:solidFill>
                  <a:schemeClr val="tx1">
                    <a:tint val="75000"/>
                  </a:schemeClr>
                </a:solidFill>
                <a:latin typeface="Futura Bk" pitchFamily="34" charset="0"/>
              </a:defRPr>
            </a:lvl1pPr>
          </a:lstStyle>
          <a:p>
            <a:pPr defTabSz="914400">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800">
                <a:solidFill>
                  <a:schemeClr val="tx1">
                    <a:tint val="75000"/>
                  </a:schemeClr>
                </a:solidFill>
                <a:latin typeface="Futura Bk" pitchFamily="34" charset="0"/>
              </a:defRPr>
            </a:lvl1pPr>
          </a:lstStyle>
          <a:p>
            <a:pPr defTabSz="914400">
              <a:defRPr/>
            </a:pPr>
            <a:fld id="{C82771A6-17C1-4774-A7CD-C8EF54C4CC6F}" type="datetime1">
              <a:rPr lang="en-US" smtClean="0">
                <a:solidFill>
                  <a:prstClr val="black">
                    <a:tint val="75000"/>
                  </a:prstClr>
                </a:solidFill>
              </a:rPr>
              <a:pPr defTabSz="914400">
                <a:defRPr/>
              </a:pPr>
              <a:t>11/16/2012</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800">
                <a:solidFill>
                  <a:schemeClr val="tx1">
                    <a:tint val="75000"/>
                  </a:schemeClr>
                </a:solidFill>
                <a:latin typeface="Futura Bk" pitchFamily="34" charset="0"/>
              </a:defRPr>
            </a:lvl1pPr>
          </a:lstStyle>
          <a:p>
            <a:pPr defTabSz="914400">
              <a:defRPr/>
            </a:pPr>
            <a:fld id="{F3C16A76-00C6-413F-AD4F-021C6AF5512B}" type="slidenum">
              <a:rPr lang="en-US">
                <a:solidFill>
                  <a:prstClr val="black">
                    <a:tint val="75000"/>
                  </a:prstClr>
                </a:solidFill>
              </a:rPr>
              <a:pPr defTabSz="914400">
                <a:defRPr/>
              </a:pPr>
              <a:t>‹#›</a:t>
            </a:fld>
            <a:endParaRPr lang="en-US" dirty="0">
              <a:solidFill>
                <a:prstClr val="black">
                  <a:tint val="75000"/>
                </a:prstClr>
              </a:solidFill>
            </a:endParaRPr>
          </a:p>
        </p:txBody>
      </p:sp>
      <p:pic>
        <p:nvPicPr>
          <p:cNvPr id="3079" name="Picture 6" descr="HP_D_RGB_M.png"/>
          <p:cNvPicPr>
            <a:picLocks noChangeAspect="1"/>
          </p:cNvPicPr>
          <p:nvPr userDrawn="1"/>
        </p:nvPicPr>
        <p:blipFill>
          <a:blip r:embed="rId14" cstate="print"/>
          <a:srcRect/>
          <a:stretch>
            <a:fillRect/>
          </a:stretch>
        </p:blipFill>
        <p:spPr bwMode="auto">
          <a:xfrm>
            <a:off x="8153400" y="171450"/>
            <a:ext cx="685800" cy="514350"/>
          </a:xfrm>
          <a:prstGeom prst="rect">
            <a:avLst/>
          </a:prstGeom>
          <a:noFill/>
          <a:ln w="9525">
            <a:noFill/>
            <a:miter lim="800000"/>
            <a:headEnd/>
            <a:tailEnd/>
          </a:ln>
        </p:spPr>
      </p:pic>
      <p:sp>
        <p:nvSpPr>
          <p:cNvPr id="9" name="Title 1"/>
          <p:cNvSpPr txBox="1">
            <a:spLocks/>
          </p:cNvSpPr>
          <p:nvPr userDrawn="1"/>
        </p:nvSpPr>
        <p:spPr>
          <a:xfrm>
            <a:off x="685800" y="2097890"/>
            <a:ext cx="7772400" cy="1102519"/>
          </a:xfrm>
          <a:prstGeom prst="rect">
            <a:avLst/>
          </a:prstGeom>
        </p:spPr>
        <p:txBody>
          <a:bodyPr>
            <a:normAutofit/>
          </a:bodyPr>
          <a:lstStyle>
            <a:lvl1pPr>
              <a:defRPr sz="4400">
                <a:solidFill>
                  <a:schemeClr val="bg1"/>
                </a:solidFill>
              </a:defRPr>
            </a:lvl1pPr>
          </a:lstStyle>
          <a:p>
            <a:pPr defTabSz="914400" eaLnBrk="0" fontAlgn="base" hangingPunct="0">
              <a:spcBef>
                <a:spcPct val="0"/>
              </a:spcBef>
              <a:spcAft>
                <a:spcPct val="0"/>
              </a:spcAft>
              <a:defRPr/>
            </a:pPr>
            <a:r>
              <a:rPr lang="en-US" dirty="0" smtClean="0">
                <a:solidFill>
                  <a:prstClr val="white"/>
                </a:solidFill>
                <a:latin typeface="Futura Bk" pitchFamily="34" charset="0"/>
              </a:rPr>
              <a:t>Click to edit Master title style</a:t>
            </a:r>
            <a:endParaRPr lang="en-US" dirty="0">
              <a:solidFill>
                <a:prstClr val="white"/>
              </a:solidFill>
              <a:latin typeface="Futura Bk" pitchFamily="34" charset="0"/>
            </a:endParaRPr>
          </a:p>
        </p:txBody>
      </p:sp>
      <p:sp>
        <p:nvSpPr>
          <p:cNvPr id="10" name="Subtitle 2"/>
          <p:cNvSpPr txBox="1">
            <a:spLocks/>
          </p:cNvSpPr>
          <p:nvPr userDrawn="1"/>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defTabSz="914400" eaLnBrk="0" fontAlgn="base" hangingPunct="0">
              <a:spcBef>
                <a:spcPct val="20000"/>
              </a:spcBef>
              <a:spcAft>
                <a:spcPct val="0"/>
              </a:spcAft>
              <a:buFont typeface="Arial" charset="0"/>
              <a:buNone/>
              <a:defRPr/>
            </a:pPr>
            <a:r>
              <a:rPr lang="en-US" sz="2000" dirty="0" smtClean="0">
                <a:solidFill>
                  <a:prstClr val="white"/>
                </a:solidFill>
                <a:latin typeface="Futura Bk" pitchFamily="34" charset="0"/>
              </a:rPr>
              <a:t>Click to edit Master subtitle style</a:t>
            </a:r>
            <a:endParaRPr lang="en-US" sz="2000" dirty="0">
              <a:solidFill>
                <a:prstClr val="white"/>
              </a:solidFill>
              <a:latin typeface="Futura Bk" pitchFamily="34" charset="0"/>
            </a:endParaRPr>
          </a:p>
        </p:txBody>
      </p:sp>
    </p:spTree>
    <p:extLst>
      <p:ext uri="{BB962C8B-B14F-4D97-AF65-F5344CB8AC3E}">
        <p14:creationId xmlns:p14="http://schemas.microsoft.com/office/powerpoint/2010/main" xmlns="" val="4119398570"/>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 id="2147483865" r:id="rId12"/>
  </p:sldLayoutIdLst>
  <p:transition spd="med">
    <p:fade/>
  </p:transition>
  <p:timing>
    <p:tnLst>
      <p:par>
        <p:cTn id="1" dur="indefinite" restart="never" nodeType="tmRoot"/>
      </p:par>
    </p:tnLst>
  </p:timing>
  <p:hf hdr="0"/>
  <p:txStyles>
    <p:titleStyle>
      <a:lvl1pPr algn="l" rtl="0" eaLnBrk="0" fontAlgn="base" hangingPunct="0">
        <a:spcBef>
          <a:spcPct val="0"/>
        </a:spcBef>
        <a:spcAft>
          <a:spcPct val="0"/>
        </a:spcAft>
        <a:defRPr sz="3200" kern="1200">
          <a:solidFill>
            <a:schemeClr val="bg1"/>
          </a:solidFill>
          <a:latin typeface="Futura Bk" pitchFamily="34" charset="0"/>
          <a:ea typeface="+mj-ea"/>
          <a:cs typeface="+mj-cs"/>
        </a:defRPr>
      </a:lvl1pPr>
      <a:lvl2pPr algn="l" rtl="0" eaLnBrk="0" fontAlgn="base" hangingPunct="0">
        <a:spcBef>
          <a:spcPct val="0"/>
        </a:spcBef>
        <a:spcAft>
          <a:spcPct val="0"/>
        </a:spcAft>
        <a:defRPr sz="3200">
          <a:solidFill>
            <a:schemeClr val="bg1"/>
          </a:solidFill>
          <a:latin typeface="Futura Bk" pitchFamily="34" charset="0"/>
        </a:defRPr>
      </a:lvl2pPr>
      <a:lvl3pPr algn="l" rtl="0" eaLnBrk="0" fontAlgn="base" hangingPunct="0">
        <a:spcBef>
          <a:spcPct val="0"/>
        </a:spcBef>
        <a:spcAft>
          <a:spcPct val="0"/>
        </a:spcAft>
        <a:defRPr sz="3200">
          <a:solidFill>
            <a:schemeClr val="bg1"/>
          </a:solidFill>
          <a:latin typeface="Futura Bk" pitchFamily="34" charset="0"/>
        </a:defRPr>
      </a:lvl3pPr>
      <a:lvl4pPr algn="l" rtl="0" eaLnBrk="0" fontAlgn="base" hangingPunct="0">
        <a:spcBef>
          <a:spcPct val="0"/>
        </a:spcBef>
        <a:spcAft>
          <a:spcPct val="0"/>
        </a:spcAft>
        <a:defRPr sz="3200">
          <a:solidFill>
            <a:schemeClr val="bg1"/>
          </a:solidFill>
          <a:latin typeface="Futura Bk" pitchFamily="34" charset="0"/>
        </a:defRPr>
      </a:lvl4pPr>
      <a:lvl5pPr algn="l" rtl="0" eaLnBrk="0" fontAlgn="base" hangingPunct="0">
        <a:spcBef>
          <a:spcPct val="0"/>
        </a:spcBef>
        <a:spcAft>
          <a:spcPct val="0"/>
        </a:spcAft>
        <a:defRPr sz="3200">
          <a:solidFill>
            <a:schemeClr val="bg1"/>
          </a:solidFill>
          <a:latin typeface="Futura Bk" pitchFamily="34" charset="0"/>
        </a:defRPr>
      </a:lvl5pPr>
      <a:lvl6pPr marL="457200" algn="l" rtl="0" fontAlgn="base">
        <a:spcBef>
          <a:spcPct val="0"/>
        </a:spcBef>
        <a:spcAft>
          <a:spcPct val="0"/>
        </a:spcAft>
        <a:defRPr sz="3200">
          <a:solidFill>
            <a:schemeClr val="bg1"/>
          </a:solidFill>
          <a:latin typeface="Futura Bk" pitchFamily="34" charset="0"/>
        </a:defRPr>
      </a:lvl6pPr>
      <a:lvl7pPr marL="914400" algn="l" rtl="0" fontAlgn="base">
        <a:spcBef>
          <a:spcPct val="0"/>
        </a:spcBef>
        <a:spcAft>
          <a:spcPct val="0"/>
        </a:spcAft>
        <a:defRPr sz="3200">
          <a:solidFill>
            <a:schemeClr val="bg1"/>
          </a:solidFill>
          <a:latin typeface="Futura Bk" pitchFamily="34" charset="0"/>
        </a:defRPr>
      </a:lvl7pPr>
      <a:lvl8pPr marL="1371600" algn="l" rtl="0" fontAlgn="base">
        <a:spcBef>
          <a:spcPct val="0"/>
        </a:spcBef>
        <a:spcAft>
          <a:spcPct val="0"/>
        </a:spcAft>
        <a:defRPr sz="3200">
          <a:solidFill>
            <a:schemeClr val="bg1"/>
          </a:solidFill>
          <a:latin typeface="Futura Bk" pitchFamily="34" charset="0"/>
        </a:defRPr>
      </a:lvl8pPr>
      <a:lvl9pPr marL="1828800" algn="l" rtl="0" fontAlgn="base">
        <a:spcBef>
          <a:spcPct val="0"/>
        </a:spcBef>
        <a:spcAft>
          <a:spcPct val="0"/>
        </a:spcAft>
        <a:defRPr sz="3200">
          <a:solidFill>
            <a:schemeClr val="bg1"/>
          </a:solidFill>
          <a:latin typeface="Futura Bk"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bg1"/>
          </a:solidFill>
          <a:latin typeface="Futura Bk" pitchFamily="34" charset="0"/>
          <a:ea typeface="+mn-ea"/>
          <a:cs typeface="+mn-cs"/>
        </a:defRPr>
      </a:lvl1pPr>
      <a:lvl2pPr marL="742950" indent="-28575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2pPr>
      <a:lvl3pPr marL="11430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4770837"/>
            <a:ext cx="9144000" cy="273844"/>
          </a:xfrm>
          <a:prstGeom prst="rect">
            <a:avLst/>
          </a:prstGeom>
        </p:spPr>
        <p:txBody>
          <a:bodyPr vert="horz" lIns="91440" tIns="45720" rIns="91440" bIns="45720" rtlCol="0" anchor="ctr"/>
          <a:lstStyle>
            <a:lvl1pPr algn="ctr" fontAlgn="auto">
              <a:spcBef>
                <a:spcPts val="0"/>
              </a:spcBef>
              <a:spcAft>
                <a:spcPts val="0"/>
              </a:spcAft>
              <a:defRPr sz="800">
                <a:solidFill>
                  <a:schemeClr val="tx1">
                    <a:tint val="75000"/>
                  </a:schemeClr>
                </a:solidFill>
                <a:latin typeface="Futura Bk" pitchFamily="34" charset="0"/>
              </a:defRPr>
            </a:lvl1pPr>
          </a:lstStyle>
          <a:p>
            <a:pPr defTabSz="914400">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800">
                <a:solidFill>
                  <a:schemeClr val="tx1">
                    <a:tint val="75000"/>
                  </a:schemeClr>
                </a:solidFill>
                <a:latin typeface="Futura Bk" pitchFamily="34" charset="0"/>
              </a:defRPr>
            </a:lvl1pPr>
          </a:lstStyle>
          <a:p>
            <a:pPr defTabSz="914400">
              <a:defRPr/>
            </a:pPr>
            <a:fld id="{C82771A6-17C1-4774-A7CD-C8EF54C4CC6F}" type="datetime1">
              <a:rPr lang="en-US" smtClean="0">
                <a:solidFill>
                  <a:prstClr val="black">
                    <a:tint val="75000"/>
                  </a:prstClr>
                </a:solidFill>
              </a:rPr>
              <a:pPr defTabSz="914400">
                <a:defRPr/>
              </a:pPr>
              <a:t>11/16/2012</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800">
                <a:solidFill>
                  <a:schemeClr val="tx1">
                    <a:tint val="75000"/>
                  </a:schemeClr>
                </a:solidFill>
                <a:latin typeface="Futura Bk" pitchFamily="34" charset="0"/>
              </a:defRPr>
            </a:lvl1pPr>
          </a:lstStyle>
          <a:p>
            <a:pPr defTabSz="914400">
              <a:defRPr/>
            </a:pPr>
            <a:fld id="{F3C16A76-00C6-413F-AD4F-021C6AF5512B}" type="slidenum">
              <a:rPr lang="en-US">
                <a:solidFill>
                  <a:prstClr val="black">
                    <a:tint val="75000"/>
                  </a:prstClr>
                </a:solidFill>
              </a:rPr>
              <a:pPr defTabSz="914400">
                <a:defRPr/>
              </a:pPr>
              <a:t>‹#›</a:t>
            </a:fld>
            <a:endParaRPr lang="en-US" dirty="0">
              <a:solidFill>
                <a:prstClr val="black">
                  <a:tint val="75000"/>
                </a:prstClr>
              </a:solidFill>
            </a:endParaRPr>
          </a:p>
        </p:txBody>
      </p:sp>
      <p:pic>
        <p:nvPicPr>
          <p:cNvPr id="3079" name="Picture 6" descr="HP_D_RGB_M.png"/>
          <p:cNvPicPr>
            <a:picLocks noChangeAspect="1"/>
          </p:cNvPicPr>
          <p:nvPr userDrawn="1"/>
        </p:nvPicPr>
        <p:blipFill>
          <a:blip r:embed="rId14" cstate="print"/>
          <a:srcRect/>
          <a:stretch>
            <a:fillRect/>
          </a:stretch>
        </p:blipFill>
        <p:spPr bwMode="auto">
          <a:xfrm>
            <a:off x="8153400" y="171450"/>
            <a:ext cx="685800" cy="514350"/>
          </a:xfrm>
          <a:prstGeom prst="rect">
            <a:avLst/>
          </a:prstGeom>
          <a:noFill/>
          <a:ln w="9525">
            <a:noFill/>
            <a:miter lim="800000"/>
            <a:headEnd/>
            <a:tailEnd/>
          </a:ln>
        </p:spPr>
      </p:pic>
      <p:sp>
        <p:nvSpPr>
          <p:cNvPr id="9" name="Title 1"/>
          <p:cNvSpPr txBox="1">
            <a:spLocks/>
          </p:cNvSpPr>
          <p:nvPr userDrawn="1"/>
        </p:nvSpPr>
        <p:spPr>
          <a:xfrm>
            <a:off x="685800" y="2097890"/>
            <a:ext cx="7772400" cy="1102519"/>
          </a:xfrm>
          <a:prstGeom prst="rect">
            <a:avLst/>
          </a:prstGeom>
        </p:spPr>
        <p:txBody>
          <a:bodyPr>
            <a:normAutofit/>
          </a:bodyPr>
          <a:lstStyle>
            <a:lvl1pPr>
              <a:defRPr sz="4400">
                <a:solidFill>
                  <a:schemeClr val="bg1"/>
                </a:solidFill>
              </a:defRPr>
            </a:lvl1pPr>
          </a:lstStyle>
          <a:p>
            <a:pPr defTabSz="914400" eaLnBrk="0" fontAlgn="base" hangingPunct="0">
              <a:spcBef>
                <a:spcPct val="0"/>
              </a:spcBef>
              <a:spcAft>
                <a:spcPct val="0"/>
              </a:spcAft>
              <a:defRPr/>
            </a:pPr>
            <a:r>
              <a:rPr lang="en-US" dirty="0" smtClean="0">
                <a:solidFill>
                  <a:prstClr val="white"/>
                </a:solidFill>
                <a:latin typeface="Futura Bk" pitchFamily="34" charset="0"/>
              </a:rPr>
              <a:t>Click to edit Master title style</a:t>
            </a:r>
            <a:endParaRPr lang="en-US" dirty="0">
              <a:solidFill>
                <a:prstClr val="white"/>
              </a:solidFill>
              <a:latin typeface="Futura Bk" pitchFamily="34" charset="0"/>
            </a:endParaRPr>
          </a:p>
        </p:txBody>
      </p:sp>
      <p:sp>
        <p:nvSpPr>
          <p:cNvPr id="10" name="Subtitle 2"/>
          <p:cNvSpPr txBox="1">
            <a:spLocks/>
          </p:cNvSpPr>
          <p:nvPr userDrawn="1"/>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defTabSz="914400" eaLnBrk="0" fontAlgn="base" hangingPunct="0">
              <a:spcBef>
                <a:spcPct val="20000"/>
              </a:spcBef>
              <a:spcAft>
                <a:spcPct val="0"/>
              </a:spcAft>
              <a:buFont typeface="Arial" charset="0"/>
              <a:buNone/>
              <a:defRPr/>
            </a:pPr>
            <a:r>
              <a:rPr lang="en-US" sz="2000" dirty="0" smtClean="0">
                <a:solidFill>
                  <a:prstClr val="white"/>
                </a:solidFill>
                <a:latin typeface="Futura Bk" pitchFamily="34" charset="0"/>
              </a:rPr>
              <a:t>Click to edit Master subtitle style</a:t>
            </a:r>
            <a:endParaRPr lang="en-US" sz="2000" dirty="0">
              <a:solidFill>
                <a:prstClr val="white"/>
              </a:solidFill>
              <a:latin typeface="Futura Bk" pitchFamily="34" charset="0"/>
            </a:endParaRPr>
          </a:p>
        </p:txBody>
      </p:sp>
    </p:spTree>
    <p:extLst>
      <p:ext uri="{BB962C8B-B14F-4D97-AF65-F5344CB8AC3E}">
        <p14:creationId xmlns:p14="http://schemas.microsoft.com/office/powerpoint/2010/main" xmlns="" val="2688853990"/>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Lst>
  <p:transition spd="med">
    <p:fade/>
  </p:transition>
  <p:timing>
    <p:tnLst>
      <p:par>
        <p:cTn id="1" dur="indefinite" restart="never" nodeType="tmRoot"/>
      </p:par>
    </p:tnLst>
  </p:timing>
  <p:hf hdr="0"/>
  <p:txStyles>
    <p:titleStyle>
      <a:lvl1pPr algn="l" rtl="0" eaLnBrk="0" fontAlgn="base" hangingPunct="0">
        <a:spcBef>
          <a:spcPct val="0"/>
        </a:spcBef>
        <a:spcAft>
          <a:spcPct val="0"/>
        </a:spcAft>
        <a:defRPr sz="3200" kern="1200">
          <a:solidFill>
            <a:schemeClr val="bg1"/>
          </a:solidFill>
          <a:latin typeface="Futura Bk" pitchFamily="34" charset="0"/>
          <a:ea typeface="+mj-ea"/>
          <a:cs typeface="+mj-cs"/>
        </a:defRPr>
      </a:lvl1pPr>
      <a:lvl2pPr algn="l" rtl="0" eaLnBrk="0" fontAlgn="base" hangingPunct="0">
        <a:spcBef>
          <a:spcPct val="0"/>
        </a:spcBef>
        <a:spcAft>
          <a:spcPct val="0"/>
        </a:spcAft>
        <a:defRPr sz="3200">
          <a:solidFill>
            <a:schemeClr val="bg1"/>
          </a:solidFill>
          <a:latin typeface="Futura Bk" pitchFamily="34" charset="0"/>
        </a:defRPr>
      </a:lvl2pPr>
      <a:lvl3pPr algn="l" rtl="0" eaLnBrk="0" fontAlgn="base" hangingPunct="0">
        <a:spcBef>
          <a:spcPct val="0"/>
        </a:spcBef>
        <a:spcAft>
          <a:spcPct val="0"/>
        </a:spcAft>
        <a:defRPr sz="3200">
          <a:solidFill>
            <a:schemeClr val="bg1"/>
          </a:solidFill>
          <a:latin typeface="Futura Bk" pitchFamily="34" charset="0"/>
        </a:defRPr>
      </a:lvl3pPr>
      <a:lvl4pPr algn="l" rtl="0" eaLnBrk="0" fontAlgn="base" hangingPunct="0">
        <a:spcBef>
          <a:spcPct val="0"/>
        </a:spcBef>
        <a:spcAft>
          <a:spcPct val="0"/>
        </a:spcAft>
        <a:defRPr sz="3200">
          <a:solidFill>
            <a:schemeClr val="bg1"/>
          </a:solidFill>
          <a:latin typeface="Futura Bk" pitchFamily="34" charset="0"/>
        </a:defRPr>
      </a:lvl4pPr>
      <a:lvl5pPr algn="l" rtl="0" eaLnBrk="0" fontAlgn="base" hangingPunct="0">
        <a:spcBef>
          <a:spcPct val="0"/>
        </a:spcBef>
        <a:spcAft>
          <a:spcPct val="0"/>
        </a:spcAft>
        <a:defRPr sz="3200">
          <a:solidFill>
            <a:schemeClr val="bg1"/>
          </a:solidFill>
          <a:latin typeface="Futura Bk" pitchFamily="34" charset="0"/>
        </a:defRPr>
      </a:lvl5pPr>
      <a:lvl6pPr marL="457200" algn="l" rtl="0" fontAlgn="base">
        <a:spcBef>
          <a:spcPct val="0"/>
        </a:spcBef>
        <a:spcAft>
          <a:spcPct val="0"/>
        </a:spcAft>
        <a:defRPr sz="3200">
          <a:solidFill>
            <a:schemeClr val="bg1"/>
          </a:solidFill>
          <a:latin typeface="Futura Bk" pitchFamily="34" charset="0"/>
        </a:defRPr>
      </a:lvl6pPr>
      <a:lvl7pPr marL="914400" algn="l" rtl="0" fontAlgn="base">
        <a:spcBef>
          <a:spcPct val="0"/>
        </a:spcBef>
        <a:spcAft>
          <a:spcPct val="0"/>
        </a:spcAft>
        <a:defRPr sz="3200">
          <a:solidFill>
            <a:schemeClr val="bg1"/>
          </a:solidFill>
          <a:latin typeface="Futura Bk" pitchFamily="34" charset="0"/>
        </a:defRPr>
      </a:lvl7pPr>
      <a:lvl8pPr marL="1371600" algn="l" rtl="0" fontAlgn="base">
        <a:spcBef>
          <a:spcPct val="0"/>
        </a:spcBef>
        <a:spcAft>
          <a:spcPct val="0"/>
        </a:spcAft>
        <a:defRPr sz="3200">
          <a:solidFill>
            <a:schemeClr val="bg1"/>
          </a:solidFill>
          <a:latin typeface="Futura Bk" pitchFamily="34" charset="0"/>
        </a:defRPr>
      </a:lvl8pPr>
      <a:lvl9pPr marL="1828800" algn="l" rtl="0" fontAlgn="base">
        <a:spcBef>
          <a:spcPct val="0"/>
        </a:spcBef>
        <a:spcAft>
          <a:spcPct val="0"/>
        </a:spcAft>
        <a:defRPr sz="3200">
          <a:solidFill>
            <a:schemeClr val="bg1"/>
          </a:solidFill>
          <a:latin typeface="Futura Bk"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bg1"/>
          </a:solidFill>
          <a:latin typeface="Futura Bk" pitchFamily="34" charset="0"/>
          <a:ea typeface="+mn-ea"/>
          <a:cs typeface="+mn-cs"/>
        </a:defRPr>
      </a:lvl1pPr>
      <a:lvl2pPr marL="742950" indent="-28575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2pPr>
      <a:lvl3pPr marL="11430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4770837"/>
            <a:ext cx="9144000" cy="273844"/>
          </a:xfrm>
          <a:prstGeom prst="rect">
            <a:avLst/>
          </a:prstGeom>
        </p:spPr>
        <p:txBody>
          <a:bodyPr vert="horz" lIns="91440" tIns="45720" rIns="91440" bIns="45720" rtlCol="0" anchor="ctr"/>
          <a:lstStyle>
            <a:lvl1pPr algn="ctr" fontAlgn="auto">
              <a:spcBef>
                <a:spcPts val="0"/>
              </a:spcBef>
              <a:spcAft>
                <a:spcPts val="0"/>
              </a:spcAft>
              <a:defRPr sz="800">
                <a:solidFill>
                  <a:schemeClr val="tx1">
                    <a:tint val="75000"/>
                  </a:schemeClr>
                </a:solidFill>
                <a:latin typeface="Futura Bk" pitchFamily="34" charset="0"/>
              </a:defRPr>
            </a:lvl1pPr>
          </a:lstStyle>
          <a:p>
            <a:pPr defTabSz="914400">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800">
                <a:solidFill>
                  <a:schemeClr val="tx1">
                    <a:tint val="75000"/>
                  </a:schemeClr>
                </a:solidFill>
                <a:latin typeface="Futura Bk" pitchFamily="34" charset="0"/>
              </a:defRPr>
            </a:lvl1pPr>
          </a:lstStyle>
          <a:p>
            <a:pPr defTabSz="914400">
              <a:defRPr/>
            </a:pPr>
            <a:fld id="{C82771A6-17C1-4774-A7CD-C8EF54C4CC6F}" type="datetime1">
              <a:rPr lang="en-US" smtClean="0">
                <a:solidFill>
                  <a:prstClr val="black">
                    <a:tint val="75000"/>
                  </a:prstClr>
                </a:solidFill>
              </a:rPr>
              <a:pPr defTabSz="914400">
                <a:defRPr/>
              </a:pPr>
              <a:t>11/16/2012</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800">
                <a:solidFill>
                  <a:schemeClr val="tx1">
                    <a:tint val="75000"/>
                  </a:schemeClr>
                </a:solidFill>
                <a:latin typeface="Futura Bk" pitchFamily="34" charset="0"/>
              </a:defRPr>
            </a:lvl1pPr>
          </a:lstStyle>
          <a:p>
            <a:pPr defTabSz="914400">
              <a:defRPr/>
            </a:pPr>
            <a:fld id="{F3C16A76-00C6-413F-AD4F-021C6AF5512B}" type="slidenum">
              <a:rPr lang="en-US">
                <a:solidFill>
                  <a:prstClr val="black">
                    <a:tint val="75000"/>
                  </a:prstClr>
                </a:solidFill>
              </a:rPr>
              <a:pPr defTabSz="914400">
                <a:defRPr/>
              </a:pPr>
              <a:t>‹#›</a:t>
            </a:fld>
            <a:endParaRPr lang="en-US" dirty="0">
              <a:solidFill>
                <a:prstClr val="black">
                  <a:tint val="75000"/>
                </a:prstClr>
              </a:solidFill>
            </a:endParaRPr>
          </a:p>
        </p:txBody>
      </p:sp>
      <p:pic>
        <p:nvPicPr>
          <p:cNvPr id="3079" name="Picture 6" descr="HP_D_RGB_M.png"/>
          <p:cNvPicPr>
            <a:picLocks noChangeAspect="1"/>
          </p:cNvPicPr>
          <p:nvPr userDrawn="1"/>
        </p:nvPicPr>
        <p:blipFill>
          <a:blip r:embed="rId14" cstate="print"/>
          <a:srcRect/>
          <a:stretch>
            <a:fillRect/>
          </a:stretch>
        </p:blipFill>
        <p:spPr bwMode="auto">
          <a:xfrm>
            <a:off x="8153400" y="171450"/>
            <a:ext cx="685800" cy="514350"/>
          </a:xfrm>
          <a:prstGeom prst="rect">
            <a:avLst/>
          </a:prstGeom>
          <a:noFill/>
          <a:ln w="9525">
            <a:noFill/>
            <a:miter lim="800000"/>
            <a:headEnd/>
            <a:tailEnd/>
          </a:ln>
        </p:spPr>
      </p:pic>
      <p:sp>
        <p:nvSpPr>
          <p:cNvPr id="9" name="Title 1"/>
          <p:cNvSpPr txBox="1">
            <a:spLocks/>
          </p:cNvSpPr>
          <p:nvPr userDrawn="1"/>
        </p:nvSpPr>
        <p:spPr>
          <a:xfrm>
            <a:off x="685800" y="2097890"/>
            <a:ext cx="7772400" cy="1102519"/>
          </a:xfrm>
          <a:prstGeom prst="rect">
            <a:avLst/>
          </a:prstGeom>
        </p:spPr>
        <p:txBody>
          <a:bodyPr>
            <a:normAutofit/>
          </a:bodyPr>
          <a:lstStyle>
            <a:lvl1pPr>
              <a:defRPr sz="4400">
                <a:solidFill>
                  <a:schemeClr val="bg1"/>
                </a:solidFill>
              </a:defRPr>
            </a:lvl1pPr>
          </a:lstStyle>
          <a:p>
            <a:pPr defTabSz="914400" eaLnBrk="0" fontAlgn="base" hangingPunct="0">
              <a:spcBef>
                <a:spcPct val="0"/>
              </a:spcBef>
              <a:spcAft>
                <a:spcPct val="0"/>
              </a:spcAft>
              <a:defRPr/>
            </a:pPr>
            <a:r>
              <a:rPr lang="en-US" dirty="0" smtClean="0">
                <a:solidFill>
                  <a:prstClr val="white"/>
                </a:solidFill>
                <a:latin typeface="Futura Bk" pitchFamily="34" charset="0"/>
              </a:rPr>
              <a:t>Click to edit Master title style</a:t>
            </a:r>
            <a:endParaRPr lang="en-US" dirty="0">
              <a:solidFill>
                <a:prstClr val="white"/>
              </a:solidFill>
              <a:latin typeface="Futura Bk" pitchFamily="34" charset="0"/>
            </a:endParaRPr>
          </a:p>
        </p:txBody>
      </p:sp>
      <p:sp>
        <p:nvSpPr>
          <p:cNvPr id="10" name="Subtitle 2"/>
          <p:cNvSpPr txBox="1">
            <a:spLocks/>
          </p:cNvSpPr>
          <p:nvPr userDrawn="1"/>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defTabSz="914400" eaLnBrk="0" fontAlgn="base" hangingPunct="0">
              <a:spcBef>
                <a:spcPct val="20000"/>
              </a:spcBef>
              <a:spcAft>
                <a:spcPct val="0"/>
              </a:spcAft>
              <a:buFont typeface="Arial" charset="0"/>
              <a:buNone/>
              <a:defRPr/>
            </a:pPr>
            <a:r>
              <a:rPr lang="en-US" sz="2000" dirty="0" smtClean="0">
                <a:solidFill>
                  <a:prstClr val="white"/>
                </a:solidFill>
                <a:latin typeface="Futura Bk" pitchFamily="34" charset="0"/>
              </a:rPr>
              <a:t>Click to edit Master subtitle style</a:t>
            </a:r>
            <a:endParaRPr lang="en-US" sz="2000" dirty="0">
              <a:solidFill>
                <a:prstClr val="white"/>
              </a:solidFill>
              <a:latin typeface="Futura Bk" pitchFamily="34" charset="0"/>
            </a:endParaRPr>
          </a:p>
        </p:txBody>
      </p:sp>
    </p:spTree>
    <p:extLst>
      <p:ext uri="{BB962C8B-B14F-4D97-AF65-F5344CB8AC3E}">
        <p14:creationId xmlns:p14="http://schemas.microsoft.com/office/powerpoint/2010/main" xmlns="" val="395742314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 id="2147483886" r:id="rId7"/>
    <p:sldLayoutId id="2147483887" r:id="rId8"/>
    <p:sldLayoutId id="2147483888" r:id="rId9"/>
    <p:sldLayoutId id="2147483889" r:id="rId10"/>
    <p:sldLayoutId id="2147483890" r:id="rId11"/>
    <p:sldLayoutId id="2147483891" r:id="rId12"/>
  </p:sldLayoutIdLst>
  <p:transition spd="med">
    <p:fade/>
  </p:transition>
  <p:timing>
    <p:tnLst>
      <p:par>
        <p:cTn id="1" dur="indefinite" restart="never" nodeType="tmRoot"/>
      </p:par>
    </p:tnLst>
  </p:timing>
  <p:hf hdr="0"/>
  <p:txStyles>
    <p:titleStyle>
      <a:lvl1pPr algn="l" rtl="0" eaLnBrk="0" fontAlgn="base" hangingPunct="0">
        <a:spcBef>
          <a:spcPct val="0"/>
        </a:spcBef>
        <a:spcAft>
          <a:spcPct val="0"/>
        </a:spcAft>
        <a:defRPr sz="3200" kern="1200">
          <a:solidFill>
            <a:schemeClr val="bg1"/>
          </a:solidFill>
          <a:latin typeface="Futura Bk" pitchFamily="34" charset="0"/>
          <a:ea typeface="+mj-ea"/>
          <a:cs typeface="+mj-cs"/>
        </a:defRPr>
      </a:lvl1pPr>
      <a:lvl2pPr algn="l" rtl="0" eaLnBrk="0" fontAlgn="base" hangingPunct="0">
        <a:spcBef>
          <a:spcPct val="0"/>
        </a:spcBef>
        <a:spcAft>
          <a:spcPct val="0"/>
        </a:spcAft>
        <a:defRPr sz="3200">
          <a:solidFill>
            <a:schemeClr val="bg1"/>
          </a:solidFill>
          <a:latin typeface="Futura Bk" pitchFamily="34" charset="0"/>
        </a:defRPr>
      </a:lvl2pPr>
      <a:lvl3pPr algn="l" rtl="0" eaLnBrk="0" fontAlgn="base" hangingPunct="0">
        <a:spcBef>
          <a:spcPct val="0"/>
        </a:spcBef>
        <a:spcAft>
          <a:spcPct val="0"/>
        </a:spcAft>
        <a:defRPr sz="3200">
          <a:solidFill>
            <a:schemeClr val="bg1"/>
          </a:solidFill>
          <a:latin typeface="Futura Bk" pitchFamily="34" charset="0"/>
        </a:defRPr>
      </a:lvl3pPr>
      <a:lvl4pPr algn="l" rtl="0" eaLnBrk="0" fontAlgn="base" hangingPunct="0">
        <a:spcBef>
          <a:spcPct val="0"/>
        </a:spcBef>
        <a:spcAft>
          <a:spcPct val="0"/>
        </a:spcAft>
        <a:defRPr sz="3200">
          <a:solidFill>
            <a:schemeClr val="bg1"/>
          </a:solidFill>
          <a:latin typeface="Futura Bk" pitchFamily="34" charset="0"/>
        </a:defRPr>
      </a:lvl4pPr>
      <a:lvl5pPr algn="l" rtl="0" eaLnBrk="0" fontAlgn="base" hangingPunct="0">
        <a:spcBef>
          <a:spcPct val="0"/>
        </a:spcBef>
        <a:spcAft>
          <a:spcPct val="0"/>
        </a:spcAft>
        <a:defRPr sz="3200">
          <a:solidFill>
            <a:schemeClr val="bg1"/>
          </a:solidFill>
          <a:latin typeface="Futura Bk" pitchFamily="34" charset="0"/>
        </a:defRPr>
      </a:lvl5pPr>
      <a:lvl6pPr marL="457200" algn="l" rtl="0" fontAlgn="base">
        <a:spcBef>
          <a:spcPct val="0"/>
        </a:spcBef>
        <a:spcAft>
          <a:spcPct val="0"/>
        </a:spcAft>
        <a:defRPr sz="3200">
          <a:solidFill>
            <a:schemeClr val="bg1"/>
          </a:solidFill>
          <a:latin typeface="Futura Bk" pitchFamily="34" charset="0"/>
        </a:defRPr>
      </a:lvl6pPr>
      <a:lvl7pPr marL="914400" algn="l" rtl="0" fontAlgn="base">
        <a:spcBef>
          <a:spcPct val="0"/>
        </a:spcBef>
        <a:spcAft>
          <a:spcPct val="0"/>
        </a:spcAft>
        <a:defRPr sz="3200">
          <a:solidFill>
            <a:schemeClr val="bg1"/>
          </a:solidFill>
          <a:latin typeface="Futura Bk" pitchFamily="34" charset="0"/>
        </a:defRPr>
      </a:lvl7pPr>
      <a:lvl8pPr marL="1371600" algn="l" rtl="0" fontAlgn="base">
        <a:spcBef>
          <a:spcPct val="0"/>
        </a:spcBef>
        <a:spcAft>
          <a:spcPct val="0"/>
        </a:spcAft>
        <a:defRPr sz="3200">
          <a:solidFill>
            <a:schemeClr val="bg1"/>
          </a:solidFill>
          <a:latin typeface="Futura Bk" pitchFamily="34" charset="0"/>
        </a:defRPr>
      </a:lvl8pPr>
      <a:lvl9pPr marL="1828800" algn="l" rtl="0" fontAlgn="base">
        <a:spcBef>
          <a:spcPct val="0"/>
        </a:spcBef>
        <a:spcAft>
          <a:spcPct val="0"/>
        </a:spcAft>
        <a:defRPr sz="3200">
          <a:solidFill>
            <a:schemeClr val="bg1"/>
          </a:solidFill>
          <a:latin typeface="Futura Bk"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bg1"/>
          </a:solidFill>
          <a:latin typeface="Futura Bk" pitchFamily="34" charset="0"/>
          <a:ea typeface="+mn-ea"/>
          <a:cs typeface="+mn-cs"/>
        </a:defRPr>
      </a:lvl1pPr>
      <a:lvl2pPr marL="742950" indent="-28575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2pPr>
      <a:lvl3pPr marL="11430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4770837"/>
            <a:ext cx="9144000" cy="273844"/>
          </a:xfrm>
          <a:prstGeom prst="rect">
            <a:avLst/>
          </a:prstGeom>
        </p:spPr>
        <p:txBody>
          <a:bodyPr vert="horz" lIns="91440" tIns="45720" rIns="91440" bIns="45720" rtlCol="0" anchor="ctr"/>
          <a:lstStyle>
            <a:lvl1pPr algn="ctr" fontAlgn="auto">
              <a:spcBef>
                <a:spcPts val="0"/>
              </a:spcBef>
              <a:spcAft>
                <a:spcPts val="0"/>
              </a:spcAft>
              <a:defRPr sz="800">
                <a:solidFill>
                  <a:schemeClr val="tx1">
                    <a:tint val="75000"/>
                  </a:schemeClr>
                </a:solidFill>
                <a:latin typeface="Futura Bk" pitchFamily="34" charset="0"/>
              </a:defRPr>
            </a:lvl1pPr>
          </a:lstStyle>
          <a:p>
            <a:pPr defTabSz="914400">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800">
                <a:solidFill>
                  <a:schemeClr val="tx1">
                    <a:tint val="75000"/>
                  </a:schemeClr>
                </a:solidFill>
                <a:latin typeface="Futura Bk" pitchFamily="34" charset="0"/>
              </a:defRPr>
            </a:lvl1pPr>
          </a:lstStyle>
          <a:p>
            <a:pPr defTabSz="914400">
              <a:defRPr/>
            </a:pPr>
            <a:fld id="{C82771A6-17C1-4774-A7CD-C8EF54C4CC6F}" type="datetime1">
              <a:rPr lang="en-US" smtClean="0">
                <a:solidFill>
                  <a:prstClr val="black">
                    <a:tint val="75000"/>
                  </a:prstClr>
                </a:solidFill>
              </a:rPr>
              <a:pPr defTabSz="914400">
                <a:defRPr/>
              </a:pPr>
              <a:t>11/16/2012</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800">
                <a:solidFill>
                  <a:schemeClr val="tx1">
                    <a:tint val="75000"/>
                  </a:schemeClr>
                </a:solidFill>
                <a:latin typeface="Futura Bk" pitchFamily="34" charset="0"/>
              </a:defRPr>
            </a:lvl1pPr>
          </a:lstStyle>
          <a:p>
            <a:pPr defTabSz="914400">
              <a:defRPr/>
            </a:pPr>
            <a:fld id="{F3C16A76-00C6-413F-AD4F-021C6AF5512B}" type="slidenum">
              <a:rPr lang="en-US">
                <a:solidFill>
                  <a:prstClr val="black">
                    <a:tint val="75000"/>
                  </a:prstClr>
                </a:solidFill>
              </a:rPr>
              <a:pPr defTabSz="914400">
                <a:defRPr/>
              </a:pPr>
              <a:t>‹#›</a:t>
            </a:fld>
            <a:endParaRPr lang="en-US" dirty="0">
              <a:solidFill>
                <a:prstClr val="black">
                  <a:tint val="75000"/>
                </a:prstClr>
              </a:solidFill>
            </a:endParaRPr>
          </a:p>
        </p:txBody>
      </p:sp>
      <p:pic>
        <p:nvPicPr>
          <p:cNvPr id="3079" name="Picture 6" descr="HP_D_RGB_M.png"/>
          <p:cNvPicPr>
            <a:picLocks noChangeAspect="1"/>
          </p:cNvPicPr>
          <p:nvPr userDrawn="1"/>
        </p:nvPicPr>
        <p:blipFill>
          <a:blip r:embed="rId14" cstate="print"/>
          <a:srcRect/>
          <a:stretch>
            <a:fillRect/>
          </a:stretch>
        </p:blipFill>
        <p:spPr bwMode="auto">
          <a:xfrm>
            <a:off x="8153400" y="171450"/>
            <a:ext cx="685800" cy="514350"/>
          </a:xfrm>
          <a:prstGeom prst="rect">
            <a:avLst/>
          </a:prstGeom>
          <a:noFill/>
          <a:ln w="9525">
            <a:noFill/>
            <a:miter lim="800000"/>
            <a:headEnd/>
            <a:tailEnd/>
          </a:ln>
        </p:spPr>
      </p:pic>
      <p:sp>
        <p:nvSpPr>
          <p:cNvPr id="9" name="Title 1"/>
          <p:cNvSpPr txBox="1">
            <a:spLocks/>
          </p:cNvSpPr>
          <p:nvPr userDrawn="1"/>
        </p:nvSpPr>
        <p:spPr>
          <a:xfrm>
            <a:off x="685800" y="2097890"/>
            <a:ext cx="7772400" cy="1102519"/>
          </a:xfrm>
          <a:prstGeom prst="rect">
            <a:avLst/>
          </a:prstGeom>
        </p:spPr>
        <p:txBody>
          <a:bodyPr>
            <a:normAutofit/>
          </a:bodyPr>
          <a:lstStyle>
            <a:lvl1pPr>
              <a:defRPr sz="4400">
                <a:solidFill>
                  <a:schemeClr val="bg1"/>
                </a:solidFill>
              </a:defRPr>
            </a:lvl1pPr>
          </a:lstStyle>
          <a:p>
            <a:pPr defTabSz="914400" eaLnBrk="0" fontAlgn="base" hangingPunct="0">
              <a:spcBef>
                <a:spcPct val="0"/>
              </a:spcBef>
              <a:spcAft>
                <a:spcPct val="0"/>
              </a:spcAft>
              <a:defRPr/>
            </a:pPr>
            <a:r>
              <a:rPr lang="en-US" dirty="0" smtClean="0">
                <a:solidFill>
                  <a:prstClr val="white"/>
                </a:solidFill>
                <a:latin typeface="Futura Bk" pitchFamily="34" charset="0"/>
              </a:rPr>
              <a:t>Click to edit Master title style</a:t>
            </a:r>
            <a:endParaRPr lang="en-US" dirty="0">
              <a:solidFill>
                <a:prstClr val="white"/>
              </a:solidFill>
              <a:latin typeface="Futura Bk" pitchFamily="34" charset="0"/>
            </a:endParaRPr>
          </a:p>
        </p:txBody>
      </p:sp>
      <p:sp>
        <p:nvSpPr>
          <p:cNvPr id="10" name="Subtitle 2"/>
          <p:cNvSpPr txBox="1">
            <a:spLocks/>
          </p:cNvSpPr>
          <p:nvPr userDrawn="1"/>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defTabSz="914400" eaLnBrk="0" fontAlgn="base" hangingPunct="0">
              <a:spcBef>
                <a:spcPct val="20000"/>
              </a:spcBef>
              <a:spcAft>
                <a:spcPct val="0"/>
              </a:spcAft>
              <a:buFont typeface="Arial" charset="0"/>
              <a:buNone/>
              <a:defRPr/>
            </a:pPr>
            <a:r>
              <a:rPr lang="en-US" sz="2000" dirty="0" smtClean="0">
                <a:solidFill>
                  <a:prstClr val="white"/>
                </a:solidFill>
                <a:latin typeface="Futura Bk" pitchFamily="34" charset="0"/>
              </a:rPr>
              <a:t>Click to edit Master subtitle style</a:t>
            </a:r>
            <a:endParaRPr lang="en-US" sz="2000" dirty="0">
              <a:solidFill>
                <a:prstClr val="white"/>
              </a:solidFill>
              <a:latin typeface="Futura Bk" pitchFamily="34" charset="0"/>
            </a:endParaRPr>
          </a:p>
        </p:txBody>
      </p:sp>
    </p:spTree>
    <p:extLst>
      <p:ext uri="{BB962C8B-B14F-4D97-AF65-F5344CB8AC3E}">
        <p14:creationId xmlns:p14="http://schemas.microsoft.com/office/powerpoint/2010/main" xmlns="" val="3643173693"/>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 id="2147483904" r:id="rId12"/>
  </p:sldLayoutIdLst>
  <p:transition spd="med">
    <p:fade/>
  </p:transition>
  <p:timing>
    <p:tnLst>
      <p:par>
        <p:cTn id="1" dur="indefinite" restart="never" nodeType="tmRoot"/>
      </p:par>
    </p:tnLst>
  </p:timing>
  <p:hf hdr="0"/>
  <p:txStyles>
    <p:titleStyle>
      <a:lvl1pPr algn="l" rtl="0" eaLnBrk="0" fontAlgn="base" hangingPunct="0">
        <a:spcBef>
          <a:spcPct val="0"/>
        </a:spcBef>
        <a:spcAft>
          <a:spcPct val="0"/>
        </a:spcAft>
        <a:defRPr sz="3200" kern="1200">
          <a:solidFill>
            <a:schemeClr val="bg1"/>
          </a:solidFill>
          <a:latin typeface="Futura Bk" pitchFamily="34" charset="0"/>
          <a:ea typeface="+mj-ea"/>
          <a:cs typeface="+mj-cs"/>
        </a:defRPr>
      </a:lvl1pPr>
      <a:lvl2pPr algn="l" rtl="0" eaLnBrk="0" fontAlgn="base" hangingPunct="0">
        <a:spcBef>
          <a:spcPct val="0"/>
        </a:spcBef>
        <a:spcAft>
          <a:spcPct val="0"/>
        </a:spcAft>
        <a:defRPr sz="3200">
          <a:solidFill>
            <a:schemeClr val="bg1"/>
          </a:solidFill>
          <a:latin typeface="Futura Bk" pitchFamily="34" charset="0"/>
        </a:defRPr>
      </a:lvl2pPr>
      <a:lvl3pPr algn="l" rtl="0" eaLnBrk="0" fontAlgn="base" hangingPunct="0">
        <a:spcBef>
          <a:spcPct val="0"/>
        </a:spcBef>
        <a:spcAft>
          <a:spcPct val="0"/>
        </a:spcAft>
        <a:defRPr sz="3200">
          <a:solidFill>
            <a:schemeClr val="bg1"/>
          </a:solidFill>
          <a:latin typeface="Futura Bk" pitchFamily="34" charset="0"/>
        </a:defRPr>
      </a:lvl3pPr>
      <a:lvl4pPr algn="l" rtl="0" eaLnBrk="0" fontAlgn="base" hangingPunct="0">
        <a:spcBef>
          <a:spcPct val="0"/>
        </a:spcBef>
        <a:spcAft>
          <a:spcPct val="0"/>
        </a:spcAft>
        <a:defRPr sz="3200">
          <a:solidFill>
            <a:schemeClr val="bg1"/>
          </a:solidFill>
          <a:latin typeface="Futura Bk" pitchFamily="34" charset="0"/>
        </a:defRPr>
      </a:lvl4pPr>
      <a:lvl5pPr algn="l" rtl="0" eaLnBrk="0" fontAlgn="base" hangingPunct="0">
        <a:spcBef>
          <a:spcPct val="0"/>
        </a:spcBef>
        <a:spcAft>
          <a:spcPct val="0"/>
        </a:spcAft>
        <a:defRPr sz="3200">
          <a:solidFill>
            <a:schemeClr val="bg1"/>
          </a:solidFill>
          <a:latin typeface="Futura Bk" pitchFamily="34" charset="0"/>
        </a:defRPr>
      </a:lvl5pPr>
      <a:lvl6pPr marL="457200" algn="l" rtl="0" fontAlgn="base">
        <a:spcBef>
          <a:spcPct val="0"/>
        </a:spcBef>
        <a:spcAft>
          <a:spcPct val="0"/>
        </a:spcAft>
        <a:defRPr sz="3200">
          <a:solidFill>
            <a:schemeClr val="bg1"/>
          </a:solidFill>
          <a:latin typeface="Futura Bk" pitchFamily="34" charset="0"/>
        </a:defRPr>
      </a:lvl6pPr>
      <a:lvl7pPr marL="914400" algn="l" rtl="0" fontAlgn="base">
        <a:spcBef>
          <a:spcPct val="0"/>
        </a:spcBef>
        <a:spcAft>
          <a:spcPct val="0"/>
        </a:spcAft>
        <a:defRPr sz="3200">
          <a:solidFill>
            <a:schemeClr val="bg1"/>
          </a:solidFill>
          <a:latin typeface="Futura Bk" pitchFamily="34" charset="0"/>
        </a:defRPr>
      </a:lvl7pPr>
      <a:lvl8pPr marL="1371600" algn="l" rtl="0" fontAlgn="base">
        <a:spcBef>
          <a:spcPct val="0"/>
        </a:spcBef>
        <a:spcAft>
          <a:spcPct val="0"/>
        </a:spcAft>
        <a:defRPr sz="3200">
          <a:solidFill>
            <a:schemeClr val="bg1"/>
          </a:solidFill>
          <a:latin typeface="Futura Bk" pitchFamily="34" charset="0"/>
        </a:defRPr>
      </a:lvl8pPr>
      <a:lvl9pPr marL="1828800" algn="l" rtl="0" fontAlgn="base">
        <a:spcBef>
          <a:spcPct val="0"/>
        </a:spcBef>
        <a:spcAft>
          <a:spcPct val="0"/>
        </a:spcAft>
        <a:defRPr sz="3200">
          <a:solidFill>
            <a:schemeClr val="bg1"/>
          </a:solidFill>
          <a:latin typeface="Futura Bk"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bg1"/>
          </a:solidFill>
          <a:latin typeface="Futura Bk" pitchFamily="34" charset="0"/>
          <a:ea typeface="+mn-ea"/>
          <a:cs typeface="+mn-cs"/>
        </a:defRPr>
      </a:lvl1pPr>
      <a:lvl2pPr marL="742950" indent="-28575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2pPr>
      <a:lvl3pPr marL="11430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4770837"/>
            <a:ext cx="9144000" cy="273844"/>
          </a:xfrm>
          <a:prstGeom prst="rect">
            <a:avLst/>
          </a:prstGeom>
        </p:spPr>
        <p:txBody>
          <a:bodyPr vert="horz" lIns="91440" tIns="45720" rIns="91440" bIns="45720" rtlCol="0" anchor="ctr"/>
          <a:lstStyle>
            <a:lvl1pPr algn="ctr" fontAlgn="auto">
              <a:spcBef>
                <a:spcPts val="0"/>
              </a:spcBef>
              <a:spcAft>
                <a:spcPts val="0"/>
              </a:spcAft>
              <a:defRPr sz="800">
                <a:solidFill>
                  <a:schemeClr val="tx1">
                    <a:tint val="75000"/>
                  </a:schemeClr>
                </a:solidFill>
                <a:latin typeface="Futura Bk" pitchFamily="34" charset="0"/>
              </a:defRPr>
            </a:lvl1pPr>
          </a:lstStyle>
          <a:p>
            <a:pPr defTabSz="914400">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800">
                <a:solidFill>
                  <a:schemeClr val="tx1">
                    <a:tint val="75000"/>
                  </a:schemeClr>
                </a:solidFill>
                <a:latin typeface="Futura Bk" pitchFamily="34" charset="0"/>
              </a:defRPr>
            </a:lvl1pPr>
          </a:lstStyle>
          <a:p>
            <a:pPr defTabSz="914400">
              <a:defRPr/>
            </a:pPr>
            <a:fld id="{C82771A6-17C1-4774-A7CD-C8EF54C4CC6F}" type="datetime1">
              <a:rPr lang="en-US" smtClean="0">
                <a:solidFill>
                  <a:prstClr val="black">
                    <a:tint val="75000"/>
                  </a:prstClr>
                </a:solidFill>
              </a:rPr>
              <a:pPr defTabSz="914400">
                <a:defRPr/>
              </a:pPr>
              <a:t>11/16/2012</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800">
                <a:solidFill>
                  <a:schemeClr val="tx1">
                    <a:tint val="75000"/>
                  </a:schemeClr>
                </a:solidFill>
                <a:latin typeface="Futura Bk" pitchFamily="34" charset="0"/>
              </a:defRPr>
            </a:lvl1pPr>
          </a:lstStyle>
          <a:p>
            <a:pPr defTabSz="914400">
              <a:defRPr/>
            </a:pPr>
            <a:fld id="{F3C16A76-00C6-413F-AD4F-021C6AF5512B}" type="slidenum">
              <a:rPr lang="en-US">
                <a:solidFill>
                  <a:prstClr val="black">
                    <a:tint val="75000"/>
                  </a:prstClr>
                </a:solidFill>
              </a:rPr>
              <a:pPr defTabSz="914400">
                <a:defRPr/>
              </a:pPr>
              <a:t>‹#›</a:t>
            </a:fld>
            <a:endParaRPr lang="en-US" dirty="0">
              <a:solidFill>
                <a:prstClr val="black">
                  <a:tint val="75000"/>
                </a:prstClr>
              </a:solidFill>
            </a:endParaRPr>
          </a:p>
        </p:txBody>
      </p:sp>
      <p:pic>
        <p:nvPicPr>
          <p:cNvPr id="3079" name="Picture 6" descr="HP_D_RGB_M.png"/>
          <p:cNvPicPr>
            <a:picLocks noChangeAspect="1"/>
          </p:cNvPicPr>
          <p:nvPr userDrawn="1"/>
        </p:nvPicPr>
        <p:blipFill>
          <a:blip r:embed="rId16" cstate="print"/>
          <a:srcRect/>
          <a:stretch>
            <a:fillRect/>
          </a:stretch>
        </p:blipFill>
        <p:spPr bwMode="auto">
          <a:xfrm>
            <a:off x="8153400" y="171450"/>
            <a:ext cx="685800" cy="514350"/>
          </a:xfrm>
          <a:prstGeom prst="rect">
            <a:avLst/>
          </a:prstGeom>
          <a:noFill/>
          <a:ln w="9525">
            <a:noFill/>
            <a:miter lim="800000"/>
            <a:headEnd/>
            <a:tailEnd/>
          </a:ln>
        </p:spPr>
      </p:pic>
      <p:sp>
        <p:nvSpPr>
          <p:cNvPr id="9" name="Title 1"/>
          <p:cNvSpPr txBox="1">
            <a:spLocks/>
          </p:cNvSpPr>
          <p:nvPr userDrawn="1"/>
        </p:nvSpPr>
        <p:spPr>
          <a:xfrm>
            <a:off x="685800" y="2097890"/>
            <a:ext cx="7772400" cy="1102519"/>
          </a:xfrm>
          <a:prstGeom prst="rect">
            <a:avLst/>
          </a:prstGeom>
        </p:spPr>
        <p:txBody>
          <a:bodyPr>
            <a:normAutofit/>
          </a:bodyPr>
          <a:lstStyle>
            <a:lvl1pPr>
              <a:defRPr sz="4400">
                <a:solidFill>
                  <a:schemeClr val="bg1"/>
                </a:solidFill>
              </a:defRPr>
            </a:lvl1pPr>
          </a:lstStyle>
          <a:p>
            <a:pPr defTabSz="914400" eaLnBrk="0" fontAlgn="base" hangingPunct="0">
              <a:spcBef>
                <a:spcPct val="0"/>
              </a:spcBef>
              <a:spcAft>
                <a:spcPct val="0"/>
              </a:spcAft>
              <a:defRPr/>
            </a:pPr>
            <a:r>
              <a:rPr lang="en-US" dirty="0" smtClean="0">
                <a:solidFill>
                  <a:prstClr val="white"/>
                </a:solidFill>
                <a:latin typeface="Futura Bk" pitchFamily="34" charset="0"/>
              </a:rPr>
              <a:t>Click to edit Master title style</a:t>
            </a:r>
            <a:endParaRPr lang="en-US" dirty="0">
              <a:solidFill>
                <a:prstClr val="white"/>
              </a:solidFill>
              <a:latin typeface="Futura Bk" pitchFamily="34" charset="0"/>
            </a:endParaRPr>
          </a:p>
        </p:txBody>
      </p:sp>
      <p:sp>
        <p:nvSpPr>
          <p:cNvPr id="10" name="Subtitle 2"/>
          <p:cNvSpPr txBox="1">
            <a:spLocks/>
          </p:cNvSpPr>
          <p:nvPr userDrawn="1"/>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defTabSz="914400" eaLnBrk="0" fontAlgn="base" hangingPunct="0">
              <a:spcBef>
                <a:spcPct val="20000"/>
              </a:spcBef>
              <a:spcAft>
                <a:spcPct val="0"/>
              </a:spcAft>
              <a:buFont typeface="Arial" charset="0"/>
              <a:buNone/>
              <a:defRPr/>
            </a:pPr>
            <a:r>
              <a:rPr lang="en-US" sz="2000" dirty="0" smtClean="0">
                <a:solidFill>
                  <a:prstClr val="white"/>
                </a:solidFill>
                <a:latin typeface="Futura Bk" pitchFamily="34" charset="0"/>
              </a:rPr>
              <a:t>Click to edit Master subtitle style</a:t>
            </a:r>
            <a:endParaRPr lang="en-US" sz="2000" dirty="0">
              <a:solidFill>
                <a:prstClr val="white"/>
              </a:solidFill>
              <a:latin typeface="Futura Bk" pitchFamily="34" charset="0"/>
            </a:endParaRPr>
          </a:p>
        </p:txBody>
      </p:sp>
    </p:spTree>
    <p:extLst>
      <p:ext uri="{BB962C8B-B14F-4D97-AF65-F5344CB8AC3E}">
        <p14:creationId xmlns:p14="http://schemas.microsoft.com/office/powerpoint/2010/main" xmlns="" val="1249117708"/>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Lst>
  <p:transition spd="med">
    <p:fade/>
  </p:transition>
  <p:timing>
    <p:tnLst>
      <p:par>
        <p:cTn id="1" dur="indefinite" restart="never" nodeType="tmRoot"/>
      </p:par>
    </p:tnLst>
  </p:timing>
  <p:hf hdr="0"/>
  <p:txStyles>
    <p:titleStyle>
      <a:lvl1pPr algn="l" rtl="0" eaLnBrk="0" fontAlgn="base" hangingPunct="0">
        <a:spcBef>
          <a:spcPct val="0"/>
        </a:spcBef>
        <a:spcAft>
          <a:spcPct val="0"/>
        </a:spcAft>
        <a:defRPr sz="3200" kern="1200">
          <a:solidFill>
            <a:schemeClr val="bg1"/>
          </a:solidFill>
          <a:latin typeface="Futura Bk" pitchFamily="34" charset="0"/>
          <a:ea typeface="+mj-ea"/>
          <a:cs typeface="+mj-cs"/>
        </a:defRPr>
      </a:lvl1pPr>
      <a:lvl2pPr algn="l" rtl="0" eaLnBrk="0" fontAlgn="base" hangingPunct="0">
        <a:spcBef>
          <a:spcPct val="0"/>
        </a:spcBef>
        <a:spcAft>
          <a:spcPct val="0"/>
        </a:spcAft>
        <a:defRPr sz="3200">
          <a:solidFill>
            <a:schemeClr val="bg1"/>
          </a:solidFill>
          <a:latin typeface="Futura Bk" pitchFamily="34" charset="0"/>
        </a:defRPr>
      </a:lvl2pPr>
      <a:lvl3pPr algn="l" rtl="0" eaLnBrk="0" fontAlgn="base" hangingPunct="0">
        <a:spcBef>
          <a:spcPct val="0"/>
        </a:spcBef>
        <a:spcAft>
          <a:spcPct val="0"/>
        </a:spcAft>
        <a:defRPr sz="3200">
          <a:solidFill>
            <a:schemeClr val="bg1"/>
          </a:solidFill>
          <a:latin typeface="Futura Bk" pitchFamily="34" charset="0"/>
        </a:defRPr>
      </a:lvl3pPr>
      <a:lvl4pPr algn="l" rtl="0" eaLnBrk="0" fontAlgn="base" hangingPunct="0">
        <a:spcBef>
          <a:spcPct val="0"/>
        </a:spcBef>
        <a:spcAft>
          <a:spcPct val="0"/>
        </a:spcAft>
        <a:defRPr sz="3200">
          <a:solidFill>
            <a:schemeClr val="bg1"/>
          </a:solidFill>
          <a:latin typeface="Futura Bk" pitchFamily="34" charset="0"/>
        </a:defRPr>
      </a:lvl4pPr>
      <a:lvl5pPr algn="l" rtl="0" eaLnBrk="0" fontAlgn="base" hangingPunct="0">
        <a:spcBef>
          <a:spcPct val="0"/>
        </a:spcBef>
        <a:spcAft>
          <a:spcPct val="0"/>
        </a:spcAft>
        <a:defRPr sz="3200">
          <a:solidFill>
            <a:schemeClr val="bg1"/>
          </a:solidFill>
          <a:latin typeface="Futura Bk" pitchFamily="34" charset="0"/>
        </a:defRPr>
      </a:lvl5pPr>
      <a:lvl6pPr marL="457200" algn="l" rtl="0" fontAlgn="base">
        <a:spcBef>
          <a:spcPct val="0"/>
        </a:spcBef>
        <a:spcAft>
          <a:spcPct val="0"/>
        </a:spcAft>
        <a:defRPr sz="3200">
          <a:solidFill>
            <a:schemeClr val="bg1"/>
          </a:solidFill>
          <a:latin typeface="Futura Bk" pitchFamily="34" charset="0"/>
        </a:defRPr>
      </a:lvl6pPr>
      <a:lvl7pPr marL="914400" algn="l" rtl="0" fontAlgn="base">
        <a:spcBef>
          <a:spcPct val="0"/>
        </a:spcBef>
        <a:spcAft>
          <a:spcPct val="0"/>
        </a:spcAft>
        <a:defRPr sz="3200">
          <a:solidFill>
            <a:schemeClr val="bg1"/>
          </a:solidFill>
          <a:latin typeface="Futura Bk" pitchFamily="34" charset="0"/>
        </a:defRPr>
      </a:lvl7pPr>
      <a:lvl8pPr marL="1371600" algn="l" rtl="0" fontAlgn="base">
        <a:spcBef>
          <a:spcPct val="0"/>
        </a:spcBef>
        <a:spcAft>
          <a:spcPct val="0"/>
        </a:spcAft>
        <a:defRPr sz="3200">
          <a:solidFill>
            <a:schemeClr val="bg1"/>
          </a:solidFill>
          <a:latin typeface="Futura Bk" pitchFamily="34" charset="0"/>
        </a:defRPr>
      </a:lvl8pPr>
      <a:lvl9pPr marL="1828800" algn="l" rtl="0" fontAlgn="base">
        <a:spcBef>
          <a:spcPct val="0"/>
        </a:spcBef>
        <a:spcAft>
          <a:spcPct val="0"/>
        </a:spcAft>
        <a:defRPr sz="3200">
          <a:solidFill>
            <a:schemeClr val="bg1"/>
          </a:solidFill>
          <a:latin typeface="Futura Bk"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bg1"/>
          </a:solidFill>
          <a:latin typeface="Futura Bk" pitchFamily="34" charset="0"/>
          <a:ea typeface="+mn-ea"/>
          <a:cs typeface="+mn-cs"/>
        </a:defRPr>
      </a:lvl1pPr>
      <a:lvl2pPr marL="742950" indent="-28575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2pPr>
      <a:lvl3pPr marL="11430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4770837"/>
            <a:ext cx="9144000" cy="273844"/>
          </a:xfrm>
          <a:prstGeom prst="rect">
            <a:avLst/>
          </a:prstGeom>
        </p:spPr>
        <p:txBody>
          <a:bodyPr vert="horz" lIns="91440" tIns="45720" rIns="91440" bIns="45720" rtlCol="0" anchor="ctr"/>
          <a:lstStyle>
            <a:lvl1pPr algn="ctr" fontAlgn="auto">
              <a:spcBef>
                <a:spcPts val="0"/>
              </a:spcBef>
              <a:spcAft>
                <a:spcPts val="0"/>
              </a:spcAft>
              <a:defRPr sz="800">
                <a:solidFill>
                  <a:schemeClr val="tx1">
                    <a:tint val="75000"/>
                  </a:schemeClr>
                </a:solidFill>
                <a:latin typeface="Futura Bk" pitchFamily="34" charset="0"/>
              </a:defRPr>
            </a:lvl1pPr>
          </a:lstStyle>
          <a:p>
            <a:pPr defTabSz="914400">
              <a:defRPr/>
            </a:pPr>
            <a:r>
              <a:rPr lang="en-US" dirty="0" smtClean="0">
                <a:solidFill>
                  <a:prstClr val="black">
                    <a:tint val="75000"/>
                  </a:prstClr>
                </a:solidFill>
              </a:rPr>
              <a:t>© 2011 Hewlett-Packard Company - HP Confidential</a:t>
            </a:r>
            <a:endParaRPr lang="en-US" dirty="0">
              <a:solidFill>
                <a:prstClr val="black">
                  <a:tint val="75000"/>
                </a:prstClr>
              </a:solidFill>
            </a:endParaRP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800">
                <a:solidFill>
                  <a:schemeClr val="tx1">
                    <a:tint val="75000"/>
                  </a:schemeClr>
                </a:solidFill>
                <a:latin typeface="Futura Bk" pitchFamily="34" charset="0"/>
              </a:defRPr>
            </a:lvl1pPr>
          </a:lstStyle>
          <a:p>
            <a:pPr defTabSz="914400">
              <a:defRPr/>
            </a:pPr>
            <a:fld id="{C82771A6-17C1-4774-A7CD-C8EF54C4CC6F}" type="datetime1">
              <a:rPr lang="en-US" smtClean="0">
                <a:solidFill>
                  <a:prstClr val="black">
                    <a:tint val="75000"/>
                  </a:prstClr>
                </a:solidFill>
              </a:rPr>
              <a:pPr defTabSz="914400">
                <a:defRPr/>
              </a:pPr>
              <a:t>11/16/2012</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800">
                <a:solidFill>
                  <a:schemeClr val="tx1">
                    <a:tint val="75000"/>
                  </a:schemeClr>
                </a:solidFill>
                <a:latin typeface="Futura Bk" pitchFamily="34" charset="0"/>
              </a:defRPr>
            </a:lvl1pPr>
          </a:lstStyle>
          <a:p>
            <a:pPr defTabSz="914400">
              <a:defRPr/>
            </a:pPr>
            <a:fld id="{F3C16A76-00C6-413F-AD4F-021C6AF5512B}" type="slidenum">
              <a:rPr lang="en-US">
                <a:solidFill>
                  <a:prstClr val="black">
                    <a:tint val="75000"/>
                  </a:prstClr>
                </a:solidFill>
              </a:rPr>
              <a:pPr defTabSz="914400">
                <a:defRPr/>
              </a:pPr>
              <a:t>‹#›</a:t>
            </a:fld>
            <a:endParaRPr lang="en-US" dirty="0">
              <a:solidFill>
                <a:prstClr val="black">
                  <a:tint val="75000"/>
                </a:prstClr>
              </a:solidFill>
            </a:endParaRPr>
          </a:p>
        </p:txBody>
      </p:sp>
      <p:pic>
        <p:nvPicPr>
          <p:cNvPr id="3079" name="Picture 6" descr="HP_D_RGB_M.png"/>
          <p:cNvPicPr>
            <a:picLocks noChangeAspect="1"/>
          </p:cNvPicPr>
          <p:nvPr userDrawn="1"/>
        </p:nvPicPr>
        <p:blipFill>
          <a:blip r:embed="rId16" cstate="print"/>
          <a:srcRect/>
          <a:stretch>
            <a:fillRect/>
          </a:stretch>
        </p:blipFill>
        <p:spPr bwMode="auto">
          <a:xfrm>
            <a:off x="8153400" y="171450"/>
            <a:ext cx="685800" cy="514350"/>
          </a:xfrm>
          <a:prstGeom prst="rect">
            <a:avLst/>
          </a:prstGeom>
          <a:noFill/>
          <a:ln w="9525">
            <a:noFill/>
            <a:miter lim="800000"/>
            <a:headEnd/>
            <a:tailEnd/>
          </a:ln>
        </p:spPr>
      </p:pic>
      <p:sp>
        <p:nvSpPr>
          <p:cNvPr id="9" name="Title 1"/>
          <p:cNvSpPr txBox="1">
            <a:spLocks/>
          </p:cNvSpPr>
          <p:nvPr userDrawn="1"/>
        </p:nvSpPr>
        <p:spPr>
          <a:xfrm>
            <a:off x="685800" y="2097890"/>
            <a:ext cx="7772400" cy="1102519"/>
          </a:xfrm>
          <a:prstGeom prst="rect">
            <a:avLst/>
          </a:prstGeom>
        </p:spPr>
        <p:txBody>
          <a:bodyPr>
            <a:normAutofit/>
          </a:bodyPr>
          <a:lstStyle>
            <a:lvl1pPr>
              <a:defRPr sz="4400">
                <a:solidFill>
                  <a:schemeClr val="bg1"/>
                </a:solidFill>
              </a:defRPr>
            </a:lvl1pPr>
          </a:lstStyle>
          <a:p>
            <a:pPr defTabSz="914400" eaLnBrk="0" fontAlgn="base" hangingPunct="0">
              <a:spcBef>
                <a:spcPct val="0"/>
              </a:spcBef>
              <a:spcAft>
                <a:spcPct val="0"/>
              </a:spcAft>
              <a:defRPr/>
            </a:pPr>
            <a:r>
              <a:rPr lang="en-US" dirty="0" smtClean="0">
                <a:solidFill>
                  <a:prstClr val="white"/>
                </a:solidFill>
                <a:latin typeface="Futura Bk" pitchFamily="34" charset="0"/>
              </a:rPr>
              <a:t>Click to edit Master title style</a:t>
            </a:r>
            <a:endParaRPr lang="en-US" dirty="0">
              <a:solidFill>
                <a:prstClr val="white"/>
              </a:solidFill>
              <a:latin typeface="Futura Bk" pitchFamily="34" charset="0"/>
            </a:endParaRPr>
          </a:p>
        </p:txBody>
      </p:sp>
      <p:sp>
        <p:nvSpPr>
          <p:cNvPr id="10" name="Subtitle 2"/>
          <p:cNvSpPr txBox="1">
            <a:spLocks/>
          </p:cNvSpPr>
          <p:nvPr userDrawn="1"/>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defTabSz="914400" eaLnBrk="0" fontAlgn="base" hangingPunct="0">
              <a:spcBef>
                <a:spcPct val="20000"/>
              </a:spcBef>
              <a:spcAft>
                <a:spcPct val="0"/>
              </a:spcAft>
              <a:buFont typeface="Arial" charset="0"/>
              <a:buNone/>
              <a:defRPr/>
            </a:pPr>
            <a:r>
              <a:rPr lang="en-US" sz="2000" dirty="0" smtClean="0">
                <a:solidFill>
                  <a:prstClr val="white"/>
                </a:solidFill>
                <a:latin typeface="Futura Bk" pitchFamily="34" charset="0"/>
              </a:rPr>
              <a:t>Click to edit Master subtitle style</a:t>
            </a:r>
            <a:endParaRPr lang="en-US" sz="2000" dirty="0">
              <a:solidFill>
                <a:prstClr val="white"/>
              </a:solidFill>
              <a:latin typeface="Futura Bk" pitchFamily="34" charset="0"/>
            </a:endParaRPr>
          </a:p>
        </p:txBody>
      </p:sp>
    </p:spTree>
    <p:extLst>
      <p:ext uri="{BB962C8B-B14F-4D97-AF65-F5344CB8AC3E}">
        <p14:creationId xmlns:p14="http://schemas.microsoft.com/office/powerpoint/2010/main" xmlns="" val="3426028887"/>
      </p:ext>
    </p:extLst>
  </p:cSld>
  <p:clrMap bg1="lt1" tx1="dk1" bg2="lt2" tx2="dk2" accent1="accent1" accent2="accent2" accent3="accent3" accent4="accent4" accent5="accent5" accent6="accent6" hlink="hlink" folHlink="folHlink"/>
  <p:sldLayoutIdLst>
    <p:sldLayoutId id="2147483921" r:id="rId1"/>
    <p:sldLayoutId id="2147483922" r:id="rId2"/>
    <p:sldLayoutId id="2147483923" r:id="rId3"/>
    <p:sldLayoutId id="2147483924" r:id="rId4"/>
    <p:sldLayoutId id="2147483925" r:id="rId5"/>
    <p:sldLayoutId id="2147483926" r:id="rId6"/>
    <p:sldLayoutId id="2147483927" r:id="rId7"/>
    <p:sldLayoutId id="2147483928" r:id="rId8"/>
    <p:sldLayoutId id="2147483929" r:id="rId9"/>
    <p:sldLayoutId id="2147483930" r:id="rId10"/>
    <p:sldLayoutId id="2147483931" r:id="rId11"/>
    <p:sldLayoutId id="2147483932" r:id="rId12"/>
    <p:sldLayoutId id="2147483933" r:id="rId13"/>
    <p:sldLayoutId id="2147483934" r:id="rId14"/>
  </p:sldLayoutIdLst>
  <p:transition spd="med">
    <p:fade/>
  </p:transition>
  <p:timing>
    <p:tnLst>
      <p:par>
        <p:cTn id="1" dur="indefinite" restart="never" nodeType="tmRoot"/>
      </p:par>
    </p:tnLst>
  </p:timing>
  <p:hf hdr="0"/>
  <p:txStyles>
    <p:titleStyle>
      <a:lvl1pPr algn="l" rtl="0" eaLnBrk="0" fontAlgn="base" hangingPunct="0">
        <a:spcBef>
          <a:spcPct val="0"/>
        </a:spcBef>
        <a:spcAft>
          <a:spcPct val="0"/>
        </a:spcAft>
        <a:defRPr sz="3200" kern="1200">
          <a:solidFill>
            <a:schemeClr val="bg1"/>
          </a:solidFill>
          <a:latin typeface="Futura Bk" pitchFamily="34" charset="0"/>
          <a:ea typeface="+mj-ea"/>
          <a:cs typeface="+mj-cs"/>
        </a:defRPr>
      </a:lvl1pPr>
      <a:lvl2pPr algn="l" rtl="0" eaLnBrk="0" fontAlgn="base" hangingPunct="0">
        <a:spcBef>
          <a:spcPct val="0"/>
        </a:spcBef>
        <a:spcAft>
          <a:spcPct val="0"/>
        </a:spcAft>
        <a:defRPr sz="3200">
          <a:solidFill>
            <a:schemeClr val="bg1"/>
          </a:solidFill>
          <a:latin typeface="Futura Bk" pitchFamily="34" charset="0"/>
        </a:defRPr>
      </a:lvl2pPr>
      <a:lvl3pPr algn="l" rtl="0" eaLnBrk="0" fontAlgn="base" hangingPunct="0">
        <a:spcBef>
          <a:spcPct val="0"/>
        </a:spcBef>
        <a:spcAft>
          <a:spcPct val="0"/>
        </a:spcAft>
        <a:defRPr sz="3200">
          <a:solidFill>
            <a:schemeClr val="bg1"/>
          </a:solidFill>
          <a:latin typeface="Futura Bk" pitchFamily="34" charset="0"/>
        </a:defRPr>
      </a:lvl3pPr>
      <a:lvl4pPr algn="l" rtl="0" eaLnBrk="0" fontAlgn="base" hangingPunct="0">
        <a:spcBef>
          <a:spcPct val="0"/>
        </a:spcBef>
        <a:spcAft>
          <a:spcPct val="0"/>
        </a:spcAft>
        <a:defRPr sz="3200">
          <a:solidFill>
            <a:schemeClr val="bg1"/>
          </a:solidFill>
          <a:latin typeface="Futura Bk" pitchFamily="34" charset="0"/>
        </a:defRPr>
      </a:lvl4pPr>
      <a:lvl5pPr algn="l" rtl="0" eaLnBrk="0" fontAlgn="base" hangingPunct="0">
        <a:spcBef>
          <a:spcPct val="0"/>
        </a:spcBef>
        <a:spcAft>
          <a:spcPct val="0"/>
        </a:spcAft>
        <a:defRPr sz="3200">
          <a:solidFill>
            <a:schemeClr val="bg1"/>
          </a:solidFill>
          <a:latin typeface="Futura Bk" pitchFamily="34" charset="0"/>
        </a:defRPr>
      </a:lvl5pPr>
      <a:lvl6pPr marL="457200" algn="l" rtl="0" fontAlgn="base">
        <a:spcBef>
          <a:spcPct val="0"/>
        </a:spcBef>
        <a:spcAft>
          <a:spcPct val="0"/>
        </a:spcAft>
        <a:defRPr sz="3200">
          <a:solidFill>
            <a:schemeClr val="bg1"/>
          </a:solidFill>
          <a:latin typeface="Futura Bk" pitchFamily="34" charset="0"/>
        </a:defRPr>
      </a:lvl6pPr>
      <a:lvl7pPr marL="914400" algn="l" rtl="0" fontAlgn="base">
        <a:spcBef>
          <a:spcPct val="0"/>
        </a:spcBef>
        <a:spcAft>
          <a:spcPct val="0"/>
        </a:spcAft>
        <a:defRPr sz="3200">
          <a:solidFill>
            <a:schemeClr val="bg1"/>
          </a:solidFill>
          <a:latin typeface="Futura Bk" pitchFamily="34" charset="0"/>
        </a:defRPr>
      </a:lvl7pPr>
      <a:lvl8pPr marL="1371600" algn="l" rtl="0" fontAlgn="base">
        <a:spcBef>
          <a:spcPct val="0"/>
        </a:spcBef>
        <a:spcAft>
          <a:spcPct val="0"/>
        </a:spcAft>
        <a:defRPr sz="3200">
          <a:solidFill>
            <a:schemeClr val="bg1"/>
          </a:solidFill>
          <a:latin typeface="Futura Bk" pitchFamily="34" charset="0"/>
        </a:defRPr>
      </a:lvl8pPr>
      <a:lvl9pPr marL="1828800" algn="l" rtl="0" fontAlgn="base">
        <a:spcBef>
          <a:spcPct val="0"/>
        </a:spcBef>
        <a:spcAft>
          <a:spcPct val="0"/>
        </a:spcAft>
        <a:defRPr sz="3200">
          <a:solidFill>
            <a:schemeClr val="bg1"/>
          </a:solidFill>
          <a:latin typeface="Futura Bk"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bg1"/>
          </a:solidFill>
          <a:latin typeface="Futura Bk" pitchFamily="34" charset="0"/>
          <a:ea typeface="+mn-ea"/>
          <a:cs typeface="+mn-cs"/>
        </a:defRPr>
      </a:lvl1pPr>
      <a:lvl2pPr marL="742950" indent="-28575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2pPr>
      <a:lvl3pPr marL="11430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328614" y="235064"/>
            <a:ext cx="8123236" cy="430887"/>
          </a:xfrm>
          <a:prstGeom prst="rect">
            <a:avLst/>
          </a:prstGeom>
          <a:ln>
            <a:noFill/>
          </a:ln>
        </p:spPr>
        <p:txBody>
          <a:bodyPr vert="horz" wrap="square" lIns="0" tIns="0" rIns="0" bIns="0" rtlCol="0" anchor="t" anchorCtr="0">
            <a:noAutofit/>
          </a:bodyPr>
          <a:lstStyle/>
          <a:p>
            <a:r>
              <a:rPr lang="en-US" noProof="0" smtClean="0"/>
              <a:t>Click to edit Master title style</a:t>
            </a:r>
            <a:endParaRPr lang="en-US" noProof="0" dirty="0"/>
          </a:p>
        </p:txBody>
      </p:sp>
      <p:sp>
        <p:nvSpPr>
          <p:cNvPr id="7" name="Text Placeholder 6"/>
          <p:cNvSpPr>
            <a:spLocks noGrp="1"/>
          </p:cNvSpPr>
          <p:nvPr>
            <p:ph type="body" idx="1"/>
          </p:nvPr>
        </p:nvSpPr>
        <p:spPr bwMode="black">
          <a:xfrm>
            <a:off x="330200" y="1188720"/>
            <a:ext cx="8119872" cy="3219768"/>
          </a:xfrm>
          <a:prstGeom prst="rect">
            <a:avLst/>
          </a:prstGeom>
        </p:spPr>
        <p:txBody>
          <a:bodyPr vert="horz" wrap="square"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Box 8"/>
          <p:cNvSpPr txBox="1"/>
          <p:nvPr/>
        </p:nvSpPr>
        <p:spPr>
          <a:xfrm>
            <a:off x="444577" y="4758803"/>
            <a:ext cx="8012545" cy="228600"/>
          </a:xfrm>
          <a:prstGeom prst="rect">
            <a:avLst/>
          </a:prstGeom>
          <a:noFill/>
        </p:spPr>
        <p:txBody>
          <a:bodyPr wrap="square"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sp>
        <p:nvSpPr>
          <p:cNvPr id="8" name="TextBox 7"/>
          <p:cNvSpPr txBox="1"/>
          <p:nvPr/>
        </p:nvSpPr>
        <p:spPr bwMode="gray">
          <a:xfrm>
            <a:off x="329217" y="4788486"/>
            <a:ext cx="323009" cy="149332"/>
          </a:xfrm>
          <a:prstGeom prst="rect">
            <a:avLst/>
          </a:prstGeom>
        </p:spPr>
        <p:txBody>
          <a:bodyPr vert="horz" wrap="none" lIns="0" tIns="45720" rIns="91440" bIns="45720" rtlCol="0" anchor="ctr">
            <a:noAutofit/>
          </a:bodyPr>
          <a:lstStyle/>
          <a:p>
            <a:pPr defTabSz="914400"/>
            <a:fld id="{6C5AF65D-6854-49AF-ABC5-48B5BA0EA842}" type="slidenum">
              <a:rPr lang="en-US" sz="700" smtClean="0">
                <a:solidFill>
                  <a:srgbClr val="B9B8BB"/>
                </a:solidFill>
                <a:cs typeface="HP Simplified"/>
              </a:rPr>
              <a:pPr defTabSz="914400"/>
              <a:t>‹#›</a:t>
            </a:fld>
            <a:endParaRPr lang="en-US" sz="700" dirty="0" smtClean="0">
              <a:solidFill>
                <a:srgbClr val="B9B8BB"/>
              </a:solidFill>
              <a:cs typeface="HP Simplified"/>
            </a:endParaRPr>
          </a:p>
        </p:txBody>
      </p:sp>
      <p:pic>
        <p:nvPicPr>
          <p:cNvPr id="4" name="Picture 3" descr="HP_Blue_RGB_150_SM.png"/>
          <p:cNvPicPr>
            <a:picLocks noChangeAspect="1"/>
          </p:cNvPicPr>
          <p:nvPr/>
        </p:nvPicPr>
        <p:blipFill>
          <a:blip r:embed="rId12">
            <a:extLst>
              <a:ext uri="{28A0092B-C50C-407E-A947-70E740481C1C}">
                <a14:useLocalDpi xmlns:a14="http://schemas.microsoft.com/office/drawing/2010/main" xmlns="" val="0"/>
              </a:ext>
            </a:extLst>
          </a:blip>
          <a:stretch>
            <a:fillRect/>
          </a:stretch>
        </p:blipFill>
        <p:spPr>
          <a:xfrm>
            <a:off x="8503920" y="4535424"/>
            <a:ext cx="365760" cy="365760"/>
          </a:xfrm>
          <a:prstGeom prst="rect">
            <a:avLst/>
          </a:prstGeom>
        </p:spPr>
      </p:pic>
      <p:pic>
        <p:nvPicPr>
          <p:cNvPr id="10" name="Picture 2"/>
          <p:cNvPicPr>
            <a:picLocks noChangeAspect="1" noChangeArrowheads="1"/>
          </p:cNvPicPr>
          <p:nvPr userDrawn="1"/>
        </p:nvPicPr>
        <p:blipFill>
          <a:blip r:embed="rId13"/>
          <a:srcRect/>
          <a:stretch>
            <a:fillRect/>
          </a:stretch>
        </p:blipFill>
        <p:spPr bwMode="auto">
          <a:xfrm>
            <a:off x="8368300" y="38"/>
            <a:ext cx="847036" cy="698045"/>
          </a:xfrm>
          <a:prstGeom prst="rect">
            <a:avLst/>
          </a:prstGeom>
          <a:noFill/>
          <a:ln w="9525">
            <a:noFill/>
            <a:miter lim="800000"/>
            <a:headEnd/>
            <a:tailEnd/>
          </a:ln>
          <a:effectLst/>
        </p:spPr>
      </p:pic>
    </p:spTree>
    <p:extLst>
      <p:ext uri="{BB962C8B-B14F-4D97-AF65-F5344CB8AC3E}">
        <p14:creationId xmlns:p14="http://schemas.microsoft.com/office/powerpoint/2010/main" xmlns="" val="894469084"/>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spcAft>
          <a:spcPts val="0"/>
        </a:spcAft>
        <a:buNone/>
        <a:defRPr lang="en-GB" sz="2800" b="1" i="0" kern="1200" dirty="0" smtClean="0">
          <a:solidFill>
            <a:srgbClr val="000000"/>
          </a:solidFill>
          <a:latin typeface="HP Simplified" pitchFamily="34" charset="0"/>
          <a:ea typeface="+mj-ea"/>
          <a:cs typeface="HP Simplified" pitchFamily="34" charset="0"/>
        </a:defRPr>
      </a:lvl1pPr>
    </p:titleStyle>
    <p:body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dirty="0" smtClean="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328614" y="235064"/>
            <a:ext cx="8123236" cy="430887"/>
          </a:xfrm>
          <a:prstGeom prst="rect">
            <a:avLst/>
          </a:prstGeom>
          <a:ln>
            <a:noFill/>
          </a:ln>
        </p:spPr>
        <p:txBody>
          <a:bodyPr vert="horz" wrap="square" lIns="0" tIns="0" rIns="0" bIns="0" rtlCol="0" anchor="t" anchorCtr="0">
            <a:noAutofit/>
          </a:bodyPr>
          <a:lstStyle/>
          <a:p>
            <a:r>
              <a:rPr lang="en-US" noProof="0" smtClean="0"/>
              <a:t>Click to edit Master title style</a:t>
            </a:r>
            <a:endParaRPr lang="en-US" noProof="0" dirty="0"/>
          </a:p>
        </p:txBody>
      </p:sp>
      <p:sp>
        <p:nvSpPr>
          <p:cNvPr id="7" name="Text Placeholder 6"/>
          <p:cNvSpPr>
            <a:spLocks noGrp="1"/>
          </p:cNvSpPr>
          <p:nvPr>
            <p:ph type="body" idx="1"/>
          </p:nvPr>
        </p:nvSpPr>
        <p:spPr bwMode="black">
          <a:xfrm>
            <a:off x="330200" y="1188720"/>
            <a:ext cx="8119872" cy="3219768"/>
          </a:xfrm>
          <a:prstGeom prst="rect">
            <a:avLst/>
          </a:prstGeom>
        </p:spPr>
        <p:txBody>
          <a:bodyPr vert="horz" wrap="square"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Box 8"/>
          <p:cNvSpPr txBox="1"/>
          <p:nvPr/>
        </p:nvSpPr>
        <p:spPr>
          <a:xfrm>
            <a:off x="444577" y="4758803"/>
            <a:ext cx="8012545" cy="228600"/>
          </a:xfrm>
          <a:prstGeom prst="rect">
            <a:avLst/>
          </a:prstGeom>
          <a:noFill/>
        </p:spPr>
        <p:txBody>
          <a:bodyPr wrap="square"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sp>
        <p:nvSpPr>
          <p:cNvPr id="8" name="TextBox 7"/>
          <p:cNvSpPr txBox="1"/>
          <p:nvPr/>
        </p:nvSpPr>
        <p:spPr bwMode="gray">
          <a:xfrm>
            <a:off x="329217" y="4788486"/>
            <a:ext cx="323009" cy="149332"/>
          </a:xfrm>
          <a:prstGeom prst="rect">
            <a:avLst/>
          </a:prstGeom>
        </p:spPr>
        <p:txBody>
          <a:bodyPr vert="horz" wrap="none" lIns="0" tIns="45720" rIns="91440" bIns="45720" rtlCol="0" anchor="ctr">
            <a:noAutofit/>
          </a:bodyPr>
          <a:lstStyle/>
          <a:p>
            <a:pPr defTabSz="914400"/>
            <a:fld id="{6C5AF65D-6854-49AF-ABC5-48B5BA0EA842}" type="slidenum">
              <a:rPr lang="en-US" sz="700" smtClean="0">
                <a:solidFill>
                  <a:srgbClr val="B9B8BB"/>
                </a:solidFill>
                <a:cs typeface="HP Simplified"/>
              </a:rPr>
              <a:pPr defTabSz="914400"/>
              <a:t>‹#›</a:t>
            </a:fld>
            <a:endParaRPr lang="en-US" sz="700" dirty="0" smtClean="0">
              <a:solidFill>
                <a:srgbClr val="B9B8BB"/>
              </a:solidFill>
              <a:cs typeface="HP Simplified"/>
            </a:endParaRPr>
          </a:p>
        </p:txBody>
      </p:sp>
      <p:pic>
        <p:nvPicPr>
          <p:cNvPr id="4" name="Picture 3" descr="HP_Blue_RGB_150_SM.png"/>
          <p:cNvPicPr>
            <a:picLocks noChangeAspect="1"/>
          </p:cNvPicPr>
          <p:nvPr/>
        </p:nvPicPr>
        <p:blipFill>
          <a:blip r:embed="rId12">
            <a:extLst>
              <a:ext uri="{28A0092B-C50C-407E-A947-70E740481C1C}">
                <a14:useLocalDpi xmlns:a14="http://schemas.microsoft.com/office/drawing/2010/main" xmlns="" val="0"/>
              </a:ext>
            </a:extLst>
          </a:blip>
          <a:stretch>
            <a:fillRect/>
          </a:stretch>
        </p:blipFill>
        <p:spPr>
          <a:xfrm>
            <a:off x="8503920" y="4535424"/>
            <a:ext cx="365760" cy="365760"/>
          </a:xfrm>
          <a:prstGeom prst="rect">
            <a:avLst/>
          </a:prstGeom>
        </p:spPr>
      </p:pic>
      <p:pic>
        <p:nvPicPr>
          <p:cNvPr id="10" name="Picture 2"/>
          <p:cNvPicPr>
            <a:picLocks noChangeAspect="1" noChangeArrowheads="1"/>
          </p:cNvPicPr>
          <p:nvPr userDrawn="1"/>
        </p:nvPicPr>
        <p:blipFill>
          <a:blip r:embed="rId13"/>
          <a:srcRect/>
          <a:stretch>
            <a:fillRect/>
          </a:stretch>
        </p:blipFill>
        <p:spPr bwMode="auto">
          <a:xfrm>
            <a:off x="8368300" y="38"/>
            <a:ext cx="847036" cy="698045"/>
          </a:xfrm>
          <a:prstGeom prst="rect">
            <a:avLst/>
          </a:prstGeom>
          <a:noFill/>
          <a:ln w="9525">
            <a:noFill/>
            <a:miter lim="800000"/>
            <a:headEnd/>
            <a:tailEnd/>
          </a:ln>
          <a:effectLst/>
        </p:spPr>
      </p:pic>
    </p:spTree>
    <p:extLst>
      <p:ext uri="{BB962C8B-B14F-4D97-AF65-F5344CB8AC3E}">
        <p14:creationId xmlns:p14="http://schemas.microsoft.com/office/powerpoint/2010/main" xmlns="" val="734682459"/>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spcAft>
          <a:spcPts val="0"/>
        </a:spcAft>
        <a:buNone/>
        <a:defRPr lang="en-GB" sz="2800" b="1" i="0" kern="1200" dirty="0" smtClean="0">
          <a:solidFill>
            <a:srgbClr val="000000"/>
          </a:solidFill>
          <a:latin typeface="HP Simplified" pitchFamily="34" charset="0"/>
          <a:ea typeface="+mj-ea"/>
          <a:cs typeface="HP Simplified" pitchFamily="34" charset="0"/>
        </a:defRPr>
      </a:lvl1pPr>
    </p:titleStyle>
    <p:body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dirty="0" smtClean="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328614" y="235064"/>
            <a:ext cx="8123236" cy="430887"/>
          </a:xfrm>
          <a:prstGeom prst="rect">
            <a:avLst/>
          </a:prstGeom>
          <a:ln>
            <a:noFill/>
          </a:ln>
        </p:spPr>
        <p:txBody>
          <a:bodyPr vert="horz" wrap="square" lIns="0" tIns="0" rIns="0" bIns="0" rtlCol="0" anchor="t" anchorCtr="0">
            <a:noAutofit/>
          </a:bodyPr>
          <a:lstStyle/>
          <a:p>
            <a:r>
              <a:rPr lang="en-US" noProof="0" smtClean="0"/>
              <a:t>Click to edit Master title style</a:t>
            </a:r>
            <a:endParaRPr lang="en-US" noProof="0" dirty="0"/>
          </a:p>
        </p:txBody>
      </p:sp>
      <p:sp>
        <p:nvSpPr>
          <p:cNvPr id="7" name="Text Placeholder 6"/>
          <p:cNvSpPr>
            <a:spLocks noGrp="1"/>
          </p:cNvSpPr>
          <p:nvPr>
            <p:ph type="body" idx="1"/>
          </p:nvPr>
        </p:nvSpPr>
        <p:spPr bwMode="black">
          <a:xfrm>
            <a:off x="330200" y="1188720"/>
            <a:ext cx="8119872" cy="3219768"/>
          </a:xfrm>
          <a:prstGeom prst="rect">
            <a:avLst/>
          </a:prstGeom>
        </p:spPr>
        <p:txBody>
          <a:bodyPr vert="horz" wrap="square"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Box 8"/>
          <p:cNvSpPr txBox="1"/>
          <p:nvPr/>
        </p:nvSpPr>
        <p:spPr>
          <a:xfrm>
            <a:off x="444577" y="4758803"/>
            <a:ext cx="8012545" cy="228600"/>
          </a:xfrm>
          <a:prstGeom prst="rect">
            <a:avLst/>
          </a:prstGeom>
          <a:noFill/>
        </p:spPr>
        <p:txBody>
          <a:bodyPr wrap="square"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sp>
        <p:nvSpPr>
          <p:cNvPr id="8" name="TextBox 7"/>
          <p:cNvSpPr txBox="1"/>
          <p:nvPr/>
        </p:nvSpPr>
        <p:spPr bwMode="gray">
          <a:xfrm>
            <a:off x="329217" y="4788486"/>
            <a:ext cx="323009" cy="149332"/>
          </a:xfrm>
          <a:prstGeom prst="rect">
            <a:avLst/>
          </a:prstGeom>
        </p:spPr>
        <p:txBody>
          <a:bodyPr vert="horz" wrap="none" lIns="0" tIns="45720" rIns="91440" bIns="45720" rtlCol="0" anchor="ctr">
            <a:noAutofit/>
          </a:bodyPr>
          <a:lstStyle/>
          <a:p>
            <a:pPr defTabSz="914400"/>
            <a:fld id="{6C5AF65D-6854-49AF-ABC5-48B5BA0EA842}" type="slidenum">
              <a:rPr lang="en-US" sz="700" smtClean="0">
                <a:solidFill>
                  <a:srgbClr val="B9B8BB"/>
                </a:solidFill>
                <a:cs typeface="HP Simplified"/>
              </a:rPr>
              <a:pPr defTabSz="914400"/>
              <a:t>‹#›</a:t>
            </a:fld>
            <a:endParaRPr lang="en-US" sz="700" dirty="0" smtClean="0">
              <a:solidFill>
                <a:srgbClr val="B9B8BB"/>
              </a:solidFill>
              <a:cs typeface="HP Simplified"/>
            </a:endParaRPr>
          </a:p>
        </p:txBody>
      </p:sp>
      <p:pic>
        <p:nvPicPr>
          <p:cNvPr id="4" name="Picture 3" descr="HP_Blue_RGB_150_SM.png"/>
          <p:cNvPicPr>
            <a:picLocks noChangeAspect="1"/>
          </p:cNvPicPr>
          <p:nvPr/>
        </p:nvPicPr>
        <p:blipFill>
          <a:blip r:embed="rId12">
            <a:extLst>
              <a:ext uri="{28A0092B-C50C-407E-A947-70E740481C1C}">
                <a14:useLocalDpi xmlns:a14="http://schemas.microsoft.com/office/drawing/2010/main" xmlns="" val="0"/>
              </a:ext>
            </a:extLst>
          </a:blip>
          <a:stretch>
            <a:fillRect/>
          </a:stretch>
        </p:blipFill>
        <p:spPr>
          <a:xfrm>
            <a:off x="8503920" y="4535424"/>
            <a:ext cx="365760" cy="365760"/>
          </a:xfrm>
          <a:prstGeom prst="rect">
            <a:avLst/>
          </a:prstGeom>
        </p:spPr>
      </p:pic>
      <p:pic>
        <p:nvPicPr>
          <p:cNvPr id="10" name="Picture 2"/>
          <p:cNvPicPr>
            <a:picLocks noChangeAspect="1" noChangeArrowheads="1"/>
          </p:cNvPicPr>
          <p:nvPr userDrawn="1"/>
        </p:nvPicPr>
        <p:blipFill>
          <a:blip r:embed="rId13"/>
          <a:srcRect/>
          <a:stretch>
            <a:fillRect/>
          </a:stretch>
        </p:blipFill>
        <p:spPr bwMode="auto">
          <a:xfrm>
            <a:off x="8368300" y="38"/>
            <a:ext cx="847036" cy="698045"/>
          </a:xfrm>
          <a:prstGeom prst="rect">
            <a:avLst/>
          </a:prstGeom>
          <a:noFill/>
          <a:ln w="9525">
            <a:noFill/>
            <a:miter lim="800000"/>
            <a:headEnd/>
            <a:tailEnd/>
          </a:ln>
          <a:effectLst/>
        </p:spPr>
      </p:pic>
    </p:spTree>
    <p:extLst>
      <p:ext uri="{BB962C8B-B14F-4D97-AF65-F5344CB8AC3E}">
        <p14:creationId xmlns:p14="http://schemas.microsoft.com/office/powerpoint/2010/main" xmlns="" val="2761365428"/>
      </p:ext>
    </p:extLst>
  </p:cSld>
  <p:clrMap bg1="lt1" tx1="dk1" bg2="lt2" tx2="dk2" accent1="accent1" accent2="accent2" accent3="accent3" accent4="accent4" accent5="accent5" accent6="accent6" hlink="hlink" folHlink="folHlink"/>
  <p:sldLayoutIdLst>
    <p:sldLayoutId id="2147483958" r:id="rId1"/>
    <p:sldLayoutId id="2147483959" r:id="rId2"/>
    <p:sldLayoutId id="2147483960" r:id="rId3"/>
    <p:sldLayoutId id="2147483961" r:id="rId4"/>
    <p:sldLayoutId id="2147483962" r:id="rId5"/>
    <p:sldLayoutId id="2147483963" r:id="rId6"/>
    <p:sldLayoutId id="2147483964" r:id="rId7"/>
    <p:sldLayoutId id="2147483965" r:id="rId8"/>
    <p:sldLayoutId id="2147483966" r:id="rId9"/>
    <p:sldLayoutId id="2147483967" r:id="rId10"/>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spcAft>
          <a:spcPts val="0"/>
        </a:spcAft>
        <a:buNone/>
        <a:defRPr lang="en-GB" sz="2800" b="1" i="0" kern="1200" dirty="0" smtClean="0">
          <a:solidFill>
            <a:srgbClr val="000000"/>
          </a:solidFill>
          <a:latin typeface="HP Simplified" pitchFamily="34" charset="0"/>
          <a:ea typeface="+mj-ea"/>
          <a:cs typeface="HP Simplified" pitchFamily="34" charset="0"/>
        </a:defRPr>
      </a:lvl1pPr>
    </p:titleStyle>
    <p:body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dirty="0" smtClean="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328614" y="235064"/>
            <a:ext cx="8123236" cy="430887"/>
          </a:xfrm>
          <a:prstGeom prst="rect">
            <a:avLst/>
          </a:prstGeom>
          <a:ln>
            <a:noFill/>
          </a:ln>
        </p:spPr>
        <p:txBody>
          <a:bodyPr vert="horz" wrap="square" lIns="0" tIns="0" rIns="0" bIns="0" rtlCol="0" anchor="t" anchorCtr="0">
            <a:noAutofit/>
          </a:bodyPr>
          <a:lstStyle/>
          <a:p>
            <a:r>
              <a:rPr lang="en-US" noProof="0" smtClean="0"/>
              <a:t>Click to edit Master title style</a:t>
            </a:r>
            <a:endParaRPr lang="en-US" noProof="0" dirty="0"/>
          </a:p>
        </p:txBody>
      </p:sp>
      <p:sp>
        <p:nvSpPr>
          <p:cNvPr id="7" name="Text Placeholder 6"/>
          <p:cNvSpPr>
            <a:spLocks noGrp="1"/>
          </p:cNvSpPr>
          <p:nvPr>
            <p:ph type="body" idx="1"/>
          </p:nvPr>
        </p:nvSpPr>
        <p:spPr bwMode="black">
          <a:xfrm>
            <a:off x="330200" y="1188720"/>
            <a:ext cx="8119872" cy="3219768"/>
          </a:xfrm>
          <a:prstGeom prst="rect">
            <a:avLst/>
          </a:prstGeom>
        </p:spPr>
        <p:txBody>
          <a:bodyPr vert="horz" wrap="square" lIns="0" tIns="0" rIns="0" bIns="0" rtlCol="0">
            <a:no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9" name="TextBox 8"/>
          <p:cNvSpPr txBox="1"/>
          <p:nvPr/>
        </p:nvSpPr>
        <p:spPr>
          <a:xfrm>
            <a:off x="444577" y="4758803"/>
            <a:ext cx="8012545" cy="228600"/>
          </a:xfrm>
          <a:prstGeom prst="rect">
            <a:avLst/>
          </a:prstGeom>
          <a:noFill/>
        </p:spPr>
        <p:txBody>
          <a:bodyPr wrap="square" rtlCol="0">
            <a:noAutofit/>
          </a:bodyPr>
          <a:lstStyle/>
          <a:p>
            <a:pPr>
              <a:defRPr/>
            </a:pPr>
            <a:r>
              <a:rPr lang="en-US" sz="700" dirty="0" smtClean="0">
                <a:solidFill>
                  <a:srgbClr val="B9B8BB"/>
                </a:solidFill>
                <a:cs typeface="HP Simplified"/>
              </a:rPr>
              <a:t>© Copyright 2012 Hewlett-Packard Development Company, L.P.  The information contained herein is subject to change without notice.</a:t>
            </a:r>
          </a:p>
        </p:txBody>
      </p:sp>
      <p:sp>
        <p:nvSpPr>
          <p:cNvPr id="8" name="TextBox 7"/>
          <p:cNvSpPr txBox="1"/>
          <p:nvPr/>
        </p:nvSpPr>
        <p:spPr bwMode="gray">
          <a:xfrm>
            <a:off x="329217" y="4788486"/>
            <a:ext cx="323009" cy="149332"/>
          </a:xfrm>
          <a:prstGeom prst="rect">
            <a:avLst/>
          </a:prstGeom>
        </p:spPr>
        <p:txBody>
          <a:bodyPr vert="horz" wrap="none" lIns="0" tIns="45720" rIns="91440" bIns="45720" rtlCol="0" anchor="ctr">
            <a:noAutofit/>
          </a:bodyPr>
          <a:lstStyle/>
          <a:p>
            <a:pPr defTabSz="914400"/>
            <a:fld id="{6C5AF65D-6854-49AF-ABC5-48B5BA0EA842}" type="slidenum">
              <a:rPr lang="en-US" sz="700" smtClean="0">
                <a:solidFill>
                  <a:srgbClr val="B9B8BB"/>
                </a:solidFill>
                <a:cs typeface="HP Simplified"/>
              </a:rPr>
              <a:pPr defTabSz="914400"/>
              <a:t>‹#›</a:t>
            </a:fld>
            <a:endParaRPr lang="en-US" sz="700" dirty="0" smtClean="0">
              <a:solidFill>
                <a:srgbClr val="B9B8BB"/>
              </a:solidFill>
              <a:cs typeface="HP Simplified"/>
            </a:endParaRPr>
          </a:p>
        </p:txBody>
      </p:sp>
      <p:pic>
        <p:nvPicPr>
          <p:cNvPr id="4" name="Picture 3" descr="HP_Blue_RGB_150_SM.png"/>
          <p:cNvPicPr>
            <a:picLocks noChangeAspect="1"/>
          </p:cNvPicPr>
          <p:nvPr/>
        </p:nvPicPr>
        <p:blipFill>
          <a:blip r:embed="rId12">
            <a:extLst>
              <a:ext uri="{28A0092B-C50C-407E-A947-70E740481C1C}">
                <a14:useLocalDpi xmlns:a14="http://schemas.microsoft.com/office/drawing/2010/main" xmlns="" val="0"/>
              </a:ext>
            </a:extLst>
          </a:blip>
          <a:stretch>
            <a:fillRect/>
          </a:stretch>
        </p:blipFill>
        <p:spPr>
          <a:xfrm>
            <a:off x="8503920" y="4535424"/>
            <a:ext cx="365760" cy="365760"/>
          </a:xfrm>
          <a:prstGeom prst="rect">
            <a:avLst/>
          </a:prstGeom>
        </p:spPr>
      </p:pic>
      <p:pic>
        <p:nvPicPr>
          <p:cNvPr id="10" name="Picture 2"/>
          <p:cNvPicPr>
            <a:picLocks noChangeAspect="1" noChangeArrowheads="1"/>
          </p:cNvPicPr>
          <p:nvPr userDrawn="1"/>
        </p:nvPicPr>
        <p:blipFill>
          <a:blip r:embed="rId13"/>
          <a:srcRect/>
          <a:stretch>
            <a:fillRect/>
          </a:stretch>
        </p:blipFill>
        <p:spPr bwMode="auto">
          <a:xfrm>
            <a:off x="8368300" y="38"/>
            <a:ext cx="847036" cy="698045"/>
          </a:xfrm>
          <a:prstGeom prst="rect">
            <a:avLst/>
          </a:prstGeom>
          <a:noFill/>
          <a:ln w="9525">
            <a:noFill/>
            <a:miter lim="800000"/>
            <a:headEnd/>
            <a:tailEnd/>
          </a:ln>
          <a:effectLst/>
        </p:spPr>
      </p:pic>
    </p:spTree>
    <p:extLst>
      <p:ext uri="{BB962C8B-B14F-4D97-AF65-F5344CB8AC3E}">
        <p14:creationId xmlns:p14="http://schemas.microsoft.com/office/powerpoint/2010/main" xmlns="" val="2218981405"/>
      </p:ext>
    </p:extLst>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spcAft>
          <a:spcPts val="0"/>
        </a:spcAft>
        <a:buNone/>
        <a:defRPr lang="en-GB" sz="2800" b="1" i="0" kern="1200" dirty="0" smtClean="0">
          <a:solidFill>
            <a:srgbClr val="000000"/>
          </a:solidFill>
          <a:latin typeface="HP Simplified" pitchFamily="34" charset="0"/>
          <a:ea typeface="+mj-ea"/>
          <a:cs typeface="HP Simplified" pitchFamily="34" charset="0"/>
        </a:defRPr>
      </a:lvl1pPr>
    </p:titleStyle>
    <p:body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dirty="0" smtClean="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4770837"/>
            <a:ext cx="9144000" cy="273844"/>
          </a:xfrm>
          <a:prstGeom prst="rect">
            <a:avLst/>
          </a:prstGeom>
        </p:spPr>
        <p:txBody>
          <a:bodyPr vert="horz" lIns="91440" tIns="45720" rIns="91440" bIns="45720" rtlCol="0" anchor="ctr"/>
          <a:lstStyle>
            <a:lvl1pPr algn="ctr" fontAlgn="auto">
              <a:spcBef>
                <a:spcPts val="0"/>
              </a:spcBef>
              <a:spcAft>
                <a:spcPts val="0"/>
              </a:spcAft>
              <a:defRPr sz="800">
                <a:solidFill>
                  <a:schemeClr val="tx1">
                    <a:tint val="75000"/>
                  </a:schemeClr>
                </a:solidFill>
                <a:latin typeface="Futura Bk" pitchFamily="34" charset="0"/>
              </a:defRPr>
            </a:lvl1pPr>
          </a:lstStyle>
          <a:p>
            <a:pPr defTabSz="914400">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800">
                <a:solidFill>
                  <a:schemeClr val="tx1">
                    <a:tint val="75000"/>
                  </a:schemeClr>
                </a:solidFill>
                <a:latin typeface="Futura Bk" pitchFamily="34" charset="0"/>
              </a:defRPr>
            </a:lvl1pPr>
          </a:lstStyle>
          <a:p>
            <a:pPr defTabSz="914400">
              <a:defRPr/>
            </a:pPr>
            <a:fld id="{C82771A6-17C1-4774-A7CD-C8EF54C4CC6F}" type="datetime1">
              <a:rPr lang="en-US" smtClean="0">
                <a:solidFill>
                  <a:prstClr val="black">
                    <a:tint val="75000"/>
                  </a:prstClr>
                </a:solidFill>
              </a:rPr>
              <a:pPr defTabSz="914400">
                <a:defRPr/>
              </a:pPr>
              <a:t>11/16/2012</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800">
                <a:solidFill>
                  <a:schemeClr val="tx1">
                    <a:tint val="75000"/>
                  </a:schemeClr>
                </a:solidFill>
                <a:latin typeface="Futura Bk" pitchFamily="34" charset="0"/>
              </a:defRPr>
            </a:lvl1pPr>
          </a:lstStyle>
          <a:p>
            <a:pPr defTabSz="914400">
              <a:defRPr/>
            </a:pPr>
            <a:fld id="{F3C16A76-00C6-413F-AD4F-021C6AF5512B}" type="slidenum">
              <a:rPr lang="en-US">
                <a:solidFill>
                  <a:prstClr val="black">
                    <a:tint val="75000"/>
                  </a:prstClr>
                </a:solidFill>
              </a:rPr>
              <a:pPr defTabSz="914400">
                <a:defRPr/>
              </a:pPr>
              <a:t>‹#›</a:t>
            </a:fld>
            <a:endParaRPr lang="en-US" dirty="0">
              <a:solidFill>
                <a:prstClr val="black">
                  <a:tint val="75000"/>
                </a:prstClr>
              </a:solidFill>
            </a:endParaRPr>
          </a:p>
        </p:txBody>
      </p:sp>
      <p:pic>
        <p:nvPicPr>
          <p:cNvPr id="3079" name="Picture 6" descr="HP_D_RGB_M.png"/>
          <p:cNvPicPr>
            <a:picLocks noChangeAspect="1"/>
          </p:cNvPicPr>
          <p:nvPr userDrawn="1"/>
        </p:nvPicPr>
        <p:blipFill>
          <a:blip r:embed="rId17" cstate="print"/>
          <a:srcRect/>
          <a:stretch>
            <a:fillRect/>
          </a:stretch>
        </p:blipFill>
        <p:spPr bwMode="auto">
          <a:xfrm>
            <a:off x="8153400" y="171450"/>
            <a:ext cx="685800" cy="514350"/>
          </a:xfrm>
          <a:prstGeom prst="rect">
            <a:avLst/>
          </a:prstGeom>
          <a:noFill/>
          <a:ln w="9525">
            <a:noFill/>
            <a:miter lim="800000"/>
            <a:headEnd/>
            <a:tailEnd/>
          </a:ln>
        </p:spPr>
      </p:pic>
      <p:sp>
        <p:nvSpPr>
          <p:cNvPr id="9" name="Title 1"/>
          <p:cNvSpPr txBox="1">
            <a:spLocks/>
          </p:cNvSpPr>
          <p:nvPr userDrawn="1"/>
        </p:nvSpPr>
        <p:spPr>
          <a:xfrm>
            <a:off x="685800" y="2097890"/>
            <a:ext cx="7772400" cy="1102519"/>
          </a:xfrm>
          <a:prstGeom prst="rect">
            <a:avLst/>
          </a:prstGeom>
        </p:spPr>
        <p:txBody>
          <a:bodyPr>
            <a:normAutofit/>
          </a:bodyPr>
          <a:lstStyle>
            <a:lvl1pPr>
              <a:defRPr sz="4400">
                <a:solidFill>
                  <a:schemeClr val="bg1"/>
                </a:solidFill>
              </a:defRPr>
            </a:lvl1pPr>
          </a:lstStyle>
          <a:p>
            <a:pPr defTabSz="914400" eaLnBrk="0" fontAlgn="base" hangingPunct="0">
              <a:spcBef>
                <a:spcPct val="0"/>
              </a:spcBef>
              <a:spcAft>
                <a:spcPct val="0"/>
              </a:spcAft>
              <a:defRPr/>
            </a:pPr>
            <a:r>
              <a:rPr lang="en-US" dirty="0" smtClean="0">
                <a:solidFill>
                  <a:prstClr val="white"/>
                </a:solidFill>
                <a:latin typeface="Futura Bk" pitchFamily="34" charset="0"/>
              </a:rPr>
              <a:t>Click to edit Master title style</a:t>
            </a:r>
            <a:endParaRPr lang="en-US" dirty="0">
              <a:solidFill>
                <a:prstClr val="white"/>
              </a:solidFill>
              <a:latin typeface="Futura Bk" pitchFamily="34" charset="0"/>
            </a:endParaRPr>
          </a:p>
        </p:txBody>
      </p:sp>
      <p:sp>
        <p:nvSpPr>
          <p:cNvPr id="10" name="Subtitle 2"/>
          <p:cNvSpPr txBox="1">
            <a:spLocks/>
          </p:cNvSpPr>
          <p:nvPr userDrawn="1"/>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defTabSz="914400" eaLnBrk="0" fontAlgn="base" hangingPunct="0">
              <a:spcBef>
                <a:spcPct val="20000"/>
              </a:spcBef>
              <a:spcAft>
                <a:spcPct val="0"/>
              </a:spcAft>
              <a:buFont typeface="Arial" charset="0"/>
              <a:buNone/>
              <a:defRPr/>
            </a:pPr>
            <a:r>
              <a:rPr lang="en-US" sz="2000" smtClean="0">
                <a:solidFill>
                  <a:prstClr val="white"/>
                </a:solidFill>
                <a:latin typeface="Futura Bk" pitchFamily="34" charset="0"/>
              </a:rPr>
              <a:t>Click to edit Master subtitle style</a:t>
            </a:r>
            <a:endParaRPr lang="en-US" sz="2000" dirty="0">
              <a:solidFill>
                <a:prstClr val="white"/>
              </a:solidFill>
              <a:latin typeface="Futura Bk" pitchFamily="34" charset="0"/>
            </a:endParaRPr>
          </a:p>
        </p:txBody>
      </p:sp>
    </p:spTree>
    <p:extLst>
      <p:ext uri="{BB962C8B-B14F-4D97-AF65-F5344CB8AC3E}">
        <p14:creationId xmlns:p14="http://schemas.microsoft.com/office/powerpoint/2010/main" xmlns="" val="453908849"/>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Lst>
  <p:transition spd="med">
    <p:fade/>
  </p:transition>
  <p:timing>
    <p:tnLst>
      <p:par>
        <p:cTn id="1" dur="indefinite" restart="never" nodeType="tmRoot"/>
      </p:par>
    </p:tnLst>
  </p:timing>
  <p:hf hdr="0"/>
  <p:txStyles>
    <p:titleStyle>
      <a:lvl1pPr algn="l" rtl="0" eaLnBrk="0" fontAlgn="base" hangingPunct="0">
        <a:spcBef>
          <a:spcPct val="0"/>
        </a:spcBef>
        <a:spcAft>
          <a:spcPct val="0"/>
        </a:spcAft>
        <a:defRPr sz="3200" kern="1200">
          <a:solidFill>
            <a:schemeClr val="bg1"/>
          </a:solidFill>
          <a:latin typeface="Futura Bk" pitchFamily="34" charset="0"/>
          <a:ea typeface="+mj-ea"/>
          <a:cs typeface="+mj-cs"/>
        </a:defRPr>
      </a:lvl1pPr>
      <a:lvl2pPr algn="l" rtl="0" eaLnBrk="0" fontAlgn="base" hangingPunct="0">
        <a:spcBef>
          <a:spcPct val="0"/>
        </a:spcBef>
        <a:spcAft>
          <a:spcPct val="0"/>
        </a:spcAft>
        <a:defRPr sz="3200">
          <a:solidFill>
            <a:schemeClr val="bg1"/>
          </a:solidFill>
          <a:latin typeface="Futura Bk" pitchFamily="34" charset="0"/>
        </a:defRPr>
      </a:lvl2pPr>
      <a:lvl3pPr algn="l" rtl="0" eaLnBrk="0" fontAlgn="base" hangingPunct="0">
        <a:spcBef>
          <a:spcPct val="0"/>
        </a:spcBef>
        <a:spcAft>
          <a:spcPct val="0"/>
        </a:spcAft>
        <a:defRPr sz="3200">
          <a:solidFill>
            <a:schemeClr val="bg1"/>
          </a:solidFill>
          <a:latin typeface="Futura Bk" pitchFamily="34" charset="0"/>
        </a:defRPr>
      </a:lvl3pPr>
      <a:lvl4pPr algn="l" rtl="0" eaLnBrk="0" fontAlgn="base" hangingPunct="0">
        <a:spcBef>
          <a:spcPct val="0"/>
        </a:spcBef>
        <a:spcAft>
          <a:spcPct val="0"/>
        </a:spcAft>
        <a:defRPr sz="3200">
          <a:solidFill>
            <a:schemeClr val="bg1"/>
          </a:solidFill>
          <a:latin typeface="Futura Bk" pitchFamily="34" charset="0"/>
        </a:defRPr>
      </a:lvl4pPr>
      <a:lvl5pPr algn="l" rtl="0" eaLnBrk="0" fontAlgn="base" hangingPunct="0">
        <a:spcBef>
          <a:spcPct val="0"/>
        </a:spcBef>
        <a:spcAft>
          <a:spcPct val="0"/>
        </a:spcAft>
        <a:defRPr sz="3200">
          <a:solidFill>
            <a:schemeClr val="bg1"/>
          </a:solidFill>
          <a:latin typeface="Futura Bk" pitchFamily="34" charset="0"/>
        </a:defRPr>
      </a:lvl5pPr>
      <a:lvl6pPr marL="457200" algn="l" rtl="0" fontAlgn="base">
        <a:spcBef>
          <a:spcPct val="0"/>
        </a:spcBef>
        <a:spcAft>
          <a:spcPct val="0"/>
        </a:spcAft>
        <a:defRPr sz="3200">
          <a:solidFill>
            <a:schemeClr val="bg1"/>
          </a:solidFill>
          <a:latin typeface="Futura Bk" pitchFamily="34" charset="0"/>
        </a:defRPr>
      </a:lvl6pPr>
      <a:lvl7pPr marL="914400" algn="l" rtl="0" fontAlgn="base">
        <a:spcBef>
          <a:spcPct val="0"/>
        </a:spcBef>
        <a:spcAft>
          <a:spcPct val="0"/>
        </a:spcAft>
        <a:defRPr sz="3200">
          <a:solidFill>
            <a:schemeClr val="bg1"/>
          </a:solidFill>
          <a:latin typeface="Futura Bk" pitchFamily="34" charset="0"/>
        </a:defRPr>
      </a:lvl7pPr>
      <a:lvl8pPr marL="1371600" algn="l" rtl="0" fontAlgn="base">
        <a:spcBef>
          <a:spcPct val="0"/>
        </a:spcBef>
        <a:spcAft>
          <a:spcPct val="0"/>
        </a:spcAft>
        <a:defRPr sz="3200">
          <a:solidFill>
            <a:schemeClr val="bg1"/>
          </a:solidFill>
          <a:latin typeface="Futura Bk" pitchFamily="34" charset="0"/>
        </a:defRPr>
      </a:lvl8pPr>
      <a:lvl9pPr marL="1828800" algn="l" rtl="0" fontAlgn="base">
        <a:spcBef>
          <a:spcPct val="0"/>
        </a:spcBef>
        <a:spcAft>
          <a:spcPct val="0"/>
        </a:spcAft>
        <a:defRPr sz="3200">
          <a:solidFill>
            <a:schemeClr val="bg1"/>
          </a:solidFill>
          <a:latin typeface="Futura Bk"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bg1"/>
          </a:solidFill>
          <a:latin typeface="Futura Bk" pitchFamily="34" charset="0"/>
          <a:ea typeface="+mn-ea"/>
          <a:cs typeface="+mn-cs"/>
        </a:defRPr>
      </a:lvl1pPr>
      <a:lvl2pPr marL="742950" indent="-28575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2pPr>
      <a:lvl3pPr marL="11430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4770837"/>
            <a:ext cx="9144000" cy="273844"/>
          </a:xfrm>
          <a:prstGeom prst="rect">
            <a:avLst/>
          </a:prstGeom>
        </p:spPr>
        <p:txBody>
          <a:bodyPr vert="horz" lIns="91440" tIns="45720" rIns="91440" bIns="45720" rtlCol="0" anchor="ctr"/>
          <a:lstStyle>
            <a:lvl1pPr algn="ctr" fontAlgn="auto">
              <a:spcBef>
                <a:spcPts val="0"/>
              </a:spcBef>
              <a:spcAft>
                <a:spcPts val="0"/>
              </a:spcAft>
              <a:defRPr sz="800">
                <a:solidFill>
                  <a:schemeClr val="tx1">
                    <a:tint val="75000"/>
                  </a:schemeClr>
                </a:solidFill>
                <a:latin typeface="Futura Bk" pitchFamily="34" charset="0"/>
              </a:defRPr>
            </a:lvl1pPr>
          </a:lstStyle>
          <a:p>
            <a:pPr defTabSz="914400">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800">
                <a:solidFill>
                  <a:schemeClr val="tx1">
                    <a:tint val="75000"/>
                  </a:schemeClr>
                </a:solidFill>
                <a:latin typeface="Futura Bk" pitchFamily="34" charset="0"/>
              </a:defRPr>
            </a:lvl1pPr>
          </a:lstStyle>
          <a:p>
            <a:pPr defTabSz="914400">
              <a:defRPr/>
            </a:pPr>
            <a:fld id="{C82771A6-17C1-4774-A7CD-C8EF54C4CC6F}" type="datetime1">
              <a:rPr lang="en-US" smtClean="0">
                <a:solidFill>
                  <a:prstClr val="black">
                    <a:tint val="75000"/>
                  </a:prstClr>
                </a:solidFill>
              </a:rPr>
              <a:pPr defTabSz="914400">
                <a:defRPr/>
              </a:pPr>
              <a:t>11/16/2012</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800">
                <a:solidFill>
                  <a:schemeClr val="tx1">
                    <a:tint val="75000"/>
                  </a:schemeClr>
                </a:solidFill>
                <a:latin typeface="Futura Bk" pitchFamily="34" charset="0"/>
              </a:defRPr>
            </a:lvl1pPr>
          </a:lstStyle>
          <a:p>
            <a:pPr defTabSz="914400">
              <a:defRPr/>
            </a:pPr>
            <a:fld id="{F3C16A76-00C6-413F-AD4F-021C6AF5512B}" type="slidenum">
              <a:rPr lang="en-US">
                <a:solidFill>
                  <a:prstClr val="black">
                    <a:tint val="75000"/>
                  </a:prstClr>
                </a:solidFill>
              </a:rPr>
              <a:pPr defTabSz="914400">
                <a:defRPr/>
              </a:pPr>
              <a:t>‹#›</a:t>
            </a:fld>
            <a:endParaRPr lang="en-US" dirty="0">
              <a:solidFill>
                <a:prstClr val="black">
                  <a:tint val="75000"/>
                </a:prstClr>
              </a:solidFill>
            </a:endParaRPr>
          </a:p>
        </p:txBody>
      </p:sp>
      <p:pic>
        <p:nvPicPr>
          <p:cNvPr id="3079" name="Picture 6" descr="HP_D_RGB_M.png"/>
          <p:cNvPicPr>
            <a:picLocks noChangeAspect="1"/>
          </p:cNvPicPr>
          <p:nvPr userDrawn="1"/>
        </p:nvPicPr>
        <p:blipFill>
          <a:blip r:embed="rId17" cstate="print"/>
          <a:srcRect/>
          <a:stretch>
            <a:fillRect/>
          </a:stretch>
        </p:blipFill>
        <p:spPr bwMode="auto">
          <a:xfrm>
            <a:off x="8153400" y="171450"/>
            <a:ext cx="685800" cy="514350"/>
          </a:xfrm>
          <a:prstGeom prst="rect">
            <a:avLst/>
          </a:prstGeom>
          <a:noFill/>
          <a:ln w="9525">
            <a:noFill/>
            <a:miter lim="800000"/>
            <a:headEnd/>
            <a:tailEnd/>
          </a:ln>
        </p:spPr>
      </p:pic>
      <p:sp>
        <p:nvSpPr>
          <p:cNvPr id="9" name="Title 1"/>
          <p:cNvSpPr txBox="1">
            <a:spLocks/>
          </p:cNvSpPr>
          <p:nvPr userDrawn="1"/>
        </p:nvSpPr>
        <p:spPr>
          <a:xfrm>
            <a:off x="685800" y="2097890"/>
            <a:ext cx="7772400" cy="1102519"/>
          </a:xfrm>
          <a:prstGeom prst="rect">
            <a:avLst/>
          </a:prstGeom>
        </p:spPr>
        <p:txBody>
          <a:bodyPr>
            <a:normAutofit/>
          </a:bodyPr>
          <a:lstStyle>
            <a:lvl1pPr>
              <a:defRPr sz="4400">
                <a:solidFill>
                  <a:schemeClr val="bg1"/>
                </a:solidFill>
              </a:defRPr>
            </a:lvl1pPr>
          </a:lstStyle>
          <a:p>
            <a:pPr defTabSz="914400" eaLnBrk="0" fontAlgn="base" hangingPunct="0">
              <a:spcBef>
                <a:spcPct val="0"/>
              </a:spcBef>
              <a:spcAft>
                <a:spcPct val="0"/>
              </a:spcAft>
              <a:defRPr/>
            </a:pPr>
            <a:r>
              <a:rPr lang="en-US" dirty="0" smtClean="0">
                <a:solidFill>
                  <a:prstClr val="white"/>
                </a:solidFill>
                <a:latin typeface="Futura Bk" pitchFamily="34" charset="0"/>
              </a:rPr>
              <a:t>Click to edit Master title style</a:t>
            </a:r>
            <a:endParaRPr lang="en-US" dirty="0">
              <a:solidFill>
                <a:prstClr val="white"/>
              </a:solidFill>
              <a:latin typeface="Futura Bk" pitchFamily="34" charset="0"/>
            </a:endParaRPr>
          </a:p>
        </p:txBody>
      </p:sp>
      <p:sp>
        <p:nvSpPr>
          <p:cNvPr id="10" name="Subtitle 2"/>
          <p:cNvSpPr txBox="1">
            <a:spLocks/>
          </p:cNvSpPr>
          <p:nvPr userDrawn="1"/>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defTabSz="914400" eaLnBrk="0" fontAlgn="base" hangingPunct="0">
              <a:spcBef>
                <a:spcPct val="20000"/>
              </a:spcBef>
              <a:spcAft>
                <a:spcPct val="0"/>
              </a:spcAft>
              <a:buFont typeface="Arial" charset="0"/>
              <a:buNone/>
              <a:defRPr/>
            </a:pPr>
            <a:r>
              <a:rPr lang="en-US" sz="2000" smtClean="0">
                <a:solidFill>
                  <a:prstClr val="white"/>
                </a:solidFill>
                <a:latin typeface="Futura Bk" pitchFamily="34" charset="0"/>
              </a:rPr>
              <a:t>Click to edit Master subtitle style</a:t>
            </a:r>
            <a:endParaRPr lang="en-US" sz="2000" dirty="0">
              <a:solidFill>
                <a:prstClr val="white"/>
              </a:solidFill>
              <a:latin typeface="Futura Bk" pitchFamily="34" charset="0"/>
            </a:endParaRPr>
          </a:p>
        </p:txBody>
      </p:sp>
    </p:spTree>
    <p:extLst>
      <p:ext uri="{BB962C8B-B14F-4D97-AF65-F5344CB8AC3E}">
        <p14:creationId xmlns:p14="http://schemas.microsoft.com/office/powerpoint/2010/main" xmlns="" val="3576604426"/>
      </p:ext>
    </p:extLst>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 id="2147484007" r:id="rId12"/>
    <p:sldLayoutId id="2147484008" r:id="rId13"/>
    <p:sldLayoutId id="2147484009" r:id="rId14"/>
    <p:sldLayoutId id="2147484010" r:id="rId15"/>
  </p:sldLayoutIdLst>
  <p:transition spd="med">
    <p:fade/>
  </p:transition>
  <p:timing>
    <p:tnLst>
      <p:par>
        <p:cTn id="1" dur="indefinite" restart="never" nodeType="tmRoot"/>
      </p:par>
    </p:tnLst>
  </p:timing>
  <p:hf hdr="0"/>
  <p:txStyles>
    <p:titleStyle>
      <a:lvl1pPr algn="l" rtl="0" eaLnBrk="0" fontAlgn="base" hangingPunct="0">
        <a:spcBef>
          <a:spcPct val="0"/>
        </a:spcBef>
        <a:spcAft>
          <a:spcPct val="0"/>
        </a:spcAft>
        <a:defRPr sz="3200" kern="1200">
          <a:solidFill>
            <a:schemeClr val="bg1"/>
          </a:solidFill>
          <a:latin typeface="Futura Bk" pitchFamily="34" charset="0"/>
          <a:ea typeface="+mj-ea"/>
          <a:cs typeface="+mj-cs"/>
        </a:defRPr>
      </a:lvl1pPr>
      <a:lvl2pPr algn="l" rtl="0" eaLnBrk="0" fontAlgn="base" hangingPunct="0">
        <a:spcBef>
          <a:spcPct val="0"/>
        </a:spcBef>
        <a:spcAft>
          <a:spcPct val="0"/>
        </a:spcAft>
        <a:defRPr sz="3200">
          <a:solidFill>
            <a:schemeClr val="bg1"/>
          </a:solidFill>
          <a:latin typeface="Futura Bk" pitchFamily="34" charset="0"/>
        </a:defRPr>
      </a:lvl2pPr>
      <a:lvl3pPr algn="l" rtl="0" eaLnBrk="0" fontAlgn="base" hangingPunct="0">
        <a:spcBef>
          <a:spcPct val="0"/>
        </a:spcBef>
        <a:spcAft>
          <a:spcPct val="0"/>
        </a:spcAft>
        <a:defRPr sz="3200">
          <a:solidFill>
            <a:schemeClr val="bg1"/>
          </a:solidFill>
          <a:latin typeface="Futura Bk" pitchFamily="34" charset="0"/>
        </a:defRPr>
      </a:lvl3pPr>
      <a:lvl4pPr algn="l" rtl="0" eaLnBrk="0" fontAlgn="base" hangingPunct="0">
        <a:spcBef>
          <a:spcPct val="0"/>
        </a:spcBef>
        <a:spcAft>
          <a:spcPct val="0"/>
        </a:spcAft>
        <a:defRPr sz="3200">
          <a:solidFill>
            <a:schemeClr val="bg1"/>
          </a:solidFill>
          <a:latin typeface="Futura Bk" pitchFamily="34" charset="0"/>
        </a:defRPr>
      </a:lvl4pPr>
      <a:lvl5pPr algn="l" rtl="0" eaLnBrk="0" fontAlgn="base" hangingPunct="0">
        <a:spcBef>
          <a:spcPct val="0"/>
        </a:spcBef>
        <a:spcAft>
          <a:spcPct val="0"/>
        </a:spcAft>
        <a:defRPr sz="3200">
          <a:solidFill>
            <a:schemeClr val="bg1"/>
          </a:solidFill>
          <a:latin typeface="Futura Bk" pitchFamily="34" charset="0"/>
        </a:defRPr>
      </a:lvl5pPr>
      <a:lvl6pPr marL="457200" algn="l" rtl="0" fontAlgn="base">
        <a:spcBef>
          <a:spcPct val="0"/>
        </a:spcBef>
        <a:spcAft>
          <a:spcPct val="0"/>
        </a:spcAft>
        <a:defRPr sz="3200">
          <a:solidFill>
            <a:schemeClr val="bg1"/>
          </a:solidFill>
          <a:latin typeface="Futura Bk" pitchFamily="34" charset="0"/>
        </a:defRPr>
      </a:lvl6pPr>
      <a:lvl7pPr marL="914400" algn="l" rtl="0" fontAlgn="base">
        <a:spcBef>
          <a:spcPct val="0"/>
        </a:spcBef>
        <a:spcAft>
          <a:spcPct val="0"/>
        </a:spcAft>
        <a:defRPr sz="3200">
          <a:solidFill>
            <a:schemeClr val="bg1"/>
          </a:solidFill>
          <a:latin typeface="Futura Bk" pitchFamily="34" charset="0"/>
        </a:defRPr>
      </a:lvl7pPr>
      <a:lvl8pPr marL="1371600" algn="l" rtl="0" fontAlgn="base">
        <a:spcBef>
          <a:spcPct val="0"/>
        </a:spcBef>
        <a:spcAft>
          <a:spcPct val="0"/>
        </a:spcAft>
        <a:defRPr sz="3200">
          <a:solidFill>
            <a:schemeClr val="bg1"/>
          </a:solidFill>
          <a:latin typeface="Futura Bk" pitchFamily="34" charset="0"/>
        </a:defRPr>
      </a:lvl8pPr>
      <a:lvl9pPr marL="1828800" algn="l" rtl="0" fontAlgn="base">
        <a:spcBef>
          <a:spcPct val="0"/>
        </a:spcBef>
        <a:spcAft>
          <a:spcPct val="0"/>
        </a:spcAft>
        <a:defRPr sz="3200">
          <a:solidFill>
            <a:schemeClr val="bg1"/>
          </a:solidFill>
          <a:latin typeface="Futura Bk"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bg1"/>
          </a:solidFill>
          <a:latin typeface="Futura Bk" pitchFamily="34" charset="0"/>
          <a:ea typeface="+mn-ea"/>
          <a:cs typeface="+mn-cs"/>
        </a:defRPr>
      </a:lvl1pPr>
      <a:lvl2pPr marL="742950" indent="-28575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2pPr>
      <a:lvl3pPr marL="11430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4770836"/>
            <a:ext cx="9144000" cy="273844"/>
          </a:xfrm>
          <a:prstGeom prst="rect">
            <a:avLst/>
          </a:prstGeom>
        </p:spPr>
        <p:txBody>
          <a:bodyPr vert="horz" lIns="91440" tIns="45720" rIns="91440" bIns="45720" rtlCol="0" anchor="ctr"/>
          <a:lstStyle>
            <a:lvl1pPr algn="ctr" fontAlgn="auto">
              <a:spcBef>
                <a:spcPts val="0"/>
              </a:spcBef>
              <a:spcAft>
                <a:spcPts val="0"/>
              </a:spcAft>
              <a:defRPr sz="800">
                <a:solidFill>
                  <a:schemeClr val="tx1">
                    <a:tint val="75000"/>
                  </a:schemeClr>
                </a:solidFill>
                <a:latin typeface="Futura Bk" pitchFamily="34" charset="0"/>
              </a:defRPr>
            </a:lvl1pPr>
          </a:lstStyle>
          <a:p>
            <a:pPr defTabSz="914400">
              <a:defRPr/>
            </a:pPr>
            <a:r>
              <a:rPr lang="en-US" smtClean="0">
                <a:solidFill>
                  <a:prstClr val="black">
                    <a:tint val="75000"/>
                  </a:prstClr>
                </a:solidFill>
              </a:rPr>
              <a:t>© 2011 Hewlett-Packard Company - HP Confidential</a:t>
            </a:r>
            <a:endParaRPr lang="en-US">
              <a:solidFill>
                <a:prstClr val="black">
                  <a:tint val="75000"/>
                </a:prstClr>
              </a:solidFill>
            </a:endParaRP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fontAlgn="auto">
              <a:spcBef>
                <a:spcPts val="0"/>
              </a:spcBef>
              <a:spcAft>
                <a:spcPts val="0"/>
              </a:spcAft>
              <a:defRPr sz="800">
                <a:solidFill>
                  <a:schemeClr val="tx1">
                    <a:tint val="75000"/>
                  </a:schemeClr>
                </a:solidFill>
                <a:latin typeface="Futura Bk" pitchFamily="34" charset="0"/>
              </a:defRPr>
            </a:lvl1pPr>
          </a:lstStyle>
          <a:p>
            <a:pPr defTabSz="914400">
              <a:defRPr/>
            </a:pPr>
            <a:fld id="{C82771A6-17C1-4774-A7CD-C8EF54C4CC6F}" type="datetime1">
              <a:rPr lang="en-US" smtClean="0">
                <a:solidFill>
                  <a:prstClr val="black">
                    <a:tint val="75000"/>
                  </a:prstClr>
                </a:solidFill>
              </a:rPr>
              <a:pPr defTabSz="914400">
                <a:defRPr/>
              </a:pPr>
              <a:t>11/16/2012</a:t>
            </a:fld>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fontAlgn="auto">
              <a:spcBef>
                <a:spcPts val="0"/>
              </a:spcBef>
              <a:spcAft>
                <a:spcPts val="0"/>
              </a:spcAft>
              <a:defRPr sz="800">
                <a:solidFill>
                  <a:schemeClr val="tx1">
                    <a:tint val="75000"/>
                  </a:schemeClr>
                </a:solidFill>
                <a:latin typeface="Futura Bk" pitchFamily="34" charset="0"/>
              </a:defRPr>
            </a:lvl1pPr>
          </a:lstStyle>
          <a:p>
            <a:pPr defTabSz="914400">
              <a:defRPr/>
            </a:pPr>
            <a:fld id="{F3C16A76-00C6-413F-AD4F-021C6AF5512B}" type="slidenum">
              <a:rPr lang="en-US">
                <a:solidFill>
                  <a:prstClr val="black">
                    <a:tint val="75000"/>
                  </a:prstClr>
                </a:solidFill>
              </a:rPr>
              <a:pPr defTabSz="914400">
                <a:defRPr/>
              </a:pPr>
              <a:t>‹#›</a:t>
            </a:fld>
            <a:endParaRPr lang="en-US" dirty="0">
              <a:solidFill>
                <a:prstClr val="black">
                  <a:tint val="75000"/>
                </a:prstClr>
              </a:solidFill>
            </a:endParaRPr>
          </a:p>
        </p:txBody>
      </p:sp>
      <p:pic>
        <p:nvPicPr>
          <p:cNvPr id="3079" name="Picture 6" descr="HP_D_RGB_M.png"/>
          <p:cNvPicPr>
            <a:picLocks noChangeAspect="1"/>
          </p:cNvPicPr>
          <p:nvPr userDrawn="1"/>
        </p:nvPicPr>
        <p:blipFill>
          <a:blip r:embed="rId17" cstate="print"/>
          <a:srcRect/>
          <a:stretch>
            <a:fillRect/>
          </a:stretch>
        </p:blipFill>
        <p:spPr bwMode="auto">
          <a:xfrm>
            <a:off x="8153400" y="171450"/>
            <a:ext cx="685800" cy="514350"/>
          </a:xfrm>
          <a:prstGeom prst="rect">
            <a:avLst/>
          </a:prstGeom>
          <a:noFill/>
          <a:ln w="9525">
            <a:noFill/>
            <a:miter lim="800000"/>
            <a:headEnd/>
            <a:tailEnd/>
          </a:ln>
        </p:spPr>
      </p:pic>
      <p:sp>
        <p:nvSpPr>
          <p:cNvPr id="9" name="Title 1"/>
          <p:cNvSpPr txBox="1">
            <a:spLocks/>
          </p:cNvSpPr>
          <p:nvPr userDrawn="1"/>
        </p:nvSpPr>
        <p:spPr>
          <a:xfrm>
            <a:off x="685800" y="2097883"/>
            <a:ext cx="7772400" cy="1102519"/>
          </a:xfrm>
          <a:prstGeom prst="rect">
            <a:avLst/>
          </a:prstGeom>
        </p:spPr>
        <p:txBody>
          <a:bodyPr>
            <a:normAutofit/>
          </a:bodyPr>
          <a:lstStyle>
            <a:lvl1pPr>
              <a:defRPr sz="4400">
                <a:solidFill>
                  <a:schemeClr val="bg1"/>
                </a:solidFill>
              </a:defRPr>
            </a:lvl1pPr>
          </a:lstStyle>
          <a:p>
            <a:pPr defTabSz="914400" eaLnBrk="0" fontAlgn="base" hangingPunct="0">
              <a:spcBef>
                <a:spcPct val="0"/>
              </a:spcBef>
              <a:spcAft>
                <a:spcPct val="0"/>
              </a:spcAft>
              <a:defRPr/>
            </a:pPr>
            <a:r>
              <a:rPr lang="en-US" dirty="0" smtClean="0">
                <a:solidFill>
                  <a:prstClr val="white"/>
                </a:solidFill>
                <a:latin typeface="Futura Bk" pitchFamily="34" charset="0"/>
              </a:rPr>
              <a:t>Click to edit Master title style</a:t>
            </a:r>
            <a:endParaRPr lang="en-US" dirty="0">
              <a:solidFill>
                <a:prstClr val="white"/>
              </a:solidFill>
              <a:latin typeface="Futura Bk" pitchFamily="34" charset="0"/>
            </a:endParaRPr>
          </a:p>
        </p:txBody>
      </p:sp>
      <p:sp>
        <p:nvSpPr>
          <p:cNvPr id="10" name="Subtitle 2"/>
          <p:cNvSpPr txBox="1">
            <a:spLocks/>
          </p:cNvSpPr>
          <p:nvPr userDrawn="1"/>
        </p:nvSpPr>
        <p:spPr>
          <a:xfrm>
            <a:off x="685800" y="3543300"/>
            <a:ext cx="6400800" cy="1028700"/>
          </a:xfrm>
          <a:prstGeom prst="rect">
            <a:avLst/>
          </a:prstGeom>
        </p:spPr>
        <p:txBody>
          <a:bodyPr/>
          <a:lstStyle>
            <a:lvl1pPr marL="0" indent="0" algn="l">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defTabSz="914400" eaLnBrk="0" fontAlgn="base" hangingPunct="0">
              <a:spcBef>
                <a:spcPct val="20000"/>
              </a:spcBef>
              <a:spcAft>
                <a:spcPct val="0"/>
              </a:spcAft>
              <a:buFont typeface="Arial" charset="0"/>
              <a:buNone/>
              <a:defRPr/>
            </a:pPr>
            <a:r>
              <a:rPr lang="en-US" sz="2000" smtClean="0">
                <a:solidFill>
                  <a:prstClr val="white"/>
                </a:solidFill>
                <a:latin typeface="Futura Bk" pitchFamily="34" charset="0"/>
              </a:rPr>
              <a:t>Click to edit Master subtitle style</a:t>
            </a:r>
            <a:endParaRPr lang="en-US" sz="2000" dirty="0">
              <a:solidFill>
                <a:prstClr val="white"/>
              </a:solidFill>
              <a:latin typeface="Futura Bk" pitchFamily="34" charset="0"/>
            </a:endParaRPr>
          </a:p>
        </p:txBody>
      </p:sp>
    </p:spTree>
    <p:extLst>
      <p:ext uri="{BB962C8B-B14F-4D97-AF65-F5344CB8AC3E}">
        <p14:creationId xmlns:p14="http://schemas.microsoft.com/office/powerpoint/2010/main" xmlns="" val="2153444229"/>
      </p:ext>
    </p:extLst>
  </p:cSld>
  <p:clrMap bg1="lt1" tx1="dk1" bg2="lt2" tx2="dk2" accent1="accent1" accent2="accent2" accent3="accent3" accent4="accent4" accent5="accent5" accent6="accent6" hlink="hlink" folHlink="folHlink"/>
  <p:sldLayoutIdLst>
    <p:sldLayoutId id="2147484014" r:id="rId1"/>
    <p:sldLayoutId id="2147484015" r:id="rId2"/>
    <p:sldLayoutId id="2147484016" r:id="rId3"/>
    <p:sldLayoutId id="2147484017" r:id="rId4"/>
    <p:sldLayoutId id="2147484018" r:id="rId5"/>
    <p:sldLayoutId id="2147484019" r:id="rId6"/>
    <p:sldLayoutId id="2147484020" r:id="rId7"/>
    <p:sldLayoutId id="2147484021" r:id="rId8"/>
    <p:sldLayoutId id="2147484022" r:id="rId9"/>
    <p:sldLayoutId id="2147484023" r:id="rId10"/>
    <p:sldLayoutId id="2147484024" r:id="rId11"/>
    <p:sldLayoutId id="2147484025" r:id="rId12"/>
    <p:sldLayoutId id="2147484026" r:id="rId13"/>
    <p:sldLayoutId id="2147484027" r:id="rId14"/>
    <p:sldLayoutId id="2147484028" r:id="rId15"/>
  </p:sldLayoutIdLst>
  <p:transition spd="med">
    <p:fade/>
  </p:transition>
  <p:timing>
    <p:tnLst>
      <p:par>
        <p:cTn id="1" dur="indefinite" restart="never" nodeType="tmRoot"/>
      </p:par>
    </p:tnLst>
  </p:timing>
  <p:hf hdr="0"/>
  <p:txStyles>
    <p:titleStyle>
      <a:lvl1pPr algn="l" rtl="0" eaLnBrk="0" fontAlgn="base" hangingPunct="0">
        <a:spcBef>
          <a:spcPct val="0"/>
        </a:spcBef>
        <a:spcAft>
          <a:spcPct val="0"/>
        </a:spcAft>
        <a:defRPr sz="3200" kern="1200">
          <a:solidFill>
            <a:schemeClr val="bg1"/>
          </a:solidFill>
          <a:latin typeface="Futura Bk" pitchFamily="34" charset="0"/>
          <a:ea typeface="+mj-ea"/>
          <a:cs typeface="+mj-cs"/>
        </a:defRPr>
      </a:lvl1pPr>
      <a:lvl2pPr algn="l" rtl="0" eaLnBrk="0" fontAlgn="base" hangingPunct="0">
        <a:spcBef>
          <a:spcPct val="0"/>
        </a:spcBef>
        <a:spcAft>
          <a:spcPct val="0"/>
        </a:spcAft>
        <a:defRPr sz="3200">
          <a:solidFill>
            <a:schemeClr val="bg1"/>
          </a:solidFill>
          <a:latin typeface="Futura Bk" pitchFamily="34" charset="0"/>
        </a:defRPr>
      </a:lvl2pPr>
      <a:lvl3pPr algn="l" rtl="0" eaLnBrk="0" fontAlgn="base" hangingPunct="0">
        <a:spcBef>
          <a:spcPct val="0"/>
        </a:spcBef>
        <a:spcAft>
          <a:spcPct val="0"/>
        </a:spcAft>
        <a:defRPr sz="3200">
          <a:solidFill>
            <a:schemeClr val="bg1"/>
          </a:solidFill>
          <a:latin typeface="Futura Bk" pitchFamily="34" charset="0"/>
        </a:defRPr>
      </a:lvl3pPr>
      <a:lvl4pPr algn="l" rtl="0" eaLnBrk="0" fontAlgn="base" hangingPunct="0">
        <a:spcBef>
          <a:spcPct val="0"/>
        </a:spcBef>
        <a:spcAft>
          <a:spcPct val="0"/>
        </a:spcAft>
        <a:defRPr sz="3200">
          <a:solidFill>
            <a:schemeClr val="bg1"/>
          </a:solidFill>
          <a:latin typeface="Futura Bk" pitchFamily="34" charset="0"/>
        </a:defRPr>
      </a:lvl4pPr>
      <a:lvl5pPr algn="l" rtl="0" eaLnBrk="0" fontAlgn="base" hangingPunct="0">
        <a:spcBef>
          <a:spcPct val="0"/>
        </a:spcBef>
        <a:spcAft>
          <a:spcPct val="0"/>
        </a:spcAft>
        <a:defRPr sz="3200">
          <a:solidFill>
            <a:schemeClr val="bg1"/>
          </a:solidFill>
          <a:latin typeface="Futura Bk" pitchFamily="34" charset="0"/>
        </a:defRPr>
      </a:lvl5pPr>
      <a:lvl6pPr marL="457200" algn="l" rtl="0" fontAlgn="base">
        <a:spcBef>
          <a:spcPct val="0"/>
        </a:spcBef>
        <a:spcAft>
          <a:spcPct val="0"/>
        </a:spcAft>
        <a:defRPr sz="3200">
          <a:solidFill>
            <a:schemeClr val="bg1"/>
          </a:solidFill>
          <a:latin typeface="Futura Bk" pitchFamily="34" charset="0"/>
        </a:defRPr>
      </a:lvl6pPr>
      <a:lvl7pPr marL="914400" algn="l" rtl="0" fontAlgn="base">
        <a:spcBef>
          <a:spcPct val="0"/>
        </a:spcBef>
        <a:spcAft>
          <a:spcPct val="0"/>
        </a:spcAft>
        <a:defRPr sz="3200">
          <a:solidFill>
            <a:schemeClr val="bg1"/>
          </a:solidFill>
          <a:latin typeface="Futura Bk" pitchFamily="34" charset="0"/>
        </a:defRPr>
      </a:lvl7pPr>
      <a:lvl8pPr marL="1371600" algn="l" rtl="0" fontAlgn="base">
        <a:spcBef>
          <a:spcPct val="0"/>
        </a:spcBef>
        <a:spcAft>
          <a:spcPct val="0"/>
        </a:spcAft>
        <a:defRPr sz="3200">
          <a:solidFill>
            <a:schemeClr val="bg1"/>
          </a:solidFill>
          <a:latin typeface="Futura Bk" pitchFamily="34" charset="0"/>
        </a:defRPr>
      </a:lvl8pPr>
      <a:lvl9pPr marL="1828800" algn="l" rtl="0" fontAlgn="base">
        <a:spcBef>
          <a:spcPct val="0"/>
        </a:spcBef>
        <a:spcAft>
          <a:spcPct val="0"/>
        </a:spcAft>
        <a:defRPr sz="3200">
          <a:solidFill>
            <a:schemeClr val="bg1"/>
          </a:solidFill>
          <a:latin typeface="Futura Bk" pitchFamily="34" charset="0"/>
        </a:defRPr>
      </a:lvl9pPr>
    </p:titleStyle>
    <p:bodyStyle>
      <a:lvl1pPr marL="342900" indent="-342900" algn="l" rtl="0" eaLnBrk="0" fontAlgn="base" hangingPunct="0">
        <a:spcBef>
          <a:spcPct val="20000"/>
        </a:spcBef>
        <a:spcAft>
          <a:spcPct val="0"/>
        </a:spcAft>
        <a:buFont typeface="Arial" charset="0"/>
        <a:buChar char="•"/>
        <a:defRPr sz="2000" kern="1200">
          <a:solidFill>
            <a:schemeClr val="bg1"/>
          </a:solidFill>
          <a:latin typeface="Futura Bk" pitchFamily="34" charset="0"/>
          <a:ea typeface="+mn-ea"/>
          <a:cs typeface="+mn-cs"/>
        </a:defRPr>
      </a:lvl1pPr>
      <a:lvl2pPr marL="742950" indent="-28575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2pPr>
      <a:lvl3pPr marL="11430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3pPr>
      <a:lvl4pPr marL="16002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4pPr>
      <a:lvl5pPr marL="2057400" indent="-228600" algn="l" rtl="0" eaLnBrk="0" fontAlgn="base" hangingPunct="0">
        <a:spcBef>
          <a:spcPct val="20000"/>
        </a:spcBef>
        <a:spcAft>
          <a:spcPct val="0"/>
        </a:spcAft>
        <a:buFont typeface="Arial" charset="0"/>
        <a:buChar char="»"/>
        <a:defRPr kern="1200">
          <a:solidFill>
            <a:schemeClr val="bg1"/>
          </a:solidFill>
          <a:latin typeface="Futura Bk"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18.jpe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jpeg"/><Relationship Id="rId4" Type="http://schemas.openxmlformats.org/officeDocument/2006/relationships/image" Target="../media/image16.jpeg"/><Relationship Id="rId9" Type="http://schemas.openxmlformats.org/officeDocument/2006/relationships/image" Target="../media/image21.wmf"/><Relationship Id="rId1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1.wmf"/><Relationship Id="rId7" Type="http://schemas.openxmlformats.org/officeDocument/2006/relationships/image" Target="../media/image35.emf"/><Relationship Id="rId12" Type="http://schemas.openxmlformats.org/officeDocument/2006/relationships/image" Target="../media/image28.png"/><Relationship Id="rId2" Type="http://schemas.openxmlformats.org/officeDocument/2006/relationships/image" Target="../media/image21.wmf"/><Relationship Id="rId1" Type="http://schemas.openxmlformats.org/officeDocument/2006/relationships/slideLayout" Target="../slideLayouts/slideLayout6.xml"/><Relationship Id="rId6" Type="http://schemas.openxmlformats.org/officeDocument/2006/relationships/image" Target="../media/image34.wmf"/><Relationship Id="rId11" Type="http://schemas.openxmlformats.org/officeDocument/2006/relationships/image" Target="../media/image38.jpeg"/><Relationship Id="rId5" Type="http://schemas.openxmlformats.org/officeDocument/2006/relationships/image" Target="../media/image33.wmf"/><Relationship Id="rId10" Type="http://schemas.openxmlformats.org/officeDocument/2006/relationships/image" Target="../media/image37.png"/><Relationship Id="rId4" Type="http://schemas.openxmlformats.org/officeDocument/2006/relationships/image" Target="../media/image32.wmf"/><Relationship Id="rId9"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82.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82.xml"/></Relationships>
</file>

<file path=ppt/slides/_rels/slide6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71.xml"/></Relationships>
</file>

<file path=ppt/slides/_rels/slide6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56.xml"/><Relationship Id="rId4" Type="http://schemas.openxmlformats.org/officeDocument/2006/relationships/image" Target="../media/image3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8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2.v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5.xml"/></Relationships>
</file>

<file path=ppt/slides/_rels/slide76.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12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5.xml"/></Relationships>
</file>

<file path=ppt/slides/_rels/slide78.xml.rels><?xml version="1.0" encoding="UTF-8" standalone="yes"?>
<Relationships xmlns="http://schemas.openxmlformats.org/package/2006/relationships"><Relationship Id="rId3" Type="http://schemas.openxmlformats.org/officeDocument/2006/relationships/hyperlink" Target="mailto:Indyops@hp.com" TargetMode="External"/><Relationship Id="rId2" Type="http://schemas.openxmlformats.org/officeDocument/2006/relationships/hyperlink" Target="mailto:Brian.Popovitx@hp.com" TargetMode="External"/><Relationship Id="rId1" Type="http://schemas.openxmlformats.org/officeDocument/2006/relationships/slideLayout" Target="../slideLayouts/slideLayout12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5.xml.rels><?xml version="1.0" encoding="UTF-8" standalone="yes"?>
<Relationships xmlns="http://schemas.openxmlformats.org/package/2006/relationships"><Relationship Id="rId3" Type="http://schemas.openxmlformats.org/officeDocument/2006/relationships/package" Target="../embeddings/Microsoft_Office_Excel____1.xlsx"/><Relationship Id="rId2" Type="http://schemas.openxmlformats.org/officeDocument/2006/relationships/slideLayout" Target="../slideLayouts/slideLayout124.xml"/><Relationship Id="rId1" Type="http://schemas.openxmlformats.org/officeDocument/2006/relationships/vmlDrawing" Target="../drawings/vmlDrawing3.vml"/><Relationship Id="rId4" Type="http://schemas.openxmlformats.org/officeDocument/2006/relationships/image" Target="../media/image55.emf"/></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4.xml"/></Relationships>
</file>

<file path=ppt/slides/_rels/slide8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chor="ctr"/>
          <a:lstStyle/>
          <a:p>
            <a:r>
              <a:rPr lang="en-US" dirty="0" smtClean="0"/>
              <a:t>BSaM – ODM Requirements</a:t>
            </a:r>
            <a:endParaRPr lang="en-US" sz="3600" dirty="0">
              <a:solidFill>
                <a:schemeClr val="tx1"/>
              </a:solidFill>
            </a:endParaRPr>
          </a:p>
        </p:txBody>
      </p:sp>
      <p:sp>
        <p:nvSpPr>
          <p:cNvPr id="5" name="Subtitle 4"/>
          <p:cNvSpPr>
            <a:spLocks noGrp="1"/>
          </p:cNvSpPr>
          <p:nvPr>
            <p:ph type="subTitle" idx="1"/>
          </p:nvPr>
        </p:nvSpPr>
        <p:spPr>
          <a:xfrm>
            <a:off x="329184" y="3316628"/>
            <a:ext cx="6858000" cy="914400"/>
          </a:xfrm>
        </p:spPr>
        <p:txBody>
          <a:bodyPr anchor="ctr"/>
          <a:lstStyle/>
          <a:p>
            <a:r>
              <a:rPr lang="en-US" dirty="0" smtClean="0"/>
              <a:t>HP BSaM Project Team – Jun Mukai</a:t>
            </a:r>
          </a:p>
          <a:p>
            <a:r>
              <a:rPr lang="en-US" dirty="0" smtClean="0"/>
              <a:t>Version 3.1 – Nov 15, 2012</a:t>
            </a:r>
            <a:endParaRPr lang="en-US" dirty="0"/>
          </a:p>
        </p:txBody>
      </p:sp>
    </p:spTree>
    <p:extLst>
      <p:ext uri="{BB962C8B-B14F-4D97-AF65-F5344CB8AC3E}">
        <p14:creationId xmlns:p14="http://schemas.microsoft.com/office/powerpoint/2010/main" xmlns="" val="15874619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sz="quarter" idx="10"/>
            <p:extLst>
              <p:ext uri="{D42A27DB-BD31-4B8C-83A1-F6EECF244321}">
                <p14:modId xmlns:p14="http://schemas.microsoft.com/office/powerpoint/2010/main" xmlns="" val="2606356776"/>
              </p:ext>
            </p:extLst>
          </p:nvPr>
        </p:nvGraphicFramePr>
        <p:xfrm>
          <a:off x="328613" y="1189038"/>
          <a:ext cx="8120060" cy="3337496"/>
        </p:xfrm>
        <a:graphic>
          <a:graphicData uri="http://schemas.openxmlformats.org/drawingml/2006/table">
            <a:tbl>
              <a:tblPr firstRow="1" bandRow="1">
                <a:tableStyleId>{7DF18680-E054-41AD-8BC1-D1AEF772440D}</a:tableStyleId>
              </a:tblPr>
              <a:tblGrid>
                <a:gridCol w="623887"/>
                <a:gridCol w="831850"/>
                <a:gridCol w="917286"/>
                <a:gridCol w="2505364"/>
                <a:gridCol w="3241673"/>
              </a:tblGrid>
              <a:tr h="265112">
                <a:tc>
                  <a:txBody>
                    <a:bodyPr/>
                    <a:lstStyle/>
                    <a:p>
                      <a:pPr algn="ctr">
                        <a:lnSpc>
                          <a:spcPct val="85000"/>
                        </a:lnSpc>
                      </a:pPr>
                      <a:r>
                        <a:rPr lang="en-US" sz="1100" dirty="0" smtClean="0">
                          <a:solidFill>
                            <a:schemeClr val="tx1"/>
                          </a:solidFill>
                          <a:latin typeface="Calibri" pitchFamily="34" charset="0"/>
                          <a:cs typeface="Calibri" pitchFamily="34" charset="0"/>
                        </a:rPr>
                        <a:t>Rev#</a:t>
                      </a:r>
                      <a:endParaRPr lang="en-US" sz="1100" dirty="0">
                        <a:solidFill>
                          <a:schemeClr val="tx1"/>
                        </a:solidFill>
                        <a:latin typeface="Calibri" pitchFamily="34" charset="0"/>
                        <a:cs typeface="Calibri" pitchFamily="34" charset="0"/>
                      </a:endParaRPr>
                    </a:p>
                  </a:txBody>
                  <a:tcPr anchor="ctr"/>
                </a:tc>
                <a:tc>
                  <a:txBody>
                    <a:bodyPr/>
                    <a:lstStyle/>
                    <a:p>
                      <a:pPr algn="ctr">
                        <a:lnSpc>
                          <a:spcPct val="85000"/>
                        </a:lnSpc>
                      </a:pPr>
                      <a:r>
                        <a:rPr lang="en-US" sz="1100" dirty="0" smtClean="0">
                          <a:solidFill>
                            <a:schemeClr val="tx1"/>
                          </a:solidFill>
                          <a:latin typeface="Calibri" pitchFamily="34" charset="0"/>
                          <a:cs typeface="Calibri" pitchFamily="34" charset="0"/>
                        </a:rPr>
                        <a:t>Date</a:t>
                      </a:r>
                      <a:endParaRPr lang="en-US" sz="1100" dirty="0">
                        <a:solidFill>
                          <a:schemeClr val="tx1"/>
                        </a:solidFill>
                        <a:latin typeface="Calibri" pitchFamily="34" charset="0"/>
                        <a:cs typeface="Calibri" pitchFamily="34" charset="0"/>
                      </a:endParaRPr>
                    </a:p>
                  </a:txBody>
                  <a:tcPr anchor="ctr"/>
                </a:tc>
                <a:tc>
                  <a:txBody>
                    <a:bodyPr/>
                    <a:lstStyle/>
                    <a:p>
                      <a:pPr algn="ctr">
                        <a:lnSpc>
                          <a:spcPct val="85000"/>
                        </a:lnSpc>
                      </a:pPr>
                      <a:r>
                        <a:rPr lang="en-US" sz="1100" dirty="0" smtClean="0">
                          <a:solidFill>
                            <a:schemeClr val="tx1"/>
                          </a:solidFill>
                          <a:latin typeface="Calibri" pitchFamily="34" charset="0"/>
                          <a:cs typeface="Calibri" pitchFamily="34" charset="0"/>
                        </a:rPr>
                        <a:t>Author</a:t>
                      </a:r>
                      <a:endParaRPr lang="en-US" sz="1100" dirty="0">
                        <a:solidFill>
                          <a:schemeClr val="tx1"/>
                        </a:solidFill>
                        <a:latin typeface="Calibri" pitchFamily="34" charset="0"/>
                        <a:cs typeface="Calibri" pitchFamily="34" charset="0"/>
                      </a:endParaRPr>
                    </a:p>
                  </a:txBody>
                  <a:tcPr anchor="ctr"/>
                </a:tc>
                <a:tc>
                  <a:txBody>
                    <a:bodyPr/>
                    <a:lstStyle/>
                    <a:p>
                      <a:pPr algn="ctr">
                        <a:lnSpc>
                          <a:spcPct val="85000"/>
                        </a:lnSpc>
                      </a:pPr>
                      <a:r>
                        <a:rPr lang="en-US" sz="1100" dirty="0" smtClean="0">
                          <a:solidFill>
                            <a:schemeClr val="tx1"/>
                          </a:solidFill>
                          <a:latin typeface="Calibri" pitchFamily="34" charset="0"/>
                          <a:cs typeface="Calibri" pitchFamily="34" charset="0"/>
                        </a:rPr>
                        <a:t>Section </a:t>
                      </a:r>
                      <a:endParaRPr lang="en-US" sz="1100" dirty="0">
                        <a:solidFill>
                          <a:schemeClr val="tx1"/>
                        </a:solidFill>
                        <a:latin typeface="Calibri" pitchFamily="34" charset="0"/>
                        <a:cs typeface="Calibri" pitchFamily="34" charset="0"/>
                      </a:endParaRPr>
                    </a:p>
                  </a:txBody>
                  <a:tcPr anchor="ctr"/>
                </a:tc>
                <a:tc>
                  <a:txBody>
                    <a:bodyPr/>
                    <a:lstStyle/>
                    <a:p>
                      <a:pPr algn="ctr">
                        <a:lnSpc>
                          <a:spcPct val="85000"/>
                        </a:lnSpc>
                      </a:pPr>
                      <a:r>
                        <a:rPr lang="en-US" sz="1100" dirty="0" smtClean="0">
                          <a:solidFill>
                            <a:schemeClr val="tx1"/>
                          </a:solidFill>
                          <a:latin typeface="Calibri" pitchFamily="34" charset="0"/>
                          <a:cs typeface="Calibri" pitchFamily="34" charset="0"/>
                        </a:rPr>
                        <a:t>Comment</a:t>
                      </a:r>
                      <a:endParaRPr lang="en-US" sz="1100" dirty="0">
                        <a:solidFill>
                          <a:schemeClr val="tx1"/>
                        </a:solidFill>
                        <a:latin typeface="Calibri" pitchFamily="34" charset="0"/>
                        <a:cs typeface="Calibri" pitchFamily="34" charset="0"/>
                      </a:endParaRPr>
                    </a:p>
                  </a:txBody>
                  <a:tcPr anchor="ctr"/>
                </a:tc>
              </a:tr>
              <a:tr h="1024128">
                <a:tc>
                  <a:txBody>
                    <a:bodyPr/>
                    <a:lstStyle/>
                    <a:p>
                      <a:pPr>
                        <a:lnSpc>
                          <a:spcPct val="85000"/>
                        </a:lnSpc>
                      </a:pPr>
                      <a:r>
                        <a:rPr lang="en-US" sz="900" dirty="0" smtClean="0">
                          <a:solidFill>
                            <a:srgbClr val="0000FF"/>
                          </a:solidFill>
                          <a:latin typeface="Calibri" pitchFamily="34" charset="0"/>
                          <a:cs typeface="Calibri" pitchFamily="34" charset="0"/>
                        </a:rPr>
                        <a:t>3.1</a:t>
                      </a:r>
                      <a:endParaRPr lang="en-US" sz="900" dirty="0">
                        <a:solidFill>
                          <a:srgbClr val="0000FF"/>
                        </a:solidFill>
                        <a:latin typeface="Calibri" pitchFamily="34" charset="0"/>
                        <a:cs typeface="Calibri" pitchFamily="34" charset="0"/>
                      </a:endParaRPr>
                    </a:p>
                  </a:txBody>
                  <a:tcPr/>
                </a:tc>
                <a:tc>
                  <a:txBody>
                    <a:bodyPr/>
                    <a:lstStyle/>
                    <a:p>
                      <a:pPr>
                        <a:lnSpc>
                          <a:spcPct val="85000"/>
                        </a:lnSpc>
                      </a:pPr>
                      <a:r>
                        <a:rPr lang="en-US" sz="900" dirty="0" smtClean="0">
                          <a:solidFill>
                            <a:srgbClr val="0000FF"/>
                          </a:solidFill>
                          <a:latin typeface="Calibri" pitchFamily="34" charset="0"/>
                          <a:cs typeface="Calibri" pitchFamily="34" charset="0"/>
                        </a:rPr>
                        <a:t>Nov 15, 2012</a:t>
                      </a:r>
                      <a:endParaRPr lang="en-US" sz="900" dirty="0">
                        <a:solidFill>
                          <a:srgbClr val="0000FF"/>
                        </a:solidFill>
                        <a:latin typeface="Calibri" pitchFamily="34" charset="0"/>
                        <a:cs typeface="Calibri" pitchFamily="34" charset="0"/>
                      </a:endParaRPr>
                    </a:p>
                  </a:txBody>
                  <a:tcPr/>
                </a:tc>
                <a:tc>
                  <a:txBody>
                    <a:bodyPr/>
                    <a:lstStyle/>
                    <a:p>
                      <a:pPr>
                        <a:lnSpc>
                          <a:spcPct val="85000"/>
                        </a:lnSpc>
                      </a:pPr>
                      <a:r>
                        <a:rPr lang="en-US" sz="900" dirty="0" smtClean="0">
                          <a:solidFill>
                            <a:srgbClr val="0000FF"/>
                          </a:solidFill>
                          <a:latin typeface="Calibri" pitchFamily="34" charset="0"/>
                          <a:cs typeface="Calibri" pitchFamily="34" charset="0"/>
                        </a:rPr>
                        <a:t>Jun Mukai</a:t>
                      </a:r>
                    </a:p>
                    <a:p>
                      <a:pPr>
                        <a:lnSpc>
                          <a:spcPct val="85000"/>
                        </a:lnSpc>
                      </a:pPr>
                      <a:r>
                        <a:rPr lang="en-US" sz="900" dirty="0" smtClean="0">
                          <a:solidFill>
                            <a:srgbClr val="0000FF"/>
                          </a:solidFill>
                          <a:latin typeface="Calibri" pitchFamily="34" charset="0"/>
                          <a:cs typeface="Calibri" pitchFamily="34" charset="0"/>
                        </a:rPr>
                        <a:t>Steve Girgenti</a:t>
                      </a:r>
                      <a:endParaRPr lang="en-US" sz="900" dirty="0">
                        <a:solidFill>
                          <a:srgbClr val="0000FF"/>
                        </a:solidFill>
                        <a:latin typeface="Calibri" pitchFamily="34" charset="0"/>
                        <a:cs typeface="Calibri" pitchFamily="34" charset="0"/>
                      </a:endParaRPr>
                    </a:p>
                  </a:txBody>
                  <a:tcPr/>
                </a:tc>
                <a:tc>
                  <a:txBody>
                    <a:bodyPr/>
                    <a:lstStyle/>
                    <a:p>
                      <a:pPr>
                        <a:lnSpc>
                          <a:spcPct val="85000"/>
                        </a:lnSpc>
                      </a:pPr>
                      <a:r>
                        <a:rPr lang="en-US" sz="900" baseline="0" dirty="0" smtClean="0">
                          <a:solidFill>
                            <a:srgbClr val="0000FF"/>
                          </a:solidFill>
                          <a:latin typeface="Calibri" pitchFamily="34" charset="0"/>
                          <a:cs typeface="Calibri" pitchFamily="34" charset="0"/>
                        </a:rPr>
                        <a:t>PDM BOM – Unique BSaM/IDS AV (Slide 49)</a:t>
                      </a:r>
                    </a:p>
                    <a:p>
                      <a:pPr>
                        <a:lnSpc>
                          <a:spcPct val="85000"/>
                        </a:lnSpc>
                      </a:pPr>
                      <a:r>
                        <a:rPr lang="en-US" sz="900" baseline="0" dirty="0" smtClean="0">
                          <a:solidFill>
                            <a:srgbClr val="0000FF"/>
                          </a:solidFill>
                          <a:latin typeface="Calibri" pitchFamily="34" charset="0"/>
                          <a:cs typeface="Calibri" pitchFamily="34" charset="0"/>
                        </a:rPr>
                        <a:t>EDI850 correction for Sold to ID &amp; RSD (Slide 51)</a:t>
                      </a:r>
                    </a:p>
                    <a:p>
                      <a:pPr>
                        <a:lnSpc>
                          <a:spcPct val="85000"/>
                        </a:lnSpc>
                      </a:pPr>
                      <a:r>
                        <a:rPr lang="en-US" sz="900" baseline="0" dirty="0" smtClean="0">
                          <a:solidFill>
                            <a:srgbClr val="0000FF"/>
                          </a:solidFill>
                          <a:latin typeface="Calibri" pitchFamily="34" charset="0"/>
                          <a:cs typeface="Calibri" pitchFamily="34" charset="0"/>
                        </a:rPr>
                        <a:t>Bulk Pack Product Label Finalized (Slide 60)</a:t>
                      </a:r>
                    </a:p>
                    <a:p>
                      <a:pPr>
                        <a:lnSpc>
                          <a:spcPct val="85000"/>
                        </a:lnSpc>
                      </a:pPr>
                      <a:r>
                        <a:rPr lang="en-US" sz="900" baseline="0" dirty="0" smtClean="0">
                          <a:solidFill>
                            <a:srgbClr val="0000FF"/>
                          </a:solidFill>
                          <a:latin typeface="Calibri" pitchFamily="34" charset="0"/>
                          <a:cs typeface="Calibri" pitchFamily="34" charset="0"/>
                        </a:rPr>
                        <a:t>Order Group ID Label(Slide 60.1)</a:t>
                      </a:r>
                    </a:p>
                    <a:p>
                      <a:pPr>
                        <a:lnSpc>
                          <a:spcPct val="85000"/>
                        </a:lnSpc>
                      </a:pPr>
                      <a:endParaRPr lang="en-US" sz="900" baseline="0" dirty="0" smtClean="0">
                        <a:solidFill>
                          <a:srgbClr val="0000FF"/>
                        </a:solidFill>
                        <a:latin typeface="Calibri" pitchFamily="34" charset="0"/>
                        <a:cs typeface="Calibri" pitchFamily="34" charset="0"/>
                      </a:endParaRPr>
                    </a:p>
                    <a:p>
                      <a:pPr>
                        <a:lnSpc>
                          <a:spcPct val="85000"/>
                        </a:lnSpc>
                      </a:pPr>
                      <a:r>
                        <a:rPr lang="en-US" sz="900" baseline="0" dirty="0" smtClean="0">
                          <a:solidFill>
                            <a:srgbClr val="0000FF"/>
                          </a:solidFill>
                          <a:latin typeface="Calibri" pitchFamily="34" charset="0"/>
                          <a:cs typeface="Calibri" pitchFamily="34" charset="0"/>
                        </a:rPr>
                        <a:t>Shipping Doc/label requirements (Slide 64)</a:t>
                      </a:r>
                    </a:p>
                    <a:p>
                      <a:pPr>
                        <a:lnSpc>
                          <a:spcPct val="85000"/>
                        </a:lnSpc>
                      </a:pPr>
                      <a:r>
                        <a:rPr lang="en-US" sz="900" baseline="0" dirty="0" smtClean="0">
                          <a:solidFill>
                            <a:srgbClr val="0000FF"/>
                          </a:solidFill>
                          <a:latin typeface="Calibri" pitchFamily="34" charset="0"/>
                          <a:cs typeface="Calibri" pitchFamily="34" charset="0"/>
                        </a:rPr>
                        <a:t>Post Shipment Report (Slide 65)</a:t>
                      </a:r>
                    </a:p>
                  </a:txBody>
                  <a:tcPr/>
                </a:tc>
                <a:tc>
                  <a:txBody>
                    <a:bodyPr/>
                    <a:lstStyle/>
                    <a:p>
                      <a:pPr>
                        <a:lnSpc>
                          <a:spcPct val="85000"/>
                        </a:lnSpc>
                      </a:pPr>
                      <a:r>
                        <a:rPr lang="en-US" sz="900" baseline="0" dirty="0" smtClean="0">
                          <a:solidFill>
                            <a:srgbClr val="0000FF"/>
                          </a:solidFill>
                          <a:latin typeface="Calibri" pitchFamily="34" charset="0"/>
                          <a:cs typeface="Calibri" pitchFamily="34" charset="0"/>
                        </a:rPr>
                        <a:t>Additional comments added to clarify on the PDM BOM structure</a:t>
                      </a:r>
                    </a:p>
                    <a:p>
                      <a:pPr>
                        <a:lnSpc>
                          <a:spcPct val="85000"/>
                        </a:lnSpc>
                      </a:pPr>
                      <a:r>
                        <a:rPr lang="en-US" sz="900" baseline="0" dirty="0" smtClean="0">
                          <a:solidFill>
                            <a:srgbClr val="0000FF"/>
                          </a:solidFill>
                          <a:latin typeface="Calibri" pitchFamily="34" charset="0"/>
                          <a:cs typeface="Calibri" pitchFamily="34" charset="0"/>
                        </a:rPr>
                        <a:t>Change in identifier for EDI850 RSD (previously communicated)</a:t>
                      </a:r>
                    </a:p>
                    <a:p>
                      <a:pPr>
                        <a:lnSpc>
                          <a:spcPct val="85000"/>
                        </a:lnSpc>
                      </a:pPr>
                      <a:r>
                        <a:rPr lang="en-US" sz="900" baseline="0" dirty="0" smtClean="0">
                          <a:solidFill>
                            <a:srgbClr val="0000FF"/>
                          </a:solidFill>
                          <a:latin typeface="Calibri" pitchFamily="34" charset="0"/>
                          <a:cs typeface="Calibri" pitchFamily="34" charset="0"/>
                        </a:rPr>
                        <a:t>Order Group ID will not be shown on Bulk Pack Product Label</a:t>
                      </a:r>
                    </a:p>
                    <a:p>
                      <a:pPr>
                        <a:lnSpc>
                          <a:spcPct val="85000"/>
                        </a:lnSpc>
                      </a:pPr>
                      <a:r>
                        <a:rPr lang="en-US" sz="900" baseline="0" dirty="0" smtClean="0">
                          <a:solidFill>
                            <a:srgbClr val="0000FF"/>
                          </a:solidFill>
                          <a:latin typeface="Calibri" pitchFamily="34" charset="0"/>
                          <a:cs typeface="Calibri" pitchFamily="34" charset="0"/>
                        </a:rPr>
                        <a:t>Order Group ID Label will be optional (to be determined by HP/ODM)</a:t>
                      </a:r>
                    </a:p>
                    <a:p>
                      <a:pPr>
                        <a:lnSpc>
                          <a:spcPct val="85000"/>
                        </a:lnSpc>
                      </a:pPr>
                      <a:r>
                        <a:rPr lang="en-US" sz="900" baseline="0" dirty="0" smtClean="0">
                          <a:solidFill>
                            <a:srgbClr val="0000FF"/>
                          </a:solidFill>
                          <a:latin typeface="Calibri" pitchFamily="34" charset="0"/>
                          <a:cs typeface="Calibri" pitchFamily="34" charset="0"/>
                        </a:rPr>
                        <a:t>EDITS requirements to be defined by HVLS team</a:t>
                      </a:r>
                    </a:p>
                    <a:p>
                      <a:pPr>
                        <a:lnSpc>
                          <a:spcPct val="85000"/>
                        </a:lnSpc>
                      </a:pPr>
                      <a:r>
                        <a:rPr lang="en-US" sz="900" baseline="0" dirty="0" smtClean="0">
                          <a:solidFill>
                            <a:srgbClr val="0000FF"/>
                          </a:solidFill>
                          <a:latin typeface="Calibri" pitchFamily="34" charset="0"/>
                          <a:cs typeface="Calibri" pitchFamily="34" charset="0"/>
                        </a:rPr>
                        <a:t>Post Shipment Report requirement adjusted to simplify set up</a:t>
                      </a:r>
                    </a:p>
                  </a:txBody>
                  <a:tcPr/>
                </a:tc>
              </a:tr>
              <a:tr h="1024128">
                <a:tc>
                  <a:txBody>
                    <a:bodyPr/>
                    <a:lstStyle/>
                    <a:p>
                      <a:pPr>
                        <a:lnSpc>
                          <a:spcPct val="85000"/>
                        </a:lnSpc>
                      </a:pPr>
                      <a:r>
                        <a:rPr lang="en-US" sz="900" dirty="0" smtClean="0">
                          <a:solidFill>
                            <a:schemeClr val="tx1"/>
                          </a:solidFill>
                          <a:latin typeface="Calibri" pitchFamily="34" charset="0"/>
                          <a:cs typeface="Calibri" pitchFamily="34" charset="0"/>
                        </a:rPr>
                        <a:t>3.0</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Oct 30, 2012</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Jun Mukai</a:t>
                      </a:r>
                    </a:p>
                    <a:p>
                      <a:pPr>
                        <a:lnSpc>
                          <a:spcPct val="85000"/>
                        </a:lnSpc>
                      </a:pPr>
                      <a:r>
                        <a:rPr lang="en-US" sz="900" dirty="0" smtClean="0">
                          <a:solidFill>
                            <a:schemeClr val="tx1"/>
                          </a:solidFill>
                          <a:latin typeface="Calibri" pitchFamily="34" charset="0"/>
                          <a:cs typeface="Calibri" pitchFamily="34" charset="0"/>
                        </a:rPr>
                        <a:t>Steve Girgenti</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baseline="0" dirty="0" smtClean="0">
                          <a:solidFill>
                            <a:schemeClr val="tx1"/>
                          </a:solidFill>
                          <a:latin typeface="Calibri" pitchFamily="34" charset="0"/>
                          <a:cs typeface="Calibri" pitchFamily="34" charset="0"/>
                        </a:rPr>
                        <a:t>Order Group ID Label Requirement (Slide 57)</a:t>
                      </a:r>
                    </a:p>
                    <a:p>
                      <a:pPr>
                        <a:lnSpc>
                          <a:spcPct val="85000"/>
                        </a:lnSpc>
                      </a:pPr>
                      <a:r>
                        <a:rPr lang="en-US" sz="900" baseline="0" dirty="0" smtClean="0">
                          <a:solidFill>
                            <a:schemeClr val="tx1"/>
                          </a:solidFill>
                          <a:latin typeface="Calibri" pitchFamily="34" charset="0"/>
                          <a:cs typeface="Calibri" pitchFamily="34" charset="0"/>
                        </a:rPr>
                        <a:t>Bulk Pack Product Label (Slide 60)</a:t>
                      </a:r>
                    </a:p>
                    <a:p>
                      <a:pPr>
                        <a:lnSpc>
                          <a:spcPct val="85000"/>
                        </a:lnSpc>
                      </a:pPr>
                      <a:r>
                        <a:rPr lang="en-US" sz="900" baseline="0" dirty="0" smtClean="0">
                          <a:solidFill>
                            <a:schemeClr val="tx1"/>
                          </a:solidFill>
                          <a:latin typeface="Calibri" pitchFamily="34" charset="0"/>
                          <a:cs typeface="Calibri" pitchFamily="34" charset="0"/>
                        </a:rPr>
                        <a:t>Order Group ID Label (Slide 60.1)</a:t>
                      </a:r>
                    </a:p>
                    <a:p>
                      <a:pPr>
                        <a:lnSpc>
                          <a:spcPct val="85000"/>
                        </a:lnSpc>
                      </a:pPr>
                      <a:r>
                        <a:rPr lang="en-US" sz="900" baseline="0" dirty="0" smtClean="0">
                          <a:solidFill>
                            <a:schemeClr val="tx1"/>
                          </a:solidFill>
                          <a:latin typeface="Calibri" pitchFamily="34" charset="0"/>
                          <a:cs typeface="Calibri" pitchFamily="34" charset="0"/>
                        </a:rPr>
                        <a:t>Bulk Packaging Spec (Slide 64.1, 64.2)</a:t>
                      </a:r>
                    </a:p>
                    <a:p>
                      <a:pPr>
                        <a:lnSpc>
                          <a:spcPct val="85000"/>
                        </a:lnSpc>
                      </a:pPr>
                      <a:r>
                        <a:rPr lang="en-US" sz="900" baseline="0" dirty="0" smtClean="0">
                          <a:solidFill>
                            <a:schemeClr val="tx1"/>
                          </a:solidFill>
                          <a:latin typeface="Calibri" pitchFamily="34" charset="0"/>
                          <a:cs typeface="Calibri" pitchFamily="34" charset="0"/>
                        </a:rPr>
                        <a:t>Bulk Box Scanning to Order (Slide 64.1)</a:t>
                      </a:r>
                    </a:p>
                    <a:p>
                      <a:pPr>
                        <a:lnSpc>
                          <a:spcPct val="85000"/>
                        </a:lnSpc>
                      </a:pPr>
                      <a:r>
                        <a:rPr lang="en-US" sz="900" baseline="0" dirty="0" smtClean="0">
                          <a:solidFill>
                            <a:schemeClr val="tx1"/>
                          </a:solidFill>
                          <a:latin typeface="Calibri" pitchFamily="34" charset="0"/>
                          <a:cs typeface="Calibri" pitchFamily="34" charset="0"/>
                        </a:rPr>
                        <a:t>EDI856 Details (Slide 65, 65.1)</a:t>
                      </a:r>
                    </a:p>
                    <a:p>
                      <a:pPr>
                        <a:lnSpc>
                          <a:spcPct val="85000"/>
                        </a:lnSpc>
                      </a:pPr>
                      <a:r>
                        <a:rPr lang="en-US" sz="900" baseline="0" dirty="0" smtClean="0">
                          <a:solidFill>
                            <a:schemeClr val="tx1"/>
                          </a:solidFill>
                          <a:latin typeface="Calibri" pitchFamily="34" charset="0"/>
                          <a:cs typeface="Calibri" pitchFamily="34" charset="0"/>
                        </a:rPr>
                        <a:t>B Part Process updated (Slide 69)</a:t>
                      </a:r>
                    </a:p>
                    <a:p>
                      <a:pPr>
                        <a:lnSpc>
                          <a:spcPct val="85000"/>
                        </a:lnSpc>
                      </a:pPr>
                      <a:r>
                        <a:rPr lang="en-US" sz="900" baseline="0" dirty="0" smtClean="0">
                          <a:solidFill>
                            <a:schemeClr val="tx1"/>
                          </a:solidFill>
                          <a:latin typeface="Calibri" pitchFamily="34" charset="0"/>
                          <a:cs typeface="Calibri" pitchFamily="34" charset="0"/>
                        </a:rPr>
                        <a:t>Prod ID Condition Table Spec (Slide 80.1)</a:t>
                      </a:r>
                    </a:p>
                  </a:txBody>
                  <a:tcPr/>
                </a:tc>
                <a:tc>
                  <a:txBody>
                    <a:bodyPr/>
                    <a:lstStyle/>
                    <a:p>
                      <a:pPr>
                        <a:lnSpc>
                          <a:spcPct val="85000"/>
                        </a:lnSpc>
                      </a:pPr>
                      <a:r>
                        <a:rPr lang="en-US" sz="900" baseline="0" dirty="0" smtClean="0">
                          <a:solidFill>
                            <a:schemeClr val="tx1"/>
                          </a:solidFill>
                          <a:latin typeface="Calibri" pitchFamily="34" charset="0"/>
                          <a:cs typeface="Calibri" pitchFamily="34" charset="0"/>
                        </a:rPr>
                        <a:t>Separate Order Group ID from Bulk Pack Product  label (Proposal) </a:t>
                      </a:r>
                    </a:p>
                    <a:p>
                      <a:pPr>
                        <a:lnSpc>
                          <a:spcPct val="85000"/>
                        </a:lnSpc>
                      </a:pPr>
                      <a:r>
                        <a:rPr lang="en-US" sz="900" baseline="0" dirty="0" smtClean="0">
                          <a:solidFill>
                            <a:schemeClr val="tx1"/>
                          </a:solidFill>
                          <a:latin typeface="Calibri" pitchFamily="34" charset="0"/>
                          <a:cs typeface="Calibri" pitchFamily="34" charset="0"/>
                        </a:rPr>
                        <a:t>Adjustment to Bulk Pack Product label (Proposal)</a:t>
                      </a:r>
                    </a:p>
                    <a:p>
                      <a:pPr>
                        <a:lnSpc>
                          <a:spcPct val="85000"/>
                        </a:lnSpc>
                      </a:pPr>
                      <a:r>
                        <a:rPr lang="en-US" sz="900" baseline="0" dirty="0" smtClean="0">
                          <a:solidFill>
                            <a:schemeClr val="tx1"/>
                          </a:solidFill>
                          <a:latin typeface="Calibri" pitchFamily="34" charset="0"/>
                          <a:cs typeface="Calibri" pitchFamily="34" charset="0"/>
                        </a:rPr>
                        <a:t>Separate Order Group ID from Bulk Pack Product Label (Proposal)</a:t>
                      </a:r>
                    </a:p>
                    <a:p>
                      <a:pPr>
                        <a:lnSpc>
                          <a:spcPct val="85000"/>
                        </a:lnSpc>
                      </a:pPr>
                      <a:r>
                        <a:rPr lang="en-US" sz="900" baseline="0" dirty="0" smtClean="0">
                          <a:solidFill>
                            <a:schemeClr val="tx1"/>
                          </a:solidFill>
                          <a:latin typeface="Calibri" pitchFamily="34" charset="0"/>
                          <a:cs typeface="Calibri" pitchFamily="34" charset="0"/>
                        </a:rPr>
                        <a:t>Details on Bulk Packaging Spec and Requirements</a:t>
                      </a:r>
                    </a:p>
                    <a:p>
                      <a:pPr>
                        <a:lnSpc>
                          <a:spcPct val="85000"/>
                        </a:lnSpc>
                      </a:pPr>
                      <a:r>
                        <a:rPr lang="en-US" sz="900" baseline="0" dirty="0" smtClean="0">
                          <a:solidFill>
                            <a:schemeClr val="tx1"/>
                          </a:solidFill>
                          <a:latin typeface="Calibri" pitchFamily="34" charset="0"/>
                          <a:cs typeface="Calibri" pitchFamily="34" charset="0"/>
                        </a:rPr>
                        <a:t>Requirement to scan bulk box /serial number to link with Pack ID</a:t>
                      </a:r>
                    </a:p>
                    <a:p>
                      <a:pPr>
                        <a:lnSpc>
                          <a:spcPct val="85000"/>
                        </a:lnSpc>
                      </a:pPr>
                      <a:r>
                        <a:rPr lang="en-US" sz="900" baseline="0" dirty="0" smtClean="0">
                          <a:solidFill>
                            <a:schemeClr val="tx1"/>
                          </a:solidFill>
                          <a:latin typeface="Calibri" pitchFamily="34" charset="0"/>
                          <a:cs typeface="Calibri" pitchFamily="34" charset="0"/>
                        </a:rPr>
                        <a:t>Sample EDI856 provided </a:t>
                      </a:r>
                    </a:p>
                    <a:p>
                      <a:pPr>
                        <a:lnSpc>
                          <a:spcPct val="85000"/>
                        </a:lnSpc>
                      </a:pPr>
                      <a:r>
                        <a:rPr lang="en-US" sz="900" baseline="0" dirty="0" smtClean="0">
                          <a:solidFill>
                            <a:schemeClr val="tx1"/>
                          </a:solidFill>
                          <a:latin typeface="Calibri" pitchFamily="34" charset="0"/>
                          <a:cs typeface="Calibri" pitchFamily="34" charset="0"/>
                        </a:rPr>
                        <a:t>Including Invoice and price info in process flow.</a:t>
                      </a:r>
                    </a:p>
                    <a:p>
                      <a:pPr>
                        <a:lnSpc>
                          <a:spcPct val="85000"/>
                        </a:lnSpc>
                      </a:pPr>
                      <a:r>
                        <a:rPr lang="en-US" sz="900" baseline="0" dirty="0" smtClean="0">
                          <a:solidFill>
                            <a:schemeClr val="tx1"/>
                          </a:solidFill>
                          <a:latin typeface="Calibri" pitchFamily="34" charset="0"/>
                          <a:cs typeface="Calibri" pitchFamily="34" charset="0"/>
                        </a:rPr>
                        <a:t>Additional slide defining source and official data fields</a:t>
                      </a:r>
                    </a:p>
                  </a:txBody>
                  <a:tcPr/>
                </a:tc>
              </a:tr>
              <a:tr h="1024128">
                <a:tc>
                  <a:txBody>
                    <a:bodyPr/>
                    <a:lstStyle/>
                    <a:p>
                      <a:pPr>
                        <a:lnSpc>
                          <a:spcPct val="85000"/>
                        </a:lnSpc>
                      </a:pPr>
                      <a:r>
                        <a:rPr lang="en-US" sz="900" dirty="0" smtClean="0">
                          <a:solidFill>
                            <a:schemeClr val="tx1"/>
                          </a:solidFill>
                          <a:latin typeface="Calibri" pitchFamily="34" charset="0"/>
                          <a:cs typeface="Calibri" pitchFamily="34" charset="0"/>
                        </a:rPr>
                        <a:t>2.0</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Oct 1, 2012</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Jun Mukai</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baseline="0" dirty="0" smtClean="0">
                          <a:solidFill>
                            <a:schemeClr val="tx1"/>
                          </a:solidFill>
                          <a:latin typeface="Calibri" pitchFamily="34" charset="0"/>
                          <a:cs typeface="Calibri" pitchFamily="34" charset="0"/>
                        </a:rPr>
                        <a:t>C SKU IDS AV (Slide 21)</a:t>
                      </a:r>
                    </a:p>
                    <a:p>
                      <a:pPr>
                        <a:lnSpc>
                          <a:spcPct val="85000"/>
                        </a:lnSpc>
                      </a:pPr>
                      <a:r>
                        <a:rPr lang="en-US" sz="900" baseline="0" dirty="0" smtClean="0">
                          <a:solidFill>
                            <a:schemeClr val="tx1"/>
                          </a:solidFill>
                          <a:latin typeface="Calibri" pitchFamily="34" charset="0"/>
                          <a:cs typeface="Calibri" pitchFamily="34" charset="0"/>
                        </a:rPr>
                        <a:t>BSaM PDM/BOM Proposal E (Slide 22)</a:t>
                      </a:r>
                    </a:p>
                    <a:p>
                      <a:pPr>
                        <a:lnSpc>
                          <a:spcPct val="85000"/>
                        </a:lnSpc>
                      </a:pPr>
                      <a:r>
                        <a:rPr lang="en-US" sz="900" baseline="0" dirty="0" smtClean="0">
                          <a:solidFill>
                            <a:schemeClr val="tx1"/>
                          </a:solidFill>
                          <a:latin typeface="Calibri" pitchFamily="34" charset="0"/>
                          <a:cs typeface="Calibri" pitchFamily="34" charset="0"/>
                        </a:rPr>
                        <a:t>Unique AV/SA Proposal (Slide 23, 24)</a:t>
                      </a:r>
                    </a:p>
                    <a:p>
                      <a:pPr>
                        <a:lnSpc>
                          <a:spcPct val="85000"/>
                        </a:lnSpc>
                      </a:pPr>
                      <a:r>
                        <a:rPr lang="en-US" sz="900" baseline="0" dirty="0" smtClean="0">
                          <a:solidFill>
                            <a:schemeClr val="tx1"/>
                          </a:solidFill>
                          <a:latin typeface="Calibri" pitchFamily="34" charset="0"/>
                          <a:cs typeface="Calibri" pitchFamily="34" charset="0"/>
                        </a:rPr>
                        <a:t>Production Grouping Max Unit </a:t>
                      </a:r>
                      <a:r>
                        <a:rPr lang="en-US" sz="900" baseline="0" dirty="0" err="1" smtClean="0">
                          <a:solidFill>
                            <a:schemeClr val="tx1"/>
                          </a:solidFill>
                          <a:latin typeface="Calibri" pitchFamily="34" charset="0"/>
                          <a:cs typeface="Calibri" pitchFamily="34" charset="0"/>
                        </a:rPr>
                        <a:t>Qty</a:t>
                      </a:r>
                      <a:r>
                        <a:rPr lang="en-US" sz="900" baseline="0" dirty="0" smtClean="0">
                          <a:solidFill>
                            <a:schemeClr val="tx1"/>
                          </a:solidFill>
                          <a:latin typeface="Calibri" pitchFamily="34" charset="0"/>
                          <a:cs typeface="Calibri" pitchFamily="34" charset="0"/>
                        </a:rPr>
                        <a:t> (Slide 29, 30, 31)</a:t>
                      </a:r>
                    </a:p>
                    <a:p>
                      <a:pPr>
                        <a:lnSpc>
                          <a:spcPct val="85000"/>
                        </a:lnSpc>
                      </a:pPr>
                      <a:r>
                        <a:rPr lang="en-US" sz="900" baseline="0" dirty="0" smtClean="0">
                          <a:solidFill>
                            <a:schemeClr val="tx1"/>
                          </a:solidFill>
                          <a:latin typeface="Calibri" pitchFamily="34" charset="0"/>
                          <a:cs typeface="Calibri" pitchFamily="34" charset="0"/>
                        </a:rPr>
                        <a:t>IQDC Requirement (Slide 62)</a:t>
                      </a:r>
                    </a:p>
                    <a:p>
                      <a:pPr>
                        <a:lnSpc>
                          <a:spcPct val="85000"/>
                        </a:lnSpc>
                      </a:pPr>
                      <a:r>
                        <a:rPr lang="en-US" sz="900" baseline="0" dirty="0" smtClean="0">
                          <a:solidFill>
                            <a:schemeClr val="tx1"/>
                          </a:solidFill>
                          <a:latin typeface="Calibri" pitchFamily="34" charset="0"/>
                          <a:cs typeface="Calibri" pitchFamily="34" charset="0"/>
                        </a:rPr>
                        <a:t>Order Group ID (Slide 63, 81)</a:t>
                      </a:r>
                    </a:p>
                  </a:txBody>
                  <a:tcPr/>
                </a:tc>
                <a:tc>
                  <a:txBody>
                    <a:bodyPr/>
                    <a:lstStyle/>
                    <a:p>
                      <a:pPr>
                        <a:lnSpc>
                          <a:spcPct val="85000"/>
                        </a:lnSpc>
                      </a:pPr>
                      <a:r>
                        <a:rPr lang="en-US" sz="900" baseline="0" dirty="0" smtClean="0">
                          <a:solidFill>
                            <a:schemeClr val="tx1"/>
                          </a:solidFill>
                          <a:latin typeface="Calibri" pitchFamily="34" charset="0"/>
                          <a:cs typeface="Calibri" pitchFamily="34" charset="0"/>
                        </a:rPr>
                        <a:t>Correction in IDS AV explanation</a:t>
                      </a:r>
                    </a:p>
                    <a:p>
                      <a:pPr>
                        <a:lnSpc>
                          <a:spcPct val="85000"/>
                        </a:lnSpc>
                      </a:pPr>
                      <a:r>
                        <a:rPr lang="en-US" sz="900" baseline="0" dirty="0" smtClean="0">
                          <a:solidFill>
                            <a:schemeClr val="tx1"/>
                          </a:solidFill>
                          <a:latin typeface="Calibri" pitchFamily="34" charset="0"/>
                          <a:cs typeface="Calibri" pitchFamily="34" charset="0"/>
                        </a:rPr>
                        <a:t>Example correction</a:t>
                      </a:r>
                    </a:p>
                    <a:p>
                      <a:pPr>
                        <a:lnSpc>
                          <a:spcPct val="85000"/>
                        </a:lnSpc>
                      </a:pPr>
                      <a:r>
                        <a:rPr lang="en-US" sz="900" baseline="0" dirty="0" smtClean="0">
                          <a:solidFill>
                            <a:schemeClr val="tx1"/>
                          </a:solidFill>
                          <a:latin typeface="Calibri" pitchFamily="34" charset="0"/>
                          <a:cs typeface="Calibri" pitchFamily="34" charset="0"/>
                        </a:rPr>
                        <a:t>1 BSAM SA to 1 BSAM AV, Program Matrix/SRP BOM</a:t>
                      </a:r>
                    </a:p>
                    <a:p>
                      <a:pPr>
                        <a:lnSpc>
                          <a:spcPct val="85000"/>
                        </a:lnSpc>
                      </a:pPr>
                      <a:r>
                        <a:rPr lang="en-US" sz="900" baseline="0" dirty="0" smtClean="0">
                          <a:solidFill>
                            <a:schemeClr val="tx1"/>
                          </a:solidFill>
                          <a:latin typeface="Calibri" pitchFamily="34" charset="0"/>
                          <a:cs typeface="Calibri" pitchFamily="34" charset="0"/>
                        </a:rPr>
                        <a:t>Max Unit </a:t>
                      </a:r>
                      <a:r>
                        <a:rPr lang="en-US" sz="900" baseline="0" dirty="0" err="1" smtClean="0">
                          <a:solidFill>
                            <a:schemeClr val="tx1"/>
                          </a:solidFill>
                          <a:latin typeface="Calibri" pitchFamily="34" charset="0"/>
                          <a:cs typeface="Calibri" pitchFamily="34" charset="0"/>
                        </a:rPr>
                        <a:t>Qty</a:t>
                      </a:r>
                      <a:r>
                        <a:rPr lang="en-US" sz="900" baseline="0" dirty="0" smtClean="0">
                          <a:solidFill>
                            <a:schemeClr val="tx1"/>
                          </a:solidFill>
                          <a:latin typeface="Calibri" pitchFamily="34" charset="0"/>
                          <a:cs typeface="Calibri" pitchFamily="34" charset="0"/>
                        </a:rPr>
                        <a:t> Rule modified based on ODM discussion</a:t>
                      </a:r>
                    </a:p>
                    <a:p>
                      <a:pPr>
                        <a:lnSpc>
                          <a:spcPct val="85000"/>
                        </a:lnSpc>
                      </a:pPr>
                      <a:r>
                        <a:rPr lang="en-US" sz="900" baseline="0" dirty="0" smtClean="0">
                          <a:solidFill>
                            <a:schemeClr val="tx1"/>
                          </a:solidFill>
                          <a:latin typeface="Calibri" pitchFamily="34" charset="0"/>
                          <a:cs typeface="Calibri" pitchFamily="34" charset="0"/>
                        </a:rPr>
                        <a:t>Correction – </a:t>
                      </a:r>
                      <a:r>
                        <a:rPr lang="en-US" sz="900" strike="sngStrike" baseline="0" dirty="0" smtClean="0">
                          <a:solidFill>
                            <a:schemeClr val="tx1"/>
                          </a:solidFill>
                          <a:latin typeface="Calibri" pitchFamily="34" charset="0"/>
                          <a:cs typeface="Calibri" pitchFamily="34" charset="0"/>
                        </a:rPr>
                        <a:t>WPTR</a:t>
                      </a:r>
                      <a:r>
                        <a:rPr lang="en-US" sz="900" baseline="0" dirty="0" smtClean="0">
                          <a:solidFill>
                            <a:schemeClr val="tx1"/>
                          </a:solidFill>
                          <a:latin typeface="Calibri" pitchFamily="34" charset="0"/>
                          <a:cs typeface="Calibri" pitchFamily="34" charset="0"/>
                        </a:rPr>
                        <a:t> </a:t>
                      </a:r>
                      <a:r>
                        <a:rPr lang="en-US" sz="900" baseline="0" dirty="0" smtClean="0">
                          <a:solidFill>
                            <a:schemeClr val="tx1"/>
                          </a:solidFill>
                          <a:latin typeface="Calibri" pitchFamily="34" charset="0"/>
                          <a:cs typeface="Calibri" pitchFamily="34" charset="0"/>
                          <a:sym typeface="Wingdings" pitchFamily="2" charset="2"/>
                        </a:rPr>
                        <a:t> IQDC</a:t>
                      </a:r>
                    </a:p>
                    <a:p>
                      <a:pPr>
                        <a:lnSpc>
                          <a:spcPct val="85000"/>
                        </a:lnSpc>
                      </a:pPr>
                      <a:r>
                        <a:rPr lang="en-US" sz="900" baseline="0" dirty="0" smtClean="0">
                          <a:solidFill>
                            <a:schemeClr val="tx1"/>
                          </a:solidFill>
                          <a:latin typeface="Calibri" pitchFamily="34" charset="0"/>
                          <a:cs typeface="Calibri" pitchFamily="34" charset="0"/>
                          <a:sym typeface="Wingdings" pitchFamily="2" charset="2"/>
                        </a:rPr>
                        <a:t>Details on Order Group ID format</a:t>
                      </a:r>
                      <a:endParaRPr lang="en-US" sz="900" baseline="0" dirty="0" smtClean="0">
                        <a:solidFill>
                          <a:schemeClr val="tx1"/>
                        </a:solidFill>
                        <a:latin typeface="Calibri" pitchFamily="34" charset="0"/>
                        <a:cs typeface="Calibri" pitchFamily="34" charset="0"/>
                      </a:endParaRPr>
                    </a:p>
                  </a:txBody>
                  <a:tcPr/>
                </a:tc>
              </a:tr>
            </a:tbl>
          </a:graphicData>
        </a:graphic>
      </p:graphicFrame>
      <p:sp>
        <p:nvSpPr>
          <p:cNvPr id="6" name="Subtitle 5"/>
          <p:cNvSpPr>
            <a:spLocks noGrp="1"/>
          </p:cNvSpPr>
          <p:nvPr>
            <p:ph type="subTitle" idx="1"/>
          </p:nvPr>
        </p:nvSpPr>
        <p:spPr/>
        <p:txBody>
          <a:bodyPr/>
          <a:lstStyle/>
          <a:p>
            <a:r>
              <a:rPr lang="en-US" dirty="0" smtClean="0"/>
              <a:t>Rev 3.1</a:t>
            </a:r>
            <a:endParaRPr lang="en-US" dirty="0"/>
          </a:p>
        </p:txBody>
      </p:sp>
      <p:sp>
        <p:nvSpPr>
          <p:cNvPr id="5" name="Title 4"/>
          <p:cNvSpPr>
            <a:spLocks noGrp="1"/>
          </p:cNvSpPr>
          <p:nvPr>
            <p:ph type="title"/>
          </p:nvPr>
        </p:nvSpPr>
        <p:spPr/>
        <p:txBody>
          <a:bodyPr/>
          <a:lstStyle/>
          <a:p>
            <a:r>
              <a:rPr lang="en-US" dirty="0" smtClean="0"/>
              <a:t>Revisions</a:t>
            </a:r>
            <a:endParaRPr lang="en-US" dirty="0"/>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97620654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sz="quarter" idx="10"/>
            <p:extLst>
              <p:ext uri="{D42A27DB-BD31-4B8C-83A1-F6EECF244321}">
                <p14:modId xmlns:p14="http://schemas.microsoft.com/office/powerpoint/2010/main" xmlns="" val="1163474680"/>
              </p:ext>
            </p:extLst>
          </p:nvPr>
        </p:nvGraphicFramePr>
        <p:xfrm>
          <a:off x="328613" y="1189038"/>
          <a:ext cx="8120060" cy="2871152"/>
        </p:xfrm>
        <a:graphic>
          <a:graphicData uri="http://schemas.openxmlformats.org/drawingml/2006/table">
            <a:tbl>
              <a:tblPr firstRow="1" bandRow="1">
                <a:tableStyleId>{7DF18680-E054-41AD-8BC1-D1AEF772440D}</a:tableStyleId>
              </a:tblPr>
              <a:tblGrid>
                <a:gridCol w="623887"/>
                <a:gridCol w="831850"/>
                <a:gridCol w="1055832"/>
                <a:gridCol w="2684318"/>
                <a:gridCol w="2924173"/>
              </a:tblGrid>
              <a:tr h="265112">
                <a:tc>
                  <a:txBody>
                    <a:bodyPr/>
                    <a:lstStyle/>
                    <a:p>
                      <a:pPr algn="ctr">
                        <a:lnSpc>
                          <a:spcPct val="85000"/>
                        </a:lnSpc>
                      </a:pPr>
                      <a:r>
                        <a:rPr lang="en-US" sz="1100" dirty="0" smtClean="0">
                          <a:solidFill>
                            <a:schemeClr val="tx1"/>
                          </a:solidFill>
                          <a:latin typeface="Calibri" pitchFamily="34" charset="0"/>
                          <a:cs typeface="Calibri" pitchFamily="34" charset="0"/>
                        </a:rPr>
                        <a:t>Rev#</a:t>
                      </a:r>
                      <a:endParaRPr lang="en-US" sz="1100" dirty="0">
                        <a:solidFill>
                          <a:schemeClr val="tx1"/>
                        </a:solidFill>
                        <a:latin typeface="Calibri" pitchFamily="34" charset="0"/>
                        <a:cs typeface="Calibri" pitchFamily="34" charset="0"/>
                      </a:endParaRPr>
                    </a:p>
                  </a:txBody>
                  <a:tcPr anchor="ctr"/>
                </a:tc>
                <a:tc>
                  <a:txBody>
                    <a:bodyPr/>
                    <a:lstStyle/>
                    <a:p>
                      <a:pPr algn="ctr">
                        <a:lnSpc>
                          <a:spcPct val="85000"/>
                        </a:lnSpc>
                      </a:pPr>
                      <a:r>
                        <a:rPr lang="en-US" sz="1100" dirty="0" smtClean="0">
                          <a:solidFill>
                            <a:schemeClr val="tx1"/>
                          </a:solidFill>
                          <a:latin typeface="Calibri" pitchFamily="34" charset="0"/>
                          <a:cs typeface="Calibri" pitchFamily="34" charset="0"/>
                        </a:rPr>
                        <a:t>Date</a:t>
                      </a:r>
                      <a:endParaRPr lang="en-US" sz="1100" dirty="0">
                        <a:solidFill>
                          <a:schemeClr val="tx1"/>
                        </a:solidFill>
                        <a:latin typeface="Calibri" pitchFamily="34" charset="0"/>
                        <a:cs typeface="Calibri" pitchFamily="34" charset="0"/>
                      </a:endParaRPr>
                    </a:p>
                  </a:txBody>
                  <a:tcPr anchor="ctr"/>
                </a:tc>
                <a:tc>
                  <a:txBody>
                    <a:bodyPr/>
                    <a:lstStyle/>
                    <a:p>
                      <a:pPr algn="ctr">
                        <a:lnSpc>
                          <a:spcPct val="85000"/>
                        </a:lnSpc>
                      </a:pPr>
                      <a:r>
                        <a:rPr lang="en-US" sz="1100" dirty="0" smtClean="0">
                          <a:solidFill>
                            <a:schemeClr val="tx1"/>
                          </a:solidFill>
                          <a:latin typeface="Calibri" pitchFamily="34" charset="0"/>
                          <a:cs typeface="Calibri" pitchFamily="34" charset="0"/>
                        </a:rPr>
                        <a:t>Author</a:t>
                      </a:r>
                      <a:endParaRPr lang="en-US" sz="1100" dirty="0">
                        <a:solidFill>
                          <a:schemeClr val="tx1"/>
                        </a:solidFill>
                        <a:latin typeface="Calibri" pitchFamily="34" charset="0"/>
                        <a:cs typeface="Calibri" pitchFamily="34" charset="0"/>
                      </a:endParaRPr>
                    </a:p>
                  </a:txBody>
                  <a:tcPr anchor="ctr"/>
                </a:tc>
                <a:tc>
                  <a:txBody>
                    <a:bodyPr/>
                    <a:lstStyle/>
                    <a:p>
                      <a:pPr algn="ctr">
                        <a:lnSpc>
                          <a:spcPct val="85000"/>
                        </a:lnSpc>
                      </a:pPr>
                      <a:r>
                        <a:rPr lang="en-US" sz="1100" dirty="0" smtClean="0">
                          <a:solidFill>
                            <a:schemeClr val="tx1"/>
                          </a:solidFill>
                          <a:latin typeface="Calibri" pitchFamily="34" charset="0"/>
                          <a:cs typeface="Calibri" pitchFamily="34" charset="0"/>
                        </a:rPr>
                        <a:t>Section </a:t>
                      </a:r>
                      <a:endParaRPr lang="en-US" sz="1100" dirty="0">
                        <a:solidFill>
                          <a:schemeClr val="tx1"/>
                        </a:solidFill>
                        <a:latin typeface="Calibri" pitchFamily="34" charset="0"/>
                        <a:cs typeface="Calibri" pitchFamily="34" charset="0"/>
                      </a:endParaRPr>
                    </a:p>
                  </a:txBody>
                  <a:tcPr anchor="ctr"/>
                </a:tc>
                <a:tc>
                  <a:txBody>
                    <a:bodyPr/>
                    <a:lstStyle/>
                    <a:p>
                      <a:pPr algn="ctr">
                        <a:lnSpc>
                          <a:spcPct val="85000"/>
                        </a:lnSpc>
                      </a:pPr>
                      <a:r>
                        <a:rPr lang="en-US" sz="1100" dirty="0" smtClean="0">
                          <a:solidFill>
                            <a:schemeClr val="tx1"/>
                          </a:solidFill>
                          <a:latin typeface="Calibri" pitchFamily="34" charset="0"/>
                          <a:cs typeface="Calibri" pitchFamily="34" charset="0"/>
                        </a:rPr>
                        <a:t>Comment</a:t>
                      </a:r>
                      <a:endParaRPr lang="en-US" sz="1100" dirty="0">
                        <a:solidFill>
                          <a:schemeClr val="tx1"/>
                        </a:solidFill>
                        <a:latin typeface="Calibri" pitchFamily="34" charset="0"/>
                        <a:cs typeface="Calibri" pitchFamily="34" charset="0"/>
                      </a:endParaRPr>
                    </a:p>
                  </a:txBody>
                  <a:tcPr anchor="ctr"/>
                </a:tc>
              </a:tr>
              <a:tr h="779272">
                <a:tc>
                  <a:txBody>
                    <a:bodyPr/>
                    <a:lstStyle/>
                    <a:p>
                      <a:pPr>
                        <a:lnSpc>
                          <a:spcPct val="85000"/>
                        </a:lnSpc>
                      </a:pPr>
                      <a:r>
                        <a:rPr lang="en-US" sz="900" dirty="0" smtClean="0">
                          <a:solidFill>
                            <a:schemeClr val="tx1"/>
                          </a:solidFill>
                          <a:latin typeface="Calibri" pitchFamily="34" charset="0"/>
                          <a:cs typeface="Calibri" pitchFamily="34" charset="0"/>
                        </a:rPr>
                        <a:t>1.51</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Sept 23, 2012</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Jun Mukai</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BSAM</a:t>
                      </a:r>
                      <a:r>
                        <a:rPr lang="en-US" sz="900" baseline="0" dirty="0" smtClean="0">
                          <a:solidFill>
                            <a:schemeClr val="tx1"/>
                          </a:solidFill>
                          <a:latin typeface="Calibri" pitchFamily="34" charset="0"/>
                          <a:cs typeface="Calibri" pitchFamily="34" charset="0"/>
                        </a:rPr>
                        <a:t> AV &amp; IDS AV (Slide  19, 21, 23, 24)</a:t>
                      </a:r>
                    </a:p>
                    <a:p>
                      <a:pPr>
                        <a:lnSpc>
                          <a:spcPct val="85000"/>
                        </a:lnSpc>
                      </a:pPr>
                      <a:r>
                        <a:rPr lang="en-US" sz="900" baseline="0" dirty="0" smtClean="0">
                          <a:solidFill>
                            <a:schemeClr val="tx1"/>
                          </a:solidFill>
                          <a:latin typeface="Calibri" pitchFamily="34" charset="0"/>
                          <a:cs typeface="Calibri" pitchFamily="34" charset="0"/>
                        </a:rPr>
                        <a:t>BSaM Planning (Slide 26)</a:t>
                      </a:r>
                    </a:p>
                    <a:p>
                      <a:pPr>
                        <a:lnSpc>
                          <a:spcPct val="85000"/>
                        </a:lnSpc>
                      </a:pPr>
                      <a:r>
                        <a:rPr lang="en-US" sz="900" baseline="0" dirty="0" smtClean="0">
                          <a:solidFill>
                            <a:schemeClr val="tx1"/>
                          </a:solidFill>
                          <a:latin typeface="Calibri" pitchFamily="34" charset="0"/>
                          <a:cs typeface="Calibri" pitchFamily="34" charset="0"/>
                        </a:rPr>
                        <a:t>Production Grouping (Slide 28)</a:t>
                      </a:r>
                    </a:p>
                    <a:p>
                      <a:pPr>
                        <a:lnSpc>
                          <a:spcPct val="85000"/>
                        </a:lnSpc>
                      </a:pPr>
                      <a:r>
                        <a:rPr lang="en-US" sz="900" baseline="0" dirty="0" smtClean="0">
                          <a:solidFill>
                            <a:schemeClr val="tx1"/>
                          </a:solidFill>
                          <a:latin typeface="Calibri" pitchFamily="34" charset="0"/>
                          <a:cs typeface="Calibri" pitchFamily="34" charset="0"/>
                        </a:rPr>
                        <a:t>Maximum Production Grouping Size (Slide 31)</a:t>
                      </a:r>
                    </a:p>
                    <a:p>
                      <a:pPr>
                        <a:lnSpc>
                          <a:spcPct val="85000"/>
                        </a:lnSpc>
                      </a:pPr>
                      <a:r>
                        <a:rPr lang="en-US" sz="900" baseline="0" dirty="0" smtClean="0">
                          <a:solidFill>
                            <a:schemeClr val="tx1"/>
                          </a:solidFill>
                          <a:latin typeface="Calibri" pitchFamily="34" charset="0"/>
                          <a:cs typeface="Calibri" pitchFamily="34" charset="0"/>
                        </a:rPr>
                        <a:t>B Part Process Flow (Slide 69)</a:t>
                      </a:r>
                    </a:p>
                    <a:p>
                      <a:pPr>
                        <a:lnSpc>
                          <a:spcPct val="85000"/>
                        </a:lnSpc>
                      </a:pPr>
                      <a:r>
                        <a:rPr lang="en-US" sz="900" baseline="0" dirty="0" smtClean="0">
                          <a:solidFill>
                            <a:schemeClr val="tx1"/>
                          </a:solidFill>
                          <a:latin typeface="Calibri" pitchFamily="34" charset="0"/>
                          <a:cs typeface="Calibri" pitchFamily="34" charset="0"/>
                        </a:rPr>
                        <a:t>Production Grouping Design Concept (Slide 77 – 81)</a:t>
                      </a:r>
                    </a:p>
                  </a:txBody>
                  <a:tcPr/>
                </a:tc>
                <a:tc>
                  <a:txBody>
                    <a:bodyPr/>
                    <a:lstStyle/>
                    <a:p>
                      <a:pPr>
                        <a:lnSpc>
                          <a:spcPct val="85000"/>
                        </a:lnSpc>
                      </a:pPr>
                      <a:r>
                        <a:rPr lang="en-US" sz="900" dirty="0" smtClean="0">
                          <a:solidFill>
                            <a:schemeClr val="tx1"/>
                          </a:solidFill>
                          <a:latin typeface="Calibri" pitchFamily="34" charset="0"/>
                          <a:cs typeface="Calibri" pitchFamily="34" charset="0"/>
                        </a:rPr>
                        <a:t>Additional</a:t>
                      </a:r>
                      <a:r>
                        <a:rPr lang="en-US" sz="900" baseline="0" dirty="0" smtClean="0">
                          <a:solidFill>
                            <a:schemeClr val="tx1"/>
                          </a:solidFill>
                          <a:latin typeface="Calibri" pitchFamily="34" charset="0"/>
                          <a:cs typeface="Calibri" pitchFamily="34" charset="0"/>
                        </a:rPr>
                        <a:t>  explanation of IDS/BSaM Unique AVs</a:t>
                      </a:r>
                    </a:p>
                    <a:p>
                      <a:pPr>
                        <a:lnSpc>
                          <a:spcPct val="85000"/>
                        </a:lnSpc>
                      </a:pPr>
                      <a:r>
                        <a:rPr lang="en-US" sz="900" baseline="0" dirty="0" smtClean="0">
                          <a:solidFill>
                            <a:schemeClr val="tx1"/>
                          </a:solidFill>
                          <a:latin typeface="Calibri" pitchFamily="34" charset="0"/>
                          <a:cs typeface="Calibri" pitchFamily="34" charset="0"/>
                        </a:rPr>
                        <a:t>Additional  explanation of IDS/BSaM Planning process</a:t>
                      </a:r>
                    </a:p>
                    <a:p>
                      <a:pPr>
                        <a:lnSpc>
                          <a:spcPct val="85000"/>
                        </a:lnSpc>
                      </a:pPr>
                      <a:r>
                        <a:rPr lang="en-US" sz="900" baseline="0" dirty="0" smtClean="0">
                          <a:solidFill>
                            <a:schemeClr val="tx1"/>
                          </a:solidFill>
                          <a:latin typeface="Calibri" pitchFamily="34" charset="0"/>
                          <a:cs typeface="Calibri" pitchFamily="34" charset="0"/>
                        </a:rPr>
                        <a:t>Additional explanation of Production Grouping</a:t>
                      </a:r>
                    </a:p>
                    <a:p>
                      <a:pPr>
                        <a:lnSpc>
                          <a:spcPct val="85000"/>
                        </a:lnSpc>
                      </a:pPr>
                      <a:r>
                        <a:rPr lang="en-US" sz="900" baseline="0" dirty="0" smtClean="0">
                          <a:solidFill>
                            <a:schemeClr val="tx1"/>
                          </a:solidFill>
                          <a:latin typeface="Calibri" pitchFamily="34" charset="0"/>
                          <a:cs typeface="Calibri" pitchFamily="34" charset="0"/>
                        </a:rPr>
                        <a:t>Change in requirement in Maximum Group Size</a:t>
                      </a:r>
                    </a:p>
                    <a:p>
                      <a:pPr>
                        <a:lnSpc>
                          <a:spcPct val="85000"/>
                        </a:lnSpc>
                      </a:pPr>
                      <a:r>
                        <a:rPr lang="en-US" sz="900" baseline="0" dirty="0" smtClean="0">
                          <a:solidFill>
                            <a:schemeClr val="tx1"/>
                          </a:solidFill>
                          <a:latin typeface="Calibri" pitchFamily="34" charset="0"/>
                          <a:cs typeface="Calibri" pitchFamily="34" charset="0"/>
                        </a:rPr>
                        <a:t>Invoice added</a:t>
                      </a:r>
                    </a:p>
                    <a:p>
                      <a:pPr>
                        <a:lnSpc>
                          <a:spcPct val="85000"/>
                        </a:lnSpc>
                      </a:pPr>
                      <a:r>
                        <a:rPr lang="en-US" sz="900" baseline="0" dirty="0" smtClean="0">
                          <a:solidFill>
                            <a:schemeClr val="tx1"/>
                          </a:solidFill>
                          <a:latin typeface="Calibri" pitchFamily="34" charset="0"/>
                          <a:cs typeface="Calibri" pitchFamily="34" charset="0"/>
                        </a:rPr>
                        <a:t>Design Concept Adjusted</a:t>
                      </a:r>
                    </a:p>
                  </a:txBody>
                  <a:tcPr/>
                </a:tc>
              </a:tr>
              <a:tr h="1231900">
                <a:tc>
                  <a:txBody>
                    <a:bodyPr/>
                    <a:lstStyle/>
                    <a:p>
                      <a:pPr>
                        <a:lnSpc>
                          <a:spcPct val="85000"/>
                        </a:lnSpc>
                      </a:pPr>
                      <a:r>
                        <a:rPr lang="en-US" sz="900" dirty="0" smtClean="0">
                          <a:solidFill>
                            <a:schemeClr val="tx1"/>
                          </a:solidFill>
                          <a:latin typeface="Calibri" pitchFamily="34" charset="0"/>
                          <a:cs typeface="Calibri" pitchFamily="34" charset="0"/>
                        </a:rPr>
                        <a:t>1.41</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Sept 12, 2012</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Jun Mukai</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PDM Proposal (Slide 22, 23)</a:t>
                      </a:r>
                    </a:p>
                    <a:p>
                      <a:pPr>
                        <a:lnSpc>
                          <a:spcPct val="85000"/>
                        </a:lnSpc>
                      </a:pPr>
                      <a:r>
                        <a:rPr lang="en-US" sz="900" dirty="0" smtClean="0">
                          <a:solidFill>
                            <a:schemeClr val="tx1"/>
                          </a:solidFill>
                          <a:latin typeface="Calibri" pitchFamily="34" charset="0"/>
                          <a:cs typeface="Calibri" pitchFamily="34" charset="0"/>
                        </a:rPr>
                        <a:t>Maximum battery test rule (Slide 37)</a:t>
                      </a:r>
                    </a:p>
                    <a:p>
                      <a:pPr>
                        <a:lnSpc>
                          <a:spcPct val="85000"/>
                        </a:lnSpc>
                      </a:pPr>
                      <a:r>
                        <a:rPr lang="en-US" sz="900" dirty="0" smtClean="0">
                          <a:solidFill>
                            <a:schemeClr val="tx1"/>
                          </a:solidFill>
                          <a:latin typeface="Calibri" pitchFamily="34" charset="0"/>
                          <a:cs typeface="Calibri" pitchFamily="34" charset="0"/>
                        </a:rPr>
                        <a:t>A Part Planning (Slide 50)</a:t>
                      </a:r>
                    </a:p>
                    <a:p>
                      <a:pPr>
                        <a:lnSpc>
                          <a:spcPct val="85000"/>
                        </a:lnSpc>
                      </a:pPr>
                      <a:r>
                        <a:rPr lang="en-US" sz="900" dirty="0" smtClean="0">
                          <a:solidFill>
                            <a:schemeClr val="tx1"/>
                          </a:solidFill>
                          <a:latin typeface="Calibri" pitchFamily="34" charset="0"/>
                          <a:cs typeface="Calibri" pitchFamily="34" charset="0"/>
                        </a:rPr>
                        <a:t>A Part Order Processing (Slide 51, 52)</a:t>
                      </a:r>
                    </a:p>
                    <a:p>
                      <a:pPr>
                        <a:lnSpc>
                          <a:spcPct val="85000"/>
                        </a:lnSpc>
                      </a:pPr>
                      <a:r>
                        <a:rPr lang="en-US" sz="900" dirty="0" smtClean="0">
                          <a:solidFill>
                            <a:schemeClr val="tx1"/>
                          </a:solidFill>
                          <a:latin typeface="Calibri" pitchFamily="34" charset="0"/>
                          <a:cs typeface="Calibri" pitchFamily="34" charset="0"/>
                        </a:rPr>
                        <a:t>A Part Production (Slide 54)</a:t>
                      </a:r>
                    </a:p>
                    <a:p>
                      <a:pPr marL="0" marR="0" indent="0" algn="l" defTabSz="457200" rtl="0" eaLnBrk="1" fontAlgn="auto" latinLnBrk="0" hangingPunct="1">
                        <a:lnSpc>
                          <a:spcPct val="85000"/>
                        </a:lnSpc>
                        <a:spcBef>
                          <a:spcPts val="0"/>
                        </a:spcBef>
                        <a:spcAft>
                          <a:spcPts val="0"/>
                        </a:spcAft>
                        <a:buClrTx/>
                        <a:buSzTx/>
                        <a:buFontTx/>
                        <a:buNone/>
                        <a:tabLst/>
                        <a:defRPr/>
                      </a:pPr>
                      <a:r>
                        <a:rPr lang="en-US" sz="900" dirty="0" smtClean="0">
                          <a:solidFill>
                            <a:schemeClr val="tx1"/>
                          </a:solidFill>
                          <a:latin typeface="Calibri" pitchFamily="34" charset="0"/>
                          <a:cs typeface="Calibri" pitchFamily="34" charset="0"/>
                        </a:rPr>
                        <a:t>Detection</a:t>
                      </a:r>
                      <a:r>
                        <a:rPr lang="en-US" sz="900" baseline="0" dirty="0" smtClean="0">
                          <a:solidFill>
                            <a:schemeClr val="tx1"/>
                          </a:solidFill>
                          <a:latin typeface="Calibri" pitchFamily="34" charset="0"/>
                          <a:cs typeface="Calibri" pitchFamily="34" charset="0"/>
                        </a:rPr>
                        <a:t> of Tested Batteries (Slide 56)</a:t>
                      </a:r>
                      <a:endParaRPr lang="en-US" sz="900" dirty="0" smtClean="0">
                        <a:solidFill>
                          <a:schemeClr val="tx1"/>
                        </a:solidFill>
                        <a:latin typeface="Calibri" pitchFamily="34" charset="0"/>
                        <a:cs typeface="Calibri" pitchFamily="34" charset="0"/>
                      </a:endParaRPr>
                    </a:p>
                    <a:p>
                      <a:pPr>
                        <a:lnSpc>
                          <a:spcPct val="85000"/>
                        </a:lnSpc>
                      </a:pPr>
                      <a:r>
                        <a:rPr lang="en-US" sz="900" dirty="0" smtClean="0">
                          <a:solidFill>
                            <a:schemeClr val="tx1"/>
                          </a:solidFill>
                          <a:latin typeface="Calibri" pitchFamily="34" charset="0"/>
                          <a:cs typeface="Calibri" pitchFamily="34" charset="0"/>
                        </a:rPr>
                        <a:t>Product</a:t>
                      </a:r>
                      <a:r>
                        <a:rPr lang="en-US" sz="900" baseline="0" dirty="0" smtClean="0">
                          <a:solidFill>
                            <a:schemeClr val="tx1"/>
                          </a:solidFill>
                          <a:latin typeface="Calibri" pitchFamily="34" charset="0"/>
                          <a:cs typeface="Calibri" pitchFamily="34" charset="0"/>
                        </a:rPr>
                        <a:t> Label (Slide 58)</a:t>
                      </a:r>
                    </a:p>
                    <a:p>
                      <a:pPr>
                        <a:lnSpc>
                          <a:spcPct val="85000"/>
                        </a:lnSpc>
                      </a:pPr>
                      <a:r>
                        <a:rPr lang="en-US" sz="900" baseline="0" dirty="0" smtClean="0">
                          <a:solidFill>
                            <a:schemeClr val="tx1"/>
                          </a:solidFill>
                          <a:latin typeface="Calibri" pitchFamily="34" charset="0"/>
                          <a:cs typeface="Calibri" pitchFamily="34" charset="0"/>
                        </a:rPr>
                        <a:t>Bulk Pack Product Label (Slide 60)</a:t>
                      </a:r>
                    </a:p>
                    <a:p>
                      <a:pPr>
                        <a:lnSpc>
                          <a:spcPct val="85000"/>
                        </a:lnSpc>
                      </a:pPr>
                      <a:r>
                        <a:rPr lang="en-US" sz="900" baseline="0" dirty="0" smtClean="0">
                          <a:solidFill>
                            <a:schemeClr val="tx1"/>
                          </a:solidFill>
                          <a:latin typeface="Calibri" pitchFamily="34" charset="0"/>
                          <a:cs typeface="Calibri" pitchFamily="34" charset="0"/>
                        </a:rPr>
                        <a:t>Order Group ID in EDI856 (Slide 65) </a:t>
                      </a:r>
                    </a:p>
                    <a:p>
                      <a:pPr>
                        <a:lnSpc>
                          <a:spcPct val="85000"/>
                        </a:lnSpc>
                      </a:pPr>
                      <a:r>
                        <a:rPr lang="en-US" sz="900" baseline="0" dirty="0" smtClean="0">
                          <a:solidFill>
                            <a:schemeClr val="tx1"/>
                          </a:solidFill>
                          <a:latin typeface="Calibri" pitchFamily="34" charset="0"/>
                          <a:cs typeface="Calibri" pitchFamily="34" charset="0"/>
                        </a:rPr>
                        <a:t>Design Concept – Production Grouping  (Slide 75-78)</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Proposal E selected and PDM solution</a:t>
                      </a:r>
                    </a:p>
                    <a:p>
                      <a:pPr>
                        <a:lnSpc>
                          <a:spcPct val="85000"/>
                        </a:lnSpc>
                      </a:pPr>
                      <a:r>
                        <a:rPr lang="en-US" sz="900" dirty="0" smtClean="0">
                          <a:solidFill>
                            <a:schemeClr val="tx1"/>
                          </a:solidFill>
                          <a:latin typeface="Calibri" pitchFamily="34" charset="0"/>
                          <a:cs typeface="Calibri" pitchFamily="34" charset="0"/>
                        </a:rPr>
                        <a:t>Max</a:t>
                      </a:r>
                      <a:r>
                        <a:rPr lang="en-US" sz="900" baseline="0" dirty="0" smtClean="0">
                          <a:solidFill>
                            <a:schemeClr val="tx1"/>
                          </a:solidFill>
                          <a:latin typeface="Calibri" pitchFamily="34" charset="0"/>
                          <a:cs typeface="Calibri" pitchFamily="34" charset="0"/>
                        </a:rPr>
                        <a:t> number of times a </a:t>
                      </a:r>
                      <a:r>
                        <a:rPr lang="en-US" sz="900" dirty="0" smtClean="0">
                          <a:solidFill>
                            <a:schemeClr val="tx1"/>
                          </a:solidFill>
                          <a:latin typeface="Calibri" pitchFamily="34" charset="0"/>
                          <a:cs typeface="Calibri" pitchFamily="34" charset="0"/>
                        </a:rPr>
                        <a:t>Battery</a:t>
                      </a:r>
                      <a:r>
                        <a:rPr lang="en-US" sz="900" baseline="0" dirty="0" smtClean="0">
                          <a:solidFill>
                            <a:schemeClr val="tx1"/>
                          </a:solidFill>
                          <a:latin typeface="Calibri" pitchFamily="34" charset="0"/>
                          <a:cs typeface="Calibri" pitchFamily="34" charset="0"/>
                        </a:rPr>
                        <a:t> can be used for testing</a:t>
                      </a:r>
                      <a:endParaRPr lang="en-US" sz="900" dirty="0" smtClean="0">
                        <a:solidFill>
                          <a:schemeClr val="tx1"/>
                        </a:solidFill>
                        <a:latin typeface="Calibri" pitchFamily="34" charset="0"/>
                        <a:cs typeface="Calibri" pitchFamily="34" charset="0"/>
                      </a:endParaRPr>
                    </a:p>
                    <a:p>
                      <a:pPr>
                        <a:lnSpc>
                          <a:spcPct val="85000"/>
                        </a:lnSpc>
                      </a:pPr>
                      <a:r>
                        <a:rPr lang="en-US" sz="900" dirty="0" smtClean="0">
                          <a:solidFill>
                            <a:schemeClr val="tx1"/>
                          </a:solidFill>
                          <a:latin typeface="Calibri" pitchFamily="34" charset="0"/>
                          <a:cs typeface="Calibri" pitchFamily="34" charset="0"/>
                        </a:rPr>
                        <a:t>C Part Number required in SCITS R11/R12 from ODM</a:t>
                      </a:r>
                    </a:p>
                    <a:p>
                      <a:pPr>
                        <a:lnSpc>
                          <a:spcPct val="85000"/>
                        </a:lnSpc>
                      </a:pPr>
                      <a:r>
                        <a:rPr lang="en-US" sz="900" dirty="0" smtClean="0">
                          <a:solidFill>
                            <a:schemeClr val="tx1"/>
                          </a:solidFill>
                          <a:latin typeface="Calibri" pitchFamily="34" charset="0"/>
                          <a:cs typeface="Calibri" pitchFamily="34" charset="0"/>
                        </a:rPr>
                        <a:t>BSaM ID, Build Trigger ID, RSD,</a:t>
                      </a:r>
                      <a:r>
                        <a:rPr lang="en-US" sz="900" baseline="0" dirty="0" smtClean="0">
                          <a:solidFill>
                            <a:schemeClr val="tx1"/>
                          </a:solidFill>
                          <a:latin typeface="Calibri" pitchFamily="34" charset="0"/>
                          <a:cs typeface="Calibri" pitchFamily="34" charset="0"/>
                        </a:rPr>
                        <a:t> &amp; “C” PN EDI segment</a:t>
                      </a:r>
                    </a:p>
                    <a:p>
                      <a:pPr>
                        <a:lnSpc>
                          <a:spcPct val="85000"/>
                        </a:lnSpc>
                      </a:pPr>
                      <a:r>
                        <a:rPr lang="en-US" sz="900" baseline="0" dirty="0" smtClean="0">
                          <a:solidFill>
                            <a:schemeClr val="tx1"/>
                          </a:solidFill>
                          <a:latin typeface="Calibri" pitchFamily="34" charset="0"/>
                          <a:cs typeface="Calibri" pitchFamily="34" charset="0"/>
                        </a:rPr>
                        <a:t>C Part Number Data Source Location</a:t>
                      </a:r>
                    </a:p>
                    <a:p>
                      <a:pPr>
                        <a:lnSpc>
                          <a:spcPct val="85000"/>
                        </a:lnSpc>
                      </a:pPr>
                      <a:r>
                        <a:rPr lang="en-US" sz="900" baseline="0" dirty="0" smtClean="0">
                          <a:solidFill>
                            <a:schemeClr val="tx1"/>
                          </a:solidFill>
                          <a:latin typeface="Calibri" pitchFamily="34" charset="0"/>
                          <a:cs typeface="Calibri" pitchFamily="34" charset="0"/>
                        </a:rPr>
                        <a:t>Systemic method to prevent usage of a tested battery</a:t>
                      </a:r>
                    </a:p>
                    <a:p>
                      <a:pPr>
                        <a:lnSpc>
                          <a:spcPct val="85000"/>
                        </a:lnSpc>
                      </a:pPr>
                      <a:r>
                        <a:rPr lang="en-US" sz="900" baseline="0" dirty="0" smtClean="0">
                          <a:solidFill>
                            <a:schemeClr val="tx1"/>
                          </a:solidFill>
                          <a:latin typeface="Calibri" pitchFamily="34" charset="0"/>
                          <a:cs typeface="Calibri" pitchFamily="34" charset="0"/>
                        </a:rPr>
                        <a:t>Correction: “A” Part Product Labels go on the Pouch</a:t>
                      </a:r>
                    </a:p>
                    <a:p>
                      <a:pPr>
                        <a:lnSpc>
                          <a:spcPct val="85000"/>
                        </a:lnSpc>
                      </a:pPr>
                      <a:r>
                        <a:rPr lang="en-US" sz="900" baseline="0" dirty="0" smtClean="0">
                          <a:solidFill>
                            <a:schemeClr val="tx1"/>
                          </a:solidFill>
                          <a:latin typeface="Calibri" pitchFamily="34" charset="0"/>
                          <a:cs typeface="Calibri" pitchFamily="34" charset="0"/>
                        </a:rPr>
                        <a:t>New Bulk Pack Product Label Template (DRAFT)</a:t>
                      </a:r>
                    </a:p>
                    <a:p>
                      <a:pPr>
                        <a:lnSpc>
                          <a:spcPct val="85000"/>
                        </a:lnSpc>
                      </a:pPr>
                      <a:r>
                        <a:rPr lang="en-US" sz="900" baseline="0" dirty="0" smtClean="0">
                          <a:solidFill>
                            <a:schemeClr val="tx1"/>
                          </a:solidFill>
                          <a:latin typeface="Calibri" pitchFamily="34" charset="0"/>
                          <a:cs typeface="Calibri" pitchFamily="34" charset="0"/>
                        </a:rPr>
                        <a:t>Defines EDI856 segment for Order Group ID </a:t>
                      </a:r>
                    </a:p>
                    <a:p>
                      <a:pPr>
                        <a:lnSpc>
                          <a:spcPct val="85000"/>
                        </a:lnSpc>
                      </a:pPr>
                      <a:r>
                        <a:rPr lang="en-US" sz="900" baseline="0" dirty="0" smtClean="0">
                          <a:solidFill>
                            <a:schemeClr val="tx1"/>
                          </a:solidFill>
                          <a:latin typeface="Calibri" pitchFamily="34" charset="0"/>
                          <a:cs typeface="Calibri" pitchFamily="34" charset="0"/>
                        </a:rPr>
                        <a:t>Details on Production Grouping Design Concept  </a:t>
                      </a:r>
                      <a:endParaRPr lang="en-US" sz="900" dirty="0">
                        <a:solidFill>
                          <a:schemeClr val="tx1"/>
                        </a:solidFill>
                        <a:latin typeface="Calibri" pitchFamily="34" charset="0"/>
                        <a:cs typeface="Calibri" pitchFamily="34" charset="0"/>
                      </a:endParaRPr>
                    </a:p>
                  </a:txBody>
                  <a:tcPr/>
                </a:tc>
              </a:tr>
              <a:tr h="557784">
                <a:tc>
                  <a:txBody>
                    <a:bodyPr/>
                    <a:lstStyle/>
                    <a:p>
                      <a:pPr>
                        <a:lnSpc>
                          <a:spcPct val="85000"/>
                        </a:lnSpc>
                      </a:pPr>
                      <a:r>
                        <a:rPr lang="en-US" sz="900" dirty="0" smtClean="0">
                          <a:solidFill>
                            <a:schemeClr val="tx1"/>
                          </a:solidFill>
                          <a:latin typeface="Calibri" pitchFamily="34" charset="0"/>
                          <a:cs typeface="Calibri" pitchFamily="34" charset="0"/>
                        </a:rPr>
                        <a:t>1.3</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Sept 5, 2012</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Jun Mukai</a:t>
                      </a:r>
                    </a:p>
                    <a:p>
                      <a:pPr>
                        <a:lnSpc>
                          <a:spcPct val="85000"/>
                        </a:lnSpc>
                      </a:pPr>
                      <a:endParaRPr lang="en-US" sz="900" dirty="0" smtClean="0">
                        <a:solidFill>
                          <a:schemeClr val="tx1"/>
                        </a:solidFill>
                        <a:latin typeface="Calibri" pitchFamily="34" charset="0"/>
                        <a:cs typeface="Calibri" pitchFamily="34" charset="0"/>
                      </a:endParaRPr>
                    </a:p>
                    <a:p>
                      <a:pPr>
                        <a:lnSpc>
                          <a:spcPct val="85000"/>
                        </a:lnSpc>
                      </a:pPr>
                      <a:r>
                        <a:rPr lang="en-US" sz="900" dirty="0" smtClean="0">
                          <a:solidFill>
                            <a:schemeClr val="tx1"/>
                          </a:solidFill>
                          <a:latin typeface="Calibri" pitchFamily="34" charset="0"/>
                          <a:cs typeface="Calibri" pitchFamily="34" charset="0"/>
                        </a:rPr>
                        <a:t>Steve Girgenti</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PDM,</a:t>
                      </a:r>
                      <a:r>
                        <a:rPr lang="en-US" sz="900" baseline="0" dirty="0" smtClean="0">
                          <a:solidFill>
                            <a:schemeClr val="tx1"/>
                          </a:solidFill>
                          <a:latin typeface="Calibri" pitchFamily="34" charset="0"/>
                          <a:cs typeface="Calibri" pitchFamily="34" charset="0"/>
                        </a:rPr>
                        <a:t> Planning, Order Processing, Production, &amp; Service/Warranty sections</a:t>
                      </a:r>
                    </a:p>
                    <a:p>
                      <a:pPr>
                        <a:lnSpc>
                          <a:spcPct val="85000"/>
                        </a:lnSpc>
                      </a:pPr>
                      <a:r>
                        <a:rPr lang="en-US" sz="900" baseline="0" dirty="0" smtClean="0">
                          <a:solidFill>
                            <a:schemeClr val="tx1"/>
                          </a:solidFill>
                          <a:latin typeface="Calibri" pitchFamily="34" charset="0"/>
                          <a:cs typeface="Calibri" pitchFamily="34" charset="0"/>
                        </a:rPr>
                        <a:t>Logistics sections</a:t>
                      </a:r>
                      <a:endParaRPr lang="en-US" sz="900" dirty="0">
                        <a:solidFill>
                          <a:schemeClr val="tx1"/>
                        </a:solidFill>
                        <a:latin typeface="Calibri" pitchFamily="34" charset="0"/>
                        <a:cs typeface="Calibri" pitchFamily="34" charset="0"/>
                      </a:endParaRPr>
                    </a:p>
                  </a:txBody>
                  <a:tcPr/>
                </a:tc>
                <a:tc>
                  <a:txBody>
                    <a:bodyPr/>
                    <a:lstStyle/>
                    <a:p>
                      <a:pPr>
                        <a:lnSpc>
                          <a:spcPct val="85000"/>
                        </a:lnSpc>
                      </a:pPr>
                      <a:r>
                        <a:rPr lang="en-US" sz="900" dirty="0" smtClean="0">
                          <a:solidFill>
                            <a:schemeClr val="tx1"/>
                          </a:solidFill>
                          <a:latin typeface="Calibri" pitchFamily="34" charset="0"/>
                          <a:cs typeface="Calibri" pitchFamily="34" charset="0"/>
                        </a:rPr>
                        <a:t>Initial Release to ODMs</a:t>
                      </a:r>
                      <a:endParaRPr lang="en-US" sz="900" dirty="0">
                        <a:solidFill>
                          <a:schemeClr val="tx1"/>
                        </a:solidFill>
                        <a:latin typeface="Calibri" pitchFamily="34" charset="0"/>
                        <a:cs typeface="Calibri" pitchFamily="34" charset="0"/>
                      </a:endParaRPr>
                    </a:p>
                  </a:txBody>
                  <a:tcPr/>
                </a:tc>
              </a:tr>
            </a:tbl>
          </a:graphicData>
        </a:graphic>
      </p:graphicFrame>
      <p:sp>
        <p:nvSpPr>
          <p:cNvPr id="6" name="Subtitle 5"/>
          <p:cNvSpPr>
            <a:spLocks noGrp="1"/>
          </p:cNvSpPr>
          <p:nvPr>
            <p:ph type="subTitle" idx="1"/>
          </p:nvPr>
        </p:nvSpPr>
        <p:spPr/>
        <p:txBody>
          <a:bodyPr/>
          <a:lstStyle/>
          <a:p>
            <a:r>
              <a:rPr lang="en-US" dirty="0" smtClean="0"/>
              <a:t>Rev 3.1</a:t>
            </a:r>
            <a:endParaRPr lang="en-US" dirty="0"/>
          </a:p>
        </p:txBody>
      </p:sp>
      <p:sp>
        <p:nvSpPr>
          <p:cNvPr id="5" name="Title 4"/>
          <p:cNvSpPr>
            <a:spLocks noGrp="1"/>
          </p:cNvSpPr>
          <p:nvPr>
            <p:ph type="title"/>
          </p:nvPr>
        </p:nvSpPr>
        <p:spPr/>
        <p:txBody>
          <a:bodyPr/>
          <a:lstStyle/>
          <a:p>
            <a:r>
              <a:rPr lang="en-US" dirty="0" smtClean="0"/>
              <a:t>Revisions</a:t>
            </a:r>
            <a:endParaRPr lang="en-US" dirty="0"/>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2.1</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04701960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 </a:t>
            </a:r>
            <a:endParaRPr lang="en-US" dirty="0"/>
          </a:p>
        </p:txBody>
      </p:sp>
      <p:sp>
        <p:nvSpPr>
          <p:cNvPr id="3" name="Title 2"/>
          <p:cNvSpPr>
            <a:spLocks noGrp="1"/>
          </p:cNvSpPr>
          <p:nvPr>
            <p:ph type="title"/>
          </p:nvPr>
        </p:nvSpPr>
        <p:spPr>
          <a:xfrm>
            <a:off x="426886" y="203261"/>
            <a:ext cx="8117206" cy="430887"/>
          </a:xfrm>
        </p:spPr>
        <p:txBody>
          <a:bodyPr/>
          <a:lstStyle/>
          <a:p>
            <a:r>
              <a:rPr lang="en-US" dirty="0" smtClean="0"/>
              <a:t>Contents</a:t>
            </a:r>
            <a:endParaRPr lang="en-US" dirty="0"/>
          </a:p>
        </p:txBody>
      </p:sp>
      <p:sp>
        <p:nvSpPr>
          <p:cNvPr id="4" name="Content Placeholder 3"/>
          <p:cNvSpPr>
            <a:spLocks noGrp="1"/>
          </p:cNvSpPr>
          <p:nvPr>
            <p:ph sz="quarter" idx="10"/>
          </p:nvPr>
        </p:nvSpPr>
        <p:spPr/>
        <p:txBody>
          <a:bodyPr/>
          <a:lstStyle/>
          <a:p>
            <a:pPr lvl="2"/>
            <a:r>
              <a:rPr lang="en-US" sz="1600" dirty="0" smtClean="0"/>
              <a:t>Introduction and Overview</a:t>
            </a:r>
          </a:p>
          <a:p>
            <a:pPr lvl="2"/>
            <a:endParaRPr lang="en-US" sz="1600" dirty="0" smtClean="0"/>
          </a:p>
          <a:p>
            <a:pPr lvl="2"/>
            <a:r>
              <a:rPr lang="en-US" sz="1600" dirty="0" smtClean="0"/>
              <a:t>High Level Process Flows</a:t>
            </a:r>
          </a:p>
          <a:p>
            <a:pPr lvl="2"/>
            <a:endParaRPr lang="en-US" sz="1600" dirty="0" smtClean="0"/>
          </a:p>
          <a:p>
            <a:pPr lvl="2"/>
            <a:r>
              <a:rPr lang="en-US" sz="1600" dirty="0" smtClean="0"/>
              <a:t>ODM Requirements</a:t>
            </a:r>
          </a:p>
          <a:p>
            <a:pPr lvl="3"/>
            <a:r>
              <a:rPr lang="en-US" sz="1600" dirty="0" smtClean="0"/>
              <a:t>A Part Requirements</a:t>
            </a:r>
          </a:p>
          <a:p>
            <a:pPr lvl="3"/>
            <a:r>
              <a:rPr lang="en-US" sz="1600" dirty="0" smtClean="0"/>
              <a:t>B Part Requirements</a:t>
            </a:r>
          </a:p>
          <a:p>
            <a:pPr lvl="3"/>
            <a:endParaRPr lang="en-US" sz="1600" dirty="0"/>
          </a:p>
          <a:p>
            <a:pPr lvl="2"/>
            <a:r>
              <a:rPr lang="en-US" sz="1600" dirty="0" smtClean="0"/>
              <a:t>Design Concepts and Requirement Details</a:t>
            </a:r>
          </a:p>
          <a:p>
            <a:pPr lvl="3"/>
            <a:r>
              <a:rPr lang="en-US" sz="1600" dirty="0" smtClean="0"/>
              <a:t>Production Grouping</a:t>
            </a:r>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2697227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0"/>
          </p:nvPr>
        </p:nvSpPr>
        <p:spPr/>
        <p:txBody>
          <a:bodyPr anchor="ctr"/>
          <a:lstStyle/>
          <a:p>
            <a:pPr algn="ctr"/>
            <a:r>
              <a:rPr lang="en-US" sz="4000" dirty="0" smtClean="0">
                <a:solidFill>
                  <a:schemeClr val="tx1"/>
                </a:solidFill>
              </a:rPr>
              <a:t>Introduction &amp; Overview</a:t>
            </a:r>
          </a:p>
          <a:p>
            <a:pPr algn="ctr"/>
            <a:endParaRPr lang="en-US" sz="4000" dirty="0">
              <a:solidFill>
                <a:schemeClr val="tx1"/>
              </a:solidFill>
            </a:endParaRPr>
          </a:p>
        </p:txBody>
      </p:sp>
      <p:sp>
        <p:nvSpPr>
          <p:cNvPr id="3" name="Rounded Rectangle 2"/>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182575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BSaM</a:t>
            </a:r>
            <a:r>
              <a:rPr lang="en-US" dirty="0" smtClean="0"/>
              <a:t> Overview</a:t>
            </a:r>
            <a:endParaRPr lang="en-US" dirty="0"/>
          </a:p>
        </p:txBody>
      </p:sp>
      <p:sp>
        <p:nvSpPr>
          <p:cNvPr id="4" name="Content Placeholder 3"/>
          <p:cNvSpPr>
            <a:spLocks noGrp="1"/>
          </p:cNvSpPr>
          <p:nvPr>
            <p:ph sz="quarter" idx="16"/>
          </p:nvPr>
        </p:nvSpPr>
        <p:spPr>
          <a:xfrm>
            <a:off x="332330" y="1188731"/>
            <a:ext cx="8377330" cy="3219769"/>
          </a:xfrm>
        </p:spPr>
        <p:txBody>
          <a:bodyPr/>
          <a:lstStyle/>
          <a:p>
            <a:pPr marL="342900" indent="-342900">
              <a:lnSpc>
                <a:spcPct val="90000"/>
              </a:lnSpc>
              <a:buFont typeface="+mj-lt"/>
              <a:buAutoNum type="arabicPeriod"/>
            </a:pPr>
            <a:r>
              <a:rPr lang="en-US" dirty="0" smtClean="0"/>
              <a:t>Objective</a:t>
            </a:r>
          </a:p>
          <a:p>
            <a:pPr marL="512763" lvl="3" indent="-171450">
              <a:lnSpc>
                <a:spcPct val="90000"/>
              </a:lnSpc>
              <a:buFont typeface="Arial" pitchFamily="34" charset="0"/>
              <a:buChar char="•"/>
            </a:pPr>
            <a:r>
              <a:rPr lang="en-US" dirty="0" smtClean="0"/>
              <a:t>Establish a hybrid solution between IDS Air vs. IDS Ocean</a:t>
            </a:r>
          </a:p>
          <a:p>
            <a:pPr marL="512763" lvl="3" indent="-171450">
              <a:lnSpc>
                <a:spcPct val="90000"/>
              </a:lnSpc>
              <a:buFont typeface="Arial" pitchFamily="34" charset="0"/>
              <a:buChar char="•"/>
            </a:pPr>
            <a:r>
              <a:rPr lang="en-US" dirty="0" smtClean="0"/>
              <a:t>Solution will provide the advantages of IDS BTO while enabling part of shipment to be supported via Ocean</a:t>
            </a:r>
          </a:p>
          <a:p>
            <a:pPr marL="512763" lvl="3" indent="-171450">
              <a:lnSpc>
                <a:spcPct val="90000"/>
              </a:lnSpc>
              <a:buFont typeface="Arial" pitchFamily="34" charset="0"/>
              <a:buChar char="•"/>
            </a:pPr>
            <a:r>
              <a:rPr lang="en-US" dirty="0" smtClean="0"/>
              <a:t>Strategic initiative to enable HP Notebooks to remain competitive </a:t>
            </a:r>
          </a:p>
          <a:p>
            <a:pPr lvl="1">
              <a:lnSpc>
                <a:spcPct val="90000"/>
              </a:lnSpc>
            </a:pPr>
            <a:endParaRPr lang="en-US" sz="800" dirty="0"/>
          </a:p>
          <a:p>
            <a:pPr marL="342900" indent="-342900">
              <a:lnSpc>
                <a:spcPct val="90000"/>
              </a:lnSpc>
              <a:buFont typeface="+mj-lt"/>
              <a:buAutoNum type="arabicPeriod"/>
            </a:pPr>
            <a:r>
              <a:rPr lang="en-US" dirty="0" smtClean="0"/>
              <a:t>Scope and Target Dates</a:t>
            </a:r>
            <a:endParaRPr lang="en-US" dirty="0"/>
          </a:p>
          <a:p>
            <a:pPr marL="512763" lvl="3" indent="-171450">
              <a:lnSpc>
                <a:spcPct val="90000"/>
              </a:lnSpc>
              <a:buFont typeface="Arial" pitchFamily="34" charset="0"/>
              <a:buChar char="•"/>
            </a:pPr>
            <a:r>
              <a:rPr lang="en-US" dirty="0" smtClean="0"/>
              <a:t>Deployment currently for AMS Region only (NA and LA)</a:t>
            </a:r>
          </a:p>
          <a:p>
            <a:pPr marL="512763" lvl="3" indent="-171450">
              <a:lnSpc>
                <a:spcPct val="90000"/>
              </a:lnSpc>
              <a:buFont typeface="Arial" pitchFamily="34" charset="0"/>
              <a:buChar char="•"/>
            </a:pPr>
            <a:r>
              <a:rPr lang="en-US" dirty="0" smtClean="0"/>
              <a:t>2 Major Product Platforms to be selected</a:t>
            </a:r>
          </a:p>
          <a:p>
            <a:pPr marL="512763" lvl="3" indent="-171450">
              <a:lnSpc>
                <a:spcPct val="90000"/>
              </a:lnSpc>
              <a:buFont typeface="Arial" pitchFamily="34" charset="0"/>
              <a:buChar char="•"/>
            </a:pPr>
            <a:r>
              <a:rPr lang="en-US" dirty="0" smtClean="0"/>
              <a:t>2 Major Commercial ODMs in FY2013</a:t>
            </a:r>
          </a:p>
          <a:p>
            <a:pPr marL="512763" lvl="3" indent="-171450">
              <a:lnSpc>
                <a:spcPct val="90000"/>
              </a:lnSpc>
              <a:buFont typeface="Arial" pitchFamily="34" charset="0"/>
              <a:buChar char="•"/>
            </a:pPr>
            <a:r>
              <a:rPr lang="en-US" dirty="0" smtClean="0"/>
              <a:t>ODM MTP by March 1, 2013; Go Live to be aligned with May New Product Release</a:t>
            </a:r>
          </a:p>
          <a:p>
            <a:pPr marL="512763" lvl="3" indent="-171450">
              <a:lnSpc>
                <a:spcPct val="90000"/>
              </a:lnSpc>
              <a:buFont typeface="Arial" pitchFamily="34" charset="0"/>
              <a:buChar char="•"/>
            </a:pPr>
            <a:endParaRPr lang="en-US" sz="800" dirty="0"/>
          </a:p>
          <a:p>
            <a:pPr marL="342900" indent="-342900">
              <a:lnSpc>
                <a:spcPct val="90000"/>
              </a:lnSpc>
              <a:buFont typeface="+mj-lt"/>
              <a:buAutoNum type="arabicPeriod"/>
            </a:pPr>
            <a:r>
              <a:rPr lang="en-US" dirty="0" smtClean="0"/>
              <a:t>Status</a:t>
            </a:r>
            <a:endParaRPr lang="en-US" dirty="0"/>
          </a:p>
          <a:p>
            <a:pPr marL="512763" lvl="3" indent="-171450">
              <a:lnSpc>
                <a:spcPct val="90000"/>
              </a:lnSpc>
              <a:buFont typeface="Arial" pitchFamily="34" charset="0"/>
              <a:buChar char="•"/>
            </a:pPr>
            <a:r>
              <a:rPr lang="en-US" dirty="0" smtClean="0"/>
              <a:t>Proof of Concept Deployed in May 2012; Executive Approval to proceed with Long Term </a:t>
            </a:r>
            <a:r>
              <a:rPr lang="en-US" dirty="0" err="1" smtClean="0"/>
              <a:t>BSaM</a:t>
            </a:r>
            <a:endParaRPr lang="en-US" dirty="0" smtClean="0"/>
          </a:p>
          <a:p>
            <a:pPr marL="512763" lvl="3" indent="-171450">
              <a:lnSpc>
                <a:spcPct val="90000"/>
              </a:lnSpc>
              <a:buFont typeface="Arial" pitchFamily="34" charset="0"/>
              <a:buChar char="•"/>
            </a:pPr>
            <a:r>
              <a:rPr lang="en-US" dirty="0" smtClean="0"/>
              <a:t>ODM </a:t>
            </a:r>
            <a:r>
              <a:rPr lang="en-US" dirty="0" err="1" smtClean="0"/>
              <a:t>BSaM</a:t>
            </a:r>
            <a:r>
              <a:rPr lang="en-US" dirty="0" smtClean="0"/>
              <a:t> Kick-off and Requirement Review – Week of Sept 3</a:t>
            </a:r>
            <a:endParaRPr lang="en-US" dirty="0"/>
          </a:p>
          <a:p>
            <a:pPr lvl="1">
              <a:lnSpc>
                <a:spcPct val="90000"/>
              </a:lnSpc>
            </a:pPr>
            <a:endParaRPr lang="en-US" sz="1200" dirty="0" smtClean="0"/>
          </a:p>
          <a:p>
            <a:pPr lvl="1">
              <a:lnSpc>
                <a:spcPct val="90000"/>
              </a:lnSpc>
            </a:pPr>
            <a:endParaRPr lang="en-US" sz="1200" dirty="0"/>
          </a:p>
        </p:txBody>
      </p:sp>
      <p:sp>
        <p:nvSpPr>
          <p:cNvPr id="2" name="Subtitle 1"/>
          <p:cNvSpPr>
            <a:spLocks noGrp="1"/>
          </p:cNvSpPr>
          <p:nvPr>
            <p:ph type="subTitle" idx="1"/>
          </p:nvPr>
        </p:nvSpPr>
        <p:spPr/>
        <p:txBody>
          <a:bodyPr/>
          <a:lstStyle/>
          <a:p>
            <a:r>
              <a:rPr lang="en-US" dirty="0" smtClean="0"/>
              <a:t> </a:t>
            </a:r>
            <a:endParaRPr lang="en-US" dirty="0"/>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8353071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BSaM (Bulk, Ship and Merge) Concept</a:t>
            </a:r>
            <a:endParaRPr lang="en-US" dirty="0"/>
          </a:p>
        </p:txBody>
      </p:sp>
      <p:sp>
        <p:nvSpPr>
          <p:cNvPr id="7" name="TextBox 6"/>
          <p:cNvSpPr txBox="1"/>
          <p:nvPr/>
        </p:nvSpPr>
        <p:spPr>
          <a:xfrm>
            <a:off x="5037177" y="2766047"/>
            <a:ext cx="3905249" cy="307777"/>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nchor="ctr">
            <a:spAutoFit/>
          </a:bodyPr>
          <a:lstStyle/>
          <a:p>
            <a:pPr fontAlgn="base">
              <a:spcBef>
                <a:spcPct val="0"/>
              </a:spcBef>
              <a:spcAft>
                <a:spcPct val="0"/>
              </a:spcAft>
            </a:pPr>
            <a:r>
              <a:rPr lang="en-US" sz="1400" b="1" dirty="0" smtClean="0">
                <a:solidFill>
                  <a:srgbClr val="0000FF"/>
                </a:solidFill>
              </a:rPr>
              <a:t>Goal: </a:t>
            </a:r>
            <a:r>
              <a:rPr lang="en-US" sz="1400" dirty="0" smtClean="0">
                <a:solidFill>
                  <a:srgbClr val="0000FF"/>
                </a:solidFill>
              </a:rPr>
              <a:t>Air Frt. Savings &gt; BSAM related SC costs</a:t>
            </a:r>
          </a:p>
        </p:txBody>
      </p:sp>
      <p:sp>
        <p:nvSpPr>
          <p:cNvPr id="9" name="Round Diagonal Corner Rectangle 8"/>
          <p:cNvSpPr/>
          <p:nvPr/>
        </p:nvSpPr>
        <p:spPr>
          <a:xfrm>
            <a:off x="537887" y="1274782"/>
            <a:ext cx="1247887" cy="540572"/>
          </a:xfrm>
          <a:prstGeom prst="round2DiagRect">
            <a:avLst/>
          </a:prstGeom>
          <a:gradFill flip="none" rotWithShape="1">
            <a:gsLst>
              <a:gs pos="0">
                <a:srgbClr val="00A4E6"/>
              </a:gs>
              <a:gs pos="100000">
                <a:srgbClr val="1742DB"/>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tlCol="0" anchor="ctr"/>
          <a:lstStyle/>
          <a:p>
            <a:pPr algn="ctr" fontAlgn="base">
              <a:lnSpc>
                <a:spcPct val="85000"/>
              </a:lnSpc>
              <a:spcBef>
                <a:spcPct val="0"/>
              </a:spcBef>
              <a:spcAft>
                <a:spcPct val="0"/>
              </a:spcAft>
            </a:pPr>
            <a:r>
              <a:rPr lang="en-US" sz="2000" dirty="0" smtClean="0">
                <a:solidFill>
                  <a:prstClr val="white"/>
                </a:solidFill>
              </a:rPr>
              <a:t>Asia</a:t>
            </a:r>
            <a:br>
              <a:rPr lang="en-US" sz="2000" dirty="0" smtClean="0">
                <a:solidFill>
                  <a:prstClr val="white"/>
                </a:solidFill>
              </a:rPr>
            </a:br>
            <a:r>
              <a:rPr lang="en-US" sz="2000" dirty="0" smtClean="0">
                <a:solidFill>
                  <a:prstClr val="white"/>
                </a:solidFill>
              </a:rPr>
              <a:t>ODMs</a:t>
            </a:r>
          </a:p>
        </p:txBody>
      </p:sp>
      <p:sp>
        <p:nvSpPr>
          <p:cNvPr id="10" name="Rectangle 9"/>
          <p:cNvSpPr/>
          <p:nvPr/>
        </p:nvSpPr>
        <p:spPr>
          <a:xfrm>
            <a:off x="326889" y="753270"/>
            <a:ext cx="869149" cy="584775"/>
          </a:xfrm>
          <a:prstGeom prst="rect">
            <a:avLst/>
          </a:prstGeom>
          <a:noFill/>
          <a:ln>
            <a:noFill/>
          </a:ln>
        </p:spPr>
        <p:txBody>
          <a:bodyPr wrap="none" lIns="91440" tIns="45720" rIns="91440" bIns="45720">
            <a:spAutoFit/>
          </a:bodyPr>
          <a:lstStyle/>
          <a:p>
            <a:pPr algn="ctr" fontAlgn="base">
              <a:spcBef>
                <a:spcPct val="0"/>
              </a:spcBef>
              <a:spcAft>
                <a:spcPct val="0"/>
              </a:spcAft>
            </a:pPr>
            <a:r>
              <a:rPr lang="en-US" sz="3200" b="1" cap="all" dirty="0" smtClean="0">
                <a:ln w="9000" cmpd="sng">
                  <a:solidFill>
                    <a:srgbClr val="F39900">
                      <a:shade val="50000"/>
                      <a:satMod val="120000"/>
                    </a:srgbClr>
                  </a:solidFill>
                  <a:prstDash val="solid"/>
                </a:ln>
                <a:solidFill>
                  <a:srgbClr val="3399FF"/>
                </a:solidFill>
                <a:effectLst>
                  <a:reflection blurRad="12700" stA="28000" endPos="45000" dist="1000" dir="5400000" sy="-100000" algn="bl" rotWithShape="0"/>
                </a:effectLst>
                <a:latin typeface="Arial" charset="0"/>
              </a:rPr>
              <a:t>IDS</a:t>
            </a:r>
            <a:endParaRPr lang="en-US" sz="3200" b="1" cap="all" dirty="0">
              <a:ln w="9000" cmpd="sng">
                <a:solidFill>
                  <a:srgbClr val="F39900">
                    <a:shade val="50000"/>
                    <a:satMod val="120000"/>
                  </a:srgbClr>
                </a:solidFill>
                <a:prstDash val="solid"/>
              </a:ln>
              <a:solidFill>
                <a:srgbClr val="3399FF"/>
              </a:solidFill>
              <a:effectLst>
                <a:reflection blurRad="12700" stA="28000" endPos="45000" dist="1000" dir="5400000" sy="-100000" algn="bl" rotWithShape="0"/>
              </a:effectLst>
              <a:latin typeface="Arial" charset="0"/>
            </a:endParaRPr>
          </a:p>
        </p:txBody>
      </p:sp>
      <p:sp>
        <p:nvSpPr>
          <p:cNvPr id="11" name="Round Diagonal Corner Rectangle 10"/>
          <p:cNvSpPr/>
          <p:nvPr/>
        </p:nvSpPr>
        <p:spPr>
          <a:xfrm>
            <a:off x="5435047" y="867634"/>
            <a:ext cx="1440628" cy="561163"/>
          </a:xfrm>
          <a:prstGeom prst="round2DiagRect">
            <a:avLst/>
          </a:prstGeom>
          <a:ln/>
        </p:spPr>
        <p:style>
          <a:lnRef idx="0">
            <a:schemeClr val="accent4"/>
          </a:lnRef>
          <a:fillRef idx="3">
            <a:schemeClr val="accent4"/>
          </a:fillRef>
          <a:effectRef idx="3">
            <a:schemeClr val="accent4"/>
          </a:effectRef>
          <a:fontRef idx="minor">
            <a:schemeClr val="lt1"/>
          </a:fontRef>
        </p:style>
        <p:txBody>
          <a:bodyPr lIns="91440" tIns="45720" rtlCol="0" anchor="ctr"/>
          <a:lstStyle/>
          <a:p>
            <a:pPr algn="ctr" fontAlgn="base">
              <a:spcBef>
                <a:spcPct val="0"/>
              </a:spcBef>
              <a:spcAft>
                <a:spcPct val="0"/>
              </a:spcAft>
            </a:pPr>
            <a:r>
              <a:rPr lang="en-US" sz="1600" dirty="0" smtClean="0">
                <a:solidFill>
                  <a:prstClr val="white"/>
                </a:solidFill>
              </a:rPr>
              <a:t>Regional Hub</a:t>
            </a:r>
          </a:p>
        </p:txBody>
      </p:sp>
      <p:grpSp>
        <p:nvGrpSpPr>
          <p:cNvPr id="12" name="Group 207"/>
          <p:cNvGrpSpPr>
            <a:grpSpLocks/>
          </p:cNvGrpSpPr>
          <p:nvPr/>
        </p:nvGrpSpPr>
        <p:grpSpPr bwMode="auto">
          <a:xfrm>
            <a:off x="1961033" y="938612"/>
            <a:ext cx="1045379" cy="804919"/>
            <a:chOff x="1482" y="1969"/>
            <a:chExt cx="1328" cy="1474"/>
          </a:xfrm>
        </p:grpSpPr>
        <p:pic>
          <p:nvPicPr>
            <p:cNvPr id="13" name="Picture 201"/>
            <p:cNvPicPr>
              <a:picLocks noChangeAspect="1" noChangeArrowheads="1"/>
            </p:cNvPicPr>
            <p:nvPr/>
          </p:nvPicPr>
          <p:blipFill>
            <a:blip r:embed="rId2" cstate="print"/>
            <a:srcRect/>
            <a:stretch>
              <a:fillRect/>
            </a:stretch>
          </p:blipFill>
          <p:spPr bwMode="auto">
            <a:xfrm>
              <a:off x="1557" y="2569"/>
              <a:ext cx="377" cy="466"/>
            </a:xfrm>
            <a:prstGeom prst="rect">
              <a:avLst/>
            </a:prstGeom>
            <a:noFill/>
            <a:ln w="3175">
              <a:noFill/>
              <a:miter lim="800000"/>
              <a:headEnd/>
              <a:tailEnd/>
            </a:ln>
          </p:spPr>
        </p:pic>
        <p:pic>
          <p:nvPicPr>
            <p:cNvPr id="14" name="Picture 55"/>
            <p:cNvPicPr>
              <a:picLocks noChangeAspect="1" noChangeArrowheads="1"/>
            </p:cNvPicPr>
            <p:nvPr/>
          </p:nvPicPr>
          <p:blipFill>
            <a:blip r:embed="rId3" cstate="print"/>
            <a:srcRect/>
            <a:stretch>
              <a:fillRect/>
            </a:stretch>
          </p:blipFill>
          <p:spPr bwMode="auto">
            <a:xfrm>
              <a:off x="1862" y="2769"/>
              <a:ext cx="664" cy="674"/>
            </a:xfrm>
            <a:prstGeom prst="rect">
              <a:avLst/>
            </a:prstGeom>
            <a:noFill/>
            <a:ln w="3175">
              <a:noFill/>
              <a:miter lim="800000"/>
              <a:headEnd/>
              <a:tailEnd/>
            </a:ln>
          </p:spPr>
        </p:pic>
        <p:pic>
          <p:nvPicPr>
            <p:cNvPr id="15" name="Picture 28"/>
            <p:cNvPicPr>
              <a:picLocks noChangeAspect="1" noChangeArrowheads="1"/>
            </p:cNvPicPr>
            <p:nvPr/>
          </p:nvPicPr>
          <p:blipFill>
            <a:blip r:embed="rId4" cstate="print">
              <a:clrChange>
                <a:clrFrom>
                  <a:srgbClr val="FFFFFF"/>
                </a:clrFrom>
                <a:clrTo>
                  <a:srgbClr val="FFFFFF">
                    <a:alpha val="0"/>
                  </a:srgbClr>
                </a:clrTo>
              </a:clrChange>
            </a:blip>
            <a:srcRect t="25752" r="14616" b="43532"/>
            <a:stretch>
              <a:fillRect/>
            </a:stretch>
          </p:blipFill>
          <p:spPr bwMode="auto">
            <a:xfrm>
              <a:off x="2325" y="2393"/>
              <a:ext cx="485" cy="160"/>
            </a:xfrm>
            <a:prstGeom prst="rect">
              <a:avLst/>
            </a:prstGeom>
            <a:noFill/>
            <a:ln w="3175" algn="ctr">
              <a:noFill/>
              <a:miter lim="800000"/>
              <a:headEnd/>
              <a:tailEnd/>
            </a:ln>
          </p:spPr>
        </p:pic>
        <p:pic>
          <p:nvPicPr>
            <p:cNvPr id="16" name="Picture 29"/>
            <p:cNvPicPr>
              <a:picLocks noChangeAspect="1" noChangeArrowheads="1"/>
            </p:cNvPicPr>
            <p:nvPr/>
          </p:nvPicPr>
          <p:blipFill>
            <a:blip r:embed="rId5" cstate="print"/>
            <a:srcRect/>
            <a:stretch>
              <a:fillRect/>
            </a:stretch>
          </p:blipFill>
          <p:spPr bwMode="auto">
            <a:xfrm>
              <a:off x="1962" y="1969"/>
              <a:ext cx="416" cy="369"/>
            </a:xfrm>
            <a:prstGeom prst="rect">
              <a:avLst/>
            </a:prstGeom>
            <a:noFill/>
            <a:ln w="3175">
              <a:noFill/>
              <a:miter lim="800000"/>
              <a:headEnd/>
              <a:tailEnd/>
            </a:ln>
          </p:spPr>
        </p:pic>
        <p:sp>
          <p:nvSpPr>
            <p:cNvPr id="17" name="Freeform 30"/>
            <p:cNvSpPr>
              <a:spLocks/>
            </p:cNvSpPr>
            <p:nvPr/>
          </p:nvSpPr>
          <p:spPr bwMode="auto">
            <a:xfrm flipH="1">
              <a:off x="2204" y="2667"/>
              <a:ext cx="226" cy="620"/>
            </a:xfrm>
            <a:custGeom>
              <a:avLst/>
              <a:gdLst>
                <a:gd name="T0" fmla="*/ 0 w 359"/>
                <a:gd name="T1" fmla="*/ 600 h 173"/>
                <a:gd name="T2" fmla="*/ 1 w 359"/>
                <a:gd name="T3" fmla="*/ 1 h 173"/>
                <a:gd name="T4" fmla="*/ 1 w 359"/>
                <a:gd name="T5" fmla="*/ 695 h 173"/>
                <a:gd name="T6" fmla="*/ 1 w 359"/>
                <a:gd name="T7" fmla="*/ 2641 h 173"/>
                <a:gd name="T8" fmla="*/ 0 60000 65536"/>
                <a:gd name="T9" fmla="*/ 0 60000 65536"/>
                <a:gd name="T10" fmla="*/ 0 60000 65536"/>
                <a:gd name="T11" fmla="*/ 0 60000 65536"/>
                <a:gd name="T12" fmla="*/ 0 w 359"/>
                <a:gd name="T13" fmla="*/ 0 h 173"/>
                <a:gd name="T14" fmla="*/ 359 w 359"/>
                <a:gd name="T15" fmla="*/ 173 h 173"/>
              </a:gdLst>
              <a:ahLst/>
              <a:cxnLst>
                <a:cxn ang="T8">
                  <a:pos x="T0" y="T1"/>
                </a:cxn>
                <a:cxn ang="T9">
                  <a:pos x="T2" y="T3"/>
                </a:cxn>
                <a:cxn ang="T10">
                  <a:pos x="T4" y="T5"/>
                </a:cxn>
                <a:cxn ang="T11">
                  <a:pos x="T6" y="T7"/>
                </a:cxn>
              </a:cxnLst>
              <a:rect l="T12" t="T13" r="T14" b="T15"/>
              <a:pathLst>
                <a:path w="359" h="173">
                  <a:moveTo>
                    <a:pt x="0" y="39"/>
                  </a:moveTo>
                  <a:cubicBezTo>
                    <a:pt x="49" y="19"/>
                    <a:pt x="98" y="0"/>
                    <a:pt x="149" y="1"/>
                  </a:cubicBezTo>
                  <a:cubicBezTo>
                    <a:pt x="200" y="2"/>
                    <a:pt x="271" y="17"/>
                    <a:pt x="306" y="46"/>
                  </a:cubicBezTo>
                  <a:cubicBezTo>
                    <a:pt x="341" y="75"/>
                    <a:pt x="350" y="124"/>
                    <a:pt x="359" y="173"/>
                  </a:cubicBezTo>
                </a:path>
              </a:pathLst>
            </a:custGeom>
            <a:noFill/>
            <a:ln w="3175">
              <a:solidFill>
                <a:srgbClr val="000000"/>
              </a:solidFill>
              <a:round/>
              <a:headEnd/>
              <a:tailEnd type="stealth" w="med" len="med"/>
            </a:ln>
          </p:spPr>
          <p:txBody>
            <a:bodyPr>
              <a:spAutoFit/>
            </a:bodyPr>
            <a:lstStyle/>
            <a:p>
              <a:pPr fontAlgn="base">
                <a:spcBef>
                  <a:spcPct val="0"/>
                </a:spcBef>
                <a:spcAft>
                  <a:spcPct val="0"/>
                </a:spcAft>
              </a:pPr>
              <a:endParaRPr lang="de-DE" sz="1600">
                <a:solidFill>
                  <a:prstClr val="black"/>
                </a:solidFill>
                <a:latin typeface="Futura Bk" pitchFamily="34" charset="0"/>
                <a:cs typeface="Arial" pitchFamily="34" charset="0"/>
              </a:endParaRPr>
            </a:p>
          </p:txBody>
        </p:sp>
        <p:sp>
          <p:nvSpPr>
            <p:cNvPr id="18" name="Line 32"/>
            <p:cNvSpPr>
              <a:spLocks noChangeShapeType="1"/>
            </p:cNvSpPr>
            <p:nvPr/>
          </p:nvSpPr>
          <p:spPr bwMode="auto">
            <a:xfrm>
              <a:off x="2170" y="2350"/>
              <a:ext cx="0" cy="456"/>
            </a:xfrm>
            <a:prstGeom prst="line">
              <a:avLst/>
            </a:prstGeom>
            <a:noFill/>
            <a:ln w="3175">
              <a:solidFill>
                <a:srgbClr val="000000"/>
              </a:solidFill>
              <a:round/>
              <a:headEnd/>
              <a:tailEnd type="stealth" w="med" len="med"/>
            </a:ln>
          </p:spPr>
          <p:txBody>
            <a:bodyPr>
              <a:spAutoFit/>
            </a:bodyPr>
            <a:lstStyle/>
            <a:p>
              <a:pPr fontAlgn="base">
                <a:spcBef>
                  <a:spcPct val="0"/>
                </a:spcBef>
                <a:spcAft>
                  <a:spcPct val="0"/>
                </a:spcAft>
              </a:pPr>
              <a:endParaRPr lang="fr-FR" dirty="0">
                <a:solidFill>
                  <a:prstClr val="black"/>
                </a:solidFill>
                <a:latin typeface="Arial" charset="0"/>
              </a:endParaRPr>
            </a:p>
          </p:txBody>
        </p:sp>
        <p:pic>
          <p:nvPicPr>
            <p:cNvPr id="19" name="Picture 27"/>
            <p:cNvPicPr>
              <a:picLocks noChangeAspect="1" noChangeArrowheads="1"/>
            </p:cNvPicPr>
            <p:nvPr/>
          </p:nvPicPr>
          <p:blipFill>
            <a:blip r:embed="rId6" cstate="print">
              <a:clrChange>
                <a:clrFrom>
                  <a:srgbClr val="FFFFFF"/>
                </a:clrFrom>
                <a:clrTo>
                  <a:srgbClr val="FFFFFF">
                    <a:alpha val="0"/>
                  </a:srgbClr>
                </a:clrTo>
              </a:clrChange>
            </a:blip>
            <a:srcRect t="55989"/>
            <a:stretch>
              <a:fillRect/>
            </a:stretch>
          </p:blipFill>
          <p:spPr bwMode="auto">
            <a:xfrm>
              <a:off x="2235" y="2599"/>
              <a:ext cx="570" cy="228"/>
            </a:xfrm>
            <a:prstGeom prst="rect">
              <a:avLst/>
            </a:prstGeom>
            <a:noFill/>
            <a:ln w="3175" algn="ctr">
              <a:noFill/>
              <a:miter lim="800000"/>
              <a:headEnd/>
              <a:tailEnd/>
            </a:ln>
          </p:spPr>
        </p:pic>
        <p:sp>
          <p:nvSpPr>
            <p:cNvPr id="20" name="Freeform 57"/>
            <p:cNvSpPr>
              <a:spLocks/>
            </p:cNvSpPr>
            <p:nvPr/>
          </p:nvSpPr>
          <p:spPr bwMode="auto">
            <a:xfrm>
              <a:off x="1882" y="2534"/>
              <a:ext cx="206" cy="313"/>
            </a:xfrm>
            <a:custGeom>
              <a:avLst/>
              <a:gdLst>
                <a:gd name="T0" fmla="*/ 0 w 198"/>
                <a:gd name="T1" fmla="*/ 0 h 300"/>
                <a:gd name="T2" fmla="*/ 189 w 198"/>
                <a:gd name="T3" fmla="*/ 211 h 300"/>
                <a:gd name="T4" fmla="*/ 283 w 198"/>
                <a:gd name="T5" fmla="*/ 440 h 300"/>
                <a:gd name="T6" fmla="*/ 0 60000 65536"/>
                <a:gd name="T7" fmla="*/ 0 60000 65536"/>
                <a:gd name="T8" fmla="*/ 0 60000 65536"/>
                <a:gd name="T9" fmla="*/ 0 w 198"/>
                <a:gd name="T10" fmla="*/ 0 h 300"/>
                <a:gd name="T11" fmla="*/ 198 w 198"/>
                <a:gd name="T12" fmla="*/ 300 h 300"/>
              </a:gdLst>
              <a:ahLst/>
              <a:cxnLst>
                <a:cxn ang="T6">
                  <a:pos x="T0" y="T1"/>
                </a:cxn>
                <a:cxn ang="T7">
                  <a:pos x="T2" y="T3"/>
                </a:cxn>
                <a:cxn ang="T8">
                  <a:pos x="T4" y="T5"/>
                </a:cxn>
              </a:cxnLst>
              <a:rect l="T9" t="T10" r="T11" b="T12"/>
              <a:pathLst>
                <a:path w="198" h="300">
                  <a:moveTo>
                    <a:pt x="0" y="0"/>
                  </a:moveTo>
                  <a:cubicBezTo>
                    <a:pt x="49" y="47"/>
                    <a:pt x="99" y="94"/>
                    <a:pt x="132" y="144"/>
                  </a:cubicBezTo>
                  <a:cubicBezTo>
                    <a:pt x="165" y="194"/>
                    <a:pt x="181" y="247"/>
                    <a:pt x="198" y="300"/>
                  </a:cubicBezTo>
                </a:path>
              </a:pathLst>
            </a:custGeom>
            <a:noFill/>
            <a:ln w="3175">
              <a:solidFill>
                <a:schemeClr val="tx1"/>
              </a:solidFill>
              <a:round/>
              <a:headEnd/>
              <a:tailEnd type="stealth" w="med" len="med"/>
            </a:ln>
          </p:spPr>
          <p:txBody>
            <a:bodyPr/>
            <a:lstStyle/>
            <a:p>
              <a:pPr fontAlgn="base">
                <a:spcBef>
                  <a:spcPct val="0"/>
                </a:spcBef>
                <a:spcAft>
                  <a:spcPct val="0"/>
                </a:spcAft>
              </a:pPr>
              <a:endParaRPr lang="de-DE">
                <a:solidFill>
                  <a:prstClr val="black"/>
                </a:solidFill>
                <a:latin typeface="Arial" charset="0"/>
              </a:endParaRPr>
            </a:p>
          </p:txBody>
        </p:sp>
        <p:pic>
          <p:nvPicPr>
            <p:cNvPr id="21" name="Picture 202"/>
            <p:cNvPicPr>
              <a:picLocks noChangeAspect="1" noChangeArrowheads="1"/>
            </p:cNvPicPr>
            <p:nvPr/>
          </p:nvPicPr>
          <p:blipFill>
            <a:blip r:embed="rId7" cstate="print"/>
            <a:srcRect/>
            <a:stretch>
              <a:fillRect/>
            </a:stretch>
          </p:blipFill>
          <p:spPr bwMode="auto">
            <a:xfrm>
              <a:off x="1482" y="2150"/>
              <a:ext cx="369" cy="425"/>
            </a:xfrm>
            <a:prstGeom prst="rect">
              <a:avLst/>
            </a:prstGeom>
            <a:noFill/>
            <a:ln w="3175">
              <a:noFill/>
              <a:miter lim="800000"/>
              <a:headEnd/>
              <a:tailEnd/>
            </a:ln>
          </p:spPr>
        </p:pic>
        <p:pic>
          <p:nvPicPr>
            <p:cNvPr id="22" name="Picture 203" descr="MCj03517980000[1]"/>
            <p:cNvPicPr>
              <a:picLocks noChangeAspect="1" noChangeArrowheads="1"/>
            </p:cNvPicPr>
            <p:nvPr/>
          </p:nvPicPr>
          <p:blipFill>
            <a:blip r:embed="rId8" cstate="print"/>
            <a:srcRect/>
            <a:stretch>
              <a:fillRect/>
            </a:stretch>
          </p:blipFill>
          <p:spPr bwMode="auto">
            <a:xfrm>
              <a:off x="2265" y="2243"/>
              <a:ext cx="134" cy="192"/>
            </a:xfrm>
            <a:prstGeom prst="rect">
              <a:avLst/>
            </a:prstGeom>
            <a:noFill/>
            <a:ln w="9525">
              <a:noFill/>
              <a:miter lim="800000"/>
              <a:headEnd/>
              <a:tailEnd/>
            </a:ln>
          </p:spPr>
        </p:pic>
        <p:sp>
          <p:nvSpPr>
            <p:cNvPr id="23" name="Freeform 204"/>
            <p:cNvSpPr>
              <a:spLocks/>
            </p:cNvSpPr>
            <p:nvPr/>
          </p:nvSpPr>
          <p:spPr bwMode="auto">
            <a:xfrm>
              <a:off x="2202" y="2460"/>
              <a:ext cx="66" cy="336"/>
            </a:xfrm>
            <a:custGeom>
              <a:avLst/>
              <a:gdLst>
                <a:gd name="T0" fmla="*/ 36 w 72"/>
                <a:gd name="T1" fmla="*/ 0 h 264"/>
                <a:gd name="T2" fmla="*/ 5 w 72"/>
                <a:gd name="T3" fmla="*/ 1075 h 264"/>
                <a:gd name="T4" fmla="*/ 0 w 72"/>
                <a:gd name="T5" fmla="*/ 1821 h 264"/>
                <a:gd name="T6" fmla="*/ 0 60000 65536"/>
                <a:gd name="T7" fmla="*/ 0 60000 65536"/>
                <a:gd name="T8" fmla="*/ 0 60000 65536"/>
                <a:gd name="T9" fmla="*/ 0 w 72"/>
                <a:gd name="T10" fmla="*/ 0 h 264"/>
                <a:gd name="T11" fmla="*/ 72 w 72"/>
                <a:gd name="T12" fmla="*/ 264 h 264"/>
              </a:gdLst>
              <a:ahLst/>
              <a:cxnLst>
                <a:cxn ang="T6">
                  <a:pos x="T0" y="T1"/>
                </a:cxn>
                <a:cxn ang="T7">
                  <a:pos x="T2" y="T3"/>
                </a:cxn>
                <a:cxn ang="T8">
                  <a:pos x="T4" y="T5"/>
                </a:cxn>
              </a:cxnLst>
              <a:rect l="T9" t="T10" r="T11" b="T12"/>
              <a:pathLst>
                <a:path w="72" h="264">
                  <a:moveTo>
                    <a:pt x="72" y="0"/>
                  </a:moveTo>
                  <a:cubicBezTo>
                    <a:pt x="48" y="56"/>
                    <a:pt x="24" y="112"/>
                    <a:pt x="12" y="156"/>
                  </a:cubicBezTo>
                  <a:cubicBezTo>
                    <a:pt x="0" y="200"/>
                    <a:pt x="0" y="232"/>
                    <a:pt x="0" y="264"/>
                  </a:cubicBezTo>
                </a:path>
              </a:pathLst>
            </a:custGeom>
            <a:noFill/>
            <a:ln w="9525">
              <a:solidFill>
                <a:schemeClr val="tx1"/>
              </a:solidFill>
              <a:round/>
              <a:headEnd/>
              <a:tailEnd type="stealth" w="med" len="med"/>
            </a:ln>
          </p:spPr>
          <p:txBody>
            <a:bodyPr/>
            <a:lstStyle/>
            <a:p>
              <a:pPr fontAlgn="base">
                <a:spcBef>
                  <a:spcPct val="0"/>
                </a:spcBef>
                <a:spcAft>
                  <a:spcPct val="0"/>
                </a:spcAft>
              </a:pPr>
              <a:endParaRPr lang="fr-FR" dirty="0">
                <a:solidFill>
                  <a:prstClr val="black"/>
                </a:solidFill>
                <a:latin typeface="Arial" charset="0"/>
              </a:endParaRPr>
            </a:p>
          </p:txBody>
        </p:sp>
      </p:grpSp>
      <p:pic>
        <p:nvPicPr>
          <p:cNvPr id="24" name="Picture 3" descr="C:\Users\cowellj\AppData\Local\Microsoft\Windows\Temporary Internet Files\Content.IE5\G3BVVCPR\MCj03614680000[1].wmf"/>
          <p:cNvPicPr>
            <a:picLocks noChangeAspect="1" noChangeArrowheads="1"/>
          </p:cNvPicPr>
          <p:nvPr/>
        </p:nvPicPr>
        <p:blipFill>
          <a:blip r:embed="rId9" cstate="print"/>
          <a:srcRect/>
          <a:stretch>
            <a:fillRect/>
          </a:stretch>
        </p:blipFill>
        <p:spPr bwMode="auto">
          <a:xfrm>
            <a:off x="3634850" y="1396484"/>
            <a:ext cx="1320325" cy="305925"/>
          </a:xfrm>
          <a:prstGeom prst="rect">
            <a:avLst/>
          </a:prstGeom>
          <a:noFill/>
          <a:ln w="9525">
            <a:noFill/>
            <a:miter lim="800000"/>
            <a:headEnd/>
            <a:tailEnd/>
          </a:ln>
        </p:spPr>
      </p:pic>
      <p:sp>
        <p:nvSpPr>
          <p:cNvPr id="25" name="TextBox 24"/>
          <p:cNvSpPr txBox="1"/>
          <p:nvPr/>
        </p:nvSpPr>
        <p:spPr>
          <a:xfrm>
            <a:off x="1792048" y="1751990"/>
            <a:ext cx="3380031" cy="276999"/>
          </a:xfrm>
          <a:prstGeom prst="rect">
            <a:avLst/>
          </a:prstGeom>
          <a:noFill/>
        </p:spPr>
        <p:txBody>
          <a:bodyPr wrap="square" rtlCol="0" anchor="ctr">
            <a:spAutoFit/>
          </a:bodyPr>
          <a:lstStyle/>
          <a:p>
            <a:pPr algn="ctr" fontAlgn="base">
              <a:spcBef>
                <a:spcPct val="0"/>
              </a:spcBef>
              <a:spcAft>
                <a:spcPct val="0"/>
              </a:spcAft>
            </a:pPr>
            <a:r>
              <a:rPr lang="en-US" sz="1200" dirty="0" smtClean="0">
                <a:solidFill>
                  <a:prstClr val="black"/>
                </a:solidFill>
                <a:latin typeface="Futura Bk"/>
              </a:rPr>
              <a:t>Complete NB Units</a:t>
            </a:r>
          </a:p>
        </p:txBody>
      </p:sp>
      <p:sp>
        <p:nvSpPr>
          <p:cNvPr id="26" name="Rectangle 25"/>
          <p:cNvSpPr/>
          <p:nvPr/>
        </p:nvSpPr>
        <p:spPr>
          <a:xfrm>
            <a:off x="258527" y="2523172"/>
            <a:ext cx="1393330" cy="584775"/>
          </a:xfrm>
          <a:prstGeom prst="rect">
            <a:avLst/>
          </a:prstGeom>
          <a:noFill/>
        </p:spPr>
        <p:txBody>
          <a:bodyPr wrap="none" lIns="91440" tIns="45720" rIns="91440" bIns="45720">
            <a:spAutoFit/>
          </a:bodyPr>
          <a:lstStyle/>
          <a:p>
            <a:pPr algn="ctr" fontAlgn="base">
              <a:spcBef>
                <a:spcPct val="0"/>
              </a:spcBef>
              <a:spcAft>
                <a:spcPct val="0"/>
              </a:spcAft>
            </a:pPr>
            <a:r>
              <a:rPr lang="en-US" sz="3200" b="1" cap="all" dirty="0" smtClean="0">
                <a:ln w="9000" cmpd="sng">
                  <a:solidFill>
                    <a:srgbClr val="F39900">
                      <a:shade val="50000"/>
                      <a:satMod val="120000"/>
                    </a:srgbClr>
                  </a:solidFill>
                  <a:prstDash val="solid"/>
                </a:ln>
                <a:solidFill>
                  <a:srgbClr val="3333CC"/>
                </a:solidFill>
                <a:effectLst>
                  <a:reflection blurRad="12700" stA="28000" endPos="45000" dist="1000" dir="5400000" sy="-100000" algn="bl" rotWithShape="0"/>
                </a:effectLst>
                <a:latin typeface="Arial" charset="0"/>
              </a:rPr>
              <a:t>BSaM</a:t>
            </a:r>
            <a:endParaRPr lang="en-US" sz="3200" b="1" cap="all" dirty="0">
              <a:ln w="9000" cmpd="sng">
                <a:solidFill>
                  <a:srgbClr val="F39900">
                    <a:shade val="50000"/>
                    <a:satMod val="120000"/>
                  </a:srgbClr>
                </a:solidFill>
                <a:prstDash val="solid"/>
              </a:ln>
              <a:solidFill>
                <a:srgbClr val="3333CC"/>
              </a:solidFill>
              <a:effectLst>
                <a:reflection blurRad="12700" stA="28000" endPos="45000" dist="1000" dir="5400000" sy="-100000" algn="bl" rotWithShape="0"/>
              </a:effectLst>
              <a:latin typeface="Arial" charset="0"/>
            </a:endParaRPr>
          </a:p>
        </p:txBody>
      </p:sp>
      <p:sp>
        <p:nvSpPr>
          <p:cNvPr id="27" name="Round Diagonal Corner Rectangle 26"/>
          <p:cNvSpPr/>
          <p:nvPr/>
        </p:nvSpPr>
        <p:spPr>
          <a:xfrm>
            <a:off x="5462280" y="3408121"/>
            <a:ext cx="1370927" cy="652256"/>
          </a:xfrm>
          <a:prstGeom prst="round2DiagRect">
            <a:avLst/>
          </a:prstGeom>
          <a:ln/>
        </p:spPr>
        <p:style>
          <a:lnRef idx="0">
            <a:schemeClr val="accent4"/>
          </a:lnRef>
          <a:fillRef idx="3">
            <a:schemeClr val="accent4"/>
          </a:fillRef>
          <a:effectRef idx="3">
            <a:schemeClr val="accent4"/>
          </a:effectRef>
          <a:fontRef idx="minor">
            <a:schemeClr val="lt1"/>
          </a:fontRef>
        </p:style>
        <p:txBody>
          <a:bodyPr lIns="91440" tIns="45720" rtlCol="0" anchor="ctr"/>
          <a:lstStyle/>
          <a:p>
            <a:pPr algn="ctr" fontAlgn="base">
              <a:lnSpc>
                <a:spcPct val="85000"/>
              </a:lnSpc>
              <a:spcBef>
                <a:spcPct val="0"/>
              </a:spcBef>
              <a:spcAft>
                <a:spcPct val="0"/>
              </a:spcAft>
            </a:pPr>
            <a:r>
              <a:rPr lang="en-US" dirty="0" smtClean="0">
                <a:solidFill>
                  <a:prstClr val="white"/>
                </a:solidFill>
              </a:rPr>
              <a:t/>
            </a:r>
            <a:br>
              <a:rPr lang="en-US" dirty="0" smtClean="0">
                <a:solidFill>
                  <a:prstClr val="white"/>
                </a:solidFill>
              </a:rPr>
            </a:br>
            <a:r>
              <a:rPr lang="en-US" dirty="0" smtClean="0">
                <a:solidFill>
                  <a:prstClr val="white"/>
                </a:solidFill>
              </a:rPr>
              <a:t>Ryder PCC</a:t>
            </a:r>
            <a:br>
              <a:rPr lang="en-US" dirty="0" smtClean="0">
                <a:solidFill>
                  <a:prstClr val="white"/>
                </a:solidFill>
              </a:rPr>
            </a:br>
            <a:r>
              <a:rPr lang="en-US" sz="1000" dirty="0" smtClean="0">
                <a:solidFill>
                  <a:prstClr val="white"/>
                </a:solidFill>
              </a:rPr>
              <a:t>(Product Completion Center)</a:t>
            </a:r>
            <a:br>
              <a:rPr lang="en-US" sz="1000" dirty="0" smtClean="0">
                <a:solidFill>
                  <a:prstClr val="white"/>
                </a:solidFill>
              </a:rPr>
            </a:br>
            <a:endParaRPr lang="en-US" sz="1000" dirty="0" smtClean="0">
              <a:solidFill>
                <a:prstClr val="white"/>
              </a:solidFill>
            </a:endParaRPr>
          </a:p>
        </p:txBody>
      </p:sp>
      <p:pic>
        <p:nvPicPr>
          <p:cNvPr id="28" name="Picture 3" descr="C:\Users\cowellj\AppData\Local\Microsoft\Windows\Temporary Internet Files\Content.IE5\G3BVVCPR\MCj03614680000[1].wmf"/>
          <p:cNvPicPr>
            <a:picLocks noChangeAspect="1" noChangeArrowheads="1"/>
          </p:cNvPicPr>
          <p:nvPr/>
        </p:nvPicPr>
        <p:blipFill>
          <a:blip r:embed="rId9" cstate="print"/>
          <a:srcRect/>
          <a:stretch>
            <a:fillRect/>
          </a:stretch>
        </p:blipFill>
        <p:spPr bwMode="auto">
          <a:xfrm>
            <a:off x="2969783" y="2851378"/>
            <a:ext cx="1279743" cy="296522"/>
          </a:xfrm>
          <a:prstGeom prst="rect">
            <a:avLst/>
          </a:prstGeom>
          <a:noFill/>
          <a:ln w="9525">
            <a:noFill/>
            <a:miter lim="800000"/>
            <a:headEnd/>
            <a:tailEnd/>
          </a:ln>
        </p:spPr>
      </p:pic>
      <p:sp>
        <p:nvSpPr>
          <p:cNvPr id="29" name="TextBox 28"/>
          <p:cNvSpPr txBox="1"/>
          <p:nvPr/>
        </p:nvSpPr>
        <p:spPr>
          <a:xfrm>
            <a:off x="1666910" y="3229014"/>
            <a:ext cx="3906611" cy="461665"/>
          </a:xfrm>
          <a:prstGeom prst="rect">
            <a:avLst/>
          </a:prstGeom>
          <a:noFill/>
        </p:spPr>
        <p:txBody>
          <a:bodyPr wrap="square" rtlCol="0" anchor="ctr">
            <a:spAutoFit/>
          </a:bodyPr>
          <a:lstStyle/>
          <a:p>
            <a:pPr algn="ctr" fontAlgn="base">
              <a:spcBef>
                <a:spcPct val="0"/>
              </a:spcBef>
              <a:spcAft>
                <a:spcPct val="0"/>
              </a:spcAft>
            </a:pPr>
            <a:r>
              <a:rPr lang="en-US" sz="1200" u="sng" dirty="0" smtClean="0">
                <a:solidFill>
                  <a:prstClr val="black"/>
                </a:solidFill>
                <a:latin typeface="Futura Bk"/>
              </a:rPr>
              <a:t>Bulk ship </a:t>
            </a:r>
            <a:r>
              <a:rPr lang="en-US" sz="1200" dirty="0" smtClean="0">
                <a:solidFill>
                  <a:prstClr val="black"/>
                </a:solidFill>
                <a:latin typeface="Futura Bk"/>
              </a:rPr>
              <a:t>NB Units only</a:t>
            </a:r>
            <a:br>
              <a:rPr lang="en-US" sz="1200" dirty="0" smtClean="0">
                <a:solidFill>
                  <a:prstClr val="black"/>
                </a:solidFill>
                <a:latin typeface="Futura Bk"/>
              </a:rPr>
            </a:br>
            <a:r>
              <a:rPr lang="en-US" sz="1200" b="1" dirty="0" smtClean="0">
                <a:solidFill>
                  <a:srgbClr val="0000FF"/>
                </a:solidFill>
                <a:latin typeface="Futura Bk"/>
              </a:rPr>
              <a:t>= (31%) less weight </a:t>
            </a:r>
            <a:r>
              <a:rPr lang="en-US" sz="1200" b="1" dirty="0" smtClean="0">
                <a:solidFill>
                  <a:srgbClr val="0000FF"/>
                </a:solidFill>
                <a:latin typeface="Futura Bk"/>
                <a:sym typeface="Wingdings" pitchFamily="2" charset="2"/>
              </a:rPr>
              <a:t> Air freight savings</a:t>
            </a:r>
            <a:endParaRPr lang="en-US" sz="1200" b="1" dirty="0" smtClean="0">
              <a:solidFill>
                <a:srgbClr val="0000FF"/>
              </a:solidFill>
              <a:latin typeface="Futura Bk"/>
            </a:endParaRPr>
          </a:p>
        </p:txBody>
      </p:sp>
      <p:grpSp>
        <p:nvGrpSpPr>
          <p:cNvPr id="30" name="Group 530"/>
          <p:cNvGrpSpPr>
            <a:grpSpLocks/>
          </p:cNvGrpSpPr>
          <p:nvPr/>
        </p:nvGrpSpPr>
        <p:grpSpPr bwMode="auto">
          <a:xfrm rot="21301955" flipH="1">
            <a:off x="3300993" y="4292536"/>
            <a:ext cx="790734" cy="467605"/>
            <a:chOff x="1557" y="1172"/>
            <a:chExt cx="1129" cy="482"/>
          </a:xfrm>
        </p:grpSpPr>
        <p:sp>
          <p:nvSpPr>
            <p:cNvPr id="31" name="Freeform 531"/>
            <p:cNvSpPr>
              <a:spLocks/>
            </p:cNvSpPr>
            <p:nvPr/>
          </p:nvSpPr>
          <p:spPr bwMode="auto">
            <a:xfrm>
              <a:off x="1557" y="1194"/>
              <a:ext cx="1129" cy="460"/>
            </a:xfrm>
            <a:custGeom>
              <a:avLst/>
              <a:gdLst>
                <a:gd name="T0" fmla="*/ 1 w 2258"/>
                <a:gd name="T1" fmla="*/ 2 h 920"/>
                <a:gd name="T2" fmla="*/ 1 w 2258"/>
                <a:gd name="T3" fmla="*/ 2 h 920"/>
                <a:gd name="T4" fmla="*/ 1 w 2258"/>
                <a:gd name="T5" fmla="*/ 2 h 920"/>
                <a:gd name="T6" fmla="*/ 1 w 2258"/>
                <a:gd name="T7" fmla="*/ 2 h 920"/>
                <a:gd name="T8" fmla="*/ 1 w 2258"/>
                <a:gd name="T9" fmla="*/ 2 h 920"/>
                <a:gd name="T10" fmla="*/ 1 w 2258"/>
                <a:gd name="T11" fmla="*/ 2 h 920"/>
                <a:gd name="T12" fmla="*/ 1 w 2258"/>
                <a:gd name="T13" fmla="*/ 2 h 920"/>
                <a:gd name="T14" fmla="*/ 1 w 2258"/>
                <a:gd name="T15" fmla="*/ 2 h 920"/>
                <a:gd name="T16" fmla="*/ 1 w 2258"/>
                <a:gd name="T17" fmla="*/ 2 h 920"/>
                <a:gd name="T18" fmla="*/ 1 w 2258"/>
                <a:gd name="T19" fmla="*/ 2 h 920"/>
                <a:gd name="T20" fmla="*/ 1 w 2258"/>
                <a:gd name="T21" fmla="*/ 2 h 920"/>
                <a:gd name="T22" fmla="*/ 1 w 2258"/>
                <a:gd name="T23" fmla="*/ 2 h 920"/>
                <a:gd name="T24" fmla="*/ 1 w 2258"/>
                <a:gd name="T25" fmla="*/ 2 h 920"/>
                <a:gd name="T26" fmla="*/ 1 w 2258"/>
                <a:gd name="T27" fmla="*/ 2 h 920"/>
                <a:gd name="T28" fmla="*/ 1 w 2258"/>
                <a:gd name="T29" fmla="*/ 2 h 920"/>
                <a:gd name="T30" fmla="*/ 1 w 2258"/>
                <a:gd name="T31" fmla="*/ 2 h 920"/>
                <a:gd name="T32" fmla="*/ 1 w 2258"/>
                <a:gd name="T33" fmla="*/ 2 h 920"/>
                <a:gd name="T34" fmla="*/ 1 w 2258"/>
                <a:gd name="T35" fmla="*/ 2 h 920"/>
                <a:gd name="T36" fmla="*/ 1 w 2258"/>
                <a:gd name="T37" fmla="*/ 2 h 920"/>
                <a:gd name="T38" fmla="*/ 1 w 2258"/>
                <a:gd name="T39" fmla="*/ 2 h 920"/>
                <a:gd name="T40" fmla="*/ 2 w 2258"/>
                <a:gd name="T41" fmla="*/ 2 h 920"/>
                <a:gd name="T42" fmla="*/ 2 w 2258"/>
                <a:gd name="T43" fmla="*/ 2 h 920"/>
                <a:gd name="T44" fmla="*/ 2 w 2258"/>
                <a:gd name="T45" fmla="*/ 2 h 920"/>
                <a:gd name="T46" fmla="*/ 2 w 2258"/>
                <a:gd name="T47" fmla="*/ 2 h 920"/>
                <a:gd name="T48" fmla="*/ 3 w 2258"/>
                <a:gd name="T49" fmla="*/ 2 h 920"/>
                <a:gd name="T50" fmla="*/ 3 w 2258"/>
                <a:gd name="T51" fmla="*/ 2 h 920"/>
                <a:gd name="T52" fmla="*/ 3 w 2258"/>
                <a:gd name="T53" fmla="*/ 2 h 920"/>
                <a:gd name="T54" fmla="*/ 3 w 2258"/>
                <a:gd name="T55" fmla="*/ 2 h 920"/>
                <a:gd name="T56" fmla="*/ 3 w 2258"/>
                <a:gd name="T57" fmla="*/ 2 h 920"/>
                <a:gd name="T58" fmla="*/ 4 w 2258"/>
                <a:gd name="T59" fmla="*/ 1 h 920"/>
                <a:gd name="T60" fmla="*/ 4 w 2258"/>
                <a:gd name="T61" fmla="*/ 1 h 920"/>
                <a:gd name="T62" fmla="*/ 4 w 2258"/>
                <a:gd name="T63" fmla="*/ 1 h 920"/>
                <a:gd name="T64" fmla="*/ 4 w 2258"/>
                <a:gd name="T65" fmla="*/ 1 h 920"/>
                <a:gd name="T66" fmla="*/ 4 w 2258"/>
                <a:gd name="T67" fmla="*/ 1 h 920"/>
                <a:gd name="T68" fmla="*/ 3 w 2258"/>
                <a:gd name="T69" fmla="*/ 1 h 920"/>
                <a:gd name="T70" fmla="*/ 3 w 2258"/>
                <a:gd name="T71" fmla="*/ 1 h 920"/>
                <a:gd name="T72" fmla="*/ 3 w 2258"/>
                <a:gd name="T73" fmla="*/ 1 h 920"/>
                <a:gd name="T74" fmla="*/ 3 w 2258"/>
                <a:gd name="T75" fmla="*/ 1 h 920"/>
                <a:gd name="T76" fmla="*/ 3 w 2258"/>
                <a:gd name="T77" fmla="*/ 1 h 920"/>
                <a:gd name="T78" fmla="*/ 3 w 2258"/>
                <a:gd name="T79" fmla="*/ 1 h 920"/>
                <a:gd name="T80" fmla="*/ 3 w 2258"/>
                <a:gd name="T81" fmla="*/ 1 h 920"/>
                <a:gd name="T82" fmla="*/ 3 w 2258"/>
                <a:gd name="T83" fmla="*/ 1 h 920"/>
                <a:gd name="T84" fmla="*/ 3 w 2258"/>
                <a:gd name="T85" fmla="*/ 1 h 920"/>
                <a:gd name="T86" fmla="*/ 1 w 2258"/>
                <a:gd name="T87" fmla="*/ 2 h 920"/>
                <a:gd name="T88" fmla="*/ 1 w 2258"/>
                <a:gd name="T89" fmla="*/ 2 h 92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258"/>
                <a:gd name="T136" fmla="*/ 0 h 920"/>
                <a:gd name="T137" fmla="*/ 2258 w 2258"/>
                <a:gd name="T138" fmla="*/ 920 h 92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258" h="920">
                  <a:moveTo>
                    <a:pt x="401" y="529"/>
                  </a:moveTo>
                  <a:lnTo>
                    <a:pt x="383" y="530"/>
                  </a:lnTo>
                  <a:lnTo>
                    <a:pt x="362" y="531"/>
                  </a:lnTo>
                  <a:lnTo>
                    <a:pt x="341" y="534"/>
                  </a:lnTo>
                  <a:lnTo>
                    <a:pt x="319" y="535"/>
                  </a:lnTo>
                  <a:lnTo>
                    <a:pt x="296" y="536"/>
                  </a:lnTo>
                  <a:lnTo>
                    <a:pt x="273" y="537"/>
                  </a:lnTo>
                  <a:lnTo>
                    <a:pt x="248" y="539"/>
                  </a:lnTo>
                  <a:lnTo>
                    <a:pt x="222" y="540"/>
                  </a:lnTo>
                  <a:lnTo>
                    <a:pt x="196" y="543"/>
                  </a:lnTo>
                  <a:lnTo>
                    <a:pt x="169" y="545"/>
                  </a:lnTo>
                  <a:lnTo>
                    <a:pt x="143" y="548"/>
                  </a:lnTo>
                  <a:lnTo>
                    <a:pt x="115" y="552"/>
                  </a:lnTo>
                  <a:lnTo>
                    <a:pt x="86" y="555"/>
                  </a:lnTo>
                  <a:lnTo>
                    <a:pt x="58" y="559"/>
                  </a:lnTo>
                  <a:lnTo>
                    <a:pt x="29" y="563"/>
                  </a:lnTo>
                  <a:lnTo>
                    <a:pt x="0" y="569"/>
                  </a:lnTo>
                  <a:lnTo>
                    <a:pt x="63" y="652"/>
                  </a:lnTo>
                  <a:lnTo>
                    <a:pt x="81" y="687"/>
                  </a:lnTo>
                  <a:lnTo>
                    <a:pt x="97" y="719"/>
                  </a:lnTo>
                  <a:lnTo>
                    <a:pt x="111" y="752"/>
                  </a:lnTo>
                  <a:lnTo>
                    <a:pt x="124" y="785"/>
                  </a:lnTo>
                  <a:lnTo>
                    <a:pt x="137" y="817"/>
                  </a:lnTo>
                  <a:lnTo>
                    <a:pt x="149" y="850"/>
                  </a:lnTo>
                  <a:lnTo>
                    <a:pt x="161" y="884"/>
                  </a:lnTo>
                  <a:lnTo>
                    <a:pt x="174" y="920"/>
                  </a:lnTo>
                  <a:lnTo>
                    <a:pt x="232" y="911"/>
                  </a:lnTo>
                  <a:lnTo>
                    <a:pt x="288" y="902"/>
                  </a:lnTo>
                  <a:lnTo>
                    <a:pt x="346" y="893"/>
                  </a:lnTo>
                  <a:lnTo>
                    <a:pt x="402" y="884"/>
                  </a:lnTo>
                  <a:lnTo>
                    <a:pt x="460" y="875"/>
                  </a:lnTo>
                  <a:lnTo>
                    <a:pt x="516" y="865"/>
                  </a:lnTo>
                  <a:lnTo>
                    <a:pt x="574" y="855"/>
                  </a:lnTo>
                  <a:lnTo>
                    <a:pt x="631" y="845"/>
                  </a:lnTo>
                  <a:lnTo>
                    <a:pt x="688" y="834"/>
                  </a:lnTo>
                  <a:lnTo>
                    <a:pt x="745" y="824"/>
                  </a:lnTo>
                  <a:lnTo>
                    <a:pt x="802" y="814"/>
                  </a:lnTo>
                  <a:lnTo>
                    <a:pt x="860" y="803"/>
                  </a:lnTo>
                  <a:lnTo>
                    <a:pt x="917" y="793"/>
                  </a:lnTo>
                  <a:lnTo>
                    <a:pt x="974" y="781"/>
                  </a:lnTo>
                  <a:lnTo>
                    <a:pt x="1031" y="770"/>
                  </a:lnTo>
                  <a:lnTo>
                    <a:pt x="1088" y="759"/>
                  </a:lnTo>
                  <a:lnTo>
                    <a:pt x="1145" y="748"/>
                  </a:lnTo>
                  <a:lnTo>
                    <a:pt x="1202" y="736"/>
                  </a:lnTo>
                  <a:lnTo>
                    <a:pt x="1259" y="725"/>
                  </a:lnTo>
                  <a:lnTo>
                    <a:pt x="1317" y="713"/>
                  </a:lnTo>
                  <a:lnTo>
                    <a:pt x="1373" y="702"/>
                  </a:lnTo>
                  <a:lnTo>
                    <a:pt x="1430" y="689"/>
                  </a:lnTo>
                  <a:lnTo>
                    <a:pt x="1487" y="678"/>
                  </a:lnTo>
                  <a:lnTo>
                    <a:pt x="1544" y="666"/>
                  </a:lnTo>
                  <a:lnTo>
                    <a:pt x="1601" y="653"/>
                  </a:lnTo>
                  <a:lnTo>
                    <a:pt x="1658" y="642"/>
                  </a:lnTo>
                  <a:lnTo>
                    <a:pt x="1714" y="630"/>
                  </a:lnTo>
                  <a:lnTo>
                    <a:pt x="1771" y="618"/>
                  </a:lnTo>
                  <a:lnTo>
                    <a:pt x="1828" y="606"/>
                  </a:lnTo>
                  <a:lnTo>
                    <a:pt x="1885" y="593"/>
                  </a:lnTo>
                  <a:lnTo>
                    <a:pt x="1941" y="582"/>
                  </a:lnTo>
                  <a:lnTo>
                    <a:pt x="1998" y="569"/>
                  </a:lnTo>
                  <a:lnTo>
                    <a:pt x="2160" y="523"/>
                  </a:lnTo>
                  <a:lnTo>
                    <a:pt x="2242" y="487"/>
                  </a:lnTo>
                  <a:lnTo>
                    <a:pt x="2254" y="455"/>
                  </a:lnTo>
                  <a:lnTo>
                    <a:pt x="2258" y="424"/>
                  </a:lnTo>
                  <a:lnTo>
                    <a:pt x="2254" y="395"/>
                  </a:lnTo>
                  <a:lnTo>
                    <a:pt x="2242" y="365"/>
                  </a:lnTo>
                  <a:lnTo>
                    <a:pt x="2194" y="356"/>
                  </a:lnTo>
                  <a:lnTo>
                    <a:pt x="2191" y="264"/>
                  </a:lnTo>
                  <a:lnTo>
                    <a:pt x="2061" y="264"/>
                  </a:lnTo>
                  <a:lnTo>
                    <a:pt x="2061" y="182"/>
                  </a:lnTo>
                  <a:lnTo>
                    <a:pt x="1977" y="182"/>
                  </a:lnTo>
                  <a:lnTo>
                    <a:pt x="1977" y="33"/>
                  </a:lnTo>
                  <a:lnTo>
                    <a:pt x="1976" y="28"/>
                  </a:lnTo>
                  <a:lnTo>
                    <a:pt x="1974" y="23"/>
                  </a:lnTo>
                  <a:lnTo>
                    <a:pt x="1969" y="18"/>
                  </a:lnTo>
                  <a:lnTo>
                    <a:pt x="1962" y="14"/>
                  </a:lnTo>
                  <a:lnTo>
                    <a:pt x="1954" y="9"/>
                  </a:lnTo>
                  <a:lnTo>
                    <a:pt x="1944" y="6"/>
                  </a:lnTo>
                  <a:lnTo>
                    <a:pt x="1932" y="3"/>
                  </a:lnTo>
                  <a:lnTo>
                    <a:pt x="1917" y="2"/>
                  </a:lnTo>
                  <a:lnTo>
                    <a:pt x="1858" y="0"/>
                  </a:lnTo>
                  <a:lnTo>
                    <a:pt x="1858" y="123"/>
                  </a:lnTo>
                  <a:lnTo>
                    <a:pt x="1702" y="123"/>
                  </a:lnTo>
                  <a:lnTo>
                    <a:pt x="1702" y="152"/>
                  </a:lnTo>
                  <a:lnTo>
                    <a:pt x="1643" y="152"/>
                  </a:lnTo>
                  <a:lnTo>
                    <a:pt x="1641" y="192"/>
                  </a:lnTo>
                  <a:lnTo>
                    <a:pt x="1688" y="211"/>
                  </a:lnTo>
                  <a:lnTo>
                    <a:pt x="1688" y="305"/>
                  </a:lnTo>
                  <a:lnTo>
                    <a:pt x="1678" y="411"/>
                  </a:lnTo>
                  <a:lnTo>
                    <a:pt x="785" y="535"/>
                  </a:lnTo>
                  <a:lnTo>
                    <a:pt x="558" y="552"/>
                  </a:lnTo>
                  <a:lnTo>
                    <a:pt x="477" y="552"/>
                  </a:lnTo>
                  <a:lnTo>
                    <a:pt x="401" y="529"/>
                  </a:lnTo>
                  <a:close/>
                </a:path>
              </a:pathLst>
            </a:custGeom>
            <a:solidFill>
              <a:srgbClr val="00335B"/>
            </a:solidFill>
            <a:ln w="9525">
              <a:noFill/>
              <a:round/>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32" name="Freeform 532"/>
            <p:cNvSpPr>
              <a:spLocks/>
            </p:cNvSpPr>
            <p:nvPr/>
          </p:nvSpPr>
          <p:spPr bwMode="auto">
            <a:xfrm>
              <a:off x="1571" y="1479"/>
              <a:ext cx="377" cy="56"/>
            </a:xfrm>
            <a:custGeom>
              <a:avLst/>
              <a:gdLst>
                <a:gd name="T0" fmla="*/ 0 w 753"/>
                <a:gd name="T1" fmla="*/ 1 h 112"/>
                <a:gd name="T2" fmla="*/ 1 w 753"/>
                <a:gd name="T3" fmla="*/ 1 h 112"/>
                <a:gd name="T4" fmla="*/ 1 w 753"/>
                <a:gd name="T5" fmla="*/ 1 h 112"/>
                <a:gd name="T6" fmla="*/ 1 w 753"/>
                <a:gd name="T7" fmla="*/ 1 h 112"/>
                <a:gd name="T8" fmla="*/ 1 w 753"/>
                <a:gd name="T9" fmla="*/ 1 h 112"/>
                <a:gd name="T10" fmla="*/ 1 w 753"/>
                <a:gd name="T11" fmla="*/ 1 h 112"/>
                <a:gd name="T12" fmla="*/ 1 w 753"/>
                <a:gd name="T13" fmla="*/ 1 h 112"/>
                <a:gd name="T14" fmla="*/ 1 w 753"/>
                <a:gd name="T15" fmla="*/ 1 h 112"/>
                <a:gd name="T16" fmla="*/ 1 w 753"/>
                <a:gd name="T17" fmla="*/ 1 h 112"/>
                <a:gd name="T18" fmla="*/ 1 w 753"/>
                <a:gd name="T19" fmla="*/ 1 h 112"/>
                <a:gd name="T20" fmla="*/ 1 w 753"/>
                <a:gd name="T21" fmla="*/ 1 h 112"/>
                <a:gd name="T22" fmla="*/ 1 w 753"/>
                <a:gd name="T23" fmla="*/ 1 h 112"/>
                <a:gd name="T24" fmla="*/ 1 w 753"/>
                <a:gd name="T25" fmla="*/ 1 h 112"/>
                <a:gd name="T26" fmla="*/ 1 w 753"/>
                <a:gd name="T27" fmla="*/ 1 h 112"/>
                <a:gd name="T28" fmla="*/ 2 w 753"/>
                <a:gd name="T29" fmla="*/ 1 h 112"/>
                <a:gd name="T30" fmla="*/ 2 w 753"/>
                <a:gd name="T31" fmla="*/ 1 h 112"/>
                <a:gd name="T32" fmla="*/ 2 w 753"/>
                <a:gd name="T33" fmla="*/ 0 h 112"/>
                <a:gd name="T34" fmla="*/ 2 w 753"/>
                <a:gd name="T35" fmla="*/ 1 h 112"/>
                <a:gd name="T36" fmla="*/ 2 w 753"/>
                <a:gd name="T37" fmla="*/ 1 h 112"/>
                <a:gd name="T38" fmla="*/ 2 w 753"/>
                <a:gd name="T39" fmla="*/ 1 h 112"/>
                <a:gd name="T40" fmla="*/ 2 w 753"/>
                <a:gd name="T41" fmla="*/ 1 h 112"/>
                <a:gd name="T42" fmla="*/ 2 w 753"/>
                <a:gd name="T43" fmla="*/ 1 h 112"/>
                <a:gd name="T44" fmla="*/ 2 w 753"/>
                <a:gd name="T45" fmla="*/ 1 h 112"/>
                <a:gd name="T46" fmla="*/ 2 w 753"/>
                <a:gd name="T47" fmla="*/ 1 h 112"/>
                <a:gd name="T48" fmla="*/ 1 w 753"/>
                <a:gd name="T49" fmla="*/ 1 h 112"/>
                <a:gd name="T50" fmla="*/ 1 w 753"/>
                <a:gd name="T51" fmla="*/ 1 h 112"/>
                <a:gd name="T52" fmla="*/ 1 w 753"/>
                <a:gd name="T53" fmla="*/ 1 h 112"/>
                <a:gd name="T54" fmla="*/ 1 w 753"/>
                <a:gd name="T55" fmla="*/ 1 h 112"/>
                <a:gd name="T56" fmla="*/ 1 w 753"/>
                <a:gd name="T57" fmla="*/ 1 h 112"/>
                <a:gd name="T58" fmla="*/ 1 w 753"/>
                <a:gd name="T59" fmla="*/ 1 h 112"/>
                <a:gd name="T60" fmla="*/ 1 w 753"/>
                <a:gd name="T61" fmla="*/ 1 h 112"/>
                <a:gd name="T62" fmla="*/ 1 w 753"/>
                <a:gd name="T63" fmla="*/ 1 h 112"/>
                <a:gd name="T64" fmla="*/ 1 w 753"/>
                <a:gd name="T65" fmla="*/ 1 h 112"/>
                <a:gd name="T66" fmla="*/ 1 w 753"/>
                <a:gd name="T67" fmla="*/ 1 h 112"/>
                <a:gd name="T68" fmla="*/ 1 w 753"/>
                <a:gd name="T69" fmla="*/ 1 h 112"/>
                <a:gd name="T70" fmla="*/ 0 w 753"/>
                <a:gd name="T71" fmla="*/ 1 h 11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3"/>
                <a:gd name="T109" fmla="*/ 0 h 112"/>
                <a:gd name="T110" fmla="*/ 753 w 753"/>
                <a:gd name="T111" fmla="*/ 112 h 11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3" h="112">
                  <a:moveTo>
                    <a:pt x="0" y="19"/>
                  </a:moveTo>
                  <a:lnTo>
                    <a:pt x="38" y="18"/>
                  </a:lnTo>
                  <a:lnTo>
                    <a:pt x="77" y="16"/>
                  </a:lnTo>
                  <a:lnTo>
                    <a:pt x="115" y="15"/>
                  </a:lnTo>
                  <a:lnTo>
                    <a:pt x="154" y="14"/>
                  </a:lnTo>
                  <a:lnTo>
                    <a:pt x="192" y="13"/>
                  </a:lnTo>
                  <a:lnTo>
                    <a:pt x="230" y="12"/>
                  </a:lnTo>
                  <a:lnTo>
                    <a:pt x="269" y="11"/>
                  </a:lnTo>
                  <a:lnTo>
                    <a:pt x="307" y="11"/>
                  </a:lnTo>
                  <a:lnTo>
                    <a:pt x="347" y="9"/>
                  </a:lnTo>
                  <a:lnTo>
                    <a:pt x="385" y="8"/>
                  </a:lnTo>
                  <a:lnTo>
                    <a:pt x="423" y="7"/>
                  </a:lnTo>
                  <a:lnTo>
                    <a:pt x="462" y="6"/>
                  </a:lnTo>
                  <a:lnTo>
                    <a:pt x="500" y="5"/>
                  </a:lnTo>
                  <a:lnTo>
                    <a:pt x="539" y="4"/>
                  </a:lnTo>
                  <a:lnTo>
                    <a:pt x="577" y="3"/>
                  </a:lnTo>
                  <a:lnTo>
                    <a:pt x="616" y="0"/>
                  </a:lnTo>
                  <a:lnTo>
                    <a:pt x="662" y="36"/>
                  </a:lnTo>
                  <a:lnTo>
                    <a:pt x="753" y="75"/>
                  </a:lnTo>
                  <a:lnTo>
                    <a:pt x="710" y="80"/>
                  </a:lnTo>
                  <a:lnTo>
                    <a:pt x="667" y="83"/>
                  </a:lnTo>
                  <a:lnTo>
                    <a:pt x="623" y="87"/>
                  </a:lnTo>
                  <a:lnTo>
                    <a:pt x="580" y="89"/>
                  </a:lnTo>
                  <a:lnTo>
                    <a:pt x="538" y="92"/>
                  </a:lnTo>
                  <a:lnTo>
                    <a:pt x="494" y="95"/>
                  </a:lnTo>
                  <a:lnTo>
                    <a:pt x="451" y="97"/>
                  </a:lnTo>
                  <a:lnTo>
                    <a:pt x="409" y="99"/>
                  </a:lnTo>
                  <a:lnTo>
                    <a:pt x="366" y="102"/>
                  </a:lnTo>
                  <a:lnTo>
                    <a:pt x="322" y="103"/>
                  </a:lnTo>
                  <a:lnTo>
                    <a:pt x="280" y="105"/>
                  </a:lnTo>
                  <a:lnTo>
                    <a:pt x="237" y="106"/>
                  </a:lnTo>
                  <a:lnTo>
                    <a:pt x="193" y="107"/>
                  </a:lnTo>
                  <a:lnTo>
                    <a:pt x="150" y="109"/>
                  </a:lnTo>
                  <a:lnTo>
                    <a:pt x="107" y="111"/>
                  </a:lnTo>
                  <a:lnTo>
                    <a:pt x="63" y="112"/>
                  </a:lnTo>
                  <a:lnTo>
                    <a:pt x="0" y="19"/>
                  </a:lnTo>
                  <a:close/>
                </a:path>
              </a:pathLst>
            </a:custGeom>
            <a:solidFill>
              <a:srgbClr val="D18E00"/>
            </a:solidFill>
            <a:ln w="9525">
              <a:noFill/>
              <a:round/>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33" name="Freeform 533"/>
            <p:cNvSpPr>
              <a:spLocks/>
            </p:cNvSpPr>
            <p:nvPr/>
          </p:nvSpPr>
          <p:spPr bwMode="auto">
            <a:xfrm>
              <a:off x="1812" y="1350"/>
              <a:ext cx="724" cy="165"/>
            </a:xfrm>
            <a:custGeom>
              <a:avLst/>
              <a:gdLst>
                <a:gd name="T0" fmla="*/ 1 w 1448"/>
                <a:gd name="T1" fmla="*/ 1 h 330"/>
                <a:gd name="T2" fmla="*/ 1 w 1448"/>
                <a:gd name="T3" fmla="*/ 1 h 330"/>
                <a:gd name="T4" fmla="*/ 0 w 1448"/>
                <a:gd name="T5" fmla="*/ 1 h 330"/>
                <a:gd name="T6" fmla="*/ 1 w 1448"/>
                <a:gd name="T7" fmla="*/ 1 h 330"/>
                <a:gd name="T8" fmla="*/ 1 w 1448"/>
                <a:gd name="T9" fmla="*/ 1 h 330"/>
                <a:gd name="T10" fmla="*/ 1 w 1448"/>
                <a:gd name="T11" fmla="*/ 1 h 330"/>
                <a:gd name="T12" fmla="*/ 1 w 1448"/>
                <a:gd name="T13" fmla="*/ 1 h 330"/>
                <a:gd name="T14" fmla="*/ 1 w 1448"/>
                <a:gd name="T15" fmla="*/ 1 h 330"/>
                <a:gd name="T16" fmla="*/ 3 w 1448"/>
                <a:gd name="T17" fmla="*/ 1 h 330"/>
                <a:gd name="T18" fmla="*/ 3 w 1448"/>
                <a:gd name="T19" fmla="*/ 1 h 330"/>
                <a:gd name="T20" fmla="*/ 3 w 1448"/>
                <a:gd name="T21" fmla="*/ 0 h 330"/>
                <a:gd name="T22" fmla="*/ 3 w 1448"/>
                <a:gd name="T23" fmla="*/ 1 h 330"/>
                <a:gd name="T24" fmla="*/ 3 w 1448"/>
                <a:gd name="T25" fmla="*/ 1 h 330"/>
                <a:gd name="T26" fmla="*/ 1 w 1448"/>
                <a:gd name="T27" fmla="*/ 1 h 330"/>
                <a:gd name="T28" fmla="*/ 1 w 1448"/>
                <a:gd name="T29" fmla="*/ 1 h 330"/>
                <a:gd name="T30" fmla="*/ 1 w 1448"/>
                <a:gd name="T31" fmla="*/ 1 h 330"/>
                <a:gd name="T32" fmla="*/ 1 w 1448"/>
                <a:gd name="T33" fmla="*/ 1 h 330"/>
                <a:gd name="T34" fmla="*/ 1 w 1448"/>
                <a:gd name="T35" fmla="*/ 1 h 330"/>
                <a:gd name="T36" fmla="*/ 1 w 1448"/>
                <a:gd name="T37" fmla="*/ 1 h 330"/>
                <a:gd name="T38" fmla="*/ 1 w 1448"/>
                <a:gd name="T39" fmla="*/ 1 h 330"/>
                <a:gd name="T40" fmla="*/ 1 w 1448"/>
                <a:gd name="T41" fmla="*/ 1 h 330"/>
                <a:gd name="T42" fmla="*/ 1 w 1448"/>
                <a:gd name="T43" fmla="*/ 1 h 330"/>
                <a:gd name="T44" fmla="*/ 1 w 1448"/>
                <a:gd name="T45" fmla="*/ 1 h 330"/>
                <a:gd name="T46" fmla="*/ 1 w 1448"/>
                <a:gd name="T47" fmla="*/ 1 h 3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48"/>
                <a:gd name="T73" fmla="*/ 0 h 330"/>
                <a:gd name="T74" fmla="*/ 1448 w 1448"/>
                <a:gd name="T75" fmla="*/ 330 h 33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48" h="330">
                  <a:moveTo>
                    <a:pt x="119" y="195"/>
                  </a:moveTo>
                  <a:lnTo>
                    <a:pt x="119" y="212"/>
                  </a:lnTo>
                  <a:lnTo>
                    <a:pt x="0" y="216"/>
                  </a:lnTo>
                  <a:lnTo>
                    <a:pt x="2" y="247"/>
                  </a:lnTo>
                  <a:lnTo>
                    <a:pt x="135" y="247"/>
                  </a:lnTo>
                  <a:lnTo>
                    <a:pt x="246" y="330"/>
                  </a:lnTo>
                  <a:lnTo>
                    <a:pt x="321" y="330"/>
                  </a:lnTo>
                  <a:lnTo>
                    <a:pt x="803" y="264"/>
                  </a:lnTo>
                  <a:lnTo>
                    <a:pt x="1448" y="146"/>
                  </a:lnTo>
                  <a:lnTo>
                    <a:pt x="1442" y="29"/>
                  </a:lnTo>
                  <a:lnTo>
                    <a:pt x="1162" y="0"/>
                  </a:lnTo>
                  <a:lnTo>
                    <a:pt x="1070" y="6"/>
                  </a:lnTo>
                  <a:lnTo>
                    <a:pt x="1045" y="27"/>
                  </a:lnTo>
                  <a:lnTo>
                    <a:pt x="839" y="23"/>
                  </a:lnTo>
                  <a:lnTo>
                    <a:pt x="805" y="55"/>
                  </a:lnTo>
                  <a:lnTo>
                    <a:pt x="615" y="53"/>
                  </a:lnTo>
                  <a:lnTo>
                    <a:pt x="573" y="73"/>
                  </a:lnTo>
                  <a:lnTo>
                    <a:pt x="445" y="77"/>
                  </a:lnTo>
                  <a:lnTo>
                    <a:pt x="439" y="116"/>
                  </a:lnTo>
                  <a:lnTo>
                    <a:pt x="362" y="114"/>
                  </a:lnTo>
                  <a:lnTo>
                    <a:pt x="362" y="157"/>
                  </a:lnTo>
                  <a:lnTo>
                    <a:pt x="272" y="157"/>
                  </a:lnTo>
                  <a:lnTo>
                    <a:pt x="270" y="191"/>
                  </a:lnTo>
                  <a:lnTo>
                    <a:pt x="119" y="195"/>
                  </a:lnTo>
                  <a:close/>
                </a:path>
              </a:pathLst>
            </a:custGeom>
            <a:solidFill>
              <a:srgbClr val="00335B"/>
            </a:solidFill>
            <a:ln w="9525">
              <a:noFill/>
              <a:round/>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34" name="Freeform 534"/>
            <p:cNvSpPr>
              <a:spLocks/>
            </p:cNvSpPr>
            <p:nvPr/>
          </p:nvSpPr>
          <p:spPr bwMode="auto">
            <a:xfrm>
              <a:off x="2377" y="1265"/>
              <a:ext cx="165" cy="22"/>
            </a:xfrm>
            <a:custGeom>
              <a:avLst/>
              <a:gdLst>
                <a:gd name="T0" fmla="*/ 0 w 328"/>
                <a:gd name="T1" fmla="*/ 0 h 44"/>
                <a:gd name="T2" fmla="*/ 1 w 328"/>
                <a:gd name="T3" fmla="*/ 0 h 44"/>
                <a:gd name="T4" fmla="*/ 1 w 328"/>
                <a:gd name="T5" fmla="*/ 0 h 44"/>
                <a:gd name="T6" fmla="*/ 1 w 328"/>
                <a:gd name="T7" fmla="*/ 1 h 44"/>
                <a:gd name="T8" fmla="*/ 0 w 328"/>
                <a:gd name="T9" fmla="*/ 1 h 44"/>
                <a:gd name="T10" fmla="*/ 0 w 328"/>
                <a:gd name="T11" fmla="*/ 0 h 44"/>
                <a:gd name="T12" fmla="*/ 0 60000 65536"/>
                <a:gd name="T13" fmla="*/ 0 60000 65536"/>
                <a:gd name="T14" fmla="*/ 0 60000 65536"/>
                <a:gd name="T15" fmla="*/ 0 60000 65536"/>
                <a:gd name="T16" fmla="*/ 0 60000 65536"/>
                <a:gd name="T17" fmla="*/ 0 60000 65536"/>
                <a:gd name="T18" fmla="*/ 0 w 328"/>
                <a:gd name="T19" fmla="*/ 0 h 44"/>
                <a:gd name="T20" fmla="*/ 328 w 328"/>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328" h="44">
                  <a:moveTo>
                    <a:pt x="0" y="0"/>
                  </a:moveTo>
                  <a:lnTo>
                    <a:pt x="159" y="0"/>
                  </a:lnTo>
                  <a:lnTo>
                    <a:pt x="328" y="0"/>
                  </a:lnTo>
                  <a:lnTo>
                    <a:pt x="326" y="44"/>
                  </a:lnTo>
                  <a:lnTo>
                    <a:pt x="0" y="44"/>
                  </a:lnTo>
                  <a:lnTo>
                    <a:pt x="0" y="0"/>
                  </a:lnTo>
                  <a:close/>
                </a:path>
              </a:pathLst>
            </a:custGeom>
            <a:solidFill>
              <a:srgbClr val="D18E00"/>
            </a:solidFill>
            <a:ln w="9525">
              <a:noFill/>
              <a:round/>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35" name="Freeform 535"/>
            <p:cNvSpPr>
              <a:spLocks/>
            </p:cNvSpPr>
            <p:nvPr/>
          </p:nvSpPr>
          <p:spPr bwMode="auto">
            <a:xfrm>
              <a:off x="2402" y="1306"/>
              <a:ext cx="149" cy="65"/>
            </a:xfrm>
            <a:custGeom>
              <a:avLst/>
              <a:gdLst>
                <a:gd name="T0" fmla="*/ 1 w 298"/>
                <a:gd name="T1" fmla="*/ 0 h 131"/>
                <a:gd name="T2" fmla="*/ 1 w 298"/>
                <a:gd name="T3" fmla="*/ 0 h 131"/>
                <a:gd name="T4" fmla="*/ 1 w 298"/>
                <a:gd name="T5" fmla="*/ 0 h 131"/>
                <a:gd name="T6" fmla="*/ 1 w 298"/>
                <a:gd name="T7" fmla="*/ 0 h 131"/>
                <a:gd name="T8" fmla="*/ 1 w 298"/>
                <a:gd name="T9" fmla="*/ 0 h 131"/>
                <a:gd name="T10" fmla="*/ 1 w 298"/>
                <a:gd name="T11" fmla="*/ 0 h 131"/>
                <a:gd name="T12" fmla="*/ 0 w 298"/>
                <a:gd name="T13" fmla="*/ 0 h 131"/>
                <a:gd name="T14" fmla="*/ 0 w 298"/>
                <a:gd name="T15" fmla="*/ 0 h 131"/>
                <a:gd name="T16" fmla="*/ 1 w 298"/>
                <a:gd name="T17" fmla="*/ 0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8"/>
                <a:gd name="T28" fmla="*/ 0 h 131"/>
                <a:gd name="T29" fmla="*/ 298 w 298"/>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8" h="131">
                  <a:moveTo>
                    <a:pt x="116" y="0"/>
                  </a:moveTo>
                  <a:lnTo>
                    <a:pt x="239" y="7"/>
                  </a:lnTo>
                  <a:lnTo>
                    <a:pt x="298" y="7"/>
                  </a:lnTo>
                  <a:lnTo>
                    <a:pt x="298" y="131"/>
                  </a:lnTo>
                  <a:lnTo>
                    <a:pt x="269" y="129"/>
                  </a:lnTo>
                  <a:lnTo>
                    <a:pt x="269" y="75"/>
                  </a:lnTo>
                  <a:lnTo>
                    <a:pt x="0" y="78"/>
                  </a:lnTo>
                  <a:lnTo>
                    <a:pt x="0" y="7"/>
                  </a:lnTo>
                  <a:lnTo>
                    <a:pt x="116" y="0"/>
                  </a:lnTo>
                  <a:close/>
                </a:path>
              </a:pathLst>
            </a:custGeom>
            <a:solidFill>
              <a:srgbClr val="D18E00"/>
            </a:solidFill>
            <a:ln w="9525">
              <a:noFill/>
              <a:round/>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36" name="Rectangle 536"/>
            <p:cNvSpPr>
              <a:spLocks noChangeArrowheads="1"/>
            </p:cNvSpPr>
            <p:nvPr/>
          </p:nvSpPr>
          <p:spPr bwMode="auto">
            <a:xfrm>
              <a:off x="2631" y="1206"/>
              <a:ext cx="5" cy="129"/>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37" name="Rectangle 537"/>
            <p:cNvSpPr>
              <a:spLocks noChangeArrowheads="1"/>
            </p:cNvSpPr>
            <p:nvPr/>
          </p:nvSpPr>
          <p:spPr bwMode="auto">
            <a:xfrm>
              <a:off x="2472" y="1194"/>
              <a:ext cx="5" cy="64"/>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38" name="Rectangle 538"/>
            <p:cNvSpPr>
              <a:spLocks noChangeArrowheads="1"/>
            </p:cNvSpPr>
            <p:nvPr/>
          </p:nvSpPr>
          <p:spPr bwMode="auto">
            <a:xfrm>
              <a:off x="2451" y="1172"/>
              <a:ext cx="5" cy="89"/>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39" name="Rectangle 539"/>
            <p:cNvSpPr>
              <a:spLocks noChangeArrowheads="1"/>
            </p:cNvSpPr>
            <p:nvPr/>
          </p:nvSpPr>
          <p:spPr bwMode="auto">
            <a:xfrm>
              <a:off x="1775" y="1335"/>
              <a:ext cx="20" cy="135"/>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40" name="Rectangle 540"/>
            <p:cNvSpPr>
              <a:spLocks noChangeArrowheads="1"/>
            </p:cNvSpPr>
            <p:nvPr/>
          </p:nvSpPr>
          <p:spPr bwMode="auto">
            <a:xfrm>
              <a:off x="1783" y="1233"/>
              <a:ext cx="6" cy="120"/>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41" name="Rectangle 541"/>
            <p:cNvSpPr>
              <a:spLocks noChangeArrowheads="1"/>
            </p:cNvSpPr>
            <p:nvPr/>
          </p:nvSpPr>
          <p:spPr bwMode="auto">
            <a:xfrm>
              <a:off x="2180" y="1395"/>
              <a:ext cx="54"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42" name="Rectangle 542"/>
            <p:cNvSpPr>
              <a:spLocks noChangeArrowheads="1"/>
            </p:cNvSpPr>
            <p:nvPr/>
          </p:nvSpPr>
          <p:spPr bwMode="auto">
            <a:xfrm>
              <a:off x="2113" y="1415"/>
              <a:ext cx="54"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43" name="Rectangle 543"/>
            <p:cNvSpPr>
              <a:spLocks noChangeArrowheads="1"/>
            </p:cNvSpPr>
            <p:nvPr/>
          </p:nvSpPr>
          <p:spPr bwMode="auto">
            <a:xfrm>
              <a:off x="2113" y="1389"/>
              <a:ext cx="54" cy="16"/>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44" name="Rectangle 544"/>
            <p:cNvSpPr>
              <a:spLocks noChangeArrowheads="1"/>
            </p:cNvSpPr>
            <p:nvPr/>
          </p:nvSpPr>
          <p:spPr bwMode="auto">
            <a:xfrm>
              <a:off x="2270" y="1394"/>
              <a:ext cx="53"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45" name="Rectangle 545"/>
            <p:cNvSpPr>
              <a:spLocks noChangeArrowheads="1"/>
            </p:cNvSpPr>
            <p:nvPr/>
          </p:nvSpPr>
          <p:spPr bwMode="auto">
            <a:xfrm>
              <a:off x="2334" y="1377"/>
              <a:ext cx="91"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46" name="Rectangle 546"/>
            <p:cNvSpPr>
              <a:spLocks noChangeArrowheads="1"/>
            </p:cNvSpPr>
            <p:nvPr/>
          </p:nvSpPr>
          <p:spPr bwMode="auto">
            <a:xfrm>
              <a:off x="2438" y="1365"/>
              <a:ext cx="37"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47" name="Rectangle 547"/>
            <p:cNvSpPr>
              <a:spLocks noChangeArrowheads="1"/>
            </p:cNvSpPr>
            <p:nvPr/>
          </p:nvSpPr>
          <p:spPr bwMode="auto">
            <a:xfrm>
              <a:off x="2481" y="1348"/>
              <a:ext cx="37" cy="16"/>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48" name="Rectangle 548"/>
            <p:cNvSpPr>
              <a:spLocks noChangeArrowheads="1"/>
            </p:cNvSpPr>
            <p:nvPr/>
          </p:nvSpPr>
          <p:spPr bwMode="auto">
            <a:xfrm>
              <a:off x="2043" y="1423"/>
              <a:ext cx="37"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49" name="Rectangle 549"/>
            <p:cNvSpPr>
              <a:spLocks noChangeArrowheads="1"/>
            </p:cNvSpPr>
            <p:nvPr/>
          </p:nvSpPr>
          <p:spPr bwMode="auto">
            <a:xfrm>
              <a:off x="2043" y="1400"/>
              <a:ext cx="37" cy="16"/>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50" name="Rectangle 550"/>
            <p:cNvSpPr>
              <a:spLocks noChangeArrowheads="1"/>
            </p:cNvSpPr>
            <p:nvPr/>
          </p:nvSpPr>
          <p:spPr bwMode="auto">
            <a:xfrm>
              <a:off x="1963" y="1459"/>
              <a:ext cx="36" cy="12"/>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51" name="Rectangle 551"/>
            <p:cNvSpPr>
              <a:spLocks noChangeArrowheads="1"/>
            </p:cNvSpPr>
            <p:nvPr/>
          </p:nvSpPr>
          <p:spPr bwMode="auto">
            <a:xfrm>
              <a:off x="2180" y="1420"/>
              <a:ext cx="53" cy="16"/>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52" name="Rectangle 552"/>
            <p:cNvSpPr>
              <a:spLocks noChangeArrowheads="1"/>
            </p:cNvSpPr>
            <p:nvPr/>
          </p:nvSpPr>
          <p:spPr bwMode="auto">
            <a:xfrm>
              <a:off x="2113" y="1437"/>
              <a:ext cx="53"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53" name="Rectangle 553"/>
            <p:cNvSpPr>
              <a:spLocks noChangeArrowheads="1"/>
            </p:cNvSpPr>
            <p:nvPr/>
          </p:nvSpPr>
          <p:spPr bwMode="auto">
            <a:xfrm>
              <a:off x="2270" y="1419"/>
              <a:ext cx="53"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54" name="Rectangle 554"/>
            <p:cNvSpPr>
              <a:spLocks noChangeArrowheads="1"/>
            </p:cNvSpPr>
            <p:nvPr/>
          </p:nvSpPr>
          <p:spPr bwMode="auto">
            <a:xfrm>
              <a:off x="2332" y="1401"/>
              <a:ext cx="92"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55" name="Rectangle 555"/>
            <p:cNvSpPr>
              <a:spLocks noChangeArrowheads="1"/>
            </p:cNvSpPr>
            <p:nvPr/>
          </p:nvSpPr>
          <p:spPr bwMode="auto">
            <a:xfrm>
              <a:off x="2437" y="1390"/>
              <a:ext cx="37"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56" name="Rectangle 556"/>
            <p:cNvSpPr>
              <a:spLocks noChangeArrowheads="1"/>
            </p:cNvSpPr>
            <p:nvPr/>
          </p:nvSpPr>
          <p:spPr bwMode="auto">
            <a:xfrm>
              <a:off x="2481" y="1372"/>
              <a:ext cx="37"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57" name="Rectangle 557"/>
            <p:cNvSpPr>
              <a:spLocks noChangeArrowheads="1"/>
            </p:cNvSpPr>
            <p:nvPr/>
          </p:nvSpPr>
          <p:spPr bwMode="auto">
            <a:xfrm>
              <a:off x="2043" y="1448"/>
              <a:ext cx="37"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58" name="Rectangle 558"/>
            <p:cNvSpPr>
              <a:spLocks noChangeArrowheads="1"/>
            </p:cNvSpPr>
            <p:nvPr/>
          </p:nvSpPr>
          <p:spPr bwMode="auto">
            <a:xfrm>
              <a:off x="1961" y="1477"/>
              <a:ext cx="37" cy="12"/>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59" name="Rectangle 559"/>
            <p:cNvSpPr>
              <a:spLocks noChangeArrowheads="1"/>
            </p:cNvSpPr>
            <p:nvPr/>
          </p:nvSpPr>
          <p:spPr bwMode="auto">
            <a:xfrm>
              <a:off x="2180" y="1447"/>
              <a:ext cx="54"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60" name="Rectangle 560"/>
            <p:cNvSpPr>
              <a:spLocks noChangeArrowheads="1"/>
            </p:cNvSpPr>
            <p:nvPr/>
          </p:nvSpPr>
          <p:spPr bwMode="auto">
            <a:xfrm>
              <a:off x="2113" y="1460"/>
              <a:ext cx="54"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61" name="Rectangle 561"/>
            <p:cNvSpPr>
              <a:spLocks noChangeArrowheads="1"/>
            </p:cNvSpPr>
            <p:nvPr/>
          </p:nvSpPr>
          <p:spPr bwMode="auto">
            <a:xfrm>
              <a:off x="2270" y="1368"/>
              <a:ext cx="53" cy="16"/>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62" name="Rectangle 562"/>
            <p:cNvSpPr>
              <a:spLocks noChangeArrowheads="1"/>
            </p:cNvSpPr>
            <p:nvPr/>
          </p:nvSpPr>
          <p:spPr bwMode="auto">
            <a:xfrm>
              <a:off x="2334" y="1429"/>
              <a:ext cx="51" cy="9"/>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63" name="Rectangle 563"/>
            <p:cNvSpPr>
              <a:spLocks noChangeArrowheads="1"/>
            </p:cNvSpPr>
            <p:nvPr/>
          </p:nvSpPr>
          <p:spPr bwMode="auto">
            <a:xfrm>
              <a:off x="2438" y="1414"/>
              <a:ext cx="37"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64" name="Rectangle 564"/>
            <p:cNvSpPr>
              <a:spLocks noChangeArrowheads="1"/>
            </p:cNvSpPr>
            <p:nvPr/>
          </p:nvSpPr>
          <p:spPr bwMode="auto">
            <a:xfrm>
              <a:off x="2481" y="1400"/>
              <a:ext cx="37" cy="16"/>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65" name="Rectangle 565"/>
            <p:cNvSpPr>
              <a:spLocks noChangeArrowheads="1"/>
            </p:cNvSpPr>
            <p:nvPr/>
          </p:nvSpPr>
          <p:spPr bwMode="auto">
            <a:xfrm>
              <a:off x="2042" y="1474"/>
              <a:ext cx="37" cy="17"/>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66" name="Rectangle 566"/>
            <p:cNvSpPr>
              <a:spLocks noChangeArrowheads="1"/>
            </p:cNvSpPr>
            <p:nvPr/>
          </p:nvSpPr>
          <p:spPr bwMode="auto">
            <a:xfrm>
              <a:off x="1961" y="1435"/>
              <a:ext cx="37" cy="13"/>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67" name="Rectangle 567"/>
            <p:cNvSpPr>
              <a:spLocks noChangeArrowheads="1"/>
            </p:cNvSpPr>
            <p:nvPr/>
          </p:nvSpPr>
          <p:spPr bwMode="auto">
            <a:xfrm>
              <a:off x="1880" y="1462"/>
              <a:ext cx="41" cy="20"/>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68" name="Rectangle 568"/>
            <p:cNvSpPr>
              <a:spLocks noChangeArrowheads="1"/>
            </p:cNvSpPr>
            <p:nvPr/>
          </p:nvSpPr>
          <p:spPr bwMode="auto">
            <a:xfrm>
              <a:off x="2486" y="1243"/>
              <a:ext cx="58" cy="15"/>
            </a:xfrm>
            <a:prstGeom prst="rect">
              <a:avLst/>
            </a:prstGeom>
            <a:solidFill>
              <a:srgbClr val="8C4400"/>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69" name="Rectangle 569"/>
            <p:cNvSpPr>
              <a:spLocks noChangeArrowheads="1"/>
            </p:cNvSpPr>
            <p:nvPr/>
          </p:nvSpPr>
          <p:spPr bwMode="auto">
            <a:xfrm>
              <a:off x="2486" y="1207"/>
              <a:ext cx="60" cy="15"/>
            </a:xfrm>
            <a:prstGeom prst="rect">
              <a:avLst/>
            </a:prstGeom>
            <a:solidFill>
              <a:srgbClr val="8C4400"/>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70" name="Rectangle 570"/>
            <p:cNvSpPr>
              <a:spLocks noChangeArrowheads="1"/>
            </p:cNvSpPr>
            <p:nvPr/>
          </p:nvSpPr>
          <p:spPr bwMode="auto">
            <a:xfrm>
              <a:off x="2493" y="1243"/>
              <a:ext cx="42" cy="15"/>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71" name="Rectangle 571"/>
            <p:cNvSpPr>
              <a:spLocks noChangeArrowheads="1"/>
            </p:cNvSpPr>
            <p:nvPr/>
          </p:nvSpPr>
          <p:spPr bwMode="auto">
            <a:xfrm>
              <a:off x="2493" y="1207"/>
              <a:ext cx="43" cy="15"/>
            </a:xfrm>
            <a:prstGeom prst="rect">
              <a:avLst/>
            </a:prstGeom>
            <a:solidFill>
              <a:srgbClr val="B76B05"/>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72" name="Rectangle 572"/>
            <p:cNvSpPr>
              <a:spLocks noChangeArrowheads="1"/>
            </p:cNvSpPr>
            <p:nvPr/>
          </p:nvSpPr>
          <p:spPr bwMode="auto">
            <a:xfrm>
              <a:off x="2502" y="1243"/>
              <a:ext cx="12" cy="15"/>
            </a:xfrm>
            <a:prstGeom prst="rect">
              <a:avLst/>
            </a:prstGeom>
            <a:solidFill>
              <a:srgbClr val="D18E00"/>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73" name="Rectangle 573"/>
            <p:cNvSpPr>
              <a:spLocks noChangeArrowheads="1"/>
            </p:cNvSpPr>
            <p:nvPr/>
          </p:nvSpPr>
          <p:spPr bwMode="auto">
            <a:xfrm>
              <a:off x="2502" y="1207"/>
              <a:ext cx="13" cy="15"/>
            </a:xfrm>
            <a:prstGeom prst="rect">
              <a:avLst/>
            </a:prstGeom>
            <a:solidFill>
              <a:srgbClr val="D18E00"/>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74" name="Rectangle 574"/>
            <p:cNvSpPr>
              <a:spLocks noChangeArrowheads="1"/>
            </p:cNvSpPr>
            <p:nvPr/>
          </p:nvSpPr>
          <p:spPr bwMode="auto">
            <a:xfrm>
              <a:off x="2408" y="1315"/>
              <a:ext cx="15" cy="8"/>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75" name="Rectangle 575"/>
            <p:cNvSpPr>
              <a:spLocks noChangeArrowheads="1"/>
            </p:cNvSpPr>
            <p:nvPr/>
          </p:nvSpPr>
          <p:spPr bwMode="auto">
            <a:xfrm>
              <a:off x="2407" y="1330"/>
              <a:ext cx="15" cy="9"/>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76" name="Rectangle 576"/>
            <p:cNvSpPr>
              <a:spLocks noChangeArrowheads="1"/>
            </p:cNvSpPr>
            <p:nvPr/>
          </p:nvSpPr>
          <p:spPr bwMode="auto">
            <a:xfrm>
              <a:off x="2490" y="1315"/>
              <a:ext cx="16" cy="8"/>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77" name="Rectangle 577"/>
            <p:cNvSpPr>
              <a:spLocks noChangeArrowheads="1"/>
            </p:cNvSpPr>
            <p:nvPr/>
          </p:nvSpPr>
          <p:spPr bwMode="auto">
            <a:xfrm>
              <a:off x="2489" y="1330"/>
              <a:ext cx="15" cy="9"/>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78" name="Rectangle 578"/>
            <p:cNvSpPr>
              <a:spLocks noChangeArrowheads="1"/>
            </p:cNvSpPr>
            <p:nvPr/>
          </p:nvSpPr>
          <p:spPr bwMode="auto">
            <a:xfrm>
              <a:off x="2435" y="1315"/>
              <a:ext cx="15" cy="8"/>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79" name="Rectangle 579"/>
            <p:cNvSpPr>
              <a:spLocks noChangeArrowheads="1"/>
            </p:cNvSpPr>
            <p:nvPr/>
          </p:nvSpPr>
          <p:spPr bwMode="auto">
            <a:xfrm>
              <a:off x="2434" y="1330"/>
              <a:ext cx="15" cy="9"/>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80" name="Rectangle 580"/>
            <p:cNvSpPr>
              <a:spLocks noChangeArrowheads="1"/>
            </p:cNvSpPr>
            <p:nvPr/>
          </p:nvSpPr>
          <p:spPr bwMode="auto">
            <a:xfrm>
              <a:off x="2517" y="1315"/>
              <a:ext cx="15" cy="8"/>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81" name="Rectangle 581"/>
            <p:cNvSpPr>
              <a:spLocks noChangeArrowheads="1"/>
            </p:cNvSpPr>
            <p:nvPr/>
          </p:nvSpPr>
          <p:spPr bwMode="auto">
            <a:xfrm>
              <a:off x="2516" y="1330"/>
              <a:ext cx="15" cy="9"/>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82" name="Rectangle 582"/>
            <p:cNvSpPr>
              <a:spLocks noChangeArrowheads="1"/>
            </p:cNvSpPr>
            <p:nvPr/>
          </p:nvSpPr>
          <p:spPr bwMode="auto">
            <a:xfrm>
              <a:off x="2462" y="1315"/>
              <a:ext cx="16" cy="8"/>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83" name="Rectangle 583"/>
            <p:cNvSpPr>
              <a:spLocks noChangeArrowheads="1"/>
            </p:cNvSpPr>
            <p:nvPr/>
          </p:nvSpPr>
          <p:spPr bwMode="auto">
            <a:xfrm>
              <a:off x="2461" y="1330"/>
              <a:ext cx="15" cy="9"/>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84" name="Rectangle 584"/>
            <p:cNvSpPr>
              <a:spLocks noChangeArrowheads="1"/>
            </p:cNvSpPr>
            <p:nvPr/>
          </p:nvSpPr>
          <p:spPr bwMode="auto">
            <a:xfrm>
              <a:off x="2386" y="1271"/>
              <a:ext cx="16" cy="8"/>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85" name="Rectangle 585"/>
            <p:cNvSpPr>
              <a:spLocks noChangeArrowheads="1"/>
            </p:cNvSpPr>
            <p:nvPr/>
          </p:nvSpPr>
          <p:spPr bwMode="auto">
            <a:xfrm>
              <a:off x="2440" y="1271"/>
              <a:ext cx="16" cy="8"/>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86" name="Rectangle 586"/>
            <p:cNvSpPr>
              <a:spLocks noChangeArrowheads="1"/>
            </p:cNvSpPr>
            <p:nvPr/>
          </p:nvSpPr>
          <p:spPr bwMode="auto">
            <a:xfrm>
              <a:off x="2498" y="1271"/>
              <a:ext cx="15" cy="8"/>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87" name="Rectangle 587"/>
            <p:cNvSpPr>
              <a:spLocks noChangeArrowheads="1"/>
            </p:cNvSpPr>
            <p:nvPr/>
          </p:nvSpPr>
          <p:spPr bwMode="auto">
            <a:xfrm>
              <a:off x="2414" y="1271"/>
              <a:ext cx="16" cy="8"/>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88" name="Rectangle 588"/>
            <p:cNvSpPr>
              <a:spLocks noChangeArrowheads="1"/>
            </p:cNvSpPr>
            <p:nvPr/>
          </p:nvSpPr>
          <p:spPr bwMode="auto">
            <a:xfrm>
              <a:off x="2468" y="1271"/>
              <a:ext cx="16" cy="8"/>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89" name="Rectangle 589"/>
            <p:cNvSpPr>
              <a:spLocks noChangeArrowheads="1"/>
            </p:cNvSpPr>
            <p:nvPr/>
          </p:nvSpPr>
          <p:spPr bwMode="auto">
            <a:xfrm>
              <a:off x="1764" y="1259"/>
              <a:ext cx="37" cy="7"/>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90" name="Rectangle 590"/>
            <p:cNvSpPr>
              <a:spLocks noChangeArrowheads="1"/>
            </p:cNvSpPr>
            <p:nvPr/>
          </p:nvSpPr>
          <p:spPr bwMode="auto">
            <a:xfrm>
              <a:off x="2625" y="1218"/>
              <a:ext cx="17" cy="7"/>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91" name="Rectangle 591"/>
            <p:cNvSpPr>
              <a:spLocks noChangeArrowheads="1"/>
            </p:cNvSpPr>
            <p:nvPr/>
          </p:nvSpPr>
          <p:spPr bwMode="auto">
            <a:xfrm>
              <a:off x="2466" y="1200"/>
              <a:ext cx="17" cy="3"/>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92" name="Rectangle 592"/>
            <p:cNvSpPr>
              <a:spLocks noChangeArrowheads="1"/>
            </p:cNvSpPr>
            <p:nvPr/>
          </p:nvSpPr>
          <p:spPr bwMode="auto">
            <a:xfrm>
              <a:off x="2445" y="1180"/>
              <a:ext cx="16" cy="5"/>
            </a:xfrm>
            <a:prstGeom prst="rect">
              <a:avLst/>
            </a:prstGeom>
            <a:solidFill>
              <a:srgbClr val="00335B"/>
            </a:solidFill>
            <a:ln w="9525">
              <a:noFill/>
              <a:miter lim="800000"/>
              <a:headEnd/>
              <a:tailEnd/>
            </a:ln>
          </p:spPr>
          <p:txBody>
            <a:bodyPr/>
            <a:lstStyle/>
            <a:p>
              <a:pPr fontAlgn="base">
                <a:spcBef>
                  <a:spcPct val="0"/>
                </a:spcBef>
                <a:spcAft>
                  <a:spcPct val="0"/>
                </a:spcAft>
              </a:pPr>
              <a:endParaRPr lang="fr-FR" dirty="0">
                <a:solidFill>
                  <a:prstClr val="black"/>
                </a:solidFill>
                <a:latin typeface="Futura Bk"/>
              </a:endParaRPr>
            </a:p>
          </p:txBody>
        </p:sp>
        <p:sp>
          <p:nvSpPr>
            <p:cNvPr id="93" name="Freeform 593"/>
            <p:cNvSpPr>
              <a:spLocks/>
            </p:cNvSpPr>
            <p:nvPr/>
          </p:nvSpPr>
          <p:spPr bwMode="auto">
            <a:xfrm>
              <a:off x="1929" y="1383"/>
              <a:ext cx="714" cy="135"/>
            </a:xfrm>
            <a:custGeom>
              <a:avLst/>
              <a:gdLst>
                <a:gd name="T0" fmla="*/ 0 w 1429"/>
                <a:gd name="T1" fmla="*/ 1 h 268"/>
                <a:gd name="T2" fmla="*/ 0 w 1429"/>
                <a:gd name="T3" fmla="*/ 1 h 268"/>
                <a:gd name="T4" fmla="*/ 0 w 1429"/>
                <a:gd name="T5" fmla="*/ 1 h 268"/>
                <a:gd name="T6" fmla="*/ 0 w 1429"/>
                <a:gd name="T7" fmla="*/ 1 h 268"/>
                <a:gd name="T8" fmla="*/ 0 w 1429"/>
                <a:gd name="T9" fmla="*/ 1 h 268"/>
                <a:gd name="T10" fmla="*/ 0 w 1429"/>
                <a:gd name="T11" fmla="*/ 1 h 268"/>
                <a:gd name="T12" fmla="*/ 1 w 1429"/>
                <a:gd name="T13" fmla="*/ 1 h 268"/>
                <a:gd name="T14" fmla="*/ 1 w 1429"/>
                <a:gd name="T15" fmla="*/ 1 h 268"/>
                <a:gd name="T16" fmla="*/ 1 w 1429"/>
                <a:gd name="T17" fmla="*/ 1 h 268"/>
                <a:gd name="T18" fmla="*/ 1 w 1429"/>
                <a:gd name="T19" fmla="*/ 1 h 268"/>
                <a:gd name="T20" fmla="*/ 1 w 1429"/>
                <a:gd name="T21" fmla="*/ 1 h 268"/>
                <a:gd name="T22" fmla="*/ 1 w 1429"/>
                <a:gd name="T23" fmla="*/ 1 h 268"/>
                <a:gd name="T24" fmla="*/ 2 w 1429"/>
                <a:gd name="T25" fmla="*/ 1 h 268"/>
                <a:gd name="T26" fmla="*/ 2 w 1429"/>
                <a:gd name="T27" fmla="*/ 1 h 268"/>
                <a:gd name="T28" fmla="*/ 2 w 1429"/>
                <a:gd name="T29" fmla="*/ 1 h 268"/>
                <a:gd name="T30" fmla="*/ 2 w 1429"/>
                <a:gd name="T31" fmla="*/ 1 h 268"/>
                <a:gd name="T32" fmla="*/ 2 w 1429"/>
                <a:gd name="T33" fmla="*/ 1 h 268"/>
                <a:gd name="T34" fmla="*/ 2 w 1429"/>
                <a:gd name="T35" fmla="*/ 1 h 268"/>
                <a:gd name="T36" fmla="*/ 2 w 1429"/>
                <a:gd name="T37" fmla="*/ 1 h 268"/>
                <a:gd name="T38" fmla="*/ 2 w 1429"/>
                <a:gd name="T39" fmla="*/ 1 h 268"/>
                <a:gd name="T40" fmla="*/ 2 w 1429"/>
                <a:gd name="T41" fmla="*/ 1 h 268"/>
                <a:gd name="T42" fmla="*/ 2 w 1429"/>
                <a:gd name="T43" fmla="*/ 1 h 268"/>
                <a:gd name="T44" fmla="*/ 1 w 1429"/>
                <a:gd name="T45" fmla="*/ 1 h 268"/>
                <a:gd name="T46" fmla="*/ 1 w 1429"/>
                <a:gd name="T47" fmla="*/ 1 h 268"/>
                <a:gd name="T48" fmla="*/ 1 w 1429"/>
                <a:gd name="T49" fmla="*/ 1 h 268"/>
                <a:gd name="T50" fmla="*/ 1 w 1429"/>
                <a:gd name="T51" fmla="*/ 1 h 268"/>
                <a:gd name="T52" fmla="*/ 1 w 1429"/>
                <a:gd name="T53" fmla="*/ 1 h 268"/>
                <a:gd name="T54" fmla="*/ 1 w 1429"/>
                <a:gd name="T55" fmla="*/ 1 h 268"/>
                <a:gd name="T56" fmla="*/ 0 w 1429"/>
                <a:gd name="T57" fmla="*/ 1 h 268"/>
                <a:gd name="T58" fmla="*/ 0 w 1429"/>
                <a:gd name="T59" fmla="*/ 1 h 268"/>
                <a:gd name="T60" fmla="*/ 0 w 1429"/>
                <a:gd name="T61" fmla="*/ 1 h 268"/>
                <a:gd name="T62" fmla="*/ 0 w 1429"/>
                <a:gd name="T63" fmla="*/ 1 h 268"/>
                <a:gd name="T64" fmla="*/ 0 w 1429"/>
                <a:gd name="T65" fmla="*/ 1 h 268"/>
                <a:gd name="T66" fmla="*/ 0 w 1429"/>
                <a:gd name="T67" fmla="*/ 1 h 2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429"/>
                <a:gd name="T103" fmla="*/ 0 h 268"/>
                <a:gd name="T104" fmla="*/ 1429 w 1429"/>
                <a:gd name="T105" fmla="*/ 268 h 26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429" h="268">
                  <a:moveTo>
                    <a:pt x="0" y="256"/>
                  </a:moveTo>
                  <a:lnTo>
                    <a:pt x="42" y="250"/>
                  </a:lnTo>
                  <a:lnTo>
                    <a:pt x="84" y="244"/>
                  </a:lnTo>
                  <a:lnTo>
                    <a:pt x="126" y="238"/>
                  </a:lnTo>
                  <a:lnTo>
                    <a:pt x="169" y="233"/>
                  </a:lnTo>
                  <a:lnTo>
                    <a:pt x="211" y="227"/>
                  </a:lnTo>
                  <a:lnTo>
                    <a:pt x="254" y="221"/>
                  </a:lnTo>
                  <a:lnTo>
                    <a:pt x="296" y="215"/>
                  </a:lnTo>
                  <a:lnTo>
                    <a:pt x="340" y="210"/>
                  </a:lnTo>
                  <a:lnTo>
                    <a:pt x="383" y="204"/>
                  </a:lnTo>
                  <a:lnTo>
                    <a:pt x="425" y="198"/>
                  </a:lnTo>
                  <a:lnTo>
                    <a:pt x="469" y="191"/>
                  </a:lnTo>
                  <a:lnTo>
                    <a:pt x="512" y="185"/>
                  </a:lnTo>
                  <a:lnTo>
                    <a:pt x="556" y="180"/>
                  </a:lnTo>
                  <a:lnTo>
                    <a:pt x="598" y="174"/>
                  </a:lnTo>
                  <a:lnTo>
                    <a:pt x="641" y="167"/>
                  </a:lnTo>
                  <a:lnTo>
                    <a:pt x="684" y="161"/>
                  </a:lnTo>
                  <a:lnTo>
                    <a:pt x="726" y="154"/>
                  </a:lnTo>
                  <a:lnTo>
                    <a:pt x="768" y="149"/>
                  </a:lnTo>
                  <a:lnTo>
                    <a:pt x="810" y="142"/>
                  </a:lnTo>
                  <a:lnTo>
                    <a:pt x="852" y="136"/>
                  </a:lnTo>
                  <a:lnTo>
                    <a:pt x="893" y="129"/>
                  </a:lnTo>
                  <a:lnTo>
                    <a:pt x="934" y="122"/>
                  </a:lnTo>
                  <a:lnTo>
                    <a:pt x="975" y="115"/>
                  </a:lnTo>
                  <a:lnTo>
                    <a:pt x="1014" y="108"/>
                  </a:lnTo>
                  <a:lnTo>
                    <a:pt x="1055" y="101"/>
                  </a:lnTo>
                  <a:lnTo>
                    <a:pt x="1094" y="94"/>
                  </a:lnTo>
                  <a:lnTo>
                    <a:pt x="1133" y="88"/>
                  </a:lnTo>
                  <a:lnTo>
                    <a:pt x="1171" y="81"/>
                  </a:lnTo>
                  <a:lnTo>
                    <a:pt x="1208" y="74"/>
                  </a:lnTo>
                  <a:lnTo>
                    <a:pt x="1245" y="66"/>
                  </a:lnTo>
                  <a:lnTo>
                    <a:pt x="1281" y="59"/>
                  </a:lnTo>
                  <a:lnTo>
                    <a:pt x="1317" y="51"/>
                  </a:lnTo>
                  <a:lnTo>
                    <a:pt x="1405" y="1"/>
                  </a:lnTo>
                  <a:lnTo>
                    <a:pt x="1429" y="0"/>
                  </a:lnTo>
                  <a:lnTo>
                    <a:pt x="1329" y="62"/>
                  </a:lnTo>
                  <a:lnTo>
                    <a:pt x="1294" y="70"/>
                  </a:lnTo>
                  <a:lnTo>
                    <a:pt x="1258" y="78"/>
                  </a:lnTo>
                  <a:lnTo>
                    <a:pt x="1222" y="86"/>
                  </a:lnTo>
                  <a:lnTo>
                    <a:pt x="1185" y="94"/>
                  </a:lnTo>
                  <a:lnTo>
                    <a:pt x="1147" y="102"/>
                  </a:lnTo>
                  <a:lnTo>
                    <a:pt x="1109" y="109"/>
                  </a:lnTo>
                  <a:lnTo>
                    <a:pt x="1071" y="117"/>
                  </a:lnTo>
                  <a:lnTo>
                    <a:pt x="1031" y="124"/>
                  </a:lnTo>
                  <a:lnTo>
                    <a:pt x="992" y="131"/>
                  </a:lnTo>
                  <a:lnTo>
                    <a:pt x="953" y="138"/>
                  </a:lnTo>
                  <a:lnTo>
                    <a:pt x="913" y="144"/>
                  </a:lnTo>
                  <a:lnTo>
                    <a:pt x="872" y="151"/>
                  </a:lnTo>
                  <a:lnTo>
                    <a:pt x="832" y="158"/>
                  </a:lnTo>
                  <a:lnTo>
                    <a:pt x="791" y="164"/>
                  </a:lnTo>
                  <a:lnTo>
                    <a:pt x="749" y="170"/>
                  </a:lnTo>
                  <a:lnTo>
                    <a:pt x="708" y="176"/>
                  </a:lnTo>
                  <a:lnTo>
                    <a:pt x="666" y="182"/>
                  </a:lnTo>
                  <a:lnTo>
                    <a:pt x="625" y="188"/>
                  </a:lnTo>
                  <a:lnTo>
                    <a:pt x="583" y="194"/>
                  </a:lnTo>
                  <a:lnTo>
                    <a:pt x="541" y="199"/>
                  </a:lnTo>
                  <a:lnTo>
                    <a:pt x="499" y="205"/>
                  </a:lnTo>
                  <a:lnTo>
                    <a:pt x="457" y="211"/>
                  </a:lnTo>
                  <a:lnTo>
                    <a:pt x="415" y="217"/>
                  </a:lnTo>
                  <a:lnTo>
                    <a:pt x="372" y="222"/>
                  </a:lnTo>
                  <a:lnTo>
                    <a:pt x="331" y="228"/>
                  </a:lnTo>
                  <a:lnTo>
                    <a:pt x="288" y="234"/>
                  </a:lnTo>
                  <a:lnTo>
                    <a:pt x="247" y="240"/>
                  </a:lnTo>
                  <a:lnTo>
                    <a:pt x="205" y="245"/>
                  </a:lnTo>
                  <a:lnTo>
                    <a:pt x="164" y="251"/>
                  </a:lnTo>
                  <a:lnTo>
                    <a:pt x="122" y="257"/>
                  </a:lnTo>
                  <a:lnTo>
                    <a:pt x="81" y="263"/>
                  </a:lnTo>
                  <a:lnTo>
                    <a:pt x="41" y="268"/>
                  </a:lnTo>
                  <a:lnTo>
                    <a:pt x="0" y="256"/>
                  </a:lnTo>
                  <a:close/>
                </a:path>
              </a:pathLst>
            </a:custGeom>
            <a:solidFill>
              <a:srgbClr val="D18E00"/>
            </a:solidFill>
            <a:ln w="9525">
              <a:noFill/>
              <a:round/>
              <a:headEnd/>
              <a:tailEnd/>
            </a:ln>
          </p:spPr>
          <p:txBody>
            <a:bodyPr/>
            <a:lstStyle/>
            <a:p>
              <a:pPr fontAlgn="base">
                <a:spcBef>
                  <a:spcPct val="0"/>
                </a:spcBef>
                <a:spcAft>
                  <a:spcPct val="0"/>
                </a:spcAft>
              </a:pPr>
              <a:endParaRPr lang="fr-FR" dirty="0">
                <a:solidFill>
                  <a:prstClr val="black"/>
                </a:solidFill>
                <a:latin typeface="Futura Bk"/>
              </a:endParaRPr>
            </a:p>
          </p:txBody>
        </p:sp>
      </p:grpSp>
      <p:grpSp>
        <p:nvGrpSpPr>
          <p:cNvPr id="94" name="Group 136"/>
          <p:cNvGrpSpPr/>
          <p:nvPr/>
        </p:nvGrpSpPr>
        <p:grpSpPr>
          <a:xfrm>
            <a:off x="2523332" y="4330495"/>
            <a:ext cx="648505" cy="287426"/>
            <a:chOff x="2570833" y="5828970"/>
            <a:chExt cx="503251" cy="305262"/>
          </a:xfrm>
        </p:grpSpPr>
        <p:pic>
          <p:nvPicPr>
            <p:cNvPr id="95" name="Picture 28"/>
            <p:cNvPicPr>
              <a:picLocks noChangeAspect="1" noChangeArrowheads="1"/>
            </p:cNvPicPr>
            <p:nvPr/>
          </p:nvPicPr>
          <p:blipFill>
            <a:blip r:embed="rId10" cstate="print">
              <a:clrChange>
                <a:clrFrom>
                  <a:srgbClr val="FFFFFF"/>
                </a:clrFrom>
                <a:clrTo>
                  <a:srgbClr val="FFFFFF">
                    <a:alpha val="0"/>
                  </a:srgbClr>
                </a:clrTo>
              </a:clrChange>
            </a:blip>
            <a:srcRect t="25752" r="14616" b="43532"/>
            <a:stretch>
              <a:fillRect/>
            </a:stretch>
          </p:blipFill>
          <p:spPr bwMode="auto">
            <a:xfrm>
              <a:off x="2748984" y="5904614"/>
              <a:ext cx="252400" cy="80687"/>
            </a:xfrm>
            <a:prstGeom prst="rect">
              <a:avLst/>
            </a:prstGeom>
            <a:noFill/>
            <a:ln w="3175" algn="ctr">
              <a:noFill/>
              <a:miter lim="800000"/>
              <a:headEnd/>
              <a:tailEnd/>
            </a:ln>
          </p:spPr>
        </p:pic>
        <p:pic>
          <p:nvPicPr>
            <p:cNvPr id="96" name="Picture 29"/>
            <p:cNvPicPr>
              <a:picLocks noChangeAspect="1" noChangeArrowheads="1"/>
            </p:cNvPicPr>
            <p:nvPr/>
          </p:nvPicPr>
          <p:blipFill>
            <a:blip r:embed="rId11" cstate="print"/>
            <a:srcRect/>
            <a:stretch>
              <a:fillRect/>
            </a:stretch>
          </p:blipFill>
          <p:spPr bwMode="auto">
            <a:xfrm>
              <a:off x="2570833" y="5938221"/>
              <a:ext cx="216491" cy="186083"/>
            </a:xfrm>
            <a:prstGeom prst="rect">
              <a:avLst/>
            </a:prstGeom>
            <a:noFill/>
            <a:ln w="3175">
              <a:noFill/>
              <a:miter lim="800000"/>
              <a:headEnd/>
              <a:tailEnd/>
            </a:ln>
          </p:spPr>
        </p:pic>
        <p:pic>
          <p:nvPicPr>
            <p:cNvPr id="97" name="Picture 27"/>
            <p:cNvPicPr>
              <a:picLocks noChangeAspect="1" noChangeArrowheads="1"/>
            </p:cNvPicPr>
            <p:nvPr/>
          </p:nvPicPr>
          <p:blipFill>
            <a:blip r:embed="rId10" cstate="print">
              <a:clrChange>
                <a:clrFrom>
                  <a:srgbClr val="FFFFFF"/>
                </a:clrFrom>
                <a:clrTo>
                  <a:srgbClr val="FFFFFF">
                    <a:alpha val="0"/>
                  </a:srgbClr>
                </a:clrTo>
              </a:clrChange>
            </a:blip>
            <a:srcRect t="55989"/>
            <a:stretch>
              <a:fillRect/>
            </a:stretch>
          </p:blipFill>
          <p:spPr bwMode="auto">
            <a:xfrm>
              <a:off x="2777450" y="6019254"/>
              <a:ext cx="296634" cy="114978"/>
            </a:xfrm>
            <a:prstGeom prst="rect">
              <a:avLst/>
            </a:prstGeom>
            <a:noFill/>
            <a:ln w="3175" algn="ctr">
              <a:noFill/>
              <a:miter lim="800000"/>
              <a:headEnd/>
              <a:tailEnd/>
            </a:ln>
          </p:spPr>
        </p:pic>
        <p:pic>
          <p:nvPicPr>
            <p:cNvPr id="98" name="Picture 203" descr="MCj03517980000[1]"/>
            <p:cNvPicPr>
              <a:picLocks noChangeAspect="1" noChangeArrowheads="1"/>
            </p:cNvPicPr>
            <p:nvPr/>
          </p:nvPicPr>
          <p:blipFill>
            <a:blip r:embed="rId8" cstate="print"/>
            <a:srcRect/>
            <a:stretch>
              <a:fillRect/>
            </a:stretch>
          </p:blipFill>
          <p:spPr bwMode="auto">
            <a:xfrm>
              <a:off x="2717759" y="5828970"/>
              <a:ext cx="69735" cy="96824"/>
            </a:xfrm>
            <a:prstGeom prst="rect">
              <a:avLst/>
            </a:prstGeom>
            <a:noFill/>
            <a:ln w="9525">
              <a:noFill/>
              <a:miter lim="800000"/>
              <a:headEnd/>
              <a:tailEnd/>
            </a:ln>
          </p:spPr>
        </p:pic>
      </p:grpSp>
      <p:sp>
        <p:nvSpPr>
          <p:cNvPr id="99" name="TextBox 98"/>
          <p:cNvSpPr txBox="1"/>
          <p:nvPr/>
        </p:nvSpPr>
        <p:spPr>
          <a:xfrm>
            <a:off x="2122734" y="4012142"/>
            <a:ext cx="3173506" cy="276999"/>
          </a:xfrm>
          <a:prstGeom prst="rect">
            <a:avLst/>
          </a:prstGeom>
          <a:noFill/>
        </p:spPr>
        <p:txBody>
          <a:bodyPr wrap="square" rtlCol="0" anchor="ctr">
            <a:spAutoFit/>
          </a:bodyPr>
          <a:lstStyle/>
          <a:p>
            <a:pPr algn="ctr" fontAlgn="base">
              <a:spcBef>
                <a:spcPct val="0"/>
              </a:spcBef>
              <a:spcAft>
                <a:spcPct val="0"/>
              </a:spcAft>
            </a:pPr>
            <a:r>
              <a:rPr lang="en-US" sz="1200" dirty="0" smtClean="0">
                <a:solidFill>
                  <a:prstClr val="black"/>
                </a:solidFill>
                <a:latin typeface="Futura Bk"/>
              </a:rPr>
              <a:t>Battery, Adapter, Powercord, some DIBs</a:t>
            </a:r>
          </a:p>
        </p:txBody>
      </p:sp>
      <p:sp>
        <p:nvSpPr>
          <p:cNvPr id="100" name="Round Diagonal Corner Rectangle 99"/>
          <p:cNvSpPr/>
          <p:nvPr/>
        </p:nvSpPr>
        <p:spPr>
          <a:xfrm>
            <a:off x="539681" y="3508768"/>
            <a:ext cx="1247887" cy="540572"/>
          </a:xfrm>
          <a:prstGeom prst="round2DiagRect">
            <a:avLst/>
          </a:prstGeom>
          <a:gradFill flip="none" rotWithShape="1">
            <a:gsLst>
              <a:gs pos="0">
                <a:srgbClr val="00A4E6"/>
              </a:gs>
              <a:gs pos="100000">
                <a:srgbClr val="1742DB"/>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tlCol="0" anchor="ctr"/>
          <a:lstStyle/>
          <a:p>
            <a:pPr algn="ctr" fontAlgn="base">
              <a:lnSpc>
                <a:spcPct val="85000"/>
              </a:lnSpc>
              <a:spcBef>
                <a:spcPct val="0"/>
              </a:spcBef>
              <a:spcAft>
                <a:spcPct val="0"/>
              </a:spcAft>
            </a:pPr>
            <a:r>
              <a:rPr lang="en-US" sz="2000" dirty="0" smtClean="0">
                <a:solidFill>
                  <a:prstClr val="white"/>
                </a:solidFill>
              </a:rPr>
              <a:t>Asia</a:t>
            </a:r>
            <a:br>
              <a:rPr lang="en-US" sz="2000" dirty="0" smtClean="0">
                <a:solidFill>
                  <a:prstClr val="white"/>
                </a:solidFill>
              </a:rPr>
            </a:br>
            <a:r>
              <a:rPr lang="en-US" sz="2000" dirty="0" smtClean="0">
                <a:solidFill>
                  <a:prstClr val="white"/>
                </a:solidFill>
              </a:rPr>
              <a:t>ODMs</a:t>
            </a:r>
          </a:p>
        </p:txBody>
      </p:sp>
      <p:grpSp>
        <p:nvGrpSpPr>
          <p:cNvPr id="101" name="Group 594"/>
          <p:cNvGrpSpPr>
            <a:grpSpLocks/>
          </p:cNvGrpSpPr>
          <p:nvPr/>
        </p:nvGrpSpPr>
        <p:grpSpPr bwMode="auto">
          <a:xfrm>
            <a:off x="2227447" y="2772159"/>
            <a:ext cx="580946" cy="372419"/>
            <a:chOff x="175" y="1693"/>
            <a:chExt cx="868" cy="788"/>
          </a:xfrm>
        </p:grpSpPr>
        <p:grpSp>
          <p:nvGrpSpPr>
            <p:cNvPr id="102" name="Group 595"/>
            <p:cNvGrpSpPr>
              <a:grpSpLocks/>
            </p:cNvGrpSpPr>
            <p:nvPr/>
          </p:nvGrpSpPr>
          <p:grpSpPr bwMode="auto">
            <a:xfrm>
              <a:off x="357" y="2008"/>
              <a:ext cx="684" cy="473"/>
              <a:chOff x="441" y="1063"/>
              <a:chExt cx="2151" cy="1454"/>
            </a:xfrm>
          </p:grpSpPr>
          <p:sp>
            <p:nvSpPr>
              <p:cNvPr id="112" name="Line 596"/>
              <p:cNvSpPr>
                <a:spLocks noChangeShapeType="1"/>
              </p:cNvSpPr>
              <p:nvPr/>
            </p:nvSpPr>
            <p:spPr bwMode="auto">
              <a:xfrm flipH="1" flipV="1">
                <a:off x="1725" y="1069"/>
                <a:ext cx="859" cy="286"/>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113" name="Group 597"/>
              <p:cNvGrpSpPr>
                <a:grpSpLocks/>
              </p:cNvGrpSpPr>
              <p:nvPr/>
            </p:nvGrpSpPr>
            <p:grpSpPr bwMode="auto">
              <a:xfrm>
                <a:off x="443" y="1063"/>
                <a:ext cx="2147" cy="1165"/>
                <a:chOff x="1614" y="2038"/>
                <a:chExt cx="2721" cy="1478"/>
              </a:xfrm>
            </p:grpSpPr>
            <p:sp>
              <p:nvSpPr>
                <p:cNvPr id="273" name="AutoShape 598"/>
                <p:cNvSpPr>
                  <a:spLocks noChangeArrowheads="1"/>
                </p:cNvSpPr>
                <p:nvPr/>
              </p:nvSpPr>
              <p:spPr bwMode="auto">
                <a:xfrm rot="16200000" flipH="1">
                  <a:off x="1693" y="1959"/>
                  <a:ext cx="1478" cy="1636"/>
                </a:xfrm>
                <a:prstGeom prst="parallelogram">
                  <a:avLst>
                    <a:gd name="adj" fmla="val 37546"/>
                  </a:avLst>
                </a:prstGeom>
                <a:solidFill>
                  <a:srgbClr val="FFCC99"/>
                </a:solidFill>
                <a:ln w="3175">
                  <a:solidFill>
                    <a:schemeClr val="tx1"/>
                  </a:solidFill>
                  <a:miter lim="800000"/>
                  <a:headEnd/>
                  <a:tailEnd/>
                </a:ln>
              </p:spPr>
              <p:txBody>
                <a:bodyPr wrap="none" anchor="ctr"/>
                <a:lstStyle/>
                <a:p>
                  <a:pPr fontAlgn="base">
                    <a:spcBef>
                      <a:spcPct val="0"/>
                    </a:spcBef>
                    <a:spcAft>
                      <a:spcPct val="0"/>
                    </a:spcAft>
                  </a:pPr>
                  <a:endParaRPr lang="fr-FR" dirty="0">
                    <a:solidFill>
                      <a:prstClr val="black"/>
                    </a:solidFill>
                    <a:latin typeface="Arial" charset="0"/>
                  </a:endParaRPr>
                </a:p>
              </p:txBody>
            </p:sp>
            <p:sp>
              <p:nvSpPr>
                <p:cNvPr id="274" name="AutoShape 599"/>
                <p:cNvSpPr>
                  <a:spLocks noChangeArrowheads="1"/>
                </p:cNvSpPr>
                <p:nvPr/>
              </p:nvSpPr>
              <p:spPr bwMode="auto">
                <a:xfrm rot="5400000">
                  <a:off x="3145" y="2139"/>
                  <a:ext cx="1291" cy="1089"/>
                </a:xfrm>
                <a:prstGeom prst="parallelogram">
                  <a:avLst>
                    <a:gd name="adj" fmla="val 33605"/>
                  </a:avLst>
                </a:prstGeom>
                <a:solidFill>
                  <a:srgbClr val="FFCC99"/>
                </a:solidFill>
                <a:ln w="3175">
                  <a:solidFill>
                    <a:schemeClr val="tx1"/>
                  </a:solidFill>
                  <a:miter lim="800000"/>
                  <a:headEnd/>
                  <a:tailEnd/>
                </a:ln>
              </p:spPr>
              <p:txBody>
                <a:bodyPr wrap="none" anchor="ctr"/>
                <a:lstStyle/>
                <a:p>
                  <a:pPr fontAlgn="base">
                    <a:spcBef>
                      <a:spcPct val="0"/>
                    </a:spcBef>
                    <a:spcAft>
                      <a:spcPct val="0"/>
                    </a:spcAft>
                  </a:pPr>
                  <a:endParaRPr lang="fr-FR" dirty="0">
                    <a:solidFill>
                      <a:prstClr val="black"/>
                    </a:solidFill>
                    <a:latin typeface="Arial" charset="0"/>
                  </a:endParaRPr>
                </a:p>
              </p:txBody>
            </p:sp>
          </p:grpSp>
          <p:sp>
            <p:nvSpPr>
              <p:cNvPr id="114" name="Freeform 600"/>
              <p:cNvSpPr>
                <a:spLocks/>
              </p:cNvSpPr>
              <p:nvPr/>
            </p:nvSpPr>
            <p:spPr bwMode="auto">
              <a:xfrm>
                <a:off x="444" y="1426"/>
                <a:ext cx="2148" cy="726"/>
              </a:xfrm>
              <a:custGeom>
                <a:avLst/>
                <a:gdLst>
                  <a:gd name="T0" fmla="*/ 0 w 2722"/>
                  <a:gd name="T1" fmla="*/ 114 h 908"/>
                  <a:gd name="T2" fmla="*/ 208 w 2722"/>
                  <a:gd name="T3" fmla="*/ 189 h 908"/>
                  <a:gd name="T4" fmla="*/ 518 w 2722"/>
                  <a:gd name="T5" fmla="*/ 75 h 908"/>
                  <a:gd name="T6" fmla="*/ 312 w 2722"/>
                  <a:gd name="T7" fmla="*/ 0 h 908"/>
                  <a:gd name="T8" fmla="*/ 0 w 2722"/>
                  <a:gd name="T9" fmla="*/ 114 h 908"/>
                  <a:gd name="T10" fmla="*/ 0 60000 65536"/>
                  <a:gd name="T11" fmla="*/ 0 60000 65536"/>
                  <a:gd name="T12" fmla="*/ 0 60000 65536"/>
                  <a:gd name="T13" fmla="*/ 0 60000 65536"/>
                  <a:gd name="T14" fmla="*/ 0 60000 65536"/>
                  <a:gd name="T15" fmla="*/ 0 w 2722"/>
                  <a:gd name="T16" fmla="*/ 0 h 908"/>
                  <a:gd name="T17" fmla="*/ 2722 w 2722"/>
                  <a:gd name="T18" fmla="*/ 908 h 908"/>
                </a:gdLst>
                <a:ahLst/>
                <a:cxnLst>
                  <a:cxn ang="T10">
                    <a:pos x="T0" y="T1"/>
                  </a:cxn>
                  <a:cxn ang="T11">
                    <a:pos x="T2" y="T3"/>
                  </a:cxn>
                  <a:cxn ang="T12">
                    <a:pos x="T4" y="T5"/>
                  </a:cxn>
                  <a:cxn ang="T13">
                    <a:pos x="T6" y="T7"/>
                  </a:cxn>
                  <a:cxn ang="T14">
                    <a:pos x="T8" y="T9"/>
                  </a:cxn>
                </a:cxnLst>
                <a:rect l="T15" t="T16" r="T17" b="T18"/>
                <a:pathLst>
                  <a:path w="2722" h="908">
                    <a:moveTo>
                      <a:pt x="0" y="543"/>
                    </a:moveTo>
                    <a:lnTo>
                      <a:pt x="1090" y="908"/>
                    </a:lnTo>
                    <a:lnTo>
                      <a:pt x="2722" y="360"/>
                    </a:lnTo>
                    <a:lnTo>
                      <a:pt x="1637" y="0"/>
                    </a:lnTo>
                    <a:lnTo>
                      <a:pt x="0" y="543"/>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115" name="Group 601"/>
              <p:cNvGrpSpPr>
                <a:grpSpLocks/>
              </p:cNvGrpSpPr>
              <p:nvPr/>
            </p:nvGrpSpPr>
            <p:grpSpPr bwMode="auto">
              <a:xfrm>
                <a:off x="582" y="1465"/>
                <a:ext cx="1882" cy="797"/>
                <a:chOff x="138" y="1883"/>
                <a:chExt cx="2385" cy="1013"/>
              </a:xfrm>
            </p:grpSpPr>
            <p:sp>
              <p:nvSpPr>
                <p:cNvPr id="123" name="Freeform 602"/>
                <p:cNvSpPr>
                  <a:spLocks/>
                </p:cNvSpPr>
                <p:nvPr/>
              </p:nvSpPr>
              <p:spPr bwMode="auto">
                <a:xfrm flipH="1">
                  <a:off x="1513" y="1883"/>
                  <a:ext cx="995" cy="507"/>
                </a:xfrm>
                <a:custGeom>
                  <a:avLst/>
                  <a:gdLst>
                    <a:gd name="T0" fmla="*/ 2891 w 833"/>
                    <a:gd name="T1" fmla="*/ 64 h 428"/>
                    <a:gd name="T2" fmla="*/ 2723 w 833"/>
                    <a:gd name="T3" fmla="*/ 0 h 428"/>
                    <a:gd name="T4" fmla="*/ 0 w 833"/>
                    <a:gd name="T5" fmla="*/ 911 h 428"/>
                    <a:gd name="T6" fmla="*/ 1447 w 833"/>
                    <a:gd name="T7" fmla="*/ 1401 h 428"/>
                    <a:gd name="T8" fmla="*/ 2876 w 833"/>
                    <a:gd name="T9" fmla="*/ 1023 h 428"/>
                    <a:gd name="T10" fmla="*/ 2891 w 833"/>
                    <a:gd name="T11" fmla="*/ 64 h 428"/>
                    <a:gd name="T12" fmla="*/ 0 60000 65536"/>
                    <a:gd name="T13" fmla="*/ 0 60000 65536"/>
                    <a:gd name="T14" fmla="*/ 0 60000 65536"/>
                    <a:gd name="T15" fmla="*/ 0 60000 65536"/>
                    <a:gd name="T16" fmla="*/ 0 60000 65536"/>
                    <a:gd name="T17" fmla="*/ 0 60000 65536"/>
                    <a:gd name="T18" fmla="*/ 0 w 833"/>
                    <a:gd name="T19" fmla="*/ 0 h 428"/>
                    <a:gd name="T20" fmla="*/ 833 w 833"/>
                    <a:gd name="T21" fmla="*/ 428 h 428"/>
                  </a:gdLst>
                  <a:ahLst/>
                  <a:cxnLst>
                    <a:cxn ang="T12">
                      <a:pos x="T0" y="T1"/>
                    </a:cxn>
                    <a:cxn ang="T13">
                      <a:pos x="T2" y="T3"/>
                    </a:cxn>
                    <a:cxn ang="T14">
                      <a:pos x="T4" y="T5"/>
                    </a:cxn>
                    <a:cxn ang="T15">
                      <a:pos x="T6" y="T7"/>
                    </a:cxn>
                    <a:cxn ang="T16">
                      <a:pos x="T8" y="T9"/>
                    </a:cxn>
                    <a:cxn ang="T17">
                      <a:pos x="T10" y="T11"/>
                    </a:cxn>
                  </a:cxnLst>
                  <a:rect l="T18" t="T19" r="T20" b="T21"/>
                  <a:pathLst>
                    <a:path w="833" h="428">
                      <a:moveTo>
                        <a:pt x="833" y="20"/>
                      </a:moveTo>
                      <a:lnTo>
                        <a:pt x="785" y="0"/>
                      </a:lnTo>
                      <a:lnTo>
                        <a:pt x="0" y="279"/>
                      </a:lnTo>
                      <a:lnTo>
                        <a:pt x="417" y="428"/>
                      </a:lnTo>
                      <a:lnTo>
                        <a:pt x="829" y="312"/>
                      </a:lnTo>
                      <a:lnTo>
                        <a:pt x="833" y="20"/>
                      </a:lnTo>
                      <a:close/>
                    </a:path>
                  </a:pathLst>
                </a:custGeom>
                <a:solidFill>
                  <a:schemeClr val="bg1"/>
                </a:solidFill>
                <a:ln w="3175">
                  <a:no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124" name="Group 603"/>
                <p:cNvGrpSpPr>
                  <a:grpSpLocks/>
                </p:cNvGrpSpPr>
                <p:nvPr/>
              </p:nvGrpSpPr>
              <p:grpSpPr bwMode="auto">
                <a:xfrm flipH="1">
                  <a:off x="1450" y="1888"/>
                  <a:ext cx="995" cy="560"/>
                  <a:chOff x="574" y="2289"/>
                  <a:chExt cx="833" cy="488"/>
                </a:xfrm>
              </p:grpSpPr>
              <p:grpSp>
                <p:nvGrpSpPr>
                  <p:cNvPr id="261" name="Group 604"/>
                  <p:cNvGrpSpPr>
                    <a:grpSpLocks/>
                  </p:cNvGrpSpPr>
                  <p:nvPr/>
                </p:nvGrpSpPr>
                <p:grpSpPr bwMode="auto">
                  <a:xfrm>
                    <a:off x="574" y="2312"/>
                    <a:ext cx="833" cy="465"/>
                    <a:chOff x="2544" y="1730"/>
                    <a:chExt cx="833" cy="465"/>
                  </a:xfrm>
                </p:grpSpPr>
                <p:grpSp>
                  <p:nvGrpSpPr>
                    <p:cNvPr id="263" name="Group 605"/>
                    <p:cNvGrpSpPr>
                      <a:grpSpLocks/>
                    </p:cNvGrpSpPr>
                    <p:nvPr/>
                  </p:nvGrpSpPr>
                  <p:grpSpPr bwMode="auto">
                    <a:xfrm>
                      <a:off x="2930" y="1730"/>
                      <a:ext cx="447" cy="465"/>
                      <a:chOff x="2930" y="1730"/>
                      <a:chExt cx="447" cy="465"/>
                    </a:xfrm>
                  </p:grpSpPr>
                  <p:sp>
                    <p:nvSpPr>
                      <p:cNvPr id="267" name="Freeform 606"/>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268" name="Group 607"/>
                      <p:cNvGrpSpPr>
                        <a:grpSpLocks/>
                      </p:cNvGrpSpPr>
                      <p:nvPr/>
                    </p:nvGrpSpPr>
                    <p:grpSpPr bwMode="auto">
                      <a:xfrm>
                        <a:off x="2958" y="1769"/>
                        <a:ext cx="341" cy="393"/>
                        <a:chOff x="2958" y="1769"/>
                        <a:chExt cx="341" cy="393"/>
                      </a:xfrm>
                    </p:grpSpPr>
                    <p:sp>
                      <p:nvSpPr>
                        <p:cNvPr id="270" name="Line 608"/>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71" name="Line 609"/>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72" name="Line 610"/>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269" name="Freeform 611"/>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264" name="Group 612"/>
                    <p:cNvGrpSpPr>
                      <a:grpSpLocks/>
                    </p:cNvGrpSpPr>
                    <p:nvPr/>
                  </p:nvGrpSpPr>
                  <p:grpSpPr bwMode="auto">
                    <a:xfrm>
                      <a:off x="2544" y="1989"/>
                      <a:ext cx="108" cy="62"/>
                      <a:chOff x="2544" y="1989"/>
                      <a:chExt cx="108" cy="62"/>
                    </a:xfrm>
                  </p:grpSpPr>
                  <p:sp>
                    <p:nvSpPr>
                      <p:cNvPr id="265" name="Freeform 613"/>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66" name="Freeform 614"/>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262" name="Line 615"/>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25" name="Group 616"/>
                <p:cNvGrpSpPr>
                  <a:grpSpLocks/>
                </p:cNvGrpSpPr>
                <p:nvPr/>
              </p:nvGrpSpPr>
              <p:grpSpPr bwMode="auto">
                <a:xfrm flipH="1">
                  <a:off x="1327" y="1930"/>
                  <a:ext cx="995" cy="559"/>
                  <a:chOff x="574" y="2289"/>
                  <a:chExt cx="833" cy="488"/>
                </a:xfrm>
              </p:grpSpPr>
              <p:grpSp>
                <p:nvGrpSpPr>
                  <p:cNvPr id="249" name="Group 617"/>
                  <p:cNvGrpSpPr>
                    <a:grpSpLocks/>
                  </p:cNvGrpSpPr>
                  <p:nvPr/>
                </p:nvGrpSpPr>
                <p:grpSpPr bwMode="auto">
                  <a:xfrm>
                    <a:off x="574" y="2312"/>
                    <a:ext cx="833" cy="465"/>
                    <a:chOff x="2544" y="1730"/>
                    <a:chExt cx="833" cy="465"/>
                  </a:xfrm>
                </p:grpSpPr>
                <p:grpSp>
                  <p:nvGrpSpPr>
                    <p:cNvPr id="251" name="Group 618"/>
                    <p:cNvGrpSpPr>
                      <a:grpSpLocks/>
                    </p:cNvGrpSpPr>
                    <p:nvPr/>
                  </p:nvGrpSpPr>
                  <p:grpSpPr bwMode="auto">
                    <a:xfrm>
                      <a:off x="2930" y="1730"/>
                      <a:ext cx="447" cy="465"/>
                      <a:chOff x="2930" y="1730"/>
                      <a:chExt cx="447" cy="465"/>
                    </a:xfrm>
                  </p:grpSpPr>
                  <p:sp>
                    <p:nvSpPr>
                      <p:cNvPr id="255" name="Freeform 619"/>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256" name="Group 620"/>
                      <p:cNvGrpSpPr>
                        <a:grpSpLocks/>
                      </p:cNvGrpSpPr>
                      <p:nvPr/>
                    </p:nvGrpSpPr>
                    <p:grpSpPr bwMode="auto">
                      <a:xfrm>
                        <a:off x="2958" y="1769"/>
                        <a:ext cx="341" cy="393"/>
                        <a:chOff x="2958" y="1769"/>
                        <a:chExt cx="341" cy="393"/>
                      </a:xfrm>
                    </p:grpSpPr>
                    <p:sp>
                      <p:nvSpPr>
                        <p:cNvPr id="258" name="Line 621"/>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59" name="Line 622"/>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60" name="Line 623"/>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257" name="Freeform 624"/>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252" name="Group 625"/>
                    <p:cNvGrpSpPr>
                      <a:grpSpLocks/>
                    </p:cNvGrpSpPr>
                    <p:nvPr/>
                  </p:nvGrpSpPr>
                  <p:grpSpPr bwMode="auto">
                    <a:xfrm>
                      <a:off x="2544" y="1989"/>
                      <a:ext cx="108" cy="62"/>
                      <a:chOff x="2544" y="1989"/>
                      <a:chExt cx="108" cy="62"/>
                    </a:xfrm>
                  </p:grpSpPr>
                  <p:sp>
                    <p:nvSpPr>
                      <p:cNvPr id="253" name="Freeform 626"/>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54" name="Freeform 627"/>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250" name="Line 628"/>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26" name="Group 629"/>
                <p:cNvGrpSpPr>
                  <a:grpSpLocks/>
                </p:cNvGrpSpPr>
                <p:nvPr/>
              </p:nvGrpSpPr>
              <p:grpSpPr bwMode="auto">
                <a:xfrm flipH="1">
                  <a:off x="1209" y="1969"/>
                  <a:ext cx="993" cy="559"/>
                  <a:chOff x="574" y="2289"/>
                  <a:chExt cx="833" cy="488"/>
                </a:xfrm>
              </p:grpSpPr>
              <p:grpSp>
                <p:nvGrpSpPr>
                  <p:cNvPr id="237" name="Group 630"/>
                  <p:cNvGrpSpPr>
                    <a:grpSpLocks/>
                  </p:cNvGrpSpPr>
                  <p:nvPr/>
                </p:nvGrpSpPr>
                <p:grpSpPr bwMode="auto">
                  <a:xfrm>
                    <a:off x="574" y="2312"/>
                    <a:ext cx="833" cy="465"/>
                    <a:chOff x="2544" y="1730"/>
                    <a:chExt cx="833" cy="465"/>
                  </a:xfrm>
                </p:grpSpPr>
                <p:grpSp>
                  <p:nvGrpSpPr>
                    <p:cNvPr id="239" name="Group 631"/>
                    <p:cNvGrpSpPr>
                      <a:grpSpLocks/>
                    </p:cNvGrpSpPr>
                    <p:nvPr/>
                  </p:nvGrpSpPr>
                  <p:grpSpPr bwMode="auto">
                    <a:xfrm>
                      <a:off x="2930" y="1730"/>
                      <a:ext cx="447" cy="465"/>
                      <a:chOff x="2930" y="1730"/>
                      <a:chExt cx="447" cy="465"/>
                    </a:xfrm>
                  </p:grpSpPr>
                  <p:sp>
                    <p:nvSpPr>
                      <p:cNvPr id="243" name="Freeform 632"/>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244" name="Group 633"/>
                      <p:cNvGrpSpPr>
                        <a:grpSpLocks/>
                      </p:cNvGrpSpPr>
                      <p:nvPr/>
                    </p:nvGrpSpPr>
                    <p:grpSpPr bwMode="auto">
                      <a:xfrm>
                        <a:off x="2958" y="1769"/>
                        <a:ext cx="341" cy="393"/>
                        <a:chOff x="2958" y="1769"/>
                        <a:chExt cx="341" cy="393"/>
                      </a:xfrm>
                    </p:grpSpPr>
                    <p:sp>
                      <p:nvSpPr>
                        <p:cNvPr id="246" name="Line 634"/>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47" name="Line 635"/>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48" name="Line 636"/>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245" name="Freeform 637"/>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240" name="Group 638"/>
                    <p:cNvGrpSpPr>
                      <a:grpSpLocks/>
                    </p:cNvGrpSpPr>
                    <p:nvPr/>
                  </p:nvGrpSpPr>
                  <p:grpSpPr bwMode="auto">
                    <a:xfrm>
                      <a:off x="2544" y="1989"/>
                      <a:ext cx="108" cy="62"/>
                      <a:chOff x="2544" y="1989"/>
                      <a:chExt cx="108" cy="62"/>
                    </a:xfrm>
                  </p:grpSpPr>
                  <p:sp>
                    <p:nvSpPr>
                      <p:cNvPr id="241" name="Freeform 639"/>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42" name="Freeform 640"/>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238" name="Line 641"/>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27" name="Group 642"/>
                <p:cNvGrpSpPr>
                  <a:grpSpLocks/>
                </p:cNvGrpSpPr>
                <p:nvPr/>
              </p:nvGrpSpPr>
              <p:grpSpPr bwMode="auto">
                <a:xfrm flipH="1">
                  <a:off x="1085" y="2011"/>
                  <a:ext cx="995" cy="559"/>
                  <a:chOff x="574" y="2289"/>
                  <a:chExt cx="833" cy="488"/>
                </a:xfrm>
              </p:grpSpPr>
              <p:grpSp>
                <p:nvGrpSpPr>
                  <p:cNvPr id="225" name="Group 643"/>
                  <p:cNvGrpSpPr>
                    <a:grpSpLocks/>
                  </p:cNvGrpSpPr>
                  <p:nvPr/>
                </p:nvGrpSpPr>
                <p:grpSpPr bwMode="auto">
                  <a:xfrm>
                    <a:off x="574" y="2312"/>
                    <a:ext cx="833" cy="465"/>
                    <a:chOff x="2544" y="1730"/>
                    <a:chExt cx="833" cy="465"/>
                  </a:xfrm>
                </p:grpSpPr>
                <p:grpSp>
                  <p:nvGrpSpPr>
                    <p:cNvPr id="227" name="Group 644"/>
                    <p:cNvGrpSpPr>
                      <a:grpSpLocks/>
                    </p:cNvGrpSpPr>
                    <p:nvPr/>
                  </p:nvGrpSpPr>
                  <p:grpSpPr bwMode="auto">
                    <a:xfrm>
                      <a:off x="2930" y="1730"/>
                      <a:ext cx="447" cy="465"/>
                      <a:chOff x="2930" y="1730"/>
                      <a:chExt cx="447" cy="465"/>
                    </a:xfrm>
                  </p:grpSpPr>
                  <p:sp>
                    <p:nvSpPr>
                      <p:cNvPr id="231" name="Freeform 645"/>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232" name="Group 646"/>
                      <p:cNvGrpSpPr>
                        <a:grpSpLocks/>
                      </p:cNvGrpSpPr>
                      <p:nvPr/>
                    </p:nvGrpSpPr>
                    <p:grpSpPr bwMode="auto">
                      <a:xfrm>
                        <a:off x="2958" y="1769"/>
                        <a:ext cx="341" cy="393"/>
                        <a:chOff x="2958" y="1769"/>
                        <a:chExt cx="341" cy="393"/>
                      </a:xfrm>
                    </p:grpSpPr>
                    <p:sp>
                      <p:nvSpPr>
                        <p:cNvPr id="234" name="Line 647"/>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35" name="Line 648"/>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36" name="Line 649"/>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233" name="Freeform 650"/>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228" name="Group 651"/>
                    <p:cNvGrpSpPr>
                      <a:grpSpLocks/>
                    </p:cNvGrpSpPr>
                    <p:nvPr/>
                  </p:nvGrpSpPr>
                  <p:grpSpPr bwMode="auto">
                    <a:xfrm>
                      <a:off x="2544" y="1989"/>
                      <a:ext cx="108" cy="62"/>
                      <a:chOff x="2544" y="1989"/>
                      <a:chExt cx="108" cy="62"/>
                    </a:xfrm>
                  </p:grpSpPr>
                  <p:sp>
                    <p:nvSpPr>
                      <p:cNvPr id="229" name="Freeform 652"/>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30" name="Freeform 653"/>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226" name="Line 654"/>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28" name="Group 655"/>
                <p:cNvGrpSpPr>
                  <a:grpSpLocks/>
                </p:cNvGrpSpPr>
                <p:nvPr/>
              </p:nvGrpSpPr>
              <p:grpSpPr bwMode="auto">
                <a:xfrm flipH="1">
                  <a:off x="964" y="2051"/>
                  <a:ext cx="995" cy="559"/>
                  <a:chOff x="574" y="2289"/>
                  <a:chExt cx="833" cy="488"/>
                </a:xfrm>
              </p:grpSpPr>
              <p:grpSp>
                <p:nvGrpSpPr>
                  <p:cNvPr id="213" name="Group 656"/>
                  <p:cNvGrpSpPr>
                    <a:grpSpLocks/>
                  </p:cNvGrpSpPr>
                  <p:nvPr/>
                </p:nvGrpSpPr>
                <p:grpSpPr bwMode="auto">
                  <a:xfrm>
                    <a:off x="574" y="2312"/>
                    <a:ext cx="833" cy="465"/>
                    <a:chOff x="2544" y="1730"/>
                    <a:chExt cx="833" cy="465"/>
                  </a:xfrm>
                </p:grpSpPr>
                <p:grpSp>
                  <p:nvGrpSpPr>
                    <p:cNvPr id="215" name="Group 657"/>
                    <p:cNvGrpSpPr>
                      <a:grpSpLocks/>
                    </p:cNvGrpSpPr>
                    <p:nvPr/>
                  </p:nvGrpSpPr>
                  <p:grpSpPr bwMode="auto">
                    <a:xfrm>
                      <a:off x="2930" y="1730"/>
                      <a:ext cx="447" cy="465"/>
                      <a:chOff x="2930" y="1730"/>
                      <a:chExt cx="447" cy="465"/>
                    </a:xfrm>
                  </p:grpSpPr>
                  <p:sp>
                    <p:nvSpPr>
                      <p:cNvPr id="219" name="Freeform 658"/>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220" name="Group 659"/>
                      <p:cNvGrpSpPr>
                        <a:grpSpLocks/>
                      </p:cNvGrpSpPr>
                      <p:nvPr/>
                    </p:nvGrpSpPr>
                    <p:grpSpPr bwMode="auto">
                      <a:xfrm>
                        <a:off x="2958" y="1769"/>
                        <a:ext cx="341" cy="393"/>
                        <a:chOff x="2958" y="1769"/>
                        <a:chExt cx="341" cy="393"/>
                      </a:xfrm>
                    </p:grpSpPr>
                    <p:sp>
                      <p:nvSpPr>
                        <p:cNvPr id="222" name="Line 660"/>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23" name="Line 661"/>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24" name="Line 662"/>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221" name="Freeform 663"/>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216" name="Group 664"/>
                    <p:cNvGrpSpPr>
                      <a:grpSpLocks/>
                    </p:cNvGrpSpPr>
                    <p:nvPr/>
                  </p:nvGrpSpPr>
                  <p:grpSpPr bwMode="auto">
                    <a:xfrm>
                      <a:off x="2544" y="1989"/>
                      <a:ext cx="108" cy="62"/>
                      <a:chOff x="2544" y="1989"/>
                      <a:chExt cx="108" cy="62"/>
                    </a:xfrm>
                  </p:grpSpPr>
                  <p:sp>
                    <p:nvSpPr>
                      <p:cNvPr id="217" name="Freeform 665"/>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18" name="Freeform 666"/>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214" name="Line 667"/>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29" name="Group 668"/>
                <p:cNvGrpSpPr>
                  <a:grpSpLocks/>
                </p:cNvGrpSpPr>
                <p:nvPr/>
              </p:nvGrpSpPr>
              <p:grpSpPr bwMode="auto">
                <a:xfrm flipH="1">
                  <a:off x="841" y="2093"/>
                  <a:ext cx="995" cy="560"/>
                  <a:chOff x="574" y="2289"/>
                  <a:chExt cx="833" cy="488"/>
                </a:xfrm>
              </p:grpSpPr>
              <p:grpSp>
                <p:nvGrpSpPr>
                  <p:cNvPr id="201" name="Group 669"/>
                  <p:cNvGrpSpPr>
                    <a:grpSpLocks/>
                  </p:cNvGrpSpPr>
                  <p:nvPr/>
                </p:nvGrpSpPr>
                <p:grpSpPr bwMode="auto">
                  <a:xfrm>
                    <a:off x="574" y="2312"/>
                    <a:ext cx="833" cy="465"/>
                    <a:chOff x="2544" y="1730"/>
                    <a:chExt cx="833" cy="465"/>
                  </a:xfrm>
                </p:grpSpPr>
                <p:grpSp>
                  <p:nvGrpSpPr>
                    <p:cNvPr id="203" name="Group 670"/>
                    <p:cNvGrpSpPr>
                      <a:grpSpLocks/>
                    </p:cNvGrpSpPr>
                    <p:nvPr/>
                  </p:nvGrpSpPr>
                  <p:grpSpPr bwMode="auto">
                    <a:xfrm>
                      <a:off x="2930" y="1730"/>
                      <a:ext cx="447" cy="465"/>
                      <a:chOff x="2930" y="1730"/>
                      <a:chExt cx="447" cy="465"/>
                    </a:xfrm>
                  </p:grpSpPr>
                  <p:sp>
                    <p:nvSpPr>
                      <p:cNvPr id="207" name="Freeform 671"/>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208" name="Group 672"/>
                      <p:cNvGrpSpPr>
                        <a:grpSpLocks/>
                      </p:cNvGrpSpPr>
                      <p:nvPr/>
                    </p:nvGrpSpPr>
                    <p:grpSpPr bwMode="auto">
                      <a:xfrm>
                        <a:off x="2958" y="1769"/>
                        <a:ext cx="341" cy="393"/>
                        <a:chOff x="2958" y="1769"/>
                        <a:chExt cx="341" cy="393"/>
                      </a:xfrm>
                    </p:grpSpPr>
                    <p:sp>
                      <p:nvSpPr>
                        <p:cNvPr id="210" name="Line 673"/>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11" name="Line 674"/>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12" name="Line 675"/>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209" name="Freeform 676"/>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204" name="Group 677"/>
                    <p:cNvGrpSpPr>
                      <a:grpSpLocks/>
                    </p:cNvGrpSpPr>
                    <p:nvPr/>
                  </p:nvGrpSpPr>
                  <p:grpSpPr bwMode="auto">
                    <a:xfrm>
                      <a:off x="2544" y="1989"/>
                      <a:ext cx="108" cy="62"/>
                      <a:chOff x="2544" y="1989"/>
                      <a:chExt cx="108" cy="62"/>
                    </a:xfrm>
                  </p:grpSpPr>
                  <p:sp>
                    <p:nvSpPr>
                      <p:cNvPr id="205" name="Freeform 678"/>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06" name="Freeform 679"/>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202" name="Line 680"/>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130" name="Line 681"/>
                <p:cNvSpPr>
                  <a:spLocks noChangeShapeType="1"/>
                </p:cNvSpPr>
                <p:nvPr/>
              </p:nvSpPr>
              <p:spPr bwMode="auto">
                <a:xfrm flipH="1" flipV="1">
                  <a:off x="1567" y="1884"/>
                  <a:ext cx="956" cy="335"/>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31" name="Line 682"/>
                <p:cNvSpPr>
                  <a:spLocks noChangeShapeType="1"/>
                </p:cNvSpPr>
                <p:nvPr/>
              </p:nvSpPr>
              <p:spPr bwMode="auto">
                <a:xfrm flipV="1">
                  <a:off x="2451" y="2223"/>
                  <a:ext cx="62" cy="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32" name="Line 683"/>
                <p:cNvSpPr>
                  <a:spLocks noChangeShapeType="1"/>
                </p:cNvSpPr>
                <p:nvPr/>
              </p:nvSpPr>
              <p:spPr bwMode="auto">
                <a:xfrm flipH="1">
                  <a:off x="1570" y="1883"/>
                  <a:ext cx="0" cy="55"/>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133" name="Group 684"/>
                <p:cNvGrpSpPr>
                  <a:grpSpLocks/>
                </p:cNvGrpSpPr>
                <p:nvPr/>
              </p:nvGrpSpPr>
              <p:grpSpPr bwMode="auto">
                <a:xfrm flipH="1">
                  <a:off x="717" y="2134"/>
                  <a:ext cx="995" cy="560"/>
                  <a:chOff x="574" y="2289"/>
                  <a:chExt cx="833" cy="488"/>
                </a:xfrm>
              </p:grpSpPr>
              <p:grpSp>
                <p:nvGrpSpPr>
                  <p:cNvPr id="189" name="Group 685"/>
                  <p:cNvGrpSpPr>
                    <a:grpSpLocks/>
                  </p:cNvGrpSpPr>
                  <p:nvPr/>
                </p:nvGrpSpPr>
                <p:grpSpPr bwMode="auto">
                  <a:xfrm>
                    <a:off x="574" y="2312"/>
                    <a:ext cx="833" cy="465"/>
                    <a:chOff x="2544" y="1730"/>
                    <a:chExt cx="833" cy="465"/>
                  </a:xfrm>
                </p:grpSpPr>
                <p:grpSp>
                  <p:nvGrpSpPr>
                    <p:cNvPr id="191" name="Group 686"/>
                    <p:cNvGrpSpPr>
                      <a:grpSpLocks/>
                    </p:cNvGrpSpPr>
                    <p:nvPr/>
                  </p:nvGrpSpPr>
                  <p:grpSpPr bwMode="auto">
                    <a:xfrm>
                      <a:off x="2930" y="1730"/>
                      <a:ext cx="447" cy="465"/>
                      <a:chOff x="2930" y="1730"/>
                      <a:chExt cx="447" cy="465"/>
                    </a:xfrm>
                  </p:grpSpPr>
                  <p:sp>
                    <p:nvSpPr>
                      <p:cNvPr id="195" name="Freeform 687"/>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196" name="Group 688"/>
                      <p:cNvGrpSpPr>
                        <a:grpSpLocks/>
                      </p:cNvGrpSpPr>
                      <p:nvPr/>
                    </p:nvGrpSpPr>
                    <p:grpSpPr bwMode="auto">
                      <a:xfrm>
                        <a:off x="2958" y="1769"/>
                        <a:ext cx="341" cy="393"/>
                        <a:chOff x="2958" y="1769"/>
                        <a:chExt cx="341" cy="393"/>
                      </a:xfrm>
                    </p:grpSpPr>
                    <p:sp>
                      <p:nvSpPr>
                        <p:cNvPr id="198" name="Line 689"/>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99" name="Line 690"/>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200" name="Line 691"/>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197" name="Freeform 692"/>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92" name="Group 693"/>
                    <p:cNvGrpSpPr>
                      <a:grpSpLocks/>
                    </p:cNvGrpSpPr>
                    <p:nvPr/>
                  </p:nvGrpSpPr>
                  <p:grpSpPr bwMode="auto">
                    <a:xfrm>
                      <a:off x="2544" y="1989"/>
                      <a:ext cx="108" cy="62"/>
                      <a:chOff x="2544" y="1989"/>
                      <a:chExt cx="108" cy="62"/>
                    </a:xfrm>
                  </p:grpSpPr>
                  <p:sp>
                    <p:nvSpPr>
                      <p:cNvPr id="193" name="Freeform 694"/>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94" name="Freeform 695"/>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190" name="Line 696"/>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34" name="Group 697"/>
                <p:cNvGrpSpPr>
                  <a:grpSpLocks/>
                </p:cNvGrpSpPr>
                <p:nvPr/>
              </p:nvGrpSpPr>
              <p:grpSpPr bwMode="auto">
                <a:xfrm flipH="1">
                  <a:off x="594" y="2176"/>
                  <a:ext cx="995" cy="559"/>
                  <a:chOff x="574" y="2289"/>
                  <a:chExt cx="833" cy="488"/>
                </a:xfrm>
              </p:grpSpPr>
              <p:grpSp>
                <p:nvGrpSpPr>
                  <p:cNvPr id="177" name="Group 698"/>
                  <p:cNvGrpSpPr>
                    <a:grpSpLocks/>
                  </p:cNvGrpSpPr>
                  <p:nvPr/>
                </p:nvGrpSpPr>
                <p:grpSpPr bwMode="auto">
                  <a:xfrm>
                    <a:off x="574" y="2312"/>
                    <a:ext cx="833" cy="465"/>
                    <a:chOff x="2544" y="1730"/>
                    <a:chExt cx="833" cy="465"/>
                  </a:xfrm>
                </p:grpSpPr>
                <p:grpSp>
                  <p:nvGrpSpPr>
                    <p:cNvPr id="179" name="Group 699"/>
                    <p:cNvGrpSpPr>
                      <a:grpSpLocks/>
                    </p:cNvGrpSpPr>
                    <p:nvPr/>
                  </p:nvGrpSpPr>
                  <p:grpSpPr bwMode="auto">
                    <a:xfrm>
                      <a:off x="2930" y="1730"/>
                      <a:ext cx="447" cy="465"/>
                      <a:chOff x="2930" y="1730"/>
                      <a:chExt cx="447" cy="465"/>
                    </a:xfrm>
                  </p:grpSpPr>
                  <p:sp>
                    <p:nvSpPr>
                      <p:cNvPr id="183" name="Freeform 700"/>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184" name="Group 701"/>
                      <p:cNvGrpSpPr>
                        <a:grpSpLocks/>
                      </p:cNvGrpSpPr>
                      <p:nvPr/>
                    </p:nvGrpSpPr>
                    <p:grpSpPr bwMode="auto">
                      <a:xfrm>
                        <a:off x="2958" y="1769"/>
                        <a:ext cx="341" cy="393"/>
                        <a:chOff x="2958" y="1769"/>
                        <a:chExt cx="341" cy="393"/>
                      </a:xfrm>
                    </p:grpSpPr>
                    <p:sp>
                      <p:nvSpPr>
                        <p:cNvPr id="186" name="Line 702"/>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87" name="Line 703"/>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88" name="Line 704"/>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185" name="Freeform 705"/>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80" name="Group 706"/>
                    <p:cNvGrpSpPr>
                      <a:grpSpLocks/>
                    </p:cNvGrpSpPr>
                    <p:nvPr/>
                  </p:nvGrpSpPr>
                  <p:grpSpPr bwMode="auto">
                    <a:xfrm>
                      <a:off x="2544" y="1989"/>
                      <a:ext cx="108" cy="62"/>
                      <a:chOff x="2544" y="1989"/>
                      <a:chExt cx="108" cy="62"/>
                    </a:xfrm>
                  </p:grpSpPr>
                  <p:sp>
                    <p:nvSpPr>
                      <p:cNvPr id="181" name="Freeform 707"/>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82" name="Freeform 708"/>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178" name="Line 709"/>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35" name="Group 710"/>
                <p:cNvGrpSpPr>
                  <a:grpSpLocks/>
                </p:cNvGrpSpPr>
                <p:nvPr/>
              </p:nvGrpSpPr>
              <p:grpSpPr bwMode="auto">
                <a:xfrm flipH="1">
                  <a:off x="476" y="2215"/>
                  <a:ext cx="995" cy="559"/>
                  <a:chOff x="574" y="2289"/>
                  <a:chExt cx="833" cy="488"/>
                </a:xfrm>
              </p:grpSpPr>
              <p:grpSp>
                <p:nvGrpSpPr>
                  <p:cNvPr id="165" name="Group 711"/>
                  <p:cNvGrpSpPr>
                    <a:grpSpLocks/>
                  </p:cNvGrpSpPr>
                  <p:nvPr/>
                </p:nvGrpSpPr>
                <p:grpSpPr bwMode="auto">
                  <a:xfrm>
                    <a:off x="574" y="2312"/>
                    <a:ext cx="833" cy="465"/>
                    <a:chOff x="2544" y="1730"/>
                    <a:chExt cx="833" cy="465"/>
                  </a:xfrm>
                </p:grpSpPr>
                <p:grpSp>
                  <p:nvGrpSpPr>
                    <p:cNvPr id="167" name="Group 712"/>
                    <p:cNvGrpSpPr>
                      <a:grpSpLocks/>
                    </p:cNvGrpSpPr>
                    <p:nvPr/>
                  </p:nvGrpSpPr>
                  <p:grpSpPr bwMode="auto">
                    <a:xfrm>
                      <a:off x="2930" y="1730"/>
                      <a:ext cx="447" cy="465"/>
                      <a:chOff x="2930" y="1730"/>
                      <a:chExt cx="447" cy="465"/>
                    </a:xfrm>
                  </p:grpSpPr>
                  <p:sp>
                    <p:nvSpPr>
                      <p:cNvPr id="171" name="Freeform 713"/>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172" name="Group 714"/>
                      <p:cNvGrpSpPr>
                        <a:grpSpLocks/>
                      </p:cNvGrpSpPr>
                      <p:nvPr/>
                    </p:nvGrpSpPr>
                    <p:grpSpPr bwMode="auto">
                      <a:xfrm>
                        <a:off x="2958" y="1769"/>
                        <a:ext cx="341" cy="393"/>
                        <a:chOff x="2958" y="1769"/>
                        <a:chExt cx="341" cy="393"/>
                      </a:xfrm>
                    </p:grpSpPr>
                    <p:sp>
                      <p:nvSpPr>
                        <p:cNvPr id="174" name="Line 715"/>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75" name="Line 716"/>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76" name="Line 717"/>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173" name="Freeform 718"/>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68" name="Group 719"/>
                    <p:cNvGrpSpPr>
                      <a:grpSpLocks/>
                    </p:cNvGrpSpPr>
                    <p:nvPr/>
                  </p:nvGrpSpPr>
                  <p:grpSpPr bwMode="auto">
                    <a:xfrm>
                      <a:off x="2544" y="1989"/>
                      <a:ext cx="108" cy="62"/>
                      <a:chOff x="2544" y="1989"/>
                      <a:chExt cx="108" cy="62"/>
                    </a:xfrm>
                  </p:grpSpPr>
                  <p:sp>
                    <p:nvSpPr>
                      <p:cNvPr id="169" name="Freeform 720"/>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70" name="Freeform 721"/>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166" name="Line 722"/>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36" name="Group 723"/>
                <p:cNvGrpSpPr>
                  <a:grpSpLocks/>
                </p:cNvGrpSpPr>
                <p:nvPr/>
              </p:nvGrpSpPr>
              <p:grpSpPr bwMode="auto">
                <a:xfrm flipH="1">
                  <a:off x="352" y="2257"/>
                  <a:ext cx="995" cy="560"/>
                  <a:chOff x="574" y="2289"/>
                  <a:chExt cx="833" cy="488"/>
                </a:xfrm>
              </p:grpSpPr>
              <p:grpSp>
                <p:nvGrpSpPr>
                  <p:cNvPr id="153" name="Group 724"/>
                  <p:cNvGrpSpPr>
                    <a:grpSpLocks/>
                  </p:cNvGrpSpPr>
                  <p:nvPr/>
                </p:nvGrpSpPr>
                <p:grpSpPr bwMode="auto">
                  <a:xfrm>
                    <a:off x="574" y="2312"/>
                    <a:ext cx="833" cy="465"/>
                    <a:chOff x="2544" y="1730"/>
                    <a:chExt cx="833" cy="465"/>
                  </a:xfrm>
                </p:grpSpPr>
                <p:grpSp>
                  <p:nvGrpSpPr>
                    <p:cNvPr id="155" name="Group 725"/>
                    <p:cNvGrpSpPr>
                      <a:grpSpLocks/>
                    </p:cNvGrpSpPr>
                    <p:nvPr/>
                  </p:nvGrpSpPr>
                  <p:grpSpPr bwMode="auto">
                    <a:xfrm>
                      <a:off x="2930" y="1730"/>
                      <a:ext cx="447" cy="465"/>
                      <a:chOff x="2930" y="1730"/>
                      <a:chExt cx="447" cy="465"/>
                    </a:xfrm>
                  </p:grpSpPr>
                  <p:sp>
                    <p:nvSpPr>
                      <p:cNvPr id="159" name="Freeform 726"/>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160" name="Group 727"/>
                      <p:cNvGrpSpPr>
                        <a:grpSpLocks/>
                      </p:cNvGrpSpPr>
                      <p:nvPr/>
                    </p:nvGrpSpPr>
                    <p:grpSpPr bwMode="auto">
                      <a:xfrm>
                        <a:off x="2958" y="1769"/>
                        <a:ext cx="341" cy="393"/>
                        <a:chOff x="2958" y="1769"/>
                        <a:chExt cx="341" cy="393"/>
                      </a:xfrm>
                    </p:grpSpPr>
                    <p:sp>
                      <p:nvSpPr>
                        <p:cNvPr id="162" name="Line 728"/>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63" name="Line 729"/>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64" name="Line 730"/>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161" name="Freeform 731"/>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56" name="Group 732"/>
                    <p:cNvGrpSpPr>
                      <a:grpSpLocks/>
                    </p:cNvGrpSpPr>
                    <p:nvPr/>
                  </p:nvGrpSpPr>
                  <p:grpSpPr bwMode="auto">
                    <a:xfrm>
                      <a:off x="2544" y="1989"/>
                      <a:ext cx="108" cy="62"/>
                      <a:chOff x="2544" y="1989"/>
                      <a:chExt cx="108" cy="62"/>
                    </a:xfrm>
                  </p:grpSpPr>
                  <p:sp>
                    <p:nvSpPr>
                      <p:cNvPr id="157" name="Freeform 733"/>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58" name="Freeform 734"/>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154" name="Line 735"/>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37" name="Group 736"/>
                <p:cNvGrpSpPr>
                  <a:grpSpLocks/>
                </p:cNvGrpSpPr>
                <p:nvPr/>
              </p:nvGrpSpPr>
              <p:grpSpPr bwMode="auto">
                <a:xfrm flipH="1">
                  <a:off x="233" y="2296"/>
                  <a:ext cx="995" cy="559"/>
                  <a:chOff x="574" y="2289"/>
                  <a:chExt cx="833" cy="488"/>
                </a:xfrm>
              </p:grpSpPr>
              <p:grpSp>
                <p:nvGrpSpPr>
                  <p:cNvPr id="141" name="Group 737"/>
                  <p:cNvGrpSpPr>
                    <a:grpSpLocks/>
                  </p:cNvGrpSpPr>
                  <p:nvPr/>
                </p:nvGrpSpPr>
                <p:grpSpPr bwMode="auto">
                  <a:xfrm>
                    <a:off x="574" y="2312"/>
                    <a:ext cx="833" cy="465"/>
                    <a:chOff x="2544" y="1730"/>
                    <a:chExt cx="833" cy="465"/>
                  </a:xfrm>
                </p:grpSpPr>
                <p:grpSp>
                  <p:nvGrpSpPr>
                    <p:cNvPr id="143" name="Group 738"/>
                    <p:cNvGrpSpPr>
                      <a:grpSpLocks/>
                    </p:cNvGrpSpPr>
                    <p:nvPr/>
                  </p:nvGrpSpPr>
                  <p:grpSpPr bwMode="auto">
                    <a:xfrm>
                      <a:off x="2930" y="1730"/>
                      <a:ext cx="447" cy="465"/>
                      <a:chOff x="2930" y="1730"/>
                      <a:chExt cx="447" cy="465"/>
                    </a:xfrm>
                  </p:grpSpPr>
                  <p:sp>
                    <p:nvSpPr>
                      <p:cNvPr id="147" name="Freeform 739"/>
                      <p:cNvSpPr>
                        <a:spLocks/>
                      </p:cNvSpPr>
                      <p:nvPr/>
                    </p:nvSpPr>
                    <p:spPr bwMode="auto">
                      <a:xfrm>
                        <a:off x="2930" y="1731"/>
                        <a:ext cx="444" cy="464"/>
                      </a:xfrm>
                      <a:custGeom>
                        <a:avLst/>
                        <a:gdLst>
                          <a:gd name="T0" fmla="*/ 415 w 444"/>
                          <a:gd name="T1" fmla="*/ 0 h 464"/>
                          <a:gd name="T2" fmla="*/ 444 w 444"/>
                          <a:gd name="T3" fmla="*/ 8 h 464"/>
                          <a:gd name="T4" fmla="*/ 444 w 444"/>
                          <a:gd name="T5" fmla="*/ 84 h 464"/>
                          <a:gd name="T6" fmla="*/ 444 w 444"/>
                          <a:gd name="T7" fmla="*/ 342 h 464"/>
                          <a:gd name="T8" fmla="*/ 108 w 444"/>
                          <a:gd name="T9" fmla="*/ 464 h 464"/>
                          <a:gd name="T10" fmla="*/ 0 w 444"/>
                          <a:gd name="T11" fmla="*/ 422 h 464"/>
                          <a:gd name="T12" fmla="*/ 340 w 444"/>
                          <a:gd name="T13" fmla="*/ 302 h 464"/>
                          <a:gd name="T14" fmla="*/ 340 w 444"/>
                          <a:gd name="T15" fmla="*/ 29 h 464"/>
                          <a:gd name="T16" fmla="*/ 415 w 444"/>
                          <a:gd name="T17" fmla="*/ 0 h 4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4"/>
                          <a:gd name="T28" fmla="*/ 0 h 464"/>
                          <a:gd name="T29" fmla="*/ 444 w 444"/>
                          <a:gd name="T30" fmla="*/ 464 h 4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4" h="464">
                            <a:moveTo>
                              <a:pt x="415" y="0"/>
                            </a:moveTo>
                            <a:lnTo>
                              <a:pt x="444" y="8"/>
                            </a:lnTo>
                            <a:lnTo>
                              <a:pt x="444" y="84"/>
                            </a:lnTo>
                            <a:lnTo>
                              <a:pt x="444" y="342"/>
                            </a:lnTo>
                            <a:lnTo>
                              <a:pt x="108" y="464"/>
                            </a:lnTo>
                            <a:lnTo>
                              <a:pt x="0" y="422"/>
                            </a:lnTo>
                            <a:lnTo>
                              <a:pt x="340" y="302"/>
                            </a:lnTo>
                            <a:lnTo>
                              <a:pt x="340" y="29"/>
                            </a:lnTo>
                            <a:lnTo>
                              <a:pt x="415" y="0"/>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nvGrpSpPr>
                      <p:cNvPr id="148" name="Group 740"/>
                      <p:cNvGrpSpPr>
                        <a:grpSpLocks/>
                      </p:cNvGrpSpPr>
                      <p:nvPr/>
                    </p:nvGrpSpPr>
                    <p:grpSpPr bwMode="auto">
                      <a:xfrm>
                        <a:off x="2958" y="1769"/>
                        <a:ext cx="341" cy="393"/>
                        <a:chOff x="2958" y="1769"/>
                        <a:chExt cx="341" cy="393"/>
                      </a:xfrm>
                    </p:grpSpPr>
                    <p:sp>
                      <p:nvSpPr>
                        <p:cNvPr id="150" name="Line 741"/>
                        <p:cNvSpPr>
                          <a:spLocks noChangeShapeType="1"/>
                        </p:cNvSpPr>
                        <p:nvPr/>
                      </p:nvSpPr>
                      <p:spPr bwMode="auto">
                        <a:xfrm>
                          <a:off x="3269" y="2032"/>
                          <a:ext cx="29" cy="9"/>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51" name="Line 742"/>
                        <p:cNvSpPr>
                          <a:spLocks noChangeShapeType="1"/>
                        </p:cNvSpPr>
                        <p:nvPr/>
                      </p:nvSpPr>
                      <p:spPr bwMode="auto">
                        <a:xfrm flipH="1">
                          <a:off x="2958" y="2042"/>
                          <a:ext cx="341" cy="120"/>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52" name="Line 743"/>
                        <p:cNvSpPr>
                          <a:spLocks noChangeShapeType="1"/>
                        </p:cNvSpPr>
                        <p:nvPr/>
                      </p:nvSpPr>
                      <p:spPr bwMode="auto">
                        <a:xfrm flipV="1">
                          <a:off x="3299" y="1769"/>
                          <a:ext cx="0" cy="273"/>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149" name="Freeform 744"/>
                      <p:cNvSpPr>
                        <a:spLocks/>
                      </p:cNvSpPr>
                      <p:nvPr/>
                    </p:nvSpPr>
                    <p:spPr bwMode="auto">
                      <a:xfrm>
                        <a:off x="3269" y="1730"/>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44" name="Group 745"/>
                    <p:cNvGrpSpPr>
                      <a:grpSpLocks/>
                    </p:cNvGrpSpPr>
                    <p:nvPr/>
                  </p:nvGrpSpPr>
                  <p:grpSpPr bwMode="auto">
                    <a:xfrm>
                      <a:off x="2544" y="1989"/>
                      <a:ext cx="108" cy="62"/>
                      <a:chOff x="2544" y="1989"/>
                      <a:chExt cx="108" cy="62"/>
                    </a:xfrm>
                  </p:grpSpPr>
                  <p:sp>
                    <p:nvSpPr>
                      <p:cNvPr id="145" name="Freeform 746"/>
                      <p:cNvSpPr>
                        <a:spLocks/>
                      </p:cNvSpPr>
                      <p:nvPr/>
                    </p:nvSpPr>
                    <p:spPr bwMode="auto">
                      <a:xfrm>
                        <a:off x="2577" y="1997"/>
                        <a:ext cx="72" cy="54"/>
                      </a:xfrm>
                      <a:custGeom>
                        <a:avLst/>
                        <a:gdLst>
                          <a:gd name="T0" fmla="*/ 72 w 72"/>
                          <a:gd name="T1" fmla="*/ 54 h 54"/>
                          <a:gd name="T2" fmla="*/ 72 w 72"/>
                          <a:gd name="T3" fmla="*/ 0 h 54"/>
                          <a:gd name="T4" fmla="*/ 18 w 72"/>
                          <a:gd name="T5" fmla="*/ 12 h 54"/>
                          <a:gd name="T6" fmla="*/ 0 w 72"/>
                          <a:gd name="T7" fmla="*/ 28 h 54"/>
                          <a:gd name="T8" fmla="*/ 72 w 72"/>
                          <a:gd name="T9" fmla="*/ 54 h 54"/>
                          <a:gd name="T10" fmla="*/ 0 60000 65536"/>
                          <a:gd name="T11" fmla="*/ 0 60000 65536"/>
                          <a:gd name="T12" fmla="*/ 0 60000 65536"/>
                          <a:gd name="T13" fmla="*/ 0 60000 65536"/>
                          <a:gd name="T14" fmla="*/ 0 60000 65536"/>
                          <a:gd name="T15" fmla="*/ 0 w 72"/>
                          <a:gd name="T16" fmla="*/ 0 h 54"/>
                          <a:gd name="T17" fmla="*/ 72 w 72"/>
                          <a:gd name="T18" fmla="*/ 54 h 54"/>
                        </a:gdLst>
                        <a:ahLst/>
                        <a:cxnLst>
                          <a:cxn ang="T10">
                            <a:pos x="T0" y="T1"/>
                          </a:cxn>
                          <a:cxn ang="T11">
                            <a:pos x="T2" y="T3"/>
                          </a:cxn>
                          <a:cxn ang="T12">
                            <a:pos x="T4" y="T5"/>
                          </a:cxn>
                          <a:cxn ang="T13">
                            <a:pos x="T6" y="T7"/>
                          </a:cxn>
                          <a:cxn ang="T14">
                            <a:pos x="T8" y="T9"/>
                          </a:cxn>
                        </a:cxnLst>
                        <a:rect l="T15" t="T16" r="T17" b="T18"/>
                        <a:pathLst>
                          <a:path w="72" h="54">
                            <a:moveTo>
                              <a:pt x="72" y="54"/>
                            </a:moveTo>
                            <a:lnTo>
                              <a:pt x="72" y="0"/>
                            </a:lnTo>
                            <a:lnTo>
                              <a:pt x="18" y="12"/>
                            </a:lnTo>
                            <a:lnTo>
                              <a:pt x="0" y="28"/>
                            </a:lnTo>
                            <a:lnTo>
                              <a:pt x="72" y="54"/>
                            </a:lnTo>
                            <a:close/>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46" name="Freeform 747"/>
                      <p:cNvSpPr>
                        <a:spLocks/>
                      </p:cNvSpPr>
                      <p:nvPr/>
                    </p:nvSpPr>
                    <p:spPr bwMode="auto">
                      <a:xfrm rot="10800000">
                        <a:off x="2544" y="1989"/>
                        <a:ext cx="108" cy="37"/>
                      </a:xfrm>
                      <a:custGeom>
                        <a:avLst/>
                        <a:gdLst>
                          <a:gd name="T0" fmla="*/ 81 w 108"/>
                          <a:gd name="T1" fmla="*/ 0 h 37"/>
                          <a:gd name="T2" fmla="*/ 0 w 108"/>
                          <a:gd name="T3" fmla="*/ 29 h 37"/>
                          <a:gd name="T4" fmla="*/ 28 w 108"/>
                          <a:gd name="T5" fmla="*/ 37 h 37"/>
                          <a:gd name="T6" fmla="*/ 108 w 108"/>
                          <a:gd name="T7" fmla="*/ 9 h 37"/>
                          <a:gd name="T8" fmla="*/ 0 60000 65536"/>
                          <a:gd name="T9" fmla="*/ 0 60000 65536"/>
                          <a:gd name="T10" fmla="*/ 0 60000 65536"/>
                          <a:gd name="T11" fmla="*/ 0 60000 65536"/>
                          <a:gd name="T12" fmla="*/ 0 w 108"/>
                          <a:gd name="T13" fmla="*/ 0 h 37"/>
                          <a:gd name="T14" fmla="*/ 108 w 108"/>
                          <a:gd name="T15" fmla="*/ 37 h 37"/>
                        </a:gdLst>
                        <a:ahLst/>
                        <a:cxnLst>
                          <a:cxn ang="T8">
                            <a:pos x="T0" y="T1"/>
                          </a:cxn>
                          <a:cxn ang="T9">
                            <a:pos x="T2" y="T3"/>
                          </a:cxn>
                          <a:cxn ang="T10">
                            <a:pos x="T4" y="T5"/>
                          </a:cxn>
                          <a:cxn ang="T11">
                            <a:pos x="T6" y="T7"/>
                          </a:cxn>
                        </a:cxnLst>
                        <a:rect l="T12" t="T13" r="T14" b="T15"/>
                        <a:pathLst>
                          <a:path w="108" h="37">
                            <a:moveTo>
                              <a:pt x="81" y="0"/>
                            </a:moveTo>
                            <a:lnTo>
                              <a:pt x="0" y="29"/>
                            </a:lnTo>
                            <a:lnTo>
                              <a:pt x="28" y="37"/>
                            </a:lnTo>
                            <a:lnTo>
                              <a:pt x="108" y="9"/>
                            </a:lnTo>
                          </a:path>
                        </a:pathLst>
                      </a:custGeom>
                      <a:solidFill>
                        <a:schemeClr val="bg1"/>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sp>
                <p:nvSpPr>
                  <p:cNvPr id="142" name="Line 748"/>
                  <p:cNvSpPr>
                    <a:spLocks noChangeShapeType="1"/>
                  </p:cNvSpPr>
                  <p:nvPr/>
                </p:nvSpPr>
                <p:spPr bwMode="auto">
                  <a:xfrm flipH="1" flipV="1">
                    <a:off x="1316" y="2289"/>
                    <a:ext cx="62" cy="21"/>
                  </a:xfrm>
                  <a:prstGeom prst="line">
                    <a:avLst/>
                  </a:pr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sp>
              <p:nvSpPr>
                <p:cNvPr id="138" name="Freeform 749"/>
                <p:cNvSpPr>
                  <a:spLocks/>
                </p:cNvSpPr>
                <p:nvPr/>
              </p:nvSpPr>
              <p:spPr bwMode="auto">
                <a:xfrm>
                  <a:off x="148" y="2370"/>
                  <a:ext cx="1016" cy="526"/>
                </a:xfrm>
                <a:custGeom>
                  <a:avLst/>
                  <a:gdLst>
                    <a:gd name="T0" fmla="*/ 1016 w 1016"/>
                    <a:gd name="T1" fmla="*/ 342 h 526"/>
                    <a:gd name="T2" fmla="*/ 18 w 1016"/>
                    <a:gd name="T3" fmla="*/ 0 h 526"/>
                    <a:gd name="T4" fmla="*/ 0 w 1016"/>
                    <a:gd name="T5" fmla="*/ 146 h 526"/>
                    <a:gd name="T6" fmla="*/ 52 w 1016"/>
                    <a:gd name="T7" fmla="*/ 346 h 526"/>
                    <a:gd name="T8" fmla="*/ 480 w 1016"/>
                    <a:gd name="T9" fmla="*/ 526 h 526"/>
                    <a:gd name="T10" fmla="*/ 906 w 1016"/>
                    <a:gd name="T11" fmla="*/ 402 h 526"/>
                    <a:gd name="T12" fmla="*/ 1016 w 1016"/>
                    <a:gd name="T13" fmla="*/ 342 h 526"/>
                    <a:gd name="T14" fmla="*/ 0 60000 65536"/>
                    <a:gd name="T15" fmla="*/ 0 60000 65536"/>
                    <a:gd name="T16" fmla="*/ 0 60000 65536"/>
                    <a:gd name="T17" fmla="*/ 0 60000 65536"/>
                    <a:gd name="T18" fmla="*/ 0 60000 65536"/>
                    <a:gd name="T19" fmla="*/ 0 60000 65536"/>
                    <a:gd name="T20" fmla="*/ 0 60000 65536"/>
                    <a:gd name="T21" fmla="*/ 0 w 1016"/>
                    <a:gd name="T22" fmla="*/ 0 h 526"/>
                    <a:gd name="T23" fmla="*/ 1016 w 1016"/>
                    <a:gd name="T24" fmla="*/ 526 h 5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6" h="526">
                      <a:moveTo>
                        <a:pt x="1016" y="342"/>
                      </a:moveTo>
                      <a:lnTo>
                        <a:pt x="18" y="0"/>
                      </a:lnTo>
                      <a:lnTo>
                        <a:pt x="0" y="146"/>
                      </a:lnTo>
                      <a:lnTo>
                        <a:pt x="52" y="346"/>
                      </a:lnTo>
                      <a:lnTo>
                        <a:pt x="480" y="526"/>
                      </a:lnTo>
                      <a:lnTo>
                        <a:pt x="906" y="402"/>
                      </a:lnTo>
                      <a:lnTo>
                        <a:pt x="1016" y="342"/>
                      </a:lnTo>
                      <a:close/>
                    </a:path>
                  </a:pathLst>
                </a:custGeom>
                <a:solidFill>
                  <a:schemeClr val="bg1"/>
                </a:solidFill>
                <a:ln w="3175">
                  <a:no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39" name="Freeform 750"/>
                <p:cNvSpPr>
                  <a:spLocks/>
                </p:cNvSpPr>
                <p:nvPr/>
              </p:nvSpPr>
              <p:spPr bwMode="auto">
                <a:xfrm flipH="1">
                  <a:off x="138" y="2342"/>
                  <a:ext cx="1043" cy="354"/>
                </a:xfrm>
                <a:custGeom>
                  <a:avLst/>
                  <a:gdLst>
                    <a:gd name="T0" fmla="*/ 2791 w 873"/>
                    <a:gd name="T1" fmla="*/ 0 h 309"/>
                    <a:gd name="T2" fmla="*/ 3033 w 873"/>
                    <a:gd name="T3" fmla="*/ 57 h 309"/>
                    <a:gd name="T4" fmla="*/ 190 w 873"/>
                    <a:gd name="T5" fmla="*/ 802 h 309"/>
                    <a:gd name="T6" fmla="*/ 0 w 873"/>
                    <a:gd name="T7" fmla="*/ 747 h 309"/>
                    <a:gd name="T8" fmla="*/ 0 60000 65536"/>
                    <a:gd name="T9" fmla="*/ 0 60000 65536"/>
                    <a:gd name="T10" fmla="*/ 0 60000 65536"/>
                    <a:gd name="T11" fmla="*/ 0 60000 65536"/>
                    <a:gd name="T12" fmla="*/ 0 w 873"/>
                    <a:gd name="T13" fmla="*/ 0 h 309"/>
                    <a:gd name="T14" fmla="*/ 873 w 873"/>
                    <a:gd name="T15" fmla="*/ 309 h 309"/>
                  </a:gdLst>
                  <a:ahLst/>
                  <a:cxnLst>
                    <a:cxn ang="T8">
                      <a:pos x="T0" y="T1"/>
                    </a:cxn>
                    <a:cxn ang="T9">
                      <a:pos x="T2" y="T3"/>
                    </a:cxn>
                    <a:cxn ang="T10">
                      <a:pos x="T4" y="T5"/>
                    </a:cxn>
                    <a:cxn ang="T11">
                      <a:pos x="T6" y="T7"/>
                    </a:cxn>
                  </a:cxnLst>
                  <a:rect l="T12" t="T13" r="T14" b="T15"/>
                  <a:pathLst>
                    <a:path w="873" h="309">
                      <a:moveTo>
                        <a:pt x="803" y="0"/>
                      </a:moveTo>
                      <a:lnTo>
                        <a:pt x="873" y="22"/>
                      </a:lnTo>
                      <a:lnTo>
                        <a:pt x="54" y="309"/>
                      </a:lnTo>
                      <a:lnTo>
                        <a:pt x="0" y="289"/>
                      </a:lnTo>
                    </a:path>
                  </a:pathLst>
                </a:custGeom>
                <a:no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40" name="Freeform 751"/>
                <p:cNvSpPr>
                  <a:spLocks/>
                </p:cNvSpPr>
                <p:nvPr/>
              </p:nvSpPr>
              <p:spPr bwMode="auto">
                <a:xfrm flipH="1">
                  <a:off x="958" y="2365"/>
                  <a:ext cx="1132" cy="390"/>
                </a:xfrm>
                <a:custGeom>
                  <a:avLst/>
                  <a:gdLst>
                    <a:gd name="T0" fmla="*/ 20 w 948"/>
                    <a:gd name="T1" fmla="*/ 0 h 339"/>
                    <a:gd name="T2" fmla="*/ 3281 w 948"/>
                    <a:gd name="T3" fmla="*/ 881 h 339"/>
                    <a:gd name="T4" fmla="*/ 3156 w 948"/>
                    <a:gd name="T5" fmla="*/ 907 h 339"/>
                    <a:gd name="T6" fmla="*/ 0 w 948"/>
                    <a:gd name="T7" fmla="*/ 56 h 339"/>
                    <a:gd name="T8" fmla="*/ 20 w 948"/>
                    <a:gd name="T9" fmla="*/ 0 h 339"/>
                    <a:gd name="T10" fmla="*/ 0 60000 65536"/>
                    <a:gd name="T11" fmla="*/ 0 60000 65536"/>
                    <a:gd name="T12" fmla="*/ 0 60000 65536"/>
                    <a:gd name="T13" fmla="*/ 0 60000 65536"/>
                    <a:gd name="T14" fmla="*/ 0 60000 65536"/>
                    <a:gd name="T15" fmla="*/ 0 w 948"/>
                    <a:gd name="T16" fmla="*/ 0 h 339"/>
                    <a:gd name="T17" fmla="*/ 948 w 948"/>
                    <a:gd name="T18" fmla="*/ 339 h 339"/>
                  </a:gdLst>
                  <a:ahLst/>
                  <a:cxnLst>
                    <a:cxn ang="T10">
                      <a:pos x="T0" y="T1"/>
                    </a:cxn>
                    <a:cxn ang="T11">
                      <a:pos x="T2" y="T3"/>
                    </a:cxn>
                    <a:cxn ang="T12">
                      <a:pos x="T4" y="T5"/>
                    </a:cxn>
                    <a:cxn ang="T13">
                      <a:pos x="T6" y="T7"/>
                    </a:cxn>
                    <a:cxn ang="T14">
                      <a:pos x="T8" y="T9"/>
                    </a:cxn>
                  </a:cxnLst>
                  <a:rect l="T15" t="T16" r="T17" b="T18"/>
                  <a:pathLst>
                    <a:path w="948" h="339">
                      <a:moveTo>
                        <a:pt x="6" y="0"/>
                      </a:moveTo>
                      <a:lnTo>
                        <a:pt x="948" y="330"/>
                      </a:lnTo>
                      <a:lnTo>
                        <a:pt x="912" y="339"/>
                      </a:lnTo>
                      <a:lnTo>
                        <a:pt x="0" y="21"/>
                      </a:lnTo>
                      <a:lnTo>
                        <a:pt x="6" y="0"/>
                      </a:lnTo>
                      <a:close/>
                    </a:path>
                  </a:pathLst>
                </a:custGeom>
                <a:solidFill>
                  <a:schemeClr val="bg1"/>
                </a:solidFill>
                <a:ln w="3175">
                  <a:no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nvGrpSpPr>
              <p:cNvPr id="116" name="Group 752"/>
              <p:cNvGrpSpPr>
                <a:grpSpLocks/>
              </p:cNvGrpSpPr>
              <p:nvPr/>
            </p:nvGrpSpPr>
            <p:grpSpPr bwMode="auto">
              <a:xfrm>
                <a:off x="441" y="1351"/>
                <a:ext cx="2149" cy="1166"/>
                <a:chOff x="441" y="1351"/>
                <a:chExt cx="2149" cy="1166"/>
              </a:xfrm>
            </p:grpSpPr>
            <p:grpSp>
              <p:nvGrpSpPr>
                <p:cNvPr id="117" name="Group 753"/>
                <p:cNvGrpSpPr>
                  <a:grpSpLocks/>
                </p:cNvGrpSpPr>
                <p:nvPr/>
              </p:nvGrpSpPr>
              <p:grpSpPr bwMode="auto">
                <a:xfrm>
                  <a:off x="443" y="1713"/>
                  <a:ext cx="2146" cy="803"/>
                  <a:chOff x="1614" y="2862"/>
                  <a:chExt cx="2721" cy="1019"/>
                </a:xfrm>
              </p:grpSpPr>
              <p:sp>
                <p:nvSpPr>
                  <p:cNvPr id="121" name="AutoShape 754"/>
                  <p:cNvSpPr>
                    <a:spLocks noChangeArrowheads="1"/>
                  </p:cNvSpPr>
                  <p:nvPr/>
                </p:nvSpPr>
                <p:spPr bwMode="auto">
                  <a:xfrm rot="5400000">
                    <a:off x="1743" y="2920"/>
                    <a:ext cx="832" cy="1089"/>
                  </a:xfrm>
                  <a:prstGeom prst="parallelogram">
                    <a:avLst>
                      <a:gd name="adj" fmla="val 44227"/>
                    </a:avLst>
                  </a:prstGeom>
                  <a:solidFill>
                    <a:schemeClr val="bg1"/>
                  </a:solidFill>
                  <a:ln w="3175">
                    <a:solidFill>
                      <a:schemeClr val="tx1"/>
                    </a:solidFill>
                    <a:miter lim="800000"/>
                    <a:headEnd/>
                    <a:tailEnd/>
                  </a:ln>
                </p:spPr>
                <p:txBody>
                  <a:bodyPr wrap="none" anchor="ctr"/>
                  <a:lstStyle/>
                  <a:p>
                    <a:pPr fontAlgn="base">
                      <a:spcBef>
                        <a:spcPct val="0"/>
                      </a:spcBef>
                      <a:spcAft>
                        <a:spcPct val="0"/>
                      </a:spcAft>
                    </a:pPr>
                    <a:endParaRPr lang="fr-FR" dirty="0">
                      <a:solidFill>
                        <a:prstClr val="black"/>
                      </a:solidFill>
                      <a:latin typeface="Arial" charset="0"/>
                    </a:endParaRPr>
                  </a:p>
                </p:txBody>
              </p:sp>
              <p:sp>
                <p:nvSpPr>
                  <p:cNvPr id="122" name="AutoShape 755"/>
                  <p:cNvSpPr>
                    <a:spLocks noChangeArrowheads="1"/>
                  </p:cNvSpPr>
                  <p:nvPr/>
                </p:nvSpPr>
                <p:spPr bwMode="auto">
                  <a:xfrm rot="16200000" flipH="1">
                    <a:off x="3007" y="2554"/>
                    <a:ext cx="1019" cy="1636"/>
                  </a:xfrm>
                  <a:prstGeom prst="parallelogram">
                    <a:avLst>
                      <a:gd name="adj" fmla="val 54269"/>
                    </a:avLst>
                  </a:prstGeom>
                  <a:solidFill>
                    <a:schemeClr val="bg1"/>
                  </a:solidFill>
                  <a:ln w="3175">
                    <a:solidFill>
                      <a:schemeClr val="tx1"/>
                    </a:solidFill>
                    <a:miter lim="800000"/>
                    <a:headEnd/>
                    <a:tailEnd/>
                  </a:ln>
                </p:spPr>
                <p:txBody>
                  <a:bodyPr wrap="none" anchor="ctr"/>
                  <a:lstStyle/>
                  <a:p>
                    <a:pPr fontAlgn="base">
                      <a:spcBef>
                        <a:spcPct val="0"/>
                      </a:spcBef>
                      <a:spcAft>
                        <a:spcPct val="0"/>
                      </a:spcAft>
                    </a:pPr>
                    <a:endParaRPr lang="fr-FR" dirty="0">
                      <a:solidFill>
                        <a:prstClr val="black"/>
                      </a:solidFill>
                      <a:latin typeface="Arial" charset="0"/>
                    </a:endParaRPr>
                  </a:p>
                </p:txBody>
              </p:sp>
            </p:grpSp>
            <p:grpSp>
              <p:nvGrpSpPr>
                <p:cNvPr id="118" name="Group 756"/>
                <p:cNvGrpSpPr>
                  <a:grpSpLocks/>
                </p:cNvGrpSpPr>
                <p:nvPr/>
              </p:nvGrpSpPr>
              <p:grpSpPr bwMode="auto">
                <a:xfrm>
                  <a:off x="441" y="1351"/>
                  <a:ext cx="2149" cy="1166"/>
                  <a:chOff x="441" y="1351"/>
                  <a:chExt cx="2149" cy="1166"/>
                </a:xfrm>
              </p:grpSpPr>
              <p:sp>
                <p:nvSpPr>
                  <p:cNvPr id="119" name="Freeform 757"/>
                  <p:cNvSpPr>
                    <a:spLocks/>
                  </p:cNvSpPr>
                  <p:nvPr/>
                </p:nvSpPr>
                <p:spPr bwMode="auto">
                  <a:xfrm>
                    <a:off x="441" y="1500"/>
                    <a:ext cx="857" cy="1015"/>
                  </a:xfrm>
                  <a:custGeom>
                    <a:avLst/>
                    <a:gdLst>
                      <a:gd name="T0" fmla="*/ 0 w 1086"/>
                      <a:gd name="T1" fmla="*/ 0 h 1287"/>
                      <a:gd name="T2" fmla="*/ 0 w 1086"/>
                      <a:gd name="T3" fmla="*/ 175 h 1287"/>
                      <a:gd name="T4" fmla="*/ 207 w 1086"/>
                      <a:gd name="T5" fmla="*/ 244 h 1287"/>
                      <a:gd name="T6" fmla="*/ 207 w 1086"/>
                      <a:gd name="T7" fmla="*/ 206 h 1287"/>
                      <a:gd name="T8" fmla="*/ 179 w 1086"/>
                      <a:gd name="T9" fmla="*/ 180 h 1287"/>
                      <a:gd name="T10" fmla="*/ 145 w 1086"/>
                      <a:gd name="T11" fmla="*/ 177 h 1287"/>
                      <a:gd name="T12" fmla="*/ 134 w 1086"/>
                      <a:gd name="T13" fmla="*/ 159 h 1287"/>
                      <a:gd name="T14" fmla="*/ 112 w 1086"/>
                      <a:gd name="T15" fmla="*/ 157 h 1287"/>
                      <a:gd name="T16" fmla="*/ 99 w 1086"/>
                      <a:gd name="T17" fmla="*/ 136 h 1287"/>
                      <a:gd name="T18" fmla="*/ 62 w 1086"/>
                      <a:gd name="T19" fmla="*/ 136 h 1287"/>
                      <a:gd name="T20" fmla="*/ 63 w 1086"/>
                      <a:gd name="T21" fmla="*/ 93 h 1287"/>
                      <a:gd name="T22" fmla="*/ 34 w 1086"/>
                      <a:gd name="T23" fmla="*/ 69 h 1287"/>
                      <a:gd name="T24" fmla="*/ 44 w 1086"/>
                      <a:gd name="T25" fmla="*/ 46 h 1287"/>
                      <a:gd name="T26" fmla="*/ 34 w 1086"/>
                      <a:gd name="T27" fmla="*/ 31 h 1287"/>
                      <a:gd name="T28" fmla="*/ 30 w 1086"/>
                      <a:gd name="T29" fmla="*/ 10 h 1287"/>
                      <a:gd name="T30" fmla="*/ 0 w 1086"/>
                      <a:gd name="T31" fmla="*/ 0 h 128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86"/>
                      <a:gd name="T49" fmla="*/ 0 h 1287"/>
                      <a:gd name="T50" fmla="*/ 1086 w 1086"/>
                      <a:gd name="T51" fmla="*/ 1287 h 128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86" h="1287">
                        <a:moveTo>
                          <a:pt x="0" y="0"/>
                        </a:moveTo>
                        <a:lnTo>
                          <a:pt x="0" y="924"/>
                        </a:lnTo>
                        <a:lnTo>
                          <a:pt x="1086" y="1287"/>
                        </a:lnTo>
                        <a:lnTo>
                          <a:pt x="1086" y="1086"/>
                        </a:lnTo>
                        <a:lnTo>
                          <a:pt x="939" y="945"/>
                        </a:lnTo>
                        <a:lnTo>
                          <a:pt x="762" y="930"/>
                        </a:lnTo>
                        <a:lnTo>
                          <a:pt x="705" y="840"/>
                        </a:lnTo>
                        <a:lnTo>
                          <a:pt x="588" y="825"/>
                        </a:lnTo>
                        <a:lnTo>
                          <a:pt x="519" y="720"/>
                        </a:lnTo>
                        <a:lnTo>
                          <a:pt x="324" y="720"/>
                        </a:lnTo>
                        <a:lnTo>
                          <a:pt x="333" y="489"/>
                        </a:lnTo>
                        <a:lnTo>
                          <a:pt x="177" y="366"/>
                        </a:lnTo>
                        <a:lnTo>
                          <a:pt x="231" y="240"/>
                        </a:lnTo>
                        <a:lnTo>
                          <a:pt x="177" y="165"/>
                        </a:lnTo>
                        <a:lnTo>
                          <a:pt x="156" y="51"/>
                        </a:lnTo>
                        <a:lnTo>
                          <a:pt x="0" y="0"/>
                        </a:lnTo>
                        <a:close/>
                      </a:path>
                    </a:pathLst>
                  </a:custGeom>
                  <a:solidFill>
                    <a:srgbClr val="FFCC99"/>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sp>
                <p:nvSpPr>
                  <p:cNvPr id="120" name="Freeform 758"/>
                  <p:cNvSpPr>
                    <a:spLocks/>
                  </p:cNvSpPr>
                  <p:nvPr/>
                </p:nvSpPr>
                <p:spPr bwMode="auto">
                  <a:xfrm>
                    <a:off x="1298" y="1351"/>
                    <a:ext cx="1292" cy="1166"/>
                  </a:xfrm>
                  <a:custGeom>
                    <a:avLst/>
                    <a:gdLst>
                      <a:gd name="T0" fmla="*/ 0 w 1638"/>
                      <a:gd name="T1" fmla="*/ 281 h 1479"/>
                      <a:gd name="T2" fmla="*/ 311 w 1638"/>
                      <a:gd name="T3" fmla="*/ 175 h 1479"/>
                      <a:gd name="T4" fmla="*/ 311 w 1638"/>
                      <a:gd name="T5" fmla="*/ 0 h 1479"/>
                      <a:gd name="T6" fmla="*/ 285 w 1638"/>
                      <a:gd name="T7" fmla="*/ 8 h 1479"/>
                      <a:gd name="T8" fmla="*/ 280 w 1638"/>
                      <a:gd name="T9" fmla="*/ 29 h 1479"/>
                      <a:gd name="T10" fmla="*/ 282 w 1638"/>
                      <a:gd name="T11" fmla="*/ 50 h 1479"/>
                      <a:gd name="T12" fmla="*/ 268 w 1638"/>
                      <a:gd name="T13" fmla="*/ 64 h 1479"/>
                      <a:gd name="T14" fmla="*/ 268 w 1638"/>
                      <a:gd name="T15" fmla="*/ 95 h 1479"/>
                      <a:gd name="T16" fmla="*/ 241 w 1638"/>
                      <a:gd name="T17" fmla="*/ 119 h 1479"/>
                      <a:gd name="T18" fmla="*/ 237 w 1638"/>
                      <a:gd name="T19" fmla="*/ 154 h 1479"/>
                      <a:gd name="T20" fmla="*/ 201 w 1638"/>
                      <a:gd name="T21" fmla="*/ 160 h 1479"/>
                      <a:gd name="T22" fmla="*/ 187 w 1638"/>
                      <a:gd name="T23" fmla="*/ 175 h 1479"/>
                      <a:gd name="T24" fmla="*/ 149 w 1638"/>
                      <a:gd name="T25" fmla="*/ 192 h 1479"/>
                      <a:gd name="T26" fmla="*/ 137 w 1638"/>
                      <a:gd name="T27" fmla="*/ 205 h 1479"/>
                      <a:gd name="T28" fmla="*/ 91 w 1638"/>
                      <a:gd name="T29" fmla="*/ 218 h 1479"/>
                      <a:gd name="T30" fmla="*/ 59 w 1638"/>
                      <a:gd name="T31" fmla="*/ 235 h 1479"/>
                      <a:gd name="T32" fmla="*/ 25 w 1638"/>
                      <a:gd name="T33" fmla="*/ 237 h 1479"/>
                      <a:gd name="T34" fmla="*/ 0 w 1638"/>
                      <a:gd name="T35" fmla="*/ 242 h 1479"/>
                      <a:gd name="T36" fmla="*/ 0 w 1638"/>
                      <a:gd name="T37" fmla="*/ 281 h 147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38"/>
                      <a:gd name="T58" fmla="*/ 0 h 1479"/>
                      <a:gd name="T59" fmla="*/ 1638 w 1638"/>
                      <a:gd name="T60" fmla="*/ 1479 h 147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38" h="1479">
                        <a:moveTo>
                          <a:pt x="0" y="1479"/>
                        </a:moveTo>
                        <a:lnTo>
                          <a:pt x="1638" y="921"/>
                        </a:lnTo>
                        <a:lnTo>
                          <a:pt x="1638" y="0"/>
                        </a:lnTo>
                        <a:lnTo>
                          <a:pt x="1500" y="45"/>
                        </a:lnTo>
                        <a:lnTo>
                          <a:pt x="1476" y="153"/>
                        </a:lnTo>
                        <a:lnTo>
                          <a:pt x="1479" y="267"/>
                        </a:lnTo>
                        <a:lnTo>
                          <a:pt x="1410" y="339"/>
                        </a:lnTo>
                        <a:lnTo>
                          <a:pt x="1413" y="504"/>
                        </a:lnTo>
                        <a:lnTo>
                          <a:pt x="1272" y="630"/>
                        </a:lnTo>
                        <a:lnTo>
                          <a:pt x="1245" y="810"/>
                        </a:lnTo>
                        <a:lnTo>
                          <a:pt x="1056" y="846"/>
                        </a:lnTo>
                        <a:lnTo>
                          <a:pt x="981" y="927"/>
                        </a:lnTo>
                        <a:lnTo>
                          <a:pt x="786" y="1017"/>
                        </a:lnTo>
                        <a:lnTo>
                          <a:pt x="723" y="1083"/>
                        </a:lnTo>
                        <a:lnTo>
                          <a:pt x="480" y="1152"/>
                        </a:lnTo>
                        <a:lnTo>
                          <a:pt x="312" y="1242"/>
                        </a:lnTo>
                        <a:lnTo>
                          <a:pt x="132" y="1254"/>
                        </a:lnTo>
                        <a:lnTo>
                          <a:pt x="0" y="1278"/>
                        </a:lnTo>
                        <a:lnTo>
                          <a:pt x="0" y="1479"/>
                        </a:lnTo>
                        <a:close/>
                      </a:path>
                    </a:pathLst>
                  </a:custGeom>
                  <a:solidFill>
                    <a:srgbClr val="FFCC99"/>
                  </a:solidFill>
                  <a:ln w="3175">
                    <a:solidFill>
                      <a:schemeClr val="tx1"/>
                    </a:solidFill>
                    <a:round/>
                    <a:headEnd/>
                    <a:tailEnd/>
                  </a:ln>
                </p:spPr>
                <p:txBody>
                  <a:bodyPr/>
                  <a:lstStyle/>
                  <a:p>
                    <a:pPr fontAlgn="base">
                      <a:spcBef>
                        <a:spcPct val="0"/>
                      </a:spcBef>
                      <a:spcAft>
                        <a:spcPct val="0"/>
                      </a:spcAft>
                    </a:pPr>
                    <a:endParaRPr lang="fr-FR" dirty="0">
                      <a:solidFill>
                        <a:prstClr val="black"/>
                      </a:solidFill>
                      <a:latin typeface="Arial" charset="0"/>
                    </a:endParaRPr>
                  </a:p>
                </p:txBody>
              </p:sp>
            </p:grpSp>
          </p:grpSp>
        </p:grpSp>
        <p:pic>
          <p:nvPicPr>
            <p:cNvPr id="103" name="Picture 759"/>
            <p:cNvPicPr>
              <a:picLocks noChangeAspect="1" noChangeArrowheads="1"/>
            </p:cNvPicPr>
            <p:nvPr/>
          </p:nvPicPr>
          <p:blipFill>
            <a:blip r:embed="rId12" cstate="print"/>
            <a:srcRect/>
            <a:stretch>
              <a:fillRect/>
            </a:stretch>
          </p:blipFill>
          <p:spPr bwMode="auto">
            <a:xfrm>
              <a:off x="217" y="2314"/>
              <a:ext cx="309" cy="103"/>
            </a:xfrm>
            <a:prstGeom prst="rect">
              <a:avLst/>
            </a:prstGeom>
            <a:noFill/>
            <a:ln w="3175">
              <a:noFill/>
              <a:miter lim="800000"/>
              <a:headEnd/>
              <a:tailEnd/>
            </a:ln>
          </p:spPr>
        </p:pic>
        <p:grpSp>
          <p:nvGrpSpPr>
            <p:cNvPr id="104" name="Group 761"/>
            <p:cNvGrpSpPr>
              <a:grpSpLocks/>
            </p:cNvGrpSpPr>
            <p:nvPr/>
          </p:nvGrpSpPr>
          <p:grpSpPr bwMode="auto">
            <a:xfrm>
              <a:off x="298" y="1691"/>
              <a:ext cx="635" cy="496"/>
              <a:chOff x="154" y="1201"/>
              <a:chExt cx="1145" cy="842"/>
            </a:xfrm>
          </p:grpSpPr>
          <p:pic>
            <p:nvPicPr>
              <p:cNvPr id="108" name="Picture 762"/>
              <p:cNvPicPr>
                <a:picLocks noChangeAspect="1" noChangeArrowheads="1"/>
              </p:cNvPicPr>
              <p:nvPr/>
            </p:nvPicPr>
            <p:blipFill>
              <a:blip r:embed="rId13" cstate="print"/>
              <a:srcRect/>
              <a:stretch>
                <a:fillRect/>
              </a:stretch>
            </p:blipFill>
            <p:spPr bwMode="auto">
              <a:xfrm>
                <a:off x="697" y="1201"/>
                <a:ext cx="602" cy="672"/>
              </a:xfrm>
              <a:prstGeom prst="rect">
                <a:avLst/>
              </a:prstGeom>
              <a:noFill/>
              <a:ln w="3175">
                <a:noFill/>
                <a:miter lim="800000"/>
                <a:headEnd/>
                <a:tailEnd/>
              </a:ln>
            </p:spPr>
          </p:pic>
          <p:pic>
            <p:nvPicPr>
              <p:cNvPr id="109" name="Picture 763"/>
              <p:cNvPicPr>
                <a:picLocks noChangeAspect="1" noChangeArrowheads="1"/>
              </p:cNvPicPr>
              <p:nvPr/>
            </p:nvPicPr>
            <p:blipFill>
              <a:blip r:embed="rId13" cstate="print"/>
              <a:srcRect/>
              <a:stretch>
                <a:fillRect/>
              </a:stretch>
            </p:blipFill>
            <p:spPr bwMode="auto">
              <a:xfrm>
                <a:off x="316" y="1324"/>
                <a:ext cx="602" cy="672"/>
              </a:xfrm>
              <a:prstGeom prst="rect">
                <a:avLst/>
              </a:prstGeom>
              <a:noFill/>
              <a:ln w="3175">
                <a:noFill/>
                <a:miter lim="800000"/>
                <a:headEnd/>
                <a:tailEnd/>
              </a:ln>
            </p:spPr>
          </p:pic>
          <p:pic>
            <p:nvPicPr>
              <p:cNvPr id="110" name="Picture 764"/>
              <p:cNvPicPr>
                <a:picLocks noChangeAspect="1" noChangeArrowheads="1"/>
              </p:cNvPicPr>
              <p:nvPr/>
            </p:nvPicPr>
            <p:blipFill>
              <a:blip r:embed="rId13" cstate="print"/>
              <a:srcRect/>
              <a:stretch>
                <a:fillRect/>
              </a:stretch>
            </p:blipFill>
            <p:spPr bwMode="auto">
              <a:xfrm>
                <a:off x="241" y="1344"/>
                <a:ext cx="602" cy="672"/>
              </a:xfrm>
              <a:prstGeom prst="rect">
                <a:avLst/>
              </a:prstGeom>
              <a:noFill/>
              <a:ln w="3175">
                <a:noFill/>
                <a:miter lim="800000"/>
                <a:headEnd/>
                <a:tailEnd/>
              </a:ln>
            </p:spPr>
          </p:pic>
          <p:pic>
            <p:nvPicPr>
              <p:cNvPr id="111" name="Picture 765"/>
              <p:cNvPicPr>
                <a:picLocks noChangeAspect="1" noChangeArrowheads="1"/>
              </p:cNvPicPr>
              <p:nvPr/>
            </p:nvPicPr>
            <p:blipFill>
              <a:blip r:embed="rId13" cstate="print"/>
              <a:srcRect/>
              <a:stretch>
                <a:fillRect/>
              </a:stretch>
            </p:blipFill>
            <p:spPr bwMode="auto">
              <a:xfrm>
                <a:off x="154" y="1371"/>
                <a:ext cx="602" cy="672"/>
              </a:xfrm>
              <a:prstGeom prst="rect">
                <a:avLst/>
              </a:prstGeom>
              <a:noFill/>
              <a:ln w="3175">
                <a:noFill/>
                <a:miter lim="800000"/>
                <a:headEnd/>
                <a:tailEnd/>
              </a:ln>
            </p:spPr>
          </p:pic>
        </p:grpSp>
        <p:grpSp>
          <p:nvGrpSpPr>
            <p:cNvPr id="105" name="Group 766"/>
            <p:cNvGrpSpPr>
              <a:grpSpLocks/>
            </p:cNvGrpSpPr>
            <p:nvPr/>
          </p:nvGrpSpPr>
          <p:grpSpPr bwMode="auto">
            <a:xfrm>
              <a:off x="175" y="2372"/>
              <a:ext cx="347" cy="109"/>
              <a:chOff x="403" y="1956"/>
              <a:chExt cx="644" cy="213"/>
            </a:xfrm>
          </p:grpSpPr>
          <p:pic>
            <p:nvPicPr>
              <p:cNvPr id="106" name="Picture 767"/>
              <p:cNvPicPr>
                <a:picLocks noChangeAspect="1" noChangeArrowheads="1"/>
              </p:cNvPicPr>
              <p:nvPr/>
            </p:nvPicPr>
            <p:blipFill>
              <a:blip r:embed="rId14" cstate="print"/>
              <a:srcRect/>
              <a:stretch>
                <a:fillRect/>
              </a:stretch>
            </p:blipFill>
            <p:spPr bwMode="auto">
              <a:xfrm>
                <a:off x="515" y="1956"/>
                <a:ext cx="532" cy="174"/>
              </a:xfrm>
              <a:prstGeom prst="rect">
                <a:avLst/>
              </a:prstGeom>
              <a:noFill/>
              <a:ln w="3175">
                <a:noFill/>
                <a:miter lim="800000"/>
                <a:headEnd/>
                <a:tailEnd/>
              </a:ln>
            </p:spPr>
          </p:pic>
          <p:pic>
            <p:nvPicPr>
              <p:cNvPr id="107" name="Picture 768"/>
              <p:cNvPicPr>
                <a:picLocks noChangeAspect="1" noChangeArrowheads="1"/>
              </p:cNvPicPr>
              <p:nvPr/>
            </p:nvPicPr>
            <p:blipFill>
              <a:blip r:embed="rId14" cstate="print"/>
              <a:srcRect/>
              <a:stretch>
                <a:fillRect/>
              </a:stretch>
            </p:blipFill>
            <p:spPr bwMode="auto">
              <a:xfrm>
                <a:off x="403" y="1995"/>
                <a:ext cx="532" cy="174"/>
              </a:xfrm>
              <a:prstGeom prst="rect">
                <a:avLst/>
              </a:prstGeom>
              <a:noFill/>
              <a:ln w="3175">
                <a:noFill/>
                <a:miter lim="800000"/>
                <a:headEnd/>
                <a:tailEnd/>
              </a:ln>
            </p:spPr>
          </p:pic>
        </p:grpSp>
      </p:grpSp>
      <p:pic>
        <p:nvPicPr>
          <p:cNvPr id="275" name="Picture 4" descr="C:\Users\cowellj\AppData\Local\Microsoft\Windows\Temporary Internet Files\Content.IE5\ZUQVH4NW\MCj04348200000[1].png"/>
          <p:cNvPicPr>
            <a:picLocks noChangeAspect="1" noChangeArrowheads="1"/>
          </p:cNvPicPr>
          <p:nvPr/>
        </p:nvPicPr>
        <p:blipFill>
          <a:blip r:embed="rId15" cstate="print"/>
          <a:srcRect/>
          <a:stretch>
            <a:fillRect/>
          </a:stretch>
        </p:blipFill>
        <p:spPr bwMode="auto">
          <a:xfrm flipH="1">
            <a:off x="6853474" y="3388166"/>
            <a:ext cx="439788" cy="311436"/>
          </a:xfrm>
          <a:prstGeom prst="rect">
            <a:avLst/>
          </a:prstGeom>
          <a:noFill/>
          <a:ln w="9525">
            <a:noFill/>
            <a:miter lim="800000"/>
            <a:headEnd/>
            <a:tailEnd/>
          </a:ln>
        </p:spPr>
      </p:pic>
      <p:sp>
        <p:nvSpPr>
          <p:cNvPr id="276" name="Round Diagonal Corner Rectangle 275"/>
          <p:cNvSpPr/>
          <p:nvPr/>
        </p:nvSpPr>
        <p:spPr>
          <a:xfrm>
            <a:off x="7419021" y="1582009"/>
            <a:ext cx="1440628" cy="561163"/>
          </a:xfrm>
          <a:prstGeom prst="round2DiagRect">
            <a:avLst/>
          </a:prstGeom>
          <a:gradFill>
            <a:gsLst>
              <a:gs pos="0">
                <a:srgbClr val="008000"/>
              </a:gs>
              <a:gs pos="80000">
                <a:srgbClr val="008000"/>
              </a:gs>
              <a:gs pos="100000">
                <a:srgbClr val="92D050"/>
              </a:gs>
            </a:gsLst>
          </a:gradFill>
          <a:ln/>
        </p:spPr>
        <p:style>
          <a:lnRef idx="0">
            <a:schemeClr val="accent2"/>
          </a:lnRef>
          <a:fillRef idx="3">
            <a:schemeClr val="accent2"/>
          </a:fillRef>
          <a:effectRef idx="3">
            <a:schemeClr val="accent2"/>
          </a:effectRef>
          <a:fontRef idx="minor">
            <a:schemeClr val="lt1"/>
          </a:fontRef>
        </p:style>
        <p:txBody>
          <a:bodyPr lIns="91440" tIns="45720" rtlCol="0" anchor="ctr"/>
          <a:lstStyle/>
          <a:p>
            <a:pPr algn="ctr" fontAlgn="base">
              <a:lnSpc>
                <a:spcPct val="85000"/>
              </a:lnSpc>
              <a:spcBef>
                <a:spcPct val="0"/>
              </a:spcBef>
              <a:spcAft>
                <a:spcPct val="0"/>
              </a:spcAft>
            </a:pPr>
            <a:r>
              <a:rPr lang="en-US" sz="1600" dirty="0" smtClean="0">
                <a:solidFill>
                  <a:prstClr val="white"/>
                </a:solidFill>
              </a:rPr>
              <a:t>Customer</a:t>
            </a:r>
          </a:p>
        </p:txBody>
      </p:sp>
      <p:cxnSp>
        <p:nvCxnSpPr>
          <p:cNvPr id="277" name="Straight Arrow Connector 276"/>
          <p:cNvCxnSpPr>
            <a:stCxn id="9" idx="0"/>
            <a:endCxn id="11" idx="2"/>
          </p:cNvCxnSpPr>
          <p:nvPr/>
        </p:nvCxnSpPr>
        <p:spPr>
          <a:xfrm flipV="1">
            <a:off x="1785778" y="1148172"/>
            <a:ext cx="3649275" cy="396898"/>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8" name="Straight Arrow Connector 277"/>
          <p:cNvCxnSpPr>
            <a:stCxn id="9" idx="0"/>
            <a:endCxn id="276" idx="2"/>
          </p:cNvCxnSpPr>
          <p:nvPr/>
        </p:nvCxnSpPr>
        <p:spPr>
          <a:xfrm>
            <a:off x="1785772" y="1545114"/>
            <a:ext cx="5633249" cy="317477"/>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0" name="Straight Arrow Connector 279"/>
          <p:cNvCxnSpPr>
            <a:stCxn id="27" idx="0"/>
          </p:cNvCxnSpPr>
          <p:nvPr/>
        </p:nvCxnSpPr>
        <p:spPr>
          <a:xfrm flipV="1">
            <a:off x="6833201" y="3733761"/>
            <a:ext cx="521446" cy="488"/>
          </a:xfrm>
          <a:prstGeom prst="straightConnector1">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1" name="Straight Connector 280"/>
          <p:cNvCxnSpPr/>
          <p:nvPr/>
        </p:nvCxnSpPr>
        <p:spPr>
          <a:xfrm flipV="1">
            <a:off x="119355" y="2476615"/>
            <a:ext cx="8817997" cy="2"/>
          </a:xfrm>
          <a:prstGeom prst="line">
            <a:avLst/>
          </a:prstGeom>
          <a:ln w="381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2" name="Arc 281"/>
          <p:cNvSpPr/>
          <p:nvPr/>
        </p:nvSpPr>
        <p:spPr>
          <a:xfrm>
            <a:off x="1480465" y="3200400"/>
            <a:ext cx="3973285" cy="506182"/>
          </a:xfrm>
          <a:prstGeom prst="arc">
            <a:avLst>
              <a:gd name="adj1" fmla="val 10875297"/>
              <a:gd name="adj2" fmla="val 21538206"/>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914400" fontAlgn="base">
              <a:spcBef>
                <a:spcPct val="0"/>
              </a:spcBef>
              <a:spcAft>
                <a:spcPct val="0"/>
              </a:spcAft>
            </a:pPr>
            <a:endParaRPr lang="en-US">
              <a:solidFill>
                <a:prstClr val="black"/>
              </a:solidFill>
            </a:endParaRPr>
          </a:p>
        </p:txBody>
      </p:sp>
      <p:sp>
        <p:nvSpPr>
          <p:cNvPr id="283" name="Arc 282"/>
          <p:cNvSpPr/>
          <p:nvPr/>
        </p:nvSpPr>
        <p:spPr>
          <a:xfrm rot="10800000">
            <a:off x="1491339" y="3755572"/>
            <a:ext cx="3951518" cy="555180"/>
          </a:xfrm>
          <a:prstGeom prst="arc">
            <a:avLst>
              <a:gd name="adj1" fmla="val 10875297"/>
              <a:gd name="adj2" fmla="val 21538206"/>
            </a:avLst>
          </a:prstGeom>
          <a:ln w="12700" cmpd="sng">
            <a:solidFill>
              <a:schemeClr val="tx1"/>
            </a:solidFill>
            <a:headEnd type="arrow"/>
            <a:tailEnd type="none"/>
          </a:ln>
          <a:effectLst/>
        </p:spPr>
        <p:style>
          <a:lnRef idx="2">
            <a:schemeClr val="accent1"/>
          </a:lnRef>
          <a:fillRef idx="0">
            <a:schemeClr val="accent1"/>
          </a:fillRef>
          <a:effectRef idx="1">
            <a:schemeClr val="accent1"/>
          </a:effectRef>
          <a:fontRef idx="minor">
            <a:schemeClr val="tx1"/>
          </a:fontRef>
        </p:style>
        <p:txBody>
          <a:bodyPr rtlCol="0" anchor="ctr"/>
          <a:lstStyle/>
          <a:p>
            <a:pPr algn="ctr" defTabSz="914400" fontAlgn="base">
              <a:spcBef>
                <a:spcPct val="0"/>
              </a:spcBef>
              <a:spcAft>
                <a:spcPct val="0"/>
              </a:spcAft>
            </a:pPr>
            <a:endParaRPr lang="en-US">
              <a:solidFill>
                <a:prstClr val="black"/>
              </a:solidFill>
            </a:endParaRPr>
          </a:p>
        </p:txBody>
      </p:sp>
      <p:sp>
        <p:nvSpPr>
          <p:cNvPr id="561" name="Round Diagonal Corner Rectangle 560"/>
          <p:cNvSpPr/>
          <p:nvPr/>
        </p:nvSpPr>
        <p:spPr>
          <a:xfrm>
            <a:off x="7397203" y="3451631"/>
            <a:ext cx="1440628" cy="561163"/>
          </a:xfrm>
          <a:prstGeom prst="round2DiagRect">
            <a:avLst/>
          </a:prstGeom>
          <a:gradFill>
            <a:gsLst>
              <a:gs pos="0">
                <a:srgbClr val="008000"/>
              </a:gs>
              <a:gs pos="80000">
                <a:srgbClr val="008000"/>
              </a:gs>
              <a:gs pos="100000">
                <a:srgbClr val="92D050"/>
              </a:gs>
            </a:gsLst>
          </a:gradFill>
          <a:ln/>
        </p:spPr>
        <p:style>
          <a:lnRef idx="0">
            <a:schemeClr val="accent2"/>
          </a:lnRef>
          <a:fillRef idx="3">
            <a:schemeClr val="accent2"/>
          </a:fillRef>
          <a:effectRef idx="3">
            <a:schemeClr val="accent2"/>
          </a:effectRef>
          <a:fontRef idx="minor">
            <a:schemeClr val="lt1"/>
          </a:fontRef>
        </p:style>
        <p:txBody>
          <a:bodyPr lIns="91440" tIns="45720" rtlCol="0" anchor="ctr"/>
          <a:lstStyle/>
          <a:p>
            <a:pPr algn="ctr" fontAlgn="base">
              <a:lnSpc>
                <a:spcPct val="85000"/>
              </a:lnSpc>
              <a:spcBef>
                <a:spcPct val="0"/>
              </a:spcBef>
              <a:spcAft>
                <a:spcPct val="0"/>
              </a:spcAft>
            </a:pPr>
            <a:r>
              <a:rPr lang="en-US" sz="1600" dirty="0" smtClean="0">
                <a:solidFill>
                  <a:prstClr val="white"/>
                </a:solidFill>
              </a:rPr>
              <a:t>Customer</a:t>
            </a:r>
          </a:p>
        </p:txBody>
      </p:sp>
      <p:sp>
        <p:nvSpPr>
          <p:cNvPr id="279" name="Rounded Rectangle 278"/>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500896393"/>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
          <p:cNvGrpSpPr/>
          <p:nvPr/>
        </p:nvGrpSpPr>
        <p:grpSpPr>
          <a:xfrm>
            <a:off x="3241329" y="3011385"/>
            <a:ext cx="3395991" cy="1855967"/>
            <a:chOff x="3756923" y="3866807"/>
            <a:chExt cx="3395991" cy="2474623"/>
          </a:xfrm>
        </p:grpSpPr>
        <p:sp>
          <p:nvSpPr>
            <p:cNvPr id="372745" name="AutoShape 9"/>
            <p:cNvSpPr>
              <a:spLocks noChangeArrowheads="1"/>
            </p:cNvSpPr>
            <p:nvPr/>
          </p:nvSpPr>
          <p:spPr bwMode="auto">
            <a:xfrm rot="5400000">
              <a:off x="5099822" y="3911301"/>
              <a:ext cx="1750945" cy="1663576"/>
            </a:xfrm>
            <a:prstGeom prst="parallelogram">
              <a:avLst>
                <a:gd name="adj" fmla="val 33687"/>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746" name="AutoShape 10"/>
            <p:cNvSpPr>
              <a:spLocks noChangeArrowheads="1"/>
            </p:cNvSpPr>
            <p:nvPr/>
          </p:nvSpPr>
          <p:spPr bwMode="auto">
            <a:xfrm rot="16200000" flipH="1">
              <a:off x="3629004" y="3995536"/>
              <a:ext cx="1648901" cy="1391443"/>
            </a:xfrm>
            <a:prstGeom prst="parallelogram">
              <a:avLst>
                <a:gd name="adj" fmla="val 33594"/>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747" name="Line 11"/>
            <p:cNvSpPr>
              <a:spLocks noChangeShapeType="1"/>
            </p:cNvSpPr>
            <p:nvPr/>
          </p:nvSpPr>
          <p:spPr bwMode="auto">
            <a:xfrm>
              <a:off x="4434016" y="4117058"/>
              <a:ext cx="0" cy="715927"/>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48" name="Line 12"/>
            <p:cNvSpPr>
              <a:spLocks noChangeShapeType="1"/>
            </p:cNvSpPr>
            <p:nvPr/>
          </p:nvSpPr>
          <p:spPr bwMode="auto">
            <a:xfrm>
              <a:off x="4401620" y="4131635"/>
              <a:ext cx="0" cy="715927"/>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pic>
          <p:nvPicPr>
            <p:cNvPr id="372804" name="Picture 68"/>
            <p:cNvPicPr>
              <a:picLocks noChangeAspect="1" noChangeArrowheads="1"/>
            </p:cNvPicPr>
            <p:nvPr/>
          </p:nvPicPr>
          <p:blipFill>
            <a:blip r:embed="rId2" cstate="print"/>
            <a:srcRect/>
            <a:stretch>
              <a:fillRect/>
            </a:stretch>
          </p:blipFill>
          <p:spPr bwMode="auto">
            <a:xfrm>
              <a:off x="3815236" y="3885434"/>
              <a:ext cx="1554480" cy="1671609"/>
            </a:xfrm>
            <a:prstGeom prst="rect">
              <a:avLst/>
            </a:prstGeom>
            <a:noFill/>
            <a:ln w="3175">
              <a:noFill/>
              <a:miter lim="800000"/>
              <a:headEnd/>
              <a:tailEnd/>
            </a:ln>
            <a:effectLst/>
          </p:spPr>
        </p:pic>
        <p:pic>
          <p:nvPicPr>
            <p:cNvPr id="372806" name="Picture 70"/>
            <p:cNvPicPr>
              <a:picLocks noChangeAspect="1" noChangeArrowheads="1"/>
            </p:cNvPicPr>
            <p:nvPr/>
          </p:nvPicPr>
          <p:blipFill>
            <a:blip r:embed="rId2" cstate="print"/>
            <a:srcRect/>
            <a:stretch>
              <a:fillRect/>
            </a:stretch>
          </p:blipFill>
          <p:spPr bwMode="auto">
            <a:xfrm>
              <a:off x="4026957" y="3956722"/>
              <a:ext cx="1554480" cy="1671609"/>
            </a:xfrm>
            <a:prstGeom prst="rect">
              <a:avLst/>
            </a:prstGeom>
            <a:noFill/>
            <a:ln w="3175">
              <a:noFill/>
              <a:miter lim="800000"/>
              <a:headEnd/>
              <a:tailEnd/>
            </a:ln>
            <a:effectLst/>
          </p:spPr>
        </p:pic>
        <p:pic>
          <p:nvPicPr>
            <p:cNvPr id="372808" name="Picture 72"/>
            <p:cNvPicPr>
              <a:picLocks noChangeAspect="1" noChangeArrowheads="1"/>
            </p:cNvPicPr>
            <p:nvPr/>
          </p:nvPicPr>
          <p:blipFill>
            <a:blip r:embed="rId2" cstate="print"/>
            <a:srcRect/>
            <a:stretch>
              <a:fillRect/>
            </a:stretch>
          </p:blipFill>
          <p:spPr bwMode="auto">
            <a:xfrm>
              <a:off x="4251636" y="4039884"/>
              <a:ext cx="1554480" cy="1671609"/>
            </a:xfrm>
            <a:prstGeom prst="rect">
              <a:avLst/>
            </a:prstGeom>
            <a:noFill/>
            <a:ln w="3175">
              <a:noFill/>
              <a:miter lim="800000"/>
              <a:headEnd/>
              <a:tailEnd/>
            </a:ln>
            <a:effectLst/>
          </p:spPr>
        </p:pic>
        <p:pic>
          <p:nvPicPr>
            <p:cNvPr id="372810" name="Picture 74"/>
            <p:cNvPicPr>
              <a:picLocks noChangeAspect="1" noChangeArrowheads="1"/>
            </p:cNvPicPr>
            <p:nvPr/>
          </p:nvPicPr>
          <p:blipFill>
            <a:blip r:embed="rId2" cstate="print"/>
            <a:srcRect/>
            <a:stretch>
              <a:fillRect/>
            </a:stretch>
          </p:blipFill>
          <p:spPr bwMode="auto">
            <a:xfrm>
              <a:off x="4488190" y="4116568"/>
              <a:ext cx="1554480" cy="1671609"/>
            </a:xfrm>
            <a:prstGeom prst="rect">
              <a:avLst/>
            </a:prstGeom>
            <a:noFill/>
            <a:ln w="3175">
              <a:noFill/>
              <a:miter lim="800000"/>
              <a:headEnd/>
              <a:tailEnd/>
            </a:ln>
            <a:effectLst/>
          </p:spPr>
        </p:pic>
        <p:sp>
          <p:nvSpPr>
            <p:cNvPr id="372814" name="Freeform 78"/>
            <p:cNvSpPr>
              <a:spLocks/>
            </p:cNvSpPr>
            <p:nvPr/>
          </p:nvSpPr>
          <p:spPr bwMode="auto">
            <a:xfrm>
              <a:off x="3756923" y="4334104"/>
              <a:ext cx="1665196" cy="1741226"/>
            </a:xfrm>
            <a:custGeom>
              <a:avLst/>
              <a:gdLst/>
              <a:ahLst/>
              <a:cxnLst>
                <a:cxn ang="0">
                  <a:pos x="1028" y="1075"/>
                </a:cxn>
                <a:cxn ang="0">
                  <a:pos x="0" y="726"/>
                </a:cxn>
                <a:cxn ang="0">
                  <a:pos x="0" y="0"/>
                </a:cxn>
                <a:cxn ang="0">
                  <a:pos x="109" y="35"/>
                </a:cxn>
                <a:cxn ang="0">
                  <a:pos x="128" y="121"/>
                </a:cxn>
                <a:cxn ang="0">
                  <a:pos x="125" y="210"/>
                </a:cxn>
                <a:cxn ang="0">
                  <a:pos x="180" y="267"/>
                </a:cxn>
                <a:cxn ang="0">
                  <a:pos x="177" y="397"/>
                </a:cxn>
                <a:cxn ang="0">
                  <a:pos x="289" y="497"/>
                </a:cxn>
                <a:cxn ang="0">
                  <a:pos x="310" y="639"/>
                </a:cxn>
                <a:cxn ang="0">
                  <a:pos x="459" y="667"/>
                </a:cxn>
                <a:cxn ang="0">
                  <a:pos x="518" y="731"/>
                </a:cxn>
                <a:cxn ang="0">
                  <a:pos x="672" y="802"/>
                </a:cxn>
                <a:cxn ang="0">
                  <a:pos x="722" y="854"/>
                </a:cxn>
                <a:cxn ang="0">
                  <a:pos x="913" y="908"/>
                </a:cxn>
                <a:cxn ang="0">
                  <a:pos x="1028" y="935"/>
                </a:cxn>
                <a:cxn ang="0">
                  <a:pos x="1028" y="1075"/>
                </a:cxn>
              </a:cxnLst>
              <a:rect l="0" t="0" r="r" b="b"/>
              <a:pathLst>
                <a:path w="1028" h="1075">
                  <a:moveTo>
                    <a:pt x="1028" y="1075"/>
                  </a:moveTo>
                  <a:lnTo>
                    <a:pt x="0" y="726"/>
                  </a:lnTo>
                  <a:lnTo>
                    <a:pt x="0" y="0"/>
                  </a:lnTo>
                  <a:lnTo>
                    <a:pt x="109" y="35"/>
                  </a:lnTo>
                  <a:lnTo>
                    <a:pt x="128" y="121"/>
                  </a:lnTo>
                  <a:lnTo>
                    <a:pt x="125" y="210"/>
                  </a:lnTo>
                  <a:lnTo>
                    <a:pt x="180" y="267"/>
                  </a:lnTo>
                  <a:lnTo>
                    <a:pt x="177" y="397"/>
                  </a:lnTo>
                  <a:lnTo>
                    <a:pt x="289" y="497"/>
                  </a:lnTo>
                  <a:lnTo>
                    <a:pt x="310" y="639"/>
                  </a:lnTo>
                  <a:lnTo>
                    <a:pt x="459" y="667"/>
                  </a:lnTo>
                  <a:lnTo>
                    <a:pt x="518" y="731"/>
                  </a:lnTo>
                  <a:lnTo>
                    <a:pt x="672" y="802"/>
                  </a:lnTo>
                  <a:lnTo>
                    <a:pt x="722" y="854"/>
                  </a:lnTo>
                  <a:lnTo>
                    <a:pt x="913" y="908"/>
                  </a:lnTo>
                  <a:lnTo>
                    <a:pt x="1028" y="935"/>
                  </a:lnTo>
                  <a:lnTo>
                    <a:pt x="1028" y="1075"/>
                  </a:lnTo>
                  <a:close/>
                </a:path>
              </a:pathLst>
            </a:custGeom>
            <a:solidFill>
              <a:srgbClr val="FFCC99"/>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15" name="Freeform 79"/>
            <p:cNvSpPr>
              <a:spLocks/>
            </p:cNvSpPr>
            <p:nvPr/>
          </p:nvSpPr>
          <p:spPr bwMode="auto">
            <a:xfrm flipH="1">
              <a:off x="4663739" y="4181377"/>
              <a:ext cx="1388203" cy="1644041"/>
            </a:xfrm>
            <a:custGeom>
              <a:avLst/>
              <a:gdLst/>
              <a:ahLst/>
              <a:cxnLst>
                <a:cxn ang="0">
                  <a:pos x="0" y="0"/>
                </a:cxn>
                <a:cxn ang="0">
                  <a:pos x="0" y="924"/>
                </a:cxn>
                <a:cxn ang="0">
                  <a:pos x="1086" y="1287"/>
                </a:cxn>
                <a:cxn ang="0">
                  <a:pos x="1086" y="1086"/>
                </a:cxn>
                <a:cxn ang="0">
                  <a:pos x="939" y="945"/>
                </a:cxn>
                <a:cxn ang="0">
                  <a:pos x="762" y="930"/>
                </a:cxn>
                <a:cxn ang="0">
                  <a:pos x="705" y="840"/>
                </a:cxn>
                <a:cxn ang="0">
                  <a:pos x="588" y="825"/>
                </a:cxn>
                <a:cxn ang="0">
                  <a:pos x="519" y="720"/>
                </a:cxn>
                <a:cxn ang="0">
                  <a:pos x="324" y="720"/>
                </a:cxn>
                <a:cxn ang="0">
                  <a:pos x="333" y="489"/>
                </a:cxn>
                <a:cxn ang="0">
                  <a:pos x="177" y="366"/>
                </a:cxn>
                <a:cxn ang="0">
                  <a:pos x="231" y="240"/>
                </a:cxn>
                <a:cxn ang="0">
                  <a:pos x="177" y="165"/>
                </a:cxn>
                <a:cxn ang="0">
                  <a:pos x="156" y="51"/>
                </a:cxn>
                <a:cxn ang="0">
                  <a:pos x="0" y="0"/>
                </a:cxn>
              </a:cxnLst>
              <a:rect l="0" t="0" r="r" b="b"/>
              <a:pathLst>
                <a:path w="1086" h="1287">
                  <a:moveTo>
                    <a:pt x="0" y="0"/>
                  </a:moveTo>
                  <a:lnTo>
                    <a:pt x="0" y="924"/>
                  </a:lnTo>
                  <a:lnTo>
                    <a:pt x="1086" y="1287"/>
                  </a:lnTo>
                  <a:lnTo>
                    <a:pt x="1086" y="1086"/>
                  </a:lnTo>
                  <a:lnTo>
                    <a:pt x="939" y="945"/>
                  </a:lnTo>
                  <a:lnTo>
                    <a:pt x="762" y="930"/>
                  </a:lnTo>
                  <a:lnTo>
                    <a:pt x="705" y="840"/>
                  </a:lnTo>
                  <a:lnTo>
                    <a:pt x="588" y="825"/>
                  </a:lnTo>
                  <a:lnTo>
                    <a:pt x="519" y="720"/>
                  </a:lnTo>
                  <a:lnTo>
                    <a:pt x="324" y="720"/>
                  </a:lnTo>
                  <a:lnTo>
                    <a:pt x="333" y="489"/>
                  </a:lnTo>
                  <a:lnTo>
                    <a:pt x="177" y="366"/>
                  </a:lnTo>
                  <a:lnTo>
                    <a:pt x="231" y="240"/>
                  </a:lnTo>
                  <a:lnTo>
                    <a:pt x="177" y="165"/>
                  </a:lnTo>
                  <a:lnTo>
                    <a:pt x="156" y="51"/>
                  </a:lnTo>
                  <a:lnTo>
                    <a:pt x="0" y="0"/>
                  </a:lnTo>
                  <a:close/>
                </a:path>
              </a:pathLst>
            </a:custGeom>
            <a:solidFill>
              <a:srgbClr val="FFCC99"/>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9" name="Rectangle 8"/>
            <p:cNvSpPr/>
            <p:nvPr/>
          </p:nvSpPr>
          <p:spPr>
            <a:xfrm rot="20494381">
              <a:off x="4010301" y="5825955"/>
              <a:ext cx="1493678" cy="515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76" name="Rectangle 75"/>
            <p:cNvSpPr/>
            <p:nvPr/>
          </p:nvSpPr>
          <p:spPr>
            <a:xfrm rot="16200000">
              <a:off x="5863708" y="4380424"/>
              <a:ext cx="1493678" cy="1084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grpSp>
      <p:grpSp>
        <p:nvGrpSpPr>
          <p:cNvPr id="3" name="Group 141"/>
          <p:cNvGrpSpPr>
            <a:grpSpLocks/>
          </p:cNvGrpSpPr>
          <p:nvPr/>
        </p:nvGrpSpPr>
        <p:grpSpPr bwMode="auto">
          <a:xfrm>
            <a:off x="5402987" y="3174340"/>
            <a:ext cx="3147351" cy="1678865"/>
            <a:chOff x="3340" y="2485"/>
            <a:chExt cx="1943" cy="1382"/>
          </a:xfrm>
        </p:grpSpPr>
        <p:sp>
          <p:nvSpPr>
            <p:cNvPr id="372857" name="Line 121"/>
            <p:cNvSpPr>
              <a:spLocks noChangeShapeType="1"/>
            </p:cNvSpPr>
            <p:nvPr/>
          </p:nvSpPr>
          <p:spPr bwMode="auto">
            <a:xfrm flipV="1">
              <a:off x="4419" y="3213"/>
              <a:ext cx="860" cy="287"/>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58" name="Line 122"/>
            <p:cNvSpPr>
              <a:spLocks noChangeShapeType="1"/>
            </p:cNvSpPr>
            <p:nvPr/>
          </p:nvSpPr>
          <p:spPr bwMode="auto">
            <a:xfrm flipV="1">
              <a:off x="4420" y="3213"/>
              <a:ext cx="859" cy="287"/>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59" name="Line 123"/>
            <p:cNvSpPr>
              <a:spLocks noChangeShapeType="1"/>
            </p:cNvSpPr>
            <p:nvPr/>
          </p:nvSpPr>
          <p:spPr bwMode="auto">
            <a:xfrm flipV="1">
              <a:off x="3346" y="2495"/>
              <a:ext cx="860" cy="286"/>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60" name="AutoShape 124"/>
            <p:cNvSpPr>
              <a:spLocks noChangeArrowheads="1"/>
            </p:cNvSpPr>
            <p:nvPr/>
          </p:nvSpPr>
          <p:spPr bwMode="auto">
            <a:xfrm rot="5400000">
              <a:off x="4193" y="2493"/>
              <a:ext cx="1085" cy="1077"/>
            </a:xfrm>
            <a:prstGeom prst="parallelogram">
              <a:avLst>
                <a:gd name="adj" fmla="val 33012"/>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61" name="AutoShape 125"/>
            <p:cNvSpPr>
              <a:spLocks noChangeArrowheads="1"/>
            </p:cNvSpPr>
            <p:nvPr/>
          </p:nvSpPr>
          <p:spPr bwMode="auto">
            <a:xfrm rot="16200000" flipH="1">
              <a:off x="3262" y="2567"/>
              <a:ext cx="1018" cy="862"/>
            </a:xfrm>
            <a:prstGeom prst="parallelogram">
              <a:avLst>
                <a:gd name="adj" fmla="val 33477"/>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62" name="AutoShape 126"/>
            <p:cNvSpPr>
              <a:spLocks noChangeArrowheads="1"/>
            </p:cNvSpPr>
            <p:nvPr/>
          </p:nvSpPr>
          <p:spPr bwMode="auto">
            <a:xfrm rot="16200000" flipH="1">
              <a:off x="4339" y="2927"/>
              <a:ext cx="1018" cy="862"/>
            </a:xfrm>
            <a:prstGeom prst="parallelogram">
              <a:avLst>
                <a:gd name="adj" fmla="val 33477"/>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64" name="AutoShape 128"/>
            <p:cNvSpPr>
              <a:spLocks noChangeArrowheads="1"/>
            </p:cNvSpPr>
            <p:nvPr/>
          </p:nvSpPr>
          <p:spPr bwMode="auto">
            <a:xfrm rot="5400000">
              <a:off x="3336" y="2781"/>
              <a:ext cx="1090" cy="1081"/>
            </a:xfrm>
            <a:prstGeom prst="parallelogram">
              <a:avLst>
                <a:gd name="adj" fmla="val 33653"/>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65" name="Freeform 129"/>
            <p:cNvSpPr>
              <a:spLocks/>
            </p:cNvSpPr>
            <p:nvPr/>
          </p:nvSpPr>
          <p:spPr bwMode="auto">
            <a:xfrm>
              <a:off x="3340" y="2485"/>
              <a:ext cx="1943" cy="657"/>
            </a:xfrm>
            <a:custGeom>
              <a:avLst/>
              <a:gdLst/>
              <a:ahLst/>
              <a:cxnLst>
                <a:cxn ang="0">
                  <a:pos x="1943" y="362"/>
                </a:cxn>
                <a:cxn ang="0">
                  <a:pos x="1080" y="657"/>
                </a:cxn>
                <a:cxn ang="0">
                  <a:pos x="0" y="293"/>
                </a:cxn>
                <a:cxn ang="0">
                  <a:pos x="857" y="0"/>
                </a:cxn>
                <a:cxn ang="0">
                  <a:pos x="1943" y="362"/>
                </a:cxn>
              </a:cxnLst>
              <a:rect l="0" t="0" r="r" b="b"/>
              <a:pathLst>
                <a:path w="1943" h="657">
                  <a:moveTo>
                    <a:pt x="1943" y="362"/>
                  </a:moveTo>
                  <a:lnTo>
                    <a:pt x="1080" y="657"/>
                  </a:lnTo>
                  <a:lnTo>
                    <a:pt x="0" y="293"/>
                  </a:lnTo>
                  <a:lnTo>
                    <a:pt x="857" y="0"/>
                  </a:lnTo>
                  <a:lnTo>
                    <a:pt x="1943" y="362"/>
                  </a:lnTo>
                  <a:close/>
                </a:path>
              </a:pathLst>
            </a:custGeom>
            <a:solidFill>
              <a:srgbClr val="FFCC99"/>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73" name="Line 137"/>
            <p:cNvSpPr>
              <a:spLocks noChangeShapeType="1"/>
            </p:cNvSpPr>
            <p:nvPr/>
          </p:nvSpPr>
          <p:spPr bwMode="auto">
            <a:xfrm>
              <a:off x="5014" y="2998"/>
              <a:ext cx="42" cy="21"/>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pic>
          <p:nvPicPr>
            <p:cNvPr id="372778" name="Picture 42"/>
            <p:cNvPicPr>
              <a:picLocks noChangeAspect="1" noChangeArrowheads="1"/>
            </p:cNvPicPr>
            <p:nvPr/>
          </p:nvPicPr>
          <p:blipFill>
            <a:blip r:embed="rId3" cstate="print">
              <a:lum bright="12000"/>
            </a:blip>
            <a:srcRect r="38737"/>
            <a:stretch>
              <a:fillRect/>
            </a:stretch>
          </p:blipFill>
          <p:spPr bwMode="auto">
            <a:xfrm>
              <a:off x="4667" y="3233"/>
              <a:ext cx="427" cy="507"/>
            </a:xfrm>
            <a:prstGeom prst="rect">
              <a:avLst/>
            </a:prstGeom>
            <a:noFill/>
            <a:ln w="3175">
              <a:noFill/>
              <a:miter lim="800000"/>
              <a:headEnd/>
              <a:tailEnd/>
            </a:ln>
            <a:effectLst/>
          </p:spPr>
        </p:pic>
        <p:sp>
          <p:nvSpPr>
            <p:cNvPr id="372773" name="Freeform 37"/>
            <p:cNvSpPr>
              <a:spLocks/>
            </p:cNvSpPr>
            <p:nvPr/>
          </p:nvSpPr>
          <p:spPr bwMode="auto">
            <a:xfrm>
              <a:off x="3680" y="2604"/>
              <a:ext cx="1260" cy="576"/>
            </a:xfrm>
            <a:custGeom>
              <a:avLst/>
              <a:gdLst/>
              <a:ahLst/>
              <a:cxnLst>
                <a:cxn ang="0">
                  <a:pos x="168" y="0"/>
                </a:cxn>
                <a:cxn ang="0">
                  <a:pos x="1258" y="361"/>
                </a:cxn>
                <a:cxn ang="0">
                  <a:pos x="1260" y="516"/>
                </a:cxn>
                <a:cxn ang="0">
                  <a:pos x="1096" y="576"/>
                </a:cxn>
                <a:cxn ang="0">
                  <a:pos x="1094" y="424"/>
                </a:cxn>
                <a:cxn ang="0">
                  <a:pos x="0" y="56"/>
                </a:cxn>
                <a:cxn ang="0">
                  <a:pos x="168" y="0"/>
                </a:cxn>
              </a:cxnLst>
              <a:rect l="0" t="0" r="r" b="b"/>
              <a:pathLst>
                <a:path w="1260" h="576">
                  <a:moveTo>
                    <a:pt x="168" y="0"/>
                  </a:moveTo>
                  <a:lnTo>
                    <a:pt x="1258" y="361"/>
                  </a:lnTo>
                  <a:lnTo>
                    <a:pt x="1260" y="516"/>
                  </a:lnTo>
                  <a:lnTo>
                    <a:pt x="1096" y="576"/>
                  </a:lnTo>
                  <a:lnTo>
                    <a:pt x="1094" y="424"/>
                  </a:lnTo>
                  <a:lnTo>
                    <a:pt x="0" y="56"/>
                  </a:lnTo>
                  <a:lnTo>
                    <a:pt x="168" y="0"/>
                  </a:lnTo>
                  <a:close/>
                </a:path>
              </a:pathLst>
            </a:custGeom>
            <a:solidFill>
              <a:srgbClr val="CCFFFF">
                <a:alpha val="50999"/>
              </a:srgbClr>
            </a:solidFill>
            <a:ln w="3175" cap="flat" cmpd="sng">
              <a:solidFill>
                <a:srgbClr val="969696"/>
              </a:solidFill>
              <a:prstDash val="sysDot"/>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74" name="Line 138"/>
            <p:cNvSpPr>
              <a:spLocks noChangeShapeType="1"/>
            </p:cNvSpPr>
            <p:nvPr/>
          </p:nvSpPr>
          <p:spPr bwMode="auto">
            <a:xfrm flipH="1" flipV="1">
              <a:off x="3768" y="2634"/>
              <a:ext cx="1068" cy="35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grpSp>
        <p:nvGrpSpPr>
          <p:cNvPr id="4" name="Group 81"/>
          <p:cNvGrpSpPr>
            <a:grpSpLocks/>
          </p:cNvGrpSpPr>
          <p:nvPr/>
        </p:nvGrpSpPr>
        <p:grpSpPr bwMode="auto">
          <a:xfrm>
            <a:off x="5248284" y="724028"/>
            <a:ext cx="3432442" cy="1983783"/>
            <a:chOff x="3516" y="874"/>
            <a:chExt cx="1503" cy="1158"/>
          </a:xfrm>
        </p:grpSpPr>
        <p:sp>
          <p:nvSpPr>
            <p:cNvPr id="372818" name="Freeform 82"/>
            <p:cNvSpPr>
              <a:spLocks/>
            </p:cNvSpPr>
            <p:nvPr/>
          </p:nvSpPr>
          <p:spPr bwMode="auto">
            <a:xfrm>
              <a:off x="4127" y="1055"/>
              <a:ext cx="892" cy="526"/>
            </a:xfrm>
            <a:custGeom>
              <a:avLst/>
              <a:gdLst/>
              <a:ahLst/>
              <a:cxnLst>
                <a:cxn ang="0">
                  <a:pos x="892" y="526"/>
                </a:cxn>
                <a:cxn ang="0">
                  <a:pos x="832" y="253"/>
                </a:cxn>
                <a:cxn ang="0">
                  <a:pos x="70" y="0"/>
                </a:cxn>
                <a:cxn ang="0">
                  <a:pos x="0" y="269"/>
                </a:cxn>
                <a:cxn ang="0">
                  <a:pos x="892" y="526"/>
                </a:cxn>
              </a:cxnLst>
              <a:rect l="0" t="0" r="r" b="b"/>
              <a:pathLst>
                <a:path w="892" h="526">
                  <a:moveTo>
                    <a:pt x="892" y="526"/>
                  </a:moveTo>
                  <a:lnTo>
                    <a:pt x="832" y="253"/>
                  </a:lnTo>
                  <a:lnTo>
                    <a:pt x="70" y="0"/>
                  </a:lnTo>
                  <a:lnTo>
                    <a:pt x="0" y="269"/>
                  </a:lnTo>
                  <a:lnTo>
                    <a:pt x="892" y="526"/>
                  </a:lnTo>
                  <a:close/>
                </a:path>
              </a:pathLst>
            </a:custGeom>
            <a:solidFill>
              <a:srgbClr val="FFCC99"/>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19" name="Line 83"/>
            <p:cNvSpPr>
              <a:spLocks noChangeShapeType="1"/>
            </p:cNvSpPr>
            <p:nvPr/>
          </p:nvSpPr>
          <p:spPr bwMode="auto">
            <a:xfrm flipV="1">
              <a:off x="4352" y="1568"/>
              <a:ext cx="610" cy="20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0" name="Line 84"/>
            <p:cNvSpPr>
              <a:spLocks noChangeShapeType="1"/>
            </p:cNvSpPr>
            <p:nvPr/>
          </p:nvSpPr>
          <p:spPr bwMode="auto">
            <a:xfrm flipV="1">
              <a:off x="4353" y="1568"/>
              <a:ext cx="609" cy="20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1" name="Line 85"/>
            <p:cNvSpPr>
              <a:spLocks noChangeShapeType="1"/>
            </p:cNvSpPr>
            <p:nvPr/>
          </p:nvSpPr>
          <p:spPr bwMode="auto">
            <a:xfrm flipV="1">
              <a:off x="3591" y="1059"/>
              <a:ext cx="610" cy="203"/>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2" name="AutoShape 86"/>
            <p:cNvSpPr>
              <a:spLocks noChangeArrowheads="1"/>
            </p:cNvSpPr>
            <p:nvPr/>
          </p:nvSpPr>
          <p:spPr bwMode="auto">
            <a:xfrm rot="5400000">
              <a:off x="4192" y="1058"/>
              <a:ext cx="769" cy="764"/>
            </a:xfrm>
            <a:prstGeom prst="parallelogram">
              <a:avLst>
                <a:gd name="adj" fmla="val 32983"/>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23" name="AutoShape 87"/>
            <p:cNvSpPr>
              <a:spLocks noChangeArrowheads="1"/>
            </p:cNvSpPr>
            <p:nvPr/>
          </p:nvSpPr>
          <p:spPr bwMode="auto">
            <a:xfrm rot="16200000" flipH="1">
              <a:off x="3532" y="1110"/>
              <a:ext cx="722" cy="611"/>
            </a:xfrm>
            <a:prstGeom prst="parallelogram">
              <a:avLst>
                <a:gd name="adj" fmla="val 33497"/>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24" name="AutoShape 88"/>
            <p:cNvSpPr>
              <a:spLocks noChangeArrowheads="1"/>
            </p:cNvSpPr>
            <p:nvPr/>
          </p:nvSpPr>
          <p:spPr bwMode="auto">
            <a:xfrm rot="16200000" flipH="1">
              <a:off x="4296" y="1365"/>
              <a:ext cx="722" cy="611"/>
            </a:xfrm>
            <a:prstGeom prst="parallelogram">
              <a:avLst>
                <a:gd name="adj" fmla="val 33497"/>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25" name="Line 89"/>
            <p:cNvSpPr>
              <a:spLocks noChangeShapeType="1"/>
            </p:cNvSpPr>
            <p:nvPr/>
          </p:nvSpPr>
          <p:spPr bwMode="auto">
            <a:xfrm>
              <a:off x="4086" y="1106"/>
              <a:ext cx="0" cy="409"/>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6" name="AutoShape 90"/>
            <p:cNvSpPr>
              <a:spLocks noChangeArrowheads="1"/>
            </p:cNvSpPr>
            <p:nvPr/>
          </p:nvSpPr>
          <p:spPr bwMode="auto">
            <a:xfrm rot="5400000">
              <a:off x="3584" y="1262"/>
              <a:ext cx="773" cy="767"/>
            </a:xfrm>
            <a:prstGeom prst="parallelogram">
              <a:avLst>
                <a:gd name="adj" fmla="val 33636"/>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27" name="Freeform 91"/>
            <p:cNvSpPr>
              <a:spLocks/>
            </p:cNvSpPr>
            <p:nvPr/>
          </p:nvSpPr>
          <p:spPr bwMode="auto">
            <a:xfrm>
              <a:off x="3516" y="1260"/>
              <a:ext cx="837" cy="534"/>
            </a:xfrm>
            <a:custGeom>
              <a:avLst/>
              <a:gdLst/>
              <a:ahLst/>
              <a:cxnLst>
                <a:cxn ang="0">
                  <a:pos x="774" y="534"/>
                </a:cxn>
                <a:cxn ang="0">
                  <a:pos x="837" y="258"/>
                </a:cxn>
                <a:cxn ang="0">
                  <a:pos x="71" y="0"/>
                </a:cxn>
                <a:cxn ang="0">
                  <a:pos x="0" y="269"/>
                </a:cxn>
                <a:cxn ang="0">
                  <a:pos x="774" y="534"/>
                </a:cxn>
              </a:cxnLst>
              <a:rect l="0" t="0" r="r" b="b"/>
              <a:pathLst>
                <a:path w="837" h="534">
                  <a:moveTo>
                    <a:pt x="774" y="534"/>
                  </a:moveTo>
                  <a:lnTo>
                    <a:pt x="837" y="258"/>
                  </a:lnTo>
                  <a:lnTo>
                    <a:pt x="71" y="0"/>
                  </a:lnTo>
                  <a:lnTo>
                    <a:pt x="0" y="269"/>
                  </a:lnTo>
                  <a:lnTo>
                    <a:pt x="774" y="534"/>
                  </a:lnTo>
                  <a:close/>
                </a:path>
              </a:pathLst>
            </a:custGeom>
            <a:solidFill>
              <a:srgbClr val="FFCC99"/>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8" name="Freeform 92"/>
            <p:cNvSpPr>
              <a:spLocks/>
            </p:cNvSpPr>
            <p:nvPr/>
          </p:nvSpPr>
          <p:spPr bwMode="auto">
            <a:xfrm>
              <a:off x="3886" y="1060"/>
              <a:ext cx="313" cy="109"/>
            </a:xfrm>
            <a:custGeom>
              <a:avLst/>
              <a:gdLst/>
              <a:ahLst/>
              <a:cxnLst>
                <a:cxn ang="0">
                  <a:pos x="0" y="116"/>
                </a:cxn>
                <a:cxn ang="0">
                  <a:pos x="330" y="0"/>
                </a:cxn>
              </a:cxnLst>
              <a:rect l="0" t="0" r="r" b="b"/>
              <a:pathLst>
                <a:path w="330" h="116">
                  <a:moveTo>
                    <a:pt x="0" y="116"/>
                  </a:moveTo>
                  <a:lnTo>
                    <a:pt x="330" y="0"/>
                  </a:lnTo>
                </a:path>
              </a:pathLst>
            </a:custGeom>
            <a:noFill/>
            <a:ln w="3175" cap="flat" cmpd="sng">
              <a:solidFill>
                <a:schemeClr val="tx1"/>
              </a:solidFill>
              <a:prstDash val="solid"/>
              <a:round/>
              <a:headEnd type="none" w="med" len="med"/>
              <a:tailEnd type="none" w="med" len="me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9" name="Freeform 93"/>
            <p:cNvSpPr>
              <a:spLocks/>
            </p:cNvSpPr>
            <p:nvPr/>
          </p:nvSpPr>
          <p:spPr bwMode="auto">
            <a:xfrm>
              <a:off x="4350" y="1341"/>
              <a:ext cx="475" cy="165"/>
            </a:xfrm>
            <a:custGeom>
              <a:avLst/>
              <a:gdLst/>
              <a:ahLst/>
              <a:cxnLst>
                <a:cxn ang="0">
                  <a:pos x="0" y="174"/>
                </a:cxn>
                <a:cxn ang="0">
                  <a:pos x="502" y="0"/>
                </a:cxn>
                <a:cxn ang="0">
                  <a:pos x="501" y="14"/>
                </a:cxn>
              </a:cxnLst>
              <a:rect l="0" t="0" r="r" b="b"/>
              <a:pathLst>
                <a:path w="502" h="174">
                  <a:moveTo>
                    <a:pt x="0" y="174"/>
                  </a:moveTo>
                  <a:lnTo>
                    <a:pt x="502" y="0"/>
                  </a:lnTo>
                  <a:lnTo>
                    <a:pt x="501" y="14"/>
                  </a:lnTo>
                </a:path>
              </a:pathLst>
            </a:custGeom>
            <a:no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30" name="Freeform 94"/>
            <p:cNvSpPr>
              <a:spLocks/>
            </p:cNvSpPr>
            <p:nvPr/>
          </p:nvSpPr>
          <p:spPr bwMode="auto">
            <a:xfrm>
              <a:off x="4454" y="1310"/>
              <a:ext cx="499" cy="173"/>
            </a:xfrm>
            <a:custGeom>
              <a:avLst/>
              <a:gdLst/>
              <a:ahLst/>
              <a:cxnLst>
                <a:cxn ang="0">
                  <a:pos x="0" y="183"/>
                </a:cxn>
                <a:cxn ang="0">
                  <a:pos x="0" y="174"/>
                </a:cxn>
                <a:cxn ang="0">
                  <a:pos x="527" y="0"/>
                </a:cxn>
              </a:cxnLst>
              <a:rect l="0" t="0" r="r" b="b"/>
              <a:pathLst>
                <a:path w="527" h="183">
                  <a:moveTo>
                    <a:pt x="0" y="183"/>
                  </a:moveTo>
                  <a:lnTo>
                    <a:pt x="0" y="174"/>
                  </a:lnTo>
                  <a:lnTo>
                    <a:pt x="527" y="0"/>
                  </a:lnTo>
                </a:path>
              </a:pathLst>
            </a:custGeom>
            <a:no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31" name="AutoShape 95"/>
            <p:cNvSpPr>
              <a:spLocks noChangeArrowheads="1"/>
            </p:cNvSpPr>
            <p:nvPr/>
          </p:nvSpPr>
          <p:spPr bwMode="auto">
            <a:xfrm rot="16200000" flipH="1">
              <a:off x="4462" y="1141"/>
              <a:ext cx="339" cy="287"/>
            </a:xfrm>
            <a:prstGeom prst="parallelogram">
              <a:avLst>
                <a:gd name="adj" fmla="val 33483"/>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32" name="AutoShape 96"/>
            <p:cNvSpPr>
              <a:spLocks noChangeArrowheads="1"/>
            </p:cNvSpPr>
            <p:nvPr/>
          </p:nvSpPr>
          <p:spPr bwMode="auto">
            <a:xfrm rot="16200000" flipH="1">
              <a:off x="3739" y="900"/>
              <a:ext cx="339" cy="287"/>
            </a:xfrm>
            <a:prstGeom prst="parallelogram">
              <a:avLst>
                <a:gd name="adj" fmla="val 32001"/>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33" name="Freeform 97"/>
            <p:cNvSpPr>
              <a:spLocks/>
            </p:cNvSpPr>
            <p:nvPr/>
          </p:nvSpPr>
          <p:spPr bwMode="auto">
            <a:xfrm>
              <a:off x="3595" y="1105"/>
              <a:ext cx="492" cy="155"/>
            </a:xfrm>
            <a:custGeom>
              <a:avLst/>
              <a:gdLst/>
              <a:ahLst/>
              <a:cxnLst>
                <a:cxn ang="0">
                  <a:pos x="520" y="0"/>
                </a:cxn>
                <a:cxn ang="0">
                  <a:pos x="488" y="8"/>
                </a:cxn>
                <a:cxn ang="0">
                  <a:pos x="488" y="20"/>
                </a:cxn>
                <a:cxn ang="0">
                  <a:pos x="176" y="120"/>
                </a:cxn>
                <a:cxn ang="0">
                  <a:pos x="176" y="108"/>
                </a:cxn>
                <a:cxn ang="0">
                  <a:pos x="0" y="164"/>
                </a:cxn>
              </a:cxnLst>
              <a:rect l="0" t="0" r="r" b="b"/>
              <a:pathLst>
                <a:path w="520" h="164">
                  <a:moveTo>
                    <a:pt x="520" y="0"/>
                  </a:moveTo>
                  <a:lnTo>
                    <a:pt x="488" y="8"/>
                  </a:lnTo>
                  <a:lnTo>
                    <a:pt x="488" y="20"/>
                  </a:lnTo>
                  <a:lnTo>
                    <a:pt x="176" y="120"/>
                  </a:lnTo>
                  <a:lnTo>
                    <a:pt x="176" y="108"/>
                  </a:lnTo>
                  <a:lnTo>
                    <a:pt x="0" y="164"/>
                  </a:lnTo>
                </a:path>
              </a:pathLst>
            </a:custGeom>
            <a:no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34" name="Line 98"/>
            <p:cNvSpPr>
              <a:spLocks noChangeShapeType="1"/>
            </p:cNvSpPr>
            <p:nvPr/>
          </p:nvSpPr>
          <p:spPr bwMode="auto">
            <a:xfrm>
              <a:off x="4019" y="1169"/>
              <a:ext cx="30" cy="16"/>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35" name="Line 99"/>
            <p:cNvSpPr>
              <a:spLocks noChangeShapeType="1"/>
            </p:cNvSpPr>
            <p:nvPr/>
          </p:nvSpPr>
          <p:spPr bwMode="auto">
            <a:xfrm>
              <a:off x="4774" y="1416"/>
              <a:ext cx="30" cy="15"/>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grpSp>
        <p:nvGrpSpPr>
          <p:cNvPr id="5" name="Group 43"/>
          <p:cNvGrpSpPr>
            <a:grpSpLocks/>
          </p:cNvGrpSpPr>
          <p:nvPr/>
        </p:nvGrpSpPr>
        <p:grpSpPr bwMode="auto">
          <a:xfrm>
            <a:off x="3560171" y="734711"/>
            <a:ext cx="2152435" cy="1828323"/>
            <a:chOff x="393" y="697"/>
            <a:chExt cx="1735" cy="1865"/>
          </a:xfrm>
        </p:grpSpPr>
        <p:pic>
          <p:nvPicPr>
            <p:cNvPr id="372780" name="Picture 44"/>
            <p:cNvPicPr>
              <a:picLocks noChangeAspect="1" noChangeArrowheads="1"/>
            </p:cNvPicPr>
            <p:nvPr/>
          </p:nvPicPr>
          <p:blipFill>
            <a:blip r:embed="rId4" cstate="print"/>
            <a:srcRect/>
            <a:stretch>
              <a:fillRect/>
            </a:stretch>
          </p:blipFill>
          <p:spPr bwMode="auto">
            <a:xfrm>
              <a:off x="503" y="795"/>
              <a:ext cx="1484" cy="1557"/>
            </a:xfrm>
            <a:prstGeom prst="rect">
              <a:avLst/>
            </a:prstGeom>
            <a:noFill/>
            <a:ln w="3175">
              <a:noFill/>
              <a:miter lim="800000"/>
              <a:headEnd/>
              <a:tailEnd/>
            </a:ln>
            <a:effectLst/>
          </p:spPr>
        </p:pic>
        <p:grpSp>
          <p:nvGrpSpPr>
            <p:cNvPr id="6" name="Group 45"/>
            <p:cNvGrpSpPr>
              <a:grpSpLocks/>
            </p:cNvGrpSpPr>
            <p:nvPr/>
          </p:nvGrpSpPr>
          <p:grpSpPr bwMode="auto">
            <a:xfrm>
              <a:off x="393" y="1077"/>
              <a:ext cx="702" cy="1485"/>
              <a:chOff x="393" y="1077"/>
              <a:chExt cx="702" cy="1485"/>
            </a:xfrm>
          </p:grpSpPr>
          <p:sp>
            <p:nvSpPr>
              <p:cNvPr id="372782" name="Freeform 46"/>
              <p:cNvSpPr>
                <a:spLocks/>
              </p:cNvSpPr>
              <p:nvPr/>
            </p:nvSpPr>
            <p:spPr bwMode="auto">
              <a:xfrm>
                <a:off x="393" y="1077"/>
                <a:ext cx="548" cy="1480"/>
              </a:xfrm>
              <a:custGeom>
                <a:avLst/>
                <a:gdLst/>
                <a:ahLst/>
                <a:cxnLst>
                  <a:cxn ang="0">
                    <a:pos x="340" y="0"/>
                  </a:cxn>
                  <a:cxn ang="0">
                    <a:pos x="31" y="109"/>
                  </a:cxn>
                  <a:cxn ang="0">
                    <a:pos x="18" y="116"/>
                  </a:cxn>
                  <a:cxn ang="0">
                    <a:pos x="8" y="127"/>
                  </a:cxn>
                  <a:cxn ang="0">
                    <a:pos x="1" y="142"/>
                  </a:cxn>
                  <a:cxn ang="0">
                    <a:pos x="0" y="1390"/>
                  </a:cxn>
                  <a:cxn ang="0">
                    <a:pos x="5" y="1406"/>
                  </a:cxn>
                  <a:cxn ang="0">
                    <a:pos x="14" y="1416"/>
                  </a:cxn>
                  <a:cxn ang="0">
                    <a:pos x="62" y="1433"/>
                  </a:cxn>
                  <a:cxn ang="0">
                    <a:pos x="122" y="1416"/>
                  </a:cxn>
                  <a:cxn ang="0">
                    <a:pos x="125" y="1442"/>
                  </a:cxn>
                  <a:cxn ang="0">
                    <a:pos x="132" y="1457"/>
                  </a:cxn>
                  <a:cxn ang="0">
                    <a:pos x="205" y="1480"/>
                  </a:cxn>
                  <a:cxn ang="0">
                    <a:pos x="435" y="330"/>
                  </a:cxn>
                  <a:cxn ang="0">
                    <a:pos x="548" y="70"/>
                  </a:cxn>
                  <a:cxn ang="0">
                    <a:pos x="340" y="0"/>
                  </a:cxn>
                </a:cxnLst>
                <a:rect l="0" t="0" r="r" b="b"/>
                <a:pathLst>
                  <a:path w="548" h="1480">
                    <a:moveTo>
                      <a:pt x="340" y="0"/>
                    </a:moveTo>
                    <a:lnTo>
                      <a:pt x="31" y="109"/>
                    </a:lnTo>
                    <a:lnTo>
                      <a:pt x="18" y="116"/>
                    </a:lnTo>
                    <a:lnTo>
                      <a:pt x="8" y="127"/>
                    </a:lnTo>
                    <a:lnTo>
                      <a:pt x="1" y="142"/>
                    </a:lnTo>
                    <a:lnTo>
                      <a:pt x="0" y="1390"/>
                    </a:lnTo>
                    <a:lnTo>
                      <a:pt x="5" y="1406"/>
                    </a:lnTo>
                    <a:lnTo>
                      <a:pt x="14" y="1416"/>
                    </a:lnTo>
                    <a:lnTo>
                      <a:pt x="62" y="1433"/>
                    </a:lnTo>
                    <a:lnTo>
                      <a:pt x="122" y="1416"/>
                    </a:lnTo>
                    <a:lnTo>
                      <a:pt x="125" y="1442"/>
                    </a:lnTo>
                    <a:lnTo>
                      <a:pt x="132" y="1457"/>
                    </a:lnTo>
                    <a:lnTo>
                      <a:pt x="205" y="1480"/>
                    </a:lnTo>
                    <a:lnTo>
                      <a:pt x="435" y="330"/>
                    </a:lnTo>
                    <a:lnTo>
                      <a:pt x="548" y="70"/>
                    </a:lnTo>
                    <a:lnTo>
                      <a:pt x="340" y="0"/>
                    </a:lnTo>
                    <a:close/>
                  </a:path>
                </a:pathLst>
              </a:custGeom>
              <a:solidFill>
                <a:schemeClr val="bg1"/>
              </a:solid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nvGrpSpPr>
              <p:cNvPr id="7" name="Group 47"/>
              <p:cNvGrpSpPr>
                <a:grpSpLocks/>
              </p:cNvGrpSpPr>
              <p:nvPr/>
            </p:nvGrpSpPr>
            <p:grpSpPr bwMode="auto">
              <a:xfrm>
                <a:off x="410" y="1197"/>
                <a:ext cx="187" cy="91"/>
                <a:chOff x="3159" y="2887"/>
                <a:chExt cx="150" cy="77"/>
              </a:xfrm>
            </p:grpSpPr>
            <p:sp>
              <p:nvSpPr>
                <p:cNvPr id="372784" name="Line 48"/>
                <p:cNvSpPr>
                  <a:spLocks noChangeShapeType="1"/>
                </p:cNvSpPr>
                <p:nvPr/>
              </p:nvSpPr>
              <p:spPr bwMode="auto">
                <a:xfrm>
                  <a:off x="3178" y="2887"/>
                  <a:ext cx="131" cy="48"/>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85" name="Line 49"/>
                <p:cNvSpPr>
                  <a:spLocks noChangeShapeType="1"/>
                </p:cNvSpPr>
                <p:nvPr/>
              </p:nvSpPr>
              <p:spPr bwMode="auto">
                <a:xfrm>
                  <a:off x="3159" y="2916"/>
                  <a:ext cx="131" cy="48"/>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sp>
            <p:nvSpPr>
              <p:cNvPr id="372786" name="Freeform 50"/>
              <p:cNvSpPr>
                <a:spLocks/>
              </p:cNvSpPr>
              <p:nvPr/>
            </p:nvSpPr>
            <p:spPr bwMode="auto">
              <a:xfrm>
                <a:off x="593" y="1147"/>
                <a:ext cx="502" cy="1415"/>
              </a:xfrm>
              <a:custGeom>
                <a:avLst/>
                <a:gdLst/>
                <a:ahLst/>
                <a:cxnLst>
                  <a:cxn ang="0">
                    <a:pos x="345" y="0"/>
                  </a:cxn>
                  <a:cxn ang="0">
                    <a:pos x="42" y="100"/>
                  </a:cxn>
                  <a:cxn ang="0">
                    <a:pos x="21" y="115"/>
                  </a:cxn>
                  <a:cxn ang="0">
                    <a:pos x="7" y="127"/>
                  </a:cxn>
                  <a:cxn ang="0">
                    <a:pos x="3" y="140"/>
                  </a:cxn>
                  <a:cxn ang="0">
                    <a:pos x="0" y="1401"/>
                  </a:cxn>
                  <a:cxn ang="0">
                    <a:pos x="9" y="1413"/>
                  </a:cxn>
                  <a:cxn ang="0">
                    <a:pos x="28" y="1415"/>
                  </a:cxn>
                  <a:cxn ang="0">
                    <a:pos x="502" y="1259"/>
                  </a:cxn>
                  <a:cxn ang="0">
                    <a:pos x="502" y="1001"/>
                  </a:cxn>
                  <a:cxn ang="0">
                    <a:pos x="343" y="1053"/>
                  </a:cxn>
                  <a:cxn ang="0">
                    <a:pos x="258" y="988"/>
                  </a:cxn>
                  <a:cxn ang="0">
                    <a:pos x="258" y="266"/>
                  </a:cxn>
                  <a:cxn ang="0">
                    <a:pos x="345" y="139"/>
                  </a:cxn>
                  <a:cxn ang="0">
                    <a:pos x="345" y="0"/>
                  </a:cxn>
                </a:cxnLst>
                <a:rect l="0" t="0" r="r" b="b"/>
                <a:pathLst>
                  <a:path w="502" h="1415">
                    <a:moveTo>
                      <a:pt x="345" y="0"/>
                    </a:moveTo>
                    <a:lnTo>
                      <a:pt x="42" y="100"/>
                    </a:lnTo>
                    <a:lnTo>
                      <a:pt x="21" y="115"/>
                    </a:lnTo>
                    <a:lnTo>
                      <a:pt x="7" y="127"/>
                    </a:lnTo>
                    <a:lnTo>
                      <a:pt x="3" y="140"/>
                    </a:lnTo>
                    <a:lnTo>
                      <a:pt x="0" y="1401"/>
                    </a:lnTo>
                    <a:lnTo>
                      <a:pt x="9" y="1413"/>
                    </a:lnTo>
                    <a:lnTo>
                      <a:pt x="28" y="1415"/>
                    </a:lnTo>
                    <a:lnTo>
                      <a:pt x="502" y="1259"/>
                    </a:lnTo>
                    <a:lnTo>
                      <a:pt x="502" y="1001"/>
                    </a:lnTo>
                    <a:lnTo>
                      <a:pt x="343" y="1053"/>
                    </a:lnTo>
                    <a:lnTo>
                      <a:pt x="258" y="988"/>
                    </a:lnTo>
                    <a:lnTo>
                      <a:pt x="258" y="266"/>
                    </a:lnTo>
                    <a:lnTo>
                      <a:pt x="345" y="139"/>
                    </a:lnTo>
                    <a:lnTo>
                      <a:pt x="345" y="0"/>
                    </a:lnTo>
                    <a:close/>
                  </a:path>
                </a:pathLst>
              </a:custGeom>
              <a:solidFill>
                <a:schemeClr val="bg1"/>
              </a:solid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87" name="Freeform 51"/>
              <p:cNvSpPr>
                <a:spLocks/>
              </p:cNvSpPr>
              <p:nvPr/>
            </p:nvSpPr>
            <p:spPr bwMode="auto">
              <a:xfrm>
                <a:off x="456" y="2369"/>
                <a:ext cx="62" cy="145"/>
              </a:xfrm>
              <a:custGeom>
                <a:avLst/>
                <a:gdLst/>
                <a:ahLst/>
                <a:cxnLst>
                  <a:cxn ang="0">
                    <a:pos x="62" y="145"/>
                  </a:cxn>
                  <a:cxn ang="0">
                    <a:pos x="44" y="7"/>
                  </a:cxn>
                  <a:cxn ang="0">
                    <a:pos x="20" y="0"/>
                  </a:cxn>
                  <a:cxn ang="0">
                    <a:pos x="0" y="139"/>
                  </a:cxn>
                </a:cxnLst>
                <a:rect l="0" t="0" r="r" b="b"/>
                <a:pathLst>
                  <a:path w="62" h="145">
                    <a:moveTo>
                      <a:pt x="62" y="145"/>
                    </a:moveTo>
                    <a:lnTo>
                      <a:pt x="44" y="7"/>
                    </a:lnTo>
                    <a:lnTo>
                      <a:pt x="20" y="0"/>
                    </a:lnTo>
                    <a:lnTo>
                      <a:pt x="0" y="139"/>
                    </a:lnTo>
                  </a:path>
                </a:pathLst>
              </a:custGeom>
              <a:no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88" name="Freeform 52"/>
              <p:cNvSpPr>
                <a:spLocks/>
              </p:cNvSpPr>
              <p:nvPr/>
            </p:nvSpPr>
            <p:spPr bwMode="auto">
              <a:xfrm>
                <a:off x="909" y="2136"/>
                <a:ext cx="185" cy="65"/>
              </a:xfrm>
              <a:custGeom>
                <a:avLst/>
                <a:gdLst/>
                <a:ahLst/>
                <a:cxnLst>
                  <a:cxn ang="0">
                    <a:pos x="185" y="12"/>
                  </a:cxn>
                  <a:cxn ang="0">
                    <a:pos x="141" y="0"/>
                  </a:cxn>
                  <a:cxn ang="0">
                    <a:pos x="0" y="45"/>
                  </a:cxn>
                  <a:cxn ang="0">
                    <a:pos x="27" y="65"/>
                  </a:cxn>
                  <a:cxn ang="0">
                    <a:pos x="185" y="12"/>
                  </a:cxn>
                </a:cxnLst>
                <a:rect l="0" t="0" r="r" b="b"/>
                <a:pathLst>
                  <a:path w="185" h="65">
                    <a:moveTo>
                      <a:pt x="185" y="12"/>
                    </a:moveTo>
                    <a:lnTo>
                      <a:pt x="141" y="0"/>
                    </a:lnTo>
                    <a:lnTo>
                      <a:pt x="0" y="45"/>
                    </a:lnTo>
                    <a:lnTo>
                      <a:pt x="27" y="65"/>
                    </a:lnTo>
                    <a:lnTo>
                      <a:pt x="185" y="12"/>
                    </a:lnTo>
                    <a:close/>
                  </a:path>
                </a:pathLst>
              </a:custGeom>
              <a:solidFill>
                <a:schemeClr val="bg1"/>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grpSp>
          <p:nvGrpSpPr>
            <p:cNvPr id="8" name="Group 53"/>
            <p:cNvGrpSpPr>
              <a:grpSpLocks/>
            </p:cNvGrpSpPr>
            <p:nvPr/>
          </p:nvGrpSpPr>
          <p:grpSpPr bwMode="auto">
            <a:xfrm>
              <a:off x="1096" y="2038"/>
              <a:ext cx="508" cy="252"/>
              <a:chOff x="1096" y="2038"/>
              <a:chExt cx="508" cy="252"/>
            </a:xfrm>
          </p:grpSpPr>
          <p:sp>
            <p:nvSpPr>
              <p:cNvPr id="372790" name="Freeform 54"/>
              <p:cNvSpPr>
                <a:spLocks/>
              </p:cNvSpPr>
              <p:nvPr/>
            </p:nvSpPr>
            <p:spPr bwMode="auto">
              <a:xfrm>
                <a:off x="1096" y="2038"/>
                <a:ext cx="508" cy="252"/>
              </a:xfrm>
              <a:custGeom>
                <a:avLst/>
                <a:gdLst/>
                <a:ahLst/>
                <a:cxnLst>
                  <a:cxn ang="0">
                    <a:pos x="0" y="158"/>
                  </a:cxn>
                  <a:cxn ang="0">
                    <a:pos x="468" y="0"/>
                  </a:cxn>
                  <a:cxn ang="0">
                    <a:pos x="508" y="12"/>
                  </a:cxn>
                  <a:cxn ang="0">
                    <a:pos x="508" y="76"/>
                  </a:cxn>
                  <a:cxn ang="0">
                    <a:pos x="2" y="252"/>
                  </a:cxn>
                  <a:cxn ang="0">
                    <a:pos x="0" y="158"/>
                  </a:cxn>
                </a:cxnLst>
                <a:rect l="0" t="0" r="r" b="b"/>
                <a:pathLst>
                  <a:path w="508" h="252">
                    <a:moveTo>
                      <a:pt x="0" y="158"/>
                    </a:moveTo>
                    <a:lnTo>
                      <a:pt x="468" y="0"/>
                    </a:lnTo>
                    <a:lnTo>
                      <a:pt x="508" y="12"/>
                    </a:lnTo>
                    <a:lnTo>
                      <a:pt x="508" y="76"/>
                    </a:lnTo>
                    <a:lnTo>
                      <a:pt x="2" y="252"/>
                    </a:lnTo>
                    <a:lnTo>
                      <a:pt x="0" y="158"/>
                    </a:lnTo>
                    <a:close/>
                  </a:path>
                </a:pathLst>
              </a:custGeom>
              <a:solidFill>
                <a:srgbClr val="969696"/>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1" name="Line 55"/>
              <p:cNvSpPr>
                <a:spLocks noChangeShapeType="1"/>
              </p:cNvSpPr>
              <p:nvPr/>
            </p:nvSpPr>
            <p:spPr bwMode="auto">
              <a:xfrm flipV="1">
                <a:off x="1096" y="2050"/>
                <a:ext cx="508" cy="170"/>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2" name="Line 56"/>
              <p:cNvSpPr>
                <a:spLocks noChangeShapeType="1"/>
              </p:cNvSpPr>
              <p:nvPr/>
            </p:nvSpPr>
            <p:spPr bwMode="auto">
              <a:xfrm flipV="1">
                <a:off x="1096" y="2054"/>
                <a:ext cx="508" cy="170"/>
              </a:xfrm>
              <a:prstGeom prst="line">
                <a:avLst/>
              </a:prstGeom>
              <a:noFill/>
              <a:ln w="9525">
                <a:solidFill>
                  <a:srgbClr val="EAEAEA"/>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3" name="Freeform 57"/>
              <p:cNvSpPr>
                <a:spLocks/>
              </p:cNvSpPr>
              <p:nvPr/>
            </p:nvSpPr>
            <p:spPr bwMode="auto">
              <a:xfrm>
                <a:off x="1098" y="2038"/>
                <a:ext cx="502" cy="178"/>
              </a:xfrm>
              <a:custGeom>
                <a:avLst/>
                <a:gdLst/>
                <a:ahLst/>
                <a:cxnLst>
                  <a:cxn ang="0">
                    <a:pos x="468" y="0"/>
                  </a:cxn>
                  <a:cxn ang="0">
                    <a:pos x="502" y="12"/>
                  </a:cxn>
                  <a:cxn ang="0">
                    <a:pos x="0" y="178"/>
                  </a:cxn>
                  <a:cxn ang="0">
                    <a:pos x="0" y="156"/>
                  </a:cxn>
                  <a:cxn ang="0">
                    <a:pos x="468" y="0"/>
                  </a:cxn>
                </a:cxnLst>
                <a:rect l="0" t="0" r="r" b="b"/>
                <a:pathLst>
                  <a:path w="502" h="178">
                    <a:moveTo>
                      <a:pt x="468" y="0"/>
                    </a:moveTo>
                    <a:lnTo>
                      <a:pt x="502" y="12"/>
                    </a:lnTo>
                    <a:lnTo>
                      <a:pt x="0" y="178"/>
                    </a:lnTo>
                    <a:lnTo>
                      <a:pt x="0" y="156"/>
                    </a:lnTo>
                    <a:lnTo>
                      <a:pt x="468" y="0"/>
                    </a:lnTo>
                    <a:close/>
                  </a:path>
                </a:pathLst>
              </a:custGeom>
              <a:solidFill>
                <a:srgbClr val="777777"/>
              </a:solidFill>
              <a:ln w="3175" cap="flat" cmpd="sng">
                <a:no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sp>
          <p:nvSpPr>
            <p:cNvPr id="372794" name="Freeform 58"/>
            <p:cNvSpPr>
              <a:spLocks/>
            </p:cNvSpPr>
            <p:nvPr/>
          </p:nvSpPr>
          <p:spPr bwMode="auto">
            <a:xfrm>
              <a:off x="1418" y="697"/>
              <a:ext cx="695" cy="1541"/>
            </a:xfrm>
            <a:custGeom>
              <a:avLst/>
              <a:gdLst/>
              <a:ahLst/>
              <a:cxnLst>
                <a:cxn ang="0">
                  <a:pos x="493" y="0"/>
                </a:cxn>
                <a:cxn ang="0">
                  <a:pos x="481" y="0"/>
                </a:cxn>
                <a:cxn ang="0">
                  <a:pos x="469" y="2"/>
                </a:cxn>
                <a:cxn ang="0">
                  <a:pos x="168" y="101"/>
                </a:cxn>
                <a:cxn ang="0">
                  <a:pos x="168" y="190"/>
                </a:cxn>
                <a:cxn ang="0">
                  <a:pos x="203" y="178"/>
                </a:cxn>
                <a:cxn ang="0">
                  <a:pos x="332" y="226"/>
                </a:cxn>
                <a:cxn ang="0">
                  <a:pos x="329" y="300"/>
                </a:cxn>
                <a:cxn ang="0">
                  <a:pos x="413" y="364"/>
                </a:cxn>
                <a:cxn ang="0">
                  <a:pos x="413" y="1084"/>
                </a:cxn>
                <a:cxn ang="0">
                  <a:pos x="330" y="1216"/>
                </a:cxn>
                <a:cxn ang="0">
                  <a:pos x="145" y="1277"/>
                </a:cxn>
                <a:cxn ang="0">
                  <a:pos x="146" y="1343"/>
                </a:cxn>
                <a:cxn ang="0">
                  <a:pos x="93" y="1358"/>
                </a:cxn>
                <a:cxn ang="0">
                  <a:pos x="136" y="1372"/>
                </a:cxn>
                <a:cxn ang="0">
                  <a:pos x="136" y="1435"/>
                </a:cxn>
                <a:cxn ang="0">
                  <a:pos x="0" y="1481"/>
                </a:cxn>
                <a:cxn ang="0">
                  <a:pos x="38" y="1491"/>
                </a:cxn>
                <a:cxn ang="0">
                  <a:pos x="96" y="1472"/>
                </a:cxn>
                <a:cxn ang="0">
                  <a:pos x="103" y="1516"/>
                </a:cxn>
                <a:cxn ang="0">
                  <a:pos x="186" y="1541"/>
                </a:cxn>
                <a:cxn ang="0">
                  <a:pos x="510" y="1113"/>
                </a:cxn>
                <a:cxn ang="0">
                  <a:pos x="695" y="70"/>
                </a:cxn>
                <a:cxn ang="0">
                  <a:pos x="493" y="0"/>
                </a:cxn>
              </a:cxnLst>
              <a:rect l="0" t="0" r="r" b="b"/>
              <a:pathLst>
                <a:path w="695" h="1541">
                  <a:moveTo>
                    <a:pt x="493" y="0"/>
                  </a:moveTo>
                  <a:lnTo>
                    <a:pt x="481" y="0"/>
                  </a:lnTo>
                  <a:lnTo>
                    <a:pt x="469" y="2"/>
                  </a:lnTo>
                  <a:lnTo>
                    <a:pt x="168" y="101"/>
                  </a:lnTo>
                  <a:lnTo>
                    <a:pt x="168" y="190"/>
                  </a:lnTo>
                  <a:lnTo>
                    <a:pt x="203" y="178"/>
                  </a:lnTo>
                  <a:lnTo>
                    <a:pt x="332" y="226"/>
                  </a:lnTo>
                  <a:lnTo>
                    <a:pt x="329" y="300"/>
                  </a:lnTo>
                  <a:lnTo>
                    <a:pt x="413" y="364"/>
                  </a:lnTo>
                  <a:lnTo>
                    <a:pt x="413" y="1084"/>
                  </a:lnTo>
                  <a:lnTo>
                    <a:pt x="330" y="1216"/>
                  </a:lnTo>
                  <a:lnTo>
                    <a:pt x="145" y="1277"/>
                  </a:lnTo>
                  <a:lnTo>
                    <a:pt x="146" y="1343"/>
                  </a:lnTo>
                  <a:lnTo>
                    <a:pt x="93" y="1358"/>
                  </a:lnTo>
                  <a:lnTo>
                    <a:pt x="136" y="1372"/>
                  </a:lnTo>
                  <a:lnTo>
                    <a:pt x="136" y="1435"/>
                  </a:lnTo>
                  <a:lnTo>
                    <a:pt x="0" y="1481"/>
                  </a:lnTo>
                  <a:lnTo>
                    <a:pt x="38" y="1491"/>
                  </a:lnTo>
                  <a:lnTo>
                    <a:pt x="96" y="1472"/>
                  </a:lnTo>
                  <a:lnTo>
                    <a:pt x="103" y="1516"/>
                  </a:lnTo>
                  <a:lnTo>
                    <a:pt x="186" y="1541"/>
                  </a:lnTo>
                  <a:lnTo>
                    <a:pt x="510" y="1113"/>
                  </a:lnTo>
                  <a:lnTo>
                    <a:pt x="695" y="70"/>
                  </a:lnTo>
                  <a:lnTo>
                    <a:pt x="493" y="0"/>
                  </a:lnTo>
                  <a:close/>
                </a:path>
              </a:pathLst>
            </a:custGeom>
            <a:solidFill>
              <a:schemeClr val="bg1"/>
            </a:solid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5" name="Freeform 59"/>
            <p:cNvSpPr>
              <a:spLocks/>
            </p:cNvSpPr>
            <p:nvPr/>
          </p:nvSpPr>
          <p:spPr bwMode="auto">
            <a:xfrm>
              <a:off x="1604" y="765"/>
              <a:ext cx="524" cy="1472"/>
            </a:xfrm>
            <a:custGeom>
              <a:avLst/>
              <a:gdLst/>
              <a:ahLst/>
              <a:cxnLst>
                <a:cxn ang="0">
                  <a:pos x="522" y="10"/>
                </a:cxn>
                <a:cxn ang="0">
                  <a:pos x="509" y="1"/>
                </a:cxn>
                <a:cxn ang="0">
                  <a:pos x="496" y="0"/>
                </a:cxn>
                <a:cxn ang="0">
                  <a:pos x="485" y="3"/>
                </a:cxn>
                <a:cxn ang="0">
                  <a:pos x="184" y="100"/>
                </a:cxn>
                <a:cxn ang="0">
                  <a:pos x="184" y="242"/>
                </a:cxn>
                <a:cxn ang="0">
                  <a:pos x="270" y="312"/>
                </a:cxn>
                <a:cxn ang="0">
                  <a:pos x="270" y="1030"/>
                </a:cxn>
                <a:cxn ang="0">
                  <a:pos x="184" y="1162"/>
                </a:cxn>
                <a:cxn ang="0">
                  <a:pos x="0" y="1221"/>
                </a:cxn>
                <a:cxn ang="0">
                  <a:pos x="0" y="1472"/>
                </a:cxn>
                <a:cxn ang="0">
                  <a:pos x="493" y="1308"/>
                </a:cxn>
                <a:cxn ang="0">
                  <a:pos x="509" y="1295"/>
                </a:cxn>
                <a:cxn ang="0">
                  <a:pos x="517" y="1283"/>
                </a:cxn>
                <a:cxn ang="0">
                  <a:pos x="523" y="1260"/>
                </a:cxn>
                <a:cxn ang="0">
                  <a:pos x="524" y="35"/>
                </a:cxn>
                <a:cxn ang="0">
                  <a:pos x="522" y="10"/>
                </a:cxn>
              </a:cxnLst>
              <a:rect l="0" t="0" r="r" b="b"/>
              <a:pathLst>
                <a:path w="524" h="1472">
                  <a:moveTo>
                    <a:pt x="522" y="10"/>
                  </a:moveTo>
                  <a:lnTo>
                    <a:pt x="509" y="1"/>
                  </a:lnTo>
                  <a:lnTo>
                    <a:pt x="496" y="0"/>
                  </a:lnTo>
                  <a:lnTo>
                    <a:pt x="485" y="3"/>
                  </a:lnTo>
                  <a:lnTo>
                    <a:pt x="184" y="100"/>
                  </a:lnTo>
                  <a:lnTo>
                    <a:pt x="184" y="242"/>
                  </a:lnTo>
                  <a:lnTo>
                    <a:pt x="270" y="312"/>
                  </a:lnTo>
                  <a:lnTo>
                    <a:pt x="270" y="1030"/>
                  </a:lnTo>
                  <a:lnTo>
                    <a:pt x="184" y="1162"/>
                  </a:lnTo>
                  <a:lnTo>
                    <a:pt x="0" y="1221"/>
                  </a:lnTo>
                  <a:lnTo>
                    <a:pt x="0" y="1472"/>
                  </a:lnTo>
                  <a:lnTo>
                    <a:pt x="493" y="1308"/>
                  </a:lnTo>
                  <a:lnTo>
                    <a:pt x="509" y="1295"/>
                  </a:lnTo>
                  <a:lnTo>
                    <a:pt x="517" y="1283"/>
                  </a:lnTo>
                  <a:lnTo>
                    <a:pt x="523" y="1260"/>
                  </a:lnTo>
                  <a:lnTo>
                    <a:pt x="524" y="35"/>
                  </a:lnTo>
                  <a:lnTo>
                    <a:pt x="522" y="10"/>
                  </a:lnTo>
                  <a:close/>
                </a:path>
              </a:pathLst>
            </a:custGeom>
            <a:solidFill>
              <a:schemeClr val="bg1"/>
            </a:solid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6" name="Line 60"/>
            <p:cNvSpPr>
              <a:spLocks noChangeShapeType="1"/>
            </p:cNvSpPr>
            <p:nvPr/>
          </p:nvSpPr>
          <p:spPr bwMode="auto">
            <a:xfrm flipH="1" flipV="1">
              <a:off x="1589" y="796"/>
              <a:ext cx="198" cy="71"/>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7" name="Line 61"/>
            <p:cNvSpPr>
              <a:spLocks noChangeShapeType="1"/>
            </p:cNvSpPr>
            <p:nvPr/>
          </p:nvSpPr>
          <p:spPr bwMode="auto">
            <a:xfrm flipH="1" flipV="1">
              <a:off x="1832" y="1781"/>
              <a:ext cx="37" cy="1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8" name="Line 62"/>
            <p:cNvSpPr>
              <a:spLocks noChangeShapeType="1"/>
            </p:cNvSpPr>
            <p:nvPr/>
          </p:nvSpPr>
          <p:spPr bwMode="auto">
            <a:xfrm flipH="1" flipV="1">
              <a:off x="1747" y="993"/>
              <a:ext cx="37" cy="1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9" name="Line 63"/>
            <p:cNvSpPr>
              <a:spLocks noChangeShapeType="1"/>
            </p:cNvSpPr>
            <p:nvPr/>
          </p:nvSpPr>
          <p:spPr bwMode="auto">
            <a:xfrm flipH="1" flipV="1">
              <a:off x="1832" y="1061"/>
              <a:ext cx="37" cy="1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00" name="Line 64"/>
            <p:cNvSpPr>
              <a:spLocks noChangeShapeType="1"/>
            </p:cNvSpPr>
            <p:nvPr/>
          </p:nvSpPr>
          <p:spPr bwMode="auto">
            <a:xfrm flipH="1" flipV="1">
              <a:off x="1744" y="1913"/>
              <a:ext cx="37" cy="1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01" name="Line 65"/>
            <p:cNvSpPr>
              <a:spLocks noChangeShapeType="1"/>
            </p:cNvSpPr>
            <p:nvPr/>
          </p:nvSpPr>
          <p:spPr bwMode="auto">
            <a:xfrm flipH="1" flipV="1">
              <a:off x="1564" y="1975"/>
              <a:ext cx="37" cy="1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02" name="Freeform 66"/>
            <p:cNvSpPr>
              <a:spLocks/>
            </p:cNvSpPr>
            <p:nvPr/>
          </p:nvSpPr>
          <p:spPr bwMode="auto">
            <a:xfrm>
              <a:off x="1454" y="2148"/>
              <a:ext cx="60" cy="38"/>
            </a:xfrm>
            <a:custGeom>
              <a:avLst/>
              <a:gdLst/>
              <a:ahLst/>
              <a:cxnLst>
                <a:cxn ang="0">
                  <a:pos x="60" y="20"/>
                </a:cxn>
                <a:cxn ang="0">
                  <a:pos x="57" y="0"/>
                </a:cxn>
                <a:cxn ang="0">
                  <a:pos x="6" y="14"/>
                </a:cxn>
                <a:cxn ang="0">
                  <a:pos x="0" y="38"/>
                </a:cxn>
              </a:cxnLst>
              <a:rect l="0" t="0" r="r" b="b"/>
              <a:pathLst>
                <a:path w="60" h="38">
                  <a:moveTo>
                    <a:pt x="60" y="20"/>
                  </a:moveTo>
                  <a:lnTo>
                    <a:pt x="57" y="0"/>
                  </a:lnTo>
                  <a:lnTo>
                    <a:pt x="6" y="14"/>
                  </a:lnTo>
                  <a:lnTo>
                    <a:pt x="0" y="38"/>
                  </a:lnTo>
                </a:path>
              </a:pathLst>
            </a:custGeom>
            <a:no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sp>
        <p:nvSpPr>
          <p:cNvPr id="74" name="TextBox 73"/>
          <p:cNvSpPr txBox="1"/>
          <p:nvPr/>
        </p:nvSpPr>
        <p:spPr>
          <a:xfrm>
            <a:off x="218381" y="890555"/>
            <a:ext cx="3341789" cy="3139321"/>
          </a:xfrm>
          <a:prstGeom prst="rect">
            <a:avLst/>
          </a:prstGeom>
          <a:noFill/>
        </p:spPr>
        <p:txBody>
          <a:bodyPr wrap="square" rtlCol="0">
            <a:spAutoFit/>
          </a:bodyPr>
          <a:lstStyle/>
          <a:p>
            <a:pPr defTabSz="914400" fontAlgn="base">
              <a:spcBef>
                <a:spcPct val="0"/>
              </a:spcBef>
              <a:spcAft>
                <a:spcPct val="0"/>
              </a:spcAft>
            </a:pPr>
            <a:r>
              <a:rPr lang="en-US" u="sng" dirty="0" smtClean="0">
                <a:solidFill>
                  <a:prstClr val="black"/>
                </a:solidFill>
                <a:latin typeface="Arial" charset="0"/>
              </a:rPr>
              <a:t>Concept Description</a:t>
            </a:r>
          </a:p>
          <a:p>
            <a:pPr marL="285750" indent="-285750" defTabSz="914400" fontAlgn="base">
              <a:spcBef>
                <a:spcPct val="0"/>
              </a:spcBef>
              <a:spcAft>
                <a:spcPct val="0"/>
              </a:spcAft>
              <a:buFont typeface="Arial" pitchFamily="34" charset="0"/>
              <a:buChar char="•"/>
            </a:pPr>
            <a:r>
              <a:rPr lang="en-US" dirty="0" smtClean="0">
                <a:solidFill>
                  <a:prstClr val="black"/>
                </a:solidFill>
                <a:latin typeface="Arial" charset="0"/>
              </a:rPr>
              <a:t>Use same cushions as IDS notebooks.</a:t>
            </a:r>
          </a:p>
          <a:p>
            <a:pPr marL="285750" indent="-285750" defTabSz="914400" fontAlgn="base">
              <a:spcBef>
                <a:spcPct val="0"/>
              </a:spcBef>
              <a:spcAft>
                <a:spcPct val="0"/>
              </a:spcAft>
              <a:buFont typeface="Arial" pitchFamily="34" charset="0"/>
              <a:buChar char="•"/>
            </a:pPr>
            <a:r>
              <a:rPr lang="en-US" dirty="0" smtClean="0">
                <a:solidFill>
                  <a:prstClr val="black"/>
                </a:solidFill>
                <a:latin typeface="Arial" charset="0"/>
              </a:rPr>
              <a:t>NB wrapped in plastic (not shown)</a:t>
            </a:r>
          </a:p>
          <a:p>
            <a:pPr marL="285750" indent="-285750" defTabSz="914400" fontAlgn="base">
              <a:spcBef>
                <a:spcPct val="0"/>
              </a:spcBef>
              <a:spcAft>
                <a:spcPct val="0"/>
              </a:spcAft>
              <a:buFont typeface="Arial" pitchFamily="34" charset="0"/>
              <a:buChar char="•"/>
            </a:pPr>
            <a:r>
              <a:rPr lang="en-US" dirty="0" smtClean="0">
                <a:solidFill>
                  <a:prstClr val="black"/>
                </a:solidFill>
                <a:latin typeface="Arial" charset="0"/>
              </a:rPr>
              <a:t>If box ships less than completely full need spacer(s).</a:t>
            </a:r>
          </a:p>
          <a:p>
            <a:pPr marL="285750" indent="-285750" defTabSz="914400" fontAlgn="base">
              <a:spcBef>
                <a:spcPct val="0"/>
              </a:spcBef>
              <a:spcAft>
                <a:spcPct val="0"/>
              </a:spcAft>
              <a:buFont typeface="Arial" pitchFamily="34" charset="0"/>
              <a:buChar char="•"/>
            </a:pPr>
            <a:r>
              <a:rPr lang="en-US" dirty="0" smtClean="0">
                <a:solidFill>
                  <a:prstClr val="black"/>
                </a:solidFill>
                <a:latin typeface="Arial" charset="0"/>
              </a:rPr>
              <a:t>Example: 4 units per bulk pack, 24 bulk pack per standard pallet.</a:t>
            </a:r>
          </a:p>
        </p:txBody>
      </p:sp>
      <p:sp>
        <p:nvSpPr>
          <p:cNvPr id="10" name="Title 9"/>
          <p:cNvSpPr>
            <a:spLocks noGrp="1"/>
          </p:cNvSpPr>
          <p:nvPr>
            <p:ph type="title"/>
          </p:nvPr>
        </p:nvSpPr>
        <p:spPr/>
        <p:txBody>
          <a:bodyPr/>
          <a:lstStyle/>
          <a:p>
            <a:r>
              <a:rPr lang="en-US" dirty="0" smtClean="0"/>
              <a:t>BSaM Bulk Packaging Concept</a:t>
            </a:r>
            <a:endParaRPr lang="en-US" dirty="0"/>
          </a:p>
        </p:txBody>
      </p:sp>
      <p:sp>
        <p:nvSpPr>
          <p:cNvPr id="73" name="Rounded Rectangle 72"/>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84205914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p:cNvSpPr/>
          <p:nvPr/>
        </p:nvSpPr>
        <p:spPr>
          <a:xfrm>
            <a:off x="1088595" y="1200153"/>
            <a:ext cx="2841171" cy="3509008"/>
          </a:xfrm>
          <a:prstGeom prst="roundRect">
            <a:avLst>
              <a:gd name="adj" fmla="val 8238"/>
            </a:avLst>
          </a:prstGeom>
          <a:solidFill>
            <a:srgbClr val="008000">
              <a:alpha val="52000"/>
            </a:srgbClr>
          </a:solidFill>
          <a:ln>
            <a:solidFill>
              <a:schemeClr val="tx1"/>
            </a:solidFill>
          </a:ln>
          <a:scene3d>
            <a:camera prst="orthographicFront"/>
            <a:lightRig rig="threePt" dir="t"/>
          </a:scene3d>
          <a:sp3d prstMaterial="metal">
            <a:bevelT w="127000" h="127000"/>
            <a:bevelB w="127000" h="127000"/>
          </a:sp3d>
        </p:spPr>
        <p:style>
          <a:lnRef idx="2">
            <a:schemeClr val="accent1">
              <a:shade val="50000"/>
            </a:schemeClr>
          </a:lnRef>
          <a:fillRef idx="1">
            <a:schemeClr val="accent1"/>
          </a:fillRef>
          <a:effectRef idx="0">
            <a:schemeClr val="accent1"/>
          </a:effectRef>
          <a:fontRef idx="minor">
            <a:schemeClr val="lt1"/>
          </a:fontRef>
        </p:style>
        <p:txBody>
          <a:bodyPr lIns="91440" tIns="18288" rtlCol="0" anchor="t"/>
          <a:lstStyle/>
          <a:p>
            <a:pPr algn="ctr" fontAlgn="base">
              <a:spcBef>
                <a:spcPct val="0"/>
              </a:spcBef>
              <a:spcAft>
                <a:spcPct val="0"/>
              </a:spcAft>
              <a:defRPr/>
            </a:pPr>
            <a:r>
              <a:rPr lang="en-US" sz="2000" b="1" dirty="0" smtClean="0">
                <a:solidFill>
                  <a:prstClr val="black"/>
                </a:solidFill>
                <a:latin typeface="Calibri" pitchFamily="34" charset="0"/>
                <a:cs typeface="Calibri" pitchFamily="34" charset="0"/>
              </a:rPr>
              <a:t>“C” Finished Good SKU </a:t>
            </a:r>
            <a:endParaRPr lang="en-US" sz="1400" dirty="0">
              <a:solidFill>
                <a:prstClr val="black"/>
              </a:solidFill>
              <a:latin typeface="Calibri" pitchFamily="34" charset="0"/>
              <a:cs typeface="Calibri" pitchFamily="34" charset="0"/>
            </a:endParaRPr>
          </a:p>
        </p:txBody>
      </p:sp>
      <p:sp>
        <p:nvSpPr>
          <p:cNvPr id="3" name="Title 2"/>
          <p:cNvSpPr>
            <a:spLocks noGrp="1"/>
          </p:cNvSpPr>
          <p:nvPr>
            <p:ph type="title"/>
          </p:nvPr>
        </p:nvSpPr>
        <p:spPr/>
        <p:txBody>
          <a:bodyPr/>
          <a:lstStyle/>
          <a:p>
            <a:r>
              <a:rPr lang="en-US" dirty="0" smtClean="0"/>
              <a:t>BSaM Terminology: A + B = C</a:t>
            </a:r>
            <a:endParaRPr lang="en-US" dirty="0"/>
          </a:p>
        </p:txBody>
      </p:sp>
      <p:sp>
        <p:nvSpPr>
          <p:cNvPr id="11" name="Content Placeholder 14"/>
          <p:cNvSpPr txBox="1">
            <a:spLocks/>
          </p:cNvSpPr>
          <p:nvPr/>
        </p:nvSpPr>
        <p:spPr>
          <a:xfrm>
            <a:off x="4648200" y="1200151"/>
            <a:ext cx="4038600" cy="3394472"/>
          </a:xfrm>
          <a:prstGeom prst="rect">
            <a:avLst/>
          </a:prstGeom>
        </p:spPr>
        <p:txBody>
          <a:bodyPr/>
          <a:lstStyle/>
          <a:p>
            <a:pPr marL="342900" indent="-342900" defTabSz="914400" eaLnBrk="0" fontAlgn="base" hangingPunct="0">
              <a:spcBef>
                <a:spcPct val="20000"/>
              </a:spcBef>
              <a:spcAft>
                <a:spcPct val="0"/>
              </a:spcAft>
              <a:buFont typeface="Arial" charset="0"/>
              <a:buChar char="•"/>
              <a:defRPr/>
            </a:pPr>
            <a:r>
              <a:rPr lang="en-US" sz="1400" b="1" dirty="0" smtClean="0">
                <a:solidFill>
                  <a:prstClr val="black"/>
                </a:solidFill>
                <a:latin typeface="Futura Bk" pitchFamily="34" charset="0"/>
              </a:rPr>
              <a:t>“C” Finished Good SKU</a:t>
            </a:r>
          </a:p>
          <a:p>
            <a:pPr marL="342900" indent="-342900" defTabSz="914400" eaLnBrk="0" fontAlgn="base" hangingPunct="0">
              <a:spcBef>
                <a:spcPct val="20000"/>
              </a:spcBef>
              <a:spcAft>
                <a:spcPct val="0"/>
              </a:spcAft>
              <a:defRPr/>
            </a:pPr>
            <a:r>
              <a:rPr lang="en-US" sz="1400" dirty="0" smtClean="0">
                <a:solidFill>
                  <a:prstClr val="black"/>
                </a:solidFill>
                <a:latin typeface="Futura Bk" pitchFamily="34" charset="0"/>
              </a:rPr>
              <a:t>	Represents the BTO finished good SKU that will be offered to HP Customers.</a:t>
            </a:r>
          </a:p>
          <a:p>
            <a:pPr marL="342900" indent="-342900" defTabSz="914400" eaLnBrk="0" fontAlgn="base" hangingPunct="0">
              <a:spcBef>
                <a:spcPct val="20000"/>
              </a:spcBef>
              <a:spcAft>
                <a:spcPct val="0"/>
              </a:spcAft>
              <a:buFont typeface="Arial" charset="0"/>
              <a:buChar char="•"/>
              <a:defRPr/>
            </a:pPr>
            <a:endParaRPr lang="en-US" sz="1400" dirty="0" smtClean="0">
              <a:solidFill>
                <a:prstClr val="black"/>
              </a:solidFill>
              <a:latin typeface="Futura Bk" pitchFamily="34" charset="0"/>
            </a:endParaRPr>
          </a:p>
          <a:p>
            <a:pPr marL="342900" indent="-342900" defTabSz="914400" eaLnBrk="0" fontAlgn="base" hangingPunct="0">
              <a:spcBef>
                <a:spcPct val="20000"/>
              </a:spcBef>
              <a:spcAft>
                <a:spcPct val="0"/>
              </a:spcAft>
              <a:buFont typeface="Arial" charset="0"/>
              <a:buChar char="•"/>
              <a:defRPr/>
            </a:pPr>
            <a:r>
              <a:rPr lang="en-US" sz="1400" b="1" dirty="0" smtClean="0">
                <a:solidFill>
                  <a:prstClr val="black"/>
                </a:solidFill>
                <a:latin typeface="Futura Bk" pitchFamily="34" charset="0"/>
              </a:rPr>
              <a:t>“A” Part</a:t>
            </a:r>
          </a:p>
          <a:p>
            <a:pPr marL="342900" indent="-342900" defTabSz="914400" eaLnBrk="0" fontAlgn="base" hangingPunct="0">
              <a:spcBef>
                <a:spcPct val="20000"/>
              </a:spcBef>
              <a:spcAft>
                <a:spcPct val="0"/>
              </a:spcAft>
              <a:defRPr/>
            </a:pPr>
            <a:r>
              <a:rPr lang="en-US" sz="1400" dirty="0" smtClean="0">
                <a:solidFill>
                  <a:prstClr val="black"/>
                </a:solidFill>
                <a:latin typeface="Futura Bk" pitchFamily="34" charset="0"/>
              </a:rPr>
              <a:t>	Represents the portion of the NB finished good that will be produced by the ODM.  Does not include B Parts.</a:t>
            </a:r>
          </a:p>
          <a:p>
            <a:pPr marL="342900" indent="-342900" defTabSz="914400" eaLnBrk="0" fontAlgn="base" hangingPunct="0">
              <a:spcBef>
                <a:spcPct val="20000"/>
              </a:spcBef>
              <a:spcAft>
                <a:spcPct val="0"/>
              </a:spcAft>
              <a:defRPr/>
            </a:pPr>
            <a:endParaRPr lang="en-US" sz="1400" dirty="0" smtClean="0">
              <a:solidFill>
                <a:prstClr val="black"/>
              </a:solidFill>
              <a:latin typeface="Futura Bk" pitchFamily="34" charset="0"/>
            </a:endParaRPr>
          </a:p>
          <a:p>
            <a:pPr marL="342900" indent="-342900" defTabSz="914400" eaLnBrk="0" fontAlgn="base" hangingPunct="0">
              <a:spcBef>
                <a:spcPct val="20000"/>
              </a:spcBef>
              <a:spcAft>
                <a:spcPct val="0"/>
              </a:spcAft>
              <a:buFont typeface="Arial" pitchFamily="34" charset="0"/>
              <a:buChar char="•"/>
              <a:defRPr/>
            </a:pPr>
            <a:r>
              <a:rPr lang="en-US" sz="1400" b="1" dirty="0" smtClean="0">
                <a:solidFill>
                  <a:prstClr val="black"/>
                </a:solidFill>
                <a:latin typeface="Futura Bk" pitchFamily="34" charset="0"/>
              </a:rPr>
              <a:t>“B” Parts</a:t>
            </a:r>
          </a:p>
          <a:p>
            <a:pPr marL="342900" indent="-342900" defTabSz="914400" eaLnBrk="0" fontAlgn="base" hangingPunct="0">
              <a:spcBef>
                <a:spcPct val="20000"/>
              </a:spcBef>
              <a:spcAft>
                <a:spcPct val="0"/>
              </a:spcAft>
              <a:defRPr/>
            </a:pPr>
            <a:r>
              <a:rPr lang="en-US" sz="1400" dirty="0" smtClean="0">
                <a:solidFill>
                  <a:prstClr val="black"/>
                </a:solidFill>
                <a:latin typeface="Futura Bk" pitchFamily="34" charset="0"/>
              </a:rPr>
              <a:t>	Postponement parts that will be positioned at the PCC (Postponement Merge Location) prior to A Parts being ordered and shipped.  B parts will consist of Battery, AC Adapter, Power Cords and selected DIBs. </a:t>
            </a:r>
            <a:endParaRPr lang="en-US" sz="1400" dirty="0">
              <a:solidFill>
                <a:prstClr val="black"/>
              </a:solidFill>
              <a:latin typeface="Futura Bk" pitchFamily="34" charset="0"/>
            </a:endParaRPr>
          </a:p>
        </p:txBody>
      </p:sp>
      <p:sp>
        <p:nvSpPr>
          <p:cNvPr id="13" name="TextBox 12"/>
          <p:cNvSpPr txBox="1"/>
          <p:nvPr/>
        </p:nvSpPr>
        <p:spPr>
          <a:xfrm>
            <a:off x="1263523" y="3696248"/>
            <a:ext cx="2437631" cy="877163"/>
          </a:xfrm>
          <a:prstGeom prst="rect">
            <a:avLst/>
          </a:prstGeom>
          <a:solidFill>
            <a:srgbClr val="00B0F0"/>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fontAlgn="base">
              <a:spcBef>
                <a:spcPct val="0"/>
              </a:spcBef>
              <a:spcAft>
                <a:spcPct val="0"/>
              </a:spcAft>
              <a:tabLst>
                <a:tab pos="1433513" algn="l"/>
              </a:tabLst>
              <a:defRPr/>
            </a:pPr>
            <a:r>
              <a:rPr lang="en-US" b="1" dirty="0" smtClean="0">
                <a:solidFill>
                  <a:prstClr val="black"/>
                </a:solidFill>
                <a:latin typeface="Calibri" pitchFamily="34" charset="0"/>
                <a:cs typeface="Calibri" pitchFamily="34" charset="0"/>
              </a:rPr>
              <a:t>“B” Parts </a:t>
            </a:r>
            <a:r>
              <a:rPr lang="en-US" sz="1100" b="1" dirty="0" smtClean="0">
                <a:solidFill>
                  <a:prstClr val="black"/>
                </a:solidFill>
                <a:latin typeface="Calibri" pitchFamily="34" charset="0"/>
                <a:cs typeface="Calibri" pitchFamily="34" charset="0"/>
              </a:rPr>
              <a:t> (Postponement Parts)</a:t>
            </a:r>
          </a:p>
          <a:p>
            <a:pPr marL="174625" indent="-120650" fontAlgn="base">
              <a:spcBef>
                <a:spcPct val="0"/>
              </a:spcBef>
              <a:spcAft>
                <a:spcPct val="0"/>
              </a:spcAft>
              <a:buFont typeface="Arial" pitchFamily="34" charset="0"/>
              <a:buChar char="•"/>
              <a:tabLst>
                <a:tab pos="1433513" algn="l"/>
              </a:tabLst>
              <a:defRPr/>
            </a:pPr>
            <a:r>
              <a:rPr lang="en-US" sz="1100" b="1" dirty="0" smtClean="0">
                <a:solidFill>
                  <a:prstClr val="black"/>
                </a:solidFill>
                <a:latin typeface="Calibri" pitchFamily="34" charset="0"/>
                <a:cs typeface="Calibri" pitchFamily="34" charset="0"/>
              </a:rPr>
              <a:t>Battery		AV10</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defRPr/>
            </a:pPr>
            <a:r>
              <a:rPr lang="en-US" sz="1100" b="1" dirty="0">
                <a:solidFill>
                  <a:prstClr val="black"/>
                </a:solidFill>
                <a:latin typeface="Calibri" pitchFamily="34" charset="0"/>
                <a:cs typeface="Calibri" pitchFamily="34" charset="0"/>
              </a:rPr>
              <a:t>AC </a:t>
            </a:r>
            <a:r>
              <a:rPr lang="en-US" sz="1100" b="1" dirty="0" smtClean="0">
                <a:solidFill>
                  <a:prstClr val="black"/>
                </a:solidFill>
                <a:latin typeface="Calibri" pitchFamily="34" charset="0"/>
                <a:cs typeface="Calibri" pitchFamily="34" charset="0"/>
              </a:rPr>
              <a:t>Adapter + Cord</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AV11</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defRPr/>
            </a:pPr>
            <a:r>
              <a:rPr lang="en-US" sz="1100" b="1" dirty="0" smtClean="0">
                <a:solidFill>
                  <a:prstClr val="black"/>
                </a:solidFill>
                <a:latin typeface="Calibri" pitchFamily="34" charset="0"/>
                <a:cs typeface="Calibri" pitchFamily="34" charset="0"/>
              </a:rPr>
              <a:t>DIBs		</a:t>
            </a:r>
            <a:r>
              <a:rPr lang="en-US" sz="1100" b="1" dirty="0" err="1" smtClean="0">
                <a:solidFill>
                  <a:prstClr val="black"/>
                </a:solidFill>
                <a:latin typeface="Calibri" pitchFamily="34" charset="0"/>
                <a:cs typeface="Calibri" pitchFamily="34" charset="0"/>
              </a:rPr>
              <a:t>AVy</a:t>
            </a:r>
            <a:endParaRPr lang="en-US" sz="1100" b="1" dirty="0">
              <a:solidFill>
                <a:prstClr val="black"/>
              </a:solidFill>
              <a:latin typeface="Calibri" pitchFamily="34" charset="0"/>
              <a:cs typeface="Calibri" pitchFamily="34" charset="0"/>
            </a:endParaRPr>
          </a:p>
        </p:txBody>
      </p:sp>
      <p:sp>
        <p:nvSpPr>
          <p:cNvPr id="14" name="TextBox 35"/>
          <p:cNvSpPr txBox="1">
            <a:spLocks noChangeArrowheads="1"/>
          </p:cNvSpPr>
          <p:nvPr/>
        </p:nvSpPr>
        <p:spPr bwMode="auto">
          <a:xfrm>
            <a:off x="1267456" y="1675310"/>
            <a:ext cx="2433694" cy="1923604"/>
          </a:xfrm>
          <a:prstGeom prst="rect">
            <a:avLst/>
          </a:prstGeom>
          <a:solidFill>
            <a:srgbClr val="FF0000"/>
          </a:solidFill>
          <a:ln>
            <a:noFill/>
            <a:headEnd/>
            <a:tailEnd/>
          </a:ln>
        </p:spPr>
        <p:style>
          <a:lnRef idx="2">
            <a:schemeClr val="accent3">
              <a:shade val="50000"/>
            </a:schemeClr>
          </a:lnRef>
          <a:fillRef idx="1">
            <a:schemeClr val="accent3"/>
          </a:fillRef>
          <a:effectRef idx="0">
            <a:schemeClr val="accent3"/>
          </a:effectRef>
          <a:fontRef idx="minor">
            <a:schemeClr val="lt1"/>
          </a:fontRef>
        </p:style>
        <p:txBody>
          <a:bodyPr wrap="square" anchor="b">
            <a:spAutoFit/>
          </a:bodyPr>
          <a:lstStyle/>
          <a:p>
            <a:pPr fontAlgn="base">
              <a:spcBef>
                <a:spcPct val="0"/>
              </a:spcBef>
              <a:spcAft>
                <a:spcPct val="0"/>
              </a:spcAft>
              <a:tabLst>
                <a:tab pos="1433513" algn="l"/>
              </a:tabLst>
            </a:pPr>
            <a:r>
              <a:rPr lang="en-US" sz="2000" b="1" dirty="0" smtClean="0">
                <a:solidFill>
                  <a:prstClr val="black"/>
                </a:solidFill>
                <a:latin typeface="Calibri" pitchFamily="34" charset="0"/>
                <a:cs typeface="Calibri" pitchFamily="34" charset="0"/>
              </a:rPr>
              <a:t>“A” Part </a:t>
            </a:r>
            <a:r>
              <a:rPr lang="en-US" sz="1200" b="1" dirty="0" smtClean="0">
                <a:solidFill>
                  <a:prstClr val="black"/>
                </a:solidFill>
                <a:latin typeface="Calibri" pitchFamily="34" charset="0"/>
                <a:cs typeface="Calibri" pitchFamily="34" charset="0"/>
              </a:rPr>
              <a:t> (ODM Build Part)</a:t>
            </a: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BU</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AV1</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Hard </a:t>
            </a:r>
            <a:r>
              <a:rPr lang="en-US" sz="1100" b="1" dirty="0">
                <a:solidFill>
                  <a:prstClr val="black"/>
                </a:solidFill>
                <a:latin typeface="Calibri" pitchFamily="34" charset="0"/>
                <a:cs typeface="Calibri" pitchFamily="34" charset="0"/>
              </a:rPr>
              <a:t>Drive	</a:t>
            </a:r>
            <a:r>
              <a:rPr lang="en-US" sz="1100" b="1" dirty="0" smtClean="0">
                <a:solidFill>
                  <a:prstClr val="black"/>
                </a:solidFill>
                <a:latin typeface="Calibri" pitchFamily="34" charset="0"/>
                <a:cs typeface="Calibri" pitchFamily="34" charset="0"/>
              </a:rPr>
              <a:t>	AV2</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Processor</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AV3</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Panel</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AV4</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Memory</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AV5</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Optical</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AV6</a:t>
            </a: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Warranty Card		AV7</a:t>
            </a: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Easy Set Up		AV8</a:t>
            </a: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Others		</a:t>
            </a:r>
            <a:r>
              <a:rPr lang="en-US" sz="1100" b="1" dirty="0" err="1" smtClean="0">
                <a:solidFill>
                  <a:prstClr val="black"/>
                </a:solidFill>
                <a:latin typeface="Calibri" pitchFamily="34" charset="0"/>
                <a:cs typeface="Calibri" pitchFamily="34" charset="0"/>
              </a:rPr>
              <a:t>AVx</a:t>
            </a:r>
            <a:endParaRPr lang="en-US" sz="1100" b="1" dirty="0">
              <a:solidFill>
                <a:prstClr val="black"/>
              </a:solidFill>
              <a:latin typeface="Calibri" pitchFamily="34" charset="0"/>
              <a:cs typeface="Calibri" pitchFamily="34" charset="0"/>
            </a:endParaRPr>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8</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85166918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err="1">
                <a:latin typeface="HP Simplified" pitchFamily="34" charset="0"/>
              </a:rPr>
              <a:t>BSaM</a:t>
            </a:r>
            <a:r>
              <a:rPr lang="en-US" sz="2800" b="1" dirty="0">
                <a:latin typeface="HP Simplified" pitchFamily="34" charset="0"/>
              </a:rPr>
              <a:t> </a:t>
            </a:r>
            <a:r>
              <a:rPr lang="en-US" sz="2800" b="1" dirty="0" smtClean="0">
                <a:latin typeface="HP Simplified" pitchFamily="34" charset="0"/>
              </a:rPr>
              <a:t>Overview</a:t>
            </a:r>
            <a:endParaRPr lang="en-US" sz="2800" b="1" dirty="0">
              <a:latin typeface="HP Simplified" pitchFamily="34" charset="0"/>
            </a:endParaRPr>
          </a:p>
        </p:txBody>
      </p:sp>
      <p:sp>
        <p:nvSpPr>
          <p:cNvPr id="7" name="Oval 6"/>
          <p:cNvSpPr/>
          <p:nvPr/>
        </p:nvSpPr>
        <p:spPr>
          <a:xfrm>
            <a:off x="4288393" y="2999424"/>
            <a:ext cx="1280160" cy="1188720"/>
          </a:xfrm>
          <a:prstGeom prst="ellipse">
            <a:avLst/>
          </a:prstGeom>
          <a:gradFill>
            <a:gsLst>
              <a:gs pos="0">
                <a:schemeClr val="lt1">
                  <a:tint val="80000"/>
                  <a:satMod val="300000"/>
                </a:schemeClr>
              </a:gs>
              <a:gs pos="100000">
                <a:srgbClr val="002060"/>
              </a:gs>
            </a:gsLst>
          </a:gradFill>
          <a:ln>
            <a:noFill/>
          </a:ln>
          <a:effectLst/>
        </p:spPr>
        <p:style>
          <a:lnRef idx="2">
            <a:schemeClr val="accent1">
              <a:shade val="50000"/>
            </a:schemeClr>
          </a:lnRef>
          <a:fillRef idx="1003">
            <a:schemeClr val="lt1"/>
          </a:fillRef>
          <a:effectRef idx="0">
            <a:schemeClr val="accent1"/>
          </a:effectRef>
          <a:fontRef idx="minor">
            <a:schemeClr val="lt1"/>
          </a:fontRef>
        </p:style>
        <p:txBody>
          <a:bodyPr lIns="91440" tIns="45720" rtlCol="0" anchor="ctr"/>
          <a:lstStyle/>
          <a:p>
            <a:pPr algn="ctr">
              <a:lnSpc>
                <a:spcPct val="85000"/>
              </a:lnSpc>
            </a:pPr>
            <a:endParaRPr lang="en-US" sz="2000" dirty="0" smtClean="0">
              <a:solidFill>
                <a:prstClr val="white"/>
              </a:solidFill>
            </a:endParaRPr>
          </a:p>
        </p:txBody>
      </p:sp>
      <p:cxnSp>
        <p:nvCxnSpPr>
          <p:cNvPr id="8" name="Straight Arrow Connector 7"/>
          <p:cNvCxnSpPr/>
          <p:nvPr/>
        </p:nvCxnSpPr>
        <p:spPr>
          <a:xfrm rot="5400000">
            <a:off x="6587307" y="3068712"/>
            <a:ext cx="3678522" cy="1588"/>
          </a:xfrm>
          <a:prstGeom prst="straightConnector1">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7771000" y="2599392"/>
            <a:ext cx="1280160" cy="1188720"/>
          </a:xfrm>
          <a:prstGeom prst="ellipse">
            <a:avLst/>
          </a:prstGeom>
          <a:gradFill>
            <a:gsLst>
              <a:gs pos="0">
                <a:schemeClr val="lt1">
                  <a:tint val="80000"/>
                  <a:satMod val="300000"/>
                </a:schemeClr>
              </a:gs>
              <a:gs pos="100000">
                <a:srgbClr val="002060"/>
              </a:gs>
            </a:gsLst>
          </a:gradFill>
          <a:ln>
            <a:noFill/>
          </a:ln>
          <a:effectLst/>
        </p:spPr>
        <p:style>
          <a:lnRef idx="2">
            <a:schemeClr val="accent1">
              <a:shade val="50000"/>
            </a:schemeClr>
          </a:lnRef>
          <a:fillRef idx="1003">
            <a:schemeClr val="lt1"/>
          </a:fillRef>
          <a:effectRef idx="0">
            <a:schemeClr val="accent1"/>
          </a:effectRef>
          <a:fontRef idx="minor">
            <a:schemeClr val="lt1"/>
          </a:fontRef>
        </p:style>
        <p:txBody>
          <a:bodyPr lIns="91440" tIns="45720" rtlCol="0" anchor="ctr"/>
          <a:lstStyle/>
          <a:p>
            <a:pPr algn="ctr">
              <a:lnSpc>
                <a:spcPct val="85000"/>
              </a:lnSpc>
            </a:pPr>
            <a:endParaRPr lang="en-US" sz="2000" dirty="0" smtClean="0">
              <a:solidFill>
                <a:prstClr val="white"/>
              </a:solidFill>
            </a:endParaRPr>
          </a:p>
        </p:txBody>
      </p:sp>
      <p:cxnSp>
        <p:nvCxnSpPr>
          <p:cNvPr id="10" name="Straight Arrow Connector 9"/>
          <p:cNvCxnSpPr/>
          <p:nvPr/>
        </p:nvCxnSpPr>
        <p:spPr>
          <a:xfrm rot="5400000">
            <a:off x="4310821" y="3051234"/>
            <a:ext cx="3678522" cy="1588"/>
          </a:xfrm>
          <a:prstGeom prst="straightConnector1">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407618" y="824467"/>
            <a:ext cx="1493423" cy="461665"/>
          </a:xfrm>
          <a:prstGeom prst="rect">
            <a:avLst/>
          </a:prstGeom>
          <a:solidFill>
            <a:srgbClr val="002060"/>
          </a:solidFill>
          <a:ln>
            <a:solidFill>
              <a:schemeClr val="tx1"/>
            </a:solidFill>
          </a:ln>
        </p:spPr>
        <p:txBody>
          <a:bodyPr wrap="square" rtlCol="0" anchor="ctr">
            <a:spAutoFit/>
          </a:bodyPr>
          <a:lstStyle/>
          <a:p>
            <a:pPr algn="ctr"/>
            <a:r>
              <a:rPr lang="en-US" sz="1200" dirty="0" smtClean="0">
                <a:solidFill>
                  <a:prstClr val="white"/>
                </a:solidFill>
                <a:latin typeface="HP Simplified"/>
              </a:rPr>
              <a:t>“C” Shipment from</a:t>
            </a:r>
          </a:p>
          <a:p>
            <a:pPr algn="ctr"/>
            <a:r>
              <a:rPr lang="en-US" sz="1200" dirty="0" smtClean="0">
                <a:solidFill>
                  <a:prstClr val="white"/>
                </a:solidFill>
                <a:latin typeface="HP Simplified"/>
              </a:rPr>
              <a:t>PCC to Customer</a:t>
            </a:r>
          </a:p>
        </p:txBody>
      </p:sp>
      <p:cxnSp>
        <p:nvCxnSpPr>
          <p:cNvPr id="12" name="Straight Arrow Connector 11"/>
          <p:cNvCxnSpPr/>
          <p:nvPr/>
        </p:nvCxnSpPr>
        <p:spPr>
          <a:xfrm rot="5400000">
            <a:off x="-1053163" y="3059307"/>
            <a:ext cx="3678522" cy="1588"/>
          </a:xfrm>
          <a:prstGeom prst="straightConnector1">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a:off x="1429465" y="3057962"/>
            <a:ext cx="3678522" cy="1588"/>
          </a:xfrm>
          <a:prstGeom prst="straightConnector1">
            <a:avLst/>
          </a:prstGeom>
          <a:ln w="63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Freeform 13"/>
          <p:cNvSpPr/>
          <p:nvPr/>
        </p:nvSpPr>
        <p:spPr>
          <a:xfrm>
            <a:off x="1000462" y="2194584"/>
            <a:ext cx="3312751" cy="1680857"/>
          </a:xfrm>
          <a:custGeom>
            <a:avLst/>
            <a:gdLst>
              <a:gd name="connsiteX0" fmla="*/ 0 w 2302136"/>
              <a:gd name="connsiteY0" fmla="*/ 0 h 2000922"/>
              <a:gd name="connsiteX1" fmla="*/ 1194099 w 2302136"/>
              <a:gd name="connsiteY1" fmla="*/ 1366221 h 2000922"/>
              <a:gd name="connsiteX2" fmla="*/ 2302136 w 2302136"/>
              <a:gd name="connsiteY2" fmla="*/ 2000922 h 2000922"/>
            </a:gdLst>
            <a:ahLst/>
            <a:cxnLst>
              <a:cxn ang="0">
                <a:pos x="connsiteX0" y="connsiteY0"/>
              </a:cxn>
              <a:cxn ang="0">
                <a:pos x="connsiteX1" y="connsiteY1"/>
              </a:cxn>
              <a:cxn ang="0">
                <a:pos x="connsiteX2" y="connsiteY2"/>
              </a:cxn>
            </a:cxnLst>
            <a:rect l="l" t="t" r="r" b="b"/>
            <a:pathLst>
              <a:path w="2302136" h="2000922">
                <a:moveTo>
                  <a:pt x="0" y="0"/>
                </a:moveTo>
                <a:cubicBezTo>
                  <a:pt x="405205" y="516367"/>
                  <a:pt x="810410" y="1032734"/>
                  <a:pt x="1194099" y="1366221"/>
                </a:cubicBezTo>
                <a:cubicBezTo>
                  <a:pt x="1577788" y="1699708"/>
                  <a:pt x="2054710" y="1923826"/>
                  <a:pt x="2302136" y="2000922"/>
                </a:cubicBezTo>
              </a:path>
            </a:pathLst>
          </a:custGeom>
          <a:ln w="28575">
            <a:solidFill>
              <a:srgbClr val="0000FF"/>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prstClr val="black"/>
              </a:solidFill>
            </a:endParaRPr>
          </a:p>
        </p:txBody>
      </p:sp>
      <p:sp>
        <p:nvSpPr>
          <p:cNvPr id="15" name="Freeform 14"/>
          <p:cNvSpPr/>
          <p:nvPr/>
        </p:nvSpPr>
        <p:spPr>
          <a:xfrm>
            <a:off x="4001848" y="2183355"/>
            <a:ext cx="1819839" cy="468406"/>
          </a:xfrm>
          <a:custGeom>
            <a:avLst/>
            <a:gdLst>
              <a:gd name="connsiteX0" fmla="*/ 0 w 2678655"/>
              <a:gd name="connsiteY0" fmla="*/ 0 h 688489"/>
              <a:gd name="connsiteX1" fmla="*/ 1312433 w 2678655"/>
              <a:gd name="connsiteY1" fmla="*/ 118334 h 688489"/>
              <a:gd name="connsiteX2" fmla="*/ 2323652 w 2678655"/>
              <a:gd name="connsiteY2" fmla="*/ 462579 h 688489"/>
              <a:gd name="connsiteX3" fmla="*/ 2678655 w 2678655"/>
              <a:gd name="connsiteY3" fmla="*/ 688489 h 688489"/>
            </a:gdLst>
            <a:ahLst/>
            <a:cxnLst>
              <a:cxn ang="0">
                <a:pos x="connsiteX0" y="connsiteY0"/>
              </a:cxn>
              <a:cxn ang="0">
                <a:pos x="connsiteX1" y="connsiteY1"/>
              </a:cxn>
              <a:cxn ang="0">
                <a:pos x="connsiteX2" y="connsiteY2"/>
              </a:cxn>
              <a:cxn ang="0">
                <a:pos x="connsiteX3" y="connsiteY3"/>
              </a:cxn>
            </a:cxnLst>
            <a:rect l="l" t="t" r="r" b="b"/>
            <a:pathLst>
              <a:path w="2678655" h="688489">
                <a:moveTo>
                  <a:pt x="0" y="0"/>
                </a:moveTo>
                <a:cubicBezTo>
                  <a:pt x="462579" y="20619"/>
                  <a:pt x="925158" y="41238"/>
                  <a:pt x="1312433" y="118334"/>
                </a:cubicBezTo>
                <a:cubicBezTo>
                  <a:pt x="1699708" y="195431"/>
                  <a:pt x="2095948" y="367553"/>
                  <a:pt x="2323652" y="462579"/>
                </a:cubicBezTo>
                <a:cubicBezTo>
                  <a:pt x="2551356" y="557605"/>
                  <a:pt x="2676862" y="627529"/>
                  <a:pt x="2678655" y="688489"/>
                </a:cubicBezTo>
              </a:path>
            </a:pathLst>
          </a:custGeom>
          <a:ln w="28575">
            <a:solidFill>
              <a:srgbClr val="0000FF"/>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prstClr val="black"/>
              </a:solidFill>
            </a:endParaRPr>
          </a:p>
        </p:txBody>
      </p:sp>
      <p:sp>
        <p:nvSpPr>
          <p:cNvPr id="16" name="Oval 15"/>
          <p:cNvSpPr/>
          <p:nvPr/>
        </p:nvSpPr>
        <p:spPr>
          <a:xfrm>
            <a:off x="5438206" y="2567641"/>
            <a:ext cx="1280160" cy="1188720"/>
          </a:xfrm>
          <a:prstGeom prst="ellipse">
            <a:avLst/>
          </a:prstGeom>
          <a:gradFill>
            <a:gsLst>
              <a:gs pos="0">
                <a:schemeClr val="lt1">
                  <a:tint val="80000"/>
                  <a:satMod val="300000"/>
                </a:schemeClr>
              </a:gs>
              <a:gs pos="100000">
                <a:srgbClr val="002060"/>
              </a:gs>
            </a:gsLst>
          </a:gradFill>
          <a:ln>
            <a:noFill/>
          </a:ln>
          <a:effectLst/>
        </p:spPr>
        <p:style>
          <a:lnRef idx="2">
            <a:schemeClr val="accent1">
              <a:shade val="50000"/>
            </a:schemeClr>
          </a:lnRef>
          <a:fillRef idx="1003">
            <a:schemeClr val="lt1"/>
          </a:fillRef>
          <a:effectRef idx="0">
            <a:schemeClr val="accent1"/>
          </a:effectRef>
          <a:fontRef idx="minor">
            <a:schemeClr val="lt1"/>
          </a:fontRef>
        </p:style>
        <p:txBody>
          <a:bodyPr lIns="91440" tIns="45720" rtlCol="0" anchor="ctr"/>
          <a:lstStyle/>
          <a:p>
            <a:pPr algn="ctr">
              <a:lnSpc>
                <a:spcPct val="85000"/>
              </a:lnSpc>
            </a:pPr>
            <a:endParaRPr lang="en-US" sz="2000" dirty="0" smtClean="0">
              <a:solidFill>
                <a:prstClr val="white"/>
              </a:solidFill>
            </a:endParaRPr>
          </a:p>
        </p:txBody>
      </p:sp>
      <p:sp>
        <p:nvSpPr>
          <p:cNvPr id="17" name="Oval 16"/>
          <p:cNvSpPr/>
          <p:nvPr/>
        </p:nvSpPr>
        <p:spPr>
          <a:xfrm>
            <a:off x="151739" y="1677970"/>
            <a:ext cx="1280160" cy="1188720"/>
          </a:xfrm>
          <a:prstGeom prst="ellipse">
            <a:avLst/>
          </a:prstGeom>
          <a:gradFill>
            <a:gsLst>
              <a:gs pos="0">
                <a:schemeClr val="lt1">
                  <a:tint val="80000"/>
                  <a:satMod val="300000"/>
                </a:schemeClr>
              </a:gs>
              <a:gs pos="100000">
                <a:srgbClr val="C00000"/>
              </a:gs>
            </a:gsLst>
          </a:gradFill>
          <a:ln>
            <a:noFill/>
          </a:ln>
          <a:effectLst/>
        </p:spPr>
        <p:style>
          <a:lnRef idx="2">
            <a:schemeClr val="accent1">
              <a:shade val="50000"/>
            </a:schemeClr>
          </a:lnRef>
          <a:fillRef idx="1003">
            <a:schemeClr val="lt1"/>
          </a:fillRef>
          <a:effectRef idx="0">
            <a:schemeClr val="accent1"/>
          </a:effectRef>
          <a:fontRef idx="minor">
            <a:schemeClr val="lt1"/>
          </a:fontRef>
        </p:style>
        <p:txBody>
          <a:bodyPr lIns="91440" tIns="45720" rtlCol="0" anchor="ctr"/>
          <a:lstStyle/>
          <a:p>
            <a:pPr algn="ctr">
              <a:lnSpc>
                <a:spcPct val="85000"/>
              </a:lnSpc>
            </a:pPr>
            <a:endParaRPr lang="en-US" sz="2000" dirty="0" smtClean="0">
              <a:solidFill>
                <a:prstClr val="white"/>
              </a:solidFill>
            </a:endParaRPr>
          </a:p>
        </p:txBody>
      </p:sp>
      <p:cxnSp>
        <p:nvCxnSpPr>
          <p:cNvPr id="18" name="Straight Arrow Connector 17"/>
          <p:cNvCxnSpPr/>
          <p:nvPr/>
        </p:nvCxnSpPr>
        <p:spPr>
          <a:xfrm>
            <a:off x="247422" y="1557170"/>
            <a:ext cx="8767486" cy="1191"/>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611740" y="824467"/>
            <a:ext cx="1323193" cy="461665"/>
          </a:xfrm>
          <a:prstGeom prst="rect">
            <a:avLst/>
          </a:prstGeom>
          <a:solidFill>
            <a:srgbClr val="002060"/>
          </a:solidFill>
          <a:ln>
            <a:solidFill>
              <a:schemeClr val="tx1"/>
            </a:solidFill>
          </a:ln>
        </p:spPr>
        <p:txBody>
          <a:bodyPr wrap="square" rtlCol="0" anchor="ctr">
            <a:spAutoFit/>
          </a:bodyPr>
          <a:lstStyle/>
          <a:p>
            <a:pPr algn="ctr"/>
            <a:r>
              <a:rPr lang="en-US" sz="1200" dirty="0" smtClean="0">
                <a:solidFill>
                  <a:prstClr val="white"/>
                </a:solidFill>
                <a:latin typeface="HP Simplified"/>
              </a:rPr>
              <a:t>Customer Order “C” SKU to HP</a:t>
            </a:r>
          </a:p>
        </p:txBody>
      </p:sp>
      <p:grpSp>
        <p:nvGrpSpPr>
          <p:cNvPr id="20" name="Group 530"/>
          <p:cNvGrpSpPr>
            <a:grpSpLocks/>
          </p:cNvGrpSpPr>
          <p:nvPr/>
        </p:nvGrpSpPr>
        <p:grpSpPr bwMode="auto">
          <a:xfrm rot="21405292" flipH="1">
            <a:off x="2380845" y="2845551"/>
            <a:ext cx="1026920" cy="509423"/>
            <a:chOff x="1557" y="1172"/>
            <a:chExt cx="1129" cy="482"/>
          </a:xfrm>
        </p:grpSpPr>
        <p:sp>
          <p:nvSpPr>
            <p:cNvPr id="21" name="Freeform 531"/>
            <p:cNvSpPr>
              <a:spLocks/>
            </p:cNvSpPr>
            <p:nvPr/>
          </p:nvSpPr>
          <p:spPr bwMode="auto">
            <a:xfrm>
              <a:off x="1557" y="1194"/>
              <a:ext cx="1129" cy="460"/>
            </a:xfrm>
            <a:custGeom>
              <a:avLst/>
              <a:gdLst>
                <a:gd name="T0" fmla="*/ 1 w 2258"/>
                <a:gd name="T1" fmla="*/ 2 h 920"/>
                <a:gd name="T2" fmla="*/ 1 w 2258"/>
                <a:gd name="T3" fmla="*/ 2 h 920"/>
                <a:gd name="T4" fmla="*/ 1 w 2258"/>
                <a:gd name="T5" fmla="*/ 2 h 920"/>
                <a:gd name="T6" fmla="*/ 1 w 2258"/>
                <a:gd name="T7" fmla="*/ 2 h 920"/>
                <a:gd name="T8" fmla="*/ 1 w 2258"/>
                <a:gd name="T9" fmla="*/ 2 h 920"/>
                <a:gd name="T10" fmla="*/ 1 w 2258"/>
                <a:gd name="T11" fmla="*/ 2 h 920"/>
                <a:gd name="T12" fmla="*/ 1 w 2258"/>
                <a:gd name="T13" fmla="*/ 2 h 920"/>
                <a:gd name="T14" fmla="*/ 1 w 2258"/>
                <a:gd name="T15" fmla="*/ 2 h 920"/>
                <a:gd name="T16" fmla="*/ 1 w 2258"/>
                <a:gd name="T17" fmla="*/ 2 h 920"/>
                <a:gd name="T18" fmla="*/ 1 w 2258"/>
                <a:gd name="T19" fmla="*/ 2 h 920"/>
                <a:gd name="T20" fmla="*/ 1 w 2258"/>
                <a:gd name="T21" fmla="*/ 2 h 920"/>
                <a:gd name="T22" fmla="*/ 1 w 2258"/>
                <a:gd name="T23" fmla="*/ 2 h 920"/>
                <a:gd name="T24" fmla="*/ 1 w 2258"/>
                <a:gd name="T25" fmla="*/ 2 h 920"/>
                <a:gd name="T26" fmla="*/ 1 w 2258"/>
                <a:gd name="T27" fmla="*/ 2 h 920"/>
                <a:gd name="T28" fmla="*/ 1 w 2258"/>
                <a:gd name="T29" fmla="*/ 2 h 920"/>
                <a:gd name="T30" fmla="*/ 1 w 2258"/>
                <a:gd name="T31" fmla="*/ 2 h 920"/>
                <a:gd name="T32" fmla="*/ 1 w 2258"/>
                <a:gd name="T33" fmla="*/ 2 h 920"/>
                <a:gd name="T34" fmla="*/ 1 w 2258"/>
                <a:gd name="T35" fmla="*/ 2 h 920"/>
                <a:gd name="T36" fmla="*/ 1 w 2258"/>
                <a:gd name="T37" fmla="*/ 2 h 920"/>
                <a:gd name="T38" fmla="*/ 1 w 2258"/>
                <a:gd name="T39" fmla="*/ 2 h 920"/>
                <a:gd name="T40" fmla="*/ 2 w 2258"/>
                <a:gd name="T41" fmla="*/ 2 h 920"/>
                <a:gd name="T42" fmla="*/ 2 w 2258"/>
                <a:gd name="T43" fmla="*/ 2 h 920"/>
                <a:gd name="T44" fmla="*/ 2 w 2258"/>
                <a:gd name="T45" fmla="*/ 2 h 920"/>
                <a:gd name="T46" fmla="*/ 2 w 2258"/>
                <a:gd name="T47" fmla="*/ 2 h 920"/>
                <a:gd name="T48" fmla="*/ 3 w 2258"/>
                <a:gd name="T49" fmla="*/ 2 h 920"/>
                <a:gd name="T50" fmla="*/ 3 w 2258"/>
                <a:gd name="T51" fmla="*/ 2 h 920"/>
                <a:gd name="T52" fmla="*/ 3 w 2258"/>
                <a:gd name="T53" fmla="*/ 2 h 920"/>
                <a:gd name="T54" fmla="*/ 3 w 2258"/>
                <a:gd name="T55" fmla="*/ 2 h 920"/>
                <a:gd name="T56" fmla="*/ 3 w 2258"/>
                <a:gd name="T57" fmla="*/ 2 h 920"/>
                <a:gd name="T58" fmla="*/ 4 w 2258"/>
                <a:gd name="T59" fmla="*/ 1 h 920"/>
                <a:gd name="T60" fmla="*/ 4 w 2258"/>
                <a:gd name="T61" fmla="*/ 1 h 920"/>
                <a:gd name="T62" fmla="*/ 4 w 2258"/>
                <a:gd name="T63" fmla="*/ 1 h 920"/>
                <a:gd name="T64" fmla="*/ 4 w 2258"/>
                <a:gd name="T65" fmla="*/ 1 h 920"/>
                <a:gd name="T66" fmla="*/ 4 w 2258"/>
                <a:gd name="T67" fmla="*/ 1 h 920"/>
                <a:gd name="T68" fmla="*/ 3 w 2258"/>
                <a:gd name="T69" fmla="*/ 1 h 920"/>
                <a:gd name="T70" fmla="*/ 3 w 2258"/>
                <a:gd name="T71" fmla="*/ 1 h 920"/>
                <a:gd name="T72" fmla="*/ 3 w 2258"/>
                <a:gd name="T73" fmla="*/ 1 h 920"/>
                <a:gd name="T74" fmla="*/ 3 w 2258"/>
                <a:gd name="T75" fmla="*/ 1 h 920"/>
                <a:gd name="T76" fmla="*/ 3 w 2258"/>
                <a:gd name="T77" fmla="*/ 1 h 920"/>
                <a:gd name="T78" fmla="*/ 3 w 2258"/>
                <a:gd name="T79" fmla="*/ 1 h 920"/>
                <a:gd name="T80" fmla="*/ 3 w 2258"/>
                <a:gd name="T81" fmla="*/ 1 h 920"/>
                <a:gd name="T82" fmla="*/ 3 w 2258"/>
                <a:gd name="T83" fmla="*/ 1 h 920"/>
                <a:gd name="T84" fmla="*/ 3 w 2258"/>
                <a:gd name="T85" fmla="*/ 1 h 920"/>
                <a:gd name="T86" fmla="*/ 1 w 2258"/>
                <a:gd name="T87" fmla="*/ 2 h 920"/>
                <a:gd name="T88" fmla="*/ 1 w 2258"/>
                <a:gd name="T89" fmla="*/ 2 h 92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258"/>
                <a:gd name="T136" fmla="*/ 0 h 920"/>
                <a:gd name="T137" fmla="*/ 2258 w 2258"/>
                <a:gd name="T138" fmla="*/ 920 h 92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258" h="920">
                  <a:moveTo>
                    <a:pt x="401" y="529"/>
                  </a:moveTo>
                  <a:lnTo>
                    <a:pt x="383" y="530"/>
                  </a:lnTo>
                  <a:lnTo>
                    <a:pt x="362" y="531"/>
                  </a:lnTo>
                  <a:lnTo>
                    <a:pt x="341" y="534"/>
                  </a:lnTo>
                  <a:lnTo>
                    <a:pt x="319" y="535"/>
                  </a:lnTo>
                  <a:lnTo>
                    <a:pt x="296" y="536"/>
                  </a:lnTo>
                  <a:lnTo>
                    <a:pt x="273" y="537"/>
                  </a:lnTo>
                  <a:lnTo>
                    <a:pt x="248" y="539"/>
                  </a:lnTo>
                  <a:lnTo>
                    <a:pt x="222" y="540"/>
                  </a:lnTo>
                  <a:lnTo>
                    <a:pt x="196" y="543"/>
                  </a:lnTo>
                  <a:lnTo>
                    <a:pt x="169" y="545"/>
                  </a:lnTo>
                  <a:lnTo>
                    <a:pt x="143" y="548"/>
                  </a:lnTo>
                  <a:lnTo>
                    <a:pt x="115" y="552"/>
                  </a:lnTo>
                  <a:lnTo>
                    <a:pt x="86" y="555"/>
                  </a:lnTo>
                  <a:lnTo>
                    <a:pt x="58" y="559"/>
                  </a:lnTo>
                  <a:lnTo>
                    <a:pt x="29" y="563"/>
                  </a:lnTo>
                  <a:lnTo>
                    <a:pt x="0" y="569"/>
                  </a:lnTo>
                  <a:lnTo>
                    <a:pt x="63" y="652"/>
                  </a:lnTo>
                  <a:lnTo>
                    <a:pt x="81" y="687"/>
                  </a:lnTo>
                  <a:lnTo>
                    <a:pt x="97" y="719"/>
                  </a:lnTo>
                  <a:lnTo>
                    <a:pt x="111" y="752"/>
                  </a:lnTo>
                  <a:lnTo>
                    <a:pt x="124" y="785"/>
                  </a:lnTo>
                  <a:lnTo>
                    <a:pt x="137" y="817"/>
                  </a:lnTo>
                  <a:lnTo>
                    <a:pt x="149" y="850"/>
                  </a:lnTo>
                  <a:lnTo>
                    <a:pt x="161" y="884"/>
                  </a:lnTo>
                  <a:lnTo>
                    <a:pt x="174" y="920"/>
                  </a:lnTo>
                  <a:lnTo>
                    <a:pt x="232" y="911"/>
                  </a:lnTo>
                  <a:lnTo>
                    <a:pt x="288" y="902"/>
                  </a:lnTo>
                  <a:lnTo>
                    <a:pt x="346" y="893"/>
                  </a:lnTo>
                  <a:lnTo>
                    <a:pt x="402" y="884"/>
                  </a:lnTo>
                  <a:lnTo>
                    <a:pt x="460" y="875"/>
                  </a:lnTo>
                  <a:lnTo>
                    <a:pt x="516" y="865"/>
                  </a:lnTo>
                  <a:lnTo>
                    <a:pt x="574" y="855"/>
                  </a:lnTo>
                  <a:lnTo>
                    <a:pt x="631" y="845"/>
                  </a:lnTo>
                  <a:lnTo>
                    <a:pt x="688" y="834"/>
                  </a:lnTo>
                  <a:lnTo>
                    <a:pt x="745" y="824"/>
                  </a:lnTo>
                  <a:lnTo>
                    <a:pt x="802" y="814"/>
                  </a:lnTo>
                  <a:lnTo>
                    <a:pt x="860" y="803"/>
                  </a:lnTo>
                  <a:lnTo>
                    <a:pt x="917" y="793"/>
                  </a:lnTo>
                  <a:lnTo>
                    <a:pt x="974" y="781"/>
                  </a:lnTo>
                  <a:lnTo>
                    <a:pt x="1031" y="770"/>
                  </a:lnTo>
                  <a:lnTo>
                    <a:pt x="1088" y="759"/>
                  </a:lnTo>
                  <a:lnTo>
                    <a:pt x="1145" y="748"/>
                  </a:lnTo>
                  <a:lnTo>
                    <a:pt x="1202" y="736"/>
                  </a:lnTo>
                  <a:lnTo>
                    <a:pt x="1259" y="725"/>
                  </a:lnTo>
                  <a:lnTo>
                    <a:pt x="1317" y="713"/>
                  </a:lnTo>
                  <a:lnTo>
                    <a:pt x="1373" y="702"/>
                  </a:lnTo>
                  <a:lnTo>
                    <a:pt x="1430" y="689"/>
                  </a:lnTo>
                  <a:lnTo>
                    <a:pt x="1487" y="678"/>
                  </a:lnTo>
                  <a:lnTo>
                    <a:pt x="1544" y="666"/>
                  </a:lnTo>
                  <a:lnTo>
                    <a:pt x="1601" y="653"/>
                  </a:lnTo>
                  <a:lnTo>
                    <a:pt x="1658" y="642"/>
                  </a:lnTo>
                  <a:lnTo>
                    <a:pt x="1714" y="630"/>
                  </a:lnTo>
                  <a:lnTo>
                    <a:pt x="1771" y="618"/>
                  </a:lnTo>
                  <a:lnTo>
                    <a:pt x="1828" y="606"/>
                  </a:lnTo>
                  <a:lnTo>
                    <a:pt x="1885" y="593"/>
                  </a:lnTo>
                  <a:lnTo>
                    <a:pt x="1941" y="582"/>
                  </a:lnTo>
                  <a:lnTo>
                    <a:pt x="1998" y="569"/>
                  </a:lnTo>
                  <a:lnTo>
                    <a:pt x="2160" y="523"/>
                  </a:lnTo>
                  <a:lnTo>
                    <a:pt x="2242" y="487"/>
                  </a:lnTo>
                  <a:lnTo>
                    <a:pt x="2254" y="455"/>
                  </a:lnTo>
                  <a:lnTo>
                    <a:pt x="2258" y="424"/>
                  </a:lnTo>
                  <a:lnTo>
                    <a:pt x="2254" y="395"/>
                  </a:lnTo>
                  <a:lnTo>
                    <a:pt x="2242" y="365"/>
                  </a:lnTo>
                  <a:lnTo>
                    <a:pt x="2194" y="356"/>
                  </a:lnTo>
                  <a:lnTo>
                    <a:pt x="2191" y="264"/>
                  </a:lnTo>
                  <a:lnTo>
                    <a:pt x="2061" y="264"/>
                  </a:lnTo>
                  <a:lnTo>
                    <a:pt x="2061" y="182"/>
                  </a:lnTo>
                  <a:lnTo>
                    <a:pt x="1977" y="182"/>
                  </a:lnTo>
                  <a:lnTo>
                    <a:pt x="1977" y="33"/>
                  </a:lnTo>
                  <a:lnTo>
                    <a:pt x="1976" y="28"/>
                  </a:lnTo>
                  <a:lnTo>
                    <a:pt x="1974" y="23"/>
                  </a:lnTo>
                  <a:lnTo>
                    <a:pt x="1969" y="18"/>
                  </a:lnTo>
                  <a:lnTo>
                    <a:pt x="1962" y="14"/>
                  </a:lnTo>
                  <a:lnTo>
                    <a:pt x="1954" y="9"/>
                  </a:lnTo>
                  <a:lnTo>
                    <a:pt x="1944" y="6"/>
                  </a:lnTo>
                  <a:lnTo>
                    <a:pt x="1932" y="3"/>
                  </a:lnTo>
                  <a:lnTo>
                    <a:pt x="1917" y="2"/>
                  </a:lnTo>
                  <a:lnTo>
                    <a:pt x="1858" y="0"/>
                  </a:lnTo>
                  <a:lnTo>
                    <a:pt x="1858" y="123"/>
                  </a:lnTo>
                  <a:lnTo>
                    <a:pt x="1702" y="123"/>
                  </a:lnTo>
                  <a:lnTo>
                    <a:pt x="1702" y="152"/>
                  </a:lnTo>
                  <a:lnTo>
                    <a:pt x="1643" y="152"/>
                  </a:lnTo>
                  <a:lnTo>
                    <a:pt x="1641" y="192"/>
                  </a:lnTo>
                  <a:lnTo>
                    <a:pt x="1688" y="211"/>
                  </a:lnTo>
                  <a:lnTo>
                    <a:pt x="1688" y="305"/>
                  </a:lnTo>
                  <a:lnTo>
                    <a:pt x="1678" y="411"/>
                  </a:lnTo>
                  <a:lnTo>
                    <a:pt x="785" y="535"/>
                  </a:lnTo>
                  <a:lnTo>
                    <a:pt x="558" y="552"/>
                  </a:lnTo>
                  <a:lnTo>
                    <a:pt x="477" y="552"/>
                  </a:lnTo>
                  <a:lnTo>
                    <a:pt x="401" y="529"/>
                  </a:lnTo>
                  <a:close/>
                </a:path>
              </a:pathLst>
            </a:custGeom>
            <a:solidFill>
              <a:srgbClr val="00335B"/>
            </a:solidFill>
            <a:ln w="9525">
              <a:noFill/>
              <a:round/>
              <a:headEnd/>
              <a:tailEnd/>
            </a:ln>
          </p:spPr>
          <p:txBody>
            <a:bodyPr/>
            <a:lstStyle/>
            <a:p>
              <a:endParaRPr lang="fr-FR" dirty="0">
                <a:solidFill>
                  <a:prstClr val="black"/>
                </a:solidFill>
                <a:latin typeface="HP Simplified"/>
              </a:endParaRPr>
            </a:p>
          </p:txBody>
        </p:sp>
        <p:sp>
          <p:nvSpPr>
            <p:cNvPr id="22" name="Freeform 532"/>
            <p:cNvSpPr>
              <a:spLocks/>
            </p:cNvSpPr>
            <p:nvPr/>
          </p:nvSpPr>
          <p:spPr bwMode="auto">
            <a:xfrm>
              <a:off x="1571" y="1479"/>
              <a:ext cx="377" cy="56"/>
            </a:xfrm>
            <a:custGeom>
              <a:avLst/>
              <a:gdLst>
                <a:gd name="T0" fmla="*/ 0 w 753"/>
                <a:gd name="T1" fmla="*/ 1 h 112"/>
                <a:gd name="T2" fmla="*/ 1 w 753"/>
                <a:gd name="T3" fmla="*/ 1 h 112"/>
                <a:gd name="T4" fmla="*/ 1 w 753"/>
                <a:gd name="T5" fmla="*/ 1 h 112"/>
                <a:gd name="T6" fmla="*/ 1 w 753"/>
                <a:gd name="T7" fmla="*/ 1 h 112"/>
                <a:gd name="T8" fmla="*/ 1 w 753"/>
                <a:gd name="T9" fmla="*/ 1 h 112"/>
                <a:gd name="T10" fmla="*/ 1 w 753"/>
                <a:gd name="T11" fmla="*/ 1 h 112"/>
                <a:gd name="T12" fmla="*/ 1 w 753"/>
                <a:gd name="T13" fmla="*/ 1 h 112"/>
                <a:gd name="T14" fmla="*/ 1 w 753"/>
                <a:gd name="T15" fmla="*/ 1 h 112"/>
                <a:gd name="T16" fmla="*/ 1 w 753"/>
                <a:gd name="T17" fmla="*/ 1 h 112"/>
                <a:gd name="T18" fmla="*/ 1 w 753"/>
                <a:gd name="T19" fmla="*/ 1 h 112"/>
                <a:gd name="T20" fmla="*/ 1 w 753"/>
                <a:gd name="T21" fmla="*/ 1 h 112"/>
                <a:gd name="T22" fmla="*/ 1 w 753"/>
                <a:gd name="T23" fmla="*/ 1 h 112"/>
                <a:gd name="T24" fmla="*/ 1 w 753"/>
                <a:gd name="T25" fmla="*/ 1 h 112"/>
                <a:gd name="T26" fmla="*/ 1 w 753"/>
                <a:gd name="T27" fmla="*/ 1 h 112"/>
                <a:gd name="T28" fmla="*/ 2 w 753"/>
                <a:gd name="T29" fmla="*/ 1 h 112"/>
                <a:gd name="T30" fmla="*/ 2 w 753"/>
                <a:gd name="T31" fmla="*/ 1 h 112"/>
                <a:gd name="T32" fmla="*/ 2 w 753"/>
                <a:gd name="T33" fmla="*/ 0 h 112"/>
                <a:gd name="T34" fmla="*/ 2 w 753"/>
                <a:gd name="T35" fmla="*/ 1 h 112"/>
                <a:gd name="T36" fmla="*/ 2 w 753"/>
                <a:gd name="T37" fmla="*/ 1 h 112"/>
                <a:gd name="T38" fmla="*/ 2 w 753"/>
                <a:gd name="T39" fmla="*/ 1 h 112"/>
                <a:gd name="T40" fmla="*/ 2 w 753"/>
                <a:gd name="T41" fmla="*/ 1 h 112"/>
                <a:gd name="T42" fmla="*/ 2 w 753"/>
                <a:gd name="T43" fmla="*/ 1 h 112"/>
                <a:gd name="T44" fmla="*/ 2 w 753"/>
                <a:gd name="T45" fmla="*/ 1 h 112"/>
                <a:gd name="T46" fmla="*/ 2 w 753"/>
                <a:gd name="T47" fmla="*/ 1 h 112"/>
                <a:gd name="T48" fmla="*/ 1 w 753"/>
                <a:gd name="T49" fmla="*/ 1 h 112"/>
                <a:gd name="T50" fmla="*/ 1 w 753"/>
                <a:gd name="T51" fmla="*/ 1 h 112"/>
                <a:gd name="T52" fmla="*/ 1 w 753"/>
                <a:gd name="T53" fmla="*/ 1 h 112"/>
                <a:gd name="T54" fmla="*/ 1 w 753"/>
                <a:gd name="T55" fmla="*/ 1 h 112"/>
                <a:gd name="T56" fmla="*/ 1 w 753"/>
                <a:gd name="T57" fmla="*/ 1 h 112"/>
                <a:gd name="T58" fmla="*/ 1 w 753"/>
                <a:gd name="T59" fmla="*/ 1 h 112"/>
                <a:gd name="T60" fmla="*/ 1 w 753"/>
                <a:gd name="T61" fmla="*/ 1 h 112"/>
                <a:gd name="T62" fmla="*/ 1 w 753"/>
                <a:gd name="T63" fmla="*/ 1 h 112"/>
                <a:gd name="T64" fmla="*/ 1 w 753"/>
                <a:gd name="T65" fmla="*/ 1 h 112"/>
                <a:gd name="T66" fmla="*/ 1 w 753"/>
                <a:gd name="T67" fmla="*/ 1 h 112"/>
                <a:gd name="T68" fmla="*/ 1 w 753"/>
                <a:gd name="T69" fmla="*/ 1 h 112"/>
                <a:gd name="T70" fmla="*/ 0 w 753"/>
                <a:gd name="T71" fmla="*/ 1 h 11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53"/>
                <a:gd name="T109" fmla="*/ 0 h 112"/>
                <a:gd name="T110" fmla="*/ 753 w 753"/>
                <a:gd name="T111" fmla="*/ 112 h 11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53" h="112">
                  <a:moveTo>
                    <a:pt x="0" y="19"/>
                  </a:moveTo>
                  <a:lnTo>
                    <a:pt x="38" y="18"/>
                  </a:lnTo>
                  <a:lnTo>
                    <a:pt x="77" y="16"/>
                  </a:lnTo>
                  <a:lnTo>
                    <a:pt x="115" y="15"/>
                  </a:lnTo>
                  <a:lnTo>
                    <a:pt x="154" y="14"/>
                  </a:lnTo>
                  <a:lnTo>
                    <a:pt x="192" y="13"/>
                  </a:lnTo>
                  <a:lnTo>
                    <a:pt x="230" y="12"/>
                  </a:lnTo>
                  <a:lnTo>
                    <a:pt x="269" y="11"/>
                  </a:lnTo>
                  <a:lnTo>
                    <a:pt x="307" y="11"/>
                  </a:lnTo>
                  <a:lnTo>
                    <a:pt x="347" y="9"/>
                  </a:lnTo>
                  <a:lnTo>
                    <a:pt x="385" y="8"/>
                  </a:lnTo>
                  <a:lnTo>
                    <a:pt x="423" y="7"/>
                  </a:lnTo>
                  <a:lnTo>
                    <a:pt x="462" y="6"/>
                  </a:lnTo>
                  <a:lnTo>
                    <a:pt x="500" y="5"/>
                  </a:lnTo>
                  <a:lnTo>
                    <a:pt x="539" y="4"/>
                  </a:lnTo>
                  <a:lnTo>
                    <a:pt x="577" y="3"/>
                  </a:lnTo>
                  <a:lnTo>
                    <a:pt x="616" y="0"/>
                  </a:lnTo>
                  <a:lnTo>
                    <a:pt x="662" y="36"/>
                  </a:lnTo>
                  <a:lnTo>
                    <a:pt x="753" y="75"/>
                  </a:lnTo>
                  <a:lnTo>
                    <a:pt x="710" y="80"/>
                  </a:lnTo>
                  <a:lnTo>
                    <a:pt x="667" y="83"/>
                  </a:lnTo>
                  <a:lnTo>
                    <a:pt x="623" y="87"/>
                  </a:lnTo>
                  <a:lnTo>
                    <a:pt x="580" y="89"/>
                  </a:lnTo>
                  <a:lnTo>
                    <a:pt x="538" y="92"/>
                  </a:lnTo>
                  <a:lnTo>
                    <a:pt x="494" y="95"/>
                  </a:lnTo>
                  <a:lnTo>
                    <a:pt x="451" y="97"/>
                  </a:lnTo>
                  <a:lnTo>
                    <a:pt x="409" y="99"/>
                  </a:lnTo>
                  <a:lnTo>
                    <a:pt x="366" y="102"/>
                  </a:lnTo>
                  <a:lnTo>
                    <a:pt x="322" y="103"/>
                  </a:lnTo>
                  <a:lnTo>
                    <a:pt x="280" y="105"/>
                  </a:lnTo>
                  <a:lnTo>
                    <a:pt x="237" y="106"/>
                  </a:lnTo>
                  <a:lnTo>
                    <a:pt x="193" y="107"/>
                  </a:lnTo>
                  <a:lnTo>
                    <a:pt x="150" y="109"/>
                  </a:lnTo>
                  <a:lnTo>
                    <a:pt x="107" y="111"/>
                  </a:lnTo>
                  <a:lnTo>
                    <a:pt x="63" y="112"/>
                  </a:lnTo>
                  <a:lnTo>
                    <a:pt x="0" y="19"/>
                  </a:lnTo>
                  <a:close/>
                </a:path>
              </a:pathLst>
            </a:custGeom>
            <a:solidFill>
              <a:srgbClr val="D18E00"/>
            </a:solidFill>
            <a:ln w="9525">
              <a:noFill/>
              <a:round/>
              <a:headEnd/>
              <a:tailEnd/>
            </a:ln>
          </p:spPr>
          <p:txBody>
            <a:bodyPr/>
            <a:lstStyle/>
            <a:p>
              <a:endParaRPr lang="fr-FR" dirty="0">
                <a:solidFill>
                  <a:prstClr val="black"/>
                </a:solidFill>
                <a:latin typeface="HP Simplified"/>
              </a:endParaRPr>
            </a:p>
          </p:txBody>
        </p:sp>
        <p:sp>
          <p:nvSpPr>
            <p:cNvPr id="23" name="Freeform 533"/>
            <p:cNvSpPr>
              <a:spLocks/>
            </p:cNvSpPr>
            <p:nvPr/>
          </p:nvSpPr>
          <p:spPr bwMode="auto">
            <a:xfrm>
              <a:off x="1812" y="1350"/>
              <a:ext cx="724" cy="165"/>
            </a:xfrm>
            <a:custGeom>
              <a:avLst/>
              <a:gdLst>
                <a:gd name="T0" fmla="*/ 1 w 1448"/>
                <a:gd name="T1" fmla="*/ 1 h 330"/>
                <a:gd name="T2" fmla="*/ 1 w 1448"/>
                <a:gd name="T3" fmla="*/ 1 h 330"/>
                <a:gd name="T4" fmla="*/ 0 w 1448"/>
                <a:gd name="T5" fmla="*/ 1 h 330"/>
                <a:gd name="T6" fmla="*/ 1 w 1448"/>
                <a:gd name="T7" fmla="*/ 1 h 330"/>
                <a:gd name="T8" fmla="*/ 1 w 1448"/>
                <a:gd name="T9" fmla="*/ 1 h 330"/>
                <a:gd name="T10" fmla="*/ 1 w 1448"/>
                <a:gd name="T11" fmla="*/ 1 h 330"/>
                <a:gd name="T12" fmla="*/ 1 w 1448"/>
                <a:gd name="T13" fmla="*/ 1 h 330"/>
                <a:gd name="T14" fmla="*/ 1 w 1448"/>
                <a:gd name="T15" fmla="*/ 1 h 330"/>
                <a:gd name="T16" fmla="*/ 3 w 1448"/>
                <a:gd name="T17" fmla="*/ 1 h 330"/>
                <a:gd name="T18" fmla="*/ 3 w 1448"/>
                <a:gd name="T19" fmla="*/ 1 h 330"/>
                <a:gd name="T20" fmla="*/ 3 w 1448"/>
                <a:gd name="T21" fmla="*/ 0 h 330"/>
                <a:gd name="T22" fmla="*/ 3 w 1448"/>
                <a:gd name="T23" fmla="*/ 1 h 330"/>
                <a:gd name="T24" fmla="*/ 3 w 1448"/>
                <a:gd name="T25" fmla="*/ 1 h 330"/>
                <a:gd name="T26" fmla="*/ 1 w 1448"/>
                <a:gd name="T27" fmla="*/ 1 h 330"/>
                <a:gd name="T28" fmla="*/ 1 w 1448"/>
                <a:gd name="T29" fmla="*/ 1 h 330"/>
                <a:gd name="T30" fmla="*/ 1 w 1448"/>
                <a:gd name="T31" fmla="*/ 1 h 330"/>
                <a:gd name="T32" fmla="*/ 1 w 1448"/>
                <a:gd name="T33" fmla="*/ 1 h 330"/>
                <a:gd name="T34" fmla="*/ 1 w 1448"/>
                <a:gd name="T35" fmla="*/ 1 h 330"/>
                <a:gd name="T36" fmla="*/ 1 w 1448"/>
                <a:gd name="T37" fmla="*/ 1 h 330"/>
                <a:gd name="T38" fmla="*/ 1 w 1448"/>
                <a:gd name="T39" fmla="*/ 1 h 330"/>
                <a:gd name="T40" fmla="*/ 1 w 1448"/>
                <a:gd name="T41" fmla="*/ 1 h 330"/>
                <a:gd name="T42" fmla="*/ 1 w 1448"/>
                <a:gd name="T43" fmla="*/ 1 h 330"/>
                <a:gd name="T44" fmla="*/ 1 w 1448"/>
                <a:gd name="T45" fmla="*/ 1 h 330"/>
                <a:gd name="T46" fmla="*/ 1 w 1448"/>
                <a:gd name="T47" fmla="*/ 1 h 3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448"/>
                <a:gd name="T73" fmla="*/ 0 h 330"/>
                <a:gd name="T74" fmla="*/ 1448 w 1448"/>
                <a:gd name="T75" fmla="*/ 330 h 33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448" h="330">
                  <a:moveTo>
                    <a:pt x="119" y="195"/>
                  </a:moveTo>
                  <a:lnTo>
                    <a:pt x="119" y="212"/>
                  </a:lnTo>
                  <a:lnTo>
                    <a:pt x="0" y="216"/>
                  </a:lnTo>
                  <a:lnTo>
                    <a:pt x="2" y="247"/>
                  </a:lnTo>
                  <a:lnTo>
                    <a:pt x="135" y="247"/>
                  </a:lnTo>
                  <a:lnTo>
                    <a:pt x="246" y="330"/>
                  </a:lnTo>
                  <a:lnTo>
                    <a:pt x="321" y="330"/>
                  </a:lnTo>
                  <a:lnTo>
                    <a:pt x="803" y="264"/>
                  </a:lnTo>
                  <a:lnTo>
                    <a:pt x="1448" y="146"/>
                  </a:lnTo>
                  <a:lnTo>
                    <a:pt x="1442" y="29"/>
                  </a:lnTo>
                  <a:lnTo>
                    <a:pt x="1162" y="0"/>
                  </a:lnTo>
                  <a:lnTo>
                    <a:pt x="1070" y="6"/>
                  </a:lnTo>
                  <a:lnTo>
                    <a:pt x="1045" y="27"/>
                  </a:lnTo>
                  <a:lnTo>
                    <a:pt x="839" y="23"/>
                  </a:lnTo>
                  <a:lnTo>
                    <a:pt x="805" y="55"/>
                  </a:lnTo>
                  <a:lnTo>
                    <a:pt x="615" y="53"/>
                  </a:lnTo>
                  <a:lnTo>
                    <a:pt x="573" y="73"/>
                  </a:lnTo>
                  <a:lnTo>
                    <a:pt x="445" y="77"/>
                  </a:lnTo>
                  <a:lnTo>
                    <a:pt x="439" y="116"/>
                  </a:lnTo>
                  <a:lnTo>
                    <a:pt x="362" y="114"/>
                  </a:lnTo>
                  <a:lnTo>
                    <a:pt x="362" y="157"/>
                  </a:lnTo>
                  <a:lnTo>
                    <a:pt x="272" y="157"/>
                  </a:lnTo>
                  <a:lnTo>
                    <a:pt x="270" y="191"/>
                  </a:lnTo>
                  <a:lnTo>
                    <a:pt x="119" y="195"/>
                  </a:lnTo>
                  <a:close/>
                </a:path>
              </a:pathLst>
            </a:custGeom>
            <a:solidFill>
              <a:srgbClr val="00335B"/>
            </a:solidFill>
            <a:ln w="9525">
              <a:noFill/>
              <a:round/>
              <a:headEnd/>
              <a:tailEnd/>
            </a:ln>
          </p:spPr>
          <p:txBody>
            <a:bodyPr/>
            <a:lstStyle/>
            <a:p>
              <a:endParaRPr lang="fr-FR" dirty="0">
                <a:solidFill>
                  <a:prstClr val="black"/>
                </a:solidFill>
                <a:latin typeface="HP Simplified"/>
              </a:endParaRPr>
            </a:p>
          </p:txBody>
        </p:sp>
        <p:sp>
          <p:nvSpPr>
            <p:cNvPr id="24" name="Freeform 534"/>
            <p:cNvSpPr>
              <a:spLocks/>
            </p:cNvSpPr>
            <p:nvPr/>
          </p:nvSpPr>
          <p:spPr bwMode="auto">
            <a:xfrm>
              <a:off x="2377" y="1265"/>
              <a:ext cx="165" cy="22"/>
            </a:xfrm>
            <a:custGeom>
              <a:avLst/>
              <a:gdLst>
                <a:gd name="T0" fmla="*/ 0 w 328"/>
                <a:gd name="T1" fmla="*/ 0 h 44"/>
                <a:gd name="T2" fmla="*/ 1 w 328"/>
                <a:gd name="T3" fmla="*/ 0 h 44"/>
                <a:gd name="T4" fmla="*/ 1 w 328"/>
                <a:gd name="T5" fmla="*/ 0 h 44"/>
                <a:gd name="T6" fmla="*/ 1 w 328"/>
                <a:gd name="T7" fmla="*/ 1 h 44"/>
                <a:gd name="T8" fmla="*/ 0 w 328"/>
                <a:gd name="T9" fmla="*/ 1 h 44"/>
                <a:gd name="T10" fmla="*/ 0 w 328"/>
                <a:gd name="T11" fmla="*/ 0 h 44"/>
                <a:gd name="T12" fmla="*/ 0 60000 65536"/>
                <a:gd name="T13" fmla="*/ 0 60000 65536"/>
                <a:gd name="T14" fmla="*/ 0 60000 65536"/>
                <a:gd name="T15" fmla="*/ 0 60000 65536"/>
                <a:gd name="T16" fmla="*/ 0 60000 65536"/>
                <a:gd name="T17" fmla="*/ 0 60000 65536"/>
                <a:gd name="T18" fmla="*/ 0 w 328"/>
                <a:gd name="T19" fmla="*/ 0 h 44"/>
                <a:gd name="T20" fmla="*/ 328 w 328"/>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328" h="44">
                  <a:moveTo>
                    <a:pt x="0" y="0"/>
                  </a:moveTo>
                  <a:lnTo>
                    <a:pt x="159" y="0"/>
                  </a:lnTo>
                  <a:lnTo>
                    <a:pt x="328" y="0"/>
                  </a:lnTo>
                  <a:lnTo>
                    <a:pt x="326" y="44"/>
                  </a:lnTo>
                  <a:lnTo>
                    <a:pt x="0" y="44"/>
                  </a:lnTo>
                  <a:lnTo>
                    <a:pt x="0" y="0"/>
                  </a:lnTo>
                  <a:close/>
                </a:path>
              </a:pathLst>
            </a:custGeom>
            <a:solidFill>
              <a:srgbClr val="D18E00"/>
            </a:solidFill>
            <a:ln w="9525">
              <a:noFill/>
              <a:round/>
              <a:headEnd/>
              <a:tailEnd/>
            </a:ln>
          </p:spPr>
          <p:txBody>
            <a:bodyPr/>
            <a:lstStyle/>
            <a:p>
              <a:endParaRPr lang="fr-FR" dirty="0">
                <a:solidFill>
                  <a:prstClr val="black"/>
                </a:solidFill>
                <a:latin typeface="HP Simplified"/>
              </a:endParaRPr>
            </a:p>
          </p:txBody>
        </p:sp>
        <p:sp>
          <p:nvSpPr>
            <p:cNvPr id="25" name="Freeform 535"/>
            <p:cNvSpPr>
              <a:spLocks/>
            </p:cNvSpPr>
            <p:nvPr/>
          </p:nvSpPr>
          <p:spPr bwMode="auto">
            <a:xfrm>
              <a:off x="2402" y="1306"/>
              <a:ext cx="149" cy="65"/>
            </a:xfrm>
            <a:custGeom>
              <a:avLst/>
              <a:gdLst>
                <a:gd name="T0" fmla="*/ 1 w 298"/>
                <a:gd name="T1" fmla="*/ 0 h 131"/>
                <a:gd name="T2" fmla="*/ 1 w 298"/>
                <a:gd name="T3" fmla="*/ 0 h 131"/>
                <a:gd name="T4" fmla="*/ 1 w 298"/>
                <a:gd name="T5" fmla="*/ 0 h 131"/>
                <a:gd name="T6" fmla="*/ 1 w 298"/>
                <a:gd name="T7" fmla="*/ 0 h 131"/>
                <a:gd name="T8" fmla="*/ 1 w 298"/>
                <a:gd name="T9" fmla="*/ 0 h 131"/>
                <a:gd name="T10" fmla="*/ 1 w 298"/>
                <a:gd name="T11" fmla="*/ 0 h 131"/>
                <a:gd name="T12" fmla="*/ 0 w 298"/>
                <a:gd name="T13" fmla="*/ 0 h 131"/>
                <a:gd name="T14" fmla="*/ 0 w 298"/>
                <a:gd name="T15" fmla="*/ 0 h 131"/>
                <a:gd name="T16" fmla="*/ 1 w 298"/>
                <a:gd name="T17" fmla="*/ 0 h 1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8"/>
                <a:gd name="T28" fmla="*/ 0 h 131"/>
                <a:gd name="T29" fmla="*/ 298 w 298"/>
                <a:gd name="T30" fmla="*/ 131 h 1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8" h="131">
                  <a:moveTo>
                    <a:pt x="116" y="0"/>
                  </a:moveTo>
                  <a:lnTo>
                    <a:pt x="239" y="7"/>
                  </a:lnTo>
                  <a:lnTo>
                    <a:pt x="298" y="7"/>
                  </a:lnTo>
                  <a:lnTo>
                    <a:pt x="298" y="131"/>
                  </a:lnTo>
                  <a:lnTo>
                    <a:pt x="269" y="129"/>
                  </a:lnTo>
                  <a:lnTo>
                    <a:pt x="269" y="75"/>
                  </a:lnTo>
                  <a:lnTo>
                    <a:pt x="0" y="78"/>
                  </a:lnTo>
                  <a:lnTo>
                    <a:pt x="0" y="7"/>
                  </a:lnTo>
                  <a:lnTo>
                    <a:pt x="116" y="0"/>
                  </a:lnTo>
                  <a:close/>
                </a:path>
              </a:pathLst>
            </a:custGeom>
            <a:solidFill>
              <a:srgbClr val="D18E00"/>
            </a:solidFill>
            <a:ln w="9525">
              <a:noFill/>
              <a:round/>
              <a:headEnd/>
              <a:tailEnd/>
            </a:ln>
          </p:spPr>
          <p:txBody>
            <a:bodyPr/>
            <a:lstStyle/>
            <a:p>
              <a:endParaRPr lang="fr-FR" dirty="0">
                <a:solidFill>
                  <a:prstClr val="black"/>
                </a:solidFill>
                <a:latin typeface="HP Simplified"/>
              </a:endParaRPr>
            </a:p>
          </p:txBody>
        </p:sp>
        <p:sp>
          <p:nvSpPr>
            <p:cNvPr id="26" name="Rectangle 536"/>
            <p:cNvSpPr>
              <a:spLocks noChangeArrowheads="1"/>
            </p:cNvSpPr>
            <p:nvPr/>
          </p:nvSpPr>
          <p:spPr bwMode="auto">
            <a:xfrm>
              <a:off x="2631" y="1206"/>
              <a:ext cx="5" cy="129"/>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27" name="Rectangle 537"/>
            <p:cNvSpPr>
              <a:spLocks noChangeArrowheads="1"/>
            </p:cNvSpPr>
            <p:nvPr/>
          </p:nvSpPr>
          <p:spPr bwMode="auto">
            <a:xfrm>
              <a:off x="2472" y="1194"/>
              <a:ext cx="5" cy="64"/>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28" name="Rectangle 538"/>
            <p:cNvSpPr>
              <a:spLocks noChangeArrowheads="1"/>
            </p:cNvSpPr>
            <p:nvPr/>
          </p:nvSpPr>
          <p:spPr bwMode="auto">
            <a:xfrm>
              <a:off x="2451" y="1172"/>
              <a:ext cx="5" cy="89"/>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29" name="Rectangle 539"/>
            <p:cNvSpPr>
              <a:spLocks noChangeArrowheads="1"/>
            </p:cNvSpPr>
            <p:nvPr/>
          </p:nvSpPr>
          <p:spPr bwMode="auto">
            <a:xfrm>
              <a:off x="1775" y="1335"/>
              <a:ext cx="20" cy="135"/>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30" name="Rectangle 540"/>
            <p:cNvSpPr>
              <a:spLocks noChangeArrowheads="1"/>
            </p:cNvSpPr>
            <p:nvPr/>
          </p:nvSpPr>
          <p:spPr bwMode="auto">
            <a:xfrm>
              <a:off x="1783" y="1233"/>
              <a:ext cx="6" cy="120"/>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31" name="Rectangle 541"/>
            <p:cNvSpPr>
              <a:spLocks noChangeArrowheads="1"/>
            </p:cNvSpPr>
            <p:nvPr/>
          </p:nvSpPr>
          <p:spPr bwMode="auto">
            <a:xfrm>
              <a:off x="2180" y="1395"/>
              <a:ext cx="54"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32" name="Rectangle 542"/>
            <p:cNvSpPr>
              <a:spLocks noChangeArrowheads="1"/>
            </p:cNvSpPr>
            <p:nvPr/>
          </p:nvSpPr>
          <p:spPr bwMode="auto">
            <a:xfrm>
              <a:off x="2113" y="1415"/>
              <a:ext cx="54"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33" name="Rectangle 543"/>
            <p:cNvSpPr>
              <a:spLocks noChangeArrowheads="1"/>
            </p:cNvSpPr>
            <p:nvPr/>
          </p:nvSpPr>
          <p:spPr bwMode="auto">
            <a:xfrm>
              <a:off x="2113" y="1389"/>
              <a:ext cx="54" cy="16"/>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34" name="Rectangle 544"/>
            <p:cNvSpPr>
              <a:spLocks noChangeArrowheads="1"/>
            </p:cNvSpPr>
            <p:nvPr/>
          </p:nvSpPr>
          <p:spPr bwMode="auto">
            <a:xfrm>
              <a:off x="2270" y="1394"/>
              <a:ext cx="53"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35" name="Rectangle 545"/>
            <p:cNvSpPr>
              <a:spLocks noChangeArrowheads="1"/>
            </p:cNvSpPr>
            <p:nvPr/>
          </p:nvSpPr>
          <p:spPr bwMode="auto">
            <a:xfrm>
              <a:off x="2334" y="1377"/>
              <a:ext cx="91"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36" name="Rectangle 546"/>
            <p:cNvSpPr>
              <a:spLocks noChangeArrowheads="1"/>
            </p:cNvSpPr>
            <p:nvPr/>
          </p:nvSpPr>
          <p:spPr bwMode="auto">
            <a:xfrm>
              <a:off x="2438" y="1365"/>
              <a:ext cx="37"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37" name="Rectangle 547"/>
            <p:cNvSpPr>
              <a:spLocks noChangeArrowheads="1"/>
            </p:cNvSpPr>
            <p:nvPr/>
          </p:nvSpPr>
          <p:spPr bwMode="auto">
            <a:xfrm>
              <a:off x="2481" y="1348"/>
              <a:ext cx="37" cy="16"/>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38" name="Rectangle 548"/>
            <p:cNvSpPr>
              <a:spLocks noChangeArrowheads="1"/>
            </p:cNvSpPr>
            <p:nvPr/>
          </p:nvSpPr>
          <p:spPr bwMode="auto">
            <a:xfrm>
              <a:off x="2043" y="1423"/>
              <a:ext cx="37"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39" name="Rectangle 549"/>
            <p:cNvSpPr>
              <a:spLocks noChangeArrowheads="1"/>
            </p:cNvSpPr>
            <p:nvPr/>
          </p:nvSpPr>
          <p:spPr bwMode="auto">
            <a:xfrm>
              <a:off x="2043" y="1400"/>
              <a:ext cx="37" cy="16"/>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40" name="Rectangle 550"/>
            <p:cNvSpPr>
              <a:spLocks noChangeArrowheads="1"/>
            </p:cNvSpPr>
            <p:nvPr/>
          </p:nvSpPr>
          <p:spPr bwMode="auto">
            <a:xfrm>
              <a:off x="1963" y="1459"/>
              <a:ext cx="36" cy="12"/>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41" name="Rectangle 551"/>
            <p:cNvSpPr>
              <a:spLocks noChangeArrowheads="1"/>
            </p:cNvSpPr>
            <p:nvPr/>
          </p:nvSpPr>
          <p:spPr bwMode="auto">
            <a:xfrm>
              <a:off x="2180" y="1420"/>
              <a:ext cx="53" cy="16"/>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42" name="Rectangle 552"/>
            <p:cNvSpPr>
              <a:spLocks noChangeArrowheads="1"/>
            </p:cNvSpPr>
            <p:nvPr/>
          </p:nvSpPr>
          <p:spPr bwMode="auto">
            <a:xfrm>
              <a:off x="2113" y="1437"/>
              <a:ext cx="53"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43" name="Rectangle 553"/>
            <p:cNvSpPr>
              <a:spLocks noChangeArrowheads="1"/>
            </p:cNvSpPr>
            <p:nvPr/>
          </p:nvSpPr>
          <p:spPr bwMode="auto">
            <a:xfrm>
              <a:off x="2270" y="1419"/>
              <a:ext cx="53"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44" name="Rectangle 554"/>
            <p:cNvSpPr>
              <a:spLocks noChangeArrowheads="1"/>
            </p:cNvSpPr>
            <p:nvPr/>
          </p:nvSpPr>
          <p:spPr bwMode="auto">
            <a:xfrm>
              <a:off x="2332" y="1401"/>
              <a:ext cx="92"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45" name="Rectangle 555"/>
            <p:cNvSpPr>
              <a:spLocks noChangeArrowheads="1"/>
            </p:cNvSpPr>
            <p:nvPr/>
          </p:nvSpPr>
          <p:spPr bwMode="auto">
            <a:xfrm>
              <a:off x="2437" y="1390"/>
              <a:ext cx="37"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46" name="Rectangle 556"/>
            <p:cNvSpPr>
              <a:spLocks noChangeArrowheads="1"/>
            </p:cNvSpPr>
            <p:nvPr/>
          </p:nvSpPr>
          <p:spPr bwMode="auto">
            <a:xfrm>
              <a:off x="2481" y="1372"/>
              <a:ext cx="37"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47" name="Rectangle 557"/>
            <p:cNvSpPr>
              <a:spLocks noChangeArrowheads="1"/>
            </p:cNvSpPr>
            <p:nvPr/>
          </p:nvSpPr>
          <p:spPr bwMode="auto">
            <a:xfrm>
              <a:off x="2043" y="1448"/>
              <a:ext cx="37"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48" name="Rectangle 558"/>
            <p:cNvSpPr>
              <a:spLocks noChangeArrowheads="1"/>
            </p:cNvSpPr>
            <p:nvPr/>
          </p:nvSpPr>
          <p:spPr bwMode="auto">
            <a:xfrm>
              <a:off x="1961" y="1477"/>
              <a:ext cx="37" cy="12"/>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49" name="Rectangle 559"/>
            <p:cNvSpPr>
              <a:spLocks noChangeArrowheads="1"/>
            </p:cNvSpPr>
            <p:nvPr/>
          </p:nvSpPr>
          <p:spPr bwMode="auto">
            <a:xfrm>
              <a:off x="2180" y="1447"/>
              <a:ext cx="54"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50" name="Rectangle 560"/>
            <p:cNvSpPr>
              <a:spLocks noChangeArrowheads="1"/>
            </p:cNvSpPr>
            <p:nvPr/>
          </p:nvSpPr>
          <p:spPr bwMode="auto">
            <a:xfrm>
              <a:off x="2113" y="1460"/>
              <a:ext cx="54"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51" name="Rectangle 561"/>
            <p:cNvSpPr>
              <a:spLocks noChangeArrowheads="1"/>
            </p:cNvSpPr>
            <p:nvPr/>
          </p:nvSpPr>
          <p:spPr bwMode="auto">
            <a:xfrm>
              <a:off x="2270" y="1368"/>
              <a:ext cx="53" cy="16"/>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52" name="Rectangle 562"/>
            <p:cNvSpPr>
              <a:spLocks noChangeArrowheads="1"/>
            </p:cNvSpPr>
            <p:nvPr/>
          </p:nvSpPr>
          <p:spPr bwMode="auto">
            <a:xfrm>
              <a:off x="2334" y="1429"/>
              <a:ext cx="51" cy="9"/>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53" name="Rectangle 563"/>
            <p:cNvSpPr>
              <a:spLocks noChangeArrowheads="1"/>
            </p:cNvSpPr>
            <p:nvPr/>
          </p:nvSpPr>
          <p:spPr bwMode="auto">
            <a:xfrm>
              <a:off x="2438" y="1414"/>
              <a:ext cx="37"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54" name="Rectangle 564"/>
            <p:cNvSpPr>
              <a:spLocks noChangeArrowheads="1"/>
            </p:cNvSpPr>
            <p:nvPr/>
          </p:nvSpPr>
          <p:spPr bwMode="auto">
            <a:xfrm>
              <a:off x="2481" y="1400"/>
              <a:ext cx="37" cy="16"/>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55" name="Rectangle 565"/>
            <p:cNvSpPr>
              <a:spLocks noChangeArrowheads="1"/>
            </p:cNvSpPr>
            <p:nvPr/>
          </p:nvSpPr>
          <p:spPr bwMode="auto">
            <a:xfrm>
              <a:off x="2042" y="1474"/>
              <a:ext cx="37" cy="17"/>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56" name="Rectangle 566"/>
            <p:cNvSpPr>
              <a:spLocks noChangeArrowheads="1"/>
            </p:cNvSpPr>
            <p:nvPr/>
          </p:nvSpPr>
          <p:spPr bwMode="auto">
            <a:xfrm>
              <a:off x="1961" y="1435"/>
              <a:ext cx="37" cy="13"/>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57" name="Rectangle 567"/>
            <p:cNvSpPr>
              <a:spLocks noChangeArrowheads="1"/>
            </p:cNvSpPr>
            <p:nvPr/>
          </p:nvSpPr>
          <p:spPr bwMode="auto">
            <a:xfrm>
              <a:off x="1880" y="1462"/>
              <a:ext cx="41" cy="20"/>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58" name="Rectangle 568"/>
            <p:cNvSpPr>
              <a:spLocks noChangeArrowheads="1"/>
            </p:cNvSpPr>
            <p:nvPr/>
          </p:nvSpPr>
          <p:spPr bwMode="auto">
            <a:xfrm>
              <a:off x="2486" y="1243"/>
              <a:ext cx="58" cy="15"/>
            </a:xfrm>
            <a:prstGeom prst="rect">
              <a:avLst/>
            </a:prstGeom>
            <a:solidFill>
              <a:srgbClr val="8C4400"/>
            </a:solidFill>
            <a:ln w="9525">
              <a:noFill/>
              <a:miter lim="800000"/>
              <a:headEnd/>
              <a:tailEnd/>
            </a:ln>
          </p:spPr>
          <p:txBody>
            <a:bodyPr/>
            <a:lstStyle/>
            <a:p>
              <a:endParaRPr lang="fr-FR" dirty="0">
                <a:solidFill>
                  <a:prstClr val="black"/>
                </a:solidFill>
                <a:latin typeface="HP Simplified"/>
              </a:endParaRPr>
            </a:p>
          </p:txBody>
        </p:sp>
        <p:sp>
          <p:nvSpPr>
            <p:cNvPr id="59" name="Rectangle 569"/>
            <p:cNvSpPr>
              <a:spLocks noChangeArrowheads="1"/>
            </p:cNvSpPr>
            <p:nvPr/>
          </p:nvSpPr>
          <p:spPr bwMode="auto">
            <a:xfrm>
              <a:off x="2486" y="1207"/>
              <a:ext cx="60" cy="15"/>
            </a:xfrm>
            <a:prstGeom prst="rect">
              <a:avLst/>
            </a:prstGeom>
            <a:solidFill>
              <a:srgbClr val="8C4400"/>
            </a:solidFill>
            <a:ln w="9525">
              <a:noFill/>
              <a:miter lim="800000"/>
              <a:headEnd/>
              <a:tailEnd/>
            </a:ln>
          </p:spPr>
          <p:txBody>
            <a:bodyPr/>
            <a:lstStyle/>
            <a:p>
              <a:endParaRPr lang="fr-FR" dirty="0">
                <a:solidFill>
                  <a:prstClr val="black"/>
                </a:solidFill>
                <a:latin typeface="HP Simplified"/>
              </a:endParaRPr>
            </a:p>
          </p:txBody>
        </p:sp>
        <p:sp>
          <p:nvSpPr>
            <p:cNvPr id="60" name="Rectangle 570"/>
            <p:cNvSpPr>
              <a:spLocks noChangeArrowheads="1"/>
            </p:cNvSpPr>
            <p:nvPr/>
          </p:nvSpPr>
          <p:spPr bwMode="auto">
            <a:xfrm>
              <a:off x="2493" y="1243"/>
              <a:ext cx="42" cy="15"/>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61" name="Rectangle 571"/>
            <p:cNvSpPr>
              <a:spLocks noChangeArrowheads="1"/>
            </p:cNvSpPr>
            <p:nvPr/>
          </p:nvSpPr>
          <p:spPr bwMode="auto">
            <a:xfrm>
              <a:off x="2493" y="1207"/>
              <a:ext cx="43" cy="15"/>
            </a:xfrm>
            <a:prstGeom prst="rect">
              <a:avLst/>
            </a:prstGeom>
            <a:solidFill>
              <a:srgbClr val="B76B05"/>
            </a:solidFill>
            <a:ln w="9525">
              <a:noFill/>
              <a:miter lim="800000"/>
              <a:headEnd/>
              <a:tailEnd/>
            </a:ln>
          </p:spPr>
          <p:txBody>
            <a:bodyPr/>
            <a:lstStyle/>
            <a:p>
              <a:endParaRPr lang="fr-FR" dirty="0">
                <a:solidFill>
                  <a:prstClr val="black"/>
                </a:solidFill>
                <a:latin typeface="HP Simplified"/>
              </a:endParaRPr>
            </a:p>
          </p:txBody>
        </p:sp>
        <p:sp>
          <p:nvSpPr>
            <p:cNvPr id="62" name="Rectangle 572"/>
            <p:cNvSpPr>
              <a:spLocks noChangeArrowheads="1"/>
            </p:cNvSpPr>
            <p:nvPr/>
          </p:nvSpPr>
          <p:spPr bwMode="auto">
            <a:xfrm>
              <a:off x="2502" y="1243"/>
              <a:ext cx="12" cy="15"/>
            </a:xfrm>
            <a:prstGeom prst="rect">
              <a:avLst/>
            </a:prstGeom>
            <a:solidFill>
              <a:srgbClr val="D18E00"/>
            </a:solidFill>
            <a:ln w="9525">
              <a:noFill/>
              <a:miter lim="800000"/>
              <a:headEnd/>
              <a:tailEnd/>
            </a:ln>
          </p:spPr>
          <p:txBody>
            <a:bodyPr/>
            <a:lstStyle/>
            <a:p>
              <a:endParaRPr lang="fr-FR" dirty="0">
                <a:solidFill>
                  <a:prstClr val="black"/>
                </a:solidFill>
                <a:latin typeface="HP Simplified"/>
              </a:endParaRPr>
            </a:p>
          </p:txBody>
        </p:sp>
        <p:sp>
          <p:nvSpPr>
            <p:cNvPr id="63" name="Rectangle 573"/>
            <p:cNvSpPr>
              <a:spLocks noChangeArrowheads="1"/>
            </p:cNvSpPr>
            <p:nvPr/>
          </p:nvSpPr>
          <p:spPr bwMode="auto">
            <a:xfrm>
              <a:off x="2502" y="1207"/>
              <a:ext cx="13" cy="15"/>
            </a:xfrm>
            <a:prstGeom prst="rect">
              <a:avLst/>
            </a:prstGeom>
            <a:solidFill>
              <a:srgbClr val="D18E00"/>
            </a:solidFill>
            <a:ln w="9525">
              <a:noFill/>
              <a:miter lim="800000"/>
              <a:headEnd/>
              <a:tailEnd/>
            </a:ln>
          </p:spPr>
          <p:txBody>
            <a:bodyPr/>
            <a:lstStyle/>
            <a:p>
              <a:endParaRPr lang="fr-FR" dirty="0">
                <a:solidFill>
                  <a:prstClr val="black"/>
                </a:solidFill>
                <a:latin typeface="HP Simplified"/>
              </a:endParaRPr>
            </a:p>
          </p:txBody>
        </p:sp>
        <p:sp>
          <p:nvSpPr>
            <p:cNvPr id="64" name="Rectangle 574"/>
            <p:cNvSpPr>
              <a:spLocks noChangeArrowheads="1"/>
            </p:cNvSpPr>
            <p:nvPr/>
          </p:nvSpPr>
          <p:spPr bwMode="auto">
            <a:xfrm>
              <a:off x="2408" y="1315"/>
              <a:ext cx="15" cy="8"/>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65" name="Rectangle 575"/>
            <p:cNvSpPr>
              <a:spLocks noChangeArrowheads="1"/>
            </p:cNvSpPr>
            <p:nvPr/>
          </p:nvSpPr>
          <p:spPr bwMode="auto">
            <a:xfrm>
              <a:off x="2407" y="1330"/>
              <a:ext cx="15" cy="9"/>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66" name="Rectangle 576"/>
            <p:cNvSpPr>
              <a:spLocks noChangeArrowheads="1"/>
            </p:cNvSpPr>
            <p:nvPr/>
          </p:nvSpPr>
          <p:spPr bwMode="auto">
            <a:xfrm>
              <a:off x="2490" y="1315"/>
              <a:ext cx="16" cy="8"/>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67" name="Rectangle 577"/>
            <p:cNvSpPr>
              <a:spLocks noChangeArrowheads="1"/>
            </p:cNvSpPr>
            <p:nvPr/>
          </p:nvSpPr>
          <p:spPr bwMode="auto">
            <a:xfrm>
              <a:off x="2489" y="1330"/>
              <a:ext cx="15" cy="9"/>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68" name="Rectangle 578"/>
            <p:cNvSpPr>
              <a:spLocks noChangeArrowheads="1"/>
            </p:cNvSpPr>
            <p:nvPr/>
          </p:nvSpPr>
          <p:spPr bwMode="auto">
            <a:xfrm>
              <a:off x="2435" y="1315"/>
              <a:ext cx="15" cy="8"/>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69" name="Rectangle 579"/>
            <p:cNvSpPr>
              <a:spLocks noChangeArrowheads="1"/>
            </p:cNvSpPr>
            <p:nvPr/>
          </p:nvSpPr>
          <p:spPr bwMode="auto">
            <a:xfrm>
              <a:off x="2434" y="1330"/>
              <a:ext cx="15" cy="9"/>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70" name="Rectangle 580"/>
            <p:cNvSpPr>
              <a:spLocks noChangeArrowheads="1"/>
            </p:cNvSpPr>
            <p:nvPr/>
          </p:nvSpPr>
          <p:spPr bwMode="auto">
            <a:xfrm>
              <a:off x="2517" y="1315"/>
              <a:ext cx="15" cy="8"/>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71" name="Rectangle 581"/>
            <p:cNvSpPr>
              <a:spLocks noChangeArrowheads="1"/>
            </p:cNvSpPr>
            <p:nvPr/>
          </p:nvSpPr>
          <p:spPr bwMode="auto">
            <a:xfrm>
              <a:off x="2516" y="1330"/>
              <a:ext cx="15" cy="9"/>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72" name="Rectangle 582"/>
            <p:cNvSpPr>
              <a:spLocks noChangeArrowheads="1"/>
            </p:cNvSpPr>
            <p:nvPr/>
          </p:nvSpPr>
          <p:spPr bwMode="auto">
            <a:xfrm>
              <a:off x="2462" y="1315"/>
              <a:ext cx="16" cy="8"/>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73" name="Rectangle 583"/>
            <p:cNvSpPr>
              <a:spLocks noChangeArrowheads="1"/>
            </p:cNvSpPr>
            <p:nvPr/>
          </p:nvSpPr>
          <p:spPr bwMode="auto">
            <a:xfrm>
              <a:off x="2461" y="1330"/>
              <a:ext cx="15" cy="9"/>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74" name="Rectangle 584"/>
            <p:cNvSpPr>
              <a:spLocks noChangeArrowheads="1"/>
            </p:cNvSpPr>
            <p:nvPr/>
          </p:nvSpPr>
          <p:spPr bwMode="auto">
            <a:xfrm>
              <a:off x="2386" y="1271"/>
              <a:ext cx="16" cy="8"/>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75" name="Rectangle 585"/>
            <p:cNvSpPr>
              <a:spLocks noChangeArrowheads="1"/>
            </p:cNvSpPr>
            <p:nvPr/>
          </p:nvSpPr>
          <p:spPr bwMode="auto">
            <a:xfrm>
              <a:off x="2440" y="1271"/>
              <a:ext cx="16" cy="8"/>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76" name="Rectangle 586"/>
            <p:cNvSpPr>
              <a:spLocks noChangeArrowheads="1"/>
            </p:cNvSpPr>
            <p:nvPr/>
          </p:nvSpPr>
          <p:spPr bwMode="auto">
            <a:xfrm>
              <a:off x="2498" y="1271"/>
              <a:ext cx="15" cy="8"/>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77" name="Rectangle 587"/>
            <p:cNvSpPr>
              <a:spLocks noChangeArrowheads="1"/>
            </p:cNvSpPr>
            <p:nvPr/>
          </p:nvSpPr>
          <p:spPr bwMode="auto">
            <a:xfrm>
              <a:off x="2414" y="1271"/>
              <a:ext cx="16" cy="8"/>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78" name="Rectangle 588"/>
            <p:cNvSpPr>
              <a:spLocks noChangeArrowheads="1"/>
            </p:cNvSpPr>
            <p:nvPr/>
          </p:nvSpPr>
          <p:spPr bwMode="auto">
            <a:xfrm>
              <a:off x="2468" y="1271"/>
              <a:ext cx="16" cy="8"/>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79" name="Rectangle 589"/>
            <p:cNvSpPr>
              <a:spLocks noChangeArrowheads="1"/>
            </p:cNvSpPr>
            <p:nvPr/>
          </p:nvSpPr>
          <p:spPr bwMode="auto">
            <a:xfrm>
              <a:off x="1764" y="1259"/>
              <a:ext cx="37" cy="7"/>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80" name="Rectangle 590"/>
            <p:cNvSpPr>
              <a:spLocks noChangeArrowheads="1"/>
            </p:cNvSpPr>
            <p:nvPr/>
          </p:nvSpPr>
          <p:spPr bwMode="auto">
            <a:xfrm>
              <a:off x="2625" y="1218"/>
              <a:ext cx="17" cy="7"/>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81" name="Rectangle 591"/>
            <p:cNvSpPr>
              <a:spLocks noChangeArrowheads="1"/>
            </p:cNvSpPr>
            <p:nvPr/>
          </p:nvSpPr>
          <p:spPr bwMode="auto">
            <a:xfrm>
              <a:off x="2466" y="1200"/>
              <a:ext cx="17" cy="3"/>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82" name="Rectangle 592"/>
            <p:cNvSpPr>
              <a:spLocks noChangeArrowheads="1"/>
            </p:cNvSpPr>
            <p:nvPr/>
          </p:nvSpPr>
          <p:spPr bwMode="auto">
            <a:xfrm>
              <a:off x="2445" y="1180"/>
              <a:ext cx="16" cy="5"/>
            </a:xfrm>
            <a:prstGeom prst="rect">
              <a:avLst/>
            </a:prstGeom>
            <a:solidFill>
              <a:srgbClr val="00335B"/>
            </a:solidFill>
            <a:ln w="9525">
              <a:noFill/>
              <a:miter lim="800000"/>
              <a:headEnd/>
              <a:tailEnd/>
            </a:ln>
          </p:spPr>
          <p:txBody>
            <a:bodyPr/>
            <a:lstStyle/>
            <a:p>
              <a:endParaRPr lang="fr-FR" dirty="0">
                <a:solidFill>
                  <a:prstClr val="black"/>
                </a:solidFill>
                <a:latin typeface="HP Simplified"/>
              </a:endParaRPr>
            </a:p>
          </p:txBody>
        </p:sp>
        <p:sp>
          <p:nvSpPr>
            <p:cNvPr id="83" name="Freeform 593"/>
            <p:cNvSpPr>
              <a:spLocks/>
            </p:cNvSpPr>
            <p:nvPr/>
          </p:nvSpPr>
          <p:spPr bwMode="auto">
            <a:xfrm>
              <a:off x="1929" y="1383"/>
              <a:ext cx="714" cy="135"/>
            </a:xfrm>
            <a:custGeom>
              <a:avLst/>
              <a:gdLst>
                <a:gd name="T0" fmla="*/ 0 w 1429"/>
                <a:gd name="T1" fmla="*/ 1 h 268"/>
                <a:gd name="T2" fmla="*/ 0 w 1429"/>
                <a:gd name="T3" fmla="*/ 1 h 268"/>
                <a:gd name="T4" fmla="*/ 0 w 1429"/>
                <a:gd name="T5" fmla="*/ 1 h 268"/>
                <a:gd name="T6" fmla="*/ 0 w 1429"/>
                <a:gd name="T7" fmla="*/ 1 h 268"/>
                <a:gd name="T8" fmla="*/ 0 w 1429"/>
                <a:gd name="T9" fmla="*/ 1 h 268"/>
                <a:gd name="T10" fmla="*/ 0 w 1429"/>
                <a:gd name="T11" fmla="*/ 1 h 268"/>
                <a:gd name="T12" fmla="*/ 1 w 1429"/>
                <a:gd name="T13" fmla="*/ 1 h 268"/>
                <a:gd name="T14" fmla="*/ 1 w 1429"/>
                <a:gd name="T15" fmla="*/ 1 h 268"/>
                <a:gd name="T16" fmla="*/ 1 w 1429"/>
                <a:gd name="T17" fmla="*/ 1 h 268"/>
                <a:gd name="T18" fmla="*/ 1 w 1429"/>
                <a:gd name="T19" fmla="*/ 1 h 268"/>
                <a:gd name="T20" fmla="*/ 1 w 1429"/>
                <a:gd name="T21" fmla="*/ 1 h 268"/>
                <a:gd name="T22" fmla="*/ 1 w 1429"/>
                <a:gd name="T23" fmla="*/ 1 h 268"/>
                <a:gd name="T24" fmla="*/ 2 w 1429"/>
                <a:gd name="T25" fmla="*/ 1 h 268"/>
                <a:gd name="T26" fmla="*/ 2 w 1429"/>
                <a:gd name="T27" fmla="*/ 1 h 268"/>
                <a:gd name="T28" fmla="*/ 2 w 1429"/>
                <a:gd name="T29" fmla="*/ 1 h 268"/>
                <a:gd name="T30" fmla="*/ 2 w 1429"/>
                <a:gd name="T31" fmla="*/ 1 h 268"/>
                <a:gd name="T32" fmla="*/ 2 w 1429"/>
                <a:gd name="T33" fmla="*/ 1 h 268"/>
                <a:gd name="T34" fmla="*/ 2 w 1429"/>
                <a:gd name="T35" fmla="*/ 1 h 268"/>
                <a:gd name="T36" fmla="*/ 2 w 1429"/>
                <a:gd name="T37" fmla="*/ 1 h 268"/>
                <a:gd name="T38" fmla="*/ 2 w 1429"/>
                <a:gd name="T39" fmla="*/ 1 h 268"/>
                <a:gd name="T40" fmla="*/ 2 w 1429"/>
                <a:gd name="T41" fmla="*/ 1 h 268"/>
                <a:gd name="T42" fmla="*/ 2 w 1429"/>
                <a:gd name="T43" fmla="*/ 1 h 268"/>
                <a:gd name="T44" fmla="*/ 1 w 1429"/>
                <a:gd name="T45" fmla="*/ 1 h 268"/>
                <a:gd name="T46" fmla="*/ 1 w 1429"/>
                <a:gd name="T47" fmla="*/ 1 h 268"/>
                <a:gd name="T48" fmla="*/ 1 w 1429"/>
                <a:gd name="T49" fmla="*/ 1 h 268"/>
                <a:gd name="T50" fmla="*/ 1 w 1429"/>
                <a:gd name="T51" fmla="*/ 1 h 268"/>
                <a:gd name="T52" fmla="*/ 1 w 1429"/>
                <a:gd name="T53" fmla="*/ 1 h 268"/>
                <a:gd name="T54" fmla="*/ 1 w 1429"/>
                <a:gd name="T55" fmla="*/ 1 h 268"/>
                <a:gd name="T56" fmla="*/ 0 w 1429"/>
                <a:gd name="T57" fmla="*/ 1 h 268"/>
                <a:gd name="T58" fmla="*/ 0 w 1429"/>
                <a:gd name="T59" fmla="*/ 1 h 268"/>
                <a:gd name="T60" fmla="*/ 0 w 1429"/>
                <a:gd name="T61" fmla="*/ 1 h 268"/>
                <a:gd name="T62" fmla="*/ 0 w 1429"/>
                <a:gd name="T63" fmla="*/ 1 h 268"/>
                <a:gd name="T64" fmla="*/ 0 w 1429"/>
                <a:gd name="T65" fmla="*/ 1 h 268"/>
                <a:gd name="T66" fmla="*/ 0 w 1429"/>
                <a:gd name="T67" fmla="*/ 1 h 2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429"/>
                <a:gd name="T103" fmla="*/ 0 h 268"/>
                <a:gd name="T104" fmla="*/ 1429 w 1429"/>
                <a:gd name="T105" fmla="*/ 268 h 26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429" h="268">
                  <a:moveTo>
                    <a:pt x="0" y="256"/>
                  </a:moveTo>
                  <a:lnTo>
                    <a:pt x="42" y="250"/>
                  </a:lnTo>
                  <a:lnTo>
                    <a:pt x="84" y="244"/>
                  </a:lnTo>
                  <a:lnTo>
                    <a:pt x="126" y="238"/>
                  </a:lnTo>
                  <a:lnTo>
                    <a:pt x="169" y="233"/>
                  </a:lnTo>
                  <a:lnTo>
                    <a:pt x="211" y="227"/>
                  </a:lnTo>
                  <a:lnTo>
                    <a:pt x="254" y="221"/>
                  </a:lnTo>
                  <a:lnTo>
                    <a:pt x="296" y="215"/>
                  </a:lnTo>
                  <a:lnTo>
                    <a:pt x="340" y="210"/>
                  </a:lnTo>
                  <a:lnTo>
                    <a:pt x="383" y="204"/>
                  </a:lnTo>
                  <a:lnTo>
                    <a:pt x="425" y="198"/>
                  </a:lnTo>
                  <a:lnTo>
                    <a:pt x="469" y="191"/>
                  </a:lnTo>
                  <a:lnTo>
                    <a:pt x="512" y="185"/>
                  </a:lnTo>
                  <a:lnTo>
                    <a:pt x="556" y="180"/>
                  </a:lnTo>
                  <a:lnTo>
                    <a:pt x="598" y="174"/>
                  </a:lnTo>
                  <a:lnTo>
                    <a:pt x="641" y="167"/>
                  </a:lnTo>
                  <a:lnTo>
                    <a:pt x="684" y="161"/>
                  </a:lnTo>
                  <a:lnTo>
                    <a:pt x="726" y="154"/>
                  </a:lnTo>
                  <a:lnTo>
                    <a:pt x="768" y="149"/>
                  </a:lnTo>
                  <a:lnTo>
                    <a:pt x="810" y="142"/>
                  </a:lnTo>
                  <a:lnTo>
                    <a:pt x="852" y="136"/>
                  </a:lnTo>
                  <a:lnTo>
                    <a:pt x="893" y="129"/>
                  </a:lnTo>
                  <a:lnTo>
                    <a:pt x="934" y="122"/>
                  </a:lnTo>
                  <a:lnTo>
                    <a:pt x="975" y="115"/>
                  </a:lnTo>
                  <a:lnTo>
                    <a:pt x="1014" y="108"/>
                  </a:lnTo>
                  <a:lnTo>
                    <a:pt x="1055" y="101"/>
                  </a:lnTo>
                  <a:lnTo>
                    <a:pt x="1094" y="94"/>
                  </a:lnTo>
                  <a:lnTo>
                    <a:pt x="1133" y="88"/>
                  </a:lnTo>
                  <a:lnTo>
                    <a:pt x="1171" y="81"/>
                  </a:lnTo>
                  <a:lnTo>
                    <a:pt x="1208" y="74"/>
                  </a:lnTo>
                  <a:lnTo>
                    <a:pt x="1245" y="66"/>
                  </a:lnTo>
                  <a:lnTo>
                    <a:pt x="1281" y="59"/>
                  </a:lnTo>
                  <a:lnTo>
                    <a:pt x="1317" y="51"/>
                  </a:lnTo>
                  <a:lnTo>
                    <a:pt x="1405" y="1"/>
                  </a:lnTo>
                  <a:lnTo>
                    <a:pt x="1429" y="0"/>
                  </a:lnTo>
                  <a:lnTo>
                    <a:pt x="1329" y="62"/>
                  </a:lnTo>
                  <a:lnTo>
                    <a:pt x="1294" y="70"/>
                  </a:lnTo>
                  <a:lnTo>
                    <a:pt x="1258" y="78"/>
                  </a:lnTo>
                  <a:lnTo>
                    <a:pt x="1222" y="86"/>
                  </a:lnTo>
                  <a:lnTo>
                    <a:pt x="1185" y="94"/>
                  </a:lnTo>
                  <a:lnTo>
                    <a:pt x="1147" y="102"/>
                  </a:lnTo>
                  <a:lnTo>
                    <a:pt x="1109" y="109"/>
                  </a:lnTo>
                  <a:lnTo>
                    <a:pt x="1071" y="117"/>
                  </a:lnTo>
                  <a:lnTo>
                    <a:pt x="1031" y="124"/>
                  </a:lnTo>
                  <a:lnTo>
                    <a:pt x="992" y="131"/>
                  </a:lnTo>
                  <a:lnTo>
                    <a:pt x="953" y="138"/>
                  </a:lnTo>
                  <a:lnTo>
                    <a:pt x="913" y="144"/>
                  </a:lnTo>
                  <a:lnTo>
                    <a:pt x="872" y="151"/>
                  </a:lnTo>
                  <a:lnTo>
                    <a:pt x="832" y="158"/>
                  </a:lnTo>
                  <a:lnTo>
                    <a:pt x="791" y="164"/>
                  </a:lnTo>
                  <a:lnTo>
                    <a:pt x="749" y="170"/>
                  </a:lnTo>
                  <a:lnTo>
                    <a:pt x="708" y="176"/>
                  </a:lnTo>
                  <a:lnTo>
                    <a:pt x="666" y="182"/>
                  </a:lnTo>
                  <a:lnTo>
                    <a:pt x="625" y="188"/>
                  </a:lnTo>
                  <a:lnTo>
                    <a:pt x="583" y="194"/>
                  </a:lnTo>
                  <a:lnTo>
                    <a:pt x="541" y="199"/>
                  </a:lnTo>
                  <a:lnTo>
                    <a:pt x="499" y="205"/>
                  </a:lnTo>
                  <a:lnTo>
                    <a:pt x="457" y="211"/>
                  </a:lnTo>
                  <a:lnTo>
                    <a:pt x="415" y="217"/>
                  </a:lnTo>
                  <a:lnTo>
                    <a:pt x="372" y="222"/>
                  </a:lnTo>
                  <a:lnTo>
                    <a:pt x="331" y="228"/>
                  </a:lnTo>
                  <a:lnTo>
                    <a:pt x="288" y="234"/>
                  </a:lnTo>
                  <a:lnTo>
                    <a:pt x="247" y="240"/>
                  </a:lnTo>
                  <a:lnTo>
                    <a:pt x="205" y="245"/>
                  </a:lnTo>
                  <a:lnTo>
                    <a:pt x="164" y="251"/>
                  </a:lnTo>
                  <a:lnTo>
                    <a:pt x="122" y="257"/>
                  </a:lnTo>
                  <a:lnTo>
                    <a:pt x="81" y="263"/>
                  </a:lnTo>
                  <a:lnTo>
                    <a:pt x="41" y="268"/>
                  </a:lnTo>
                  <a:lnTo>
                    <a:pt x="0" y="256"/>
                  </a:lnTo>
                  <a:close/>
                </a:path>
              </a:pathLst>
            </a:custGeom>
            <a:solidFill>
              <a:srgbClr val="D18E00"/>
            </a:solidFill>
            <a:ln w="9525">
              <a:noFill/>
              <a:round/>
              <a:headEnd/>
              <a:tailEnd/>
            </a:ln>
          </p:spPr>
          <p:txBody>
            <a:bodyPr/>
            <a:lstStyle/>
            <a:p>
              <a:endParaRPr lang="fr-FR" dirty="0">
                <a:solidFill>
                  <a:prstClr val="black"/>
                </a:solidFill>
                <a:latin typeface="HP Simplified"/>
              </a:endParaRPr>
            </a:p>
          </p:txBody>
        </p:sp>
      </p:grpSp>
      <p:pic>
        <p:nvPicPr>
          <p:cNvPr id="84" name="Picture 3" descr="C:\Users\cowellj\AppData\Local\Microsoft\Windows\Temporary Internet Files\Content.IE5\G3BVVCPR\MCj03614680000[1].wmf"/>
          <p:cNvPicPr>
            <a:picLocks noChangeAspect="1" noChangeArrowheads="1"/>
          </p:cNvPicPr>
          <p:nvPr/>
        </p:nvPicPr>
        <p:blipFill>
          <a:blip r:embed="rId2" cstate="print"/>
          <a:srcRect/>
          <a:stretch>
            <a:fillRect/>
          </a:stretch>
        </p:blipFill>
        <p:spPr bwMode="auto">
          <a:xfrm>
            <a:off x="4175760" y="1839183"/>
            <a:ext cx="1177360" cy="272800"/>
          </a:xfrm>
          <a:prstGeom prst="rect">
            <a:avLst/>
          </a:prstGeom>
          <a:noFill/>
          <a:ln w="9525">
            <a:noFill/>
            <a:miter lim="800000"/>
            <a:headEnd/>
            <a:tailEnd/>
          </a:ln>
        </p:spPr>
      </p:pic>
      <p:grpSp>
        <p:nvGrpSpPr>
          <p:cNvPr id="85" name="Group 116"/>
          <p:cNvGrpSpPr/>
          <p:nvPr/>
        </p:nvGrpSpPr>
        <p:grpSpPr>
          <a:xfrm>
            <a:off x="4456660" y="3271380"/>
            <a:ext cx="839096" cy="752059"/>
            <a:chOff x="1653764" y="3570733"/>
            <a:chExt cx="839096" cy="1002746"/>
          </a:xfrm>
        </p:grpSpPr>
        <p:pic>
          <p:nvPicPr>
            <p:cNvPr id="86" name="Picture 2" descr="C:\Users\cowellj\AppData\Local\Microsoft\Windows\Temporary Internet Files\Content.IE5\E5SMXRFD\MCBD10419_0000[1].wmf"/>
            <p:cNvPicPr>
              <a:picLocks noChangeAspect="1" noChangeArrowheads="1"/>
            </p:cNvPicPr>
            <p:nvPr/>
          </p:nvPicPr>
          <p:blipFill>
            <a:blip r:embed="rId3" cstate="print"/>
            <a:srcRect/>
            <a:stretch>
              <a:fillRect/>
            </a:stretch>
          </p:blipFill>
          <p:spPr bwMode="auto">
            <a:xfrm>
              <a:off x="1691184" y="3570733"/>
              <a:ext cx="774306" cy="692658"/>
            </a:xfrm>
            <a:prstGeom prst="rect">
              <a:avLst/>
            </a:prstGeom>
            <a:noFill/>
          </p:spPr>
        </p:pic>
        <p:sp>
          <p:nvSpPr>
            <p:cNvPr id="87" name="TextBox 86"/>
            <p:cNvSpPr txBox="1"/>
            <p:nvPr/>
          </p:nvSpPr>
          <p:spPr>
            <a:xfrm>
              <a:off x="1653764" y="4204147"/>
              <a:ext cx="839096" cy="369332"/>
            </a:xfrm>
            <a:prstGeom prst="rect">
              <a:avLst/>
            </a:prstGeom>
            <a:noFill/>
          </p:spPr>
          <p:txBody>
            <a:bodyPr wrap="square" rtlCol="0" anchor="ctr">
              <a:spAutoFit/>
            </a:bodyPr>
            <a:lstStyle/>
            <a:p>
              <a:pPr algn="ctr"/>
              <a:r>
                <a:rPr lang="en-US" sz="1200" dirty="0" smtClean="0">
                  <a:solidFill>
                    <a:prstClr val="black"/>
                  </a:solidFill>
                  <a:latin typeface="HP Simplified"/>
                </a:rPr>
                <a:t>VMI Hub</a:t>
              </a:r>
            </a:p>
          </p:txBody>
        </p:sp>
      </p:grpSp>
      <p:grpSp>
        <p:nvGrpSpPr>
          <p:cNvPr id="88" name="Group 119"/>
          <p:cNvGrpSpPr/>
          <p:nvPr/>
        </p:nvGrpSpPr>
        <p:grpSpPr>
          <a:xfrm>
            <a:off x="5506205" y="2657347"/>
            <a:ext cx="1086997" cy="1031981"/>
            <a:chOff x="2720564" y="3589934"/>
            <a:chExt cx="1086997" cy="1375975"/>
          </a:xfrm>
        </p:grpSpPr>
        <p:pic>
          <p:nvPicPr>
            <p:cNvPr id="89" name="Picture 1" descr="C:\Users\cowellj\AppData\Local\Microsoft\Windows\Temporary Internet Files\Content.IE5\7ZXW82W3\MCBL00589_0000[1].wmf"/>
            <p:cNvPicPr>
              <a:picLocks noChangeAspect="1" noChangeArrowheads="1"/>
            </p:cNvPicPr>
            <p:nvPr/>
          </p:nvPicPr>
          <p:blipFill>
            <a:blip r:embed="rId4" cstate="print"/>
            <a:srcRect/>
            <a:stretch>
              <a:fillRect/>
            </a:stretch>
          </p:blipFill>
          <p:spPr bwMode="auto">
            <a:xfrm>
              <a:off x="2936138" y="3589934"/>
              <a:ext cx="871423" cy="1118311"/>
            </a:xfrm>
            <a:prstGeom prst="rect">
              <a:avLst/>
            </a:prstGeom>
            <a:noFill/>
          </p:spPr>
        </p:pic>
        <p:sp>
          <p:nvSpPr>
            <p:cNvPr id="90" name="TextBox 89"/>
            <p:cNvSpPr txBox="1"/>
            <p:nvPr/>
          </p:nvSpPr>
          <p:spPr>
            <a:xfrm>
              <a:off x="2720564" y="4596577"/>
              <a:ext cx="839096" cy="369332"/>
            </a:xfrm>
            <a:prstGeom prst="rect">
              <a:avLst/>
            </a:prstGeom>
            <a:noFill/>
          </p:spPr>
          <p:txBody>
            <a:bodyPr wrap="square" rtlCol="0" anchor="ctr">
              <a:spAutoFit/>
            </a:bodyPr>
            <a:lstStyle/>
            <a:p>
              <a:pPr algn="ctr"/>
              <a:r>
                <a:rPr lang="en-US" sz="1200" dirty="0" smtClean="0">
                  <a:solidFill>
                    <a:prstClr val="black"/>
                  </a:solidFill>
                  <a:latin typeface="HP Simplified"/>
                </a:rPr>
                <a:t>PCC</a:t>
              </a:r>
            </a:p>
          </p:txBody>
        </p:sp>
      </p:grpSp>
      <p:sp>
        <p:nvSpPr>
          <p:cNvPr id="91" name="TextBox 90"/>
          <p:cNvSpPr txBox="1"/>
          <p:nvPr/>
        </p:nvSpPr>
        <p:spPr>
          <a:xfrm>
            <a:off x="4285730" y="2023604"/>
            <a:ext cx="946673" cy="261610"/>
          </a:xfrm>
          <a:prstGeom prst="rect">
            <a:avLst/>
          </a:prstGeom>
          <a:noFill/>
        </p:spPr>
        <p:txBody>
          <a:bodyPr wrap="square" rtlCol="0" anchor="ctr">
            <a:spAutoFit/>
          </a:bodyPr>
          <a:lstStyle/>
          <a:p>
            <a:pPr algn="ctr"/>
            <a:r>
              <a:rPr lang="en-US" sz="1100" b="1" dirty="0" smtClean="0">
                <a:solidFill>
                  <a:srgbClr val="FF0000"/>
                </a:solidFill>
                <a:latin typeface="HP Simplified"/>
              </a:rPr>
              <a:t>“A” Part</a:t>
            </a:r>
          </a:p>
        </p:txBody>
      </p:sp>
      <p:sp>
        <p:nvSpPr>
          <p:cNvPr id="92" name="Oval 91"/>
          <p:cNvSpPr/>
          <p:nvPr/>
        </p:nvSpPr>
        <p:spPr>
          <a:xfrm>
            <a:off x="2636376" y="1677970"/>
            <a:ext cx="1280160" cy="1188720"/>
          </a:xfrm>
          <a:prstGeom prst="ellipse">
            <a:avLst/>
          </a:prstGeom>
          <a:gradFill>
            <a:gsLst>
              <a:gs pos="0">
                <a:schemeClr val="lt1">
                  <a:tint val="80000"/>
                  <a:satMod val="300000"/>
                </a:schemeClr>
              </a:gs>
              <a:gs pos="100000">
                <a:srgbClr val="C00000"/>
              </a:gs>
            </a:gsLst>
          </a:gradFill>
          <a:ln>
            <a:noFill/>
          </a:ln>
          <a:effectLst/>
        </p:spPr>
        <p:style>
          <a:lnRef idx="2">
            <a:schemeClr val="accent1">
              <a:shade val="50000"/>
            </a:schemeClr>
          </a:lnRef>
          <a:fillRef idx="1003">
            <a:schemeClr val="lt1"/>
          </a:fillRef>
          <a:effectRef idx="0">
            <a:schemeClr val="accent1"/>
          </a:effectRef>
          <a:fontRef idx="minor">
            <a:schemeClr val="lt1"/>
          </a:fontRef>
        </p:style>
        <p:txBody>
          <a:bodyPr lIns="91440" tIns="45720" rtlCol="0" anchor="ctr"/>
          <a:lstStyle/>
          <a:p>
            <a:pPr algn="ctr">
              <a:lnSpc>
                <a:spcPct val="85000"/>
              </a:lnSpc>
            </a:pPr>
            <a:endParaRPr lang="en-US" sz="2000" dirty="0" smtClean="0">
              <a:solidFill>
                <a:prstClr val="white"/>
              </a:solidFill>
            </a:endParaRPr>
          </a:p>
        </p:txBody>
      </p:sp>
      <p:sp>
        <p:nvSpPr>
          <p:cNvPr id="93" name="TextBox 92"/>
          <p:cNvSpPr txBox="1"/>
          <p:nvPr/>
        </p:nvSpPr>
        <p:spPr>
          <a:xfrm>
            <a:off x="40640" y="824467"/>
            <a:ext cx="2092960" cy="461665"/>
          </a:xfrm>
          <a:prstGeom prst="rect">
            <a:avLst/>
          </a:prstGeom>
          <a:solidFill>
            <a:srgbClr val="002060"/>
          </a:solidFill>
          <a:ln>
            <a:solidFill>
              <a:schemeClr val="tx1"/>
            </a:solidFill>
          </a:ln>
        </p:spPr>
        <p:txBody>
          <a:bodyPr wrap="square" rtlCol="0" anchor="ctr">
            <a:spAutoFit/>
          </a:bodyPr>
          <a:lstStyle/>
          <a:p>
            <a:pPr algn="ctr"/>
            <a:r>
              <a:rPr lang="en-US" sz="1200" dirty="0" smtClean="0">
                <a:solidFill>
                  <a:prstClr val="white"/>
                </a:solidFill>
                <a:latin typeface="HP Simplified"/>
              </a:rPr>
              <a:t>“B” Replenishment Order</a:t>
            </a:r>
          </a:p>
          <a:p>
            <a:pPr algn="ctr"/>
            <a:r>
              <a:rPr lang="en-US" sz="1200" dirty="0" smtClean="0">
                <a:solidFill>
                  <a:prstClr val="white"/>
                </a:solidFill>
                <a:latin typeface="HP Simplified"/>
              </a:rPr>
              <a:t>From HP to ODM</a:t>
            </a:r>
          </a:p>
        </p:txBody>
      </p:sp>
      <p:cxnSp>
        <p:nvCxnSpPr>
          <p:cNvPr id="94" name="Straight Arrow Connector 93"/>
          <p:cNvCxnSpPr/>
          <p:nvPr/>
        </p:nvCxnSpPr>
        <p:spPr>
          <a:xfrm>
            <a:off x="785304" y="1420010"/>
            <a:ext cx="2468880" cy="1191"/>
          </a:xfrm>
          <a:prstGeom prst="straightConnector1">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1625122" y="1207883"/>
            <a:ext cx="1011219" cy="276999"/>
          </a:xfrm>
          <a:prstGeom prst="rect">
            <a:avLst/>
          </a:prstGeom>
          <a:noFill/>
        </p:spPr>
        <p:txBody>
          <a:bodyPr wrap="square" rtlCol="0" anchor="ctr">
            <a:spAutoFit/>
          </a:bodyPr>
          <a:lstStyle/>
          <a:p>
            <a:pPr algn="ctr"/>
            <a:r>
              <a:rPr lang="en-US" sz="1200" dirty="0" smtClean="0">
                <a:solidFill>
                  <a:prstClr val="black"/>
                </a:solidFill>
                <a:latin typeface="HP Simplified"/>
              </a:rPr>
              <a:t>~ 6 weeks</a:t>
            </a:r>
          </a:p>
        </p:txBody>
      </p:sp>
      <p:cxnSp>
        <p:nvCxnSpPr>
          <p:cNvPr id="96" name="Straight Arrow Connector 95"/>
          <p:cNvCxnSpPr/>
          <p:nvPr/>
        </p:nvCxnSpPr>
        <p:spPr>
          <a:xfrm>
            <a:off x="6837676" y="3155432"/>
            <a:ext cx="832522" cy="1191"/>
          </a:xfrm>
          <a:prstGeom prst="straightConnector1">
            <a:avLst/>
          </a:prstGeom>
          <a:ln w="28575">
            <a:solidFill>
              <a:srgbClr val="0000FF"/>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7819610" y="3380595"/>
            <a:ext cx="849854" cy="261610"/>
          </a:xfrm>
          <a:prstGeom prst="rect">
            <a:avLst/>
          </a:prstGeom>
          <a:noFill/>
        </p:spPr>
        <p:txBody>
          <a:bodyPr wrap="square" rtlCol="0">
            <a:spAutoFit/>
          </a:bodyPr>
          <a:lstStyle/>
          <a:p>
            <a:pPr algn="r"/>
            <a:r>
              <a:rPr lang="en-US" sz="1100" dirty="0" smtClean="0">
                <a:solidFill>
                  <a:prstClr val="black"/>
                </a:solidFill>
                <a:latin typeface="HP Simplified"/>
              </a:rPr>
              <a:t>Customer</a:t>
            </a:r>
          </a:p>
        </p:txBody>
      </p:sp>
      <p:cxnSp>
        <p:nvCxnSpPr>
          <p:cNvPr id="98" name="Straight Arrow Connector 97"/>
          <p:cNvCxnSpPr/>
          <p:nvPr/>
        </p:nvCxnSpPr>
        <p:spPr>
          <a:xfrm>
            <a:off x="3288848" y="1420010"/>
            <a:ext cx="2834640" cy="1191"/>
          </a:xfrm>
          <a:prstGeom prst="straightConnector1">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4178769" y="1201159"/>
            <a:ext cx="1011219" cy="276999"/>
          </a:xfrm>
          <a:prstGeom prst="rect">
            <a:avLst/>
          </a:prstGeom>
          <a:noFill/>
        </p:spPr>
        <p:txBody>
          <a:bodyPr wrap="square" rtlCol="0" anchor="ctr">
            <a:spAutoFit/>
          </a:bodyPr>
          <a:lstStyle/>
          <a:p>
            <a:pPr algn="ctr"/>
            <a:r>
              <a:rPr lang="en-US" sz="1200" dirty="0" smtClean="0">
                <a:solidFill>
                  <a:prstClr val="black"/>
                </a:solidFill>
                <a:latin typeface="HP Simplified"/>
              </a:rPr>
              <a:t>8-9 </a:t>
            </a:r>
            <a:r>
              <a:rPr lang="en-US" sz="1200" i="1" dirty="0" smtClean="0">
                <a:solidFill>
                  <a:prstClr val="black"/>
                </a:solidFill>
                <a:latin typeface="HP Simplified"/>
              </a:rPr>
              <a:t>days</a:t>
            </a:r>
          </a:p>
        </p:txBody>
      </p:sp>
      <p:pic>
        <p:nvPicPr>
          <p:cNvPr id="100" name="Picture 551" descr="MCj01413530000[1]"/>
          <p:cNvPicPr>
            <a:picLocks noChangeAspect="1" noChangeArrowheads="1"/>
          </p:cNvPicPr>
          <p:nvPr/>
        </p:nvPicPr>
        <p:blipFill>
          <a:blip r:embed="rId5" cstate="print"/>
          <a:srcRect/>
          <a:stretch>
            <a:fillRect/>
          </a:stretch>
        </p:blipFill>
        <p:spPr bwMode="auto">
          <a:xfrm>
            <a:off x="8240950" y="2914924"/>
            <a:ext cx="393700" cy="482204"/>
          </a:xfrm>
          <a:prstGeom prst="rect">
            <a:avLst/>
          </a:prstGeom>
          <a:solidFill>
            <a:schemeClr val="bg2"/>
          </a:solidFill>
          <a:ln w="9525">
            <a:noFill/>
            <a:miter lim="800000"/>
            <a:headEnd/>
            <a:tailEnd/>
          </a:ln>
        </p:spPr>
      </p:pic>
      <p:cxnSp>
        <p:nvCxnSpPr>
          <p:cNvPr id="101" name="Straight Arrow Connector 100"/>
          <p:cNvCxnSpPr/>
          <p:nvPr/>
        </p:nvCxnSpPr>
        <p:spPr>
          <a:xfrm>
            <a:off x="6147990" y="1420010"/>
            <a:ext cx="2286000" cy="1191"/>
          </a:xfrm>
          <a:prstGeom prst="straightConnector1">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2" name="TextBox 101"/>
          <p:cNvSpPr txBox="1"/>
          <p:nvPr/>
        </p:nvSpPr>
        <p:spPr>
          <a:xfrm>
            <a:off x="6920328" y="1201184"/>
            <a:ext cx="1011219" cy="276999"/>
          </a:xfrm>
          <a:prstGeom prst="rect">
            <a:avLst/>
          </a:prstGeom>
          <a:noFill/>
        </p:spPr>
        <p:txBody>
          <a:bodyPr wrap="square" rtlCol="0" anchor="ctr">
            <a:spAutoFit/>
          </a:bodyPr>
          <a:lstStyle/>
          <a:p>
            <a:pPr algn="ctr"/>
            <a:r>
              <a:rPr lang="en-US" sz="1200" dirty="0" smtClean="0">
                <a:solidFill>
                  <a:prstClr val="black"/>
                </a:solidFill>
                <a:latin typeface="HP Simplified"/>
              </a:rPr>
              <a:t>1 – 3 </a:t>
            </a:r>
            <a:r>
              <a:rPr lang="en-US" sz="1200" i="1" dirty="0" smtClean="0">
                <a:solidFill>
                  <a:prstClr val="black"/>
                </a:solidFill>
                <a:latin typeface="HP Simplified"/>
              </a:rPr>
              <a:t>day</a:t>
            </a:r>
            <a:r>
              <a:rPr lang="en-US" sz="1200" dirty="0" smtClean="0">
                <a:solidFill>
                  <a:prstClr val="black"/>
                </a:solidFill>
                <a:latin typeface="HP Simplified"/>
              </a:rPr>
              <a:t>s</a:t>
            </a:r>
          </a:p>
        </p:txBody>
      </p:sp>
      <p:grpSp>
        <p:nvGrpSpPr>
          <p:cNvPr id="103" name="Group 541"/>
          <p:cNvGrpSpPr>
            <a:grpSpLocks/>
          </p:cNvGrpSpPr>
          <p:nvPr/>
        </p:nvGrpSpPr>
        <p:grpSpPr bwMode="auto">
          <a:xfrm>
            <a:off x="333490" y="1923174"/>
            <a:ext cx="913747" cy="669641"/>
            <a:chOff x="2317" y="792"/>
            <a:chExt cx="961" cy="927"/>
          </a:xfrm>
          <a:gradFill flip="none" rotWithShape="1">
            <a:gsLst>
              <a:gs pos="0">
                <a:srgbClr val="9999FF">
                  <a:shade val="30000"/>
                  <a:satMod val="115000"/>
                </a:srgbClr>
              </a:gs>
              <a:gs pos="50000">
                <a:srgbClr val="9999FF">
                  <a:shade val="67500"/>
                  <a:satMod val="115000"/>
                </a:srgbClr>
              </a:gs>
              <a:gs pos="100000">
                <a:srgbClr val="9999FF">
                  <a:shade val="100000"/>
                  <a:satMod val="115000"/>
                </a:srgbClr>
              </a:gs>
            </a:gsLst>
            <a:lin ang="2700000" scaled="1"/>
            <a:tileRect/>
          </a:gradFill>
        </p:grpSpPr>
        <p:sp>
          <p:nvSpPr>
            <p:cNvPr id="104" name="Rectangle 542"/>
            <p:cNvSpPr>
              <a:spLocks noChangeArrowheads="1"/>
            </p:cNvSpPr>
            <p:nvPr/>
          </p:nvSpPr>
          <p:spPr bwMode="auto">
            <a:xfrm>
              <a:off x="2317" y="792"/>
              <a:ext cx="961" cy="884"/>
            </a:xfrm>
            <a:prstGeom prst="rect">
              <a:avLst/>
            </a:prstGeom>
            <a:grpFill/>
            <a:ln w="19050" algn="ctr">
              <a:solidFill>
                <a:schemeClr val="tx1"/>
              </a:solidFill>
              <a:miter lim="800000"/>
              <a:headEnd/>
              <a:tailEnd/>
            </a:ln>
          </p:spPr>
          <p:txBody>
            <a:bodyPr wrap="none" anchor="ctr"/>
            <a:lstStyle/>
            <a:p>
              <a:pPr algn="ctr">
                <a:spcBef>
                  <a:spcPct val="50000"/>
                </a:spcBef>
              </a:pPr>
              <a:endParaRPr lang="fr-FR" sz="2400" dirty="0">
                <a:solidFill>
                  <a:prstClr val="white"/>
                </a:solidFill>
                <a:latin typeface="Futura Bk" pitchFamily="34" charset="0"/>
              </a:endParaRPr>
            </a:p>
          </p:txBody>
        </p:sp>
        <p:grpSp>
          <p:nvGrpSpPr>
            <p:cNvPr id="105" name="Group 543"/>
            <p:cNvGrpSpPr>
              <a:grpSpLocks/>
            </p:cNvGrpSpPr>
            <p:nvPr/>
          </p:nvGrpSpPr>
          <p:grpSpPr bwMode="auto">
            <a:xfrm>
              <a:off x="2394" y="794"/>
              <a:ext cx="780" cy="925"/>
              <a:chOff x="404" y="1085"/>
              <a:chExt cx="818" cy="1052"/>
            </a:xfrm>
            <a:grpFill/>
          </p:grpSpPr>
          <p:pic>
            <p:nvPicPr>
              <p:cNvPr id="106" name="Picture 544" descr="j0079072"/>
              <p:cNvPicPr>
                <a:picLocks noChangeAspect="1" noChangeArrowheads="1"/>
              </p:cNvPicPr>
              <p:nvPr/>
            </p:nvPicPr>
            <p:blipFill>
              <a:blip r:embed="rId6" cstate="print"/>
              <a:srcRect/>
              <a:stretch>
                <a:fillRect/>
              </a:stretch>
            </p:blipFill>
            <p:spPr bwMode="auto">
              <a:xfrm>
                <a:off x="473" y="1432"/>
                <a:ext cx="650" cy="381"/>
              </a:xfrm>
              <a:prstGeom prst="rect">
                <a:avLst/>
              </a:prstGeom>
              <a:grpFill/>
              <a:ln w="9525">
                <a:noFill/>
                <a:miter lim="800000"/>
                <a:headEnd/>
                <a:tailEnd/>
              </a:ln>
            </p:spPr>
          </p:pic>
          <p:sp>
            <p:nvSpPr>
              <p:cNvPr id="107" name="Text Box 545"/>
              <p:cNvSpPr txBox="1">
                <a:spLocks noChangeArrowheads="1"/>
              </p:cNvSpPr>
              <p:nvPr/>
            </p:nvSpPr>
            <p:spPr bwMode="auto">
              <a:xfrm>
                <a:off x="404" y="1846"/>
                <a:ext cx="818" cy="291"/>
              </a:xfrm>
              <a:prstGeom prst="rect">
                <a:avLst/>
              </a:prstGeom>
              <a:grpFill/>
              <a:ln w="12700">
                <a:noFill/>
                <a:miter lim="800000"/>
                <a:headEnd/>
                <a:tailEnd type="none" w="lg" len="sm"/>
              </a:ln>
            </p:spPr>
            <p:txBody>
              <a:bodyPr wrap="square" lIns="0" tIns="0" rIns="0" bIns="0">
                <a:spAutoFit/>
              </a:bodyPr>
              <a:lstStyle/>
              <a:p>
                <a:pPr algn="ctr">
                  <a:spcBef>
                    <a:spcPct val="50000"/>
                  </a:spcBef>
                </a:pPr>
                <a:r>
                  <a:rPr lang="en-US" sz="1200" b="1" dirty="0" smtClean="0">
                    <a:solidFill>
                      <a:prstClr val="white"/>
                    </a:solidFill>
                    <a:latin typeface="Futura Bk" pitchFamily="34" charset="0"/>
                    <a:cs typeface="Arial" pitchFamily="34" charset="0"/>
                  </a:rPr>
                  <a:t>Supplier</a:t>
                </a:r>
                <a:endParaRPr lang="en-US" sz="1200" b="1" dirty="0">
                  <a:solidFill>
                    <a:prstClr val="white"/>
                  </a:solidFill>
                  <a:latin typeface="Futura Bk" pitchFamily="34" charset="0"/>
                  <a:cs typeface="Arial" pitchFamily="34" charset="0"/>
                </a:endParaRPr>
              </a:p>
            </p:txBody>
          </p:sp>
          <p:pic>
            <p:nvPicPr>
              <p:cNvPr id="108" name="Picture 546"/>
              <p:cNvPicPr>
                <a:picLocks noChangeAspect="1" noChangeArrowheads="1"/>
              </p:cNvPicPr>
              <p:nvPr/>
            </p:nvPicPr>
            <p:blipFill>
              <a:blip r:embed="rId7" cstate="print"/>
              <a:srcRect/>
              <a:stretch>
                <a:fillRect/>
              </a:stretch>
            </p:blipFill>
            <p:spPr bwMode="auto">
              <a:xfrm>
                <a:off x="679" y="1085"/>
                <a:ext cx="450" cy="347"/>
              </a:xfrm>
              <a:prstGeom prst="rect">
                <a:avLst/>
              </a:prstGeom>
              <a:grpFill/>
              <a:ln w="9525">
                <a:noFill/>
                <a:miter lim="800000"/>
                <a:headEnd/>
                <a:tailEnd/>
              </a:ln>
            </p:spPr>
          </p:pic>
        </p:grpSp>
      </p:grpSp>
      <p:grpSp>
        <p:nvGrpSpPr>
          <p:cNvPr id="109" name="Group 541"/>
          <p:cNvGrpSpPr>
            <a:grpSpLocks/>
          </p:cNvGrpSpPr>
          <p:nvPr/>
        </p:nvGrpSpPr>
        <p:grpSpPr bwMode="auto">
          <a:xfrm>
            <a:off x="2817906" y="1923173"/>
            <a:ext cx="913747" cy="685533"/>
            <a:chOff x="2317" y="792"/>
            <a:chExt cx="961" cy="949"/>
          </a:xfrm>
          <a:gradFill flip="none" rotWithShape="1">
            <a:gsLst>
              <a:gs pos="0">
                <a:srgbClr val="9999FF">
                  <a:shade val="30000"/>
                  <a:satMod val="115000"/>
                </a:srgbClr>
              </a:gs>
              <a:gs pos="50000">
                <a:srgbClr val="9999FF">
                  <a:shade val="67500"/>
                  <a:satMod val="115000"/>
                </a:srgbClr>
              </a:gs>
              <a:gs pos="100000">
                <a:srgbClr val="9999FF">
                  <a:shade val="100000"/>
                  <a:satMod val="115000"/>
                </a:srgbClr>
              </a:gs>
            </a:gsLst>
            <a:lin ang="2700000" scaled="1"/>
            <a:tileRect/>
          </a:gradFill>
        </p:grpSpPr>
        <p:sp>
          <p:nvSpPr>
            <p:cNvPr id="110" name="Rectangle 542"/>
            <p:cNvSpPr>
              <a:spLocks noChangeArrowheads="1"/>
            </p:cNvSpPr>
            <p:nvPr/>
          </p:nvSpPr>
          <p:spPr bwMode="auto">
            <a:xfrm>
              <a:off x="2317" y="792"/>
              <a:ext cx="961" cy="884"/>
            </a:xfrm>
            <a:prstGeom prst="rect">
              <a:avLst/>
            </a:prstGeom>
            <a:grpFill/>
            <a:ln w="19050" algn="ctr">
              <a:solidFill>
                <a:schemeClr val="tx1"/>
              </a:solidFill>
              <a:miter lim="800000"/>
              <a:headEnd/>
              <a:tailEnd/>
            </a:ln>
          </p:spPr>
          <p:txBody>
            <a:bodyPr wrap="none" anchor="ctr"/>
            <a:lstStyle/>
            <a:p>
              <a:pPr algn="ctr">
                <a:spcBef>
                  <a:spcPct val="50000"/>
                </a:spcBef>
              </a:pPr>
              <a:endParaRPr lang="fr-FR" sz="2400" dirty="0">
                <a:solidFill>
                  <a:prstClr val="white"/>
                </a:solidFill>
                <a:latin typeface="Futura Bk" pitchFamily="34" charset="0"/>
              </a:endParaRPr>
            </a:p>
          </p:txBody>
        </p:sp>
        <p:grpSp>
          <p:nvGrpSpPr>
            <p:cNvPr id="111" name="Group 543"/>
            <p:cNvGrpSpPr>
              <a:grpSpLocks/>
            </p:cNvGrpSpPr>
            <p:nvPr/>
          </p:nvGrpSpPr>
          <p:grpSpPr bwMode="auto">
            <a:xfrm>
              <a:off x="2460" y="794"/>
              <a:ext cx="626" cy="947"/>
              <a:chOff x="473" y="1085"/>
              <a:chExt cx="656" cy="1077"/>
            </a:xfrm>
            <a:grpFill/>
          </p:grpSpPr>
          <p:pic>
            <p:nvPicPr>
              <p:cNvPr id="112" name="Picture 544" descr="j0079072"/>
              <p:cNvPicPr>
                <a:picLocks noChangeAspect="1" noChangeArrowheads="1"/>
              </p:cNvPicPr>
              <p:nvPr/>
            </p:nvPicPr>
            <p:blipFill>
              <a:blip r:embed="rId6" cstate="print"/>
              <a:srcRect/>
              <a:stretch>
                <a:fillRect/>
              </a:stretch>
            </p:blipFill>
            <p:spPr bwMode="auto">
              <a:xfrm>
                <a:off x="473" y="1432"/>
                <a:ext cx="650" cy="381"/>
              </a:xfrm>
              <a:prstGeom prst="rect">
                <a:avLst/>
              </a:prstGeom>
              <a:grpFill/>
              <a:ln w="9525">
                <a:noFill/>
                <a:miter lim="800000"/>
                <a:headEnd/>
                <a:tailEnd/>
              </a:ln>
            </p:spPr>
          </p:pic>
          <p:sp>
            <p:nvSpPr>
              <p:cNvPr id="113" name="Text Box 545"/>
              <p:cNvSpPr txBox="1">
                <a:spLocks noChangeArrowheads="1"/>
              </p:cNvSpPr>
              <p:nvPr/>
            </p:nvSpPr>
            <p:spPr bwMode="auto">
              <a:xfrm>
                <a:off x="521" y="1871"/>
                <a:ext cx="547" cy="291"/>
              </a:xfrm>
              <a:prstGeom prst="rect">
                <a:avLst/>
              </a:prstGeom>
              <a:grpFill/>
              <a:ln w="12700">
                <a:noFill/>
                <a:miter lim="800000"/>
                <a:headEnd/>
                <a:tailEnd type="none" w="lg" len="sm"/>
              </a:ln>
            </p:spPr>
            <p:txBody>
              <a:bodyPr lIns="0" tIns="0" rIns="0" bIns="0">
                <a:spAutoFit/>
              </a:bodyPr>
              <a:lstStyle/>
              <a:p>
                <a:pPr algn="ctr">
                  <a:spcBef>
                    <a:spcPct val="50000"/>
                  </a:spcBef>
                </a:pPr>
                <a:r>
                  <a:rPr lang="en-US" sz="1200" b="1" dirty="0">
                    <a:solidFill>
                      <a:prstClr val="white"/>
                    </a:solidFill>
                    <a:latin typeface="Futura Bk" pitchFamily="34" charset="0"/>
                    <a:cs typeface="Arial" pitchFamily="34" charset="0"/>
                  </a:rPr>
                  <a:t>ODM</a:t>
                </a:r>
              </a:p>
            </p:txBody>
          </p:sp>
          <p:pic>
            <p:nvPicPr>
              <p:cNvPr id="114" name="Picture 546"/>
              <p:cNvPicPr>
                <a:picLocks noChangeAspect="1" noChangeArrowheads="1"/>
              </p:cNvPicPr>
              <p:nvPr/>
            </p:nvPicPr>
            <p:blipFill>
              <a:blip r:embed="rId7" cstate="print"/>
              <a:srcRect/>
              <a:stretch>
                <a:fillRect/>
              </a:stretch>
            </p:blipFill>
            <p:spPr bwMode="auto">
              <a:xfrm>
                <a:off x="679" y="1085"/>
                <a:ext cx="450" cy="347"/>
              </a:xfrm>
              <a:prstGeom prst="rect">
                <a:avLst/>
              </a:prstGeom>
              <a:grpFill/>
              <a:ln w="9525">
                <a:noFill/>
                <a:miter lim="800000"/>
                <a:headEnd/>
                <a:tailEnd/>
              </a:ln>
            </p:spPr>
          </p:pic>
        </p:grpSp>
      </p:grpSp>
      <p:sp>
        <p:nvSpPr>
          <p:cNvPr id="115" name="TextBox 114"/>
          <p:cNvSpPr txBox="1"/>
          <p:nvPr/>
        </p:nvSpPr>
        <p:spPr>
          <a:xfrm>
            <a:off x="7894440" y="824467"/>
            <a:ext cx="1056083" cy="461665"/>
          </a:xfrm>
          <a:prstGeom prst="rect">
            <a:avLst/>
          </a:prstGeom>
          <a:solidFill>
            <a:srgbClr val="002060"/>
          </a:solidFill>
          <a:ln>
            <a:solidFill>
              <a:schemeClr val="tx1"/>
            </a:solidFill>
          </a:ln>
        </p:spPr>
        <p:txBody>
          <a:bodyPr wrap="square" rtlCol="0" anchor="ctr">
            <a:spAutoFit/>
          </a:bodyPr>
          <a:lstStyle/>
          <a:p>
            <a:pPr algn="ctr"/>
            <a:r>
              <a:rPr lang="en-US" sz="1200" dirty="0" smtClean="0">
                <a:solidFill>
                  <a:prstClr val="white"/>
                </a:solidFill>
                <a:latin typeface="HP Simplified"/>
              </a:rPr>
              <a:t>Customer Receipt</a:t>
            </a:r>
          </a:p>
        </p:txBody>
      </p:sp>
      <p:grpSp>
        <p:nvGrpSpPr>
          <p:cNvPr id="116" name="Group 208"/>
          <p:cNvGrpSpPr/>
          <p:nvPr/>
        </p:nvGrpSpPr>
        <p:grpSpPr>
          <a:xfrm>
            <a:off x="6784354" y="3077579"/>
            <a:ext cx="1126287" cy="857225"/>
            <a:chOff x="7519595" y="4440119"/>
            <a:chExt cx="1305258" cy="1226782"/>
          </a:xfrm>
        </p:grpSpPr>
        <p:pic>
          <p:nvPicPr>
            <p:cNvPr id="117" name="Picture 4" descr="C:\Users\cowellj\AppData\Local\Microsoft\Windows\Temporary Internet Files\Content.IE5\ZUQVH4NW\MCj04348200000[1].png"/>
            <p:cNvPicPr>
              <a:picLocks noChangeAspect="1" noChangeArrowheads="1"/>
            </p:cNvPicPr>
            <p:nvPr/>
          </p:nvPicPr>
          <p:blipFill>
            <a:blip r:embed="rId8" cstate="print"/>
            <a:srcRect/>
            <a:stretch>
              <a:fillRect/>
            </a:stretch>
          </p:blipFill>
          <p:spPr bwMode="auto">
            <a:xfrm flipH="1">
              <a:off x="7635190" y="4440119"/>
              <a:ext cx="805974" cy="761001"/>
            </a:xfrm>
            <a:prstGeom prst="rect">
              <a:avLst/>
            </a:prstGeom>
            <a:noFill/>
            <a:ln w="9525">
              <a:noFill/>
              <a:miter lim="800000"/>
              <a:headEnd/>
              <a:tailEnd/>
            </a:ln>
          </p:spPr>
        </p:pic>
        <p:grpSp>
          <p:nvGrpSpPr>
            <p:cNvPr id="118" name="Group 255"/>
            <p:cNvGrpSpPr>
              <a:grpSpLocks/>
            </p:cNvGrpSpPr>
            <p:nvPr/>
          </p:nvGrpSpPr>
          <p:grpSpPr bwMode="auto">
            <a:xfrm>
              <a:off x="7519595" y="5074262"/>
              <a:ext cx="495185" cy="530471"/>
              <a:chOff x="3203" y="2117"/>
              <a:chExt cx="2205" cy="2019"/>
            </a:xfrm>
          </p:grpSpPr>
          <p:grpSp>
            <p:nvGrpSpPr>
              <p:cNvPr id="120" name="Group 256"/>
              <p:cNvGrpSpPr>
                <a:grpSpLocks/>
              </p:cNvGrpSpPr>
              <p:nvPr/>
            </p:nvGrpSpPr>
            <p:grpSpPr bwMode="auto">
              <a:xfrm>
                <a:off x="3203" y="2117"/>
                <a:ext cx="2205" cy="2019"/>
                <a:chOff x="3203" y="2117"/>
                <a:chExt cx="2205" cy="2019"/>
              </a:xfrm>
            </p:grpSpPr>
            <p:sp>
              <p:nvSpPr>
                <p:cNvPr id="122" name="Freeform 257"/>
                <p:cNvSpPr>
                  <a:spLocks/>
                </p:cNvSpPr>
                <p:nvPr/>
              </p:nvSpPr>
              <p:spPr bwMode="auto">
                <a:xfrm flipH="1">
                  <a:off x="3203" y="2709"/>
                  <a:ext cx="426" cy="1427"/>
                </a:xfrm>
                <a:custGeom>
                  <a:avLst/>
                  <a:gdLst>
                    <a:gd name="T0" fmla="*/ 0 w 140"/>
                    <a:gd name="T1" fmla="*/ 5533260 h 508"/>
                    <a:gd name="T2" fmla="*/ 3130552 w 140"/>
                    <a:gd name="T3" fmla="*/ 4965730 h 508"/>
                    <a:gd name="T4" fmla="*/ 3130552 w 140"/>
                    <a:gd name="T5" fmla="*/ 0 h 508"/>
                    <a:gd name="T6" fmla="*/ 0 w 140"/>
                    <a:gd name="T7" fmla="*/ 554651 h 508"/>
                    <a:gd name="T8" fmla="*/ 0 w 140"/>
                    <a:gd name="T9" fmla="*/ 5533260 h 508"/>
                    <a:gd name="T10" fmla="*/ 0 60000 65536"/>
                    <a:gd name="T11" fmla="*/ 0 60000 65536"/>
                    <a:gd name="T12" fmla="*/ 0 60000 65536"/>
                    <a:gd name="T13" fmla="*/ 0 60000 65536"/>
                    <a:gd name="T14" fmla="*/ 0 60000 65536"/>
                    <a:gd name="T15" fmla="*/ 0 w 140"/>
                    <a:gd name="T16" fmla="*/ 0 h 508"/>
                    <a:gd name="T17" fmla="*/ 140 w 140"/>
                    <a:gd name="T18" fmla="*/ 508 h 508"/>
                  </a:gdLst>
                  <a:ahLst/>
                  <a:cxnLst>
                    <a:cxn ang="T10">
                      <a:pos x="T0" y="T1"/>
                    </a:cxn>
                    <a:cxn ang="T11">
                      <a:pos x="T2" y="T3"/>
                    </a:cxn>
                    <a:cxn ang="T12">
                      <a:pos x="T4" y="T5"/>
                    </a:cxn>
                    <a:cxn ang="T13">
                      <a:pos x="T6" y="T7"/>
                    </a:cxn>
                    <a:cxn ang="T14">
                      <a:pos x="T8" y="T9"/>
                    </a:cxn>
                  </a:cxnLst>
                  <a:rect l="T15" t="T16" r="T17" b="T18"/>
                  <a:pathLst>
                    <a:path w="140" h="508">
                      <a:moveTo>
                        <a:pt x="0" y="508"/>
                      </a:moveTo>
                      <a:lnTo>
                        <a:pt x="140" y="456"/>
                      </a:lnTo>
                      <a:lnTo>
                        <a:pt x="140" y="0"/>
                      </a:lnTo>
                      <a:lnTo>
                        <a:pt x="0" y="51"/>
                      </a:lnTo>
                      <a:lnTo>
                        <a:pt x="0" y="508"/>
                      </a:lnTo>
                      <a:close/>
                    </a:path>
                  </a:pathLst>
                </a:custGeom>
                <a:solidFill>
                  <a:srgbClr val="FFCC99"/>
                </a:solidFill>
                <a:ln w="3175">
                  <a:solidFill>
                    <a:schemeClr val="tx1"/>
                  </a:solidFill>
                  <a:round/>
                  <a:headEnd/>
                  <a:tailEnd/>
                </a:ln>
              </p:spPr>
              <p:txBody>
                <a:bodyPr/>
                <a:lstStyle/>
                <a:p>
                  <a:endParaRPr lang="fr-FR" dirty="0">
                    <a:solidFill>
                      <a:prstClr val="black"/>
                    </a:solidFill>
                    <a:latin typeface="HP Simplified"/>
                  </a:endParaRPr>
                </a:p>
              </p:txBody>
            </p:sp>
            <p:sp>
              <p:nvSpPr>
                <p:cNvPr id="123" name="Freeform 258"/>
                <p:cNvSpPr>
                  <a:spLocks/>
                </p:cNvSpPr>
                <p:nvPr/>
              </p:nvSpPr>
              <p:spPr bwMode="auto">
                <a:xfrm flipH="1">
                  <a:off x="3203" y="2117"/>
                  <a:ext cx="2205" cy="734"/>
                </a:xfrm>
                <a:custGeom>
                  <a:avLst/>
                  <a:gdLst>
                    <a:gd name="T0" fmla="*/ 15965355 w 726"/>
                    <a:gd name="T1" fmla="*/ 2312260 h 261"/>
                    <a:gd name="T2" fmla="*/ 3142094 w 726"/>
                    <a:gd name="T3" fmla="*/ 0 h 261"/>
                    <a:gd name="T4" fmla="*/ 0 w 726"/>
                    <a:gd name="T5" fmla="*/ 559555 h 261"/>
                    <a:gd name="T6" fmla="*/ 12887929 w 726"/>
                    <a:gd name="T7" fmla="*/ 2871641 h 261"/>
                    <a:gd name="T8" fmla="*/ 15965355 w 726"/>
                    <a:gd name="T9" fmla="*/ 2312260 h 261"/>
                    <a:gd name="T10" fmla="*/ 0 60000 65536"/>
                    <a:gd name="T11" fmla="*/ 0 60000 65536"/>
                    <a:gd name="T12" fmla="*/ 0 60000 65536"/>
                    <a:gd name="T13" fmla="*/ 0 60000 65536"/>
                    <a:gd name="T14" fmla="*/ 0 60000 65536"/>
                    <a:gd name="T15" fmla="*/ 0 w 726"/>
                    <a:gd name="T16" fmla="*/ 0 h 261"/>
                    <a:gd name="T17" fmla="*/ 726 w 726"/>
                    <a:gd name="T18" fmla="*/ 261 h 261"/>
                  </a:gdLst>
                  <a:ahLst/>
                  <a:cxnLst>
                    <a:cxn ang="T10">
                      <a:pos x="T0" y="T1"/>
                    </a:cxn>
                    <a:cxn ang="T11">
                      <a:pos x="T2" y="T3"/>
                    </a:cxn>
                    <a:cxn ang="T12">
                      <a:pos x="T4" y="T5"/>
                    </a:cxn>
                    <a:cxn ang="T13">
                      <a:pos x="T6" y="T7"/>
                    </a:cxn>
                    <a:cxn ang="T14">
                      <a:pos x="T8" y="T9"/>
                    </a:cxn>
                  </a:cxnLst>
                  <a:rect l="T15" t="T16" r="T17" b="T18"/>
                  <a:pathLst>
                    <a:path w="726" h="261">
                      <a:moveTo>
                        <a:pt x="726" y="210"/>
                      </a:moveTo>
                      <a:lnTo>
                        <a:pt x="143" y="0"/>
                      </a:lnTo>
                      <a:lnTo>
                        <a:pt x="0" y="51"/>
                      </a:lnTo>
                      <a:lnTo>
                        <a:pt x="586" y="261"/>
                      </a:lnTo>
                      <a:lnTo>
                        <a:pt x="726" y="210"/>
                      </a:lnTo>
                      <a:close/>
                    </a:path>
                  </a:pathLst>
                </a:custGeom>
                <a:solidFill>
                  <a:srgbClr val="FFCC99"/>
                </a:solidFill>
                <a:ln w="3175">
                  <a:solidFill>
                    <a:schemeClr val="tx1"/>
                  </a:solidFill>
                  <a:round/>
                  <a:headEnd/>
                  <a:tailEnd/>
                </a:ln>
              </p:spPr>
              <p:txBody>
                <a:bodyPr/>
                <a:lstStyle/>
                <a:p>
                  <a:endParaRPr lang="fr-FR" dirty="0">
                    <a:solidFill>
                      <a:prstClr val="black"/>
                    </a:solidFill>
                    <a:latin typeface="HP Simplified"/>
                  </a:endParaRPr>
                </a:p>
              </p:txBody>
            </p:sp>
            <p:sp>
              <p:nvSpPr>
                <p:cNvPr id="124" name="Freeform 259"/>
                <p:cNvSpPr>
                  <a:spLocks/>
                </p:cNvSpPr>
                <p:nvPr/>
              </p:nvSpPr>
              <p:spPr bwMode="auto">
                <a:xfrm flipH="1">
                  <a:off x="3629" y="2261"/>
                  <a:ext cx="1779" cy="1875"/>
                </a:xfrm>
                <a:custGeom>
                  <a:avLst/>
                  <a:gdLst>
                    <a:gd name="T0" fmla="*/ 12836257 w 586"/>
                    <a:gd name="T1" fmla="*/ 7311617 h 667"/>
                    <a:gd name="T2" fmla="*/ 0 w 586"/>
                    <a:gd name="T3" fmla="*/ 5019068 h 667"/>
                    <a:gd name="T4" fmla="*/ 0 w 586"/>
                    <a:gd name="T5" fmla="*/ 0 h 667"/>
                    <a:gd name="T6" fmla="*/ 12836257 w 586"/>
                    <a:gd name="T7" fmla="*/ 2301499 h 667"/>
                    <a:gd name="T8" fmla="*/ 12836257 w 586"/>
                    <a:gd name="T9" fmla="*/ 7311617 h 667"/>
                    <a:gd name="T10" fmla="*/ 0 60000 65536"/>
                    <a:gd name="T11" fmla="*/ 0 60000 65536"/>
                    <a:gd name="T12" fmla="*/ 0 60000 65536"/>
                    <a:gd name="T13" fmla="*/ 0 60000 65536"/>
                    <a:gd name="T14" fmla="*/ 0 60000 65536"/>
                    <a:gd name="T15" fmla="*/ 0 w 586"/>
                    <a:gd name="T16" fmla="*/ 0 h 667"/>
                    <a:gd name="T17" fmla="*/ 586 w 586"/>
                    <a:gd name="T18" fmla="*/ 667 h 667"/>
                  </a:gdLst>
                  <a:ahLst/>
                  <a:cxnLst>
                    <a:cxn ang="T10">
                      <a:pos x="T0" y="T1"/>
                    </a:cxn>
                    <a:cxn ang="T11">
                      <a:pos x="T2" y="T3"/>
                    </a:cxn>
                    <a:cxn ang="T12">
                      <a:pos x="T4" y="T5"/>
                    </a:cxn>
                    <a:cxn ang="T13">
                      <a:pos x="T6" y="T7"/>
                    </a:cxn>
                    <a:cxn ang="T14">
                      <a:pos x="T8" y="T9"/>
                    </a:cxn>
                  </a:cxnLst>
                  <a:rect l="T15" t="T16" r="T17" b="T18"/>
                  <a:pathLst>
                    <a:path w="586" h="667">
                      <a:moveTo>
                        <a:pt x="586" y="667"/>
                      </a:moveTo>
                      <a:lnTo>
                        <a:pt x="0" y="458"/>
                      </a:lnTo>
                      <a:lnTo>
                        <a:pt x="0" y="0"/>
                      </a:lnTo>
                      <a:lnTo>
                        <a:pt x="586" y="210"/>
                      </a:lnTo>
                      <a:lnTo>
                        <a:pt x="586" y="667"/>
                      </a:lnTo>
                      <a:close/>
                    </a:path>
                  </a:pathLst>
                </a:custGeom>
                <a:solidFill>
                  <a:srgbClr val="FFCC99"/>
                </a:solidFill>
                <a:ln w="3175">
                  <a:solidFill>
                    <a:schemeClr val="tx1"/>
                  </a:solidFill>
                  <a:round/>
                  <a:headEnd/>
                  <a:tailEnd/>
                </a:ln>
              </p:spPr>
              <p:txBody>
                <a:bodyPr/>
                <a:lstStyle/>
                <a:p>
                  <a:endParaRPr lang="fr-FR" dirty="0">
                    <a:solidFill>
                      <a:prstClr val="black"/>
                    </a:solidFill>
                    <a:latin typeface="HP Simplified"/>
                  </a:endParaRPr>
                </a:p>
              </p:txBody>
            </p:sp>
            <p:grpSp>
              <p:nvGrpSpPr>
                <p:cNvPr id="125" name="Group 260"/>
                <p:cNvGrpSpPr>
                  <a:grpSpLocks/>
                </p:cNvGrpSpPr>
                <p:nvPr/>
              </p:nvGrpSpPr>
              <p:grpSpPr bwMode="auto">
                <a:xfrm flipH="1">
                  <a:off x="3277" y="2141"/>
                  <a:ext cx="2039" cy="1963"/>
                  <a:chOff x="1542" y="1965"/>
                  <a:chExt cx="671" cy="698"/>
                </a:xfrm>
              </p:grpSpPr>
              <p:sp>
                <p:nvSpPr>
                  <p:cNvPr id="144" name="Line 261"/>
                  <p:cNvSpPr>
                    <a:spLocks noChangeShapeType="1"/>
                  </p:cNvSpPr>
                  <p:nvPr/>
                </p:nvSpPr>
                <p:spPr bwMode="auto">
                  <a:xfrm flipH="1" flipV="1">
                    <a:off x="1590" y="1981"/>
                    <a:ext cx="578" cy="207"/>
                  </a:xfrm>
                  <a:prstGeom prst="line">
                    <a:avLst/>
                  </a:prstGeom>
                  <a:noFill/>
                  <a:ln w="3175">
                    <a:solidFill>
                      <a:srgbClr val="969696"/>
                    </a:solidFill>
                    <a:prstDash val="sysDot"/>
                    <a:round/>
                    <a:headEnd/>
                    <a:tailEnd type="none" w="med" len="lg"/>
                  </a:ln>
                </p:spPr>
                <p:txBody>
                  <a:bodyPr>
                    <a:spAutoFit/>
                  </a:bodyPr>
                  <a:lstStyle/>
                  <a:p>
                    <a:endParaRPr lang="en-US" dirty="0">
                      <a:solidFill>
                        <a:prstClr val="black"/>
                      </a:solidFill>
                      <a:latin typeface="HP Simplified"/>
                    </a:endParaRPr>
                  </a:p>
                </p:txBody>
              </p:sp>
              <p:sp>
                <p:nvSpPr>
                  <p:cNvPr id="145" name="Freeform 262"/>
                  <p:cNvSpPr>
                    <a:spLocks/>
                  </p:cNvSpPr>
                  <p:nvPr/>
                </p:nvSpPr>
                <p:spPr bwMode="auto">
                  <a:xfrm>
                    <a:off x="1542" y="1965"/>
                    <a:ext cx="671" cy="331"/>
                  </a:xfrm>
                  <a:custGeom>
                    <a:avLst/>
                    <a:gdLst>
                      <a:gd name="T0" fmla="*/ 96 w 671"/>
                      <a:gd name="T1" fmla="*/ 0 h 331"/>
                      <a:gd name="T2" fmla="*/ 671 w 671"/>
                      <a:gd name="T3" fmla="*/ 210 h 331"/>
                      <a:gd name="T4" fmla="*/ 671 w 671"/>
                      <a:gd name="T5" fmla="*/ 300 h 331"/>
                      <a:gd name="T6" fmla="*/ 584 w 671"/>
                      <a:gd name="T7" fmla="*/ 331 h 331"/>
                      <a:gd name="T8" fmla="*/ 584 w 671"/>
                      <a:gd name="T9" fmla="*/ 241 h 331"/>
                      <a:gd name="T10" fmla="*/ 0 w 671"/>
                      <a:gd name="T11" fmla="*/ 33 h 331"/>
                      <a:gd name="T12" fmla="*/ 96 w 671"/>
                      <a:gd name="T13" fmla="*/ 0 h 331"/>
                      <a:gd name="T14" fmla="*/ 0 60000 65536"/>
                      <a:gd name="T15" fmla="*/ 0 60000 65536"/>
                      <a:gd name="T16" fmla="*/ 0 60000 65536"/>
                      <a:gd name="T17" fmla="*/ 0 60000 65536"/>
                      <a:gd name="T18" fmla="*/ 0 60000 65536"/>
                      <a:gd name="T19" fmla="*/ 0 60000 65536"/>
                      <a:gd name="T20" fmla="*/ 0 60000 65536"/>
                      <a:gd name="T21" fmla="*/ 0 w 671"/>
                      <a:gd name="T22" fmla="*/ 0 h 331"/>
                      <a:gd name="T23" fmla="*/ 671 w 671"/>
                      <a:gd name="T24" fmla="*/ 331 h 3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71" h="331">
                        <a:moveTo>
                          <a:pt x="96" y="0"/>
                        </a:moveTo>
                        <a:lnTo>
                          <a:pt x="671" y="210"/>
                        </a:lnTo>
                        <a:lnTo>
                          <a:pt x="671" y="300"/>
                        </a:lnTo>
                        <a:lnTo>
                          <a:pt x="584" y="331"/>
                        </a:lnTo>
                        <a:lnTo>
                          <a:pt x="584" y="241"/>
                        </a:lnTo>
                        <a:lnTo>
                          <a:pt x="0" y="33"/>
                        </a:lnTo>
                        <a:lnTo>
                          <a:pt x="96" y="0"/>
                        </a:lnTo>
                        <a:close/>
                      </a:path>
                    </a:pathLst>
                  </a:custGeom>
                  <a:solidFill>
                    <a:srgbClr val="99CCFF">
                      <a:alpha val="12941"/>
                    </a:srgbClr>
                  </a:solidFill>
                  <a:ln w="3175">
                    <a:solidFill>
                      <a:srgbClr val="C0C0C0"/>
                    </a:solidFill>
                    <a:prstDash val="sysDot"/>
                    <a:round/>
                    <a:headEnd/>
                    <a:tailEnd/>
                  </a:ln>
                </p:spPr>
                <p:txBody>
                  <a:bodyPr/>
                  <a:lstStyle/>
                  <a:p>
                    <a:endParaRPr lang="fr-FR" dirty="0">
                      <a:solidFill>
                        <a:prstClr val="black"/>
                      </a:solidFill>
                      <a:latin typeface="HP Simplified"/>
                    </a:endParaRPr>
                  </a:p>
                </p:txBody>
              </p:sp>
              <p:sp>
                <p:nvSpPr>
                  <p:cNvPr id="146" name="Freeform 263"/>
                  <p:cNvSpPr>
                    <a:spLocks/>
                  </p:cNvSpPr>
                  <p:nvPr/>
                </p:nvSpPr>
                <p:spPr bwMode="auto">
                  <a:xfrm flipH="1">
                    <a:off x="2126" y="2542"/>
                    <a:ext cx="87" cy="121"/>
                  </a:xfrm>
                  <a:custGeom>
                    <a:avLst/>
                    <a:gdLst>
                      <a:gd name="T0" fmla="*/ 0 w 87"/>
                      <a:gd name="T1" fmla="*/ 0 h 121"/>
                      <a:gd name="T2" fmla="*/ 0 w 87"/>
                      <a:gd name="T3" fmla="*/ 90 h 121"/>
                      <a:gd name="T4" fmla="*/ 87 w 87"/>
                      <a:gd name="T5" fmla="*/ 121 h 121"/>
                      <a:gd name="T6" fmla="*/ 87 w 87"/>
                      <a:gd name="T7" fmla="*/ 31 h 121"/>
                      <a:gd name="T8" fmla="*/ 0 w 87"/>
                      <a:gd name="T9" fmla="*/ 0 h 121"/>
                      <a:gd name="T10" fmla="*/ 0 60000 65536"/>
                      <a:gd name="T11" fmla="*/ 0 60000 65536"/>
                      <a:gd name="T12" fmla="*/ 0 60000 65536"/>
                      <a:gd name="T13" fmla="*/ 0 60000 65536"/>
                      <a:gd name="T14" fmla="*/ 0 60000 65536"/>
                      <a:gd name="T15" fmla="*/ 0 w 87"/>
                      <a:gd name="T16" fmla="*/ 0 h 121"/>
                      <a:gd name="T17" fmla="*/ 87 w 87"/>
                      <a:gd name="T18" fmla="*/ 121 h 121"/>
                    </a:gdLst>
                    <a:ahLst/>
                    <a:cxnLst>
                      <a:cxn ang="T10">
                        <a:pos x="T0" y="T1"/>
                      </a:cxn>
                      <a:cxn ang="T11">
                        <a:pos x="T2" y="T3"/>
                      </a:cxn>
                      <a:cxn ang="T12">
                        <a:pos x="T4" y="T5"/>
                      </a:cxn>
                      <a:cxn ang="T13">
                        <a:pos x="T6" y="T7"/>
                      </a:cxn>
                      <a:cxn ang="T14">
                        <a:pos x="T8" y="T9"/>
                      </a:cxn>
                    </a:cxnLst>
                    <a:rect l="T15" t="T16" r="T17" b="T18"/>
                    <a:pathLst>
                      <a:path w="87" h="121">
                        <a:moveTo>
                          <a:pt x="0" y="0"/>
                        </a:moveTo>
                        <a:lnTo>
                          <a:pt x="0" y="90"/>
                        </a:lnTo>
                        <a:lnTo>
                          <a:pt x="87" y="121"/>
                        </a:lnTo>
                        <a:lnTo>
                          <a:pt x="87" y="31"/>
                        </a:lnTo>
                        <a:lnTo>
                          <a:pt x="0" y="0"/>
                        </a:lnTo>
                        <a:close/>
                      </a:path>
                    </a:pathLst>
                  </a:custGeom>
                  <a:solidFill>
                    <a:srgbClr val="99CCFF">
                      <a:alpha val="12941"/>
                    </a:srgbClr>
                  </a:solidFill>
                  <a:ln w="3175">
                    <a:solidFill>
                      <a:schemeClr val="tx1"/>
                    </a:solidFill>
                    <a:prstDash val="sysDot"/>
                    <a:round/>
                    <a:headEnd/>
                    <a:tailEnd/>
                  </a:ln>
                </p:spPr>
                <p:txBody>
                  <a:bodyPr/>
                  <a:lstStyle/>
                  <a:p>
                    <a:endParaRPr lang="fr-FR" dirty="0">
                      <a:solidFill>
                        <a:prstClr val="black"/>
                      </a:solidFill>
                      <a:latin typeface="HP Simplified"/>
                    </a:endParaRPr>
                  </a:p>
                </p:txBody>
              </p:sp>
            </p:grpSp>
            <p:grpSp>
              <p:nvGrpSpPr>
                <p:cNvPr id="126" name="Group 264"/>
                <p:cNvGrpSpPr>
                  <a:grpSpLocks/>
                </p:cNvGrpSpPr>
                <p:nvPr/>
              </p:nvGrpSpPr>
              <p:grpSpPr bwMode="auto">
                <a:xfrm>
                  <a:off x="3653" y="2311"/>
                  <a:ext cx="1741" cy="1131"/>
                  <a:chOff x="5605" y="5194"/>
                  <a:chExt cx="1084" cy="704"/>
                </a:xfrm>
              </p:grpSpPr>
              <p:grpSp>
                <p:nvGrpSpPr>
                  <p:cNvPr id="134" name="Group 265"/>
                  <p:cNvGrpSpPr>
                    <a:grpSpLocks/>
                  </p:cNvGrpSpPr>
                  <p:nvPr/>
                </p:nvGrpSpPr>
                <p:grpSpPr bwMode="auto">
                  <a:xfrm>
                    <a:off x="5605" y="5194"/>
                    <a:ext cx="1084" cy="501"/>
                    <a:chOff x="4508" y="1800"/>
                    <a:chExt cx="1084" cy="501"/>
                  </a:xfrm>
                </p:grpSpPr>
                <p:sp>
                  <p:nvSpPr>
                    <p:cNvPr id="138" name="Freeform 266"/>
                    <p:cNvSpPr>
                      <a:spLocks/>
                    </p:cNvSpPr>
                    <p:nvPr/>
                  </p:nvSpPr>
                  <p:spPr bwMode="auto">
                    <a:xfrm>
                      <a:off x="4508" y="1800"/>
                      <a:ext cx="1084" cy="501"/>
                    </a:xfrm>
                    <a:custGeom>
                      <a:avLst/>
                      <a:gdLst>
                        <a:gd name="T0" fmla="*/ 1084 w 1084"/>
                        <a:gd name="T1" fmla="*/ 141 h 501"/>
                        <a:gd name="T2" fmla="*/ 1084 w 1084"/>
                        <a:gd name="T3" fmla="*/ 0 h 501"/>
                        <a:gd name="T4" fmla="*/ 0 w 1084"/>
                        <a:gd name="T5" fmla="*/ 359 h 501"/>
                        <a:gd name="T6" fmla="*/ 1 w 1084"/>
                        <a:gd name="T7" fmla="*/ 501 h 501"/>
                        <a:gd name="T8" fmla="*/ 1084 w 1084"/>
                        <a:gd name="T9" fmla="*/ 141 h 501"/>
                        <a:gd name="T10" fmla="*/ 0 60000 65536"/>
                        <a:gd name="T11" fmla="*/ 0 60000 65536"/>
                        <a:gd name="T12" fmla="*/ 0 60000 65536"/>
                        <a:gd name="T13" fmla="*/ 0 60000 65536"/>
                        <a:gd name="T14" fmla="*/ 0 60000 65536"/>
                        <a:gd name="T15" fmla="*/ 0 w 1084"/>
                        <a:gd name="T16" fmla="*/ 0 h 501"/>
                        <a:gd name="T17" fmla="*/ 1084 w 1084"/>
                        <a:gd name="T18" fmla="*/ 501 h 501"/>
                      </a:gdLst>
                      <a:ahLst/>
                      <a:cxnLst>
                        <a:cxn ang="T10">
                          <a:pos x="T0" y="T1"/>
                        </a:cxn>
                        <a:cxn ang="T11">
                          <a:pos x="T2" y="T3"/>
                        </a:cxn>
                        <a:cxn ang="T12">
                          <a:pos x="T4" y="T5"/>
                        </a:cxn>
                        <a:cxn ang="T13">
                          <a:pos x="T6" y="T7"/>
                        </a:cxn>
                        <a:cxn ang="T14">
                          <a:pos x="T8" y="T9"/>
                        </a:cxn>
                      </a:cxnLst>
                      <a:rect l="T15" t="T16" r="T17" b="T18"/>
                      <a:pathLst>
                        <a:path w="1084" h="501">
                          <a:moveTo>
                            <a:pt x="1084" y="141"/>
                          </a:moveTo>
                          <a:lnTo>
                            <a:pt x="1084" y="0"/>
                          </a:lnTo>
                          <a:lnTo>
                            <a:pt x="0" y="359"/>
                          </a:lnTo>
                          <a:lnTo>
                            <a:pt x="1" y="501"/>
                          </a:lnTo>
                          <a:lnTo>
                            <a:pt x="1084" y="141"/>
                          </a:lnTo>
                          <a:close/>
                        </a:path>
                      </a:pathLst>
                    </a:custGeom>
                    <a:solidFill>
                      <a:srgbClr val="4D4D4D"/>
                    </a:solidFill>
                    <a:ln w="3175">
                      <a:noFill/>
                      <a:round/>
                      <a:headEnd/>
                      <a:tailEnd/>
                    </a:ln>
                  </p:spPr>
                  <p:txBody>
                    <a:bodyPr/>
                    <a:lstStyle/>
                    <a:p>
                      <a:endParaRPr lang="fr-FR" dirty="0">
                        <a:solidFill>
                          <a:prstClr val="black"/>
                        </a:solidFill>
                        <a:latin typeface="HP Simplified"/>
                      </a:endParaRPr>
                    </a:p>
                  </p:txBody>
                </p:sp>
                <p:grpSp>
                  <p:nvGrpSpPr>
                    <p:cNvPr id="139" name="Group 267"/>
                    <p:cNvGrpSpPr>
                      <a:grpSpLocks/>
                    </p:cNvGrpSpPr>
                    <p:nvPr/>
                  </p:nvGrpSpPr>
                  <p:grpSpPr bwMode="auto">
                    <a:xfrm>
                      <a:off x="4698" y="2072"/>
                      <a:ext cx="106" cy="162"/>
                      <a:chOff x="4698" y="2072"/>
                      <a:chExt cx="106" cy="162"/>
                    </a:xfrm>
                  </p:grpSpPr>
                  <p:sp>
                    <p:nvSpPr>
                      <p:cNvPr id="140" name="Oval 268"/>
                      <p:cNvSpPr>
                        <a:spLocks noChangeArrowheads="1"/>
                      </p:cNvSpPr>
                      <p:nvPr/>
                    </p:nvSpPr>
                    <p:spPr bwMode="auto">
                      <a:xfrm rot="2161642">
                        <a:off x="4698" y="2080"/>
                        <a:ext cx="106" cy="140"/>
                      </a:xfrm>
                      <a:prstGeom prst="ellipse">
                        <a:avLst/>
                      </a:prstGeom>
                      <a:solidFill>
                        <a:srgbClr val="FFCC99"/>
                      </a:solidFill>
                      <a:ln w="3175">
                        <a:noFill/>
                        <a:round/>
                        <a:headEnd/>
                        <a:tailEnd/>
                      </a:ln>
                    </p:spPr>
                    <p:txBody>
                      <a:bodyPr wrap="none" anchor="ctr"/>
                      <a:lstStyle/>
                      <a:p>
                        <a:endParaRPr lang="fr-FR" dirty="0">
                          <a:solidFill>
                            <a:prstClr val="black"/>
                          </a:solidFill>
                          <a:latin typeface="HP Simplified"/>
                        </a:endParaRPr>
                      </a:p>
                    </p:txBody>
                  </p:sp>
                  <p:sp>
                    <p:nvSpPr>
                      <p:cNvPr id="141" name="Freeform 269"/>
                      <p:cNvSpPr>
                        <a:spLocks/>
                      </p:cNvSpPr>
                      <p:nvPr/>
                    </p:nvSpPr>
                    <p:spPr bwMode="auto">
                      <a:xfrm>
                        <a:off x="4721" y="2072"/>
                        <a:ext cx="52" cy="162"/>
                      </a:xfrm>
                      <a:custGeom>
                        <a:avLst/>
                        <a:gdLst>
                          <a:gd name="T0" fmla="*/ 0 w 52"/>
                          <a:gd name="T1" fmla="*/ 10 h 162"/>
                          <a:gd name="T2" fmla="*/ 0 w 52"/>
                          <a:gd name="T3" fmla="*/ 37 h 162"/>
                          <a:gd name="T4" fmla="*/ 0 w 52"/>
                          <a:gd name="T5" fmla="*/ 45 h 162"/>
                          <a:gd name="T6" fmla="*/ 19 w 52"/>
                          <a:gd name="T7" fmla="*/ 132 h 162"/>
                          <a:gd name="T8" fmla="*/ 18 w 52"/>
                          <a:gd name="T9" fmla="*/ 162 h 162"/>
                          <a:gd name="T10" fmla="*/ 43 w 52"/>
                          <a:gd name="T11" fmla="*/ 160 h 162"/>
                          <a:gd name="T12" fmla="*/ 39 w 52"/>
                          <a:gd name="T13" fmla="*/ 124 h 162"/>
                          <a:gd name="T14" fmla="*/ 52 w 52"/>
                          <a:gd name="T15" fmla="*/ 37 h 162"/>
                          <a:gd name="T16" fmla="*/ 22 w 52"/>
                          <a:gd name="T17" fmla="*/ 28 h 162"/>
                          <a:gd name="T18" fmla="*/ 25 w 52"/>
                          <a:gd name="T19" fmla="*/ 0 h 162"/>
                          <a:gd name="T20" fmla="*/ 0 w 52"/>
                          <a:gd name="T21" fmla="*/ 10 h 1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162"/>
                          <a:gd name="T35" fmla="*/ 52 w 52"/>
                          <a:gd name="T36" fmla="*/ 162 h 1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162">
                            <a:moveTo>
                              <a:pt x="0" y="10"/>
                            </a:moveTo>
                            <a:lnTo>
                              <a:pt x="0" y="37"/>
                            </a:lnTo>
                            <a:lnTo>
                              <a:pt x="0" y="45"/>
                            </a:lnTo>
                            <a:lnTo>
                              <a:pt x="19" y="132"/>
                            </a:lnTo>
                            <a:lnTo>
                              <a:pt x="18" y="162"/>
                            </a:lnTo>
                            <a:lnTo>
                              <a:pt x="43" y="160"/>
                            </a:lnTo>
                            <a:lnTo>
                              <a:pt x="39" y="124"/>
                            </a:lnTo>
                            <a:lnTo>
                              <a:pt x="52" y="37"/>
                            </a:lnTo>
                            <a:lnTo>
                              <a:pt x="22" y="28"/>
                            </a:lnTo>
                            <a:lnTo>
                              <a:pt x="25" y="0"/>
                            </a:lnTo>
                            <a:lnTo>
                              <a:pt x="0" y="10"/>
                            </a:lnTo>
                            <a:close/>
                          </a:path>
                        </a:pathLst>
                      </a:custGeom>
                      <a:solidFill>
                        <a:srgbClr val="FFCC99"/>
                      </a:solidFill>
                      <a:ln w="3175">
                        <a:noFill/>
                        <a:round/>
                        <a:headEnd/>
                        <a:tailEnd/>
                      </a:ln>
                    </p:spPr>
                    <p:txBody>
                      <a:bodyPr/>
                      <a:lstStyle/>
                      <a:p>
                        <a:endParaRPr lang="fr-FR" dirty="0">
                          <a:solidFill>
                            <a:prstClr val="black"/>
                          </a:solidFill>
                          <a:latin typeface="HP Simplified"/>
                        </a:endParaRPr>
                      </a:p>
                    </p:txBody>
                  </p:sp>
                  <p:sp>
                    <p:nvSpPr>
                      <p:cNvPr id="142" name="Freeform 270"/>
                      <p:cNvSpPr>
                        <a:spLocks/>
                      </p:cNvSpPr>
                      <p:nvPr/>
                    </p:nvSpPr>
                    <p:spPr bwMode="auto">
                      <a:xfrm>
                        <a:off x="4713" y="2082"/>
                        <a:ext cx="37" cy="106"/>
                      </a:xfrm>
                      <a:custGeom>
                        <a:avLst/>
                        <a:gdLst>
                          <a:gd name="T0" fmla="*/ 17 w 37"/>
                          <a:gd name="T1" fmla="*/ 2 h 106"/>
                          <a:gd name="T2" fmla="*/ 0 w 37"/>
                          <a:gd name="T3" fmla="*/ 106 h 106"/>
                          <a:gd name="T4" fmla="*/ 12 w 37"/>
                          <a:gd name="T5" fmla="*/ 100 h 106"/>
                          <a:gd name="T6" fmla="*/ 16 w 37"/>
                          <a:gd name="T7" fmla="*/ 70 h 106"/>
                          <a:gd name="T8" fmla="*/ 18 w 37"/>
                          <a:gd name="T9" fmla="*/ 55 h 106"/>
                          <a:gd name="T10" fmla="*/ 27 w 37"/>
                          <a:gd name="T11" fmla="*/ 54 h 106"/>
                          <a:gd name="T12" fmla="*/ 18 w 37"/>
                          <a:gd name="T13" fmla="*/ 100 h 106"/>
                          <a:gd name="T14" fmla="*/ 30 w 37"/>
                          <a:gd name="T15" fmla="*/ 99 h 106"/>
                          <a:gd name="T16" fmla="*/ 37 w 37"/>
                          <a:gd name="T17" fmla="*/ 43 h 106"/>
                          <a:gd name="T18" fmla="*/ 22 w 37"/>
                          <a:gd name="T19" fmla="*/ 43 h 106"/>
                          <a:gd name="T20" fmla="*/ 27 w 37"/>
                          <a:gd name="T21" fmla="*/ 0 h 106"/>
                          <a:gd name="T22" fmla="*/ 17 w 37"/>
                          <a:gd name="T23" fmla="*/ 2 h 10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106"/>
                          <a:gd name="T38" fmla="*/ 37 w 37"/>
                          <a:gd name="T39" fmla="*/ 106 h 10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106">
                            <a:moveTo>
                              <a:pt x="17" y="2"/>
                            </a:moveTo>
                            <a:lnTo>
                              <a:pt x="0" y="106"/>
                            </a:lnTo>
                            <a:lnTo>
                              <a:pt x="12" y="100"/>
                            </a:lnTo>
                            <a:lnTo>
                              <a:pt x="16" y="70"/>
                            </a:lnTo>
                            <a:lnTo>
                              <a:pt x="18" y="55"/>
                            </a:lnTo>
                            <a:lnTo>
                              <a:pt x="27" y="54"/>
                            </a:lnTo>
                            <a:lnTo>
                              <a:pt x="18" y="100"/>
                            </a:lnTo>
                            <a:lnTo>
                              <a:pt x="30" y="99"/>
                            </a:lnTo>
                            <a:lnTo>
                              <a:pt x="37" y="43"/>
                            </a:lnTo>
                            <a:lnTo>
                              <a:pt x="22" y="43"/>
                            </a:lnTo>
                            <a:lnTo>
                              <a:pt x="27" y="0"/>
                            </a:lnTo>
                            <a:lnTo>
                              <a:pt x="17" y="2"/>
                            </a:lnTo>
                            <a:close/>
                          </a:path>
                        </a:pathLst>
                      </a:custGeom>
                      <a:solidFill>
                        <a:srgbClr val="4D4D4D"/>
                      </a:solidFill>
                      <a:ln w="3175">
                        <a:noFill/>
                        <a:round/>
                        <a:headEnd/>
                        <a:tailEnd/>
                      </a:ln>
                    </p:spPr>
                    <p:txBody>
                      <a:bodyPr/>
                      <a:lstStyle/>
                      <a:p>
                        <a:endParaRPr lang="fr-FR" dirty="0">
                          <a:solidFill>
                            <a:prstClr val="black"/>
                          </a:solidFill>
                          <a:latin typeface="HP Simplified"/>
                        </a:endParaRPr>
                      </a:p>
                    </p:txBody>
                  </p:sp>
                  <p:sp>
                    <p:nvSpPr>
                      <p:cNvPr id="143" name="Freeform 271"/>
                      <p:cNvSpPr>
                        <a:spLocks/>
                      </p:cNvSpPr>
                      <p:nvPr/>
                    </p:nvSpPr>
                    <p:spPr bwMode="auto">
                      <a:xfrm>
                        <a:off x="4745" y="2113"/>
                        <a:ext cx="49" cy="107"/>
                      </a:xfrm>
                      <a:custGeom>
                        <a:avLst/>
                        <a:gdLst>
                          <a:gd name="T0" fmla="*/ 0 w 49"/>
                          <a:gd name="T1" fmla="*/ 107 h 107"/>
                          <a:gd name="T2" fmla="*/ 13 w 49"/>
                          <a:gd name="T3" fmla="*/ 5 h 107"/>
                          <a:gd name="T4" fmla="*/ 32 w 49"/>
                          <a:gd name="T5" fmla="*/ 0 h 107"/>
                          <a:gd name="T6" fmla="*/ 49 w 49"/>
                          <a:gd name="T7" fmla="*/ 11 h 107"/>
                          <a:gd name="T8" fmla="*/ 46 w 49"/>
                          <a:gd name="T9" fmla="*/ 42 h 107"/>
                          <a:gd name="T10" fmla="*/ 29 w 49"/>
                          <a:gd name="T11" fmla="*/ 62 h 107"/>
                          <a:gd name="T12" fmla="*/ 14 w 49"/>
                          <a:gd name="T13" fmla="*/ 62 h 107"/>
                          <a:gd name="T14" fmla="*/ 19 w 49"/>
                          <a:gd name="T15" fmla="*/ 54 h 107"/>
                          <a:gd name="T16" fmla="*/ 34 w 49"/>
                          <a:gd name="T17" fmla="*/ 47 h 107"/>
                          <a:gd name="T18" fmla="*/ 35 w 49"/>
                          <a:gd name="T19" fmla="*/ 24 h 107"/>
                          <a:gd name="T20" fmla="*/ 32 w 49"/>
                          <a:gd name="T21" fmla="*/ 8 h 107"/>
                          <a:gd name="T22" fmla="*/ 19 w 49"/>
                          <a:gd name="T23" fmla="*/ 21 h 107"/>
                          <a:gd name="T24" fmla="*/ 7 w 49"/>
                          <a:gd name="T25" fmla="*/ 106 h 107"/>
                          <a:gd name="T26" fmla="*/ 0 w 49"/>
                          <a:gd name="T27" fmla="*/ 107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9"/>
                          <a:gd name="T43" fmla="*/ 0 h 107"/>
                          <a:gd name="T44" fmla="*/ 49 w 49"/>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9" h="107">
                            <a:moveTo>
                              <a:pt x="0" y="107"/>
                            </a:moveTo>
                            <a:lnTo>
                              <a:pt x="13" y="5"/>
                            </a:lnTo>
                            <a:lnTo>
                              <a:pt x="32" y="0"/>
                            </a:lnTo>
                            <a:lnTo>
                              <a:pt x="49" y="11"/>
                            </a:lnTo>
                            <a:lnTo>
                              <a:pt x="46" y="42"/>
                            </a:lnTo>
                            <a:lnTo>
                              <a:pt x="29" y="62"/>
                            </a:lnTo>
                            <a:lnTo>
                              <a:pt x="14" y="62"/>
                            </a:lnTo>
                            <a:lnTo>
                              <a:pt x="19" y="54"/>
                            </a:lnTo>
                            <a:lnTo>
                              <a:pt x="34" y="47"/>
                            </a:lnTo>
                            <a:lnTo>
                              <a:pt x="35" y="24"/>
                            </a:lnTo>
                            <a:lnTo>
                              <a:pt x="32" y="8"/>
                            </a:lnTo>
                            <a:lnTo>
                              <a:pt x="19" y="21"/>
                            </a:lnTo>
                            <a:lnTo>
                              <a:pt x="7" y="106"/>
                            </a:lnTo>
                            <a:lnTo>
                              <a:pt x="0" y="107"/>
                            </a:lnTo>
                            <a:close/>
                          </a:path>
                        </a:pathLst>
                      </a:custGeom>
                      <a:solidFill>
                        <a:srgbClr val="4D4D4D"/>
                      </a:solidFill>
                      <a:ln w="3175">
                        <a:noFill/>
                        <a:round/>
                        <a:headEnd/>
                        <a:tailEnd/>
                      </a:ln>
                    </p:spPr>
                    <p:txBody>
                      <a:bodyPr/>
                      <a:lstStyle/>
                      <a:p>
                        <a:endParaRPr lang="fr-FR" dirty="0">
                          <a:solidFill>
                            <a:prstClr val="black"/>
                          </a:solidFill>
                          <a:latin typeface="HP Simplified"/>
                        </a:endParaRPr>
                      </a:p>
                    </p:txBody>
                  </p:sp>
                </p:grpSp>
              </p:grpSp>
              <p:grpSp>
                <p:nvGrpSpPr>
                  <p:cNvPr id="135" name="Group 272"/>
                  <p:cNvGrpSpPr>
                    <a:grpSpLocks/>
                  </p:cNvGrpSpPr>
                  <p:nvPr/>
                </p:nvGrpSpPr>
                <p:grpSpPr bwMode="auto">
                  <a:xfrm>
                    <a:off x="6042" y="5649"/>
                    <a:ext cx="322" cy="249"/>
                    <a:chOff x="6754" y="2011"/>
                    <a:chExt cx="322" cy="249"/>
                  </a:xfrm>
                </p:grpSpPr>
                <p:sp>
                  <p:nvSpPr>
                    <p:cNvPr id="136" name="Freeform 273"/>
                    <p:cNvSpPr>
                      <a:spLocks/>
                    </p:cNvSpPr>
                    <p:nvPr/>
                  </p:nvSpPr>
                  <p:spPr bwMode="auto">
                    <a:xfrm>
                      <a:off x="6754" y="2011"/>
                      <a:ext cx="322" cy="249"/>
                    </a:xfrm>
                    <a:custGeom>
                      <a:avLst/>
                      <a:gdLst>
                        <a:gd name="T0" fmla="*/ 317 w 322"/>
                        <a:gd name="T1" fmla="*/ 0 h 249"/>
                        <a:gd name="T2" fmla="*/ 106 w 322"/>
                        <a:gd name="T3" fmla="*/ 38 h 249"/>
                        <a:gd name="T4" fmla="*/ 106 w 322"/>
                        <a:gd name="T5" fmla="*/ 139 h 249"/>
                        <a:gd name="T6" fmla="*/ 135 w 322"/>
                        <a:gd name="T7" fmla="*/ 163 h 249"/>
                        <a:gd name="T8" fmla="*/ 101 w 322"/>
                        <a:gd name="T9" fmla="*/ 158 h 249"/>
                        <a:gd name="T10" fmla="*/ 0 w 322"/>
                        <a:gd name="T11" fmla="*/ 235 h 249"/>
                        <a:gd name="T12" fmla="*/ 192 w 322"/>
                        <a:gd name="T13" fmla="*/ 249 h 249"/>
                        <a:gd name="T14" fmla="*/ 308 w 322"/>
                        <a:gd name="T15" fmla="*/ 153 h 249"/>
                        <a:gd name="T16" fmla="*/ 279 w 322"/>
                        <a:gd name="T17" fmla="*/ 144 h 249"/>
                        <a:gd name="T18" fmla="*/ 322 w 322"/>
                        <a:gd name="T19" fmla="*/ 129 h 249"/>
                        <a:gd name="T20" fmla="*/ 317 w 322"/>
                        <a:gd name="T21" fmla="*/ 0 h 2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2"/>
                        <a:gd name="T34" fmla="*/ 0 h 249"/>
                        <a:gd name="T35" fmla="*/ 322 w 322"/>
                        <a:gd name="T36" fmla="*/ 249 h 2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2" h="249">
                          <a:moveTo>
                            <a:pt x="317" y="0"/>
                          </a:moveTo>
                          <a:lnTo>
                            <a:pt x="106" y="38"/>
                          </a:lnTo>
                          <a:lnTo>
                            <a:pt x="106" y="139"/>
                          </a:lnTo>
                          <a:lnTo>
                            <a:pt x="135" y="163"/>
                          </a:lnTo>
                          <a:lnTo>
                            <a:pt x="101" y="158"/>
                          </a:lnTo>
                          <a:lnTo>
                            <a:pt x="0" y="235"/>
                          </a:lnTo>
                          <a:lnTo>
                            <a:pt x="192" y="249"/>
                          </a:lnTo>
                          <a:lnTo>
                            <a:pt x="308" y="153"/>
                          </a:lnTo>
                          <a:lnTo>
                            <a:pt x="279" y="144"/>
                          </a:lnTo>
                          <a:lnTo>
                            <a:pt x="322" y="129"/>
                          </a:lnTo>
                          <a:lnTo>
                            <a:pt x="317" y="0"/>
                          </a:lnTo>
                          <a:close/>
                        </a:path>
                      </a:pathLst>
                    </a:custGeom>
                    <a:solidFill>
                      <a:srgbClr val="4D4D4D"/>
                    </a:solidFill>
                    <a:ln w="3175">
                      <a:solidFill>
                        <a:schemeClr val="tx1"/>
                      </a:solidFill>
                      <a:round/>
                      <a:headEnd/>
                      <a:tailEnd/>
                    </a:ln>
                  </p:spPr>
                  <p:txBody>
                    <a:bodyPr/>
                    <a:lstStyle/>
                    <a:p>
                      <a:endParaRPr lang="fr-FR" dirty="0">
                        <a:solidFill>
                          <a:prstClr val="black"/>
                        </a:solidFill>
                        <a:latin typeface="HP Simplified"/>
                      </a:endParaRPr>
                    </a:p>
                  </p:txBody>
                </p:sp>
                <p:sp>
                  <p:nvSpPr>
                    <p:cNvPr id="137" name="Freeform 274"/>
                    <p:cNvSpPr>
                      <a:spLocks/>
                    </p:cNvSpPr>
                    <p:nvPr/>
                  </p:nvSpPr>
                  <p:spPr bwMode="auto">
                    <a:xfrm>
                      <a:off x="6888" y="2035"/>
                      <a:ext cx="153" cy="106"/>
                    </a:xfrm>
                    <a:custGeom>
                      <a:avLst/>
                      <a:gdLst>
                        <a:gd name="T0" fmla="*/ 148 w 153"/>
                        <a:gd name="T1" fmla="*/ 101 h 106"/>
                        <a:gd name="T2" fmla="*/ 153 w 153"/>
                        <a:gd name="T3" fmla="*/ 0 h 106"/>
                        <a:gd name="T4" fmla="*/ 0 w 153"/>
                        <a:gd name="T5" fmla="*/ 29 h 106"/>
                        <a:gd name="T6" fmla="*/ 0 w 153"/>
                        <a:gd name="T7" fmla="*/ 106 h 106"/>
                        <a:gd name="T8" fmla="*/ 148 w 153"/>
                        <a:gd name="T9" fmla="*/ 101 h 106"/>
                        <a:gd name="T10" fmla="*/ 0 60000 65536"/>
                        <a:gd name="T11" fmla="*/ 0 60000 65536"/>
                        <a:gd name="T12" fmla="*/ 0 60000 65536"/>
                        <a:gd name="T13" fmla="*/ 0 60000 65536"/>
                        <a:gd name="T14" fmla="*/ 0 60000 65536"/>
                        <a:gd name="T15" fmla="*/ 0 w 153"/>
                        <a:gd name="T16" fmla="*/ 0 h 106"/>
                        <a:gd name="T17" fmla="*/ 153 w 153"/>
                        <a:gd name="T18" fmla="*/ 106 h 106"/>
                      </a:gdLst>
                      <a:ahLst/>
                      <a:cxnLst>
                        <a:cxn ang="T10">
                          <a:pos x="T0" y="T1"/>
                        </a:cxn>
                        <a:cxn ang="T11">
                          <a:pos x="T2" y="T3"/>
                        </a:cxn>
                        <a:cxn ang="T12">
                          <a:pos x="T4" y="T5"/>
                        </a:cxn>
                        <a:cxn ang="T13">
                          <a:pos x="T6" y="T7"/>
                        </a:cxn>
                        <a:cxn ang="T14">
                          <a:pos x="T8" y="T9"/>
                        </a:cxn>
                      </a:cxnLst>
                      <a:rect l="T15" t="T16" r="T17" b="T18"/>
                      <a:pathLst>
                        <a:path w="153" h="106">
                          <a:moveTo>
                            <a:pt x="148" y="101"/>
                          </a:moveTo>
                          <a:lnTo>
                            <a:pt x="153" y="0"/>
                          </a:lnTo>
                          <a:lnTo>
                            <a:pt x="0" y="29"/>
                          </a:lnTo>
                          <a:lnTo>
                            <a:pt x="0" y="106"/>
                          </a:lnTo>
                          <a:lnTo>
                            <a:pt x="148" y="101"/>
                          </a:lnTo>
                          <a:close/>
                        </a:path>
                      </a:pathLst>
                    </a:custGeom>
                    <a:solidFill>
                      <a:srgbClr val="FFCC99"/>
                    </a:solidFill>
                    <a:ln w="3175">
                      <a:solidFill>
                        <a:schemeClr val="tx1"/>
                      </a:solidFill>
                      <a:round/>
                      <a:headEnd/>
                      <a:tailEnd/>
                    </a:ln>
                  </p:spPr>
                  <p:txBody>
                    <a:bodyPr/>
                    <a:lstStyle/>
                    <a:p>
                      <a:endParaRPr lang="fr-FR" dirty="0">
                        <a:solidFill>
                          <a:prstClr val="black"/>
                        </a:solidFill>
                        <a:latin typeface="HP Simplified"/>
                      </a:endParaRPr>
                    </a:p>
                  </p:txBody>
                </p:sp>
              </p:grpSp>
            </p:grpSp>
            <p:grpSp>
              <p:nvGrpSpPr>
                <p:cNvPr id="127" name="Group 275"/>
                <p:cNvGrpSpPr>
                  <a:grpSpLocks/>
                </p:cNvGrpSpPr>
                <p:nvPr/>
              </p:nvGrpSpPr>
              <p:grpSpPr bwMode="auto">
                <a:xfrm>
                  <a:off x="3217" y="3002"/>
                  <a:ext cx="848" cy="1018"/>
                  <a:chOff x="3262" y="3112"/>
                  <a:chExt cx="650" cy="780"/>
                </a:xfrm>
              </p:grpSpPr>
              <p:sp>
                <p:nvSpPr>
                  <p:cNvPr id="132" name="Freeform 276"/>
                  <p:cNvSpPr>
                    <a:spLocks/>
                  </p:cNvSpPr>
                  <p:nvPr/>
                </p:nvSpPr>
                <p:spPr bwMode="auto">
                  <a:xfrm>
                    <a:off x="3262" y="3112"/>
                    <a:ext cx="650" cy="780"/>
                  </a:xfrm>
                  <a:custGeom>
                    <a:avLst/>
                    <a:gdLst>
                      <a:gd name="T0" fmla="*/ 314 w 650"/>
                      <a:gd name="T1" fmla="*/ 112 h 780"/>
                      <a:gd name="T2" fmla="*/ 650 w 650"/>
                      <a:gd name="T3" fmla="*/ 0 h 780"/>
                      <a:gd name="T4" fmla="*/ 650 w 650"/>
                      <a:gd name="T5" fmla="*/ 672 h 780"/>
                      <a:gd name="T6" fmla="*/ 316 w 650"/>
                      <a:gd name="T7" fmla="*/ 780 h 780"/>
                      <a:gd name="T8" fmla="*/ 0 w 650"/>
                      <a:gd name="T9" fmla="*/ 676 h 780"/>
                      <a:gd name="T10" fmla="*/ 0 w 650"/>
                      <a:gd name="T11" fmla="*/ 6 h 780"/>
                      <a:gd name="T12" fmla="*/ 314 w 650"/>
                      <a:gd name="T13" fmla="*/ 112 h 780"/>
                      <a:gd name="T14" fmla="*/ 0 60000 65536"/>
                      <a:gd name="T15" fmla="*/ 0 60000 65536"/>
                      <a:gd name="T16" fmla="*/ 0 60000 65536"/>
                      <a:gd name="T17" fmla="*/ 0 60000 65536"/>
                      <a:gd name="T18" fmla="*/ 0 60000 65536"/>
                      <a:gd name="T19" fmla="*/ 0 60000 65536"/>
                      <a:gd name="T20" fmla="*/ 0 60000 65536"/>
                      <a:gd name="T21" fmla="*/ 0 w 650"/>
                      <a:gd name="T22" fmla="*/ 0 h 780"/>
                      <a:gd name="T23" fmla="*/ 650 w 650"/>
                      <a:gd name="T24" fmla="*/ 780 h 7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0" h="780">
                        <a:moveTo>
                          <a:pt x="314" y="112"/>
                        </a:moveTo>
                        <a:lnTo>
                          <a:pt x="650" y="0"/>
                        </a:lnTo>
                        <a:lnTo>
                          <a:pt x="650" y="672"/>
                        </a:lnTo>
                        <a:lnTo>
                          <a:pt x="316" y="780"/>
                        </a:lnTo>
                        <a:lnTo>
                          <a:pt x="0" y="676"/>
                        </a:lnTo>
                        <a:lnTo>
                          <a:pt x="0" y="6"/>
                        </a:lnTo>
                        <a:lnTo>
                          <a:pt x="314" y="112"/>
                        </a:lnTo>
                        <a:close/>
                      </a:path>
                    </a:pathLst>
                  </a:custGeom>
                  <a:solidFill>
                    <a:srgbClr val="EAEAEA"/>
                  </a:solidFill>
                  <a:ln w="3175">
                    <a:solidFill>
                      <a:schemeClr val="tx1"/>
                    </a:solidFill>
                    <a:round/>
                    <a:headEnd/>
                    <a:tailEnd/>
                  </a:ln>
                </p:spPr>
                <p:txBody>
                  <a:bodyPr/>
                  <a:lstStyle/>
                  <a:p>
                    <a:endParaRPr lang="fr-FR" dirty="0">
                      <a:solidFill>
                        <a:prstClr val="black"/>
                      </a:solidFill>
                      <a:latin typeface="HP Simplified"/>
                    </a:endParaRPr>
                  </a:p>
                </p:txBody>
              </p:sp>
              <p:sp>
                <p:nvSpPr>
                  <p:cNvPr id="133" name="Line 277"/>
                  <p:cNvSpPr>
                    <a:spLocks noChangeShapeType="1"/>
                  </p:cNvSpPr>
                  <p:nvPr/>
                </p:nvSpPr>
                <p:spPr bwMode="auto">
                  <a:xfrm>
                    <a:off x="3576" y="3222"/>
                    <a:ext cx="0" cy="666"/>
                  </a:xfrm>
                  <a:prstGeom prst="line">
                    <a:avLst/>
                  </a:prstGeom>
                  <a:noFill/>
                  <a:ln w="3175">
                    <a:solidFill>
                      <a:schemeClr val="tx1"/>
                    </a:solidFill>
                    <a:prstDash val="sysDot"/>
                    <a:round/>
                    <a:headEnd/>
                    <a:tailEnd/>
                  </a:ln>
                </p:spPr>
                <p:txBody>
                  <a:bodyPr/>
                  <a:lstStyle/>
                  <a:p>
                    <a:endParaRPr lang="en-US" dirty="0">
                      <a:solidFill>
                        <a:prstClr val="black"/>
                      </a:solidFill>
                      <a:latin typeface="HP Simplified"/>
                    </a:endParaRPr>
                  </a:p>
                </p:txBody>
              </p:sp>
            </p:grpSp>
            <p:sp>
              <p:nvSpPr>
                <p:cNvPr id="128" name="Freeform 278"/>
                <p:cNvSpPr>
                  <a:spLocks/>
                </p:cNvSpPr>
                <p:nvPr/>
              </p:nvSpPr>
              <p:spPr bwMode="auto">
                <a:xfrm>
                  <a:off x="3229" y="3036"/>
                  <a:ext cx="376" cy="456"/>
                </a:xfrm>
                <a:custGeom>
                  <a:avLst/>
                  <a:gdLst>
                    <a:gd name="T0" fmla="*/ 375 w 376"/>
                    <a:gd name="T1" fmla="*/ 126 h 456"/>
                    <a:gd name="T2" fmla="*/ 0 w 376"/>
                    <a:gd name="T3" fmla="*/ 0 h 456"/>
                    <a:gd name="T4" fmla="*/ 1 w 376"/>
                    <a:gd name="T5" fmla="*/ 330 h 456"/>
                    <a:gd name="T6" fmla="*/ 376 w 376"/>
                    <a:gd name="T7" fmla="*/ 456 h 456"/>
                    <a:gd name="T8" fmla="*/ 375 w 376"/>
                    <a:gd name="T9" fmla="*/ 126 h 456"/>
                    <a:gd name="T10" fmla="*/ 0 60000 65536"/>
                    <a:gd name="T11" fmla="*/ 0 60000 65536"/>
                    <a:gd name="T12" fmla="*/ 0 60000 65536"/>
                    <a:gd name="T13" fmla="*/ 0 60000 65536"/>
                    <a:gd name="T14" fmla="*/ 0 60000 65536"/>
                    <a:gd name="T15" fmla="*/ 0 w 376"/>
                    <a:gd name="T16" fmla="*/ 0 h 456"/>
                    <a:gd name="T17" fmla="*/ 376 w 376"/>
                    <a:gd name="T18" fmla="*/ 456 h 456"/>
                  </a:gdLst>
                  <a:ahLst/>
                  <a:cxnLst>
                    <a:cxn ang="T10">
                      <a:pos x="T0" y="T1"/>
                    </a:cxn>
                    <a:cxn ang="T11">
                      <a:pos x="T2" y="T3"/>
                    </a:cxn>
                    <a:cxn ang="T12">
                      <a:pos x="T4" y="T5"/>
                    </a:cxn>
                    <a:cxn ang="T13">
                      <a:pos x="T6" y="T7"/>
                    </a:cxn>
                    <a:cxn ang="T14">
                      <a:pos x="T8" y="T9"/>
                    </a:cxn>
                  </a:cxnLst>
                  <a:rect l="T15" t="T16" r="T17" b="T18"/>
                  <a:pathLst>
                    <a:path w="376" h="456">
                      <a:moveTo>
                        <a:pt x="375" y="126"/>
                      </a:moveTo>
                      <a:lnTo>
                        <a:pt x="0" y="0"/>
                      </a:lnTo>
                      <a:lnTo>
                        <a:pt x="1" y="330"/>
                      </a:lnTo>
                      <a:lnTo>
                        <a:pt x="376" y="456"/>
                      </a:lnTo>
                      <a:lnTo>
                        <a:pt x="375" y="126"/>
                      </a:lnTo>
                      <a:close/>
                    </a:path>
                  </a:pathLst>
                </a:custGeom>
                <a:solidFill>
                  <a:schemeClr val="bg1"/>
                </a:solidFill>
                <a:ln w="3175">
                  <a:solidFill>
                    <a:srgbClr val="C0C0C0"/>
                  </a:solidFill>
                  <a:round/>
                  <a:headEnd/>
                  <a:tailEnd/>
                </a:ln>
              </p:spPr>
              <p:txBody>
                <a:bodyPr/>
                <a:lstStyle/>
                <a:p>
                  <a:endParaRPr lang="fr-FR" dirty="0">
                    <a:solidFill>
                      <a:prstClr val="black"/>
                    </a:solidFill>
                    <a:latin typeface="HP Simplified"/>
                  </a:endParaRPr>
                </a:p>
              </p:txBody>
            </p:sp>
            <p:sp>
              <p:nvSpPr>
                <p:cNvPr id="129" name="Freeform 279"/>
                <p:cNvSpPr>
                  <a:spLocks/>
                </p:cNvSpPr>
                <p:nvPr/>
              </p:nvSpPr>
              <p:spPr bwMode="auto">
                <a:xfrm>
                  <a:off x="3229" y="3392"/>
                  <a:ext cx="376" cy="456"/>
                </a:xfrm>
                <a:custGeom>
                  <a:avLst/>
                  <a:gdLst>
                    <a:gd name="T0" fmla="*/ 375 w 376"/>
                    <a:gd name="T1" fmla="*/ 126 h 456"/>
                    <a:gd name="T2" fmla="*/ 0 w 376"/>
                    <a:gd name="T3" fmla="*/ 0 h 456"/>
                    <a:gd name="T4" fmla="*/ 1 w 376"/>
                    <a:gd name="T5" fmla="*/ 330 h 456"/>
                    <a:gd name="T6" fmla="*/ 376 w 376"/>
                    <a:gd name="T7" fmla="*/ 456 h 456"/>
                    <a:gd name="T8" fmla="*/ 375 w 376"/>
                    <a:gd name="T9" fmla="*/ 126 h 456"/>
                    <a:gd name="T10" fmla="*/ 0 60000 65536"/>
                    <a:gd name="T11" fmla="*/ 0 60000 65536"/>
                    <a:gd name="T12" fmla="*/ 0 60000 65536"/>
                    <a:gd name="T13" fmla="*/ 0 60000 65536"/>
                    <a:gd name="T14" fmla="*/ 0 60000 65536"/>
                    <a:gd name="T15" fmla="*/ 0 w 376"/>
                    <a:gd name="T16" fmla="*/ 0 h 456"/>
                    <a:gd name="T17" fmla="*/ 376 w 376"/>
                    <a:gd name="T18" fmla="*/ 456 h 456"/>
                  </a:gdLst>
                  <a:ahLst/>
                  <a:cxnLst>
                    <a:cxn ang="T10">
                      <a:pos x="T0" y="T1"/>
                    </a:cxn>
                    <a:cxn ang="T11">
                      <a:pos x="T2" y="T3"/>
                    </a:cxn>
                    <a:cxn ang="T12">
                      <a:pos x="T4" y="T5"/>
                    </a:cxn>
                    <a:cxn ang="T13">
                      <a:pos x="T6" y="T7"/>
                    </a:cxn>
                    <a:cxn ang="T14">
                      <a:pos x="T8" y="T9"/>
                    </a:cxn>
                  </a:cxnLst>
                  <a:rect l="T15" t="T16" r="T17" b="T18"/>
                  <a:pathLst>
                    <a:path w="376" h="456">
                      <a:moveTo>
                        <a:pt x="375" y="126"/>
                      </a:moveTo>
                      <a:lnTo>
                        <a:pt x="0" y="0"/>
                      </a:lnTo>
                      <a:lnTo>
                        <a:pt x="1" y="330"/>
                      </a:lnTo>
                      <a:lnTo>
                        <a:pt x="376" y="456"/>
                      </a:lnTo>
                      <a:lnTo>
                        <a:pt x="375" y="126"/>
                      </a:lnTo>
                      <a:close/>
                    </a:path>
                  </a:pathLst>
                </a:custGeom>
                <a:solidFill>
                  <a:schemeClr val="bg1"/>
                </a:solidFill>
                <a:ln w="3175">
                  <a:solidFill>
                    <a:srgbClr val="C0C0C0"/>
                  </a:solidFill>
                  <a:round/>
                  <a:headEnd/>
                  <a:tailEnd/>
                </a:ln>
              </p:spPr>
              <p:txBody>
                <a:bodyPr/>
                <a:lstStyle/>
                <a:p>
                  <a:endParaRPr lang="fr-FR" dirty="0">
                    <a:solidFill>
                      <a:prstClr val="black"/>
                    </a:solidFill>
                    <a:latin typeface="HP Simplified"/>
                  </a:endParaRPr>
                </a:p>
              </p:txBody>
            </p:sp>
            <p:sp>
              <p:nvSpPr>
                <p:cNvPr id="130" name="Freeform 280"/>
                <p:cNvSpPr>
                  <a:spLocks/>
                </p:cNvSpPr>
                <p:nvPr/>
              </p:nvSpPr>
              <p:spPr bwMode="auto">
                <a:xfrm>
                  <a:off x="3654" y="3032"/>
                  <a:ext cx="391" cy="714"/>
                </a:xfrm>
                <a:custGeom>
                  <a:avLst/>
                  <a:gdLst>
                    <a:gd name="T0" fmla="*/ 0 w 391"/>
                    <a:gd name="T1" fmla="*/ 131 h 714"/>
                    <a:gd name="T2" fmla="*/ 391 w 391"/>
                    <a:gd name="T3" fmla="*/ 0 h 714"/>
                    <a:gd name="T4" fmla="*/ 390 w 391"/>
                    <a:gd name="T5" fmla="*/ 582 h 714"/>
                    <a:gd name="T6" fmla="*/ 0 w 391"/>
                    <a:gd name="T7" fmla="*/ 714 h 714"/>
                    <a:gd name="T8" fmla="*/ 0 w 391"/>
                    <a:gd name="T9" fmla="*/ 131 h 714"/>
                    <a:gd name="T10" fmla="*/ 0 60000 65536"/>
                    <a:gd name="T11" fmla="*/ 0 60000 65536"/>
                    <a:gd name="T12" fmla="*/ 0 60000 65536"/>
                    <a:gd name="T13" fmla="*/ 0 60000 65536"/>
                    <a:gd name="T14" fmla="*/ 0 60000 65536"/>
                    <a:gd name="T15" fmla="*/ 0 w 391"/>
                    <a:gd name="T16" fmla="*/ 0 h 714"/>
                    <a:gd name="T17" fmla="*/ 391 w 391"/>
                    <a:gd name="T18" fmla="*/ 714 h 714"/>
                  </a:gdLst>
                  <a:ahLst/>
                  <a:cxnLst>
                    <a:cxn ang="T10">
                      <a:pos x="T0" y="T1"/>
                    </a:cxn>
                    <a:cxn ang="T11">
                      <a:pos x="T2" y="T3"/>
                    </a:cxn>
                    <a:cxn ang="T12">
                      <a:pos x="T4" y="T5"/>
                    </a:cxn>
                    <a:cxn ang="T13">
                      <a:pos x="T6" y="T7"/>
                    </a:cxn>
                    <a:cxn ang="T14">
                      <a:pos x="T8" y="T9"/>
                    </a:cxn>
                  </a:cxnLst>
                  <a:rect l="T15" t="T16" r="T17" b="T18"/>
                  <a:pathLst>
                    <a:path w="391" h="714">
                      <a:moveTo>
                        <a:pt x="0" y="131"/>
                      </a:moveTo>
                      <a:lnTo>
                        <a:pt x="391" y="0"/>
                      </a:lnTo>
                      <a:lnTo>
                        <a:pt x="390" y="582"/>
                      </a:lnTo>
                      <a:lnTo>
                        <a:pt x="0" y="714"/>
                      </a:lnTo>
                      <a:lnTo>
                        <a:pt x="0" y="131"/>
                      </a:lnTo>
                      <a:close/>
                    </a:path>
                  </a:pathLst>
                </a:custGeom>
                <a:solidFill>
                  <a:schemeClr val="bg1"/>
                </a:solidFill>
                <a:ln w="3175">
                  <a:solidFill>
                    <a:srgbClr val="C0C0C0"/>
                  </a:solidFill>
                  <a:round/>
                  <a:headEnd/>
                  <a:tailEnd/>
                </a:ln>
              </p:spPr>
              <p:txBody>
                <a:bodyPr/>
                <a:lstStyle/>
                <a:p>
                  <a:endParaRPr lang="fr-FR" dirty="0">
                    <a:solidFill>
                      <a:prstClr val="black"/>
                    </a:solidFill>
                    <a:latin typeface="HP Simplified"/>
                  </a:endParaRPr>
                </a:p>
              </p:txBody>
            </p:sp>
            <p:pic>
              <p:nvPicPr>
                <p:cNvPr id="131" name="Picture 281"/>
                <p:cNvPicPr>
                  <a:picLocks noChangeAspect="1" noChangeArrowheads="1"/>
                </p:cNvPicPr>
                <p:nvPr/>
              </p:nvPicPr>
              <p:blipFill>
                <a:blip r:embed="rId9" cstate="print">
                  <a:lum bright="12000"/>
                </a:blip>
                <a:srcRect/>
                <a:stretch>
                  <a:fillRect/>
                </a:stretch>
              </p:blipFill>
              <p:spPr bwMode="auto">
                <a:xfrm>
                  <a:off x="3666" y="3639"/>
                  <a:ext cx="347" cy="365"/>
                </a:xfrm>
                <a:prstGeom prst="rect">
                  <a:avLst/>
                </a:prstGeom>
                <a:noFill/>
                <a:ln w="3175">
                  <a:noFill/>
                  <a:miter lim="800000"/>
                  <a:headEnd/>
                  <a:tailEnd/>
                </a:ln>
              </p:spPr>
            </p:pic>
          </p:grpSp>
          <p:pic>
            <p:nvPicPr>
              <p:cNvPr id="121" name="Picture 282"/>
              <p:cNvPicPr>
                <a:picLocks noChangeAspect="1" noChangeArrowheads="1"/>
              </p:cNvPicPr>
              <p:nvPr/>
            </p:nvPicPr>
            <p:blipFill>
              <a:blip r:embed="rId10" cstate="print"/>
              <a:srcRect/>
              <a:stretch>
                <a:fillRect/>
              </a:stretch>
            </p:blipFill>
            <p:spPr bwMode="auto">
              <a:xfrm>
                <a:off x="3678" y="3142"/>
                <a:ext cx="326" cy="537"/>
              </a:xfrm>
              <a:prstGeom prst="rect">
                <a:avLst/>
              </a:prstGeom>
              <a:noFill/>
              <a:ln w="3175">
                <a:noFill/>
                <a:miter lim="800000"/>
                <a:headEnd/>
                <a:tailEnd/>
              </a:ln>
            </p:spPr>
          </p:pic>
        </p:grpSp>
        <p:sp>
          <p:nvSpPr>
            <p:cNvPr id="119" name="TextBox 118"/>
            <p:cNvSpPr txBox="1"/>
            <p:nvPr/>
          </p:nvSpPr>
          <p:spPr>
            <a:xfrm>
              <a:off x="7878179" y="5050255"/>
              <a:ext cx="946674" cy="616646"/>
            </a:xfrm>
            <a:prstGeom prst="rect">
              <a:avLst/>
            </a:prstGeom>
            <a:noFill/>
          </p:spPr>
          <p:txBody>
            <a:bodyPr wrap="square" rtlCol="0" anchor="ctr">
              <a:spAutoFit/>
            </a:bodyPr>
            <a:lstStyle/>
            <a:p>
              <a:pPr algn="ctr"/>
              <a:r>
                <a:rPr lang="en-US" sz="1100" b="1" dirty="0" smtClean="0">
                  <a:solidFill>
                    <a:srgbClr val="FF0000"/>
                  </a:solidFill>
                  <a:latin typeface="HP Simplified"/>
                </a:rPr>
                <a:t>Complete Unit “C”</a:t>
              </a:r>
            </a:p>
          </p:txBody>
        </p:sp>
      </p:grpSp>
      <p:grpSp>
        <p:nvGrpSpPr>
          <p:cNvPr id="147" name="Group 405"/>
          <p:cNvGrpSpPr/>
          <p:nvPr/>
        </p:nvGrpSpPr>
        <p:grpSpPr>
          <a:xfrm>
            <a:off x="2045042" y="2528715"/>
            <a:ext cx="758824" cy="342899"/>
            <a:chOff x="384175" y="3905250"/>
            <a:chExt cx="911225" cy="683122"/>
          </a:xfrm>
        </p:grpSpPr>
        <p:pic>
          <p:nvPicPr>
            <p:cNvPr id="148" name="Picture 527"/>
            <p:cNvPicPr>
              <a:picLocks noChangeAspect="1" noChangeArrowheads="1"/>
            </p:cNvPicPr>
            <p:nvPr/>
          </p:nvPicPr>
          <p:blipFill>
            <a:blip r:embed="rId11" cstate="print">
              <a:clrChange>
                <a:clrFrom>
                  <a:srgbClr val="FFFFFF"/>
                </a:clrFrom>
                <a:clrTo>
                  <a:srgbClr val="FFFFFF">
                    <a:alpha val="0"/>
                  </a:srgbClr>
                </a:clrTo>
              </a:clrChange>
            </a:blip>
            <a:srcRect t="55989"/>
            <a:stretch>
              <a:fillRect/>
            </a:stretch>
          </p:blipFill>
          <p:spPr bwMode="auto">
            <a:xfrm>
              <a:off x="384175" y="3905250"/>
              <a:ext cx="739775" cy="295485"/>
            </a:xfrm>
            <a:prstGeom prst="rect">
              <a:avLst/>
            </a:prstGeom>
            <a:noFill/>
            <a:ln w="3175" algn="ctr">
              <a:noFill/>
              <a:miter lim="800000"/>
              <a:headEnd/>
              <a:tailEnd/>
            </a:ln>
          </p:spPr>
        </p:pic>
        <p:pic>
          <p:nvPicPr>
            <p:cNvPr id="149" name="Picture 528"/>
            <p:cNvPicPr>
              <a:picLocks noChangeAspect="1" noChangeArrowheads="1"/>
            </p:cNvPicPr>
            <p:nvPr/>
          </p:nvPicPr>
          <p:blipFill>
            <a:blip r:embed="rId11" cstate="print">
              <a:clrChange>
                <a:clrFrom>
                  <a:srgbClr val="FFFFFF"/>
                </a:clrFrom>
                <a:clrTo>
                  <a:srgbClr val="FFFFFF">
                    <a:alpha val="0"/>
                  </a:srgbClr>
                </a:clrTo>
              </a:clrChange>
            </a:blip>
            <a:srcRect l="14616" t="25752" b="43532"/>
            <a:stretch>
              <a:fillRect/>
            </a:stretch>
          </p:blipFill>
          <p:spPr bwMode="auto">
            <a:xfrm>
              <a:off x="452439" y="4381500"/>
              <a:ext cx="633412" cy="206872"/>
            </a:xfrm>
            <a:prstGeom prst="rect">
              <a:avLst/>
            </a:prstGeom>
            <a:noFill/>
            <a:ln w="3175" algn="ctr">
              <a:noFill/>
              <a:miter lim="800000"/>
              <a:headEnd/>
              <a:tailEnd/>
            </a:ln>
          </p:spPr>
        </p:pic>
        <p:pic>
          <p:nvPicPr>
            <p:cNvPr id="150" name="Picture 7"/>
            <p:cNvPicPr>
              <a:picLocks noChangeAspect="1" noChangeArrowheads="1"/>
            </p:cNvPicPr>
            <p:nvPr/>
          </p:nvPicPr>
          <p:blipFill>
            <a:blip r:embed="rId11">
              <a:clrChange>
                <a:clrFrom>
                  <a:srgbClr val="FFFFFF"/>
                </a:clrFrom>
                <a:clrTo>
                  <a:srgbClr val="FFFFFF">
                    <a:alpha val="0"/>
                  </a:srgbClr>
                </a:clrTo>
              </a:clrChange>
            </a:blip>
            <a:srcRect l="20464" t="804" b="72504"/>
            <a:stretch>
              <a:fillRect/>
            </a:stretch>
          </p:blipFill>
          <p:spPr bwMode="auto">
            <a:xfrm>
              <a:off x="761849" y="4191000"/>
              <a:ext cx="533551" cy="188650"/>
            </a:xfrm>
            <a:prstGeom prst="rect">
              <a:avLst/>
            </a:prstGeom>
            <a:noFill/>
            <a:ln w="3175" algn="ctr">
              <a:noFill/>
              <a:miter lim="800000"/>
              <a:headEnd/>
              <a:tailEnd/>
            </a:ln>
            <a:effectLst/>
          </p:spPr>
        </p:pic>
      </p:grpSp>
      <p:sp>
        <p:nvSpPr>
          <p:cNvPr id="151" name="TextBox 150"/>
          <p:cNvSpPr txBox="1"/>
          <p:nvPr/>
        </p:nvSpPr>
        <p:spPr>
          <a:xfrm>
            <a:off x="2678752" y="3261394"/>
            <a:ext cx="946673" cy="261610"/>
          </a:xfrm>
          <a:prstGeom prst="rect">
            <a:avLst/>
          </a:prstGeom>
          <a:noFill/>
        </p:spPr>
        <p:txBody>
          <a:bodyPr wrap="square" rtlCol="0" anchor="ctr">
            <a:spAutoFit/>
          </a:bodyPr>
          <a:lstStyle/>
          <a:p>
            <a:pPr algn="ctr"/>
            <a:r>
              <a:rPr lang="en-US" sz="1100" b="1" dirty="0" smtClean="0">
                <a:solidFill>
                  <a:srgbClr val="FF0000"/>
                </a:solidFill>
                <a:latin typeface="HP Simplified"/>
              </a:rPr>
              <a:t>“B” Parts</a:t>
            </a:r>
          </a:p>
        </p:txBody>
      </p:sp>
      <p:sp>
        <p:nvSpPr>
          <p:cNvPr id="152" name="TextBox 151"/>
          <p:cNvSpPr txBox="1"/>
          <p:nvPr/>
        </p:nvSpPr>
        <p:spPr>
          <a:xfrm>
            <a:off x="5647677" y="1201016"/>
            <a:ext cx="1011219" cy="276999"/>
          </a:xfrm>
          <a:prstGeom prst="rect">
            <a:avLst/>
          </a:prstGeom>
          <a:noFill/>
        </p:spPr>
        <p:txBody>
          <a:bodyPr wrap="square" rtlCol="0" anchor="ctr">
            <a:spAutoFit/>
          </a:bodyPr>
          <a:lstStyle/>
          <a:p>
            <a:pPr algn="ctr"/>
            <a:r>
              <a:rPr lang="en-US" sz="1200" dirty="0" smtClean="0">
                <a:solidFill>
                  <a:prstClr val="black"/>
                </a:solidFill>
                <a:latin typeface="HP Simplified"/>
              </a:rPr>
              <a:t>1 day</a:t>
            </a:r>
          </a:p>
        </p:txBody>
      </p:sp>
      <p:sp>
        <p:nvSpPr>
          <p:cNvPr id="153" name="Freeform 152"/>
          <p:cNvSpPr/>
          <p:nvPr/>
        </p:nvSpPr>
        <p:spPr>
          <a:xfrm>
            <a:off x="2777715" y="2626744"/>
            <a:ext cx="1542657" cy="1235532"/>
          </a:xfrm>
          <a:custGeom>
            <a:avLst/>
            <a:gdLst>
              <a:gd name="connsiteX0" fmla="*/ 0 w 2302136"/>
              <a:gd name="connsiteY0" fmla="*/ 0 h 2000922"/>
              <a:gd name="connsiteX1" fmla="*/ 1194099 w 2302136"/>
              <a:gd name="connsiteY1" fmla="*/ 1366221 h 2000922"/>
              <a:gd name="connsiteX2" fmla="*/ 2302136 w 2302136"/>
              <a:gd name="connsiteY2" fmla="*/ 2000922 h 2000922"/>
            </a:gdLst>
            <a:ahLst/>
            <a:cxnLst>
              <a:cxn ang="0">
                <a:pos x="connsiteX0" y="connsiteY0"/>
              </a:cxn>
              <a:cxn ang="0">
                <a:pos x="connsiteX1" y="connsiteY1"/>
              </a:cxn>
              <a:cxn ang="0">
                <a:pos x="connsiteX2" y="connsiteY2"/>
              </a:cxn>
            </a:cxnLst>
            <a:rect l="l" t="t" r="r" b="b"/>
            <a:pathLst>
              <a:path w="2302136" h="2000922">
                <a:moveTo>
                  <a:pt x="0" y="0"/>
                </a:moveTo>
                <a:cubicBezTo>
                  <a:pt x="405205" y="516367"/>
                  <a:pt x="810410" y="1032734"/>
                  <a:pt x="1194099" y="1366221"/>
                </a:cubicBezTo>
                <a:cubicBezTo>
                  <a:pt x="1577788" y="1699708"/>
                  <a:pt x="2054710" y="1923826"/>
                  <a:pt x="2302136" y="2000922"/>
                </a:cubicBezTo>
              </a:path>
            </a:pathLst>
          </a:custGeom>
          <a:ln w="28575">
            <a:solidFill>
              <a:srgbClr val="0000FF">
                <a:alpha val="41000"/>
              </a:srgb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prstClr val="black"/>
              </a:solidFill>
            </a:endParaRPr>
          </a:p>
        </p:txBody>
      </p:sp>
      <p:grpSp>
        <p:nvGrpSpPr>
          <p:cNvPr id="154" name="Group 9"/>
          <p:cNvGrpSpPr/>
          <p:nvPr/>
        </p:nvGrpSpPr>
        <p:grpSpPr>
          <a:xfrm>
            <a:off x="4114440" y="2199511"/>
            <a:ext cx="880254" cy="537281"/>
            <a:chOff x="3756923" y="3866807"/>
            <a:chExt cx="3395991" cy="2474623"/>
          </a:xfrm>
        </p:grpSpPr>
        <p:sp>
          <p:nvSpPr>
            <p:cNvPr id="155" name="AutoShape 9"/>
            <p:cNvSpPr>
              <a:spLocks noChangeArrowheads="1"/>
            </p:cNvSpPr>
            <p:nvPr/>
          </p:nvSpPr>
          <p:spPr bwMode="auto">
            <a:xfrm rot="5400000">
              <a:off x="5099822" y="3911301"/>
              <a:ext cx="1750945" cy="1663576"/>
            </a:xfrm>
            <a:prstGeom prst="parallelogram">
              <a:avLst>
                <a:gd name="adj" fmla="val 33687"/>
              </a:avLst>
            </a:prstGeom>
            <a:solidFill>
              <a:srgbClr val="FFCC99"/>
            </a:solidFill>
            <a:ln w="3175">
              <a:solidFill>
                <a:schemeClr val="tx1"/>
              </a:solidFill>
              <a:miter lim="800000"/>
              <a:headEnd/>
              <a:tailEnd/>
            </a:ln>
            <a:effectLst/>
          </p:spPr>
          <p:txBody>
            <a:bodyPr wrap="none" anchor="ctr"/>
            <a:lstStyle/>
            <a:p>
              <a:endParaRPr lang="en-US" dirty="0">
                <a:solidFill>
                  <a:prstClr val="black"/>
                </a:solidFill>
                <a:latin typeface="HP Simplified"/>
              </a:endParaRPr>
            </a:p>
          </p:txBody>
        </p:sp>
        <p:sp>
          <p:nvSpPr>
            <p:cNvPr id="156" name="AutoShape 10"/>
            <p:cNvSpPr>
              <a:spLocks noChangeArrowheads="1"/>
            </p:cNvSpPr>
            <p:nvPr/>
          </p:nvSpPr>
          <p:spPr bwMode="auto">
            <a:xfrm rot="16200000" flipH="1">
              <a:off x="3629004" y="3995536"/>
              <a:ext cx="1648901" cy="1391443"/>
            </a:xfrm>
            <a:prstGeom prst="parallelogram">
              <a:avLst>
                <a:gd name="adj" fmla="val 33594"/>
              </a:avLst>
            </a:prstGeom>
            <a:solidFill>
              <a:srgbClr val="FFCC99"/>
            </a:solidFill>
            <a:ln w="3175">
              <a:solidFill>
                <a:schemeClr val="tx1"/>
              </a:solidFill>
              <a:miter lim="800000"/>
              <a:headEnd/>
              <a:tailEnd/>
            </a:ln>
            <a:effectLst/>
          </p:spPr>
          <p:txBody>
            <a:bodyPr wrap="none" anchor="ctr"/>
            <a:lstStyle/>
            <a:p>
              <a:endParaRPr lang="en-US" dirty="0">
                <a:solidFill>
                  <a:prstClr val="black"/>
                </a:solidFill>
                <a:latin typeface="HP Simplified"/>
              </a:endParaRPr>
            </a:p>
          </p:txBody>
        </p:sp>
        <p:sp>
          <p:nvSpPr>
            <p:cNvPr id="157" name="Line 11"/>
            <p:cNvSpPr>
              <a:spLocks noChangeShapeType="1"/>
            </p:cNvSpPr>
            <p:nvPr/>
          </p:nvSpPr>
          <p:spPr bwMode="auto">
            <a:xfrm>
              <a:off x="4434016" y="4117058"/>
              <a:ext cx="0" cy="715927"/>
            </a:xfrm>
            <a:prstGeom prst="line">
              <a:avLst/>
            </a:prstGeom>
            <a:noFill/>
            <a:ln w="3175">
              <a:solidFill>
                <a:schemeClr val="tx1"/>
              </a:solidFill>
              <a:round/>
              <a:headEnd/>
              <a:tailEnd/>
            </a:ln>
            <a:effectLst/>
          </p:spPr>
          <p:txBody>
            <a:bodyPr/>
            <a:lstStyle/>
            <a:p>
              <a:endParaRPr lang="en-US" dirty="0">
                <a:solidFill>
                  <a:prstClr val="black"/>
                </a:solidFill>
                <a:latin typeface="HP Simplified"/>
              </a:endParaRPr>
            </a:p>
          </p:txBody>
        </p:sp>
        <p:sp>
          <p:nvSpPr>
            <p:cNvPr id="158" name="Line 12"/>
            <p:cNvSpPr>
              <a:spLocks noChangeShapeType="1"/>
            </p:cNvSpPr>
            <p:nvPr/>
          </p:nvSpPr>
          <p:spPr bwMode="auto">
            <a:xfrm>
              <a:off x="4401620" y="4131635"/>
              <a:ext cx="0" cy="715927"/>
            </a:xfrm>
            <a:prstGeom prst="line">
              <a:avLst/>
            </a:prstGeom>
            <a:noFill/>
            <a:ln w="3175">
              <a:solidFill>
                <a:schemeClr val="tx1"/>
              </a:solidFill>
              <a:round/>
              <a:headEnd/>
              <a:tailEnd/>
            </a:ln>
            <a:effectLst/>
          </p:spPr>
          <p:txBody>
            <a:bodyPr/>
            <a:lstStyle/>
            <a:p>
              <a:endParaRPr lang="en-US" dirty="0">
                <a:solidFill>
                  <a:prstClr val="black"/>
                </a:solidFill>
                <a:latin typeface="HP Simplified"/>
              </a:endParaRPr>
            </a:p>
          </p:txBody>
        </p:sp>
        <p:pic>
          <p:nvPicPr>
            <p:cNvPr id="159" name="Picture 68"/>
            <p:cNvPicPr>
              <a:picLocks noChangeAspect="1" noChangeArrowheads="1"/>
            </p:cNvPicPr>
            <p:nvPr/>
          </p:nvPicPr>
          <p:blipFill>
            <a:blip r:embed="rId12" cstate="print"/>
            <a:srcRect/>
            <a:stretch>
              <a:fillRect/>
            </a:stretch>
          </p:blipFill>
          <p:spPr bwMode="auto">
            <a:xfrm>
              <a:off x="3815236" y="3885434"/>
              <a:ext cx="1554480" cy="1671609"/>
            </a:xfrm>
            <a:prstGeom prst="rect">
              <a:avLst/>
            </a:prstGeom>
            <a:noFill/>
            <a:ln w="3175">
              <a:noFill/>
              <a:miter lim="800000"/>
              <a:headEnd/>
              <a:tailEnd/>
            </a:ln>
            <a:effectLst/>
          </p:spPr>
        </p:pic>
        <p:pic>
          <p:nvPicPr>
            <p:cNvPr id="160" name="Picture 70"/>
            <p:cNvPicPr>
              <a:picLocks noChangeAspect="1" noChangeArrowheads="1"/>
            </p:cNvPicPr>
            <p:nvPr/>
          </p:nvPicPr>
          <p:blipFill>
            <a:blip r:embed="rId12" cstate="print"/>
            <a:srcRect/>
            <a:stretch>
              <a:fillRect/>
            </a:stretch>
          </p:blipFill>
          <p:spPr bwMode="auto">
            <a:xfrm>
              <a:off x="4026957" y="3956722"/>
              <a:ext cx="1554480" cy="1671609"/>
            </a:xfrm>
            <a:prstGeom prst="rect">
              <a:avLst/>
            </a:prstGeom>
            <a:noFill/>
            <a:ln w="3175">
              <a:noFill/>
              <a:miter lim="800000"/>
              <a:headEnd/>
              <a:tailEnd/>
            </a:ln>
            <a:effectLst/>
          </p:spPr>
        </p:pic>
        <p:pic>
          <p:nvPicPr>
            <p:cNvPr id="161" name="Picture 72"/>
            <p:cNvPicPr>
              <a:picLocks noChangeAspect="1" noChangeArrowheads="1"/>
            </p:cNvPicPr>
            <p:nvPr/>
          </p:nvPicPr>
          <p:blipFill>
            <a:blip r:embed="rId12" cstate="print"/>
            <a:srcRect/>
            <a:stretch>
              <a:fillRect/>
            </a:stretch>
          </p:blipFill>
          <p:spPr bwMode="auto">
            <a:xfrm>
              <a:off x="4251636" y="4039884"/>
              <a:ext cx="1554480" cy="1671609"/>
            </a:xfrm>
            <a:prstGeom prst="rect">
              <a:avLst/>
            </a:prstGeom>
            <a:noFill/>
            <a:ln w="3175">
              <a:noFill/>
              <a:miter lim="800000"/>
              <a:headEnd/>
              <a:tailEnd/>
            </a:ln>
            <a:effectLst/>
          </p:spPr>
        </p:pic>
        <p:pic>
          <p:nvPicPr>
            <p:cNvPr id="162" name="Picture 74"/>
            <p:cNvPicPr>
              <a:picLocks noChangeAspect="1" noChangeArrowheads="1"/>
            </p:cNvPicPr>
            <p:nvPr/>
          </p:nvPicPr>
          <p:blipFill>
            <a:blip r:embed="rId12" cstate="print"/>
            <a:srcRect/>
            <a:stretch>
              <a:fillRect/>
            </a:stretch>
          </p:blipFill>
          <p:spPr bwMode="auto">
            <a:xfrm>
              <a:off x="4488190" y="4116568"/>
              <a:ext cx="1554480" cy="1671609"/>
            </a:xfrm>
            <a:prstGeom prst="rect">
              <a:avLst/>
            </a:prstGeom>
            <a:noFill/>
            <a:ln w="3175">
              <a:noFill/>
              <a:miter lim="800000"/>
              <a:headEnd/>
              <a:tailEnd/>
            </a:ln>
            <a:effectLst/>
          </p:spPr>
        </p:pic>
        <p:sp>
          <p:nvSpPr>
            <p:cNvPr id="163" name="Freeform 78"/>
            <p:cNvSpPr>
              <a:spLocks/>
            </p:cNvSpPr>
            <p:nvPr/>
          </p:nvSpPr>
          <p:spPr bwMode="auto">
            <a:xfrm>
              <a:off x="3756923" y="4334104"/>
              <a:ext cx="1665196" cy="1741226"/>
            </a:xfrm>
            <a:custGeom>
              <a:avLst/>
              <a:gdLst/>
              <a:ahLst/>
              <a:cxnLst>
                <a:cxn ang="0">
                  <a:pos x="1028" y="1075"/>
                </a:cxn>
                <a:cxn ang="0">
                  <a:pos x="0" y="726"/>
                </a:cxn>
                <a:cxn ang="0">
                  <a:pos x="0" y="0"/>
                </a:cxn>
                <a:cxn ang="0">
                  <a:pos x="109" y="35"/>
                </a:cxn>
                <a:cxn ang="0">
                  <a:pos x="128" y="121"/>
                </a:cxn>
                <a:cxn ang="0">
                  <a:pos x="125" y="210"/>
                </a:cxn>
                <a:cxn ang="0">
                  <a:pos x="180" y="267"/>
                </a:cxn>
                <a:cxn ang="0">
                  <a:pos x="177" y="397"/>
                </a:cxn>
                <a:cxn ang="0">
                  <a:pos x="289" y="497"/>
                </a:cxn>
                <a:cxn ang="0">
                  <a:pos x="310" y="639"/>
                </a:cxn>
                <a:cxn ang="0">
                  <a:pos x="459" y="667"/>
                </a:cxn>
                <a:cxn ang="0">
                  <a:pos x="518" y="731"/>
                </a:cxn>
                <a:cxn ang="0">
                  <a:pos x="672" y="802"/>
                </a:cxn>
                <a:cxn ang="0">
                  <a:pos x="722" y="854"/>
                </a:cxn>
                <a:cxn ang="0">
                  <a:pos x="913" y="908"/>
                </a:cxn>
                <a:cxn ang="0">
                  <a:pos x="1028" y="935"/>
                </a:cxn>
                <a:cxn ang="0">
                  <a:pos x="1028" y="1075"/>
                </a:cxn>
              </a:cxnLst>
              <a:rect l="0" t="0" r="r" b="b"/>
              <a:pathLst>
                <a:path w="1028" h="1075">
                  <a:moveTo>
                    <a:pt x="1028" y="1075"/>
                  </a:moveTo>
                  <a:lnTo>
                    <a:pt x="0" y="726"/>
                  </a:lnTo>
                  <a:lnTo>
                    <a:pt x="0" y="0"/>
                  </a:lnTo>
                  <a:lnTo>
                    <a:pt x="109" y="35"/>
                  </a:lnTo>
                  <a:lnTo>
                    <a:pt x="128" y="121"/>
                  </a:lnTo>
                  <a:lnTo>
                    <a:pt x="125" y="210"/>
                  </a:lnTo>
                  <a:lnTo>
                    <a:pt x="180" y="267"/>
                  </a:lnTo>
                  <a:lnTo>
                    <a:pt x="177" y="397"/>
                  </a:lnTo>
                  <a:lnTo>
                    <a:pt x="289" y="497"/>
                  </a:lnTo>
                  <a:lnTo>
                    <a:pt x="310" y="639"/>
                  </a:lnTo>
                  <a:lnTo>
                    <a:pt x="459" y="667"/>
                  </a:lnTo>
                  <a:lnTo>
                    <a:pt x="518" y="731"/>
                  </a:lnTo>
                  <a:lnTo>
                    <a:pt x="672" y="802"/>
                  </a:lnTo>
                  <a:lnTo>
                    <a:pt x="722" y="854"/>
                  </a:lnTo>
                  <a:lnTo>
                    <a:pt x="913" y="908"/>
                  </a:lnTo>
                  <a:lnTo>
                    <a:pt x="1028" y="935"/>
                  </a:lnTo>
                  <a:lnTo>
                    <a:pt x="1028" y="1075"/>
                  </a:lnTo>
                  <a:close/>
                </a:path>
              </a:pathLst>
            </a:custGeom>
            <a:solidFill>
              <a:srgbClr val="FFCC99"/>
            </a:solidFill>
            <a:ln w="3175" cap="flat" cmpd="sng">
              <a:solidFill>
                <a:schemeClr val="tx1"/>
              </a:solidFill>
              <a:prstDash val="solid"/>
              <a:round/>
              <a:headEnd/>
              <a:tailEnd/>
            </a:ln>
            <a:effectLst/>
          </p:spPr>
          <p:txBody>
            <a:bodyPr/>
            <a:lstStyle/>
            <a:p>
              <a:endParaRPr lang="en-US" dirty="0">
                <a:solidFill>
                  <a:prstClr val="black"/>
                </a:solidFill>
                <a:latin typeface="HP Simplified"/>
              </a:endParaRPr>
            </a:p>
          </p:txBody>
        </p:sp>
        <p:sp>
          <p:nvSpPr>
            <p:cNvPr id="164" name="Freeform 79"/>
            <p:cNvSpPr>
              <a:spLocks/>
            </p:cNvSpPr>
            <p:nvPr/>
          </p:nvSpPr>
          <p:spPr bwMode="auto">
            <a:xfrm flipH="1">
              <a:off x="4663739" y="4181377"/>
              <a:ext cx="1388203" cy="1644041"/>
            </a:xfrm>
            <a:custGeom>
              <a:avLst/>
              <a:gdLst/>
              <a:ahLst/>
              <a:cxnLst>
                <a:cxn ang="0">
                  <a:pos x="0" y="0"/>
                </a:cxn>
                <a:cxn ang="0">
                  <a:pos x="0" y="924"/>
                </a:cxn>
                <a:cxn ang="0">
                  <a:pos x="1086" y="1287"/>
                </a:cxn>
                <a:cxn ang="0">
                  <a:pos x="1086" y="1086"/>
                </a:cxn>
                <a:cxn ang="0">
                  <a:pos x="939" y="945"/>
                </a:cxn>
                <a:cxn ang="0">
                  <a:pos x="762" y="930"/>
                </a:cxn>
                <a:cxn ang="0">
                  <a:pos x="705" y="840"/>
                </a:cxn>
                <a:cxn ang="0">
                  <a:pos x="588" y="825"/>
                </a:cxn>
                <a:cxn ang="0">
                  <a:pos x="519" y="720"/>
                </a:cxn>
                <a:cxn ang="0">
                  <a:pos x="324" y="720"/>
                </a:cxn>
                <a:cxn ang="0">
                  <a:pos x="333" y="489"/>
                </a:cxn>
                <a:cxn ang="0">
                  <a:pos x="177" y="366"/>
                </a:cxn>
                <a:cxn ang="0">
                  <a:pos x="231" y="240"/>
                </a:cxn>
                <a:cxn ang="0">
                  <a:pos x="177" y="165"/>
                </a:cxn>
                <a:cxn ang="0">
                  <a:pos x="156" y="51"/>
                </a:cxn>
                <a:cxn ang="0">
                  <a:pos x="0" y="0"/>
                </a:cxn>
              </a:cxnLst>
              <a:rect l="0" t="0" r="r" b="b"/>
              <a:pathLst>
                <a:path w="1086" h="1287">
                  <a:moveTo>
                    <a:pt x="0" y="0"/>
                  </a:moveTo>
                  <a:lnTo>
                    <a:pt x="0" y="924"/>
                  </a:lnTo>
                  <a:lnTo>
                    <a:pt x="1086" y="1287"/>
                  </a:lnTo>
                  <a:lnTo>
                    <a:pt x="1086" y="1086"/>
                  </a:lnTo>
                  <a:lnTo>
                    <a:pt x="939" y="945"/>
                  </a:lnTo>
                  <a:lnTo>
                    <a:pt x="762" y="930"/>
                  </a:lnTo>
                  <a:lnTo>
                    <a:pt x="705" y="840"/>
                  </a:lnTo>
                  <a:lnTo>
                    <a:pt x="588" y="825"/>
                  </a:lnTo>
                  <a:lnTo>
                    <a:pt x="519" y="720"/>
                  </a:lnTo>
                  <a:lnTo>
                    <a:pt x="324" y="720"/>
                  </a:lnTo>
                  <a:lnTo>
                    <a:pt x="333" y="489"/>
                  </a:lnTo>
                  <a:lnTo>
                    <a:pt x="177" y="366"/>
                  </a:lnTo>
                  <a:lnTo>
                    <a:pt x="231" y="240"/>
                  </a:lnTo>
                  <a:lnTo>
                    <a:pt x="177" y="165"/>
                  </a:lnTo>
                  <a:lnTo>
                    <a:pt x="156" y="51"/>
                  </a:lnTo>
                  <a:lnTo>
                    <a:pt x="0" y="0"/>
                  </a:lnTo>
                  <a:close/>
                </a:path>
              </a:pathLst>
            </a:custGeom>
            <a:solidFill>
              <a:srgbClr val="FFCC99"/>
            </a:solidFill>
            <a:ln w="3175" cap="flat" cmpd="sng">
              <a:solidFill>
                <a:schemeClr val="tx1"/>
              </a:solidFill>
              <a:prstDash val="solid"/>
              <a:round/>
              <a:headEnd/>
              <a:tailEnd/>
            </a:ln>
            <a:effectLst/>
          </p:spPr>
          <p:txBody>
            <a:bodyPr/>
            <a:lstStyle/>
            <a:p>
              <a:endParaRPr lang="en-US" dirty="0">
                <a:solidFill>
                  <a:prstClr val="black"/>
                </a:solidFill>
                <a:latin typeface="HP Simplified"/>
              </a:endParaRPr>
            </a:p>
          </p:txBody>
        </p:sp>
        <p:sp>
          <p:nvSpPr>
            <p:cNvPr id="165" name="Rectangle 164"/>
            <p:cNvSpPr/>
            <p:nvPr/>
          </p:nvSpPr>
          <p:spPr>
            <a:xfrm rot="20494381">
              <a:off x="4010301" y="5825955"/>
              <a:ext cx="1493678" cy="515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smtClean="0">
                <a:solidFill>
                  <a:prstClr val="black"/>
                </a:solidFill>
              </a:endParaRPr>
            </a:p>
          </p:txBody>
        </p:sp>
        <p:sp>
          <p:nvSpPr>
            <p:cNvPr id="166" name="Rectangle 165"/>
            <p:cNvSpPr/>
            <p:nvPr/>
          </p:nvSpPr>
          <p:spPr>
            <a:xfrm rot="16200000">
              <a:off x="5863708" y="4380424"/>
              <a:ext cx="1493678" cy="1084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smtClean="0">
                <a:solidFill>
                  <a:prstClr val="black"/>
                </a:solidFill>
              </a:endParaRPr>
            </a:p>
          </p:txBody>
        </p:sp>
      </p:grpSp>
      <p:sp>
        <p:nvSpPr>
          <p:cNvPr id="185" name="Rounded Rectangle 184"/>
          <p:cNvSpPr/>
          <p:nvPr/>
        </p:nvSpPr>
        <p:spPr>
          <a:xfrm>
            <a:off x="533415" y="3807676"/>
            <a:ext cx="2307701" cy="872333"/>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200" b="1" dirty="0" smtClean="0">
                <a:solidFill>
                  <a:srgbClr val="FF0000"/>
                </a:solidFill>
              </a:rPr>
              <a:t>A + B = C</a:t>
            </a:r>
          </a:p>
          <a:p>
            <a:pPr algn="ctr" defTabSz="914400" fontAlgn="base">
              <a:spcBef>
                <a:spcPct val="0"/>
              </a:spcBef>
              <a:spcAft>
                <a:spcPct val="0"/>
              </a:spcAft>
            </a:pPr>
            <a:r>
              <a:rPr lang="en-US" sz="1200" b="1" dirty="0" smtClean="0">
                <a:solidFill>
                  <a:srgbClr val="FF0000"/>
                </a:solidFill>
              </a:rPr>
              <a:t>“C” = FG Notebook</a:t>
            </a:r>
          </a:p>
          <a:p>
            <a:pPr algn="ctr" defTabSz="914400" fontAlgn="base">
              <a:spcBef>
                <a:spcPct val="0"/>
              </a:spcBef>
              <a:spcAft>
                <a:spcPct val="0"/>
              </a:spcAft>
            </a:pPr>
            <a:r>
              <a:rPr lang="en-US" sz="1200" b="1" dirty="0" smtClean="0">
                <a:solidFill>
                  <a:srgbClr val="FF0000"/>
                </a:solidFill>
              </a:rPr>
              <a:t>“B” = Postponement Parts</a:t>
            </a:r>
          </a:p>
          <a:p>
            <a:pPr algn="ctr" defTabSz="914400" fontAlgn="base">
              <a:spcBef>
                <a:spcPct val="0"/>
              </a:spcBef>
              <a:spcAft>
                <a:spcPct val="0"/>
              </a:spcAft>
            </a:pPr>
            <a:r>
              <a:rPr lang="en-US" sz="1200" b="1" dirty="0" smtClean="0">
                <a:solidFill>
                  <a:srgbClr val="FF0000"/>
                </a:solidFill>
              </a:rPr>
              <a:t>“A” = NB w/o B</a:t>
            </a:r>
          </a:p>
        </p:txBody>
      </p:sp>
      <p:sp>
        <p:nvSpPr>
          <p:cNvPr id="167" name="Rounded Rectangle 16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9</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29008564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Preliminary Schedule – Requires review with ODMs</a:t>
            </a:r>
          </a:p>
        </p:txBody>
      </p:sp>
      <p:sp>
        <p:nvSpPr>
          <p:cNvPr id="2" name="Title 1"/>
          <p:cNvSpPr>
            <a:spLocks noGrp="1"/>
          </p:cNvSpPr>
          <p:nvPr>
            <p:ph type="title"/>
          </p:nvPr>
        </p:nvSpPr>
        <p:spPr/>
        <p:txBody>
          <a:bodyPr/>
          <a:lstStyle/>
          <a:p>
            <a:r>
              <a:rPr lang="en-US" dirty="0" smtClean="0"/>
              <a:t>LT </a:t>
            </a:r>
            <a:r>
              <a:rPr lang="en-US" dirty="0" err="1" smtClean="0"/>
              <a:t>BSaM</a:t>
            </a:r>
            <a:r>
              <a:rPr lang="en-US" dirty="0" smtClean="0"/>
              <a:t> Project Schedule</a:t>
            </a:r>
            <a:br>
              <a:rPr lang="en-US" dirty="0" smtClean="0"/>
            </a:br>
            <a:endParaRPr lang="en-US" sz="2000" dirty="0"/>
          </a:p>
        </p:txBody>
      </p:sp>
      <p:sp>
        <p:nvSpPr>
          <p:cNvPr id="6" name="Slide Number Placeholder 5"/>
          <p:cNvSpPr>
            <a:spLocks noGrp="1"/>
          </p:cNvSpPr>
          <p:nvPr>
            <p:ph type="sldNum" sz="quarter" idx="4294967295"/>
          </p:nvPr>
        </p:nvSpPr>
        <p:spPr>
          <a:xfrm>
            <a:off x="7010400" y="4942581"/>
            <a:ext cx="2133600" cy="274637"/>
          </a:xfrm>
          <a:prstGeom prst="rect">
            <a:avLst/>
          </a:prstGeom>
        </p:spPr>
        <p:txBody>
          <a:bodyPr/>
          <a:lstStyle/>
          <a:p>
            <a:pPr>
              <a:defRPr/>
            </a:pPr>
            <a:fld id="{35F75D6F-272E-4811-8F6B-E4C2FF79A0E7}" type="slidenum">
              <a:rPr lang="en-US" smtClean="0">
                <a:solidFill>
                  <a:prstClr val="black">
                    <a:tint val="75000"/>
                  </a:prstClr>
                </a:solidFill>
              </a:rPr>
              <a:pPr>
                <a:defRPr/>
              </a:pPr>
              <a:t>11</a:t>
            </a:fld>
            <a:endParaRPr lang="en-US" dirty="0">
              <a:solidFill>
                <a:prstClr val="black">
                  <a:tint val="75000"/>
                </a:prstClr>
              </a:solidFill>
            </a:endParaRP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31908" y="1133284"/>
            <a:ext cx="8383587" cy="34615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Rounded Rectangle 6"/>
          <p:cNvSpPr/>
          <p:nvPr/>
        </p:nvSpPr>
        <p:spPr>
          <a:xfrm>
            <a:off x="2257425" y="1635921"/>
            <a:ext cx="457200" cy="178594"/>
          </a:xfrm>
          <a:prstGeom prst="roundRect">
            <a:avLst/>
          </a:prstGeom>
          <a:gradFill flip="none" rotWithShape="1">
            <a:gsLst>
              <a:gs pos="0">
                <a:srgbClr val="8488C4"/>
              </a:gs>
              <a:gs pos="53000">
                <a:srgbClr val="D4DEFF"/>
              </a:gs>
              <a:gs pos="83000">
                <a:srgbClr val="D4DEFF"/>
              </a:gs>
              <a:gs pos="100000">
                <a:srgbClr val="96AB94"/>
              </a:gs>
            </a:gsLst>
            <a:lin ang="5400000" scaled="1"/>
            <a:tileRect/>
          </a:gra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11" name="Rounded Rectangle 10"/>
          <p:cNvSpPr/>
          <p:nvPr/>
        </p:nvSpPr>
        <p:spPr>
          <a:xfrm>
            <a:off x="2724150" y="2058831"/>
            <a:ext cx="1181100" cy="178594"/>
          </a:xfrm>
          <a:prstGeom prst="roundRect">
            <a:avLst/>
          </a:prstGeom>
          <a:gradFill flip="none" rotWithShape="1">
            <a:gsLst>
              <a:gs pos="0">
                <a:srgbClr val="8488C4"/>
              </a:gs>
              <a:gs pos="53000">
                <a:srgbClr val="D4DEFF"/>
              </a:gs>
              <a:gs pos="83000">
                <a:srgbClr val="D4DEFF"/>
              </a:gs>
              <a:gs pos="100000">
                <a:srgbClr val="96AB94"/>
              </a:gs>
            </a:gsLst>
            <a:lin ang="5400000" scaled="1"/>
            <a:tileRect/>
          </a:gra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12" name="Rounded Rectangle 11"/>
          <p:cNvSpPr/>
          <p:nvPr/>
        </p:nvSpPr>
        <p:spPr>
          <a:xfrm>
            <a:off x="3676771" y="2511744"/>
            <a:ext cx="1209675" cy="178594"/>
          </a:xfrm>
          <a:prstGeom prst="roundRect">
            <a:avLst/>
          </a:prstGeom>
          <a:gradFill flip="none" rotWithShape="1">
            <a:gsLst>
              <a:gs pos="0">
                <a:srgbClr val="8488C4"/>
              </a:gs>
              <a:gs pos="53000">
                <a:srgbClr val="D4DEFF"/>
              </a:gs>
              <a:gs pos="83000">
                <a:srgbClr val="D4DEFF"/>
              </a:gs>
              <a:gs pos="100000">
                <a:srgbClr val="96AB94"/>
              </a:gs>
            </a:gsLst>
            <a:lin ang="5400000" scaled="1"/>
            <a:tileRect/>
          </a:gra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13" name="Rounded Rectangle 12"/>
          <p:cNvSpPr/>
          <p:nvPr/>
        </p:nvSpPr>
        <p:spPr>
          <a:xfrm>
            <a:off x="4533118" y="2926080"/>
            <a:ext cx="1058069" cy="178594"/>
          </a:xfrm>
          <a:prstGeom prst="roundRect">
            <a:avLst/>
          </a:prstGeom>
          <a:gradFill flip="none" rotWithShape="1">
            <a:gsLst>
              <a:gs pos="0">
                <a:srgbClr val="8488C4"/>
              </a:gs>
              <a:gs pos="53000">
                <a:srgbClr val="D4DEFF"/>
              </a:gs>
              <a:gs pos="83000">
                <a:srgbClr val="D4DEFF"/>
              </a:gs>
              <a:gs pos="100000">
                <a:srgbClr val="96AB94"/>
              </a:gs>
            </a:gsLst>
            <a:lin ang="5400000" scaled="1"/>
            <a:tileRect/>
          </a:gra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14" name="Rounded Rectangle 13"/>
          <p:cNvSpPr/>
          <p:nvPr/>
        </p:nvSpPr>
        <p:spPr>
          <a:xfrm>
            <a:off x="6042660" y="3840006"/>
            <a:ext cx="990600" cy="178594"/>
          </a:xfrm>
          <a:prstGeom prst="roundRect">
            <a:avLst/>
          </a:prstGeom>
          <a:gradFill flip="none" rotWithShape="1">
            <a:gsLst>
              <a:gs pos="0">
                <a:srgbClr val="00B050"/>
              </a:gs>
              <a:gs pos="53000">
                <a:srgbClr val="008000"/>
              </a:gs>
              <a:gs pos="83000">
                <a:srgbClr val="00CC66"/>
              </a:gs>
              <a:gs pos="100000">
                <a:srgbClr val="96AB94"/>
              </a:gs>
            </a:gsLst>
            <a:lin ang="5400000" scaled="1"/>
            <a:tileRect/>
          </a:gra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prstClr val="black"/>
                </a:solidFill>
              </a:rPr>
              <a:t>Go Live Period</a:t>
            </a:r>
          </a:p>
        </p:txBody>
      </p:sp>
      <p:sp>
        <p:nvSpPr>
          <p:cNvPr id="16" name="Rounded Rectangle 15"/>
          <p:cNvSpPr/>
          <p:nvPr/>
        </p:nvSpPr>
        <p:spPr>
          <a:xfrm>
            <a:off x="7279005" y="4270536"/>
            <a:ext cx="1428750" cy="178594"/>
          </a:xfrm>
          <a:prstGeom prst="roundRect">
            <a:avLst/>
          </a:prstGeom>
          <a:gradFill flip="none" rotWithShape="1">
            <a:gsLst>
              <a:gs pos="0">
                <a:srgbClr val="00B050"/>
              </a:gs>
              <a:gs pos="53000">
                <a:srgbClr val="008000"/>
              </a:gs>
              <a:gs pos="83000">
                <a:srgbClr val="00CC66"/>
              </a:gs>
              <a:gs pos="100000">
                <a:srgbClr val="96AB94"/>
              </a:gs>
            </a:gsLst>
            <a:lin ang="5400000" scaled="1"/>
            <a:tileRect/>
          </a:grad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prstClr val="black"/>
                </a:solidFill>
              </a:rPr>
              <a:t>Go Live Period (TBD)</a:t>
            </a:r>
          </a:p>
        </p:txBody>
      </p:sp>
      <p:sp>
        <p:nvSpPr>
          <p:cNvPr id="8" name="Isosceles Triangle 7"/>
          <p:cNvSpPr/>
          <p:nvPr/>
        </p:nvSpPr>
        <p:spPr>
          <a:xfrm>
            <a:off x="5505461" y="3416620"/>
            <a:ext cx="142875" cy="107156"/>
          </a:xfrm>
          <a:prstGeom prst="triangle">
            <a:avLst/>
          </a:prstGeom>
          <a:solidFill>
            <a:schemeClr val="bg1">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9" name="TextBox 8"/>
          <p:cNvSpPr txBox="1"/>
          <p:nvPr/>
        </p:nvSpPr>
        <p:spPr>
          <a:xfrm>
            <a:off x="5221858" y="3523834"/>
            <a:ext cx="846707" cy="200055"/>
          </a:xfrm>
          <a:prstGeom prst="rect">
            <a:avLst/>
          </a:prstGeom>
          <a:noFill/>
        </p:spPr>
        <p:txBody>
          <a:bodyPr wrap="none" rtlCol="0">
            <a:spAutoFit/>
          </a:bodyPr>
          <a:lstStyle/>
          <a:p>
            <a:pPr defTabSz="914400" fontAlgn="base">
              <a:spcBef>
                <a:spcPct val="0"/>
              </a:spcBef>
              <a:spcAft>
                <a:spcPct val="0"/>
              </a:spcAft>
            </a:pPr>
            <a:r>
              <a:rPr lang="en-US" sz="700" b="1" dirty="0" smtClean="0">
                <a:solidFill>
                  <a:prstClr val="black"/>
                </a:solidFill>
                <a:latin typeface="Arial" charset="0"/>
              </a:rPr>
              <a:t>MTP Readiness</a:t>
            </a:r>
            <a:endParaRPr lang="en-US" sz="700" b="1" dirty="0">
              <a:solidFill>
                <a:prstClr val="black"/>
              </a:solidFill>
              <a:latin typeface="Arial" charset="0"/>
            </a:endParaRPr>
          </a:p>
        </p:txBody>
      </p:sp>
      <p:sp>
        <p:nvSpPr>
          <p:cNvPr id="19" name="Isosceles Triangle 18"/>
          <p:cNvSpPr/>
          <p:nvPr/>
        </p:nvSpPr>
        <p:spPr>
          <a:xfrm>
            <a:off x="2647958" y="2158843"/>
            <a:ext cx="142875" cy="107156"/>
          </a:xfrm>
          <a:prstGeom prst="triangle">
            <a:avLst/>
          </a:prstGeom>
          <a:solidFill>
            <a:schemeClr val="bg1">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20" name="TextBox 19"/>
          <p:cNvSpPr txBox="1"/>
          <p:nvPr/>
        </p:nvSpPr>
        <p:spPr>
          <a:xfrm>
            <a:off x="2145287" y="2266058"/>
            <a:ext cx="755335" cy="200055"/>
          </a:xfrm>
          <a:prstGeom prst="rect">
            <a:avLst/>
          </a:prstGeom>
          <a:noFill/>
        </p:spPr>
        <p:txBody>
          <a:bodyPr wrap="none" rtlCol="0">
            <a:spAutoFit/>
          </a:bodyPr>
          <a:lstStyle/>
          <a:p>
            <a:pPr defTabSz="914400" fontAlgn="base">
              <a:spcBef>
                <a:spcPct val="0"/>
              </a:spcBef>
              <a:spcAft>
                <a:spcPct val="0"/>
              </a:spcAft>
            </a:pPr>
            <a:r>
              <a:rPr lang="en-US" sz="700" b="1" dirty="0" smtClean="0">
                <a:solidFill>
                  <a:prstClr val="black"/>
                </a:solidFill>
                <a:latin typeface="Arial" charset="0"/>
              </a:rPr>
              <a:t>ODM Kick-off</a:t>
            </a:r>
            <a:endParaRPr lang="en-US" sz="700" b="1" dirty="0">
              <a:solidFill>
                <a:prstClr val="black"/>
              </a:solidFill>
              <a:latin typeface="Arial" charset="0"/>
            </a:endParaRPr>
          </a:p>
        </p:txBody>
      </p:sp>
      <p:sp>
        <p:nvSpPr>
          <p:cNvPr id="21" name="Isosceles Triangle 20"/>
          <p:cNvSpPr/>
          <p:nvPr/>
        </p:nvSpPr>
        <p:spPr>
          <a:xfrm>
            <a:off x="3086114" y="2159637"/>
            <a:ext cx="142875" cy="107156"/>
          </a:xfrm>
          <a:prstGeom prst="triangle">
            <a:avLst/>
          </a:prstGeom>
          <a:solidFill>
            <a:schemeClr val="bg1">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22" name="TextBox 21"/>
          <p:cNvSpPr txBox="1"/>
          <p:nvPr/>
        </p:nvSpPr>
        <p:spPr>
          <a:xfrm>
            <a:off x="2973957" y="2266852"/>
            <a:ext cx="806631" cy="200055"/>
          </a:xfrm>
          <a:prstGeom prst="rect">
            <a:avLst/>
          </a:prstGeom>
          <a:noFill/>
        </p:spPr>
        <p:txBody>
          <a:bodyPr wrap="none" rtlCol="0">
            <a:spAutoFit/>
          </a:bodyPr>
          <a:lstStyle/>
          <a:p>
            <a:pPr defTabSz="914400" fontAlgn="base">
              <a:spcBef>
                <a:spcPct val="0"/>
              </a:spcBef>
              <a:spcAft>
                <a:spcPct val="0"/>
              </a:spcAft>
            </a:pPr>
            <a:r>
              <a:rPr lang="en-US" sz="700" b="1" dirty="0" smtClean="0">
                <a:solidFill>
                  <a:prstClr val="black"/>
                </a:solidFill>
                <a:latin typeface="Arial" charset="0"/>
              </a:rPr>
              <a:t>F2F Workshop</a:t>
            </a:r>
            <a:endParaRPr lang="en-US" sz="700" b="1" dirty="0">
              <a:solidFill>
                <a:prstClr val="black"/>
              </a:solidFill>
              <a:latin typeface="Arial" charset="0"/>
            </a:endParaRPr>
          </a:p>
        </p:txBody>
      </p:sp>
      <p:cxnSp>
        <p:nvCxnSpPr>
          <p:cNvPr id="23" name="Straight Connector 22"/>
          <p:cNvCxnSpPr/>
          <p:nvPr/>
        </p:nvCxnSpPr>
        <p:spPr>
          <a:xfrm>
            <a:off x="6038850" y="2022634"/>
            <a:ext cx="18210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6038850" y="3523774"/>
            <a:ext cx="18210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220954" y="2007394"/>
            <a:ext cx="0" cy="151638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219825" y="2710815"/>
            <a:ext cx="182104"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6430504" y="2289585"/>
            <a:ext cx="1143000" cy="735784"/>
          </a:xfrm>
          <a:prstGeom prst="roundRect">
            <a:avLst/>
          </a:prstGeom>
          <a:solidFill>
            <a:schemeClr val="bg1"/>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srgbClr val="FF0000"/>
                </a:solidFill>
              </a:rPr>
              <a:t>MTP moved to March 1 to </a:t>
            </a:r>
          </a:p>
          <a:p>
            <a:pPr algn="ctr" defTabSz="914400" fontAlgn="base">
              <a:spcBef>
                <a:spcPct val="0"/>
              </a:spcBef>
              <a:spcAft>
                <a:spcPct val="0"/>
              </a:spcAft>
            </a:pPr>
            <a:r>
              <a:rPr lang="en-US" sz="1000" b="1" dirty="0" smtClean="0">
                <a:solidFill>
                  <a:srgbClr val="FF0000"/>
                </a:solidFill>
              </a:rPr>
              <a:t>aligned with IT GATP and ROT Schedule</a:t>
            </a:r>
          </a:p>
        </p:txBody>
      </p:sp>
      <p:sp>
        <p:nvSpPr>
          <p:cNvPr id="35" name="Rounded Rectangle 34"/>
          <p:cNvSpPr/>
          <p:nvPr/>
        </p:nvSpPr>
        <p:spPr>
          <a:xfrm>
            <a:off x="3727238" y="3814989"/>
            <a:ext cx="1724872" cy="282190"/>
          </a:xfrm>
          <a:prstGeom prst="roundRect">
            <a:avLst/>
          </a:prstGeom>
          <a:solidFill>
            <a:schemeClr val="bg1"/>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srgbClr val="FF0000"/>
                </a:solidFill>
              </a:rPr>
              <a:t>Go Live aligned with May New Product Release</a:t>
            </a:r>
          </a:p>
        </p:txBody>
      </p:sp>
      <p:sp>
        <p:nvSpPr>
          <p:cNvPr id="36" name="Rounded Rectangle 35"/>
          <p:cNvSpPr/>
          <p:nvPr/>
        </p:nvSpPr>
        <p:spPr>
          <a:xfrm>
            <a:off x="5280801" y="4229328"/>
            <a:ext cx="1724872" cy="282190"/>
          </a:xfrm>
          <a:prstGeom prst="roundRect">
            <a:avLst/>
          </a:prstGeom>
          <a:solidFill>
            <a:schemeClr val="bg1"/>
          </a:solidFill>
          <a:ln w="158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srgbClr val="FF0000"/>
                </a:solidFill>
              </a:rPr>
              <a:t>Go Live moved to FY2014 due to IT GATP Schedule</a:t>
            </a:r>
          </a:p>
        </p:txBody>
      </p:sp>
      <p:cxnSp>
        <p:nvCxnSpPr>
          <p:cNvPr id="2048" name="Straight Arrow Connector 2047"/>
          <p:cNvCxnSpPr>
            <a:stCxn id="35" idx="3"/>
          </p:cNvCxnSpPr>
          <p:nvPr/>
        </p:nvCxnSpPr>
        <p:spPr>
          <a:xfrm flipV="1">
            <a:off x="5452124" y="3956144"/>
            <a:ext cx="466725" cy="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7005693" y="4370481"/>
            <a:ext cx="208561" cy="1"/>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1" name="Isosceles Triangle 30"/>
          <p:cNvSpPr/>
          <p:nvPr/>
        </p:nvSpPr>
        <p:spPr>
          <a:xfrm>
            <a:off x="4102114" y="2604136"/>
            <a:ext cx="142875" cy="107156"/>
          </a:xfrm>
          <a:prstGeom prst="triangle">
            <a:avLst/>
          </a:prstGeom>
          <a:solidFill>
            <a:schemeClr val="bg1">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32" name="TextBox 31"/>
          <p:cNvSpPr txBox="1"/>
          <p:nvPr/>
        </p:nvSpPr>
        <p:spPr>
          <a:xfrm>
            <a:off x="3989957" y="2711352"/>
            <a:ext cx="806631" cy="200055"/>
          </a:xfrm>
          <a:prstGeom prst="rect">
            <a:avLst/>
          </a:prstGeom>
          <a:noFill/>
        </p:spPr>
        <p:txBody>
          <a:bodyPr wrap="none" rtlCol="0">
            <a:spAutoFit/>
          </a:bodyPr>
          <a:lstStyle/>
          <a:p>
            <a:pPr defTabSz="914400" fontAlgn="base">
              <a:spcBef>
                <a:spcPct val="0"/>
              </a:spcBef>
              <a:spcAft>
                <a:spcPct val="0"/>
              </a:spcAft>
            </a:pPr>
            <a:r>
              <a:rPr lang="en-US" sz="700" b="1" dirty="0" smtClean="0">
                <a:solidFill>
                  <a:prstClr val="black"/>
                </a:solidFill>
                <a:latin typeface="Arial" charset="0"/>
              </a:rPr>
              <a:t>F2F Workshop</a:t>
            </a:r>
            <a:endParaRPr lang="en-US" sz="700" b="1" dirty="0">
              <a:solidFill>
                <a:prstClr val="black"/>
              </a:solidFill>
              <a:latin typeface="Arial" charset="0"/>
            </a:endParaRPr>
          </a:p>
        </p:txBody>
      </p:sp>
      <p:sp>
        <p:nvSpPr>
          <p:cNvPr id="29" name="Rounded Rectangle 28"/>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10</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67765792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marL="285750" indent="-285750">
              <a:buFont typeface="Arial" charset="0"/>
              <a:buChar char="•"/>
            </a:pPr>
            <a:endParaRPr lang="en-US" dirty="0" smtClean="0"/>
          </a:p>
        </p:txBody>
      </p:sp>
      <p:sp>
        <p:nvSpPr>
          <p:cNvPr id="3" name="Subtitle 2"/>
          <p:cNvSpPr>
            <a:spLocks noGrp="1"/>
          </p:cNvSpPr>
          <p:nvPr>
            <p:ph type="subTitle" idx="1"/>
          </p:nvPr>
        </p:nvSpPr>
        <p:spPr/>
        <p:txBody>
          <a:bodyPr/>
          <a:lstStyle/>
          <a:p>
            <a:r>
              <a:rPr lang="en-US" dirty="0" smtClean="0"/>
              <a:t> </a:t>
            </a:r>
            <a:endParaRPr lang="en-US" dirty="0"/>
          </a:p>
        </p:txBody>
      </p:sp>
      <p:sp>
        <p:nvSpPr>
          <p:cNvPr id="4" name="Title 3"/>
          <p:cNvSpPr>
            <a:spLocks noGrp="1"/>
          </p:cNvSpPr>
          <p:nvPr>
            <p:ph type="title"/>
          </p:nvPr>
        </p:nvSpPr>
        <p:spPr/>
        <p:txBody>
          <a:bodyPr/>
          <a:lstStyle/>
          <a:p>
            <a:r>
              <a:rPr lang="en-US" dirty="0" smtClean="0">
                <a:solidFill>
                  <a:schemeClr val="bg1">
                    <a:lumMod val="50000"/>
                  </a:schemeClr>
                </a:solidFill>
              </a:rPr>
              <a:t>Place Holder</a:t>
            </a:r>
            <a:endParaRPr lang="en-US" dirty="0">
              <a:solidFill>
                <a:schemeClr val="bg1">
                  <a:lumMod val="50000"/>
                </a:schemeClr>
              </a:solidFill>
            </a:endParaRPr>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11</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3284495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0"/>
          </p:nvPr>
        </p:nvSpPr>
        <p:spPr/>
        <p:txBody>
          <a:bodyPr anchor="ctr"/>
          <a:lstStyle/>
          <a:p>
            <a:pPr algn="ctr"/>
            <a:r>
              <a:rPr lang="en-US" sz="4000" dirty="0" smtClean="0">
                <a:solidFill>
                  <a:schemeClr val="tx1"/>
                </a:solidFill>
              </a:rPr>
              <a:t>Order to Delivery Processes</a:t>
            </a:r>
          </a:p>
          <a:p>
            <a:pPr algn="ctr"/>
            <a:endParaRPr lang="en-US" sz="4000" dirty="0">
              <a:solidFill>
                <a:schemeClr val="tx1"/>
              </a:solidFill>
            </a:endParaRPr>
          </a:p>
        </p:txBody>
      </p:sp>
      <p:sp>
        <p:nvSpPr>
          <p:cNvPr id="3" name="Rounded Rectangle 2"/>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12</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7247293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BSaM</a:t>
            </a:r>
            <a:r>
              <a:rPr lang="en-US" dirty="0" smtClean="0"/>
              <a:t> High Level Process Flows</a:t>
            </a:r>
            <a:endParaRPr lang="en-US" dirty="0"/>
          </a:p>
        </p:txBody>
      </p:sp>
      <p:sp>
        <p:nvSpPr>
          <p:cNvPr id="4" name="Content Placeholder 3"/>
          <p:cNvSpPr>
            <a:spLocks noGrp="1"/>
          </p:cNvSpPr>
          <p:nvPr>
            <p:ph sz="quarter" idx="16"/>
          </p:nvPr>
        </p:nvSpPr>
        <p:spPr/>
        <p:txBody>
          <a:bodyPr/>
          <a:lstStyle/>
          <a:p>
            <a:pPr marL="342900" indent="-342900">
              <a:lnSpc>
                <a:spcPct val="80000"/>
              </a:lnSpc>
              <a:buFont typeface="+mj-lt"/>
              <a:buAutoNum type="arabicPeriod"/>
            </a:pPr>
            <a:r>
              <a:rPr lang="en-US" dirty="0" smtClean="0"/>
              <a:t>Order-to-Delivery Processes</a:t>
            </a:r>
          </a:p>
          <a:p>
            <a:pPr marL="512763" lvl="3" indent="-171450">
              <a:lnSpc>
                <a:spcPct val="80000"/>
              </a:lnSpc>
              <a:buFont typeface="Arial" pitchFamily="34" charset="0"/>
              <a:buChar char="•"/>
            </a:pPr>
            <a:r>
              <a:rPr lang="en-US" dirty="0" smtClean="0"/>
              <a:t>B Part Process</a:t>
            </a:r>
          </a:p>
          <a:p>
            <a:pPr marL="512763" lvl="3" indent="-171450">
              <a:lnSpc>
                <a:spcPct val="80000"/>
              </a:lnSpc>
              <a:buFont typeface="Arial" pitchFamily="34" charset="0"/>
              <a:buChar char="•"/>
            </a:pPr>
            <a:r>
              <a:rPr lang="en-US" dirty="0" smtClean="0"/>
              <a:t>A Part BTO Process</a:t>
            </a:r>
          </a:p>
          <a:p>
            <a:pPr marL="512763" lvl="3" indent="-171450">
              <a:lnSpc>
                <a:spcPct val="80000"/>
              </a:lnSpc>
              <a:buFont typeface="Arial" pitchFamily="34" charset="0"/>
              <a:buChar char="•"/>
            </a:pPr>
            <a:r>
              <a:rPr lang="en-US" dirty="0" smtClean="0"/>
              <a:t>A Part Build Trigger Process </a:t>
            </a:r>
          </a:p>
          <a:p>
            <a:pPr lvl="1">
              <a:lnSpc>
                <a:spcPct val="80000"/>
              </a:lnSpc>
            </a:pPr>
            <a:endParaRPr lang="en-US" sz="1200" dirty="0"/>
          </a:p>
          <a:p>
            <a:pPr marL="342900" indent="-342900">
              <a:lnSpc>
                <a:spcPct val="80000"/>
              </a:lnSpc>
              <a:buFont typeface="+mj-lt"/>
              <a:buAutoNum type="arabicPeriod"/>
            </a:pPr>
            <a:r>
              <a:rPr lang="en-US" dirty="0" smtClean="0"/>
              <a:t>PDM/BOM Structure</a:t>
            </a:r>
            <a:endParaRPr lang="en-US" dirty="0"/>
          </a:p>
          <a:p>
            <a:pPr marL="512763" lvl="3" indent="-171450">
              <a:lnSpc>
                <a:spcPct val="80000"/>
              </a:lnSpc>
              <a:buFont typeface="Arial" pitchFamily="34" charset="0"/>
              <a:buChar char="•"/>
            </a:pPr>
            <a:r>
              <a:rPr lang="en-US" dirty="0" smtClean="0"/>
              <a:t>BSaM PDM/BOM Approach</a:t>
            </a:r>
          </a:p>
          <a:p>
            <a:pPr marL="512763" lvl="3" indent="-171450">
              <a:lnSpc>
                <a:spcPct val="80000"/>
              </a:lnSpc>
              <a:buFont typeface="Arial" pitchFamily="34" charset="0"/>
              <a:buChar char="•"/>
            </a:pPr>
            <a:r>
              <a:rPr lang="en-US" dirty="0" smtClean="0"/>
              <a:t>BSaM AV for Cost Adjustment and Planning</a:t>
            </a:r>
          </a:p>
          <a:p>
            <a:pPr lvl="1">
              <a:lnSpc>
                <a:spcPct val="80000"/>
              </a:lnSpc>
            </a:pPr>
            <a:endParaRPr lang="en-US" sz="1200" dirty="0"/>
          </a:p>
          <a:p>
            <a:pPr marL="342900" indent="-342900">
              <a:lnSpc>
                <a:spcPct val="80000"/>
              </a:lnSpc>
              <a:buFont typeface="+mj-lt"/>
              <a:buAutoNum type="arabicPeriod"/>
            </a:pPr>
            <a:r>
              <a:rPr lang="en-US" dirty="0"/>
              <a:t>Planning</a:t>
            </a:r>
          </a:p>
          <a:p>
            <a:pPr marL="512763" lvl="3" indent="-171450">
              <a:lnSpc>
                <a:spcPct val="80000"/>
              </a:lnSpc>
              <a:buFont typeface="Arial" pitchFamily="34" charset="0"/>
              <a:buChar char="•"/>
            </a:pPr>
            <a:r>
              <a:rPr lang="en-US" dirty="0"/>
              <a:t>A Part and B Part Planning </a:t>
            </a:r>
            <a:r>
              <a:rPr lang="en-US" dirty="0" smtClean="0"/>
              <a:t>Process</a:t>
            </a:r>
          </a:p>
          <a:p>
            <a:pPr marL="512763" lvl="3" indent="-171450">
              <a:lnSpc>
                <a:spcPct val="80000"/>
              </a:lnSpc>
              <a:buFont typeface="Arial" pitchFamily="34" charset="0"/>
              <a:buChar char="•"/>
            </a:pPr>
            <a:endParaRPr lang="en-US" dirty="0" smtClean="0"/>
          </a:p>
          <a:p>
            <a:pPr marL="342900" indent="-342900">
              <a:lnSpc>
                <a:spcPct val="80000"/>
              </a:lnSpc>
              <a:buFont typeface="+mj-lt"/>
              <a:buAutoNum type="arabicPeriod"/>
            </a:pPr>
            <a:r>
              <a:rPr lang="en-US" dirty="0" smtClean="0"/>
              <a:t>Production Grouping Process</a:t>
            </a:r>
          </a:p>
          <a:p>
            <a:pPr marL="512763" lvl="3" indent="-171450">
              <a:lnSpc>
                <a:spcPct val="80000"/>
              </a:lnSpc>
              <a:buFont typeface="Arial" pitchFamily="34" charset="0"/>
              <a:buChar char="•"/>
            </a:pPr>
            <a:r>
              <a:rPr lang="en-US" dirty="0" smtClean="0"/>
              <a:t>Bulk Packaging Order Grouping</a:t>
            </a:r>
          </a:p>
          <a:p>
            <a:pPr marL="512763" lvl="3" indent="-171450">
              <a:lnSpc>
                <a:spcPct val="80000"/>
              </a:lnSpc>
              <a:buFont typeface="Arial" pitchFamily="34" charset="0"/>
              <a:buChar char="•"/>
            </a:pPr>
            <a:endParaRPr lang="en-US" sz="1200" dirty="0" smtClean="0"/>
          </a:p>
          <a:p>
            <a:pPr marL="512763" lvl="3" indent="-171450">
              <a:lnSpc>
                <a:spcPct val="80000"/>
              </a:lnSpc>
              <a:buFont typeface="Arial" pitchFamily="34" charset="0"/>
              <a:buChar char="•"/>
            </a:pPr>
            <a:endParaRPr lang="en-US" sz="1200" dirty="0"/>
          </a:p>
          <a:p>
            <a:pPr marL="512763" lvl="3" indent="-171450">
              <a:lnSpc>
                <a:spcPct val="80000"/>
              </a:lnSpc>
              <a:buFont typeface="Arial" pitchFamily="34" charset="0"/>
              <a:buChar char="•"/>
            </a:pPr>
            <a:endParaRPr lang="en-US" sz="1200" dirty="0"/>
          </a:p>
        </p:txBody>
      </p:sp>
      <p:sp>
        <p:nvSpPr>
          <p:cNvPr id="5" name="Content Placeholder 4"/>
          <p:cNvSpPr>
            <a:spLocks noGrp="1"/>
          </p:cNvSpPr>
          <p:nvPr>
            <p:ph sz="quarter" idx="17"/>
          </p:nvPr>
        </p:nvSpPr>
        <p:spPr/>
        <p:txBody>
          <a:bodyPr/>
          <a:lstStyle/>
          <a:p>
            <a:pPr marL="342900" indent="-342900">
              <a:lnSpc>
                <a:spcPct val="80000"/>
              </a:lnSpc>
              <a:buFont typeface="+mj-lt"/>
              <a:buAutoNum type="arabicPeriod" startAt="5"/>
            </a:pPr>
            <a:r>
              <a:rPr lang="en-US" dirty="0" smtClean="0"/>
              <a:t>BSaM Build Trigger Process</a:t>
            </a:r>
            <a:endParaRPr lang="en-US" dirty="0"/>
          </a:p>
          <a:p>
            <a:pPr marL="512763" lvl="3" indent="-171450">
              <a:lnSpc>
                <a:spcPct val="80000"/>
              </a:lnSpc>
              <a:buFont typeface="Arial" pitchFamily="34" charset="0"/>
              <a:buChar char="•"/>
            </a:pPr>
            <a:r>
              <a:rPr lang="en-US" dirty="0" smtClean="0"/>
              <a:t>Build Trigger PO instead of Customer PO</a:t>
            </a:r>
          </a:p>
          <a:p>
            <a:pPr marL="512763" lvl="3" indent="-171450">
              <a:lnSpc>
                <a:spcPct val="80000"/>
              </a:lnSpc>
              <a:buFont typeface="Arial" pitchFamily="34" charset="0"/>
              <a:buChar char="•"/>
            </a:pPr>
            <a:r>
              <a:rPr lang="en-US" dirty="0" smtClean="0"/>
              <a:t>RSD and Performance Measurement</a:t>
            </a:r>
          </a:p>
          <a:p>
            <a:pPr lvl="1">
              <a:lnSpc>
                <a:spcPct val="80000"/>
              </a:lnSpc>
            </a:pPr>
            <a:endParaRPr lang="en-US" sz="1200" dirty="0" smtClean="0"/>
          </a:p>
          <a:p>
            <a:pPr lvl="1">
              <a:lnSpc>
                <a:spcPct val="80000"/>
              </a:lnSpc>
            </a:pPr>
            <a:endParaRPr lang="en-US" sz="1200" dirty="0" smtClean="0"/>
          </a:p>
          <a:p>
            <a:pPr marL="342900" indent="-342900">
              <a:lnSpc>
                <a:spcPct val="80000"/>
              </a:lnSpc>
              <a:buFont typeface="+mj-lt"/>
              <a:buAutoNum type="arabicPeriod" startAt="5"/>
            </a:pPr>
            <a:r>
              <a:rPr lang="en-US" dirty="0" smtClean="0"/>
              <a:t>Full Unit Test Process</a:t>
            </a:r>
            <a:endParaRPr lang="en-US" dirty="0"/>
          </a:p>
          <a:p>
            <a:pPr marL="512763" lvl="3" indent="-171450">
              <a:lnSpc>
                <a:spcPct val="80000"/>
              </a:lnSpc>
              <a:buFont typeface="Arial" pitchFamily="34" charset="0"/>
              <a:buChar char="•"/>
            </a:pPr>
            <a:r>
              <a:rPr lang="en-US" dirty="0" smtClean="0"/>
              <a:t>NB Full Unit Testing using Temp Battery</a:t>
            </a:r>
            <a:endParaRPr lang="en-US" dirty="0"/>
          </a:p>
          <a:p>
            <a:pPr lvl="1">
              <a:lnSpc>
                <a:spcPct val="80000"/>
              </a:lnSpc>
            </a:pPr>
            <a:endParaRPr lang="en-US" sz="1200" dirty="0"/>
          </a:p>
          <a:p>
            <a:pPr marL="342900" indent="-342900">
              <a:lnSpc>
                <a:spcPct val="80000"/>
              </a:lnSpc>
              <a:buFont typeface="+mj-lt"/>
              <a:buAutoNum type="arabicPeriod" startAt="5"/>
            </a:pPr>
            <a:r>
              <a:rPr lang="en-US" dirty="0" smtClean="0"/>
              <a:t>B Part Process</a:t>
            </a:r>
            <a:endParaRPr lang="en-US" dirty="0"/>
          </a:p>
          <a:p>
            <a:pPr marL="512763" lvl="3" indent="-171450">
              <a:lnSpc>
                <a:spcPct val="80000"/>
              </a:lnSpc>
              <a:buFont typeface="Arial" pitchFamily="34" charset="0"/>
              <a:buChar char="•"/>
            </a:pPr>
            <a:r>
              <a:rPr lang="en-US" dirty="0" smtClean="0"/>
              <a:t>Supplier VMI Model vs. ODM HOI Model</a:t>
            </a:r>
          </a:p>
          <a:p>
            <a:pPr marL="512763" lvl="3" indent="-171450">
              <a:lnSpc>
                <a:spcPct val="80000"/>
              </a:lnSpc>
              <a:buFont typeface="Arial" pitchFamily="34" charset="0"/>
              <a:buChar char="•"/>
            </a:pPr>
            <a:r>
              <a:rPr lang="en-US" dirty="0" smtClean="0"/>
              <a:t>Process required for Exception Contingency</a:t>
            </a:r>
          </a:p>
          <a:p>
            <a:pPr marL="512763" lvl="3" indent="-171450">
              <a:lnSpc>
                <a:spcPct val="80000"/>
              </a:lnSpc>
              <a:buFont typeface="Arial" pitchFamily="34" charset="0"/>
              <a:buChar char="•"/>
            </a:pPr>
            <a:endParaRPr lang="en-US" dirty="0"/>
          </a:p>
          <a:p>
            <a:pPr marL="342900" indent="-342900">
              <a:lnSpc>
                <a:spcPct val="80000"/>
              </a:lnSpc>
              <a:buFont typeface="+mj-lt"/>
              <a:buAutoNum type="arabicPeriod" startAt="5"/>
            </a:pPr>
            <a:r>
              <a:rPr lang="en-US" dirty="0" smtClean="0"/>
              <a:t>Outbound Operation &amp; Logistics</a:t>
            </a:r>
            <a:endParaRPr lang="en-US" dirty="0"/>
          </a:p>
          <a:p>
            <a:pPr marL="512763" lvl="3" indent="-171450">
              <a:lnSpc>
                <a:spcPct val="80000"/>
              </a:lnSpc>
              <a:buFont typeface="Arial" pitchFamily="34" charset="0"/>
              <a:buChar char="•"/>
            </a:pPr>
            <a:r>
              <a:rPr lang="en-US" dirty="0" smtClean="0"/>
              <a:t>Utilize of  IDS HVLS and RCTO processes</a:t>
            </a:r>
          </a:p>
        </p:txBody>
      </p:sp>
      <p:sp>
        <p:nvSpPr>
          <p:cNvPr id="2" name="Subtitle 1"/>
          <p:cNvSpPr>
            <a:spLocks noGrp="1"/>
          </p:cNvSpPr>
          <p:nvPr>
            <p:ph type="subTitle" idx="1"/>
          </p:nvPr>
        </p:nvSpPr>
        <p:spPr/>
        <p:txBody>
          <a:bodyPr/>
          <a:lstStyle/>
          <a:p>
            <a:r>
              <a:rPr lang="en-US" dirty="0" smtClean="0"/>
              <a:t> </a:t>
            </a:r>
            <a:endParaRPr lang="en-US" dirty="0"/>
          </a:p>
        </p:txBody>
      </p:sp>
      <p:sp>
        <p:nvSpPr>
          <p:cNvPr id="6" name="Rounded Rectangle 5"/>
          <p:cNvSpPr/>
          <p:nvPr/>
        </p:nvSpPr>
        <p:spPr>
          <a:xfrm>
            <a:off x="266700" y="1109175"/>
            <a:ext cx="4015740" cy="350520"/>
          </a:xfrm>
          <a:prstGeom prst="round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13</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2368160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Flowchart: Punched Tape 67"/>
          <p:cNvSpPr/>
          <p:nvPr/>
        </p:nvSpPr>
        <p:spPr>
          <a:xfrm>
            <a:off x="318002" y="87356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69" name="Flowchart: Punched Tape 68"/>
          <p:cNvSpPr/>
          <p:nvPr/>
        </p:nvSpPr>
        <p:spPr>
          <a:xfrm>
            <a:off x="285345" y="90622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67" name="Flowchart: Punched Tape 66"/>
          <p:cNvSpPr/>
          <p:nvPr/>
        </p:nvSpPr>
        <p:spPr>
          <a:xfrm>
            <a:off x="252687" y="93887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66" name="Flowchart: Punched Tape 65"/>
          <p:cNvSpPr/>
          <p:nvPr/>
        </p:nvSpPr>
        <p:spPr>
          <a:xfrm>
            <a:off x="230915" y="97970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09" name="Rectangle 108"/>
          <p:cNvSpPr/>
          <p:nvPr/>
        </p:nvSpPr>
        <p:spPr>
          <a:xfrm>
            <a:off x="512717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VMI/HP</a:t>
            </a:r>
          </a:p>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Hub</a:t>
            </a:r>
          </a:p>
        </p:txBody>
      </p:sp>
      <p:sp>
        <p:nvSpPr>
          <p:cNvPr id="36" name="Rectangle 35"/>
          <p:cNvSpPr/>
          <p:nvPr/>
        </p:nvSpPr>
        <p:spPr>
          <a:xfrm>
            <a:off x="428181" y="1287232"/>
            <a:ext cx="2053781" cy="1344378"/>
          </a:xfrm>
          <a:prstGeom prst="rect">
            <a:avLst/>
          </a:prstGeom>
          <a:gradFill>
            <a:gsLst>
              <a:gs pos="0">
                <a:srgbClr val="0000FF"/>
              </a:gs>
              <a:gs pos="50000">
                <a:srgbClr val="0066FF">
                  <a:alpha val="49000"/>
                </a:srgbClr>
              </a:gs>
              <a:gs pos="100000">
                <a:srgbClr val="0000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HP</a:t>
            </a:r>
          </a:p>
        </p:txBody>
      </p:sp>
      <p:cxnSp>
        <p:nvCxnSpPr>
          <p:cNvPr id="58" name="Straight Arrow Connector 57"/>
          <p:cNvCxnSpPr>
            <a:stCxn id="18" idx="3"/>
            <a:endCxn id="44" idx="1"/>
          </p:cNvCxnSpPr>
          <p:nvPr/>
        </p:nvCxnSpPr>
        <p:spPr>
          <a:xfrm flipV="1">
            <a:off x="863507" y="1630115"/>
            <a:ext cx="1127333" cy="1822"/>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19" idx="3"/>
            <a:endCxn id="45" idx="1"/>
          </p:cNvCxnSpPr>
          <p:nvPr/>
        </p:nvCxnSpPr>
        <p:spPr>
          <a:xfrm flipV="1">
            <a:off x="863507" y="1833318"/>
            <a:ext cx="1127333" cy="1822"/>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a:stCxn id="20" idx="3"/>
            <a:endCxn id="46" idx="1"/>
          </p:cNvCxnSpPr>
          <p:nvPr/>
        </p:nvCxnSpPr>
        <p:spPr>
          <a:xfrm flipV="1">
            <a:off x="871959" y="2036523"/>
            <a:ext cx="1127333" cy="1822"/>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stCxn id="21" idx="3"/>
            <a:endCxn id="47" idx="1"/>
          </p:cNvCxnSpPr>
          <p:nvPr/>
        </p:nvCxnSpPr>
        <p:spPr>
          <a:xfrm flipV="1">
            <a:off x="871947" y="2246076"/>
            <a:ext cx="1135800" cy="1822"/>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22" idx="3"/>
            <a:endCxn id="48" idx="1"/>
          </p:cNvCxnSpPr>
          <p:nvPr/>
        </p:nvCxnSpPr>
        <p:spPr>
          <a:xfrm flipV="1">
            <a:off x="871941" y="2455629"/>
            <a:ext cx="1135800" cy="1822"/>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5119978" y="2820313"/>
            <a:ext cx="2075551" cy="1360736"/>
          </a:xfrm>
          <a:prstGeom prst="rect">
            <a:avLst/>
          </a:prstGeom>
          <a:gradFill>
            <a:gsLst>
              <a:gs pos="0">
                <a:srgbClr val="9966FF"/>
              </a:gs>
              <a:gs pos="50000">
                <a:srgbClr val="9966FF">
                  <a:alpha val="1000"/>
                </a:srgbClr>
              </a:gs>
              <a:gs pos="100000">
                <a:srgbClr val="9966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rPr>
              <a:t>PCC</a:t>
            </a:r>
          </a:p>
        </p:txBody>
      </p:sp>
      <p:sp>
        <p:nvSpPr>
          <p:cNvPr id="2" name="Title 1"/>
          <p:cNvSpPr>
            <a:spLocks noGrp="1"/>
          </p:cNvSpPr>
          <p:nvPr>
            <p:ph type="title"/>
          </p:nvPr>
        </p:nvSpPr>
        <p:spPr/>
        <p:txBody>
          <a:bodyPr/>
          <a:lstStyle/>
          <a:p>
            <a:r>
              <a:rPr lang="en-US" dirty="0" smtClean="0"/>
              <a:t>IDS Process</a:t>
            </a:r>
            <a:endParaRPr lang="en-US" dirty="0"/>
          </a:p>
        </p:txBody>
      </p:sp>
      <p:sp>
        <p:nvSpPr>
          <p:cNvPr id="6" name="Slide Number Placeholder 5"/>
          <p:cNvSpPr>
            <a:spLocks noGrp="1"/>
          </p:cNvSpPr>
          <p:nvPr>
            <p:ph type="sldNum" sz="quarter" idx="4294967295"/>
          </p:nvPr>
        </p:nvSpPr>
        <p:spPr>
          <a:xfrm>
            <a:off x="7010400" y="4767319"/>
            <a:ext cx="2133600" cy="274637"/>
          </a:xfrm>
          <a:prstGeom prst="rect">
            <a:avLst/>
          </a:prstGeom>
        </p:spPr>
        <p:txBody>
          <a:bodyPr/>
          <a:lstStyle/>
          <a:p>
            <a:pPr>
              <a:defRPr/>
            </a:pPr>
            <a:fld id="{35F75D6F-272E-4811-8F6B-E4C2FF79A0E7}" type="slidenum">
              <a:rPr lang="en-US" smtClean="0">
                <a:solidFill>
                  <a:prstClr val="black">
                    <a:tint val="75000"/>
                  </a:prstClr>
                </a:solidFill>
              </a:rPr>
              <a:pPr>
                <a:defRPr/>
              </a:pPr>
              <a:t>15</a:t>
            </a:fld>
            <a:endParaRPr lang="en-US" dirty="0">
              <a:solidFill>
                <a:prstClr val="black">
                  <a:tint val="75000"/>
                </a:prstClr>
              </a:solidFill>
            </a:endParaRPr>
          </a:p>
        </p:txBody>
      </p:sp>
      <p:sp>
        <p:nvSpPr>
          <p:cNvPr id="8" name="Rectangle 7"/>
          <p:cNvSpPr/>
          <p:nvPr/>
        </p:nvSpPr>
        <p:spPr>
          <a:xfrm>
            <a:off x="2844805" y="1279039"/>
            <a:ext cx="2075551" cy="1360736"/>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ODM</a:t>
            </a:r>
          </a:p>
        </p:txBody>
      </p:sp>
      <p:sp>
        <p:nvSpPr>
          <p:cNvPr id="11" name="Rectangle 10"/>
          <p:cNvSpPr/>
          <p:nvPr/>
        </p:nvSpPr>
        <p:spPr>
          <a:xfrm>
            <a:off x="7645406" y="1304467"/>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A</a:t>
            </a:r>
          </a:p>
        </p:txBody>
      </p:sp>
      <p:sp>
        <p:nvSpPr>
          <p:cNvPr id="24" name="Flowchart: Punched Tape 23"/>
          <p:cNvSpPr/>
          <p:nvPr/>
        </p:nvSpPr>
        <p:spPr>
          <a:xfrm>
            <a:off x="3014119" y="154121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25" name="Flowchart: Punched Tape 24"/>
          <p:cNvSpPr/>
          <p:nvPr/>
        </p:nvSpPr>
        <p:spPr>
          <a:xfrm>
            <a:off x="3014113" y="174442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26" name="Flowchart: Punched Tape 25"/>
          <p:cNvSpPr/>
          <p:nvPr/>
        </p:nvSpPr>
        <p:spPr>
          <a:xfrm>
            <a:off x="3022574" y="1947625"/>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27" name="Flowchart: Punched Tape 26"/>
          <p:cNvSpPr/>
          <p:nvPr/>
        </p:nvSpPr>
        <p:spPr>
          <a:xfrm>
            <a:off x="3031035" y="215717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28" name="Flowchart: Punched Tape 27"/>
          <p:cNvSpPr/>
          <p:nvPr/>
        </p:nvSpPr>
        <p:spPr>
          <a:xfrm>
            <a:off x="3031029" y="236673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sp>
        <p:nvSpPr>
          <p:cNvPr id="18" name="Flowchart: Punched Tape 17"/>
          <p:cNvSpPr/>
          <p:nvPr/>
        </p:nvSpPr>
        <p:spPr>
          <a:xfrm>
            <a:off x="601030" y="1543036"/>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9" name="Flowchart: Punched Tape 18"/>
          <p:cNvSpPr/>
          <p:nvPr/>
        </p:nvSpPr>
        <p:spPr>
          <a:xfrm>
            <a:off x="601024" y="1746241"/>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20" name="Flowchart: Punched Tape 19"/>
          <p:cNvSpPr/>
          <p:nvPr/>
        </p:nvSpPr>
        <p:spPr>
          <a:xfrm>
            <a:off x="609485" y="194944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21" name="Flowchart: Punched Tape 20"/>
          <p:cNvSpPr/>
          <p:nvPr/>
        </p:nvSpPr>
        <p:spPr>
          <a:xfrm>
            <a:off x="609479" y="2158999"/>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22" name="Flowchart: Punched Tape 21"/>
          <p:cNvSpPr/>
          <p:nvPr/>
        </p:nvSpPr>
        <p:spPr>
          <a:xfrm>
            <a:off x="609473" y="236855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sp>
        <p:nvSpPr>
          <p:cNvPr id="44" name="Flowchart: Punched Tape 43"/>
          <p:cNvSpPr/>
          <p:nvPr/>
        </p:nvSpPr>
        <p:spPr>
          <a:xfrm>
            <a:off x="1990831" y="1541215"/>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45" name="Flowchart: Punched Tape 44"/>
          <p:cNvSpPr/>
          <p:nvPr/>
        </p:nvSpPr>
        <p:spPr>
          <a:xfrm>
            <a:off x="1990825" y="1744420"/>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46" name="Flowchart: Punched Tape 45"/>
          <p:cNvSpPr/>
          <p:nvPr/>
        </p:nvSpPr>
        <p:spPr>
          <a:xfrm>
            <a:off x="1999286" y="194762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47" name="Flowchart: Punched Tape 46"/>
          <p:cNvSpPr/>
          <p:nvPr/>
        </p:nvSpPr>
        <p:spPr>
          <a:xfrm>
            <a:off x="2007747" y="2157175"/>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48" name="Flowchart: Punched Tape 47"/>
          <p:cNvSpPr/>
          <p:nvPr/>
        </p:nvSpPr>
        <p:spPr>
          <a:xfrm>
            <a:off x="2007741" y="2366731"/>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cxnSp>
        <p:nvCxnSpPr>
          <p:cNvPr id="50" name="Straight Arrow Connector 49"/>
          <p:cNvCxnSpPr>
            <a:stCxn id="44" idx="3"/>
            <a:endCxn id="24" idx="1"/>
          </p:cNvCxnSpPr>
          <p:nvPr/>
        </p:nvCxnSpPr>
        <p:spPr>
          <a:xfrm>
            <a:off x="2253299" y="1630115"/>
            <a:ext cx="760820" cy="3"/>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45" idx="3"/>
            <a:endCxn id="25" idx="1"/>
          </p:cNvCxnSpPr>
          <p:nvPr/>
        </p:nvCxnSpPr>
        <p:spPr>
          <a:xfrm>
            <a:off x="2253293" y="1833320"/>
            <a:ext cx="760820" cy="3"/>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6" idx="3"/>
            <a:endCxn id="26" idx="1"/>
          </p:cNvCxnSpPr>
          <p:nvPr/>
        </p:nvCxnSpPr>
        <p:spPr>
          <a:xfrm>
            <a:off x="2261754" y="2036522"/>
            <a:ext cx="760820" cy="3"/>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47" idx="3"/>
            <a:endCxn id="27" idx="1"/>
          </p:cNvCxnSpPr>
          <p:nvPr/>
        </p:nvCxnSpPr>
        <p:spPr>
          <a:xfrm>
            <a:off x="2270215" y="2246075"/>
            <a:ext cx="760820" cy="3"/>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3"/>
            <a:endCxn id="28" idx="1"/>
          </p:cNvCxnSpPr>
          <p:nvPr/>
        </p:nvCxnSpPr>
        <p:spPr>
          <a:xfrm>
            <a:off x="2270209" y="2455631"/>
            <a:ext cx="760820" cy="3"/>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136" name="Rectangle 135"/>
          <p:cNvSpPr/>
          <p:nvPr/>
        </p:nvSpPr>
        <p:spPr>
          <a:xfrm>
            <a:off x="4416687" y="1549070"/>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37" name="Rectangle 136"/>
          <p:cNvSpPr/>
          <p:nvPr/>
        </p:nvSpPr>
        <p:spPr>
          <a:xfrm>
            <a:off x="4416661" y="1752272"/>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138" name="Rectangle 137"/>
          <p:cNvSpPr/>
          <p:nvPr/>
        </p:nvSpPr>
        <p:spPr>
          <a:xfrm>
            <a:off x="4416654" y="1955477"/>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139" name="Rectangle 138"/>
          <p:cNvSpPr/>
          <p:nvPr/>
        </p:nvSpPr>
        <p:spPr>
          <a:xfrm>
            <a:off x="4416654" y="2158685"/>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140" name="Rectangle 139"/>
          <p:cNvSpPr/>
          <p:nvPr/>
        </p:nvSpPr>
        <p:spPr>
          <a:xfrm>
            <a:off x="4416654" y="2361887"/>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sp>
        <p:nvSpPr>
          <p:cNvPr id="94" name="Rectangle 93"/>
          <p:cNvSpPr/>
          <p:nvPr/>
        </p:nvSpPr>
        <p:spPr>
          <a:xfrm>
            <a:off x="7710972" y="1545964"/>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05" name="Rectangle 104"/>
          <p:cNvSpPr/>
          <p:nvPr/>
        </p:nvSpPr>
        <p:spPr>
          <a:xfrm>
            <a:off x="7645406" y="20474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B</a:t>
            </a:r>
          </a:p>
        </p:txBody>
      </p:sp>
      <p:sp>
        <p:nvSpPr>
          <p:cNvPr id="106" name="Rectangle 105"/>
          <p:cNvSpPr/>
          <p:nvPr/>
        </p:nvSpPr>
        <p:spPr>
          <a:xfrm>
            <a:off x="7710972" y="2288930"/>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110" name="Rectangle 109"/>
          <p:cNvSpPr/>
          <p:nvPr/>
        </p:nvSpPr>
        <p:spPr>
          <a:xfrm>
            <a:off x="7645406" y="27822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C</a:t>
            </a:r>
          </a:p>
        </p:txBody>
      </p:sp>
      <p:sp>
        <p:nvSpPr>
          <p:cNvPr id="112" name="Rectangle 111"/>
          <p:cNvSpPr/>
          <p:nvPr/>
        </p:nvSpPr>
        <p:spPr>
          <a:xfrm>
            <a:off x="7710972" y="3023732"/>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113" name="Rectangle 112"/>
          <p:cNvSpPr/>
          <p:nvPr/>
        </p:nvSpPr>
        <p:spPr>
          <a:xfrm>
            <a:off x="7645406" y="3533368"/>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D</a:t>
            </a:r>
          </a:p>
        </p:txBody>
      </p:sp>
      <p:sp>
        <p:nvSpPr>
          <p:cNvPr id="115" name="Rectangle 114"/>
          <p:cNvSpPr/>
          <p:nvPr/>
        </p:nvSpPr>
        <p:spPr>
          <a:xfrm>
            <a:off x="7710972" y="3774863"/>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116" name="Rectangle 115"/>
          <p:cNvSpPr/>
          <p:nvPr/>
        </p:nvSpPr>
        <p:spPr>
          <a:xfrm>
            <a:off x="7645406" y="4268170"/>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E</a:t>
            </a:r>
          </a:p>
        </p:txBody>
      </p:sp>
      <p:sp>
        <p:nvSpPr>
          <p:cNvPr id="117" name="Rectangle 116"/>
          <p:cNvSpPr/>
          <p:nvPr/>
        </p:nvSpPr>
        <p:spPr>
          <a:xfrm>
            <a:off x="7710972" y="4509665"/>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cxnSp>
        <p:nvCxnSpPr>
          <p:cNvPr id="141" name="Elbow Connector 140"/>
          <p:cNvCxnSpPr>
            <a:stCxn id="136" idx="3"/>
            <a:endCxn id="94" idx="1"/>
          </p:cNvCxnSpPr>
          <p:nvPr/>
        </p:nvCxnSpPr>
        <p:spPr>
          <a:xfrm flipV="1">
            <a:off x="4801843" y="1631709"/>
            <a:ext cx="2909126" cy="3106"/>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2" name="Elbow Connector 141"/>
          <p:cNvCxnSpPr>
            <a:stCxn id="137" idx="3"/>
            <a:endCxn id="106" idx="1"/>
          </p:cNvCxnSpPr>
          <p:nvPr/>
        </p:nvCxnSpPr>
        <p:spPr>
          <a:xfrm>
            <a:off x="4801837" y="1838074"/>
            <a:ext cx="2909132" cy="536657"/>
          </a:xfrm>
          <a:prstGeom prst="bentConnector3">
            <a:avLst>
              <a:gd name="adj1" fmla="val 95184"/>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5" name="Elbow Connector 144"/>
          <p:cNvCxnSpPr>
            <a:stCxn id="138" idx="3"/>
            <a:endCxn id="112" idx="1"/>
          </p:cNvCxnSpPr>
          <p:nvPr/>
        </p:nvCxnSpPr>
        <p:spPr>
          <a:xfrm>
            <a:off x="4801831" y="2041221"/>
            <a:ext cx="2909138" cy="1068256"/>
          </a:xfrm>
          <a:prstGeom prst="bentConnector3">
            <a:avLst>
              <a:gd name="adj1" fmla="val 92565"/>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8" name="Elbow Connector 147"/>
          <p:cNvCxnSpPr>
            <a:stCxn id="139" idx="3"/>
            <a:endCxn id="115" idx="1"/>
          </p:cNvCxnSpPr>
          <p:nvPr/>
        </p:nvCxnSpPr>
        <p:spPr>
          <a:xfrm>
            <a:off x="4801831" y="2244479"/>
            <a:ext cx="2909138" cy="1616179"/>
          </a:xfrm>
          <a:prstGeom prst="bentConnector3">
            <a:avLst>
              <a:gd name="adj1" fmla="val 90272"/>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1" name="Elbow Connector 150"/>
          <p:cNvCxnSpPr>
            <a:stCxn id="140" idx="3"/>
            <a:endCxn id="117" idx="1"/>
          </p:cNvCxnSpPr>
          <p:nvPr/>
        </p:nvCxnSpPr>
        <p:spPr>
          <a:xfrm>
            <a:off x="4801825" y="2447689"/>
            <a:ext cx="2909144" cy="2147777"/>
          </a:xfrm>
          <a:prstGeom prst="bentConnector3">
            <a:avLst>
              <a:gd name="adj1" fmla="val 87981"/>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sp>
        <p:nvSpPr>
          <p:cNvPr id="189" name="Rectangle 188"/>
          <p:cNvSpPr/>
          <p:nvPr/>
        </p:nvSpPr>
        <p:spPr>
          <a:xfrm>
            <a:off x="42182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Component &amp; DIB Suppliers</a:t>
            </a:r>
          </a:p>
        </p:txBody>
      </p:sp>
      <p:sp>
        <p:nvSpPr>
          <p:cNvPr id="190" name="Isosceles Triangle 189"/>
          <p:cNvSpPr/>
          <p:nvPr/>
        </p:nvSpPr>
        <p:spPr>
          <a:xfrm rot="10800000">
            <a:off x="4944292" y="1513820"/>
            <a:ext cx="138546" cy="83127"/>
          </a:xfrm>
          <a:prstGeom prst="triangle">
            <a:avLst/>
          </a:prstGeom>
          <a:solidFill>
            <a:schemeClr val="bg1">
              <a:alpha val="61000"/>
            </a:schemeClr>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cxnSp>
        <p:nvCxnSpPr>
          <p:cNvPr id="191" name="Elbow Connector 155"/>
          <p:cNvCxnSpPr>
            <a:stCxn id="190" idx="3"/>
          </p:cNvCxnSpPr>
          <p:nvPr/>
        </p:nvCxnSpPr>
        <p:spPr>
          <a:xfrm rot="5400000" flipH="1" flipV="1">
            <a:off x="5050310" y="1306332"/>
            <a:ext cx="170794" cy="244235"/>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2" name="TextBox 191"/>
          <p:cNvSpPr txBox="1"/>
          <p:nvPr/>
        </p:nvSpPr>
        <p:spPr>
          <a:xfrm>
            <a:off x="5222139" y="1219200"/>
            <a:ext cx="1037463" cy="369332"/>
          </a:xfrm>
          <a:prstGeom prst="rect">
            <a:avLst/>
          </a:prstGeom>
          <a:noFill/>
        </p:spPr>
        <p:txBody>
          <a:bodyPr wrap="none" rtlCol="0">
            <a:spAutoFit/>
          </a:bodyPr>
          <a:lstStyle/>
          <a:p>
            <a:pPr algn="ctr" defTabSz="914400" fontAlgn="base">
              <a:spcBef>
                <a:spcPct val="0"/>
              </a:spcBef>
              <a:spcAft>
                <a:spcPct val="0"/>
              </a:spcAft>
            </a:pPr>
            <a:r>
              <a:rPr lang="en-US" sz="900" dirty="0" smtClean="0">
                <a:solidFill>
                  <a:prstClr val="black"/>
                </a:solidFill>
                <a:latin typeface="Arial" charset="0"/>
              </a:rPr>
              <a:t>Title Transfer Air</a:t>
            </a:r>
          </a:p>
          <a:p>
            <a:pPr algn="ctr" defTabSz="914400" fontAlgn="base">
              <a:spcBef>
                <a:spcPct val="0"/>
              </a:spcBef>
              <a:spcAft>
                <a:spcPct val="0"/>
              </a:spcAft>
            </a:pPr>
            <a:r>
              <a:rPr lang="en-US" sz="900" dirty="0" smtClean="0">
                <a:solidFill>
                  <a:prstClr val="black"/>
                </a:solidFill>
                <a:latin typeface="Arial" charset="0"/>
              </a:rPr>
              <a:t>ODM to HP</a:t>
            </a:r>
            <a:endParaRPr lang="en-US" sz="900" dirty="0">
              <a:solidFill>
                <a:prstClr val="black"/>
              </a:solidFill>
              <a:latin typeface="Arial" charset="0"/>
            </a:endParaRPr>
          </a:p>
        </p:txBody>
      </p:sp>
      <p:sp>
        <p:nvSpPr>
          <p:cNvPr id="169" name="Rectangle 168"/>
          <p:cNvSpPr/>
          <p:nvPr/>
        </p:nvSpPr>
        <p:spPr>
          <a:xfrm>
            <a:off x="304806" y="2683726"/>
            <a:ext cx="6962775" cy="2081213"/>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cxnSp>
        <p:nvCxnSpPr>
          <p:cNvPr id="170" name="Straight Arrow Connector 169"/>
          <p:cNvCxnSpPr>
            <a:stCxn id="24" idx="3"/>
            <a:endCxn id="136" idx="1"/>
          </p:cNvCxnSpPr>
          <p:nvPr/>
        </p:nvCxnSpPr>
        <p:spPr>
          <a:xfrm>
            <a:off x="3276616" y="1630119"/>
            <a:ext cx="1140075" cy="4696"/>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71" name="Straight Arrow Connector 170"/>
          <p:cNvCxnSpPr>
            <a:stCxn id="25" idx="3"/>
            <a:endCxn id="137" idx="1"/>
          </p:cNvCxnSpPr>
          <p:nvPr/>
        </p:nvCxnSpPr>
        <p:spPr>
          <a:xfrm>
            <a:off x="3276583" y="1833321"/>
            <a:ext cx="1140075" cy="4696"/>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72" name="Straight Arrow Connector 171"/>
          <p:cNvCxnSpPr>
            <a:stCxn id="26" idx="3"/>
            <a:endCxn id="138" idx="1"/>
          </p:cNvCxnSpPr>
          <p:nvPr/>
        </p:nvCxnSpPr>
        <p:spPr>
          <a:xfrm>
            <a:off x="3285042" y="2036526"/>
            <a:ext cx="1131608" cy="4696"/>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73" name="Straight Arrow Connector 172"/>
          <p:cNvCxnSpPr>
            <a:stCxn id="27" idx="3"/>
            <a:endCxn id="139" idx="1"/>
          </p:cNvCxnSpPr>
          <p:nvPr/>
        </p:nvCxnSpPr>
        <p:spPr>
          <a:xfrm flipV="1">
            <a:off x="3293509" y="2244428"/>
            <a:ext cx="1123147" cy="1650"/>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74" name="Straight Arrow Connector 173"/>
          <p:cNvCxnSpPr>
            <a:stCxn id="28" idx="3"/>
            <a:endCxn id="140" idx="1"/>
          </p:cNvCxnSpPr>
          <p:nvPr/>
        </p:nvCxnSpPr>
        <p:spPr>
          <a:xfrm flipV="1">
            <a:off x="3293509" y="2447632"/>
            <a:ext cx="1123147" cy="8000"/>
          </a:xfrm>
          <a:prstGeom prst="straightConnector1">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65" name="Flowchart: Punched Tape 64"/>
          <p:cNvSpPr/>
          <p:nvPr/>
        </p:nvSpPr>
        <p:spPr>
          <a:xfrm>
            <a:off x="198258" y="1012357"/>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cxnSp>
        <p:nvCxnSpPr>
          <p:cNvPr id="71" name="Shape 70"/>
          <p:cNvCxnSpPr>
            <a:stCxn id="65" idx="2"/>
            <a:endCxn id="18" idx="1"/>
          </p:cNvCxnSpPr>
          <p:nvPr/>
        </p:nvCxnSpPr>
        <p:spPr>
          <a:xfrm rot="16200000" flipH="1">
            <a:off x="235503" y="1266387"/>
            <a:ext cx="459560" cy="271538"/>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72" name="Shape 71"/>
          <p:cNvCxnSpPr>
            <a:stCxn id="65" idx="2"/>
            <a:endCxn id="19" idx="1"/>
          </p:cNvCxnSpPr>
          <p:nvPr/>
        </p:nvCxnSpPr>
        <p:spPr>
          <a:xfrm rot="16200000" flipH="1">
            <a:off x="133901" y="1367992"/>
            <a:ext cx="662763" cy="271532"/>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75" name="Shape 74"/>
          <p:cNvCxnSpPr>
            <a:stCxn id="65" idx="2"/>
            <a:endCxn id="20" idx="1"/>
          </p:cNvCxnSpPr>
          <p:nvPr/>
        </p:nvCxnSpPr>
        <p:spPr>
          <a:xfrm rot="16200000" flipH="1">
            <a:off x="36516" y="1465421"/>
            <a:ext cx="865967" cy="279993"/>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78" name="Shape 77"/>
          <p:cNvCxnSpPr>
            <a:stCxn id="65" idx="2"/>
            <a:endCxn id="21" idx="1"/>
          </p:cNvCxnSpPr>
          <p:nvPr/>
        </p:nvCxnSpPr>
        <p:spPr>
          <a:xfrm rot="16200000" flipH="1">
            <a:off x="-68274" y="1570200"/>
            <a:ext cx="1075520" cy="279987"/>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81" name="Shape 80"/>
          <p:cNvCxnSpPr>
            <a:stCxn id="65" idx="2"/>
            <a:endCxn id="22" idx="1"/>
          </p:cNvCxnSpPr>
          <p:nvPr/>
        </p:nvCxnSpPr>
        <p:spPr>
          <a:xfrm rot="16200000" flipH="1">
            <a:off x="-173055" y="1674980"/>
            <a:ext cx="1285074" cy="279981"/>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576939" y="938890"/>
            <a:ext cx="1263487"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Customer Orders</a:t>
            </a:r>
            <a:endParaRPr lang="en-US" sz="1100" dirty="0">
              <a:solidFill>
                <a:prstClr val="black"/>
              </a:solidFill>
              <a:latin typeface="Arial" charset="0"/>
            </a:endParaRPr>
          </a:p>
        </p:txBody>
      </p:sp>
      <p:sp>
        <p:nvSpPr>
          <p:cNvPr id="85" name="TextBox 84"/>
          <p:cNvSpPr txBox="1"/>
          <p:nvPr/>
        </p:nvSpPr>
        <p:spPr>
          <a:xfrm>
            <a:off x="544271" y="1334050"/>
            <a:ext cx="388248"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SO</a:t>
            </a:r>
            <a:endParaRPr lang="en-US" sz="1100" dirty="0">
              <a:solidFill>
                <a:prstClr val="black"/>
              </a:solidFill>
              <a:latin typeface="Arial" charset="0"/>
            </a:endParaRPr>
          </a:p>
        </p:txBody>
      </p:sp>
      <p:sp>
        <p:nvSpPr>
          <p:cNvPr id="86" name="TextBox 85"/>
          <p:cNvSpPr txBox="1"/>
          <p:nvPr/>
        </p:nvSpPr>
        <p:spPr>
          <a:xfrm>
            <a:off x="1937675" y="1325883"/>
            <a:ext cx="388248"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PO</a:t>
            </a:r>
            <a:endParaRPr lang="en-US" sz="1100" dirty="0">
              <a:solidFill>
                <a:prstClr val="black"/>
              </a:solidFill>
              <a:latin typeface="Arial" charset="0"/>
            </a:endParaRPr>
          </a:p>
        </p:txBody>
      </p:sp>
      <p:sp>
        <p:nvSpPr>
          <p:cNvPr id="76" name="Rounded Rectangle 7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14</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99602797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9"/>
                                        </p:tgtEl>
                                        <p:attrNameLst>
                                          <p:attrName>style.visibility</p:attrName>
                                        </p:attrNameLst>
                                      </p:cBhvr>
                                      <p:to>
                                        <p:strVal val="visible"/>
                                      </p:to>
                                    </p:set>
                                    <p:animEffect transition="in" filter="fade">
                                      <p:cBhvr>
                                        <p:cTn id="10" dur="500"/>
                                        <p:tgtEl>
                                          <p:spTgt spid="6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7"/>
                                        </p:tgtEl>
                                        <p:attrNameLst>
                                          <p:attrName>style.visibility</p:attrName>
                                        </p:attrNameLst>
                                      </p:cBhvr>
                                      <p:to>
                                        <p:strVal val="visible"/>
                                      </p:to>
                                    </p:set>
                                    <p:animEffect transition="in" filter="fade">
                                      <p:cBhvr>
                                        <p:cTn id="13" dur="500"/>
                                        <p:tgtEl>
                                          <p:spTgt spid="6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fade">
                                      <p:cBhvr>
                                        <p:cTn id="16" dur="500"/>
                                        <p:tgtEl>
                                          <p:spTgt spid="6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500"/>
                                        <p:tgtEl>
                                          <p:spTgt spid="2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5"/>
                                        </p:tgtEl>
                                        <p:attrNameLst>
                                          <p:attrName>style.visibility</p:attrName>
                                        </p:attrNameLst>
                                      </p:cBhvr>
                                      <p:to>
                                        <p:strVal val="visible"/>
                                      </p:to>
                                    </p:set>
                                    <p:animEffect transition="in" filter="fade">
                                      <p:cBhvr>
                                        <p:cTn id="34" dur="500"/>
                                        <p:tgtEl>
                                          <p:spTgt spid="65"/>
                                        </p:tgtEl>
                                      </p:cBhvr>
                                    </p:animEffect>
                                  </p:childTnLst>
                                </p:cTn>
                              </p:par>
                              <p:par>
                                <p:cTn id="35" presetID="10" presetClass="entr" presetSubtype="0"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childTnLst>
                                </p:cTn>
                              </p:par>
                              <p:par>
                                <p:cTn id="38" presetID="10" presetClass="entr" presetSubtype="0" fill="hold" nodeType="withEffect">
                                  <p:stCondLst>
                                    <p:cond delay="0"/>
                                  </p:stCondLst>
                                  <p:childTnLst>
                                    <p:set>
                                      <p:cBhvr>
                                        <p:cTn id="39" dur="1" fill="hold">
                                          <p:stCondLst>
                                            <p:cond delay="0"/>
                                          </p:stCondLst>
                                        </p:cTn>
                                        <p:tgtEl>
                                          <p:spTgt spid="72"/>
                                        </p:tgtEl>
                                        <p:attrNameLst>
                                          <p:attrName>style.visibility</p:attrName>
                                        </p:attrNameLst>
                                      </p:cBhvr>
                                      <p:to>
                                        <p:strVal val="visible"/>
                                      </p:to>
                                    </p:set>
                                    <p:animEffect transition="in" filter="fade">
                                      <p:cBhvr>
                                        <p:cTn id="40" dur="500"/>
                                        <p:tgtEl>
                                          <p:spTgt spid="72"/>
                                        </p:tgtEl>
                                      </p:cBhvr>
                                    </p:animEffect>
                                  </p:childTnLst>
                                </p:cTn>
                              </p:par>
                              <p:par>
                                <p:cTn id="41" presetID="10" presetClass="entr" presetSubtype="0" fill="hold" nodeType="withEffect">
                                  <p:stCondLst>
                                    <p:cond delay="0"/>
                                  </p:stCondLst>
                                  <p:childTnLst>
                                    <p:set>
                                      <p:cBhvr>
                                        <p:cTn id="42" dur="1" fill="hold">
                                          <p:stCondLst>
                                            <p:cond delay="0"/>
                                          </p:stCondLst>
                                        </p:cTn>
                                        <p:tgtEl>
                                          <p:spTgt spid="75"/>
                                        </p:tgtEl>
                                        <p:attrNameLst>
                                          <p:attrName>style.visibility</p:attrName>
                                        </p:attrNameLst>
                                      </p:cBhvr>
                                      <p:to>
                                        <p:strVal val="visible"/>
                                      </p:to>
                                    </p:set>
                                    <p:animEffect transition="in" filter="fade">
                                      <p:cBhvr>
                                        <p:cTn id="43" dur="500"/>
                                        <p:tgtEl>
                                          <p:spTgt spid="75"/>
                                        </p:tgtEl>
                                      </p:cBhvr>
                                    </p:animEffect>
                                  </p:childTnLst>
                                </p:cTn>
                              </p:par>
                              <p:par>
                                <p:cTn id="44" presetID="10" presetClass="entr" presetSubtype="0" fill="hold" nodeType="withEffect">
                                  <p:stCondLst>
                                    <p:cond delay="0"/>
                                  </p:stCondLst>
                                  <p:childTnLst>
                                    <p:set>
                                      <p:cBhvr>
                                        <p:cTn id="45" dur="1" fill="hold">
                                          <p:stCondLst>
                                            <p:cond delay="0"/>
                                          </p:stCondLst>
                                        </p:cTn>
                                        <p:tgtEl>
                                          <p:spTgt spid="78"/>
                                        </p:tgtEl>
                                        <p:attrNameLst>
                                          <p:attrName>style.visibility</p:attrName>
                                        </p:attrNameLst>
                                      </p:cBhvr>
                                      <p:to>
                                        <p:strVal val="visible"/>
                                      </p:to>
                                    </p:set>
                                    <p:animEffect transition="in" filter="fade">
                                      <p:cBhvr>
                                        <p:cTn id="46" dur="500"/>
                                        <p:tgtEl>
                                          <p:spTgt spid="78"/>
                                        </p:tgtEl>
                                      </p:cBhvr>
                                    </p:animEffect>
                                  </p:childTnLst>
                                </p:cTn>
                              </p:par>
                              <p:par>
                                <p:cTn id="47" presetID="10" presetClass="entr" presetSubtype="0" fill="hold" nodeType="withEffect">
                                  <p:stCondLst>
                                    <p:cond delay="0"/>
                                  </p:stCondLst>
                                  <p:childTnLst>
                                    <p:set>
                                      <p:cBhvr>
                                        <p:cTn id="48" dur="1" fill="hold">
                                          <p:stCondLst>
                                            <p:cond delay="0"/>
                                          </p:stCondLst>
                                        </p:cTn>
                                        <p:tgtEl>
                                          <p:spTgt spid="81"/>
                                        </p:tgtEl>
                                        <p:attrNameLst>
                                          <p:attrName>style.visibility</p:attrName>
                                        </p:attrNameLst>
                                      </p:cBhvr>
                                      <p:to>
                                        <p:strVal val="visible"/>
                                      </p:to>
                                    </p:set>
                                    <p:animEffect transition="in" filter="fade">
                                      <p:cBhvr>
                                        <p:cTn id="49" dur="500"/>
                                        <p:tgtEl>
                                          <p:spTgt spid="8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84"/>
                                        </p:tgtEl>
                                        <p:attrNameLst>
                                          <p:attrName>style.visibility</p:attrName>
                                        </p:attrNameLst>
                                      </p:cBhvr>
                                      <p:to>
                                        <p:strVal val="visible"/>
                                      </p:to>
                                    </p:set>
                                    <p:animEffect transition="in" filter="fade">
                                      <p:cBhvr>
                                        <p:cTn id="52" dur="500"/>
                                        <p:tgtEl>
                                          <p:spTgt spid="8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5"/>
                                        </p:tgtEl>
                                        <p:attrNameLst>
                                          <p:attrName>style.visibility</p:attrName>
                                        </p:attrNameLst>
                                      </p:cBhvr>
                                      <p:to>
                                        <p:strVal val="visible"/>
                                      </p:to>
                                    </p:set>
                                    <p:animEffect transition="in" filter="fade">
                                      <p:cBhvr>
                                        <p:cTn id="55" dur="500"/>
                                        <p:tgtEl>
                                          <p:spTgt spid="85"/>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fade">
                                      <p:cBhvr>
                                        <p:cTn id="60" dur="500"/>
                                        <p:tgtEl>
                                          <p:spTgt spid="58"/>
                                        </p:tgtEl>
                                      </p:cBhvr>
                                    </p:animEffect>
                                  </p:childTnLst>
                                </p:cTn>
                              </p:par>
                              <p:par>
                                <p:cTn id="61" presetID="10" presetClass="entr" presetSubtype="0" fill="hold" nodeType="withEffect">
                                  <p:stCondLst>
                                    <p:cond delay="0"/>
                                  </p:stCondLst>
                                  <p:childTnLst>
                                    <p:set>
                                      <p:cBhvr>
                                        <p:cTn id="62" dur="1" fill="hold">
                                          <p:stCondLst>
                                            <p:cond delay="0"/>
                                          </p:stCondLst>
                                        </p:cTn>
                                        <p:tgtEl>
                                          <p:spTgt spid="90"/>
                                        </p:tgtEl>
                                        <p:attrNameLst>
                                          <p:attrName>style.visibility</p:attrName>
                                        </p:attrNameLst>
                                      </p:cBhvr>
                                      <p:to>
                                        <p:strVal val="visible"/>
                                      </p:to>
                                    </p:set>
                                    <p:animEffect transition="in" filter="fade">
                                      <p:cBhvr>
                                        <p:cTn id="63" dur="500"/>
                                        <p:tgtEl>
                                          <p:spTgt spid="90"/>
                                        </p:tgtEl>
                                      </p:cBhvr>
                                    </p:animEffect>
                                  </p:childTnLst>
                                </p:cTn>
                              </p:par>
                              <p:par>
                                <p:cTn id="64" presetID="10" presetClass="entr" presetSubtype="0" fill="hold" nodeType="withEffect">
                                  <p:stCondLst>
                                    <p:cond delay="0"/>
                                  </p:stCondLst>
                                  <p:childTnLst>
                                    <p:set>
                                      <p:cBhvr>
                                        <p:cTn id="65" dur="1" fill="hold">
                                          <p:stCondLst>
                                            <p:cond delay="0"/>
                                          </p:stCondLst>
                                        </p:cTn>
                                        <p:tgtEl>
                                          <p:spTgt spid="91"/>
                                        </p:tgtEl>
                                        <p:attrNameLst>
                                          <p:attrName>style.visibility</p:attrName>
                                        </p:attrNameLst>
                                      </p:cBhvr>
                                      <p:to>
                                        <p:strVal val="visible"/>
                                      </p:to>
                                    </p:set>
                                    <p:animEffect transition="in" filter="fade">
                                      <p:cBhvr>
                                        <p:cTn id="66" dur="500"/>
                                        <p:tgtEl>
                                          <p:spTgt spid="91"/>
                                        </p:tgtEl>
                                      </p:cBhvr>
                                    </p:animEffect>
                                  </p:childTnLst>
                                </p:cTn>
                              </p:par>
                              <p:par>
                                <p:cTn id="67" presetID="10" presetClass="entr" presetSubtype="0" fill="hold" nodeType="withEffect">
                                  <p:stCondLst>
                                    <p:cond delay="0"/>
                                  </p:stCondLst>
                                  <p:childTnLst>
                                    <p:set>
                                      <p:cBhvr>
                                        <p:cTn id="68" dur="1" fill="hold">
                                          <p:stCondLst>
                                            <p:cond delay="0"/>
                                          </p:stCondLst>
                                        </p:cTn>
                                        <p:tgtEl>
                                          <p:spTgt spid="92"/>
                                        </p:tgtEl>
                                        <p:attrNameLst>
                                          <p:attrName>style.visibility</p:attrName>
                                        </p:attrNameLst>
                                      </p:cBhvr>
                                      <p:to>
                                        <p:strVal val="visible"/>
                                      </p:to>
                                    </p:set>
                                    <p:animEffect transition="in" filter="fade">
                                      <p:cBhvr>
                                        <p:cTn id="69" dur="500"/>
                                        <p:tgtEl>
                                          <p:spTgt spid="92"/>
                                        </p:tgtEl>
                                      </p:cBhvr>
                                    </p:animEffect>
                                  </p:childTnLst>
                                </p:cTn>
                              </p:par>
                              <p:par>
                                <p:cTn id="70" presetID="10" presetClass="entr" presetSubtype="0" fill="hold" nodeType="withEffect">
                                  <p:stCondLst>
                                    <p:cond delay="0"/>
                                  </p:stCondLst>
                                  <p:childTnLst>
                                    <p:set>
                                      <p:cBhvr>
                                        <p:cTn id="71" dur="1" fill="hold">
                                          <p:stCondLst>
                                            <p:cond delay="0"/>
                                          </p:stCondLst>
                                        </p:cTn>
                                        <p:tgtEl>
                                          <p:spTgt spid="93"/>
                                        </p:tgtEl>
                                        <p:attrNameLst>
                                          <p:attrName>style.visibility</p:attrName>
                                        </p:attrNameLst>
                                      </p:cBhvr>
                                      <p:to>
                                        <p:strVal val="visible"/>
                                      </p:to>
                                    </p:set>
                                    <p:animEffect transition="in" filter="fade">
                                      <p:cBhvr>
                                        <p:cTn id="72" dur="500"/>
                                        <p:tgtEl>
                                          <p:spTgt spid="9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fade">
                                      <p:cBhvr>
                                        <p:cTn id="75" dur="500"/>
                                        <p:tgtEl>
                                          <p:spTgt spid="4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5"/>
                                        </p:tgtEl>
                                        <p:attrNameLst>
                                          <p:attrName>style.visibility</p:attrName>
                                        </p:attrNameLst>
                                      </p:cBhvr>
                                      <p:to>
                                        <p:strVal val="visible"/>
                                      </p:to>
                                    </p:set>
                                    <p:animEffect transition="in" filter="fade">
                                      <p:cBhvr>
                                        <p:cTn id="78" dur="500"/>
                                        <p:tgtEl>
                                          <p:spTgt spid="4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Effect transition="in" filter="fade">
                                      <p:cBhvr>
                                        <p:cTn id="81" dur="500"/>
                                        <p:tgtEl>
                                          <p:spTgt spid="4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fade">
                                      <p:cBhvr>
                                        <p:cTn id="84" dur="500"/>
                                        <p:tgtEl>
                                          <p:spTgt spid="4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animEffect transition="in" filter="fade">
                                      <p:cBhvr>
                                        <p:cTn id="87" dur="500"/>
                                        <p:tgtEl>
                                          <p:spTgt spid="4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86"/>
                                        </p:tgtEl>
                                        <p:attrNameLst>
                                          <p:attrName>style.visibility</p:attrName>
                                        </p:attrNameLst>
                                      </p:cBhvr>
                                      <p:to>
                                        <p:strVal val="visible"/>
                                      </p:to>
                                    </p:set>
                                    <p:animEffect transition="in" filter="fade">
                                      <p:cBhvr>
                                        <p:cTn id="90" dur="500"/>
                                        <p:tgtEl>
                                          <p:spTgt spid="86"/>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500"/>
                                        <p:tgtEl>
                                          <p:spTgt spid="24"/>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500"/>
                                        <p:tgtEl>
                                          <p:spTgt spid="2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500"/>
                                        <p:tgtEl>
                                          <p:spTgt spid="2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4" dur="500"/>
                                        <p:tgtEl>
                                          <p:spTgt spid="27"/>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500"/>
                                        <p:tgtEl>
                                          <p:spTgt spid="28"/>
                                        </p:tgtEl>
                                      </p:cBhvr>
                                    </p:animEffect>
                                  </p:childTnLst>
                                </p:cTn>
                              </p:par>
                              <p:par>
                                <p:cTn id="108" presetID="10" presetClass="entr" presetSubtype="0" fill="hold" nodeType="withEffect">
                                  <p:stCondLst>
                                    <p:cond delay="0"/>
                                  </p:stCondLst>
                                  <p:childTnLst>
                                    <p:set>
                                      <p:cBhvr>
                                        <p:cTn id="109" dur="1" fill="hold">
                                          <p:stCondLst>
                                            <p:cond delay="0"/>
                                          </p:stCondLst>
                                        </p:cTn>
                                        <p:tgtEl>
                                          <p:spTgt spid="50"/>
                                        </p:tgtEl>
                                        <p:attrNameLst>
                                          <p:attrName>style.visibility</p:attrName>
                                        </p:attrNameLst>
                                      </p:cBhvr>
                                      <p:to>
                                        <p:strVal val="visible"/>
                                      </p:to>
                                    </p:set>
                                    <p:animEffect transition="in" filter="fade">
                                      <p:cBhvr>
                                        <p:cTn id="110" dur="500"/>
                                        <p:tgtEl>
                                          <p:spTgt spid="50"/>
                                        </p:tgtEl>
                                      </p:cBhvr>
                                    </p:animEffect>
                                  </p:childTnLst>
                                </p:cTn>
                              </p:par>
                              <p:par>
                                <p:cTn id="111" presetID="10" presetClass="entr" presetSubtype="0" fill="hold" nodeType="withEffect">
                                  <p:stCondLst>
                                    <p:cond delay="0"/>
                                  </p:stCondLst>
                                  <p:childTnLst>
                                    <p:set>
                                      <p:cBhvr>
                                        <p:cTn id="112" dur="1" fill="hold">
                                          <p:stCondLst>
                                            <p:cond delay="0"/>
                                          </p:stCondLst>
                                        </p:cTn>
                                        <p:tgtEl>
                                          <p:spTgt spid="51"/>
                                        </p:tgtEl>
                                        <p:attrNameLst>
                                          <p:attrName>style.visibility</p:attrName>
                                        </p:attrNameLst>
                                      </p:cBhvr>
                                      <p:to>
                                        <p:strVal val="visible"/>
                                      </p:to>
                                    </p:set>
                                    <p:animEffect transition="in" filter="fade">
                                      <p:cBhvr>
                                        <p:cTn id="113" dur="500"/>
                                        <p:tgtEl>
                                          <p:spTgt spid="51"/>
                                        </p:tgtEl>
                                      </p:cBhvr>
                                    </p:animEffect>
                                  </p:childTnLst>
                                </p:cTn>
                              </p:par>
                              <p:par>
                                <p:cTn id="114" presetID="10" presetClass="entr" presetSubtype="0" fill="hold" nodeType="withEffect">
                                  <p:stCondLst>
                                    <p:cond delay="0"/>
                                  </p:stCondLst>
                                  <p:childTnLst>
                                    <p:set>
                                      <p:cBhvr>
                                        <p:cTn id="115" dur="1" fill="hold">
                                          <p:stCondLst>
                                            <p:cond delay="0"/>
                                          </p:stCondLst>
                                        </p:cTn>
                                        <p:tgtEl>
                                          <p:spTgt spid="52"/>
                                        </p:tgtEl>
                                        <p:attrNameLst>
                                          <p:attrName>style.visibility</p:attrName>
                                        </p:attrNameLst>
                                      </p:cBhvr>
                                      <p:to>
                                        <p:strVal val="visible"/>
                                      </p:to>
                                    </p:set>
                                    <p:animEffect transition="in" filter="fade">
                                      <p:cBhvr>
                                        <p:cTn id="116" dur="500"/>
                                        <p:tgtEl>
                                          <p:spTgt spid="52"/>
                                        </p:tgtEl>
                                      </p:cBhvr>
                                    </p:animEffect>
                                  </p:childTnLst>
                                </p:cTn>
                              </p:par>
                              <p:par>
                                <p:cTn id="117" presetID="10" presetClass="entr" presetSubtype="0" fill="hold" nodeType="withEffect">
                                  <p:stCondLst>
                                    <p:cond delay="0"/>
                                  </p:stCondLst>
                                  <p:childTnLst>
                                    <p:set>
                                      <p:cBhvr>
                                        <p:cTn id="118" dur="1" fill="hold">
                                          <p:stCondLst>
                                            <p:cond delay="0"/>
                                          </p:stCondLst>
                                        </p:cTn>
                                        <p:tgtEl>
                                          <p:spTgt spid="53"/>
                                        </p:tgtEl>
                                        <p:attrNameLst>
                                          <p:attrName>style.visibility</p:attrName>
                                        </p:attrNameLst>
                                      </p:cBhvr>
                                      <p:to>
                                        <p:strVal val="visible"/>
                                      </p:to>
                                    </p:set>
                                    <p:animEffect transition="in" filter="fade">
                                      <p:cBhvr>
                                        <p:cTn id="119" dur="500"/>
                                        <p:tgtEl>
                                          <p:spTgt spid="53"/>
                                        </p:tgtEl>
                                      </p:cBhvr>
                                    </p:animEffect>
                                  </p:childTnLst>
                                </p:cTn>
                              </p:par>
                              <p:par>
                                <p:cTn id="120" presetID="10" presetClass="entr" presetSubtype="0" fill="hold" nodeType="withEffect">
                                  <p:stCondLst>
                                    <p:cond delay="0"/>
                                  </p:stCondLst>
                                  <p:childTnLst>
                                    <p:set>
                                      <p:cBhvr>
                                        <p:cTn id="121" dur="1" fill="hold">
                                          <p:stCondLst>
                                            <p:cond delay="0"/>
                                          </p:stCondLst>
                                        </p:cTn>
                                        <p:tgtEl>
                                          <p:spTgt spid="54"/>
                                        </p:tgtEl>
                                        <p:attrNameLst>
                                          <p:attrName>style.visibility</p:attrName>
                                        </p:attrNameLst>
                                      </p:cBhvr>
                                      <p:to>
                                        <p:strVal val="visible"/>
                                      </p:to>
                                    </p:set>
                                    <p:animEffect transition="in" filter="fade">
                                      <p:cBhvr>
                                        <p:cTn id="122" dur="500"/>
                                        <p:tgtEl>
                                          <p:spTgt spid="54"/>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136"/>
                                        </p:tgtEl>
                                        <p:attrNameLst>
                                          <p:attrName>style.visibility</p:attrName>
                                        </p:attrNameLst>
                                      </p:cBhvr>
                                      <p:to>
                                        <p:strVal val="visible"/>
                                      </p:to>
                                    </p:set>
                                    <p:animEffect transition="in" filter="fade">
                                      <p:cBhvr>
                                        <p:cTn id="127" dur="500"/>
                                        <p:tgtEl>
                                          <p:spTgt spid="136"/>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37"/>
                                        </p:tgtEl>
                                        <p:attrNameLst>
                                          <p:attrName>style.visibility</p:attrName>
                                        </p:attrNameLst>
                                      </p:cBhvr>
                                      <p:to>
                                        <p:strVal val="visible"/>
                                      </p:to>
                                    </p:set>
                                    <p:animEffect transition="in" filter="fade">
                                      <p:cBhvr>
                                        <p:cTn id="130" dur="500"/>
                                        <p:tgtEl>
                                          <p:spTgt spid="137"/>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38"/>
                                        </p:tgtEl>
                                        <p:attrNameLst>
                                          <p:attrName>style.visibility</p:attrName>
                                        </p:attrNameLst>
                                      </p:cBhvr>
                                      <p:to>
                                        <p:strVal val="visible"/>
                                      </p:to>
                                    </p:set>
                                    <p:animEffect transition="in" filter="fade">
                                      <p:cBhvr>
                                        <p:cTn id="133" dur="500"/>
                                        <p:tgtEl>
                                          <p:spTgt spid="138"/>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39"/>
                                        </p:tgtEl>
                                        <p:attrNameLst>
                                          <p:attrName>style.visibility</p:attrName>
                                        </p:attrNameLst>
                                      </p:cBhvr>
                                      <p:to>
                                        <p:strVal val="visible"/>
                                      </p:to>
                                    </p:set>
                                    <p:animEffect transition="in" filter="fade">
                                      <p:cBhvr>
                                        <p:cTn id="136" dur="500"/>
                                        <p:tgtEl>
                                          <p:spTgt spid="139"/>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140"/>
                                        </p:tgtEl>
                                        <p:attrNameLst>
                                          <p:attrName>style.visibility</p:attrName>
                                        </p:attrNameLst>
                                      </p:cBhvr>
                                      <p:to>
                                        <p:strVal val="visible"/>
                                      </p:to>
                                    </p:set>
                                    <p:animEffect transition="in" filter="fade">
                                      <p:cBhvr>
                                        <p:cTn id="139" dur="500"/>
                                        <p:tgtEl>
                                          <p:spTgt spid="140"/>
                                        </p:tgtEl>
                                      </p:cBhvr>
                                    </p:animEffect>
                                  </p:childTnLst>
                                </p:cTn>
                              </p:par>
                              <p:par>
                                <p:cTn id="140" presetID="10" presetClass="entr" presetSubtype="0" fill="hold" nodeType="withEffect">
                                  <p:stCondLst>
                                    <p:cond delay="0"/>
                                  </p:stCondLst>
                                  <p:childTnLst>
                                    <p:set>
                                      <p:cBhvr>
                                        <p:cTn id="141" dur="1" fill="hold">
                                          <p:stCondLst>
                                            <p:cond delay="0"/>
                                          </p:stCondLst>
                                        </p:cTn>
                                        <p:tgtEl>
                                          <p:spTgt spid="170"/>
                                        </p:tgtEl>
                                        <p:attrNameLst>
                                          <p:attrName>style.visibility</p:attrName>
                                        </p:attrNameLst>
                                      </p:cBhvr>
                                      <p:to>
                                        <p:strVal val="visible"/>
                                      </p:to>
                                    </p:set>
                                    <p:animEffect transition="in" filter="fade">
                                      <p:cBhvr>
                                        <p:cTn id="142" dur="500"/>
                                        <p:tgtEl>
                                          <p:spTgt spid="170"/>
                                        </p:tgtEl>
                                      </p:cBhvr>
                                    </p:animEffect>
                                  </p:childTnLst>
                                </p:cTn>
                              </p:par>
                              <p:par>
                                <p:cTn id="143" presetID="10" presetClass="entr" presetSubtype="0" fill="hold" nodeType="withEffect">
                                  <p:stCondLst>
                                    <p:cond delay="0"/>
                                  </p:stCondLst>
                                  <p:childTnLst>
                                    <p:set>
                                      <p:cBhvr>
                                        <p:cTn id="144" dur="1" fill="hold">
                                          <p:stCondLst>
                                            <p:cond delay="0"/>
                                          </p:stCondLst>
                                        </p:cTn>
                                        <p:tgtEl>
                                          <p:spTgt spid="171"/>
                                        </p:tgtEl>
                                        <p:attrNameLst>
                                          <p:attrName>style.visibility</p:attrName>
                                        </p:attrNameLst>
                                      </p:cBhvr>
                                      <p:to>
                                        <p:strVal val="visible"/>
                                      </p:to>
                                    </p:set>
                                    <p:animEffect transition="in" filter="fade">
                                      <p:cBhvr>
                                        <p:cTn id="145" dur="500"/>
                                        <p:tgtEl>
                                          <p:spTgt spid="171"/>
                                        </p:tgtEl>
                                      </p:cBhvr>
                                    </p:animEffect>
                                  </p:childTnLst>
                                </p:cTn>
                              </p:par>
                              <p:par>
                                <p:cTn id="146" presetID="10" presetClass="entr" presetSubtype="0" fill="hold" nodeType="withEffect">
                                  <p:stCondLst>
                                    <p:cond delay="0"/>
                                  </p:stCondLst>
                                  <p:childTnLst>
                                    <p:set>
                                      <p:cBhvr>
                                        <p:cTn id="147" dur="1" fill="hold">
                                          <p:stCondLst>
                                            <p:cond delay="0"/>
                                          </p:stCondLst>
                                        </p:cTn>
                                        <p:tgtEl>
                                          <p:spTgt spid="172"/>
                                        </p:tgtEl>
                                        <p:attrNameLst>
                                          <p:attrName>style.visibility</p:attrName>
                                        </p:attrNameLst>
                                      </p:cBhvr>
                                      <p:to>
                                        <p:strVal val="visible"/>
                                      </p:to>
                                    </p:set>
                                    <p:animEffect transition="in" filter="fade">
                                      <p:cBhvr>
                                        <p:cTn id="148" dur="500"/>
                                        <p:tgtEl>
                                          <p:spTgt spid="172"/>
                                        </p:tgtEl>
                                      </p:cBhvr>
                                    </p:animEffect>
                                  </p:childTnLst>
                                </p:cTn>
                              </p:par>
                              <p:par>
                                <p:cTn id="149" presetID="10" presetClass="entr" presetSubtype="0" fill="hold" nodeType="withEffect">
                                  <p:stCondLst>
                                    <p:cond delay="0"/>
                                  </p:stCondLst>
                                  <p:childTnLst>
                                    <p:set>
                                      <p:cBhvr>
                                        <p:cTn id="150" dur="1" fill="hold">
                                          <p:stCondLst>
                                            <p:cond delay="0"/>
                                          </p:stCondLst>
                                        </p:cTn>
                                        <p:tgtEl>
                                          <p:spTgt spid="173"/>
                                        </p:tgtEl>
                                        <p:attrNameLst>
                                          <p:attrName>style.visibility</p:attrName>
                                        </p:attrNameLst>
                                      </p:cBhvr>
                                      <p:to>
                                        <p:strVal val="visible"/>
                                      </p:to>
                                    </p:set>
                                    <p:animEffect transition="in" filter="fade">
                                      <p:cBhvr>
                                        <p:cTn id="151" dur="500"/>
                                        <p:tgtEl>
                                          <p:spTgt spid="173"/>
                                        </p:tgtEl>
                                      </p:cBhvr>
                                    </p:animEffect>
                                  </p:childTnLst>
                                </p:cTn>
                              </p:par>
                              <p:par>
                                <p:cTn id="152" presetID="10" presetClass="entr" presetSubtype="0" fill="hold" nodeType="withEffect">
                                  <p:stCondLst>
                                    <p:cond delay="0"/>
                                  </p:stCondLst>
                                  <p:childTnLst>
                                    <p:set>
                                      <p:cBhvr>
                                        <p:cTn id="153" dur="1" fill="hold">
                                          <p:stCondLst>
                                            <p:cond delay="0"/>
                                          </p:stCondLst>
                                        </p:cTn>
                                        <p:tgtEl>
                                          <p:spTgt spid="174"/>
                                        </p:tgtEl>
                                        <p:attrNameLst>
                                          <p:attrName>style.visibility</p:attrName>
                                        </p:attrNameLst>
                                      </p:cBhvr>
                                      <p:to>
                                        <p:strVal val="visible"/>
                                      </p:to>
                                    </p:set>
                                    <p:animEffect transition="in" filter="fade">
                                      <p:cBhvr>
                                        <p:cTn id="154" dur="500"/>
                                        <p:tgtEl>
                                          <p:spTgt spid="174"/>
                                        </p:tgtEl>
                                      </p:cBhvr>
                                    </p:animEffect>
                                  </p:childTnLst>
                                </p:cTn>
                              </p:par>
                            </p:childTnLst>
                          </p:cTn>
                        </p:par>
                      </p:childTnLst>
                    </p:cTn>
                  </p:par>
                  <p:par>
                    <p:cTn id="155" fill="hold">
                      <p:stCondLst>
                        <p:cond delay="indefinite"/>
                      </p:stCondLst>
                      <p:childTnLst>
                        <p:par>
                          <p:cTn id="156" fill="hold">
                            <p:stCondLst>
                              <p:cond delay="0"/>
                            </p:stCondLst>
                            <p:childTnLst>
                              <p:par>
                                <p:cTn id="157" presetID="10" presetClass="entr" presetSubtype="0" fill="hold" grpId="0" nodeType="clickEffect">
                                  <p:stCondLst>
                                    <p:cond delay="0"/>
                                  </p:stCondLst>
                                  <p:childTnLst>
                                    <p:set>
                                      <p:cBhvr>
                                        <p:cTn id="158" dur="1" fill="hold">
                                          <p:stCondLst>
                                            <p:cond delay="0"/>
                                          </p:stCondLst>
                                        </p:cTn>
                                        <p:tgtEl>
                                          <p:spTgt spid="94"/>
                                        </p:tgtEl>
                                        <p:attrNameLst>
                                          <p:attrName>style.visibility</p:attrName>
                                        </p:attrNameLst>
                                      </p:cBhvr>
                                      <p:to>
                                        <p:strVal val="visible"/>
                                      </p:to>
                                    </p:set>
                                    <p:animEffect transition="in" filter="fade">
                                      <p:cBhvr>
                                        <p:cTn id="159" dur="500"/>
                                        <p:tgtEl>
                                          <p:spTgt spid="94"/>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106"/>
                                        </p:tgtEl>
                                        <p:attrNameLst>
                                          <p:attrName>style.visibility</p:attrName>
                                        </p:attrNameLst>
                                      </p:cBhvr>
                                      <p:to>
                                        <p:strVal val="visible"/>
                                      </p:to>
                                    </p:set>
                                    <p:animEffect transition="in" filter="fade">
                                      <p:cBhvr>
                                        <p:cTn id="162" dur="500"/>
                                        <p:tgtEl>
                                          <p:spTgt spid="106"/>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112"/>
                                        </p:tgtEl>
                                        <p:attrNameLst>
                                          <p:attrName>style.visibility</p:attrName>
                                        </p:attrNameLst>
                                      </p:cBhvr>
                                      <p:to>
                                        <p:strVal val="visible"/>
                                      </p:to>
                                    </p:set>
                                    <p:animEffect transition="in" filter="fade">
                                      <p:cBhvr>
                                        <p:cTn id="165" dur="500"/>
                                        <p:tgtEl>
                                          <p:spTgt spid="112"/>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115"/>
                                        </p:tgtEl>
                                        <p:attrNameLst>
                                          <p:attrName>style.visibility</p:attrName>
                                        </p:attrNameLst>
                                      </p:cBhvr>
                                      <p:to>
                                        <p:strVal val="visible"/>
                                      </p:to>
                                    </p:set>
                                    <p:animEffect transition="in" filter="fade">
                                      <p:cBhvr>
                                        <p:cTn id="168" dur="500"/>
                                        <p:tgtEl>
                                          <p:spTgt spid="115"/>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117"/>
                                        </p:tgtEl>
                                        <p:attrNameLst>
                                          <p:attrName>style.visibility</p:attrName>
                                        </p:attrNameLst>
                                      </p:cBhvr>
                                      <p:to>
                                        <p:strVal val="visible"/>
                                      </p:to>
                                    </p:set>
                                    <p:animEffect transition="in" filter="fade">
                                      <p:cBhvr>
                                        <p:cTn id="171" dur="500"/>
                                        <p:tgtEl>
                                          <p:spTgt spid="117"/>
                                        </p:tgtEl>
                                      </p:cBhvr>
                                    </p:animEffect>
                                  </p:childTnLst>
                                </p:cTn>
                              </p:par>
                              <p:par>
                                <p:cTn id="172" presetID="10" presetClass="entr" presetSubtype="0" fill="hold" nodeType="withEffect">
                                  <p:stCondLst>
                                    <p:cond delay="0"/>
                                  </p:stCondLst>
                                  <p:childTnLst>
                                    <p:set>
                                      <p:cBhvr>
                                        <p:cTn id="173" dur="1" fill="hold">
                                          <p:stCondLst>
                                            <p:cond delay="0"/>
                                          </p:stCondLst>
                                        </p:cTn>
                                        <p:tgtEl>
                                          <p:spTgt spid="141"/>
                                        </p:tgtEl>
                                        <p:attrNameLst>
                                          <p:attrName>style.visibility</p:attrName>
                                        </p:attrNameLst>
                                      </p:cBhvr>
                                      <p:to>
                                        <p:strVal val="visible"/>
                                      </p:to>
                                    </p:set>
                                    <p:animEffect transition="in" filter="fade">
                                      <p:cBhvr>
                                        <p:cTn id="174" dur="500"/>
                                        <p:tgtEl>
                                          <p:spTgt spid="141"/>
                                        </p:tgtEl>
                                      </p:cBhvr>
                                    </p:animEffect>
                                  </p:childTnLst>
                                </p:cTn>
                              </p:par>
                              <p:par>
                                <p:cTn id="175" presetID="10" presetClass="entr" presetSubtype="0" fill="hold" nodeType="withEffect">
                                  <p:stCondLst>
                                    <p:cond delay="0"/>
                                  </p:stCondLst>
                                  <p:childTnLst>
                                    <p:set>
                                      <p:cBhvr>
                                        <p:cTn id="176" dur="1" fill="hold">
                                          <p:stCondLst>
                                            <p:cond delay="0"/>
                                          </p:stCondLst>
                                        </p:cTn>
                                        <p:tgtEl>
                                          <p:spTgt spid="142"/>
                                        </p:tgtEl>
                                        <p:attrNameLst>
                                          <p:attrName>style.visibility</p:attrName>
                                        </p:attrNameLst>
                                      </p:cBhvr>
                                      <p:to>
                                        <p:strVal val="visible"/>
                                      </p:to>
                                    </p:set>
                                    <p:animEffect transition="in" filter="fade">
                                      <p:cBhvr>
                                        <p:cTn id="177" dur="500"/>
                                        <p:tgtEl>
                                          <p:spTgt spid="142"/>
                                        </p:tgtEl>
                                      </p:cBhvr>
                                    </p:animEffect>
                                  </p:childTnLst>
                                </p:cTn>
                              </p:par>
                              <p:par>
                                <p:cTn id="178" presetID="10" presetClass="entr" presetSubtype="0" fill="hold" nodeType="withEffect">
                                  <p:stCondLst>
                                    <p:cond delay="0"/>
                                  </p:stCondLst>
                                  <p:childTnLst>
                                    <p:set>
                                      <p:cBhvr>
                                        <p:cTn id="179" dur="1" fill="hold">
                                          <p:stCondLst>
                                            <p:cond delay="0"/>
                                          </p:stCondLst>
                                        </p:cTn>
                                        <p:tgtEl>
                                          <p:spTgt spid="145"/>
                                        </p:tgtEl>
                                        <p:attrNameLst>
                                          <p:attrName>style.visibility</p:attrName>
                                        </p:attrNameLst>
                                      </p:cBhvr>
                                      <p:to>
                                        <p:strVal val="visible"/>
                                      </p:to>
                                    </p:set>
                                    <p:animEffect transition="in" filter="fade">
                                      <p:cBhvr>
                                        <p:cTn id="180" dur="500"/>
                                        <p:tgtEl>
                                          <p:spTgt spid="145"/>
                                        </p:tgtEl>
                                      </p:cBhvr>
                                    </p:animEffect>
                                  </p:childTnLst>
                                </p:cTn>
                              </p:par>
                              <p:par>
                                <p:cTn id="181" presetID="10" presetClass="entr" presetSubtype="0" fill="hold" nodeType="withEffect">
                                  <p:stCondLst>
                                    <p:cond delay="0"/>
                                  </p:stCondLst>
                                  <p:childTnLst>
                                    <p:set>
                                      <p:cBhvr>
                                        <p:cTn id="182" dur="1" fill="hold">
                                          <p:stCondLst>
                                            <p:cond delay="0"/>
                                          </p:stCondLst>
                                        </p:cTn>
                                        <p:tgtEl>
                                          <p:spTgt spid="148"/>
                                        </p:tgtEl>
                                        <p:attrNameLst>
                                          <p:attrName>style.visibility</p:attrName>
                                        </p:attrNameLst>
                                      </p:cBhvr>
                                      <p:to>
                                        <p:strVal val="visible"/>
                                      </p:to>
                                    </p:set>
                                    <p:animEffect transition="in" filter="fade">
                                      <p:cBhvr>
                                        <p:cTn id="183" dur="500"/>
                                        <p:tgtEl>
                                          <p:spTgt spid="148"/>
                                        </p:tgtEl>
                                      </p:cBhvr>
                                    </p:animEffect>
                                  </p:childTnLst>
                                </p:cTn>
                              </p:par>
                              <p:par>
                                <p:cTn id="184" presetID="10" presetClass="entr" presetSubtype="0" fill="hold" nodeType="withEffect">
                                  <p:stCondLst>
                                    <p:cond delay="0"/>
                                  </p:stCondLst>
                                  <p:childTnLst>
                                    <p:set>
                                      <p:cBhvr>
                                        <p:cTn id="185" dur="1" fill="hold">
                                          <p:stCondLst>
                                            <p:cond delay="0"/>
                                          </p:stCondLst>
                                        </p:cTn>
                                        <p:tgtEl>
                                          <p:spTgt spid="151"/>
                                        </p:tgtEl>
                                        <p:attrNameLst>
                                          <p:attrName>style.visibility</p:attrName>
                                        </p:attrNameLst>
                                      </p:cBhvr>
                                      <p:to>
                                        <p:strVal val="visible"/>
                                      </p:to>
                                    </p:set>
                                    <p:animEffect transition="in" filter="fade">
                                      <p:cBhvr>
                                        <p:cTn id="186" dur="500"/>
                                        <p:tgtEl>
                                          <p:spTgt spid="151"/>
                                        </p:tgtEl>
                                      </p:cBhvr>
                                    </p:animEffect>
                                  </p:childTnLst>
                                </p:cTn>
                              </p:par>
                            </p:childTnLst>
                          </p:cTn>
                        </p:par>
                      </p:childTnLst>
                    </p:cTn>
                  </p:par>
                  <p:par>
                    <p:cTn id="187" fill="hold">
                      <p:stCondLst>
                        <p:cond delay="indefinite"/>
                      </p:stCondLst>
                      <p:childTnLst>
                        <p:par>
                          <p:cTn id="188" fill="hold">
                            <p:stCondLst>
                              <p:cond delay="0"/>
                            </p:stCondLst>
                            <p:childTnLst>
                              <p:par>
                                <p:cTn id="189" presetID="10" presetClass="entr" presetSubtype="0" fill="hold" grpId="0" nodeType="clickEffect">
                                  <p:stCondLst>
                                    <p:cond delay="0"/>
                                  </p:stCondLst>
                                  <p:childTnLst>
                                    <p:set>
                                      <p:cBhvr>
                                        <p:cTn id="190" dur="1" fill="hold">
                                          <p:stCondLst>
                                            <p:cond delay="0"/>
                                          </p:stCondLst>
                                        </p:cTn>
                                        <p:tgtEl>
                                          <p:spTgt spid="190"/>
                                        </p:tgtEl>
                                        <p:attrNameLst>
                                          <p:attrName>style.visibility</p:attrName>
                                        </p:attrNameLst>
                                      </p:cBhvr>
                                      <p:to>
                                        <p:strVal val="visible"/>
                                      </p:to>
                                    </p:set>
                                    <p:animEffect transition="in" filter="fade">
                                      <p:cBhvr>
                                        <p:cTn id="191" dur="500"/>
                                        <p:tgtEl>
                                          <p:spTgt spid="190"/>
                                        </p:tgtEl>
                                      </p:cBhvr>
                                    </p:animEffect>
                                  </p:childTnLst>
                                </p:cTn>
                              </p:par>
                              <p:par>
                                <p:cTn id="192" presetID="10" presetClass="entr" presetSubtype="0" fill="hold" nodeType="withEffect">
                                  <p:stCondLst>
                                    <p:cond delay="0"/>
                                  </p:stCondLst>
                                  <p:childTnLst>
                                    <p:set>
                                      <p:cBhvr>
                                        <p:cTn id="193" dur="1" fill="hold">
                                          <p:stCondLst>
                                            <p:cond delay="0"/>
                                          </p:stCondLst>
                                        </p:cTn>
                                        <p:tgtEl>
                                          <p:spTgt spid="191"/>
                                        </p:tgtEl>
                                        <p:attrNameLst>
                                          <p:attrName>style.visibility</p:attrName>
                                        </p:attrNameLst>
                                      </p:cBhvr>
                                      <p:to>
                                        <p:strVal val="visible"/>
                                      </p:to>
                                    </p:set>
                                    <p:animEffect transition="in" filter="fade">
                                      <p:cBhvr>
                                        <p:cTn id="194" dur="500"/>
                                        <p:tgtEl>
                                          <p:spTgt spid="191"/>
                                        </p:tgtEl>
                                      </p:cBhvr>
                                    </p:animEffect>
                                  </p:childTnLst>
                                </p:cTn>
                              </p:par>
                              <p:par>
                                <p:cTn id="195" presetID="10" presetClass="entr" presetSubtype="0" fill="hold" grpId="0" nodeType="withEffect">
                                  <p:stCondLst>
                                    <p:cond delay="0"/>
                                  </p:stCondLst>
                                  <p:childTnLst>
                                    <p:set>
                                      <p:cBhvr>
                                        <p:cTn id="196" dur="1" fill="hold">
                                          <p:stCondLst>
                                            <p:cond delay="0"/>
                                          </p:stCondLst>
                                        </p:cTn>
                                        <p:tgtEl>
                                          <p:spTgt spid="192"/>
                                        </p:tgtEl>
                                        <p:attrNameLst>
                                          <p:attrName>style.visibility</p:attrName>
                                        </p:attrNameLst>
                                      </p:cBhvr>
                                      <p:to>
                                        <p:strVal val="visible"/>
                                      </p:to>
                                    </p:set>
                                    <p:animEffect transition="in" filter="fade">
                                      <p:cBhvr>
                                        <p:cTn id="197" dur="5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67" grpId="0" animBg="1"/>
      <p:bldP spid="66" grpId="0" animBg="1"/>
      <p:bldP spid="24" grpId="0" animBg="1"/>
      <p:bldP spid="25" grpId="0" animBg="1"/>
      <p:bldP spid="26" grpId="0" animBg="1"/>
      <p:bldP spid="27" grpId="0" animBg="1"/>
      <p:bldP spid="28" grpId="0" animBg="1"/>
      <p:bldP spid="18" grpId="0" animBg="1"/>
      <p:bldP spid="19" grpId="0" animBg="1"/>
      <p:bldP spid="20" grpId="0" animBg="1"/>
      <p:bldP spid="21" grpId="0" animBg="1"/>
      <p:bldP spid="22" grpId="0" animBg="1"/>
      <p:bldP spid="44" grpId="0" animBg="1"/>
      <p:bldP spid="45" grpId="0" animBg="1"/>
      <p:bldP spid="46" grpId="0" animBg="1"/>
      <p:bldP spid="47" grpId="0" animBg="1"/>
      <p:bldP spid="48" grpId="0" animBg="1"/>
      <p:bldP spid="136" grpId="0" animBg="1"/>
      <p:bldP spid="137" grpId="0" animBg="1"/>
      <p:bldP spid="138" grpId="0" animBg="1"/>
      <p:bldP spid="139" grpId="0" animBg="1"/>
      <p:bldP spid="140" grpId="0" animBg="1"/>
      <p:bldP spid="94" grpId="0" animBg="1"/>
      <p:bldP spid="106" grpId="0" animBg="1"/>
      <p:bldP spid="112" grpId="0" animBg="1"/>
      <p:bldP spid="115" grpId="0" animBg="1"/>
      <p:bldP spid="117" grpId="0" animBg="1"/>
      <p:bldP spid="190" grpId="0" animBg="1"/>
      <p:bldP spid="192" grpId="0"/>
      <p:bldP spid="65" grpId="0" animBg="1"/>
      <p:bldP spid="84" grpId="0"/>
      <p:bldP spid="85" grpId="0"/>
      <p:bldP spid="8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p:cNvSpPr/>
          <p:nvPr/>
        </p:nvSpPr>
        <p:spPr>
          <a:xfrm>
            <a:off x="512717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sz="1600" b="1" dirty="0" smtClean="0">
                <a:solidFill>
                  <a:prstClr val="black"/>
                </a:solidFill>
                <a:latin typeface="Calibri" pitchFamily="34" charset="0"/>
                <a:cs typeface="Calibri" pitchFamily="34" charset="0"/>
              </a:rPr>
              <a:t>VMI/HP</a:t>
            </a:r>
          </a:p>
          <a:p>
            <a:pPr algn="ctr" defTabSz="914400" fontAlgn="base">
              <a:lnSpc>
                <a:spcPct val="70000"/>
              </a:lnSpc>
              <a:spcBef>
                <a:spcPct val="0"/>
              </a:spcBef>
              <a:spcAft>
                <a:spcPct val="0"/>
              </a:spcAft>
            </a:pPr>
            <a:r>
              <a:rPr lang="en-US" sz="1600" b="1" dirty="0" smtClean="0">
                <a:solidFill>
                  <a:prstClr val="black"/>
                </a:solidFill>
                <a:latin typeface="Calibri" pitchFamily="34" charset="0"/>
                <a:cs typeface="Calibri" pitchFamily="34" charset="0"/>
              </a:rPr>
              <a:t>Hub</a:t>
            </a:r>
          </a:p>
        </p:txBody>
      </p:sp>
      <p:sp>
        <p:nvSpPr>
          <p:cNvPr id="36" name="Rectangle 35"/>
          <p:cNvSpPr/>
          <p:nvPr/>
        </p:nvSpPr>
        <p:spPr>
          <a:xfrm>
            <a:off x="428181" y="1287232"/>
            <a:ext cx="2053781" cy="1344378"/>
          </a:xfrm>
          <a:prstGeom prst="rect">
            <a:avLst/>
          </a:prstGeom>
          <a:gradFill>
            <a:gsLst>
              <a:gs pos="0">
                <a:srgbClr val="0000FF"/>
              </a:gs>
              <a:gs pos="50000">
                <a:srgbClr val="0066FF">
                  <a:alpha val="49000"/>
                </a:srgbClr>
              </a:gs>
              <a:gs pos="100000">
                <a:srgbClr val="0000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HP</a:t>
            </a:r>
          </a:p>
        </p:txBody>
      </p:sp>
      <p:sp>
        <p:nvSpPr>
          <p:cNvPr id="55" name="Rectangle 54"/>
          <p:cNvSpPr/>
          <p:nvPr/>
        </p:nvSpPr>
        <p:spPr>
          <a:xfrm>
            <a:off x="5119978" y="2820313"/>
            <a:ext cx="2075551" cy="1360736"/>
          </a:xfrm>
          <a:prstGeom prst="rect">
            <a:avLst/>
          </a:prstGeom>
          <a:gradFill>
            <a:gsLst>
              <a:gs pos="0">
                <a:srgbClr val="9966FF"/>
              </a:gs>
              <a:gs pos="50000">
                <a:srgbClr val="9966FF">
                  <a:alpha val="1000"/>
                </a:srgbClr>
              </a:gs>
              <a:gs pos="100000">
                <a:srgbClr val="9966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PCC</a:t>
            </a:r>
          </a:p>
        </p:txBody>
      </p:sp>
      <p:sp>
        <p:nvSpPr>
          <p:cNvPr id="2" name="Title 1"/>
          <p:cNvSpPr>
            <a:spLocks noGrp="1"/>
          </p:cNvSpPr>
          <p:nvPr>
            <p:ph type="title"/>
          </p:nvPr>
        </p:nvSpPr>
        <p:spPr/>
        <p:txBody>
          <a:bodyPr/>
          <a:lstStyle/>
          <a:p>
            <a:r>
              <a:rPr lang="en-US" dirty="0" err="1" smtClean="0"/>
              <a:t>BSaM</a:t>
            </a:r>
            <a:r>
              <a:rPr lang="en-US" dirty="0" smtClean="0"/>
              <a:t> Postponement Parts Positioning</a:t>
            </a:r>
            <a:endParaRPr lang="en-US" dirty="0"/>
          </a:p>
        </p:txBody>
      </p:sp>
      <p:sp>
        <p:nvSpPr>
          <p:cNvPr id="8" name="Rectangle 7"/>
          <p:cNvSpPr/>
          <p:nvPr/>
        </p:nvSpPr>
        <p:spPr>
          <a:xfrm>
            <a:off x="2844805" y="1279039"/>
            <a:ext cx="2075551" cy="1360736"/>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ODM</a:t>
            </a:r>
          </a:p>
        </p:txBody>
      </p:sp>
      <p:sp>
        <p:nvSpPr>
          <p:cNvPr id="11" name="Rectangle 10"/>
          <p:cNvSpPr/>
          <p:nvPr/>
        </p:nvSpPr>
        <p:spPr>
          <a:xfrm>
            <a:off x="7645406" y="1304467"/>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A</a:t>
            </a:r>
          </a:p>
        </p:txBody>
      </p:sp>
      <p:sp>
        <p:nvSpPr>
          <p:cNvPr id="85" name="Rectangle 84"/>
          <p:cNvSpPr/>
          <p:nvPr/>
        </p:nvSpPr>
        <p:spPr>
          <a:xfrm>
            <a:off x="5198558" y="4306023"/>
            <a:ext cx="499533" cy="355600"/>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white"/>
                </a:solidFill>
              </a:rPr>
              <a:t>B</a:t>
            </a:r>
          </a:p>
        </p:txBody>
      </p:sp>
      <p:sp>
        <p:nvSpPr>
          <p:cNvPr id="105" name="Rectangle 104"/>
          <p:cNvSpPr/>
          <p:nvPr/>
        </p:nvSpPr>
        <p:spPr>
          <a:xfrm>
            <a:off x="7645406" y="20474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B</a:t>
            </a:r>
          </a:p>
        </p:txBody>
      </p:sp>
      <p:sp>
        <p:nvSpPr>
          <p:cNvPr id="110" name="Rectangle 109"/>
          <p:cNvSpPr/>
          <p:nvPr/>
        </p:nvSpPr>
        <p:spPr>
          <a:xfrm>
            <a:off x="7645406" y="27822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C</a:t>
            </a:r>
          </a:p>
        </p:txBody>
      </p:sp>
      <p:sp>
        <p:nvSpPr>
          <p:cNvPr id="113" name="Rectangle 112"/>
          <p:cNvSpPr/>
          <p:nvPr/>
        </p:nvSpPr>
        <p:spPr>
          <a:xfrm>
            <a:off x="7645406" y="3533368"/>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D</a:t>
            </a:r>
          </a:p>
        </p:txBody>
      </p:sp>
      <p:sp>
        <p:nvSpPr>
          <p:cNvPr id="116" name="Rectangle 115"/>
          <p:cNvSpPr/>
          <p:nvPr/>
        </p:nvSpPr>
        <p:spPr>
          <a:xfrm>
            <a:off x="7645406" y="4268170"/>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E</a:t>
            </a:r>
          </a:p>
        </p:txBody>
      </p:sp>
      <p:sp>
        <p:nvSpPr>
          <p:cNvPr id="189" name="Rectangle 188"/>
          <p:cNvSpPr/>
          <p:nvPr/>
        </p:nvSpPr>
        <p:spPr>
          <a:xfrm>
            <a:off x="42182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sz="1600" b="1" dirty="0" smtClean="0">
                <a:solidFill>
                  <a:prstClr val="black"/>
                </a:solidFill>
                <a:latin typeface="Calibri" pitchFamily="34" charset="0"/>
                <a:cs typeface="Calibri" pitchFamily="34" charset="0"/>
              </a:rPr>
              <a:t>Component</a:t>
            </a:r>
          </a:p>
          <a:p>
            <a:pPr algn="ctr" defTabSz="914400" fontAlgn="base">
              <a:lnSpc>
                <a:spcPct val="70000"/>
              </a:lnSpc>
              <a:spcBef>
                <a:spcPct val="0"/>
              </a:spcBef>
              <a:spcAft>
                <a:spcPct val="0"/>
              </a:spcAft>
            </a:pPr>
            <a:r>
              <a:rPr lang="en-US" sz="1600" b="1" dirty="0" smtClean="0">
                <a:solidFill>
                  <a:prstClr val="black"/>
                </a:solidFill>
                <a:latin typeface="Calibri" pitchFamily="34" charset="0"/>
                <a:cs typeface="Calibri" pitchFamily="34" charset="0"/>
              </a:rPr>
              <a:t> &amp; DIB Suppliers</a:t>
            </a:r>
          </a:p>
        </p:txBody>
      </p:sp>
      <p:sp>
        <p:nvSpPr>
          <p:cNvPr id="104" name="Rectangle 103"/>
          <p:cNvSpPr/>
          <p:nvPr/>
        </p:nvSpPr>
        <p:spPr>
          <a:xfrm>
            <a:off x="4991100" y="2733732"/>
            <a:ext cx="2495550" cy="1471613"/>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latin typeface="Calibri" pitchFamily="34" charset="0"/>
              <a:cs typeface="Calibri" pitchFamily="34" charset="0"/>
            </a:endParaRPr>
          </a:p>
        </p:txBody>
      </p:sp>
      <p:sp>
        <p:nvSpPr>
          <p:cNvPr id="127" name="Rectangle 126"/>
          <p:cNvSpPr/>
          <p:nvPr/>
        </p:nvSpPr>
        <p:spPr>
          <a:xfrm>
            <a:off x="7372350" y="1266827"/>
            <a:ext cx="1581150" cy="3495675"/>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latin typeface="Calibri" pitchFamily="34" charset="0"/>
              <a:cs typeface="Calibri" pitchFamily="34" charset="0"/>
            </a:endParaRPr>
          </a:p>
        </p:txBody>
      </p:sp>
      <p:sp>
        <p:nvSpPr>
          <p:cNvPr id="135" name="Rectangle 134"/>
          <p:cNvSpPr/>
          <p:nvPr/>
        </p:nvSpPr>
        <p:spPr>
          <a:xfrm>
            <a:off x="2275485" y="4482871"/>
            <a:ext cx="289927" cy="232004"/>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a:t>
            </a:r>
          </a:p>
        </p:txBody>
      </p:sp>
      <p:sp>
        <p:nvSpPr>
          <p:cNvPr id="143" name="Rectangle 142"/>
          <p:cNvSpPr/>
          <p:nvPr/>
        </p:nvSpPr>
        <p:spPr>
          <a:xfrm>
            <a:off x="2275485" y="4225696"/>
            <a:ext cx="289927" cy="232004"/>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a:t>
            </a:r>
          </a:p>
        </p:txBody>
      </p:sp>
      <p:sp>
        <p:nvSpPr>
          <p:cNvPr id="144" name="Rectangle 143"/>
          <p:cNvSpPr/>
          <p:nvPr/>
        </p:nvSpPr>
        <p:spPr>
          <a:xfrm>
            <a:off x="3626274" y="2344510"/>
            <a:ext cx="289927" cy="232004"/>
          </a:xfrm>
          <a:prstGeom prst="rect">
            <a:avLst/>
          </a:prstGeom>
          <a:solidFill>
            <a:srgbClr val="3399FF">
              <a:alpha val="2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a:t>
            </a:r>
          </a:p>
        </p:txBody>
      </p:sp>
      <p:cxnSp>
        <p:nvCxnSpPr>
          <p:cNvPr id="147" name="Shape 146"/>
          <p:cNvCxnSpPr>
            <a:stCxn id="144" idx="2"/>
          </p:cNvCxnSpPr>
          <p:nvPr/>
        </p:nvCxnSpPr>
        <p:spPr>
          <a:xfrm rot="16200000" flipH="1">
            <a:off x="3589568" y="2758293"/>
            <a:ext cx="1787672" cy="1424223"/>
          </a:xfrm>
          <a:prstGeom prst="bentConnector3">
            <a:avLst>
              <a:gd name="adj1" fmla="val 99988"/>
            </a:avLst>
          </a:prstGeom>
          <a:ln w="12700">
            <a:solidFill>
              <a:schemeClr val="tx2">
                <a:lumMod val="75000"/>
                <a:alpha val="27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0" name="Elbow Connector 149"/>
          <p:cNvCxnSpPr>
            <a:stCxn id="143" idx="3"/>
            <a:endCxn id="85" idx="1"/>
          </p:cNvCxnSpPr>
          <p:nvPr/>
        </p:nvCxnSpPr>
        <p:spPr>
          <a:xfrm>
            <a:off x="2565400" y="4341699"/>
            <a:ext cx="2633144" cy="142126"/>
          </a:xfrm>
          <a:prstGeom prst="bentConnector3">
            <a:avLst>
              <a:gd name="adj1" fmla="val 1430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6" name="Elbow Connector 165"/>
          <p:cNvCxnSpPr>
            <a:stCxn id="135" idx="3"/>
          </p:cNvCxnSpPr>
          <p:nvPr/>
        </p:nvCxnSpPr>
        <p:spPr>
          <a:xfrm flipV="1">
            <a:off x="2565400" y="4597978"/>
            <a:ext cx="2633518" cy="896"/>
          </a:xfrm>
          <a:prstGeom prst="bentConnector3">
            <a:avLst>
              <a:gd name="adj1" fmla="val 50000"/>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74" name="Flowchart: Punched Tape 173"/>
          <p:cNvSpPr/>
          <p:nvPr/>
        </p:nvSpPr>
        <p:spPr>
          <a:xfrm>
            <a:off x="1560975" y="1943071"/>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sp>
        <p:nvSpPr>
          <p:cNvPr id="175" name="Flowchart: Punched Tape 174"/>
          <p:cNvSpPr/>
          <p:nvPr/>
        </p:nvSpPr>
        <p:spPr>
          <a:xfrm>
            <a:off x="1560969" y="2146276"/>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sp>
        <p:nvSpPr>
          <p:cNvPr id="176" name="Flowchart: Punched Tape 175"/>
          <p:cNvSpPr/>
          <p:nvPr/>
        </p:nvSpPr>
        <p:spPr>
          <a:xfrm>
            <a:off x="1569430" y="234947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sp>
        <p:nvSpPr>
          <p:cNvPr id="177" name="Flowchart: Punched Tape 176"/>
          <p:cNvSpPr/>
          <p:nvPr/>
        </p:nvSpPr>
        <p:spPr>
          <a:xfrm>
            <a:off x="2976997" y="1943077"/>
            <a:ext cx="262468" cy="177800"/>
          </a:xfrm>
          <a:prstGeom prst="flowChartPunchedTape">
            <a:avLst/>
          </a:prstGeom>
          <a:solidFill>
            <a:schemeClr val="bg1">
              <a:alpha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cxnSp>
        <p:nvCxnSpPr>
          <p:cNvPr id="182" name="Shape 146"/>
          <p:cNvCxnSpPr>
            <a:stCxn id="177" idx="3"/>
            <a:endCxn id="144" idx="0"/>
          </p:cNvCxnSpPr>
          <p:nvPr/>
        </p:nvCxnSpPr>
        <p:spPr>
          <a:xfrm>
            <a:off x="3239465" y="2032032"/>
            <a:ext cx="531770" cy="312533"/>
          </a:xfrm>
          <a:prstGeom prst="bentConnector2">
            <a:avLst/>
          </a:prstGeom>
          <a:ln w="12700">
            <a:solidFill>
              <a:schemeClr val="tx2">
                <a:lumMod val="75000"/>
                <a:alpha val="27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6" name="Shape 146"/>
          <p:cNvCxnSpPr>
            <a:stCxn id="175" idx="3"/>
            <a:endCxn id="200" idx="0"/>
          </p:cNvCxnSpPr>
          <p:nvPr/>
        </p:nvCxnSpPr>
        <p:spPr>
          <a:xfrm>
            <a:off x="1823444" y="2235174"/>
            <a:ext cx="253403" cy="1903794"/>
          </a:xfrm>
          <a:prstGeom prst="bentConnector2">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0" name="Shape 146"/>
          <p:cNvCxnSpPr>
            <a:stCxn id="176" idx="3"/>
            <a:endCxn id="199" idx="0"/>
          </p:cNvCxnSpPr>
          <p:nvPr/>
        </p:nvCxnSpPr>
        <p:spPr>
          <a:xfrm>
            <a:off x="1831902" y="2438378"/>
            <a:ext cx="50207" cy="1700595"/>
          </a:xfrm>
          <a:prstGeom prst="bentConnector2">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a:stCxn id="174" idx="3"/>
            <a:endCxn id="177" idx="1"/>
          </p:cNvCxnSpPr>
          <p:nvPr/>
        </p:nvCxnSpPr>
        <p:spPr>
          <a:xfrm>
            <a:off x="1823443" y="2032027"/>
            <a:ext cx="1153554" cy="5"/>
          </a:xfrm>
          <a:prstGeom prst="straightConnector1">
            <a:avLst/>
          </a:prstGeom>
          <a:ln w="12700">
            <a:solidFill>
              <a:schemeClr val="tx2">
                <a:lumMod val="75000"/>
                <a:alpha val="27000"/>
              </a:schemeClr>
            </a:solidFill>
            <a:tailEnd type="arrow"/>
          </a:ln>
        </p:spPr>
        <p:style>
          <a:lnRef idx="1">
            <a:schemeClr val="accent1"/>
          </a:lnRef>
          <a:fillRef idx="0">
            <a:schemeClr val="accent1"/>
          </a:fillRef>
          <a:effectRef idx="0">
            <a:schemeClr val="accent1"/>
          </a:effectRef>
          <a:fontRef idx="minor">
            <a:schemeClr val="tx1"/>
          </a:fontRef>
        </p:style>
      </p:cxnSp>
      <p:sp>
        <p:nvSpPr>
          <p:cNvPr id="197" name="Isosceles Triangle 196"/>
          <p:cNvSpPr/>
          <p:nvPr/>
        </p:nvSpPr>
        <p:spPr>
          <a:xfrm rot="16200000">
            <a:off x="3806867" y="2727882"/>
            <a:ext cx="103910" cy="110836"/>
          </a:xfrm>
          <a:prstGeom prst="triangle">
            <a:avLst/>
          </a:prstGeom>
          <a:solidFill>
            <a:schemeClr val="bg1">
              <a:alpha val="61000"/>
            </a:schemeClr>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198" name="TextBox 197"/>
          <p:cNvSpPr txBox="1"/>
          <p:nvPr/>
        </p:nvSpPr>
        <p:spPr>
          <a:xfrm>
            <a:off x="3895224" y="2641672"/>
            <a:ext cx="1328763" cy="784830"/>
          </a:xfrm>
          <a:prstGeom prst="rect">
            <a:avLst/>
          </a:prstGeom>
          <a:noFill/>
        </p:spPr>
        <p:txBody>
          <a:bodyPr wrap="square" lIns="91440" rIns="91440" rtlCol="0">
            <a:spAutoFit/>
          </a:bodyPr>
          <a:lstStyle/>
          <a:p>
            <a:pPr defTabSz="914400" fontAlgn="base">
              <a:spcBef>
                <a:spcPct val="0"/>
              </a:spcBef>
              <a:spcAft>
                <a:spcPct val="0"/>
              </a:spcAft>
            </a:pPr>
            <a:r>
              <a:rPr lang="en-US" sz="900" dirty="0" smtClean="0">
                <a:solidFill>
                  <a:prstClr val="black"/>
                </a:solidFill>
                <a:latin typeface="Arial" charset="0"/>
              </a:rPr>
              <a:t>Title Transfer </a:t>
            </a:r>
          </a:p>
          <a:p>
            <a:pPr defTabSz="914400" fontAlgn="base">
              <a:spcBef>
                <a:spcPct val="0"/>
              </a:spcBef>
              <a:spcAft>
                <a:spcPct val="0"/>
              </a:spcAft>
            </a:pPr>
            <a:r>
              <a:rPr lang="en-US" sz="900" dirty="0" smtClean="0">
                <a:solidFill>
                  <a:prstClr val="black"/>
                </a:solidFill>
                <a:latin typeface="Arial" charset="0"/>
              </a:rPr>
              <a:t>ODM to HP</a:t>
            </a:r>
          </a:p>
          <a:p>
            <a:pPr defTabSz="914400" fontAlgn="base">
              <a:spcBef>
                <a:spcPct val="0"/>
              </a:spcBef>
              <a:spcAft>
                <a:spcPct val="0"/>
              </a:spcAft>
            </a:pPr>
            <a:r>
              <a:rPr lang="en-US" sz="900" dirty="0" smtClean="0">
                <a:solidFill>
                  <a:prstClr val="black"/>
                </a:solidFill>
                <a:latin typeface="Arial" charset="0"/>
              </a:rPr>
              <a:t>(ODM HOI Model)</a:t>
            </a:r>
          </a:p>
          <a:p>
            <a:pPr defTabSz="914400" fontAlgn="base">
              <a:spcBef>
                <a:spcPct val="0"/>
              </a:spcBef>
              <a:spcAft>
                <a:spcPct val="0"/>
              </a:spcAft>
            </a:pPr>
            <a:r>
              <a:rPr lang="en-US" sz="900" dirty="0" smtClean="0">
                <a:solidFill>
                  <a:prstClr val="black"/>
                </a:solidFill>
                <a:latin typeface="Arial" charset="0"/>
              </a:rPr>
              <a:t>Most shipments will be Air</a:t>
            </a:r>
            <a:endParaRPr lang="en-US" sz="800" dirty="0">
              <a:solidFill>
                <a:prstClr val="black"/>
              </a:solidFill>
              <a:latin typeface="Arial" charset="0"/>
            </a:endParaRPr>
          </a:p>
        </p:txBody>
      </p:sp>
      <p:sp>
        <p:nvSpPr>
          <p:cNvPr id="199" name="Flowchart: Punched Tape 198"/>
          <p:cNvSpPr/>
          <p:nvPr/>
        </p:nvSpPr>
        <p:spPr>
          <a:xfrm>
            <a:off x="1750871" y="412119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sp>
        <p:nvSpPr>
          <p:cNvPr id="200" name="Flowchart: Punched Tape 199"/>
          <p:cNvSpPr/>
          <p:nvPr/>
        </p:nvSpPr>
        <p:spPr>
          <a:xfrm>
            <a:off x="1945606" y="412118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sp>
        <p:nvSpPr>
          <p:cNvPr id="203" name="Isosceles Triangle 202"/>
          <p:cNvSpPr/>
          <p:nvPr/>
        </p:nvSpPr>
        <p:spPr>
          <a:xfrm rot="5400000">
            <a:off x="4976561" y="4133772"/>
            <a:ext cx="103910" cy="110836"/>
          </a:xfrm>
          <a:prstGeom prst="triangle">
            <a:avLst/>
          </a:prstGeom>
          <a:solidFill>
            <a:schemeClr val="bg1">
              <a:alpha val="61000"/>
            </a:schemeClr>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204" name="TextBox 203"/>
          <p:cNvSpPr txBox="1"/>
          <p:nvPr/>
        </p:nvSpPr>
        <p:spPr>
          <a:xfrm>
            <a:off x="3662814" y="4007558"/>
            <a:ext cx="1328763" cy="507831"/>
          </a:xfrm>
          <a:prstGeom prst="rect">
            <a:avLst/>
          </a:prstGeom>
          <a:noFill/>
        </p:spPr>
        <p:txBody>
          <a:bodyPr wrap="square" lIns="91440" rIns="91440" rtlCol="0">
            <a:spAutoFit/>
          </a:bodyPr>
          <a:lstStyle/>
          <a:p>
            <a:pPr algn="r" defTabSz="914400" fontAlgn="base">
              <a:spcBef>
                <a:spcPct val="0"/>
              </a:spcBef>
              <a:spcAft>
                <a:spcPct val="0"/>
              </a:spcAft>
            </a:pPr>
            <a:r>
              <a:rPr lang="en-US" sz="900" dirty="0" smtClean="0">
                <a:solidFill>
                  <a:prstClr val="black"/>
                </a:solidFill>
                <a:latin typeface="Arial" charset="0"/>
              </a:rPr>
              <a:t>Title Transfer</a:t>
            </a:r>
          </a:p>
          <a:p>
            <a:pPr algn="r" defTabSz="914400" fontAlgn="base">
              <a:spcBef>
                <a:spcPct val="0"/>
              </a:spcBef>
              <a:spcAft>
                <a:spcPct val="0"/>
              </a:spcAft>
            </a:pPr>
            <a:r>
              <a:rPr lang="en-US" sz="900" dirty="0" smtClean="0">
                <a:solidFill>
                  <a:prstClr val="black"/>
                </a:solidFill>
                <a:latin typeface="Arial" charset="0"/>
              </a:rPr>
              <a:t>Supplier to HP</a:t>
            </a:r>
          </a:p>
          <a:p>
            <a:pPr algn="r" defTabSz="914400" fontAlgn="base">
              <a:spcBef>
                <a:spcPct val="0"/>
              </a:spcBef>
              <a:spcAft>
                <a:spcPct val="0"/>
              </a:spcAft>
            </a:pPr>
            <a:r>
              <a:rPr lang="en-US" sz="900" dirty="0" smtClean="0">
                <a:solidFill>
                  <a:prstClr val="black"/>
                </a:solidFill>
                <a:latin typeface="Arial" charset="0"/>
              </a:rPr>
              <a:t>(Supplier VMI Model)</a:t>
            </a:r>
            <a:endParaRPr lang="en-US" sz="800" dirty="0">
              <a:solidFill>
                <a:prstClr val="black"/>
              </a:solidFill>
              <a:latin typeface="Arial" charset="0"/>
            </a:endParaRPr>
          </a:p>
        </p:txBody>
      </p:sp>
      <p:sp>
        <p:nvSpPr>
          <p:cNvPr id="3" name="Rounded Rectangle 2"/>
          <p:cNvSpPr/>
          <p:nvPr/>
        </p:nvSpPr>
        <p:spPr>
          <a:xfrm>
            <a:off x="5214761" y="1035844"/>
            <a:ext cx="1862314" cy="1313634"/>
          </a:xfrm>
          <a:prstGeom prst="roundRect">
            <a:avLst/>
          </a:prstGeom>
          <a:solidFill>
            <a:schemeClr val="bg1">
              <a:alpha val="6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200" b="1" dirty="0" smtClean="0">
                <a:solidFill>
                  <a:srgbClr val="FF0000"/>
                </a:solidFill>
                <a:latin typeface="Calibri" pitchFamily="34" charset="0"/>
                <a:cs typeface="Calibri" pitchFamily="34" charset="0"/>
              </a:rPr>
              <a:t>Standard B Part Procurement will be directly from Supplier.</a:t>
            </a:r>
          </a:p>
          <a:p>
            <a:pPr algn="ctr" defTabSz="914400" fontAlgn="base">
              <a:spcBef>
                <a:spcPct val="0"/>
              </a:spcBef>
              <a:spcAft>
                <a:spcPct val="0"/>
              </a:spcAft>
            </a:pPr>
            <a:r>
              <a:rPr lang="en-US" sz="1200" b="1" dirty="0" smtClean="0">
                <a:solidFill>
                  <a:srgbClr val="FF0000"/>
                </a:solidFill>
                <a:latin typeface="Calibri" pitchFamily="34" charset="0"/>
                <a:cs typeface="Calibri" pitchFamily="34" charset="0"/>
              </a:rPr>
              <a:t>B Part via ODM procurement will be used on an exception basis (Contingency)</a:t>
            </a:r>
          </a:p>
        </p:txBody>
      </p:sp>
      <p:sp>
        <p:nvSpPr>
          <p:cNvPr id="37" name="Rounded Rectangle 3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15</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88236712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fade">
                                      <p:cBhvr>
                                        <p:cTn id="7" dur="500"/>
                                        <p:tgtEl>
                                          <p:spTgt spid="17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5"/>
                                        </p:tgtEl>
                                        <p:attrNameLst>
                                          <p:attrName>style.visibility</p:attrName>
                                        </p:attrNameLst>
                                      </p:cBhvr>
                                      <p:to>
                                        <p:strVal val="visible"/>
                                      </p:to>
                                    </p:set>
                                    <p:animEffect transition="in" filter="fade">
                                      <p:cBhvr>
                                        <p:cTn id="10" dur="500"/>
                                        <p:tgtEl>
                                          <p:spTgt spid="17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6"/>
                                        </p:tgtEl>
                                        <p:attrNameLst>
                                          <p:attrName>style.visibility</p:attrName>
                                        </p:attrNameLst>
                                      </p:cBhvr>
                                      <p:to>
                                        <p:strVal val="visible"/>
                                      </p:to>
                                    </p:set>
                                    <p:animEffect transition="in" filter="fade">
                                      <p:cBhvr>
                                        <p:cTn id="13" dur="500"/>
                                        <p:tgtEl>
                                          <p:spTgt spid="17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77"/>
                                        </p:tgtEl>
                                        <p:attrNameLst>
                                          <p:attrName>style.visibility</p:attrName>
                                        </p:attrNameLst>
                                      </p:cBhvr>
                                      <p:to>
                                        <p:strVal val="visible"/>
                                      </p:to>
                                    </p:set>
                                    <p:animEffect transition="in" filter="fade">
                                      <p:cBhvr>
                                        <p:cTn id="18" dur="500"/>
                                        <p:tgtEl>
                                          <p:spTgt spid="177"/>
                                        </p:tgtEl>
                                      </p:cBhvr>
                                    </p:animEffect>
                                  </p:childTnLst>
                                </p:cTn>
                              </p:par>
                              <p:par>
                                <p:cTn id="19" presetID="10" presetClass="entr" presetSubtype="0" fill="hold" nodeType="withEffect">
                                  <p:stCondLst>
                                    <p:cond delay="0"/>
                                  </p:stCondLst>
                                  <p:childTnLst>
                                    <p:set>
                                      <p:cBhvr>
                                        <p:cTn id="20" dur="1" fill="hold">
                                          <p:stCondLst>
                                            <p:cond delay="0"/>
                                          </p:stCondLst>
                                        </p:cTn>
                                        <p:tgtEl>
                                          <p:spTgt spid="186"/>
                                        </p:tgtEl>
                                        <p:attrNameLst>
                                          <p:attrName>style.visibility</p:attrName>
                                        </p:attrNameLst>
                                      </p:cBhvr>
                                      <p:to>
                                        <p:strVal val="visible"/>
                                      </p:to>
                                    </p:set>
                                    <p:animEffect transition="in" filter="fade">
                                      <p:cBhvr>
                                        <p:cTn id="21" dur="500"/>
                                        <p:tgtEl>
                                          <p:spTgt spid="186"/>
                                        </p:tgtEl>
                                      </p:cBhvr>
                                    </p:animEffect>
                                  </p:childTnLst>
                                </p:cTn>
                              </p:par>
                              <p:par>
                                <p:cTn id="22" presetID="10" presetClass="entr" presetSubtype="0" fill="hold" nodeType="withEffect">
                                  <p:stCondLst>
                                    <p:cond delay="0"/>
                                  </p:stCondLst>
                                  <p:childTnLst>
                                    <p:set>
                                      <p:cBhvr>
                                        <p:cTn id="23" dur="1" fill="hold">
                                          <p:stCondLst>
                                            <p:cond delay="0"/>
                                          </p:stCondLst>
                                        </p:cTn>
                                        <p:tgtEl>
                                          <p:spTgt spid="190"/>
                                        </p:tgtEl>
                                        <p:attrNameLst>
                                          <p:attrName>style.visibility</p:attrName>
                                        </p:attrNameLst>
                                      </p:cBhvr>
                                      <p:to>
                                        <p:strVal val="visible"/>
                                      </p:to>
                                    </p:set>
                                    <p:animEffect transition="in" filter="fade">
                                      <p:cBhvr>
                                        <p:cTn id="24" dur="500"/>
                                        <p:tgtEl>
                                          <p:spTgt spid="190"/>
                                        </p:tgtEl>
                                      </p:cBhvr>
                                    </p:animEffect>
                                  </p:childTnLst>
                                </p:cTn>
                              </p:par>
                              <p:par>
                                <p:cTn id="25" presetID="10" presetClass="entr" presetSubtype="0" fill="hold" nodeType="withEffect">
                                  <p:stCondLst>
                                    <p:cond delay="0"/>
                                  </p:stCondLst>
                                  <p:childTnLst>
                                    <p:set>
                                      <p:cBhvr>
                                        <p:cTn id="26" dur="1" fill="hold">
                                          <p:stCondLst>
                                            <p:cond delay="0"/>
                                          </p:stCondLst>
                                        </p:cTn>
                                        <p:tgtEl>
                                          <p:spTgt spid="196"/>
                                        </p:tgtEl>
                                        <p:attrNameLst>
                                          <p:attrName>style.visibility</p:attrName>
                                        </p:attrNameLst>
                                      </p:cBhvr>
                                      <p:to>
                                        <p:strVal val="visible"/>
                                      </p:to>
                                    </p:set>
                                    <p:animEffect transition="in" filter="fade">
                                      <p:cBhvr>
                                        <p:cTn id="27" dur="500"/>
                                        <p:tgtEl>
                                          <p:spTgt spid="19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9"/>
                                        </p:tgtEl>
                                        <p:attrNameLst>
                                          <p:attrName>style.visibility</p:attrName>
                                        </p:attrNameLst>
                                      </p:cBhvr>
                                      <p:to>
                                        <p:strVal val="visible"/>
                                      </p:to>
                                    </p:set>
                                    <p:animEffect transition="in" filter="fade">
                                      <p:cBhvr>
                                        <p:cTn id="30" dur="500"/>
                                        <p:tgtEl>
                                          <p:spTgt spid="19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0"/>
                                        </p:tgtEl>
                                        <p:attrNameLst>
                                          <p:attrName>style.visibility</p:attrName>
                                        </p:attrNameLst>
                                      </p:cBhvr>
                                      <p:to>
                                        <p:strVal val="visible"/>
                                      </p:to>
                                    </p:set>
                                    <p:animEffect transition="in" filter="fade">
                                      <p:cBhvr>
                                        <p:cTn id="33" dur="500"/>
                                        <p:tgtEl>
                                          <p:spTgt spid="20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5"/>
                                        </p:tgtEl>
                                        <p:attrNameLst>
                                          <p:attrName>style.visibility</p:attrName>
                                        </p:attrNameLst>
                                      </p:cBhvr>
                                      <p:to>
                                        <p:strVal val="visible"/>
                                      </p:to>
                                    </p:set>
                                    <p:animEffect transition="in" filter="fade">
                                      <p:cBhvr>
                                        <p:cTn id="38" dur="500"/>
                                        <p:tgtEl>
                                          <p:spTgt spid="1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3"/>
                                        </p:tgtEl>
                                        <p:attrNameLst>
                                          <p:attrName>style.visibility</p:attrName>
                                        </p:attrNameLst>
                                      </p:cBhvr>
                                      <p:to>
                                        <p:strVal val="visible"/>
                                      </p:to>
                                    </p:set>
                                    <p:animEffect transition="in" filter="fade">
                                      <p:cBhvr>
                                        <p:cTn id="41" dur="500"/>
                                        <p:tgtEl>
                                          <p:spTgt spid="1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4"/>
                                        </p:tgtEl>
                                        <p:attrNameLst>
                                          <p:attrName>style.visibility</p:attrName>
                                        </p:attrNameLst>
                                      </p:cBhvr>
                                      <p:to>
                                        <p:strVal val="visible"/>
                                      </p:to>
                                    </p:set>
                                    <p:animEffect transition="in" filter="fade">
                                      <p:cBhvr>
                                        <p:cTn id="44" dur="500"/>
                                        <p:tgtEl>
                                          <p:spTgt spid="144"/>
                                        </p:tgtEl>
                                      </p:cBhvr>
                                    </p:animEffect>
                                  </p:childTnLst>
                                </p:cTn>
                              </p:par>
                              <p:par>
                                <p:cTn id="45" presetID="10" presetClass="entr" presetSubtype="0" fill="hold" nodeType="withEffect">
                                  <p:stCondLst>
                                    <p:cond delay="0"/>
                                  </p:stCondLst>
                                  <p:childTnLst>
                                    <p:set>
                                      <p:cBhvr>
                                        <p:cTn id="46" dur="1" fill="hold">
                                          <p:stCondLst>
                                            <p:cond delay="0"/>
                                          </p:stCondLst>
                                        </p:cTn>
                                        <p:tgtEl>
                                          <p:spTgt spid="182"/>
                                        </p:tgtEl>
                                        <p:attrNameLst>
                                          <p:attrName>style.visibility</p:attrName>
                                        </p:attrNameLst>
                                      </p:cBhvr>
                                      <p:to>
                                        <p:strVal val="visible"/>
                                      </p:to>
                                    </p:set>
                                    <p:animEffect transition="in" filter="fade">
                                      <p:cBhvr>
                                        <p:cTn id="47" dur="500"/>
                                        <p:tgtEl>
                                          <p:spTgt spid="18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5"/>
                                        </p:tgtEl>
                                        <p:attrNameLst>
                                          <p:attrName>style.visibility</p:attrName>
                                        </p:attrNameLst>
                                      </p:cBhvr>
                                      <p:to>
                                        <p:strVal val="visible"/>
                                      </p:to>
                                    </p:set>
                                    <p:animEffect transition="in" filter="fade">
                                      <p:cBhvr>
                                        <p:cTn id="52" dur="500"/>
                                        <p:tgtEl>
                                          <p:spTgt spid="85"/>
                                        </p:tgtEl>
                                      </p:cBhvr>
                                    </p:animEffect>
                                  </p:childTnLst>
                                </p:cTn>
                              </p:par>
                              <p:par>
                                <p:cTn id="53" presetID="10" presetClass="entr" presetSubtype="0" fill="hold" nodeType="withEffect">
                                  <p:stCondLst>
                                    <p:cond delay="0"/>
                                  </p:stCondLst>
                                  <p:childTnLst>
                                    <p:set>
                                      <p:cBhvr>
                                        <p:cTn id="54" dur="1" fill="hold">
                                          <p:stCondLst>
                                            <p:cond delay="0"/>
                                          </p:stCondLst>
                                        </p:cTn>
                                        <p:tgtEl>
                                          <p:spTgt spid="147"/>
                                        </p:tgtEl>
                                        <p:attrNameLst>
                                          <p:attrName>style.visibility</p:attrName>
                                        </p:attrNameLst>
                                      </p:cBhvr>
                                      <p:to>
                                        <p:strVal val="visible"/>
                                      </p:to>
                                    </p:set>
                                    <p:animEffect transition="in" filter="fade">
                                      <p:cBhvr>
                                        <p:cTn id="55" dur="500"/>
                                        <p:tgtEl>
                                          <p:spTgt spid="147"/>
                                        </p:tgtEl>
                                      </p:cBhvr>
                                    </p:animEffect>
                                  </p:childTnLst>
                                </p:cTn>
                              </p:par>
                              <p:par>
                                <p:cTn id="56" presetID="10" presetClass="entr" presetSubtype="0" fill="hold" nodeType="withEffect">
                                  <p:stCondLst>
                                    <p:cond delay="0"/>
                                  </p:stCondLst>
                                  <p:childTnLst>
                                    <p:set>
                                      <p:cBhvr>
                                        <p:cTn id="57" dur="1" fill="hold">
                                          <p:stCondLst>
                                            <p:cond delay="0"/>
                                          </p:stCondLst>
                                        </p:cTn>
                                        <p:tgtEl>
                                          <p:spTgt spid="150"/>
                                        </p:tgtEl>
                                        <p:attrNameLst>
                                          <p:attrName>style.visibility</p:attrName>
                                        </p:attrNameLst>
                                      </p:cBhvr>
                                      <p:to>
                                        <p:strVal val="visible"/>
                                      </p:to>
                                    </p:set>
                                    <p:animEffect transition="in" filter="fade">
                                      <p:cBhvr>
                                        <p:cTn id="58" dur="500"/>
                                        <p:tgtEl>
                                          <p:spTgt spid="150"/>
                                        </p:tgtEl>
                                      </p:cBhvr>
                                    </p:animEffect>
                                  </p:childTnLst>
                                </p:cTn>
                              </p:par>
                              <p:par>
                                <p:cTn id="59" presetID="10" presetClass="entr" presetSubtype="0" fill="hold" nodeType="withEffect">
                                  <p:stCondLst>
                                    <p:cond delay="0"/>
                                  </p:stCondLst>
                                  <p:childTnLst>
                                    <p:set>
                                      <p:cBhvr>
                                        <p:cTn id="60" dur="1" fill="hold">
                                          <p:stCondLst>
                                            <p:cond delay="0"/>
                                          </p:stCondLst>
                                        </p:cTn>
                                        <p:tgtEl>
                                          <p:spTgt spid="166"/>
                                        </p:tgtEl>
                                        <p:attrNameLst>
                                          <p:attrName>style.visibility</p:attrName>
                                        </p:attrNameLst>
                                      </p:cBhvr>
                                      <p:to>
                                        <p:strVal val="visible"/>
                                      </p:to>
                                    </p:set>
                                    <p:animEffect transition="in" filter="fade">
                                      <p:cBhvr>
                                        <p:cTn id="61" dur="500"/>
                                        <p:tgtEl>
                                          <p:spTgt spid="16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98"/>
                                        </p:tgtEl>
                                        <p:attrNameLst>
                                          <p:attrName>style.visibility</p:attrName>
                                        </p:attrNameLst>
                                      </p:cBhvr>
                                      <p:to>
                                        <p:strVal val="visible"/>
                                      </p:to>
                                    </p:set>
                                    <p:animEffect transition="in" filter="fade">
                                      <p:cBhvr>
                                        <p:cTn id="66" dur="500"/>
                                        <p:tgtEl>
                                          <p:spTgt spid="19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97"/>
                                        </p:tgtEl>
                                        <p:attrNameLst>
                                          <p:attrName>style.visibility</p:attrName>
                                        </p:attrNameLst>
                                      </p:cBhvr>
                                      <p:to>
                                        <p:strVal val="visible"/>
                                      </p:to>
                                    </p:set>
                                    <p:animEffect transition="in" filter="fade">
                                      <p:cBhvr>
                                        <p:cTn id="69" dur="500"/>
                                        <p:tgtEl>
                                          <p:spTgt spid="19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04"/>
                                        </p:tgtEl>
                                        <p:attrNameLst>
                                          <p:attrName>style.visibility</p:attrName>
                                        </p:attrNameLst>
                                      </p:cBhvr>
                                      <p:to>
                                        <p:strVal val="visible"/>
                                      </p:to>
                                    </p:set>
                                    <p:animEffect transition="in" filter="fade">
                                      <p:cBhvr>
                                        <p:cTn id="72" dur="500"/>
                                        <p:tgtEl>
                                          <p:spTgt spid="20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03"/>
                                        </p:tgtEl>
                                        <p:attrNameLst>
                                          <p:attrName>style.visibility</p:attrName>
                                        </p:attrNameLst>
                                      </p:cBhvr>
                                      <p:to>
                                        <p:strVal val="visible"/>
                                      </p:to>
                                    </p:set>
                                    <p:animEffect transition="in" filter="fade">
                                      <p:cBhvr>
                                        <p:cTn id="75"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135" grpId="0" animBg="1"/>
      <p:bldP spid="143" grpId="0" animBg="1"/>
      <p:bldP spid="144" grpId="0" animBg="1"/>
      <p:bldP spid="174" grpId="0" animBg="1"/>
      <p:bldP spid="175" grpId="0" animBg="1"/>
      <p:bldP spid="176" grpId="0" animBg="1"/>
      <p:bldP spid="177" grpId="0" animBg="1"/>
      <p:bldP spid="197" grpId="0" animBg="1"/>
      <p:bldP spid="198" grpId="0"/>
      <p:bldP spid="199" grpId="0" animBg="1"/>
      <p:bldP spid="200" grpId="0" animBg="1"/>
      <p:bldP spid="203" grpId="0" animBg="1"/>
      <p:bldP spid="20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p:cNvSpPr/>
          <p:nvPr/>
        </p:nvSpPr>
        <p:spPr>
          <a:xfrm>
            <a:off x="512717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VMI/HP</a:t>
            </a:r>
          </a:p>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Hub</a:t>
            </a:r>
          </a:p>
        </p:txBody>
      </p:sp>
      <p:sp>
        <p:nvSpPr>
          <p:cNvPr id="36" name="Rectangle 35"/>
          <p:cNvSpPr/>
          <p:nvPr/>
        </p:nvSpPr>
        <p:spPr>
          <a:xfrm>
            <a:off x="428181" y="1287232"/>
            <a:ext cx="2053781" cy="1344378"/>
          </a:xfrm>
          <a:prstGeom prst="rect">
            <a:avLst/>
          </a:prstGeom>
          <a:gradFill>
            <a:gsLst>
              <a:gs pos="0">
                <a:srgbClr val="0000FF"/>
              </a:gs>
              <a:gs pos="50000">
                <a:srgbClr val="0066FF">
                  <a:alpha val="49000"/>
                </a:srgbClr>
              </a:gs>
              <a:gs pos="100000">
                <a:srgbClr val="0000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HP</a:t>
            </a:r>
          </a:p>
        </p:txBody>
      </p:sp>
      <p:cxnSp>
        <p:nvCxnSpPr>
          <p:cNvPr id="58" name="Straight Arrow Connector 57"/>
          <p:cNvCxnSpPr>
            <a:stCxn id="18" idx="3"/>
            <a:endCxn id="44" idx="1"/>
          </p:cNvCxnSpPr>
          <p:nvPr/>
        </p:nvCxnSpPr>
        <p:spPr>
          <a:xfrm flipV="1">
            <a:off x="863515" y="1630115"/>
            <a:ext cx="1138219" cy="182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a:stCxn id="19" idx="3"/>
            <a:endCxn id="45" idx="1"/>
          </p:cNvCxnSpPr>
          <p:nvPr/>
        </p:nvCxnSpPr>
        <p:spPr>
          <a:xfrm flipV="1">
            <a:off x="863492" y="1833318"/>
            <a:ext cx="1138219" cy="182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a:stCxn id="20" idx="3"/>
            <a:endCxn id="46" idx="1"/>
          </p:cNvCxnSpPr>
          <p:nvPr/>
        </p:nvCxnSpPr>
        <p:spPr>
          <a:xfrm flipV="1">
            <a:off x="871954" y="2036523"/>
            <a:ext cx="1138219" cy="182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a:stCxn id="21" idx="3"/>
            <a:endCxn id="47" idx="1"/>
          </p:cNvCxnSpPr>
          <p:nvPr/>
        </p:nvCxnSpPr>
        <p:spPr>
          <a:xfrm flipV="1">
            <a:off x="871947" y="2246076"/>
            <a:ext cx="1146686" cy="182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22" idx="3"/>
            <a:endCxn id="48" idx="1"/>
          </p:cNvCxnSpPr>
          <p:nvPr/>
        </p:nvCxnSpPr>
        <p:spPr>
          <a:xfrm flipV="1">
            <a:off x="871941" y="2455629"/>
            <a:ext cx="1146686" cy="1822"/>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5" name="Rectangle 54"/>
          <p:cNvSpPr/>
          <p:nvPr/>
        </p:nvSpPr>
        <p:spPr>
          <a:xfrm>
            <a:off x="5119978" y="2820313"/>
            <a:ext cx="2075551" cy="1360736"/>
          </a:xfrm>
          <a:prstGeom prst="rect">
            <a:avLst/>
          </a:prstGeom>
          <a:gradFill>
            <a:gsLst>
              <a:gs pos="0">
                <a:srgbClr val="9966FF"/>
              </a:gs>
              <a:gs pos="50000">
                <a:srgbClr val="9966FF">
                  <a:alpha val="1000"/>
                </a:srgbClr>
              </a:gs>
              <a:gs pos="100000">
                <a:srgbClr val="9966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PCC</a:t>
            </a:r>
          </a:p>
        </p:txBody>
      </p:sp>
      <p:sp>
        <p:nvSpPr>
          <p:cNvPr id="2" name="Title 1"/>
          <p:cNvSpPr>
            <a:spLocks noGrp="1"/>
          </p:cNvSpPr>
          <p:nvPr>
            <p:ph type="title"/>
          </p:nvPr>
        </p:nvSpPr>
        <p:spPr/>
        <p:txBody>
          <a:bodyPr/>
          <a:lstStyle/>
          <a:p>
            <a:r>
              <a:rPr lang="en-US" dirty="0" err="1" smtClean="0"/>
              <a:t>BSaM</a:t>
            </a:r>
            <a:r>
              <a:rPr lang="en-US" dirty="0" smtClean="0"/>
              <a:t> BTO Process</a:t>
            </a:r>
            <a:endParaRPr lang="en-US" dirty="0"/>
          </a:p>
        </p:txBody>
      </p:sp>
      <p:sp>
        <p:nvSpPr>
          <p:cNvPr id="8" name="Rectangle 7"/>
          <p:cNvSpPr/>
          <p:nvPr/>
        </p:nvSpPr>
        <p:spPr>
          <a:xfrm>
            <a:off x="2844805" y="1279039"/>
            <a:ext cx="2075551" cy="1360736"/>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ODM</a:t>
            </a:r>
          </a:p>
        </p:txBody>
      </p:sp>
      <p:sp>
        <p:nvSpPr>
          <p:cNvPr id="11" name="Rectangle 10"/>
          <p:cNvSpPr/>
          <p:nvPr/>
        </p:nvSpPr>
        <p:spPr>
          <a:xfrm>
            <a:off x="7645406" y="1304467"/>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A</a:t>
            </a:r>
          </a:p>
        </p:txBody>
      </p:sp>
      <p:sp>
        <p:nvSpPr>
          <p:cNvPr id="24" name="Flowchart: Punched Tape 23"/>
          <p:cNvSpPr/>
          <p:nvPr/>
        </p:nvSpPr>
        <p:spPr>
          <a:xfrm>
            <a:off x="3014119" y="154121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A1</a:t>
            </a:r>
          </a:p>
        </p:txBody>
      </p:sp>
      <p:sp>
        <p:nvSpPr>
          <p:cNvPr id="25" name="Flowchart: Punched Tape 24"/>
          <p:cNvSpPr/>
          <p:nvPr/>
        </p:nvSpPr>
        <p:spPr>
          <a:xfrm>
            <a:off x="3014113" y="174442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A2</a:t>
            </a:r>
          </a:p>
        </p:txBody>
      </p:sp>
      <p:sp>
        <p:nvSpPr>
          <p:cNvPr id="26" name="Flowchart: Punched Tape 25"/>
          <p:cNvSpPr/>
          <p:nvPr/>
        </p:nvSpPr>
        <p:spPr>
          <a:xfrm>
            <a:off x="3022574" y="1947625"/>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A3</a:t>
            </a:r>
          </a:p>
        </p:txBody>
      </p:sp>
      <p:sp>
        <p:nvSpPr>
          <p:cNvPr id="27" name="Flowchart: Punched Tape 26"/>
          <p:cNvSpPr/>
          <p:nvPr/>
        </p:nvSpPr>
        <p:spPr>
          <a:xfrm>
            <a:off x="3031035" y="215717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A4</a:t>
            </a:r>
          </a:p>
        </p:txBody>
      </p:sp>
      <p:sp>
        <p:nvSpPr>
          <p:cNvPr id="28" name="Flowchart: Punched Tape 27"/>
          <p:cNvSpPr/>
          <p:nvPr/>
        </p:nvSpPr>
        <p:spPr>
          <a:xfrm>
            <a:off x="3031029" y="236673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A5</a:t>
            </a:r>
          </a:p>
        </p:txBody>
      </p:sp>
      <p:sp>
        <p:nvSpPr>
          <p:cNvPr id="18" name="Flowchart: Punched Tape 17"/>
          <p:cNvSpPr/>
          <p:nvPr/>
        </p:nvSpPr>
        <p:spPr>
          <a:xfrm>
            <a:off x="601030" y="1543036"/>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9" name="Flowchart: Punched Tape 18"/>
          <p:cNvSpPr/>
          <p:nvPr/>
        </p:nvSpPr>
        <p:spPr>
          <a:xfrm>
            <a:off x="601024" y="1746241"/>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20" name="Flowchart: Punched Tape 19"/>
          <p:cNvSpPr/>
          <p:nvPr/>
        </p:nvSpPr>
        <p:spPr>
          <a:xfrm>
            <a:off x="609485" y="194944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21" name="Flowchart: Punched Tape 20"/>
          <p:cNvSpPr/>
          <p:nvPr/>
        </p:nvSpPr>
        <p:spPr>
          <a:xfrm>
            <a:off x="609479" y="2158999"/>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22" name="Flowchart: Punched Tape 21"/>
          <p:cNvSpPr/>
          <p:nvPr/>
        </p:nvSpPr>
        <p:spPr>
          <a:xfrm>
            <a:off x="609473" y="236855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sp>
        <p:nvSpPr>
          <p:cNvPr id="29" name="Flowchart: Punched Tape 28"/>
          <p:cNvSpPr/>
          <p:nvPr/>
        </p:nvSpPr>
        <p:spPr>
          <a:xfrm>
            <a:off x="5291742" y="3112447"/>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30" name="Flowchart: Punched Tape 29"/>
          <p:cNvSpPr/>
          <p:nvPr/>
        </p:nvSpPr>
        <p:spPr>
          <a:xfrm>
            <a:off x="5291736" y="331565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31" name="Flowchart: Punched Tape 30"/>
          <p:cNvSpPr/>
          <p:nvPr/>
        </p:nvSpPr>
        <p:spPr>
          <a:xfrm>
            <a:off x="5300197" y="351885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32" name="Flowchart: Punched Tape 31"/>
          <p:cNvSpPr/>
          <p:nvPr/>
        </p:nvSpPr>
        <p:spPr>
          <a:xfrm>
            <a:off x="5308658" y="3728410"/>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33" name="Flowchart: Punched Tape 32"/>
          <p:cNvSpPr/>
          <p:nvPr/>
        </p:nvSpPr>
        <p:spPr>
          <a:xfrm>
            <a:off x="5308652" y="393796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cxnSp>
        <p:nvCxnSpPr>
          <p:cNvPr id="38" name="Elbow Connector 37"/>
          <p:cNvCxnSpPr>
            <a:stCxn id="18" idx="3"/>
            <a:endCxn id="29" idx="1"/>
          </p:cNvCxnSpPr>
          <p:nvPr/>
        </p:nvCxnSpPr>
        <p:spPr>
          <a:xfrm>
            <a:off x="863498" y="1631936"/>
            <a:ext cx="4428244" cy="1569411"/>
          </a:xfrm>
          <a:prstGeom prst="bentConnector3">
            <a:avLst>
              <a:gd name="adj1" fmla="val 4686"/>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44" name="Flowchart: Punched Tape 43"/>
          <p:cNvSpPr/>
          <p:nvPr/>
        </p:nvSpPr>
        <p:spPr>
          <a:xfrm>
            <a:off x="2001717" y="1541215"/>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A1</a:t>
            </a:r>
          </a:p>
        </p:txBody>
      </p:sp>
      <p:sp>
        <p:nvSpPr>
          <p:cNvPr id="45" name="Flowchart: Punched Tape 44"/>
          <p:cNvSpPr/>
          <p:nvPr/>
        </p:nvSpPr>
        <p:spPr>
          <a:xfrm>
            <a:off x="2001711" y="1744420"/>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A2</a:t>
            </a:r>
          </a:p>
        </p:txBody>
      </p:sp>
      <p:sp>
        <p:nvSpPr>
          <p:cNvPr id="46" name="Flowchart: Punched Tape 45"/>
          <p:cNvSpPr/>
          <p:nvPr/>
        </p:nvSpPr>
        <p:spPr>
          <a:xfrm>
            <a:off x="2010172" y="194762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A3</a:t>
            </a:r>
          </a:p>
        </p:txBody>
      </p:sp>
      <p:sp>
        <p:nvSpPr>
          <p:cNvPr id="47" name="Flowchart: Punched Tape 46"/>
          <p:cNvSpPr/>
          <p:nvPr/>
        </p:nvSpPr>
        <p:spPr>
          <a:xfrm>
            <a:off x="2018633" y="2157175"/>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A4</a:t>
            </a:r>
          </a:p>
        </p:txBody>
      </p:sp>
      <p:sp>
        <p:nvSpPr>
          <p:cNvPr id="48" name="Flowchart: Punched Tape 47"/>
          <p:cNvSpPr/>
          <p:nvPr/>
        </p:nvSpPr>
        <p:spPr>
          <a:xfrm>
            <a:off x="2018627" y="2366731"/>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A5</a:t>
            </a:r>
          </a:p>
        </p:txBody>
      </p:sp>
      <p:cxnSp>
        <p:nvCxnSpPr>
          <p:cNvPr id="50" name="Straight Arrow Connector 49"/>
          <p:cNvCxnSpPr>
            <a:stCxn id="44" idx="3"/>
            <a:endCxn id="24" idx="1"/>
          </p:cNvCxnSpPr>
          <p:nvPr/>
        </p:nvCxnSpPr>
        <p:spPr>
          <a:xfrm>
            <a:off x="2264185" y="1630115"/>
            <a:ext cx="749934" cy="3"/>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45" idx="3"/>
            <a:endCxn id="25" idx="1"/>
          </p:cNvCxnSpPr>
          <p:nvPr/>
        </p:nvCxnSpPr>
        <p:spPr>
          <a:xfrm>
            <a:off x="2264179" y="1833320"/>
            <a:ext cx="749934" cy="3"/>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6" idx="3"/>
            <a:endCxn id="26" idx="1"/>
          </p:cNvCxnSpPr>
          <p:nvPr/>
        </p:nvCxnSpPr>
        <p:spPr>
          <a:xfrm>
            <a:off x="2272640" y="2036522"/>
            <a:ext cx="749934" cy="3"/>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47" idx="3"/>
            <a:endCxn id="27" idx="1"/>
          </p:cNvCxnSpPr>
          <p:nvPr/>
        </p:nvCxnSpPr>
        <p:spPr>
          <a:xfrm>
            <a:off x="2281101" y="2246075"/>
            <a:ext cx="749934" cy="3"/>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3"/>
            <a:endCxn id="28" idx="1"/>
          </p:cNvCxnSpPr>
          <p:nvPr/>
        </p:nvCxnSpPr>
        <p:spPr>
          <a:xfrm>
            <a:off x="2281095" y="2455631"/>
            <a:ext cx="749934" cy="3"/>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3" name="Flowchart: Punched Tape 62"/>
          <p:cNvSpPr/>
          <p:nvPr/>
        </p:nvSpPr>
        <p:spPr>
          <a:xfrm>
            <a:off x="3646710" y="1795229"/>
            <a:ext cx="485057" cy="373743"/>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cxnSp>
        <p:nvCxnSpPr>
          <p:cNvPr id="68" name="Elbow Connector 67"/>
          <p:cNvCxnSpPr>
            <a:stCxn id="24" idx="3"/>
            <a:endCxn id="63" idx="1"/>
          </p:cNvCxnSpPr>
          <p:nvPr/>
        </p:nvCxnSpPr>
        <p:spPr>
          <a:xfrm>
            <a:off x="3276587" y="1630174"/>
            <a:ext cx="370092" cy="351983"/>
          </a:xfrm>
          <a:prstGeom prst="bentConnector3">
            <a:avLst>
              <a:gd name="adj1" fmla="val 50000"/>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9" name="Elbow Connector 68"/>
          <p:cNvCxnSpPr>
            <a:stCxn id="25" idx="3"/>
            <a:endCxn id="63" idx="1"/>
          </p:cNvCxnSpPr>
          <p:nvPr/>
        </p:nvCxnSpPr>
        <p:spPr>
          <a:xfrm>
            <a:off x="3276581" y="1833323"/>
            <a:ext cx="370098" cy="148779"/>
          </a:xfrm>
          <a:prstGeom prst="bentConnector3">
            <a:avLst>
              <a:gd name="adj1" fmla="val 50000"/>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2" name="Elbow Connector 71"/>
          <p:cNvCxnSpPr>
            <a:stCxn id="26" idx="3"/>
            <a:endCxn id="63" idx="1"/>
          </p:cNvCxnSpPr>
          <p:nvPr/>
        </p:nvCxnSpPr>
        <p:spPr>
          <a:xfrm flipV="1">
            <a:off x="3285071" y="1982157"/>
            <a:ext cx="361637" cy="54425"/>
          </a:xfrm>
          <a:prstGeom prst="bentConnector3">
            <a:avLst>
              <a:gd name="adj1" fmla="val 50000"/>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Elbow Connector 74"/>
          <p:cNvCxnSpPr>
            <a:stCxn id="27" idx="3"/>
            <a:endCxn id="63" idx="1"/>
          </p:cNvCxnSpPr>
          <p:nvPr/>
        </p:nvCxnSpPr>
        <p:spPr>
          <a:xfrm flipV="1">
            <a:off x="3293503" y="1982101"/>
            <a:ext cx="353176" cy="263978"/>
          </a:xfrm>
          <a:prstGeom prst="bentConnector3">
            <a:avLst>
              <a:gd name="adj1" fmla="val 50000"/>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Elbow Connector 77"/>
          <p:cNvCxnSpPr/>
          <p:nvPr/>
        </p:nvCxnSpPr>
        <p:spPr>
          <a:xfrm flipV="1">
            <a:off x="3293497" y="1982100"/>
            <a:ext cx="353182" cy="473532"/>
          </a:xfrm>
          <a:prstGeom prst="bentConnector3">
            <a:avLst>
              <a:gd name="adj1" fmla="val 50000"/>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6" name="Elbow Connector 85"/>
          <p:cNvCxnSpPr/>
          <p:nvPr/>
        </p:nvCxnSpPr>
        <p:spPr>
          <a:xfrm>
            <a:off x="863492" y="1854193"/>
            <a:ext cx="4428244" cy="1550360"/>
          </a:xfrm>
          <a:prstGeom prst="bentConnector3">
            <a:avLst>
              <a:gd name="adj1" fmla="val 465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a:off x="863486" y="2051044"/>
            <a:ext cx="4428244" cy="1550360"/>
          </a:xfrm>
          <a:prstGeom prst="bentConnector3">
            <a:avLst>
              <a:gd name="adj1" fmla="val 465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a:off x="863480" y="2260600"/>
            <a:ext cx="4428244" cy="1550360"/>
          </a:xfrm>
          <a:prstGeom prst="bentConnector3">
            <a:avLst>
              <a:gd name="adj1" fmla="val 465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a:off x="871941" y="2463802"/>
            <a:ext cx="4428244" cy="1550360"/>
          </a:xfrm>
          <a:prstGeom prst="bentConnector3">
            <a:avLst>
              <a:gd name="adj1" fmla="val 4544"/>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97" name="Rectangle 96"/>
          <p:cNvSpPr/>
          <p:nvPr/>
        </p:nvSpPr>
        <p:spPr>
          <a:xfrm>
            <a:off x="4309650" y="1807935"/>
            <a:ext cx="499533" cy="3556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sp>
        <p:nvSpPr>
          <p:cNvPr id="98" name="Rectangle 97"/>
          <p:cNvSpPr/>
          <p:nvPr/>
        </p:nvSpPr>
        <p:spPr>
          <a:xfrm>
            <a:off x="5850541" y="3116033"/>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A1</a:t>
            </a:r>
          </a:p>
        </p:txBody>
      </p:sp>
      <p:sp>
        <p:nvSpPr>
          <p:cNvPr id="99" name="Rectangle 98"/>
          <p:cNvSpPr/>
          <p:nvPr/>
        </p:nvSpPr>
        <p:spPr>
          <a:xfrm>
            <a:off x="5850541" y="3319238"/>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A2</a:t>
            </a:r>
          </a:p>
        </p:txBody>
      </p:sp>
      <p:sp>
        <p:nvSpPr>
          <p:cNvPr id="100" name="Rectangle 99"/>
          <p:cNvSpPr/>
          <p:nvPr/>
        </p:nvSpPr>
        <p:spPr>
          <a:xfrm>
            <a:off x="5850541" y="3522440"/>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A3</a:t>
            </a:r>
          </a:p>
        </p:txBody>
      </p:sp>
      <p:sp>
        <p:nvSpPr>
          <p:cNvPr id="101" name="Rectangle 100"/>
          <p:cNvSpPr/>
          <p:nvPr/>
        </p:nvSpPr>
        <p:spPr>
          <a:xfrm>
            <a:off x="5850541" y="3725648"/>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A4</a:t>
            </a:r>
          </a:p>
        </p:txBody>
      </p:sp>
      <p:sp>
        <p:nvSpPr>
          <p:cNvPr id="102" name="Rectangle 101"/>
          <p:cNvSpPr/>
          <p:nvPr/>
        </p:nvSpPr>
        <p:spPr>
          <a:xfrm>
            <a:off x="5850508" y="3928853"/>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A5</a:t>
            </a:r>
          </a:p>
        </p:txBody>
      </p:sp>
      <p:sp>
        <p:nvSpPr>
          <p:cNvPr id="107" name="Rectangle 106"/>
          <p:cNvSpPr/>
          <p:nvPr/>
        </p:nvSpPr>
        <p:spPr>
          <a:xfrm>
            <a:off x="5249382" y="2589009"/>
            <a:ext cx="499533" cy="3556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cxnSp>
        <p:nvCxnSpPr>
          <p:cNvPr id="108" name="Straight Arrow Connector 107"/>
          <p:cNvCxnSpPr>
            <a:stCxn id="63" idx="3"/>
            <a:endCxn id="97" idx="1"/>
          </p:cNvCxnSpPr>
          <p:nvPr/>
        </p:nvCxnSpPr>
        <p:spPr>
          <a:xfrm>
            <a:off x="4131851" y="1982102"/>
            <a:ext cx="177799" cy="3633"/>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1" name="Elbow Connector 110"/>
          <p:cNvCxnSpPr>
            <a:stCxn id="97" idx="3"/>
            <a:endCxn id="107" idx="0"/>
          </p:cNvCxnSpPr>
          <p:nvPr/>
        </p:nvCxnSpPr>
        <p:spPr>
          <a:xfrm>
            <a:off x="4809080" y="1985733"/>
            <a:ext cx="690065" cy="603276"/>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27" name="Group 126"/>
          <p:cNvGrpSpPr/>
          <p:nvPr/>
        </p:nvGrpSpPr>
        <p:grpSpPr>
          <a:xfrm>
            <a:off x="5646453" y="2936501"/>
            <a:ext cx="204070" cy="1078769"/>
            <a:chOff x="5646453" y="4078549"/>
            <a:chExt cx="204070" cy="1438358"/>
          </a:xfrm>
        </p:grpSpPr>
        <p:cxnSp>
          <p:nvCxnSpPr>
            <p:cNvPr id="114" name="Elbow Connector 110"/>
            <p:cNvCxnSpPr/>
            <p:nvPr/>
          </p:nvCxnSpPr>
          <p:spPr>
            <a:xfrm rot="16200000" flipH="1">
              <a:off x="5577042" y="4147960"/>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8" name="Elbow Connector 110"/>
            <p:cNvCxnSpPr/>
            <p:nvPr/>
          </p:nvCxnSpPr>
          <p:spPr>
            <a:xfrm rot="16200000" flipH="1">
              <a:off x="5577042" y="443062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9" name="Elbow Connector 110"/>
            <p:cNvCxnSpPr/>
            <p:nvPr/>
          </p:nvCxnSpPr>
          <p:spPr>
            <a:xfrm rot="16200000" flipH="1">
              <a:off x="5577042" y="469732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0" name="Elbow Connector 110"/>
            <p:cNvCxnSpPr/>
            <p:nvPr/>
          </p:nvCxnSpPr>
          <p:spPr>
            <a:xfrm rot="16200000" flipH="1">
              <a:off x="5577042" y="497418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Elbow Connector 110"/>
            <p:cNvCxnSpPr/>
            <p:nvPr/>
          </p:nvCxnSpPr>
          <p:spPr>
            <a:xfrm rot="16200000" flipH="1">
              <a:off x="5577042" y="524342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22" name="Rectangle 121"/>
          <p:cNvSpPr/>
          <p:nvPr/>
        </p:nvSpPr>
        <p:spPr>
          <a:xfrm>
            <a:off x="6320426" y="3116033"/>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B1</a:t>
            </a:r>
          </a:p>
        </p:txBody>
      </p:sp>
      <p:sp>
        <p:nvSpPr>
          <p:cNvPr id="123" name="Rectangle 122"/>
          <p:cNvSpPr/>
          <p:nvPr/>
        </p:nvSpPr>
        <p:spPr>
          <a:xfrm>
            <a:off x="6320426" y="3319238"/>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B2</a:t>
            </a:r>
          </a:p>
        </p:txBody>
      </p:sp>
      <p:sp>
        <p:nvSpPr>
          <p:cNvPr id="124" name="Rectangle 123"/>
          <p:cNvSpPr/>
          <p:nvPr/>
        </p:nvSpPr>
        <p:spPr>
          <a:xfrm>
            <a:off x="6320426" y="3522440"/>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B3</a:t>
            </a:r>
          </a:p>
        </p:txBody>
      </p:sp>
      <p:sp>
        <p:nvSpPr>
          <p:cNvPr id="125" name="Rectangle 124"/>
          <p:cNvSpPr/>
          <p:nvPr/>
        </p:nvSpPr>
        <p:spPr>
          <a:xfrm>
            <a:off x="6320426" y="3725648"/>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B4</a:t>
            </a:r>
          </a:p>
        </p:txBody>
      </p:sp>
      <p:sp>
        <p:nvSpPr>
          <p:cNvPr id="126" name="Rectangle 125"/>
          <p:cNvSpPr/>
          <p:nvPr/>
        </p:nvSpPr>
        <p:spPr>
          <a:xfrm>
            <a:off x="6320426" y="3928853"/>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B5</a:t>
            </a:r>
          </a:p>
        </p:txBody>
      </p:sp>
      <p:cxnSp>
        <p:nvCxnSpPr>
          <p:cNvPr id="129" name="Elbow Connector 110"/>
          <p:cNvCxnSpPr/>
          <p:nvPr/>
        </p:nvCxnSpPr>
        <p:spPr>
          <a:xfrm rot="16200000">
            <a:off x="6100459" y="4054254"/>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0" name="Elbow Connector 110"/>
          <p:cNvCxnSpPr/>
          <p:nvPr/>
        </p:nvCxnSpPr>
        <p:spPr>
          <a:xfrm rot="16200000">
            <a:off x="6100459" y="3850419"/>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1" name="Elbow Connector 110"/>
          <p:cNvCxnSpPr/>
          <p:nvPr/>
        </p:nvCxnSpPr>
        <p:spPr>
          <a:xfrm rot="16200000">
            <a:off x="6100459" y="3650394"/>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2" name="Elbow Connector 110"/>
          <p:cNvCxnSpPr/>
          <p:nvPr/>
        </p:nvCxnSpPr>
        <p:spPr>
          <a:xfrm rot="16200000">
            <a:off x="6100459" y="3442749"/>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3" name="Elbow Connector 110"/>
          <p:cNvCxnSpPr/>
          <p:nvPr/>
        </p:nvCxnSpPr>
        <p:spPr>
          <a:xfrm rot="16200000">
            <a:off x="6100459" y="3240819"/>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sp>
        <p:nvSpPr>
          <p:cNvPr id="136" name="Rectangle 135"/>
          <p:cNvSpPr/>
          <p:nvPr/>
        </p:nvSpPr>
        <p:spPr>
          <a:xfrm>
            <a:off x="6731254" y="3113552"/>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37" name="Rectangle 136"/>
          <p:cNvSpPr/>
          <p:nvPr/>
        </p:nvSpPr>
        <p:spPr>
          <a:xfrm>
            <a:off x="6731254" y="3316754"/>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138" name="Rectangle 137"/>
          <p:cNvSpPr/>
          <p:nvPr/>
        </p:nvSpPr>
        <p:spPr>
          <a:xfrm>
            <a:off x="6731228" y="3519959"/>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139" name="Rectangle 138"/>
          <p:cNvSpPr/>
          <p:nvPr/>
        </p:nvSpPr>
        <p:spPr>
          <a:xfrm>
            <a:off x="6731228" y="3723167"/>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140" name="Rectangle 139"/>
          <p:cNvSpPr/>
          <p:nvPr/>
        </p:nvSpPr>
        <p:spPr>
          <a:xfrm>
            <a:off x="6731228" y="3926369"/>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sp>
        <p:nvSpPr>
          <p:cNvPr id="85" name="Rectangle 84"/>
          <p:cNvSpPr/>
          <p:nvPr/>
        </p:nvSpPr>
        <p:spPr>
          <a:xfrm>
            <a:off x="5198558" y="4306023"/>
            <a:ext cx="499533" cy="355600"/>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white"/>
                </a:solidFill>
              </a:rPr>
              <a:t>B</a:t>
            </a:r>
          </a:p>
        </p:txBody>
      </p:sp>
      <p:sp>
        <p:nvSpPr>
          <p:cNvPr id="94" name="Rectangle 93"/>
          <p:cNvSpPr/>
          <p:nvPr/>
        </p:nvSpPr>
        <p:spPr>
          <a:xfrm>
            <a:off x="7710972" y="1545964"/>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05" name="Rectangle 104"/>
          <p:cNvSpPr/>
          <p:nvPr/>
        </p:nvSpPr>
        <p:spPr>
          <a:xfrm>
            <a:off x="7645406" y="20474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B</a:t>
            </a:r>
          </a:p>
        </p:txBody>
      </p:sp>
      <p:sp>
        <p:nvSpPr>
          <p:cNvPr id="106" name="Rectangle 105"/>
          <p:cNvSpPr/>
          <p:nvPr/>
        </p:nvSpPr>
        <p:spPr>
          <a:xfrm>
            <a:off x="7710972" y="2288930"/>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110" name="Rectangle 109"/>
          <p:cNvSpPr/>
          <p:nvPr/>
        </p:nvSpPr>
        <p:spPr>
          <a:xfrm>
            <a:off x="7645406" y="27822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C</a:t>
            </a:r>
          </a:p>
        </p:txBody>
      </p:sp>
      <p:sp>
        <p:nvSpPr>
          <p:cNvPr id="112" name="Rectangle 111"/>
          <p:cNvSpPr/>
          <p:nvPr/>
        </p:nvSpPr>
        <p:spPr>
          <a:xfrm>
            <a:off x="7710972" y="3023732"/>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113" name="Rectangle 112"/>
          <p:cNvSpPr/>
          <p:nvPr/>
        </p:nvSpPr>
        <p:spPr>
          <a:xfrm>
            <a:off x="7645406" y="3533368"/>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D</a:t>
            </a:r>
          </a:p>
        </p:txBody>
      </p:sp>
      <p:sp>
        <p:nvSpPr>
          <p:cNvPr id="115" name="Rectangle 114"/>
          <p:cNvSpPr/>
          <p:nvPr/>
        </p:nvSpPr>
        <p:spPr>
          <a:xfrm>
            <a:off x="7710972" y="3774863"/>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116" name="Rectangle 115"/>
          <p:cNvSpPr/>
          <p:nvPr/>
        </p:nvSpPr>
        <p:spPr>
          <a:xfrm>
            <a:off x="7645406" y="4268170"/>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E</a:t>
            </a:r>
          </a:p>
        </p:txBody>
      </p:sp>
      <p:sp>
        <p:nvSpPr>
          <p:cNvPr id="117" name="Rectangle 116"/>
          <p:cNvSpPr/>
          <p:nvPr/>
        </p:nvSpPr>
        <p:spPr>
          <a:xfrm>
            <a:off x="7710972" y="4509665"/>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cxnSp>
        <p:nvCxnSpPr>
          <p:cNvPr id="141" name="Elbow Connector 140"/>
          <p:cNvCxnSpPr>
            <a:stCxn id="136" idx="3"/>
            <a:endCxn id="94" idx="1"/>
          </p:cNvCxnSpPr>
          <p:nvPr/>
        </p:nvCxnSpPr>
        <p:spPr>
          <a:xfrm flipV="1">
            <a:off x="7116448" y="1631708"/>
            <a:ext cx="594551" cy="1567587"/>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2" name="Elbow Connector 141"/>
          <p:cNvCxnSpPr>
            <a:stCxn id="137" idx="3"/>
            <a:endCxn id="106" idx="1"/>
          </p:cNvCxnSpPr>
          <p:nvPr/>
        </p:nvCxnSpPr>
        <p:spPr>
          <a:xfrm flipV="1">
            <a:off x="7116412" y="2374674"/>
            <a:ext cx="594557" cy="1027824"/>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5" name="Elbow Connector 144"/>
          <p:cNvCxnSpPr>
            <a:stCxn id="138" idx="3"/>
            <a:endCxn id="112" idx="1"/>
          </p:cNvCxnSpPr>
          <p:nvPr/>
        </p:nvCxnSpPr>
        <p:spPr>
          <a:xfrm flipV="1">
            <a:off x="7116409" y="3109477"/>
            <a:ext cx="594563" cy="496226"/>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8" name="Elbow Connector 147"/>
          <p:cNvCxnSpPr>
            <a:stCxn id="139" idx="3"/>
            <a:endCxn id="115" idx="1"/>
          </p:cNvCxnSpPr>
          <p:nvPr/>
        </p:nvCxnSpPr>
        <p:spPr>
          <a:xfrm>
            <a:off x="7116409" y="3808909"/>
            <a:ext cx="594563" cy="51698"/>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1" name="Elbow Connector 150"/>
          <p:cNvCxnSpPr>
            <a:stCxn id="140" idx="3"/>
            <a:endCxn id="117" idx="1"/>
          </p:cNvCxnSpPr>
          <p:nvPr/>
        </p:nvCxnSpPr>
        <p:spPr>
          <a:xfrm>
            <a:off x="7116406" y="4012113"/>
            <a:ext cx="594569" cy="583296"/>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a:stCxn id="122" idx="3"/>
            <a:endCxn id="136" idx="1"/>
          </p:cNvCxnSpPr>
          <p:nvPr/>
        </p:nvCxnSpPr>
        <p:spPr>
          <a:xfrm flipV="1">
            <a:off x="6532092" y="3199352"/>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a:stCxn id="123" idx="3"/>
            <a:endCxn id="137" idx="1"/>
          </p:cNvCxnSpPr>
          <p:nvPr/>
        </p:nvCxnSpPr>
        <p:spPr>
          <a:xfrm flipV="1">
            <a:off x="6532085" y="3402556"/>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61" name="Straight Arrow Connector 160"/>
          <p:cNvCxnSpPr>
            <a:stCxn id="124" idx="3"/>
            <a:endCxn id="138" idx="1"/>
          </p:cNvCxnSpPr>
          <p:nvPr/>
        </p:nvCxnSpPr>
        <p:spPr>
          <a:xfrm flipV="1">
            <a:off x="6532085" y="3605759"/>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65" name="Straight Arrow Connector 164"/>
          <p:cNvCxnSpPr>
            <a:stCxn id="125" idx="3"/>
            <a:endCxn id="139" idx="1"/>
          </p:cNvCxnSpPr>
          <p:nvPr/>
        </p:nvCxnSpPr>
        <p:spPr>
          <a:xfrm flipV="1">
            <a:off x="6532085" y="3808967"/>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a:stCxn id="126" idx="3"/>
            <a:endCxn id="140" idx="1"/>
          </p:cNvCxnSpPr>
          <p:nvPr/>
        </p:nvCxnSpPr>
        <p:spPr>
          <a:xfrm flipV="1">
            <a:off x="6532085" y="4012171"/>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83" name="Elbow Connector 182"/>
          <p:cNvCxnSpPr>
            <a:stCxn id="85" idx="0"/>
          </p:cNvCxnSpPr>
          <p:nvPr/>
        </p:nvCxnSpPr>
        <p:spPr>
          <a:xfrm rot="5400000" flipH="1" flipV="1">
            <a:off x="5774726" y="3937834"/>
            <a:ext cx="41795" cy="694584"/>
          </a:xfrm>
          <a:prstGeom prst="bentConnector2">
            <a:avLst/>
          </a:prstGeom>
          <a:ln w="12700">
            <a:solidFill>
              <a:srgbClr val="6600CC"/>
            </a:solidFill>
          </a:ln>
        </p:spPr>
        <p:style>
          <a:lnRef idx="1">
            <a:schemeClr val="accent1"/>
          </a:lnRef>
          <a:fillRef idx="0">
            <a:schemeClr val="accent1"/>
          </a:fillRef>
          <a:effectRef idx="0">
            <a:schemeClr val="accent1"/>
          </a:effectRef>
          <a:fontRef idx="minor">
            <a:schemeClr val="tx1"/>
          </a:fontRef>
        </p:style>
      </p:cxnSp>
      <p:sp>
        <p:nvSpPr>
          <p:cNvPr id="189" name="Rectangle 188"/>
          <p:cNvSpPr/>
          <p:nvPr/>
        </p:nvSpPr>
        <p:spPr>
          <a:xfrm>
            <a:off x="42182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Component &amp; DIB Suppliers</a:t>
            </a:r>
          </a:p>
        </p:txBody>
      </p:sp>
      <p:sp>
        <p:nvSpPr>
          <p:cNvPr id="190" name="Isosceles Triangle 189"/>
          <p:cNvSpPr/>
          <p:nvPr/>
        </p:nvSpPr>
        <p:spPr>
          <a:xfrm rot="10800000">
            <a:off x="4915717" y="1878151"/>
            <a:ext cx="138546" cy="83127"/>
          </a:xfrm>
          <a:prstGeom prst="triangle">
            <a:avLst/>
          </a:prstGeom>
          <a:solidFill>
            <a:schemeClr val="bg1">
              <a:alpha val="61000"/>
            </a:schemeClr>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cxnSp>
        <p:nvCxnSpPr>
          <p:cNvPr id="191" name="Elbow Connector 155"/>
          <p:cNvCxnSpPr>
            <a:stCxn id="190" idx="3"/>
          </p:cNvCxnSpPr>
          <p:nvPr/>
        </p:nvCxnSpPr>
        <p:spPr>
          <a:xfrm rot="5400000" flipH="1" flipV="1">
            <a:off x="5021736" y="1670694"/>
            <a:ext cx="170794" cy="244235"/>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2" name="TextBox 191"/>
          <p:cNvSpPr txBox="1"/>
          <p:nvPr/>
        </p:nvSpPr>
        <p:spPr>
          <a:xfrm>
            <a:off x="5094482" y="1583531"/>
            <a:ext cx="1037463" cy="369332"/>
          </a:xfrm>
          <a:prstGeom prst="rect">
            <a:avLst/>
          </a:prstGeom>
          <a:noFill/>
        </p:spPr>
        <p:txBody>
          <a:bodyPr wrap="none" rtlCol="0">
            <a:spAutoFit/>
          </a:bodyPr>
          <a:lstStyle/>
          <a:p>
            <a:pPr algn="ctr" defTabSz="914400" fontAlgn="base">
              <a:spcBef>
                <a:spcPct val="0"/>
              </a:spcBef>
              <a:spcAft>
                <a:spcPct val="0"/>
              </a:spcAft>
            </a:pPr>
            <a:r>
              <a:rPr lang="en-US" sz="900" dirty="0" smtClean="0">
                <a:solidFill>
                  <a:prstClr val="black"/>
                </a:solidFill>
                <a:latin typeface="Arial" charset="0"/>
              </a:rPr>
              <a:t>Title Transfer Air</a:t>
            </a:r>
          </a:p>
          <a:p>
            <a:pPr algn="ctr" defTabSz="914400" fontAlgn="base">
              <a:spcBef>
                <a:spcPct val="0"/>
              </a:spcBef>
              <a:spcAft>
                <a:spcPct val="0"/>
              </a:spcAft>
            </a:pPr>
            <a:r>
              <a:rPr lang="en-US" sz="900" dirty="0" smtClean="0">
                <a:solidFill>
                  <a:prstClr val="black"/>
                </a:solidFill>
                <a:latin typeface="Arial" charset="0"/>
              </a:rPr>
              <a:t>ODM to HP</a:t>
            </a:r>
            <a:endParaRPr lang="en-US" sz="900" dirty="0">
              <a:solidFill>
                <a:prstClr val="black"/>
              </a:solidFill>
              <a:latin typeface="Arial" charset="0"/>
            </a:endParaRPr>
          </a:p>
        </p:txBody>
      </p:sp>
      <p:sp>
        <p:nvSpPr>
          <p:cNvPr id="128" name="Flowchart: Punched Tape 127"/>
          <p:cNvSpPr/>
          <p:nvPr/>
        </p:nvSpPr>
        <p:spPr>
          <a:xfrm>
            <a:off x="318002" y="87356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34" name="Flowchart: Punched Tape 133"/>
          <p:cNvSpPr/>
          <p:nvPr/>
        </p:nvSpPr>
        <p:spPr>
          <a:xfrm>
            <a:off x="285345" y="90622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35" name="Flowchart: Punched Tape 134"/>
          <p:cNvSpPr/>
          <p:nvPr/>
        </p:nvSpPr>
        <p:spPr>
          <a:xfrm>
            <a:off x="252687" y="93887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43" name="Flowchart: Punched Tape 142"/>
          <p:cNvSpPr/>
          <p:nvPr/>
        </p:nvSpPr>
        <p:spPr>
          <a:xfrm>
            <a:off x="230915" y="97970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44" name="Flowchart: Punched Tape 143"/>
          <p:cNvSpPr/>
          <p:nvPr/>
        </p:nvSpPr>
        <p:spPr>
          <a:xfrm>
            <a:off x="198258" y="1012357"/>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cxnSp>
        <p:nvCxnSpPr>
          <p:cNvPr id="146" name="Shape 145"/>
          <p:cNvCxnSpPr>
            <a:stCxn id="144" idx="2"/>
          </p:cNvCxnSpPr>
          <p:nvPr/>
        </p:nvCxnSpPr>
        <p:spPr>
          <a:xfrm rot="16200000" flipH="1">
            <a:off x="235503" y="1266387"/>
            <a:ext cx="459560" cy="271538"/>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47" name="Shape 146"/>
          <p:cNvCxnSpPr>
            <a:stCxn id="144" idx="2"/>
          </p:cNvCxnSpPr>
          <p:nvPr/>
        </p:nvCxnSpPr>
        <p:spPr>
          <a:xfrm rot="16200000" flipH="1">
            <a:off x="133901" y="1367992"/>
            <a:ext cx="662763" cy="271532"/>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49" name="Shape 148"/>
          <p:cNvCxnSpPr>
            <a:stCxn id="144" idx="2"/>
          </p:cNvCxnSpPr>
          <p:nvPr/>
        </p:nvCxnSpPr>
        <p:spPr>
          <a:xfrm rot="16200000" flipH="1">
            <a:off x="36516" y="1465421"/>
            <a:ext cx="865967" cy="279993"/>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50" name="Shape 149"/>
          <p:cNvCxnSpPr>
            <a:stCxn id="144" idx="2"/>
          </p:cNvCxnSpPr>
          <p:nvPr/>
        </p:nvCxnSpPr>
        <p:spPr>
          <a:xfrm rot="16200000" flipH="1">
            <a:off x="-68274" y="1570200"/>
            <a:ext cx="1075520" cy="279987"/>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52" name="Shape 151"/>
          <p:cNvCxnSpPr>
            <a:stCxn id="144" idx="2"/>
          </p:cNvCxnSpPr>
          <p:nvPr/>
        </p:nvCxnSpPr>
        <p:spPr>
          <a:xfrm rot="16200000" flipH="1">
            <a:off x="-173055" y="1674980"/>
            <a:ext cx="1285074" cy="279981"/>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153" name="TextBox 152"/>
          <p:cNvSpPr txBox="1"/>
          <p:nvPr/>
        </p:nvSpPr>
        <p:spPr>
          <a:xfrm>
            <a:off x="576939" y="938890"/>
            <a:ext cx="1263487"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Customer Orders</a:t>
            </a:r>
            <a:endParaRPr lang="en-US" sz="1100" dirty="0">
              <a:solidFill>
                <a:prstClr val="black"/>
              </a:solidFill>
              <a:latin typeface="Arial" charset="0"/>
            </a:endParaRPr>
          </a:p>
        </p:txBody>
      </p:sp>
      <p:sp>
        <p:nvSpPr>
          <p:cNvPr id="154" name="TextBox 153"/>
          <p:cNvSpPr txBox="1"/>
          <p:nvPr/>
        </p:nvSpPr>
        <p:spPr>
          <a:xfrm>
            <a:off x="544271" y="1379770"/>
            <a:ext cx="388248"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SO</a:t>
            </a:r>
            <a:endParaRPr lang="en-US" sz="1100" dirty="0">
              <a:solidFill>
                <a:prstClr val="black"/>
              </a:solidFill>
              <a:latin typeface="Arial" charset="0"/>
            </a:endParaRPr>
          </a:p>
        </p:txBody>
      </p:sp>
      <p:sp>
        <p:nvSpPr>
          <p:cNvPr id="155" name="TextBox 154"/>
          <p:cNvSpPr txBox="1"/>
          <p:nvPr/>
        </p:nvSpPr>
        <p:spPr>
          <a:xfrm>
            <a:off x="1937675" y="1379767"/>
            <a:ext cx="388248"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PO</a:t>
            </a:r>
            <a:endParaRPr lang="en-US" sz="1100" dirty="0">
              <a:solidFill>
                <a:prstClr val="black"/>
              </a:solidFill>
              <a:latin typeface="Arial" charset="0"/>
            </a:endParaRPr>
          </a:p>
        </p:txBody>
      </p:sp>
      <p:sp>
        <p:nvSpPr>
          <p:cNvPr id="156" name="Rounded Rectangle 155"/>
          <p:cNvSpPr/>
          <p:nvPr/>
        </p:nvSpPr>
        <p:spPr>
          <a:xfrm>
            <a:off x="5245319" y="628221"/>
            <a:ext cx="1862314" cy="955312"/>
          </a:xfrm>
          <a:prstGeom prst="roundRect">
            <a:avLst/>
          </a:prstGeom>
          <a:solidFill>
            <a:schemeClr val="bg1">
              <a:alpha val="6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200" b="1" dirty="0" smtClean="0">
                <a:solidFill>
                  <a:srgbClr val="FF0000"/>
                </a:solidFill>
                <a:latin typeface="Calibri" pitchFamily="34" charset="0"/>
                <a:cs typeface="Calibri" pitchFamily="34" charset="0"/>
              </a:rPr>
              <a:t>BTO Order Consolidation Capability required for ODM Production Line in order to minimize partially full bulk boxes</a:t>
            </a:r>
          </a:p>
        </p:txBody>
      </p:sp>
      <p:sp>
        <p:nvSpPr>
          <p:cNvPr id="159" name="Rounded Rectangle 158"/>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16</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48408352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8"/>
                                        </p:tgtEl>
                                        <p:attrNameLst>
                                          <p:attrName>style.visibility</p:attrName>
                                        </p:attrNameLst>
                                      </p:cBhvr>
                                      <p:to>
                                        <p:strVal val="visible"/>
                                      </p:to>
                                    </p:set>
                                    <p:animEffect transition="in" filter="fade">
                                      <p:cBhvr>
                                        <p:cTn id="22" dur="500"/>
                                        <p:tgtEl>
                                          <p:spTgt spid="1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4"/>
                                        </p:tgtEl>
                                        <p:attrNameLst>
                                          <p:attrName>style.visibility</p:attrName>
                                        </p:attrNameLst>
                                      </p:cBhvr>
                                      <p:to>
                                        <p:strVal val="visible"/>
                                      </p:to>
                                    </p:set>
                                    <p:animEffect transition="in" filter="fade">
                                      <p:cBhvr>
                                        <p:cTn id="25" dur="500"/>
                                        <p:tgtEl>
                                          <p:spTgt spid="13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5"/>
                                        </p:tgtEl>
                                        <p:attrNameLst>
                                          <p:attrName>style.visibility</p:attrName>
                                        </p:attrNameLst>
                                      </p:cBhvr>
                                      <p:to>
                                        <p:strVal val="visible"/>
                                      </p:to>
                                    </p:set>
                                    <p:animEffect transition="in" filter="fade">
                                      <p:cBhvr>
                                        <p:cTn id="28" dur="500"/>
                                        <p:tgtEl>
                                          <p:spTgt spid="13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3"/>
                                        </p:tgtEl>
                                        <p:attrNameLst>
                                          <p:attrName>style.visibility</p:attrName>
                                        </p:attrNameLst>
                                      </p:cBhvr>
                                      <p:to>
                                        <p:strVal val="visible"/>
                                      </p:to>
                                    </p:set>
                                    <p:animEffect transition="in" filter="fade">
                                      <p:cBhvr>
                                        <p:cTn id="31" dur="500"/>
                                        <p:tgtEl>
                                          <p:spTgt spid="14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4"/>
                                        </p:tgtEl>
                                        <p:attrNameLst>
                                          <p:attrName>style.visibility</p:attrName>
                                        </p:attrNameLst>
                                      </p:cBhvr>
                                      <p:to>
                                        <p:strVal val="visible"/>
                                      </p:to>
                                    </p:set>
                                    <p:animEffect transition="in" filter="fade">
                                      <p:cBhvr>
                                        <p:cTn id="34" dur="500"/>
                                        <p:tgtEl>
                                          <p:spTgt spid="144"/>
                                        </p:tgtEl>
                                      </p:cBhvr>
                                    </p:animEffect>
                                  </p:childTnLst>
                                </p:cTn>
                              </p:par>
                              <p:par>
                                <p:cTn id="35" presetID="10" presetClass="entr" presetSubtype="0" fill="hold" nodeType="withEffect">
                                  <p:stCondLst>
                                    <p:cond delay="0"/>
                                  </p:stCondLst>
                                  <p:childTnLst>
                                    <p:set>
                                      <p:cBhvr>
                                        <p:cTn id="36" dur="1" fill="hold">
                                          <p:stCondLst>
                                            <p:cond delay="0"/>
                                          </p:stCondLst>
                                        </p:cTn>
                                        <p:tgtEl>
                                          <p:spTgt spid="146"/>
                                        </p:tgtEl>
                                        <p:attrNameLst>
                                          <p:attrName>style.visibility</p:attrName>
                                        </p:attrNameLst>
                                      </p:cBhvr>
                                      <p:to>
                                        <p:strVal val="visible"/>
                                      </p:to>
                                    </p:set>
                                    <p:animEffect transition="in" filter="fade">
                                      <p:cBhvr>
                                        <p:cTn id="37" dur="500"/>
                                        <p:tgtEl>
                                          <p:spTgt spid="146"/>
                                        </p:tgtEl>
                                      </p:cBhvr>
                                    </p:animEffect>
                                  </p:childTnLst>
                                </p:cTn>
                              </p:par>
                              <p:par>
                                <p:cTn id="38" presetID="10" presetClass="entr" presetSubtype="0" fill="hold" nodeType="withEffect">
                                  <p:stCondLst>
                                    <p:cond delay="0"/>
                                  </p:stCondLst>
                                  <p:childTnLst>
                                    <p:set>
                                      <p:cBhvr>
                                        <p:cTn id="39" dur="1" fill="hold">
                                          <p:stCondLst>
                                            <p:cond delay="0"/>
                                          </p:stCondLst>
                                        </p:cTn>
                                        <p:tgtEl>
                                          <p:spTgt spid="147"/>
                                        </p:tgtEl>
                                        <p:attrNameLst>
                                          <p:attrName>style.visibility</p:attrName>
                                        </p:attrNameLst>
                                      </p:cBhvr>
                                      <p:to>
                                        <p:strVal val="visible"/>
                                      </p:to>
                                    </p:set>
                                    <p:animEffect transition="in" filter="fade">
                                      <p:cBhvr>
                                        <p:cTn id="40" dur="500"/>
                                        <p:tgtEl>
                                          <p:spTgt spid="147"/>
                                        </p:tgtEl>
                                      </p:cBhvr>
                                    </p:animEffect>
                                  </p:childTnLst>
                                </p:cTn>
                              </p:par>
                              <p:par>
                                <p:cTn id="41" presetID="10" presetClass="entr" presetSubtype="0" fill="hold" nodeType="withEffect">
                                  <p:stCondLst>
                                    <p:cond delay="0"/>
                                  </p:stCondLst>
                                  <p:childTnLst>
                                    <p:set>
                                      <p:cBhvr>
                                        <p:cTn id="42" dur="1" fill="hold">
                                          <p:stCondLst>
                                            <p:cond delay="0"/>
                                          </p:stCondLst>
                                        </p:cTn>
                                        <p:tgtEl>
                                          <p:spTgt spid="149"/>
                                        </p:tgtEl>
                                        <p:attrNameLst>
                                          <p:attrName>style.visibility</p:attrName>
                                        </p:attrNameLst>
                                      </p:cBhvr>
                                      <p:to>
                                        <p:strVal val="visible"/>
                                      </p:to>
                                    </p:set>
                                    <p:animEffect transition="in" filter="fade">
                                      <p:cBhvr>
                                        <p:cTn id="43" dur="500"/>
                                        <p:tgtEl>
                                          <p:spTgt spid="149"/>
                                        </p:tgtEl>
                                      </p:cBhvr>
                                    </p:animEffect>
                                  </p:childTnLst>
                                </p:cTn>
                              </p:par>
                              <p:par>
                                <p:cTn id="44" presetID="10" presetClass="entr" presetSubtype="0" fill="hold" nodeType="withEffect">
                                  <p:stCondLst>
                                    <p:cond delay="0"/>
                                  </p:stCondLst>
                                  <p:childTnLst>
                                    <p:set>
                                      <p:cBhvr>
                                        <p:cTn id="45" dur="1" fill="hold">
                                          <p:stCondLst>
                                            <p:cond delay="0"/>
                                          </p:stCondLst>
                                        </p:cTn>
                                        <p:tgtEl>
                                          <p:spTgt spid="150"/>
                                        </p:tgtEl>
                                        <p:attrNameLst>
                                          <p:attrName>style.visibility</p:attrName>
                                        </p:attrNameLst>
                                      </p:cBhvr>
                                      <p:to>
                                        <p:strVal val="visible"/>
                                      </p:to>
                                    </p:set>
                                    <p:animEffect transition="in" filter="fade">
                                      <p:cBhvr>
                                        <p:cTn id="46" dur="500"/>
                                        <p:tgtEl>
                                          <p:spTgt spid="150"/>
                                        </p:tgtEl>
                                      </p:cBhvr>
                                    </p:animEffect>
                                  </p:childTnLst>
                                </p:cTn>
                              </p:par>
                              <p:par>
                                <p:cTn id="47" presetID="10" presetClass="entr" presetSubtype="0" fill="hold" nodeType="withEffect">
                                  <p:stCondLst>
                                    <p:cond delay="0"/>
                                  </p:stCondLst>
                                  <p:childTnLst>
                                    <p:set>
                                      <p:cBhvr>
                                        <p:cTn id="48" dur="1" fill="hold">
                                          <p:stCondLst>
                                            <p:cond delay="0"/>
                                          </p:stCondLst>
                                        </p:cTn>
                                        <p:tgtEl>
                                          <p:spTgt spid="152"/>
                                        </p:tgtEl>
                                        <p:attrNameLst>
                                          <p:attrName>style.visibility</p:attrName>
                                        </p:attrNameLst>
                                      </p:cBhvr>
                                      <p:to>
                                        <p:strVal val="visible"/>
                                      </p:to>
                                    </p:set>
                                    <p:animEffect transition="in" filter="fade">
                                      <p:cBhvr>
                                        <p:cTn id="49" dur="500"/>
                                        <p:tgtEl>
                                          <p:spTgt spid="15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54"/>
                                        </p:tgtEl>
                                        <p:attrNameLst>
                                          <p:attrName>style.visibility</p:attrName>
                                        </p:attrNameLst>
                                      </p:cBhvr>
                                      <p:to>
                                        <p:strVal val="visible"/>
                                      </p:to>
                                    </p:set>
                                    <p:animEffect transition="in" filter="fade">
                                      <p:cBhvr>
                                        <p:cTn id="52" dur="500"/>
                                        <p:tgtEl>
                                          <p:spTgt spid="15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3"/>
                                        </p:tgtEl>
                                        <p:attrNameLst>
                                          <p:attrName>style.visibility</p:attrName>
                                        </p:attrNameLst>
                                      </p:cBhvr>
                                      <p:to>
                                        <p:strVal val="visible"/>
                                      </p:to>
                                    </p:set>
                                    <p:animEffect transition="in" filter="fade">
                                      <p:cBhvr>
                                        <p:cTn id="55" dur="500"/>
                                        <p:tgtEl>
                                          <p:spTgt spid="15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fade">
                                      <p:cBhvr>
                                        <p:cTn id="60" dur="500"/>
                                        <p:tgtEl>
                                          <p:spTgt spid="58"/>
                                        </p:tgtEl>
                                      </p:cBhvr>
                                    </p:animEffect>
                                  </p:childTnLst>
                                </p:cTn>
                              </p:par>
                              <p:par>
                                <p:cTn id="61" presetID="10" presetClass="entr" presetSubtype="0" fill="hold" nodeType="withEffect">
                                  <p:stCondLst>
                                    <p:cond delay="0"/>
                                  </p:stCondLst>
                                  <p:childTnLst>
                                    <p:set>
                                      <p:cBhvr>
                                        <p:cTn id="62" dur="1" fill="hold">
                                          <p:stCondLst>
                                            <p:cond delay="0"/>
                                          </p:stCondLst>
                                        </p:cTn>
                                        <p:tgtEl>
                                          <p:spTgt spid="90"/>
                                        </p:tgtEl>
                                        <p:attrNameLst>
                                          <p:attrName>style.visibility</p:attrName>
                                        </p:attrNameLst>
                                      </p:cBhvr>
                                      <p:to>
                                        <p:strVal val="visible"/>
                                      </p:to>
                                    </p:set>
                                    <p:animEffect transition="in" filter="fade">
                                      <p:cBhvr>
                                        <p:cTn id="63" dur="500"/>
                                        <p:tgtEl>
                                          <p:spTgt spid="90"/>
                                        </p:tgtEl>
                                      </p:cBhvr>
                                    </p:animEffect>
                                  </p:childTnLst>
                                </p:cTn>
                              </p:par>
                              <p:par>
                                <p:cTn id="64" presetID="10" presetClass="entr" presetSubtype="0" fill="hold" nodeType="withEffect">
                                  <p:stCondLst>
                                    <p:cond delay="0"/>
                                  </p:stCondLst>
                                  <p:childTnLst>
                                    <p:set>
                                      <p:cBhvr>
                                        <p:cTn id="65" dur="1" fill="hold">
                                          <p:stCondLst>
                                            <p:cond delay="0"/>
                                          </p:stCondLst>
                                        </p:cTn>
                                        <p:tgtEl>
                                          <p:spTgt spid="91"/>
                                        </p:tgtEl>
                                        <p:attrNameLst>
                                          <p:attrName>style.visibility</p:attrName>
                                        </p:attrNameLst>
                                      </p:cBhvr>
                                      <p:to>
                                        <p:strVal val="visible"/>
                                      </p:to>
                                    </p:set>
                                    <p:animEffect transition="in" filter="fade">
                                      <p:cBhvr>
                                        <p:cTn id="66" dur="500"/>
                                        <p:tgtEl>
                                          <p:spTgt spid="91"/>
                                        </p:tgtEl>
                                      </p:cBhvr>
                                    </p:animEffect>
                                  </p:childTnLst>
                                </p:cTn>
                              </p:par>
                              <p:par>
                                <p:cTn id="67" presetID="10" presetClass="entr" presetSubtype="0" fill="hold" nodeType="withEffect">
                                  <p:stCondLst>
                                    <p:cond delay="0"/>
                                  </p:stCondLst>
                                  <p:childTnLst>
                                    <p:set>
                                      <p:cBhvr>
                                        <p:cTn id="68" dur="1" fill="hold">
                                          <p:stCondLst>
                                            <p:cond delay="0"/>
                                          </p:stCondLst>
                                        </p:cTn>
                                        <p:tgtEl>
                                          <p:spTgt spid="92"/>
                                        </p:tgtEl>
                                        <p:attrNameLst>
                                          <p:attrName>style.visibility</p:attrName>
                                        </p:attrNameLst>
                                      </p:cBhvr>
                                      <p:to>
                                        <p:strVal val="visible"/>
                                      </p:to>
                                    </p:set>
                                    <p:animEffect transition="in" filter="fade">
                                      <p:cBhvr>
                                        <p:cTn id="69" dur="500"/>
                                        <p:tgtEl>
                                          <p:spTgt spid="92"/>
                                        </p:tgtEl>
                                      </p:cBhvr>
                                    </p:animEffect>
                                  </p:childTnLst>
                                </p:cTn>
                              </p:par>
                              <p:par>
                                <p:cTn id="70" presetID="10" presetClass="entr" presetSubtype="0" fill="hold" nodeType="withEffect">
                                  <p:stCondLst>
                                    <p:cond delay="0"/>
                                  </p:stCondLst>
                                  <p:childTnLst>
                                    <p:set>
                                      <p:cBhvr>
                                        <p:cTn id="71" dur="1" fill="hold">
                                          <p:stCondLst>
                                            <p:cond delay="0"/>
                                          </p:stCondLst>
                                        </p:cTn>
                                        <p:tgtEl>
                                          <p:spTgt spid="93"/>
                                        </p:tgtEl>
                                        <p:attrNameLst>
                                          <p:attrName>style.visibility</p:attrName>
                                        </p:attrNameLst>
                                      </p:cBhvr>
                                      <p:to>
                                        <p:strVal val="visible"/>
                                      </p:to>
                                    </p:set>
                                    <p:animEffect transition="in" filter="fade">
                                      <p:cBhvr>
                                        <p:cTn id="72" dur="500"/>
                                        <p:tgtEl>
                                          <p:spTgt spid="9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fade">
                                      <p:cBhvr>
                                        <p:cTn id="75" dur="500"/>
                                        <p:tgtEl>
                                          <p:spTgt spid="4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5"/>
                                        </p:tgtEl>
                                        <p:attrNameLst>
                                          <p:attrName>style.visibility</p:attrName>
                                        </p:attrNameLst>
                                      </p:cBhvr>
                                      <p:to>
                                        <p:strVal val="visible"/>
                                      </p:to>
                                    </p:set>
                                    <p:animEffect transition="in" filter="fade">
                                      <p:cBhvr>
                                        <p:cTn id="78" dur="500"/>
                                        <p:tgtEl>
                                          <p:spTgt spid="4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animEffect transition="in" filter="fade">
                                      <p:cBhvr>
                                        <p:cTn id="81" dur="500"/>
                                        <p:tgtEl>
                                          <p:spTgt spid="4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7"/>
                                        </p:tgtEl>
                                        <p:attrNameLst>
                                          <p:attrName>style.visibility</p:attrName>
                                        </p:attrNameLst>
                                      </p:cBhvr>
                                      <p:to>
                                        <p:strVal val="visible"/>
                                      </p:to>
                                    </p:set>
                                    <p:animEffect transition="in" filter="fade">
                                      <p:cBhvr>
                                        <p:cTn id="84" dur="500"/>
                                        <p:tgtEl>
                                          <p:spTgt spid="47"/>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48"/>
                                        </p:tgtEl>
                                        <p:attrNameLst>
                                          <p:attrName>style.visibility</p:attrName>
                                        </p:attrNameLst>
                                      </p:cBhvr>
                                      <p:to>
                                        <p:strVal val="visible"/>
                                      </p:to>
                                    </p:set>
                                    <p:animEffect transition="in" filter="fade">
                                      <p:cBhvr>
                                        <p:cTn id="87" dur="500"/>
                                        <p:tgtEl>
                                          <p:spTgt spid="4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155"/>
                                        </p:tgtEl>
                                        <p:attrNameLst>
                                          <p:attrName>style.visibility</p:attrName>
                                        </p:attrNameLst>
                                      </p:cBhvr>
                                      <p:to>
                                        <p:strVal val="visible"/>
                                      </p:to>
                                    </p:set>
                                    <p:animEffect transition="in" filter="fade">
                                      <p:cBhvr>
                                        <p:cTn id="90" dur="500"/>
                                        <p:tgtEl>
                                          <p:spTgt spid="155"/>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89"/>
                                        </p:tgtEl>
                                        <p:attrNameLst>
                                          <p:attrName>style.visibility</p:attrName>
                                        </p:attrNameLst>
                                      </p:cBhvr>
                                      <p:to>
                                        <p:strVal val="visible"/>
                                      </p:to>
                                    </p:set>
                                    <p:animEffect transition="in" filter="fade">
                                      <p:cBhvr>
                                        <p:cTn id="95" dur="500"/>
                                        <p:tgtEl>
                                          <p:spTgt spid="89"/>
                                        </p:tgtEl>
                                      </p:cBhvr>
                                    </p:animEffect>
                                  </p:childTnLst>
                                </p:cTn>
                              </p:par>
                              <p:par>
                                <p:cTn id="96" presetID="10" presetClass="entr" presetSubtype="0" fill="hold" nodeType="withEffect">
                                  <p:stCondLst>
                                    <p:cond delay="0"/>
                                  </p:stCondLst>
                                  <p:childTnLst>
                                    <p:set>
                                      <p:cBhvr>
                                        <p:cTn id="97" dur="1" fill="hold">
                                          <p:stCondLst>
                                            <p:cond delay="0"/>
                                          </p:stCondLst>
                                        </p:cTn>
                                        <p:tgtEl>
                                          <p:spTgt spid="88"/>
                                        </p:tgtEl>
                                        <p:attrNameLst>
                                          <p:attrName>style.visibility</p:attrName>
                                        </p:attrNameLst>
                                      </p:cBhvr>
                                      <p:to>
                                        <p:strVal val="visible"/>
                                      </p:to>
                                    </p:set>
                                    <p:animEffect transition="in" filter="fade">
                                      <p:cBhvr>
                                        <p:cTn id="98" dur="500"/>
                                        <p:tgtEl>
                                          <p:spTgt spid="88"/>
                                        </p:tgtEl>
                                      </p:cBhvr>
                                    </p:animEffect>
                                  </p:childTnLst>
                                </p:cTn>
                              </p:par>
                              <p:par>
                                <p:cTn id="99" presetID="10" presetClass="entr" presetSubtype="0" fill="hold" nodeType="withEffect">
                                  <p:stCondLst>
                                    <p:cond delay="0"/>
                                  </p:stCondLst>
                                  <p:childTnLst>
                                    <p:set>
                                      <p:cBhvr>
                                        <p:cTn id="100" dur="1" fill="hold">
                                          <p:stCondLst>
                                            <p:cond delay="0"/>
                                          </p:stCondLst>
                                        </p:cTn>
                                        <p:tgtEl>
                                          <p:spTgt spid="87"/>
                                        </p:tgtEl>
                                        <p:attrNameLst>
                                          <p:attrName>style.visibility</p:attrName>
                                        </p:attrNameLst>
                                      </p:cBhvr>
                                      <p:to>
                                        <p:strVal val="visible"/>
                                      </p:to>
                                    </p:set>
                                    <p:animEffect transition="in" filter="fade">
                                      <p:cBhvr>
                                        <p:cTn id="101" dur="500"/>
                                        <p:tgtEl>
                                          <p:spTgt spid="87"/>
                                        </p:tgtEl>
                                      </p:cBhvr>
                                    </p:animEffect>
                                  </p:childTnLst>
                                </p:cTn>
                              </p:par>
                              <p:par>
                                <p:cTn id="102" presetID="10" presetClass="entr" presetSubtype="0" fill="hold" nodeType="withEffect">
                                  <p:stCondLst>
                                    <p:cond delay="0"/>
                                  </p:stCondLst>
                                  <p:childTnLst>
                                    <p:set>
                                      <p:cBhvr>
                                        <p:cTn id="103" dur="1" fill="hold">
                                          <p:stCondLst>
                                            <p:cond delay="0"/>
                                          </p:stCondLst>
                                        </p:cTn>
                                        <p:tgtEl>
                                          <p:spTgt spid="86"/>
                                        </p:tgtEl>
                                        <p:attrNameLst>
                                          <p:attrName>style.visibility</p:attrName>
                                        </p:attrNameLst>
                                      </p:cBhvr>
                                      <p:to>
                                        <p:strVal val="visible"/>
                                      </p:to>
                                    </p:set>
                                    <p:animEffect transition="in" filter="fade">
                                      <p:cBhvr>
                                        <p:cTn id="104" dur="500"/>
                                        <p:tgtEl>
                                          <p:spTgt spid="86"/>
                                        </p:tgtEl>
                                      </p:cBhvr>
                                    </p:animEffect>
                                  </p:childTnLst>
                                </p:cTn>
                              </p:par>
                              <p:par>
                                <p:cTn id="105" presetID="10" presetClass="entr" presetSubtype="0" fill="hold"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500"/>
                                        <p:tgtEl>
                                          <p:spTgt spid="3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00"/>
                                        <p:tgtEl>
                                          <p:spTgt spid="29"/>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0"/>
                                        </p:tgtEl>
                                        <p:attrNameLst>
                                          <p:attrName>style.visibility</p:attrName>
                                        </p:attrNameLst>
                                      </p:cBhvr>
                                      <p:to>
                                        <p:strVal val="visible"/>
                                      </p:to>
                                    </p:set>
                                    <p:animEffect transition="in" filter="fade">
                                      <p:cBhvr>
                                        <p:cTn id="113" dur="500"/>
                                        <p:tgtEl>
                                          <p:spTgt spid="3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31"/>
                                        </p:tgtEl>
                                        <p:attrNameLst>
                                          <p:attrName>style.visibility</p:attrName>
                                        </p:attrNameLst>
                                      </p:cBhvr>
                                      <p:to>
                                        <p:strVal val="visible"/>
                                      </p:to>
                                    </p:set>
                                    <p:animEffect transition="in" filter="fade">
                                      <p:cBhvr>
                                        <p:cTn id="116" dur="500"/>
                                        <p:tgtEl>
                                          <p:spTgt spid="31"/>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32"/>
                                        </p:tgtEl>
                                        <p:attrNameLst>
                                          <p:attrName>style.visibility</p:attrName>
                                        </p:attrNameLst>
                                      </p:cBhvr>
                                      <p:to>
                                        <p:strVal val="visible"/>
                                      </p:to>
                                    </p:set>
                                    <p:animEffect transition="in" filter="fade">
                                      <p:cBhvr>
                                        <p:cTn id="119" dur="500"/>
                                        <p:tgtEl>
                                          <p:spTgt spid="3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500"/>
                                        <p:tgtEl>
                                          <p:spTgt spid="33"/>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24"/>
                                        </p:tgtEl>
                                        <p:attrNameLst>
                                          <p:attrName>style.visibility</p:attrName>
                                        </p:attrNameLst>
                                      </p:cBhvr>
                                      <p:to>
                                        <p:strVal val="visible"/>
                                      </p:to>
                                    </p:set>
                                    <p:animEffect transition="in" filter="fade">
                                      <p:cBhvr>
                                        <p:cTn id="125" dur="500"/>
                                        <p:tgtEl>
                                          <p:spTgt spid="2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25"/>
                                        </p:tgtEl>
                                        <p:attrNameLst>
                                          <p:attrName>style.visibility</p:attrName>
                                        </p:attrNameLst>
                                      </p:cBhvr>
                                      <p:to>
                                        <p:strVal val="visible"/>
                                      </p:to>
                                    </p:set>
                                    <p:animEffect transition="in" filter="fade">
                                      <p:cBhvr>
                                        <p:cTn id="128" dur="500"/>
                                        <p:tgtEl>
                                          <p:spTgt spid="2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26"/>
                                        </p:tgtEl>
                                        <p:attrNameLst>
                                          <p:attrName>style.visibility</p:attrName>
                                        </p:attrNameLst>
                                      </p:cBhvr>
                                      <p:to>
                                        <p:strVal val="visible"/>
                                      </p:to>
                                    </p:set>
                                    <p:animEffect transition="in" filter="fade">
                                      <p:cBhvr>
                                        <p:cTn id="131" dur="500"/>
                                        <p:tgtEl>
                                          <p:spTgt spid="26"/>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27"/>
                                        </p:tgtEl>
                                        <p:attrNameLst>
                                          <p:attrName>style.visibility</p:attrName>
                                        </p:attrNameLst>
                                      </p:cBhvr>
                                      <p:to>
                                        <p:strVal val="visible"/>
                                      </p:to>
                                    </p:set>
                                    <p:animEffect transition="in" filter="fade">
                                      <p:cBhvr>
                                        <p:cTn id="134" dur="500"/>
                                        <p:tgtEl>
                                          <p:spTgt spid="27"/>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28"/>
                                        </p:tgtEl>
                                        <p:attrNameLst>
                                          <p:attrName>style.visibility</p:attrName>
                                        </p:attrNameLst>
                                      </p:cBhvr>
                                      <p:to>
                                        <p:strVal val="visible"/>
                                      </p:to>
                                    </p:set>
                                    <p:animEffect transition="in" filter="fade">
                                      <p:cBhvr>
                                        <p:cTn id="137" dur="500"/>
                                        <p:tgtEl>
                                          <p:spTgt spid="28"/>
                                        </p:tgtEl>
                                      </p:cBhvr>
                                    </p:animEffect>
                                  </p:childTnLst>
                                </p:cTn>
                              </p:par>
                              <p:par>
                                <p:cTn id="138" presetID="10" presetClass="entr" presetSubtype="0" fill="hold" nodeType="withEffect">
                                  <p:stCondLst>
                                    <p:cond delay="0"/>
                                  </p:stCondLst>
                                  <p:childTnLst>
                                    <p:set>
                                      <p:cBhvr>
                                        <p:cTn id="139" dur="1" fill="hold">
                                          <p:stCondLst>
                                            <p:cond delay="0"/>
                                          </p:stCondLst>
                                        </p:cTn>
                                        <p:tgtEl>
                                          <p:spTgt spid="50"/>
                                        </p:tgtEl>
                                        <p:attrNameLst>
                                          <p:attrName>style.visibility</p:attrName>
                                        </p:attrNameLst>
                                      </p:cBhvr>
                                      <p:to>
                                        <p:strVal val="visible"/>
                                      </p:to>
                                    </p:set>
                                    <p:animEffect transition="in" filter="fade">
                                      <p:cBhvr>
                                        <p:cTn id="140" dur="500"/>
                                        <p:tgtEl>
                                          <p:spTgt spid="50"/>
                                        </p:tgtEl>
                                      </p:cBhvr>
                                    </p:animEffect>
                                  </p:childTnLst>
                                </p:cTn>
                              </p:par>
                              <p:par>
                                <p:cTn id="141" presetID="10" presetClass="entr" presetSubtype="0" fill="hold" nodeType="withEffect">
                                  <p:stCondLst>
                                    <p:cond delay="0"/>
                                  </p:stCondLst>
                                  <p:childTnLst>
                                    <p:set>
                                      <p:cBhvr>
                                        <p:cTn id="142" dur="1" fill="hold">
                                          <p:stCondLst>
                                            <p:cond delay="0"/>
                                          </p:stCondLst>
                                        </p:cTn>
                                        <p:tgtEl>
                                          <p:spTgt spid="51"/>
                                        </p:tgtEl>
                                        <p:attrNameLst>
                                          <p:attrName>style.visibility</p:attrName>
                                        </p:attrNameLst>
                                      </p:cBhvr>
                                      <p:to>
                                        <p:strVal val="visible"/>
                                      </p:to>
                                    </p:set>
                                    <p:animEffect transition="in" filter="fade">
                                      <p:cBhvr>
                                        <p:cTn id="143" dur="500"/>
                                        <p:tgtEl>
                                          <p:spTgt spid="51"/>
                                        </p:tgtEl>
                                      </p:cBhvr>
                                    </p:animEffect>
                                  </p:childTnLst>
                                </p:cTn>
                              </p:par>
                              <p:par>
                                <p:cTn id="144" presetID="10" presetClass="entr" presetSubtype="0" fill="hold" nodeType="withEffect">
                                  <p:stCondLst>
                                    <p:cond delay="0"/>
                                  </p:stCondLst>
                                  <p:childTnLst>
                                    <p:set>
                                      <p:cBhvr>
                                        <p:cTn id="145" dur="1" fill="hold">
                                          <p:stCondLst>
                                            <p:cond delay="0"/>
                                          </p:stCondLst>
                                        </p:cTn>
                                        <p:tgtEl>
                                          <p:spTgt spid="52"/>
                                        </p:tgtEl>
                                        <p:attrNameLst>
                                          <p:attrName>style.visibility</p:attrName>
                                        </p:attrNameLst>
                                      </p:cBhvr>
                                      <p:to>
                                        <p:strVal val="visible"/>
                                      </p:to>
                                    </p:set>
                                    <p:animEffect transition="in" filter="fade">
                                      <p:cBhvr>
                                        <p:cTn id="146" dur="500"/>
                                        <p:tgtEl>
                                          <p:spTgt spid="52"/>
                                        </p:tgtEl>
                                      </p:cBhvr>
                                    </p:animEffect>
                                  </p:childTnLst>
                                </p:cTn>
                              </p:par>
                              <p:par>
                                <p:cTn id="147" presetID="10" presetClass="entr" presetSubtype="0" fill="hold" nodeType="withEffect">
                                  <p:stCondLst>
                                    <p:cond delay="0"/>
                                  </p:stCondLst>
                                  <p:childTnLst>
                                    <p:set>
                                      <p:cBhvr>
                                        <p:cTn id="148" dur="1" fill="hold">
                                          <p:stCondLst>
                                            <p:cond delay="0"/>
                                          </p:stCondLst>
                                        </p:cTn>
                                        <p:tgtEl>
                                          <p:spTgt spid="53"/>
                                        </p:tgtEl>
                                        <p:attrNameLst>
                                          <p:attrName>style.visibility</p:attrName>
                                        </p:attrNameLst>
                                      </p:cBhvr>
                                      <p:to>
                                        <p:strVal val="visible"/>
                                      </p:to>
                                    </p:set>
                                    <p:animEffect transition="in" filter="fade">
                                      <p:cBhvr>
                                        <p:cTn id="149" dur="500"/>
                                        <p:tgtEl>
                                          <p:spTgt spid="53"/>
                                        </p:tgtEl>
                                      </p:cBhvr>
                                    </p:animEffect>
                                  </p:childTnLst>
                                </p:cTn>
                              </p:par>
                              <p:par>
                                <p:cTn id="150" presetID="10" presetClass="entr" presetSubtype="0" fill="hold" nodeType="withEffect">
                                  <p:stCondLst>
                                    <p:cond delay="0"/>
                                  </p:stCondLst>
                                  <p:childTnLst>
                                    <p:set>
                                      <p:cBhvr>
                                        <p:cTn id="151" dur="1" fill="hold">
                                          <p:stCondLst>
                                            <p:cond delay="0"/>
                                          </p:stCondLst>
                                        </p:cTn>
                                        <p:tgtEl>
                                          <p:spTgt spid="54"/>
                                        </p:tgtEl>
                                        <p:attrNameLst>
                                          <p:attrName>style.visibility</p:attrName>
                                        </p:attrNameLst>
                                      </p:cBhvr>
                                      <p:to>
                                        <p:strVal val="visible"/>
                                      </p:to>
                                    </p:set>
                                    <p:animEffect transition="in" filter="fade">
                                      <p:cBhvr>
                                        <p:cTn id="152" dur="500"/>
                                        <p:tgtEl>
                                          <p:spTgt spid="54"/>
                                        </p:tgtEl>
                                      </p:cBhvr>
                                    </p:animEffect>
                                  </p:childTnLst>
                                </p:cTn>
                              </p:par>
                            </p:childTnLst>
                          </p:cTn>
                        </p:par>
                      </p:childTnLst>
                    </p:cTn>
                  </p:par>
                  <p:par>
                    <p:cTn id="153" fill="hold">
                      <p:stCondLst>
                        <p:cond delay="indefinite"/>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63"/>
                                        </p:tgtEl>
                                        <p:attrNameLst>
                                          <p:attrName>style.visibility</p:attrName>
                                        </p:attrNameLst>
                                      </p:cBhvr>
                                      <p:to>
                                        <p:strVal val="visible"/>
                                      </p:to>
                                    </p:set>
                                    <p:animEffect transition="in" filter="fade">
                                      <p:cBhvr>
                                        <p:cTn id="157" dur="500"/>
                                        <p:tgtEl>
                                          <p:spTgt spid="63"/>
                                        </p:tgtEl>
                                      </p:cBhvr>
                                    </p:animEffect>
                                  </p:childTnLst>
                                </p:cTn>
                              </p:par>
                              <p:par>
                                <p:cTn id="158" presetID="10" presetClass="entr" presetSubtype="0" fill="hold" nodeType="withEffect">
                                  <p:stCondLst>
                                    <p:cond delay="0"/>
                                  </p:stCondLst>
                                  <p:childTnLst>
                                    <p:set>
                                      <p:cBhvr>
                                        <p:cTn id="159" dur="1" fill="hold">
                                          <p:stCondLst>
                                            <p:cond delay="0"/>
                                          </p:stCondLst>
                                        </p:cTn>
                                        <p:tgtEl>
                                          <p:spTgt spid="68"/>
                                        </p:tgtEl>
                                        <p:attrNameLst>
                                          <p:attrName>style.visibility</p:attrName>
                                        </p:attrNameLst>
                                      </p:cBhvr>
                                      <p:to>
                                        <p:strVal val="visible"/>
                                      </p:to>
                                    </p:set>
                                    <p:animEffect transition="in" filter="fade">
                                      <p:cBhvr>
                                        <p:cTn id="160" dur="500"/>
                                        <p:tgtEl>
                                          <p:spTgt spid="68"/>
                                        </p:tgtEl>
                                      </p:cBhvr>
                                    </p:animEffect>
                                  </p:childTnLst>
                                </p:cTn>
                              </p:par>
                              <p:par>
                                <p:cTn id="161" presetID="10" presetClass="entr" presetSubtype="0" fill="hold" nodeType="withEffect">
                                  <p:stCondLst>
                                    <p:cond delay="0"/>
                                  </p:stCondLst>
                                  <p:childTnLst>
                                    <p:set>
                                      <p:cBhvr>
                                        <p:cTn id="162" dur="1" fill="hold">
                                          <p:stCondLst>
                                            <p:cond delay="0"/>
                                          </p:stCondLst>
                                        </p:cTn>
                                        <p:tgtEl>
                                          <p:spTgt spid="69"/>
                                        </p:tgtEl>
                                        <p:attrNameLst>
                                          <p:attrName>style.visibility</p:attrName>
                                        </p:attrNameLst>
                                      </p:cBhvr>
                                      <p:to>
                                        <p:strVal val="visible"/>
                                      </p:to>
                                    </p:set>
                                    <p:animEffect transition="in" filter="fade">
                                      <p:cBhvr>
                                        <p:cTn id="163" dur="500"/>
                                        <p:tgtEl>
                                          <p:spTgt spid="69"/>
                                        </p:tgtEl>
                                      </p:cBhvr>
                                    </p:animEffect>
                                  </p:childTnLst>
                                </p:cTn>
                              </p:par>
                              <p:par>
                                <p:cTn id="164" presetID="10" presetClass="entr" presetSubtype="0" fill="hold" nodeType="withEffect">
                                  <p:stCondLst>
                                    <p:cond delay="0"/>
                                  </p:stCondLst>
                                  <p:childTnLst>
                                    <p:set>
                                      <p:cBhvr>
                                        <p:cTn id="165" dur="1" fill="hold">
                                          <p:stCondLst>
                                            <p:cond delay="0"/>
                                          </p:stCondLst>
                                        </p:cTn>
                                        <p:tgtEl>
                                          <p:spTgt spid="72"/>
                                        </p:tgtEl>
                                        <p:attrNameLst>
                                          <p:attrName>style.visibility</p:attrName>
                                        </p:attrNameLst>
                                      </p:cBhvr>
                                      <p:to>
                                        <p:strVal val="visible"/>
                                      </p:to>
                                    </p:set>
                                    <p:animEffect transition="in" filter="fade">
                                      <p:cBhvr>
                                        <p:cTn id="166" dur="500"/>
                                        <p:tgtEl>
                                          <p:spTgt spid="72"/>
                                        </p:tgtEl>
                                      </p:cBhvr>
                                    </p:animEffect>
                                  </p:childTnLst>
                                </p:cTn>
                              </p:par>
                              <p:par>
                                <p:cTn id="167" presetID="10" presetClass="entr" presetSubtype="0" fill="hold" nodeType="withEffect">
                                  <p:stCondLst>
                                    <p:cond delay="0"/>
                                  </p:stCondLst>
                                  <p:childTnLst>
                                    <p:set>
                                      <p:cBhvr>
                                        <p:cTn id="168" dur="1" fill="hold">
                                          <p:stCondLst>
                                            <p:cond delay="0"/>
                                          </p:stCondLst>
                                        </p:cTn>
                                        <p:tgtEl>
                                          <p:spTgt spid="75"/>
                                        </p:tgtEl>
                                        <p:attrNameLst>
                                          <p:attrName>style.visibility</p:attrName>
                                        </p:attrNameLst>
                                      </p:cBhvr>
                                      <p:to>
                                        <p:strVal val="visible"/>
                                      </p:to>
                                    </p:set>
                                    <p:animEffect transition="in" filter="fade">
                                      <p:cBhvr>
                                        <p:cTn id="169" dur="500"/>
                                        <p:tgtEl>
                                          <p:spTgt spid="75"/>
                                        </p:tgtEl>
                                      </p:cBhvr>
                                    </p:animEffect>
                                  </p:childTnLst>
                                </p:cTn>
                              </p:par>
                              <p:par>
                                <p:cTn id="170" presetID="10" presetClass="entr" presetSubtype="0" fill="hold" nodeType="withEffect">
                                  <p:stCondLst>
                                    <p:cond delay="0"/>
                                  </p:stCondLst>
                                  <p:childTnLst>
                                    <p:set>
                                      <p:cBhvr>
                                        <p:cTn id="171" dur="1" fill="hold">
                                          <p:stCondLst>
                                            <p:cond delay="0"/>
                                          </p:stCondLst>
                                        </p:cTn>
                                        <p:tgtEl>
                                          <p:spTgt spid="78"/>
                                        </p:tgtEl>
                                        <p:attrNameLst>
                                          <p:attrName>style.visibility</p:attrName>
                                        </p:attrNameLst>
                                      </p:cBhvr>
                                      <p:to>
                                        <p:strVal val="visible"/>
                                      </p:to>
                                    </p:set>
                                    <p:animEffect transition="in" filter="fade">
                                      <p:cBhvr>
                                        <p:cTn id="172" dur="500"/>
                                        <p:tgtEl>
                                          <p:spTgt spid="78"/>
                                        </p:tgtEl>
                                      </p:cBhvr>
                                    </p:animEffect>
                                  </p:childTnLst>
                                </p:cTn>
                              </p:par>
                            </p:childTnLst>
                          </p:cTn>
                        </p:par>
                      </p:childTnLst>
                    </p:cTn>
                  </p:par>
                  <p:par>
                    <p:cTn id="173" fill="hold">
                      <p:stCondLst>
                        <p:cond delay="indefinite"/>
                      </p:stCondLst>
                      <p:childTnLst>
                        <p:par>
                          <p:cTn id="174" fill="hold">
                            <p:stCondLst>
                              <p:cond delay="0"/>
                            </p:stCondLst>
                            <p:childTnLst>
                              <p:par>
                                <p:cTn id="175" presetID="10" presetClass="entr" presetSubtype="0" fill="hold" grpId="0" nodeType="clickEffect">
                                  <p:stCondLst>
                                    <p:cond delay="0"/>
                                  </p:stCondLst>
                                  <p:childTnLst>
                                    <p:set>
                                      <p:cBhvr>
                                        <p:cTn id="176" dur="1" fill="hold">
                                          <p:stCondLst>
                                            <p:cond delay="0"/>
                                          </p:stCondLst>
                                        </p:cTn>
                                        <p:tgtEl>
                                          <p:spTgt spid="97"/>
                                        </p:tgtEl>
                                        <p:attrNameLst>
                                          <p:attrName>style.visibility</p:attrName>
                                        </p:attrNameLst>
                                      </p:cBhvr>
                                      <p:to>
                                        <p:strVal val="visible"/>
                                      </p:to>
                                    </p:set>
                                    <p:animEffect transition="in" filter="fade">
                                      <p:cBhvr>
                                        <p:cTn id="177" dur="500"/>
                                        <p:tgtEl>
                                          <p:spTgt spid="97"/>
                                        </p:tgtEl>
                                      </p:cBhvr>
                                    </p:animEffect>
                                  </p:childTnLst>
                                </p:cTn>
                              </p:par>
                              <p:par>
                                <p:cTn id="178" presetID="10" presetClass="entr" presetSubtype="0" fill="hold" nodeType="withEffect">
                                  <p:stCondLst>
                                    <p:cond delay="0"/>
                                  </p:stCondLst>
                                  <p:childTnLst>
                                    <p:set>
                                      <p:cBhvr>
                                        <p:cTn id="179" dur="1" fill="hold">
                                          <p:stCondLst>
                                            <p:cond delay="0"/>
                                          </p:stCondLst>
                                        </p:cTn>
                                        <p:tgtEl>
                                          <p:spTgt spid="108"/>
                                        </p:tgtEl>
                                        <p:attrNameLst>
                                          <p:attrName>style.visibility</p:attrName>
                                        </p:attrNameLst>
                                      </p:cBhvr>
                                      <p:to>
                                        <p:strVal val="visible"/>
                                      </p:to>
                                    </p:set>
                                    <p:animEffect transition="in" filter="fade">
                                      <p:cBhvr>
                                        <p:cTn id="180" dur="500"/>
                                        <p:tgtEl>
                                          <p:spTgt spid="108"/>
                                        </p:tgtEl>
                                      </p:cBhvr>
                                    </p:animEffect>
                                  </p:childTnLst>
                                </p:cTn>
                              </p:par>
                            </p:childTnLst>
                          </p:cTn>
                        </p:par>
                      </p:childTnLst>
                    </p:cTn>
                  </p:par>
                  <p:par>
                    <p:cTn id="181" fill="hold">
                      <p:stCondLst>
                        <p:cond delay="indefinite"/>
                      </p:stCondLst>
                      <p:childTnLst>
                        <p:par>
                          <p:cTn id="182" fill="hold">
                            <p:stCondLst>
                              <p:cond delay="0"/>
                            </p:stCondLst>
                            <p:childTnLst>
                              <p:par>
                                <p:cTn id="183" presetID="10" presetClass="entr" presetSubtype="0" fill="hold" nodeType="clickEffect">
                                  <p:stCondLst>
                                    <p:cond delay="0"/>
                                  </p:stCondLst>
                                  <p:childTnLst>
                                    <p:set>
                                      <p:cBhvr>
                                        <p:cTn id="184" dur="1" fill="hold">
                                          <p:stCondLst>
                                            <p:cond delay="0"/>
                                          </p:stCondLst>
                                        </p:cTn>
                                        <p:tgtEl>
                                          <p:spTgt spid="111"/>
                                        </p:tgtEl>
                                        <p:attrNameLst>
                                          <p:attrName>style.visibility</p:attrName>
                                        </p:attrNameLst>
                                      </p:cBhvr>
                                      <p:to>
                                        <p:strVal val="visible"/>
                                      </p:to>
                                    </p:set>
                                    <p:animEffect transition="in" filter="fade">
                                      <p:cBhvr>
                                        <p:cTn id="185" dur="500"/>
                                        <p:tgtEl>
                                          <p:spTgt spid="111"/>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107"/>
                                        </p:tgtEl>
                                        <p:attrNameLst>
                                          <p:attrName>style.visibility</p:attrName>
                                        </p:attrNameLst>
                                      </p:cBhvr>
                                      <p:to>
                                        <p:strVal val="visible"/>
                                      </p:to>
                                    </p:set>
                                    <p:animEffect transition="in" filter="fade">
                                      <p:cBhvr>
                                        <p:cTn id="188" dur="500"/>
                                        <p:tgtEl>
                                          <p:spTgt spid="107"/>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98"/>
                                        </p:tgtEl>
                                        <p:attrNameLst>
                                          <p:attrName>style.visibility</p:attrName>
                                        </p:attrNameLst>
                                      </p:cBhvr>
                                      <p:to>
                                        <p:strVal val="visible"/>
                                      </p:to>
                                    </p:set>
                                    <p:animEffect transition="in" filter="fade">
                                      <p:cBhvr>
                                        <p:cTn id="193" dur="500"/>
                                        <p:tgtEl>
                                          <p:spTgt spid="98"/>
                                        </p:tgtEl>
                                      </p:cBhvr>
                                    </p:animEffect>
                                  </p:childTnLst>
                                </p:cTn>
                              </p:par>
                              <p:par>
                                <p:cTn id="194" presetID="10" presetClass="entr" presetSubtype="0" fill="hold" grpId="0" nodeType="withEffect">
                                  <p:stCondLst>
                                    <p:cond delay="0"/>
                                  </p:stCondLst>
                                  <p:childTnLst>
                                    <p:set>
                                      <p:cBhvr>
                                        <p:cTn id="195" dur="1" fill="hold">
                                          <p:stCondLst>
                                            <p:cond delay="0"/>
                                          </p:stCondLst>
                                        </p:cTn>
                                        <p:tgtEl>
                                          <p:spTgt spid="99"/>
                                        </p:tgtEl>
                                        <p:attrNameLst>
                                          <p:attrName>style.visibility</p:attrName>
                                        </p:attrNameLst>
                                      </p:cBhvr>
                                      <p:to>
                                        <p:strVal val="visible"/>
                                      </p:to>
                                    </p:set>
                                    <p:animEffect transition="in" filter="fade">
                                      <p:cBhvr>
                                        <p:cTn id="196" dur="500"/>
                                        <p:tgtEl>
                                          <p:spTgt spid="99"/>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100"/>
                                        </p:tgtEl>
                                        <p:attrNameLst>
                                          <p:attrName>style.visibility</p:attrName>
                                        </p:attrNameLst>
                                      </p:cBhvr>
                                      <p:to>
                                        <p:strVal val="visible"/>
                                      </p:to>
                                    </p:set>
                                    <p:animEffect transition="in" filter="fade">
                                      <p:cBhvr>
                                        <p:cTn id="199" dur="500"/>
                                        <p:tgtEl>
                                          <p:spTgt spid="100"/>
                                        </p:tgtEl>
                                      </p:cBhvr>
                                    </p:animEffect>
                                  </p:childTnLst>
                                </p:cTn>
                              </p:par>
                              <p:par>
                                <p:cTn id="200" presetID="10" presetClass="entr" presetSubtype="0" fill="hold" grpId="0" nodeType="withEffect">
                                  <p:stCondLst>
                                    <p:cond delay="0"/>
                                  </p:stCondLst>
                                  <p:childTnLst>
                                    <p:set>
                                      <p:cBhvr>
                                        <p:cTn id="201" dur="1" fill="hold">
                                          <p:stCondLst>
                                            <p:cond delay="0"/>
                                          </p:stCondLst>
                                        </p:cTn>
                                        <p:tgtEl>
                                          <p:spTgt spid="101"/>
                                        </p:tgtEl>
                                        <p:attrNameLst>
                                          <p:attrName>style.visibility</p:attrName>
                                        </p:attrNameLst>
                                      </p:cBhvr>
                                      <p:to>
                                        <p:strVal val="visible"/>
                                      </p:to>
                                    </p:set>
                                    <p:animEffect transition="in" filter="fade">
                                      <p:cBhvr>
                                        <p:cTn id="202" dur="500"/>
                                        <p:tgtEl>
                                          <p:spTgt spid="101"/>
                                        </p:tgtEl>
                                      </p:cBhvr>
                                    </p:animEffect>
                                  </p:childTnLst>
                                </p:cTn>
                              </p:par>
                              <p:par>
                                <p:cTn id="203" presetID="10" presetClass="entr" presetSubtype="0" fill="hold" grpId="0" nodeType="withEffect">
                                  <p:stCondLst>
                                    <p:cond delay="0"/>
                                  </p:stCondLst>
                                  <p:childTnLst>
                                    <p:set>
                                      <p:cBhvr>
                                        <p:cTn id="204" dur="1" fill="hold">
                                          <p:stCondLst>
                                            <p:cond delay="0"/>
                                          </p:stCondLst>
                                        </p:cTn>
                                        <p:tgtEl>
                                          <p:spTgt spid="102"/>
                                        </p:tgtEl>
                                        <p:attrNameLst>
                                          <p:attrName>style.visibility</p:attrName>
                                        </p:attrNameLst>
                                      </p:cBhvr>
                                      <p:to>
                                        <p:strVal val="visible"/>
                                      </p:to>
                                    </p:set>
                                    <p:animEffect transition="in" filter="fade">
                                      <p:cBhvr>
                                        <p:cTn id="205" dur="500"/>
                                        <p:tgtEl>
                                          <p:spTgt spid="102"/>
                                        </p:tgtEl>
                                      </p:cBhvr>
                                    </p:animEffect>
                                  </p:childTnLst>
                                </p:cTn>
                              </p:par>
                              <p:par>
                                <p:cTn id="206" presetID="10" presetClass="entr" presetSubtype="0" fill="hold" nodeType="withEffect">
                                  <p:stCondLst>
                                    <p:cond delay="0"/>
                                  </p:stCondLst>
                                  <p:childTnLst>
                                    <p:set>
                                      <p:cBhvr>
                                        <p:cTn id="207" dur="1" fill="hold">
                                          <p:stCondLst>
                                            <p:cond delay="0"/>
                                          </p:stCondLst>
                                        </p:cTn>
                                        <p:tgtEl>
                                          <p:spTgt spid="127"/>
                                        </p:tgtEl>
                                        <p:attrNameLst>
                                          <p:attrName>style.visibility</p:attrName>
                                        </p:attrNameLst>
                                      </p:cBhvr>
                                      <p:to>
                                        <p:strVal val="visible"/>
                                      </p:to>
                                    </p:set>
                                    <p:animEffect transition="in" filter="fade">
                                      <p:cBhvr>
                                        <p:cTn id="208" dur="500"/>
                                        <p:tgtEl>
                                          <p:spTgt spid="127"/>
                                        </p:tgtEl>
                                      </p:cBhvr>
                                    </p:animEffect>
                                  </p:childTnLst>
                                </p:cTn>
                              </p:par>
                            </p:childTnLst>
                          </p:cTn>
                        </p:par>
                      </p:childTnLst>
                    </p:cTn>
                  </p:par>
                  <p:par>
                    <p:cTn id="209" fill="hold">
                      <p:stCondLst>
                        <p:cond delay="indefinite"/>
                      </p:stCondLst>
                      <p:childTnLst>
                        <p:par>
                          <p:cTn id="210" fill="hold">
                            <p:stCondLst>
                              <p:cond delay="0"/>
                            </p:stCondLst>
                            <p:childTnLst>
                              <p:par>
                                <p:cTn id="211" presetID="10" presetClass="entr" presetSubtype="0" fill="hold" nodeType="clickEffect">
                                  <p:stCondLst>
                                    <p:cond delay="0"/>
                                  </p:stCondLst>
                                  <p:childTnLst>
                                    <p:set>
                                      <p:cBhvr>
                                        <p:cTn id="212" dur="1" fill="hold">
                                          <p:stCondLst>
                                            <p:cond delay="0"/>
                                          </p:stCondLst>
                                        </p:cTn>
                                        <p:tgtEl>
                                          <p:spTgt spid="183"/>
                                        </p:tgtEl>
                                        <p:attrNameLst>
                                          <p:attrName>style.visibility</p:attrName>
                                        </p:attrNameLst>
                                      </p:cBhvr>
                                      <p:to>
                                        <p:strVal val="visible"/>
                                      </p:to>
                                    </p:set>
                                    <p:animEffect transition="in" filter="fade">
                                      <p:cBhvr>
                                        <p:cTn id="213" dur="500"/>
                                        <p:tgtEl>
                                          <p:spTgt spid="183"/>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122"/>
                                        </p:tgtEl>
                                        <p:attrNameLst>
                                          <p:attrName>style.visibility</p:attrName>
                                        </p:attrNameLst>
                                      </p:cBhvr>
                                      <p:to>
                                        <p:strVal val="visible"/>
                                      </p:to>
                                    </p:set>
                                    <p:animEffect transition="in" filter="fade">
                                      <p:cBhvr>
                                        <p:cTn id="216" dur="500"/>
                                        <p:tgtEl>
                                          <p:spTgt spid="122"/>
                                        </p:tgtEl>
                                      </p:cBhvr>
                                    </p:animEffect>
                                  </p:childTnLst>
                                </p:cTn>
                              </p:par>
                              <p:par>
                                <p:cTn id="217" presetID="10" presetClass="entr" presetSubtype="0" fill="hold" grpId="0" nodeType="withEffect">
                                  <p:stCondLst>
                                    <p:cond delay="0"/>
                                  </p:stCondLst>
                                  <p:childTnLst>
                                    <p:set>
                                      <p:cBhvr>
                                        <p:cTn id="218" dur="1" fill="hold">
                                          <p:stCondLst>
                                            <p:cond delay="0"/>
                                          </p:stCondLst>
                                        </p:cTn>
                                        <p:tgtEl>
                                          <p:spTgt spid="123"/>
                                        </p:tgtEl>
                                        <p:attrNameLst>
                                          <p:attrName>style.visibility</p:attrName>
                                        </p:attrNameLst>
                                      </p:cBhvr>
                                      <p:to>
                                        <p:strVal val="visible"/>
                                      </p:to>
                                    </p:set>
                                    <p:animEffect transition="in" filter="fade">
                                      <p:cBhvr>
                                        <p:cTn id="219" dur="500"/>
                                        <p:tgtEl>
                                          <p:spTgt spid="123"/>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124"/>
                                        </p:tgtEl>
                                        <p:attrNameLst>
                                          <p:attrName>style.visibility</p:attrName>
                                        </p:attrNameLst>
                                      </p:cBhvr>
                                      <p:to>
                                        <p:strVal val="visible"/>
                                      </p:to>
                                    </p:set>
                                    <p:animEffect transition="in" filter="fade">
                                      <p:cBhvr>
                                        <p:cTn id="222" dur="500"/>
                                        <p:tgtEl>
                                          <p:spTgt spid="124"/>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125"/>
                                        </p:tgtEl>
                                        <p:attrNameLst>
                                          <p:attrName>style.visibility</p:attrName>
                                        </p:attrNameLst>
                                      </p:cBhvr>
                                      <p:to>
                                        <p:strVal val="visible"/>
                                      </p:to>
                                    </p:set>
                                    <p:animEffect transition="in" filter="fade">
                                      <p:cBhvr>
                                        <p:cTn id="225" dur="500"/>
                                        <p:tgtEl>
                                          <p:spTgt spid="125"/>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126"/>
                                        </p:tgtEl>
                                        <p:attrNameLst>
                                          <p:attrName>style.visibility</p:attrName>
                                        </p:attrNameLst>
                                      </p:cBhvr>
                                      <p:to>
                                        <p:strVal val="visible"/>
                                      </p:to>
                                    </p:set>
                                    <p:animEffect transition="in" filter="fade">
                                      <p:cBhvr>
                                        <p:cTn id="228" dur="500"/>
                                        <p:tgtEl>
                                          <p:spTgt spid="126"/>
                                        </p:tgtEl>
                                      </p:cBhvr>
                                    </p:animEffect>
                                  </p:childTnLst>
                                </p:cTn>
                              </p:par>
                              <p:par>
                                <p:cTn id="229" presetID="10" presetClass="entr" presetSubtype="0" fill="hold" nodeType="withEffect">
                                  <p:stCondLst>
                                    <p:cond delay="0"/>
                                  </p:stCondLst>
                                  <p:childTnLst>
                                    <p:set>
                                      <p:cBhvr>
                                        <p:cTn id="230" dur="1" fill="hold">
                                          <p:stCondLst>
                                            <p:cond delay="0"/>
                                          </p:stCondLst>
                                        </p:cTn>
                                        <p:tgtEl>
                                          <p:spTgt spid="129"/>
                                        </p:tgtEl>
                                        <p:attrNameLst>
                                          <p:attrName>style.visibility</p:attrName>
                                        </p:attrNameLst>
                                      </p:cBhvr>
                                      <p:to>
                                        <p:strVal val="visible"/>
                                      </p:to>
                                    </p:set>
                                    <p:animEffect transition="in" filter="fade">
                                      <p:cBhvr>
                                        <p:cTn id="231" dur="500"/>
                                        <p:tgtEl>
                                          <p:spTgt spid="129"/>
                                        </p:tgtEl>
                                      </p:cBhvr>
                                    </p:animEffect>
                                  </p:childTnLst>
                                </p:cTn>
                              </p:par>
                              <p:par>
                                <p:cTn id="232" presetID="10" presetClass="entr" presetSubtype="0" fill="hold" nodeType="withEffect">
                                  <p:stCondLst>
                                    <p:cond delay="0"/>
                                  </p:stCondLst>
                                  <p:childTnLst>
                                    <p:set>
                                      <p:cBhvr>
                                        <p:cTn id="233" dur="1" fill="hold">
                                          <p:stCondLst>
                                            <p:cond delay="0"/>
                                          </p:stCondLst>
                                        </p:cTn>
                                        <p:tgtEl>
                                          <p:spTgt spid="130"/>
                                        </p:tgtEl>
                                        <p:attrNameLst>
                                          <p:attrName>style.visibility</p:attrName>
                                        </p:attrNameLst>
                                      </p:cBhvr>
                                      <p:to>
                                        <p:strVal val="visible"/>
                                      </p:to>
                                    </p:set>
                                    <p:animEffect transition="in" filter="fade">
                                      <p:cBhvr>
                                        <p:cTn id="234" dur="500"/>
                                        <p:tgtEl>
                                          <p:spTgt spid="130"/>
                                        </p:tgtEl>
                                      </p:cBhvr>
                                    </p:animEffect>
                                  </p:childTnLst>
                                </p:cTn>
                              </p:par>
                              <p:par>
                                <p:cTn id="235" presetID="10" presetClass="entr" presetSubtype="0" fill="hold" nodeType="withEffect">
                                  <p:stCondLst>
                                    <p:cond delay="0"/>
                                  </p:stCondLst>
                                  <p:childTnLst>
                                    <p:set>
                                      <p:cBhvr>
                                        <p:cTn id="236" dur="1" fill="hold">
                                          <p:stCondLst>
                                            <p:cond delay="0"/>
                                          </p:stCondLst>
                                        </p:cTn>
                                        <p:tgtEl>
                                          <p:spTgt spid="131"/>
                                        </p:tgtEl>
                                        <p:attrNameLst>
                                          <p:attrName>style.visibility</p:attrName>
                                        </p:attrNameLst>
                                      </p:cBhvr>
                                      <p:to>
                                        <p:strVal val="visible"/>
                                      </p:to>
                                    </p:set>
                                    <p:animEffect transition="in" filter="fade">
                                      <p:cBhvr>
                                        <p:cTn id="237" dur="500"/>
                                        <p:tgtEl>
                                          <p:spTgt spid="131"/>
                                        </p:tgtEl>
                                      </p:cBhvr>
                                    </p:animEffect>
                                  </p:childTnLst>
                                </p:cTn>
                              </p:par>
                              <p:par>
                                <p:cTn id="238" presetID="10" presetClass="entr" presetSubtype="0" fill="hold" nodeType="withEffect">
                                  <p:stCondLst>
                                    <p:cond delay="0"/>
                                  </p:stCondLst>
                                  <p:childTnLst>
                                    <p:set>
                                      <p:cBhvr>
                                        <p:cTn id="239" dur="1" fill="hold">
                                          <p:stCondLst>
                                            <p:cond delay="0"/>
                                          </p:stCondLst>
                                        </p:cTn>
                                        <p:tgtEl>
                                          <p:spTgt spid="132"/>
                                        </p:tgtEl>
                                        <p:attrNameLst>
                                          <p:attrName>style.visibility</p:attrName>
                                        </p:attrNameLst>
                                      </p:cBhvr>
                                      <p:to>
                                        <p:strVal val="visible"/>
                                      </p:to>
                                    </p:set>
                                    <p:animEffect transition="in" filter="fade">
                                      <p:cBhvr>
                                        <p:cTn id="240" dur="500"/>
                                        <p:tgtEl>
                                          <p:spTgt spid="132"/>
                                        </p:tgtEl>
                                      </p:cBhvr>
                                    </p:animEffect>
                                  </p:childTnLst>
                                </p:cTn>
                              </p:par>
                              <p:par>
                                <p:cTn id="241" presetID="10" presetClass="entr" presetSubtype="0" fill="hold" nodeType="withEffect">
                                  <p:stCondLst>
                                    <p:cond delay="0"/>
                                  </p:stCondLst>
                                  <p:childTnLst>
                                    <p:set>
                                      <p:cBhvr>
                                        <p:cTn id="242" dur="1" fill="hold">
                                          <p:stCondLst>
                                            <p:cond delay="0"/>
                                          </p:stCondLst>
                                        </p:cTn>
                                        <p:tgtEl>
                                          <p:spTgt spid="133"/>
                                        </p:tgtEl>
                                        <p:attrNameLst>
                                          <p:attrName>style.visibility</p:attrName>
                                        </p:attrNameLst>
                                      </p:cBhvr>
                                      <p:to>
                                        <p:strVal val="visible"/>
                                      </p:to>
                                    </p:set>
                                    <p:animEffect transition="in" filter="fade">
                                      <p:cBhvr>
                                        <p:cTn id="243" dur="500"/>
                                        <p:tgtEl>
                                          <p:spTgt spid="133"/>
                                        </p:tgtEl>
                                      </p:cBhvr>
                                    </p:animEffect>
                                  </p:childTnLst>
                                </p:cTn>
                              </p:par>
                            </p:childTnLst>
                          </p:cTn>
                        </p:par>
                      </p:childTnLst>
                    </p:cTn>
                  </p:par>
                  <p:par>
                    <p:cTn id="244" fill="hold">
                      <p:stCondLst>
                        <p:cond delay="indefinite"/>
                      </p:stCondLst>
                      <p:childTnLst>
                        <p:par>
                          <p:cTn id="245" fill="hold">
                            <p:stCondLst>
                              <p:cond delay="0"/>
                            </p:stCondLst>
                            <p:childTnLst>
                              <p:par>
                                <p:cTn id="246" presetID="10" presetClass="entr" presetSubtype="0" fill="hold" grpId="0" nodeType="clickEffect">
                                  <p:stCondLst>
                                    <p:cond delay="0"/>
                                  </p:stCondLst>
                                  <p:childTnLst>
                                    <p:set>
                                      <p:cBhvr>
                                        <p:cTn id="247" dur="1" fill="hold">
                                          <p:stCondLst>
                                            <p:cond delay="0"/>
                                          </p:stCondLst>
                                        </p:cTn>
                                        <p:tgtEl>
                                          <p:spTgt spid="136"/>
                                        </p:tgtEl>
                                        <p:attrNameLst>
                                          <p:attrName>style.visibility</p:attrName>
                                        </p:attrNameLst>
                                      </p:cBhvr>
                                      <p:to>
                                        <p:strVal val="visible"/>
                                      </p:to>
                                    </p:set>
                                    <p:animEffect transition="in" filter="fade">
                                      <p:cBhvr>
                                        <p:cTn id="248" dur="500"/>
                                        <p:tgtEl>
                                          <p:spTgt spid="136"/>
                                        </p:tgtEl>
                                      </p:cBhvr>
                                    </p:animEffect>
                                  </p:childTnLst>
                                </p:cTn>
                              </p:par>
                              <p:par>
                                <p:cTn id="249" presetID="10" presetClass="entr" presetSubtype="0" fill="hold" grpId="0" nodeType="withEffect">
                                  <p:stCondLst>
                                    <p:cond delay="0"/>
                                  </p:stCondLst>
                                  <p:childTnLst>
                                    <p:set>
                                      <p:cBhvr>
                                        <p:cTn id="250" dur="1" fill="hold">
                                          <p:stCondLst>
                                            <p:cond delay="0"/>
                                          </p:stCondLst>
                                        </p:cTn>
                                        <p:tgtEl>
                                          <p:spTgt spid="137"/>
                                        </p:tgtEl>
                                        <p:attrNameLst>
                                          <p:attrName>style.visibility</p:attrName>
                                        </p:attrNameLst>
                                      </p:cBhvr>
                                      <p:to>
                                        <p:strVal val="visible"/>
                                      </p:to>
                                    </p:set>
                                    <p:animEffect transition="in" filter="fade">
                                      <p:cBhvr>
                                        <p:cTn id="251" dur="500"/>
                                        <p:tgtEl>
                                          <p:spTgt spid="137"/>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138"/>
                                        </p:tgtEl>
                                        <p:attrNameLst>
                                          <p:attrName>style.visibility</p:attrName>
                                        </p:attrNameLst>
                                      </p:cBhvr>
                                      <p:to>
                                        <p:strVal val="visible"/>
                                      </p:to>
                                    </p:set>
                                    <p:animEffect transition="in" filter="fade">
                                      <p:cBhvr>
                                        <p:cTn id="254" dur="500"/>
                                        <p:tgtEl>
                                          <p:spTgt spid="138"/>
                                        </p:tgtEl>
                                      </p:cBhvr>
                                    </p:animEffect>
                                  </p:childTnLst>
                                </p:cTn>
                              </p:par>
                              <p:par>
                                <p:cTn id="255" presetID="10" presetClass="entr" presetSubtype="0" fill="hold" grpId="0" nodeType="withEffect">
                                  <p:stCondLst>
                                    <p:cond delay="0"/>
                                  </p:stCondLst>
                                  <p:childTnLst>
                                    <p:set>
                                      <p:cBhvr>
                                        <p:cTn id="256" dur="1" fill="hold">
                                          <p:stCondLst>
                                            <p:cond delay="0"/>
                                          </p:stCondLst>
                                        </p:cTn>
                                        <p:tgtEl>
                                          <p:spTgt spid="139"/>
                                        </p:tgtEl>
                                        <p:attrNameLst>
                                          <p:attrName>style.visibility</p:attrName>
                                        </p:attrNameLst>
                                      </p:cBhvr>
                                      <p:to>
                                        <p:strVal val="visible"/>
                                      </p:to>
                                    </p:set>
                                    <p:animEffect transition="in" filter="fade">
                                      <p:cBhvr>
                                        <p:cTn id="257" dur="500"/>
                                        <p:tgtEl>
                                          <p:spTgt spid="139"/>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140"/>
                                        </p:tgtEl>
                                        <p:attrNameLst>
                                          <p:attrName>style.visibility</p:attrName>
                                        </p:attrNameLst>
                                      </p:cBhvr>
                                      <p:to>
                                        <p:strVal val="visible"/>
                                      </p:to>
                                    </p:set>
                                    <p:animEffect transition="in" filter="fade">
                                      <p:cBhvr>
                                        <p:cTn id="260" dur="500"/>
                                        <p:tgtEl>
                                          <p:spTgt spid="140"/>
                                        </p:tgtEl>
                                      </p:cBhvr>
                                    </p:animEffect>
                                  </p:childTnLst>
                                </p:cTn>
                              </p:par>
                              <p:par>
                                <p:cTn id="261" presetID="10" presetClass="entr" presetSubtype="0" fill="hold" nodeType="withEffect">
                                  <p:stCondLst>
                                    <p:cond delay="0"/>
                                  </p:stCondLst>
                                  <p:childTnLst>
                                    <p:set>
                                      <p:cBhvr>
                                        <p:cTn id="262" dur="1" fill="hold">
                                          <p:stCondLst>
                                            <p:cond delay="0"/>
                                          </p:stCondLst>
                                        </p:cTn>
                                        <p:tgtEl>
                                          <p:spTgt spid="157"/>
                                        </p:tgtEl>
                                        <p:attrNameLst>
                                          <p:attrName>style.visibility</p:attrName>
                                        </p:attrNameLst>
                                      </p:cBhvr>
                                      <p:to>
                                        <p:strVal val="visible"/>
                                      </p:to>
                                    </p:set>
                                    <p:animEffect transition="in" filter="fade">
                                      <p:cBhvr>
                                        <p:cTn id="263" dur="500"/>
                                        <p:tgtEl>
                                          <p:spTgt spid="157"/>
                                        </p:tgtEl>
                                      </p:cBhvr>
                                    </p:animEffect>
                                  </p:childTnLst>
                                </p:cTn>
                              </p:par>
                              <p:par>
                                <p:cTn id="264" presetID="10" presetClass="entr" presetSubtype="0" fill="hold" nodeType="withEffect">
                                  <p:stCondLst>
                                    <p:cond delay="0"/>
                                  </p:stCondLst>
                                  <p:childTnLst>
                                    <p:set>
                                      <p:cBhvr>
                                        <p:cTn id="265" dur="1" fill="hold">
                                          <p:stCondLst>
                                            <p:cond delay="0"/>
                                          </p:stCondLst>
                                        </p:cTn>
                                        <p:tgtEl>
                                          <p:spTgt spid="158"/>
                                        </p:tgtEl>
                                        <p:attrNameLst>
                                          <p:attrName>style.visibility</p:attrName>
                                        </p:attrNameLst>
                                      </p:cBhvr>
                                      <p:to>
                                        <p:strVal val="visible"/>
                                      </p:to>
                                    </p:set>
                                    <p:animEffect transition="in" filter="fade">
                                      <p:cBhvr>
                                        <p:cTn id="266" dur="500"/>
                                        <p:tgtEl>
                                          <p:spTgt spid="158"/>
                                        </p:tgtEl>
                                      </p:cBhvr>
                                    </p:animEffect>
                                  </p:childTnLst>
                                </p:cTn>
                              </p:par>
                              <p:par>
                                <p:cTn id="267" presetID="10" presetClass="entr" presetSubtype="0" fill="hold" nodeType="withEffect">
                                  <p:stCondLst>
                                    <p:cond delay="0"/>
                                  </p:stCondLst>
                                  <p:childTnLst>
                                    <p:set>
                                      <p:cBhvr>
                                        <p:cTn id="268" dur="1" fill="hold">
                                          <p:stCondLst>
                                            <p:cond delay="0"/>
                                          </p:stCondLst>
                                        </p:cTn>
                                        <p:tgtEl>
                                          <p:spTgt spid="161"/>
                                        </p:tgtEl>
                                        <p:attrNameLst>
                                          <p:attrName>style.visibility</p:attrName>
                                        </p:attrNameLst>
                                      </p:cBhvr>
                                      <p:to>
                                        <p:strVal val="visible"/>
                                      </p:to>
                                    </p:set>
                                    <p:animEffect transition="in" filter="fade">
                                      <p:cBhvr>
                                        <p:cTn id="269" dur="500"/>
                                        <p:tgtEl>
                                          <p:spTgt spid="161"/>
                                        </p:tgtEl>
                                      </p:cBhvr>
                                    </p:animEffect>
                                  </p:childTnLst>
                                </p:cTn>
                              </p:par>
                              <p:par>
                                <p:cTn id="270" presetID="10" presetClass="entr" presetSubtype="0" fill="hold" nodeType="withEffect">
                                  <p:stCondLst>
                                    <p:cond delay="0"/>
                                  </p:stCondLst>
                                  <p:childTnLst>
                                    <p:set>
                                      <p:cBhvr>
                                        <p:cTn id="271" dur="1" fill="hold">
                                          <p:stCondLst>
                                            <p:cond delay="0"/>
                                          </p:stCondLst>
                                        </p:cTn>
                                        <p:tgtEl>
                                          <p:spTgt spid="165"/>
                                        </p:tgtEl>
                                        <p:attrNameLst>
                                          <p:attrName>style.visibility</p:attrName>
                                        </p:attrNameLst>
                                      </p:cBhvr>
                                      <p:to>
                                        <p:strVal val="visible"/>
                                      </p:to>
                                    </p:set>
                                    <p:animEffect transition="in" filter="fade">
                                      <p:cBhvr>
                                        <p:cTn id="272" dur="500"/>
                                        <p:tgtEl>
                                          <p:spTgt spid="165"/>
                                        </p:tgtEl>
                                      </p:cBhvr>
                                    </p:animEffect>
                                  </p:childTnLst>
                                </p:cTn>
                              </p:par>
                              <p:par>
                                <p:cTn id="273" presetID="10" presetClass="entr" presetSubtype="0" fill="hold" nodeType="withEffect">
                                  <p:stCondLst>
                                    <p:cond delay="0"/>
                                  </p:stCondLst>
                                  <p:childTnLst>
                                    <p:set>
                                      <p:cBhvr>
                                        <p:cTn id="274" dur="1" fill="hold">
                                          <p:stCondLst>
                                            <p:cond delay="0"/>
                                          </p:stCondLst>
                                        </p:cTn>
                                        <p:tgtEl>
                                          <p:spTgt spid="168"/>
                                        </p:tgtEl>
                                        <p:attrNameLst>
                                          <p:attrName>style.visibility</p:attrName>
                                        </p:attrNameLst>
                                      </p:cBhvr>
                                      <p:to>
                                        <p:strVal val="visible"/>
                                      </p:to>
                                    </p:set>
                                    <p:animEffect transition="in" filter="fade">
                                      <p:cBhvr>
                                        <p:cTn id="275" dur="500"/>
                                        <p:tgtEl>
                                          <p:spTgt spid="168"/>
                                        </p:tgtEl>
                                      </p:cBhvr>
                                    </p:animEffect>
                                  </p:childTnLst>
                                </p:cTn>
                              </p:par>
                            </p:childTnLst>
                          </p:cTn>
                        </p:par>
                      </p:childTnLst>
                    </p:cTn>
                  </p:par>
                  <p:par>
                    <p:cTn id="276" fill="hold">
                      <p:stCondLst>
                        <p:cond delay="indefinite"/>
                      </p:stCondLst>
                      <p:childTnLst>
                        <p:par>
                          <p:cTn id="277" fill="hold">
                            <p:stCondLst>
                              <p:cond delay="0"/>
                            </p:stCondLst>
                            <p:childTnLst>
                              <p:par>
                                <p:cTn id="278" presetID="10" presetClass="entr" presetSubtype="0" fill="hold" grpId="0" nodeType="clickEffect">
                                  <p:stCondLst>
                                    <p:cond delay="0"/>
                                  </p:stCondLst>
                                  <p:childTnLst>
                                    <p:set>
                                      <p:cBhvr>
                                        <p:cTn id="279" dur="1" fill="hold">
                                          <p:stCondLst>
                                            <p:cond delay="0"/>
                                          </p:stCondLst>
                                        </p:cTn>
                                        <p:tgtEl>
                                          <p:spTgt spid="94"/>
                                        </p:tgtEl>
                                        <p:attrNameLst>
                                          <p:attrName>style.visibility</p:attrName>
                                        </p:attrNameLst>
                                      </p:cBhvr>
                                      <p:to>
                                        <p:strVal val="visible"/>
                                      </p:to>
                                    </p:set>
                                    <p:animEffect transition="in" filter="fade">
                                      <p:cBhvr>
                                        <p:cTn id="280" dur="500"/>
                                        <p:tgtEl>
                                          <p:spTgt spid="94"/>
                                        </p:tgtEl>
                                      </p:cBhvr>
                                    </p:animEffect>
                                  </p:childTnLst>
                                </p:cTn>
                              </p:par>
                              <p:par>
                                <p:cTn id="281" presetID="10" presetClass="entr" presetSubtype="0" fill="hold" grpId="0" nodeType="withEffect">
                                  <p:stCondLst>
                                    <p:cond delay="0"/>
                                  </p:stCondLst>
                                  <p:childTnLst>
                                    <p:set>
                                      <p:cBhvr>
                                        <p:cTn id="282" dur="1" fill="hold">
                                          <p:stCondLst>
                                            <p:cond delay="0"/>
                                          </p:stCondLst>
                                        </p:cTn>
                                        <p:tgtEl>
                                          <p:spTgt spid="106"/>
                                        </p:tgtEl>
                                        <p:attrNameLst>
                                          <p:attrName>style.visibility</p:attrName>
                                        </p:attrNameLst>
                                      </p:cBhvr>
                                      <p:to>
                                        <p:strVal val="visible"/>
                                      </p:to>
                                    </p:set>
                                    <p:animEffect transition="in" filter="fade">
                                      <p:cBhvr>
                                        <p:cTn id="283" dur="500"/>
                                        <p:tgtEl>
                                          <p:spTgt spid="106"/>
                                        </p:tgtEl>
                                      </p:cBhvr>
                                    </p:animEffect>
                                  </p:childTnLst>
                                </p:cTn>
                              </p:par>
                              <p:par>
                                <p:cTn id="284" presetID="10" presetClass="entr" presetSubtype="0" fill="hold" grpId="0" nodeType="withEffect">
                                  <p:stCondLst>
                                    <p:cond delay="0"/>
                                  </p:stCondLst>
                                  <p:childTnLst>
                                    <p:set>
                                      <p:cBhvr>
                                        <p:cTn id="285" dur="1" fill="hold">
                                          <p:stCondLst>
                                            <p:cond delay="0"/>
                                          </p:stCondLst>
                                        </p:cTn>
                                        <p:tgtEl>
                                          <p:spTgt spid="112"/>
                                        </p:tgtEl>
                                        <p:attrNameLst>
                                          <p:attrName>style.visibility</p:attrName>
                                        </p:attrNameLst>
                                      </p:cBhvr>
                                      <p:to>
                                        <p:strVal val="visible"/>
                                      </p:to>
                                    </p:set>
                                    <p:animEffect transition="in" filter="fade">
                                      <p:cBhvr>
                                        <p:cTn id="286" dur="500"/>
                                        <p:tgtEl>
                                          <p:spTgt spid="112"/>
                                        </p:tgtEl>
                                      </p:cBhvr>
                                    </p:animEffect>
                                  </p:childTnLst>
                                </p:cTn>
                              </p:par>
                              <p:par>
                                <p:cTn id="287" presetID="10" presetClass="entr" presetSubtype="0" fill="hold" grpId="0" nodeType="withEffect">
                                  <p:stCondLst>
                                    <p:cond delay="0"/>
                                  </p:stCondLst>
                                  <p:childTnLst>
                                    <p:set>
                                      <p:cBhvr>
                                        <p:cTn id="288" dur="1" fill="hold">
                                          <p:stCondLst>
                                            <p:cond delay="0"/>
                                          </p:stCondLst>
                                        </p:cTn>
                                        <p:tgtEl>
                                          <p:spTgt spid="115"/>
                                        </p:tgtEl>
                                        <p:attrNameLst>
                                          <p:attrName>style.visibility</p:attrName>
                                        </p:attrNameLst>
                                      </p:cBhvr>
                                      <p:to>
                                        <p:strVal val="visible"/>
                                      </p:to>
                                    </p:set>
                                    <p:animEffect transition="in" filter="fade">
                                      <p:cBhvr>
                                        <p:cTn id="289" dur="500"/>
                                        <p:tgtEl>
                                          <p:spTgt spid="115"/>
                                        </p:tgtEl>
                                      </p:cBhvr>
                                    </p:animEffect>
                                  </p:childTnLst>
                                </p:cTn>
                              </p:par>
                              <p:par>
                                <p:cTn id="290" presetID="10" presetClass="entr" presetSubtype="0" fill="hold" grpId="0" nodeType="withEffect">
                                  <p:stCondLst>
                                    <p:cond delay="0"/>
                                  </p:stCondLst>
                                  <p:childTnLst>
                                    <p:set>
                                      <p:cBhvr>
                                        <p:cTn id="291" dur="1" fill="hold">
                                          <p:stCondLst>
                                            <p:cond delay="0"/>
                                          </p:stCondLst>
                                        </p:cTn>
                                        <p:tgtEl>
                                          <p:spTgt spid="117"/>
                                        </p:tgtEl>
                                        <p:attrNameLst>
                                          <p:attrName>style.visibility</p:attrName>
                                        </p:attrNameLst>
                                      </p:cBhvr>
                                      <p:to>
                                        <p:strVal val="visible"/>
                                      </p:to>
                                    </p:set>
                                    <p:animEffect transition="in" filter="fade">
                                      <p:cBhvr>
                                        <p:cTn id="292" dur="500"/>
                                        <p:tgtEl>
                                          <p:spTgt spid="117"/>
                                        </p:tgtEl>
                                      </p:cBhvr>
                                    </p:animEffect>
                                  </p:childTnLst>
                                </p:cTn>
                              </p:par>
                              <p:par>
                                <p:cTn id="293" presetID="10" presetClass="entr" presetSubtype="0" fill="hold" nodeType="withEffect">
                                  <p:stCondLst>
                                    <p:cond delay="0"/>
                                  </p:stCondLst>
                                  <p:childTnLst>
                                    <p:set>
                                      <p:cBhvr>
                                        <p:cTn id="294" dur="1" fill="hold">
                                          <p:stCondLst>
                                            <p:cond delay="0"/>
                                          </p:stCondLst>
                                        </p:cTn>
                                        <p:tgtEl>
                                          <p:spTgt spid="141"/>
                                        </p:tgtEl>
                                        <p:attrNameLst>
                                          <p:attrName>style.visibility</p:attrName>
                                        </p:attrNameLst>
                                      </p:cBhvr>
                                      <p:to>
                                        <p:strVal val="visible"/>
                                      </p:to>
                                    </p:set>
                                    <p:animEffect transition="in" filter="fade">
                                      <p:cBhvr>
                                        <p:cTn id="295" dur="500"/>
                                        <p:tgtEl>
                                          <p:spTgt spid="141"/>
                                        </p:tgtEl>
                                      </p:cBhvr>
                                    </p:animEffect>
                                  </p:childTnLst>
                                </p:cTn>
                              </p:par>
                              <p:par>
                                <p:cTn id="296" presetID="10" presetClass="entr" presetSubtype="0" fill="hold" nodeType="withEffect">
                                  <p:stCondLst>
                                    <p:cond delay="0"/>
                                  </p:stCondLst>
                                  <p:childTnLst>
                                    <p:set>
                                      <p:cBhvr>
                                        <p:cTn id="297" dur="1" fill="hold">
                                          <p:stCondLst>
                                            <p:cond delay="0"/>
                                          </p:stCondLst>
                                        </p:cTn>
                                        <p:tgtEl>
                                          <p:spTgt spid="142"/>
                                        </p:tgtEl>
                                        <p:attrNameLst>
                                          <p:attrName>style.visibility</p:attrName>
                                        </p:attrNameLst>
                                      </p:cBhvr>
                                      <p:to>
                                        <p:strVal val="visible"/>
                                      </p:to>
                                    </p:set>
                                    <p:animEffect transition="in" filter="fade">
                                      <p:cBhvr>
                                        <p:cTn id="298" dur="500"/>
                                        <p:tgtEl>
                                          <p:spTgt spid="142"/>
                                        </p:tgtEl>
                                      </p:cBhvr>
                                    </p:animEffect>
                                  </p:childTnLst>
                                </p:cTn>
                              </p:par>
                              <p:par>
                                <p:cTn id="299" presetID="10" presetClass="entr" presetSubtype="0" fill="hold" nodeType="withEffect">
                                  <p:stCondLst>
                                    <p:cond delay="0"/>
                                  </p:stCondLst>
                                  <p:childTnLst>
                                    <p:set>
                                      <p:cBhvr>
                                        <p:cTn id="300" dur="1" fill="hold">
                                          <p:stCondLst>
                                            <p:cond delay="0"/>
                                          </p:stCondLst>
                                        </p:cTn>
                                        <p:tgtEl>
                                          <p:spTgt spid="145"/>
                                        </p:tgtEl>
                                        <p:attrNameLst>
                                          <p:attrName>style.visibility</p:attrName>
                                        </p:attrNameLst>
                                      </p:cBhvr>
                                      <p:to>
                                        <p:strVal val="visible"/>
                                      </p:to>
                                    </p:set>
                                    <p:animEffect transition="in" filter="fade">
                                      <p:cBhvr>
                                        <p:cTn id="301" dur="500"/>
                                        <p:tgtEl>
                                          <p:spTgt spid="145"/>
                                        </p:tgtEl>
                                      </p:cBhvr>
                                    </p:animEffect>
                                  </p:childTnLst>
                                </p:cTn>
                              </p:par>
                              <p:par>
                                <p:cTn id="302" presetID="10" presetClass="entr" presetSubtype="0" fill="hold" nodeType="withEffect">
                                  <p:stCondLst>
                                    <p:cond delay="0"/>
                                  </p:stCondLst>
                                  <p:childTnLst>
                                    <p:set>
                                      <p:cBhvr>
                                        <p:cTn id="303" dur="1" fill="hold">
                                          <p:stCondLst>
                                            <p:cond delay="0"/>
                                          </p:stCondLst>
                                        </p:cTn>
                                        <p:tgtEl>
                                          <p:spTgt spid="148"/>
                                        </p:tgtEl>
                                        <p:attrNameLst>
                                          <p:attrName>style.visibility</p:attrName>
                                        </p:attrNameLst>
                                      </p:cBhvr>
                                      <p:to>
                                        <p:strVal val="visible"/>
                                      </p:to>
                                    </p:set>
                                    <p:animEffect transition="in" filter="fade">
                                      <p:cBhvr>
                                        <p:cTn id="304" dur="500"/>
                                        <p:tgtEl>
                                          <p:spTgt spid="148"/>
                                        </p:tgtEl>
                                      </p:cBhvr>
                                    </p:animEffect>
                                  </p:childTnLst>
                                </p:cTn>
                              </p:par>
                              <p:par>
                                <p:cTn id="305" presetID="10" presetClass="entr" presetSubtype="0" fill="hold" nodeType="withEffect">
                                  <p:stCondLst>
                                    <p:cond delay="0"/>
                                  </p:stCondLst>
                                  <p:childTnLst>
                                    <p:set>
                                      <p:cBhvr>
                                        <p:cTn id="306" dur="1" fill="hold">
                                          <p:stCondLst>
                                            <p:cond delay="0"/>
                                          </p:stCondLst>
                                        </p:cTn>
                                        <p:tgtEl>
                                          <p:spTgt spid="151"/>
                                        </p:tgtEl>
                                        <p:attrNameLst>
                                          <p:attrName>style.visibility</p:attrName>
                                        </p:attrNameLst>
                                      </p:cBhvr>
                                      <p:to>
                                        <p:strVal val="visible"/>
                                      </p:to>
                                    </p:set>
                                    <p:animEffect transition="in" filter="fade">
                                      <p:cBhvr>
                                        <p:cTn id="307" dur="500"/>
                                        <p:tgtEl>
                                          <p:spTgt spid="151"/>
                                        </p:tgtEl>
                                      </p:cBhvr>
                                    </p:animEffect>
                                  </p:childTnLst>
                                </p:cTn>
                              </p:par>
                            </p:childTnLst>
                          </p:cTn>
                        </p:par>
                      </p:childTnLst>
                    </p:cTn>
                  </p:par>
                  <p:par>
                    <p:cTn id="308" fill="hold">
                      <p:stCondLst>
                        <p:cond delay="indefinite"/>
                      </p:stCondLst>
                      <p:childTnLst>
                        <p:par>
                          <p:cTn id="309" fill="hold">
                            <p:stCondLst>
                              <p:cond delay="0"/>
                            </p:stCondLst>
                            <p:childTnLst>
                              <p:par>
                                <p:cTn id="310" presetID="10" presetClass="entr" presetSubtype="0" fill="hold" grpId="0" nodeType="clickEffect">
                                  <p:stCondLst>
                                    <p:cond delay="0"/>
                                  </p:stCondLst>
                                  <p:childTnLst>
                                    <p:set>
                                      <p:cBhvr>
                                        <p:cTn id="311" dur="1" fill="hold">
                                          <p:stCondLst>
                                            <p:cond delay="0"/>
                                          </p:stCondLst>
                                        </p:cTn>
                                        <p:tgtEl>
                                          <p:spTgt spid="190"/>
                                        </p:tgtEl>
                                        <p:attrNameLst>
                                          <p:attrName>style.visibility</p:attrName>
                                        </p:attrNameLst>
                                      </p:cBhvr>
                                      <p:to>
                                        <p:strVal val="visible"/>
                                      </p:to>
                                    </p:set>
                                    <p:animEffect transition="in" filter="fade">
                                      <p:cBhvr>
                                        <p:cTn id="312" dur="500"/>
                                        <p:tgtEl>
                                          <p:spTgt spid="190"/>
                                        </p:tgtEl>
                                      </p:cBhvr>
                                    </p:animEffect>
                                  </p:childTnLst>
                                </p:cTn>
                              </p:par>
                              <p:par>
                                <p:cTn id="313" presetID="10" presetClass="entr" presetSubtype="0" fill="hold" nodeType="withEffect">
                                  <p:stCondLst>
                                    <p:cond delay="0"/>
                                  </p:stCondLst>
                                  <p:childTnLst>
                                    <p:set>
                                      <p:cBhvr>
                                        <p:cTn id="314" dur="1" fill="hold">
                                          <p:stCondLst>
                                            <p:cond delay="0"/>
                                          </p:stCondLst>
                                        </p:cTn>
                                        <p:tgtEl>
                                          <p:spTgt spid="191"/>
                                        </p:tgtEl>
                                        <p:attrNameLst>
                                          <p:attrName>style.visibility</p:attrName>
                                        </p:attrNameLst>
                                      </p:cBhvr>
                                      <p:to>
                                        <p:strVal val="visible"/>
                                      </p:to>
                                    </p:set>
                                    <p:animEffect transition="in" filter="fade">
                                      <p:cBhvr>
                                        <p:cTn id="315" dur="500"/>
                                        <p:tgtEl>
                                          <p:spTgt spid="191"/>
                                        </p:tgtEl>
                                      </p:cBhvr>
                                    </p:animEffect>
                                  </p:childTnLst>
                                </p:cTn>
                              </p:par>
                              <p:par>
                                <p:cTn id="316" presetID="10" presetClass="entr" presetSubtype="0" fill="hold" grpId="0" nodeType="withEffect">
                                  <p:stCondLst>
                                    <p:cond delay="0"/>
                                  </p:stCondLst>
                                  <p:childTnLst>
                                    <p:set>
                                      <p:cBhvr>
                                        <p:cTn id="317" dur="1" fill="hold">
                                          <p:stCondLst>
                                            <p:cond delay="0"/>
                                          </p:stCondLst>
                                        </p:cTn>
                                        <p:tgtEl>
                                          <p:spTgt spid="192"/>
                                        </p:tgtEl>
                                        <p:attrNameLst>
                                          <p:attrName>style.visibility</p:attrName>
                                        </p:attrNameLst>
                                      </p:cBhvr>
                                      <p:to>
                                        <p:strVal val="visible"/>
                                      </p:to>
                                    </p:set>
                                    <p:animEffect transition="in" filter="fade">
                                      <p:cBhvr>
                                        <p:cTn id="318" dur="5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28" grpId="0" animBg="1"/>
      <p:bldP spid="18" grpId="0" animBg="1"/>
      <p:bldP spid="19" grpId="0" animBg="1"/>
      <p:bldP spid="20" grpId="0" animBg="1"/>
      <p:bldP spid="21" grpId="0" animBg="1"/>
      <p:bldP spid="22" grpId="0" animBg="1"/>
      <p:bldP spid="29" grpId="0" animBg="1"/>
      <p:bldP spid="30" grpId="0" animBg="1"/>
      <p:bldP spid="31" grpId="0" animBg="1"/>
      <p:bldP spid="32" grpId="0" animBg="1"/>
      <p:bldP spid="33" grpId="0" animBg="1"/>
      <p:bldP spid="44" grpId="0" animBg="1"/>
      <p:bldP spid="45" grpId="0" animBg="1"/>
      <p:bldP spid="46" grpId="0" animBg="1"/>
      <p:bldP spid="47" grpId="0" animBg="1"/>
      <p:bldP spid="48" grpId="0" animBg="1"/>
      <p:bldP spid="63" grpId="0" animBg="1"/>
      <p:bldP spid="97" grpId="0" animBg="1"/>
      <p:bldP spid="98" grpId="0" animBg="1"/>
      <p:bldP spid="99" grpId="0" animBg="1"/>
      <p:bldP spid="100" grpId="0" animBg="1"/>
      <p:bldP spid="101" grpId="0" animBg="1"/>
      <p:bldP spid="102" grpId="0" animBg="1"/>
      <p:bldP spid="107" grpId="0" animBg="1"/>
      <p:bldP spid="122" grpId="0" animBg="1"/>
      <p:bldP spid="123" grpId="0" animBg="1"/>
      <p:bldP spid="124" grpId="0" animBg="1"/>
      <p:bldP spid="125" grpId="0" animBg="1"/>
      <p:bldP spid="126" grpId="0" animBg="1"/>
      <p:bldP spid="136" grpId="0" animBg="1"/>
      <p:bldP spid="137" grpId="0" animBg="1"/>
      <p:bldP spid="138" grpId="0" animBg="1"/>
      <p:bldP spid="139" grpId="0" animBg="1"/>
      <p:bldP spid="140" grpId="0" animBg="1"/>
      <p:bldP spid="94" grpId="0" animBg="1"/>
      <p:bldP spid="106" grpId="0" animBg="1"/>
      <p:bldP spid="112" grpId="0" animBg="1"/>
      <p:bldP spid="115" grpId="0" animBg="1"/>
      <p:bldP spid="117" grpId="0" animBg="1"/>
      <p:bldP spid="190" grpId="0" animBg="1"/>
      <p:bldP spid="192" grpId="0"/>
      <p:bldP spid="128" grpId="0" animBg="1"/>
      <p:bldP spid="134" grpId="0" animBg="1"/>
      <p:bldP spid="135" grpId="0" animBg="1"/>
      <p:bldP spid="143" grpId="0" animBg="1"/>
      <p:bldP spid="144" grpId="0" animBg="1"/>
      <p:bldP spid="153" grpId="0"/>
      <p:bldP spid="154" grpId="0"/>
      <p:bldP spid="15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p:cNvSpPr/>
          <p:nvPr/>
        </p:nvSpPr>
        <p:spPr>
          <a:xfrm>
            <a:off x="512717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VMI/HP</a:t>
            </a:r>
          </a:p>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Hub</a:t>
            </a:r>
          </a:p>
        </p:txBody>
      </p:sp>
      <p:sp>
        <p:nvSpPr>
          <p:cNvPr id="36" name="Rectangle 35"/>
          <p:cNvSpPr/>
          <p:nvPr/>
        </p:nvSpPr>
        <p:spPr>
          <a:xfrm>
            <a:off x="428181" y="1287232"/>
            <a:ext cx="2053781" cy="1344378"/>
          </a:xfrm>
          <a:prstGeom prst="rect">
            <a:avLst/>
          </a:prstGeom>
          <a:gradFill>
            <a:gsLst>
              <a:gs pos="0">
                <a:srgbClr val="0000FF"/>
              </a:gs>
              <a:gs pos="50000">
                <a:srgbClr val="0066FF">
                  <a:alpha val="49000"/>
                </a:srgbClr>
              </a:gs>
              <a:gs pos="100000">
                <a:srgbClr val="0000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HP</a:t>
            </a:r>
          </a:p>
        </p:txBody>
      </p:sp>
      <p:sp>
        <p:nvSpPr>
          <p:cNvPr id="55" name="Rectangle 54"/>
          <p:cNvSpPr/>
          <p:nvPr/>
        </p:nvSpPr>
        <p:spPr>
          <a:xfrm>
            <a:off x="5119978" y="2820313"/>
            <a:ext cx="2075551" cy="1360736"/>
          </a:xfrm>
          <a:prstGeom prst="rect">
            <a:avLst/>
          </a:prstGeom>
          <a:gradFill>
            <a:gsLst>
              <a:gs pos="0">
                <a:srgbClr val="9966FF"/>
              </a:gs>
              <a:gs pos="50000">
                <a:srgbClr val="9966FF">
                  <a:alpha val="1000"/>
                </a:srgbClr>
              </a:gs>
              <a:gs pos="100000">
                <a:srgbClr val="9966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PCC</a:t>
            </a:r>
          </a:p>
        </p:txBody>
      </p:sp>
      <p:sp>
        <p:nvSpPr>
          <p:cNvPr id="2" name="Title 1"/>
          <p:cNvSpPr>
            <a:spLocks noGrp="1"/>
          </p:cNvSpPr>
          <p:nvPr>
            <p:ph type="title"/>
          </p:nvPr>
        </p:nvSpPr>
        <p:spPr/>
        <p:txBody>
          <a:bodyPr/>
          <a:lstStyle/>
          <a:p>
            <a:r>
              <a:rPr lang="en-US" dirty="0" smtClean="0"/>
              <a:t>BSaM Build Trigger/Stocking</a:t>
            </a:r>
            <a:endParaRPr lang="en-US" dirty="0"/>
          </a:p>
        </p:txBody>
      </p:sp>
      <p:sp>
        <p:nvSpPr>
          <p:cNvPr id="8" name="Rectangle 7"/>
          <p:cNvSpPr/>
          <p:nvPr/>
        </p:nvSpPr>
        <p:spPr>
          <a:xfrm>
            <a:off x="2844805" y="1279039"/>
            <a:ext cx="2075551" cy="1360736"/>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ODM</a:t>
            </a:r>
          </a:p>
        </p:txBody>
      </p:sp>
      <p:sp>
        <p:nvSpPr>
          <p:cNvPr id="11" name="Rectangle 10"/>
          <p:cNvSpPr/>
          <p:nvPr/>
        </p:nvSpPr>
        <p:spPr>
          <a:xfrm>
            <a:off x="7645406" y="1304467"/>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A</a:t>
            </a:r>
          </a:p>
        </p:txBody>
      </p:sp>
      <p:sp>
        <p:nvSpPr>
          <p:cNvPr id="18" name="Flowchart: Punched Tape 17"/>
          <p:cNvSpPr/>
          <p:nvPr/>
        </p:nvSpPr>
        <p:spPr>
          <a:xfrm>
            <a:off x="601030" y="1543036"/>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9" name="Flowchart: Punched Tape 18"/>
          <p:cNvSpPr/>
          <p:nvPr/>
        </p:nvSpPr>
        <p:spPr>
          <a:xfrm>
            <a:off x="601024" y="1746241"/>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20" name="Flowchart: Punched Tape 19"/>
          <p:cNvSpPr/>
          <p:nvPr/>
        </p:nvSpPr>
        <p:spPr>
          <a:xfrm>
            <a:off x="609485" y="194944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21" name="Flowchart: Punched Tape 20"/>
          <p:cNvSpPr/>
          <p:nvPr/>
        </p:nvSpPr>
        <p:spPr>
          <a:xfrm>
            <a:off x="609479" y="2158999"/>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22" name="Flowchart: Punched Tape 21"/>
          <p:cNvSpPr/>
          <p:nvPr/>
        </p:nvSpPr>
        <p:spPr>
          <a:xfrm>
            <a:off x="609473" y="236855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sp>
        <p:nvSpPr>
          <p:cNvPr id="29" name="Flowchart: Punched Tape 28"/>
          <p:cNvSpPr/>
          <p:nvPr/>
        </p:nvSpPr>
        <p:spPr>
          <a:xfrm>
            <a:off x="5291742" y="3112447"/>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30" name="Flowchart: Punched Tape 29"/>
          <p:cNvSpPr/>
          <p:nvPr/>
        </p:nvSpPr>
        <p:spPr>
          <a:xfrm>
            <a:off x="5291736" y="331565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31" name="Flowchart: Punched Tape 30"/>
          <p:cNvSpPr/>
          <p:nvPr/>
        </p:nvSpPr>
        <p:spPr>
          <a:xfrm>
            <a:off x="5300197" y="351885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32" name="Flowchart: Punched Tape 31"/>
          <p:cNvSpPr/>
          <p:nvPr/>
        </p:nvSpPr>
        <p:spPr>
          <a:xfrm>
            <a:off x="5308658" y="3728410"/>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33" name="Flowchart: Punched Tape 32"/>
          <p:cNvSpPr/>
          <p:nvPr/>
        </p:nvSpPr>
        <p:spPr>
          <a:xfrm>
            <a:off x="5308652" y="393796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cxnSp>
        <p:nvCxnSpPr>
          <p:cNvPr id="38" name="Elbow Connector 37"/>
          <p:cNvCxnSpPr>
            <a:stCxn id="18" idx="3"/>
            <a:endCxn id="29" idx="1"/>
          </p:cNvCxnSpPr>
          <p:nvPr/>
        </p:nvCxnSpPr>
        <p:spPr>
          <a:xfrm>
            <a:off x="863498" y="1631936"/>
            <a:ext cx="4428244" cy="1569411"/>
          </a:xfrm>
          <a:prstGeom prst="bentConnector3">
            <a:avLst>
              <a:gd name="adj1" fmla="val 4686"/>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3" name="Flowchart: Punched Tape 62"/>
          <p:cNvSpPr/>
          <p:nvPr/>
        </p:nvSpPr>
        <p:spPr>
          <a:xfrm>
            <a:off x="3272661" y="1795229"/>
            <a:ext cx="485057" cy="373743"/>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cxnSp>
        <p:nvCxnSpPr>
          <p:cNvPr id="86" name="Elbow Connector 85"/>
          <p:cNvCxnSpPr/>
          <p:nvPr/>
        </p:nvCxnSpPr>
        <p:spPr>
          <a:xfrm>
            <a:off x="863492" y="1854193"/>
            <a:ext cx="4428244" cy="1550360"/>
          </a:xfrm>
          <a:prstGeom prst="bentConnector3">
            <a:avLst>
              <a:gd name="adj1" fmla="val 465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a:off x="863486" y="2051044"/>
            <a:ext cx="4428244" cy="1550360"/>
          </a:xfrm>
          <a:prstGeom prst="bentConnector3">
            <a:avLst>
              <a:gd name="adj1" fmla="val 465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a:off x="863480" y="2260600"/>
            <a:ext cx="4428244" cy="1550360"/>
          </a:xfrm>
          <a:prstGeom prst="bentConnector3">
            <a:avLst>
              <a:gd name="adj1" fmla="val 465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a:off x="871941" y="2463802"/>
            <a:ext cx="4428244" cy="1550360"/>
          </a:xfrm>
          <a:prstGeom prst="bentConnector3">
            <a:avLst>
              <a:gd name="adj1" fmla="val 4544"/>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97" name="Rectangle 96"/>
          <p:cNvSpPr/>
          <p:nvPr/>
        </p:nvSpPr>
        <p:spPr>
          <a:xfrm>
            <a:off x="4309650" y="1807935"/>
            <a:ext cx="499533" cy="3556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sp>
        <p:nvSpPr>
          <p:cNvPr id="98" name="Rectangle 97"/>
          <p:cNvSpPr/>
          <p:nvPr/>
        </p:nvSpPr>
        <p:spPr>
          <a:xfrm>
            <a:off x="5850541" y="3116033"/>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A1</a:t>
            </a:r>
          </a:p>
        </p:txBody>
      </p:sp>
      <p:sp>
        <p:nvSpPr>
          <p:cNvPr id="99" name="Rectangle 98"/>
          <p:cNvSpPr/>
          <p:nvPr/>
        </p:nvSpPr>
        <p:spPr>
          <a:xfrm>
            <a:off x="5850541" y="3319238"/>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A2</a:t>
            </a:r>
          </a:p>
        </p:txBody>
      </p:sp>
      <p:sp>
        <p:nvSpPr>
          <p:cNvPr id="100" name="Rectangle 99"/>
          <p:cNvSpPr/>
          <p:nvPr/>
        </p:nvSpPr>
        <p:spPr>
          <a:xfrm>
            <a:off x="5850541" y="3522440"/>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A3</a:t>
            </a:r>
          </a:p>
        </p:txBody>
      </p:sp>
      <p:sp>
        <p:nvSpPr>
          <p:cNvPr id="101" name="Rectangle 100"/>
          <p:cNvSpPr/>
          <p:nvPr/>
        </p:nvSpPr>
        <p:spPr>
          <a:xfrm>
            <a:off x="5850541" y="3725648"/>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A4</a:t>
            </a:r>
          </a:p>
        </p:txBody>
      </p:sp>
      <p:sp>
        <p:nvSpPr>
          <p:cNvPr id="102" name="Rectangle 101"/>
          <p:cNvSpPr/>
          <p:nvPr/>
        </p:nvSpPr>
        <p:spPr>
          <a:xfrm>
            <a:off x="5850508" y="3928853"/>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A5</a:t>
            </a:r>
          </a:p>
        </p:txBody>
      </p:sp>
      <p:sp>
        <p:nvSpPr>
          <p:cNvPr id="107" name="Rectangle 106"/>
          <p:cNvSpPr/>
          <p:nvPr/>
        </p:nvSpPr>
        <p:spPr>
          <a:xfrm>
            <a:off x="5249382" y="2589009"/>
            <a:ext cx="499533" cy="3556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cxnSp>
        <p:nvCxnSpPr>
          <p:cNvPr id="108" name="Straight Arrow Connector 107"/>
          <p:cNvCxnSpPr>
            <a:stCxn id="63" idx="3"/>
            <a:endCxn id="97" idx="1"/>
          </p:cNvCxnSpPr>
          <p:nvPr/>
        </p:nvCxnSpPr>
        <p:spPr>
          <a:xfrm>
            <a:off x="3757687" y="1982102"/>
            <a:ext cx="551857" cy="3633"/>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1" name="Elbow Connector 110"/>
          <p:cNvCxnSpPr>
            <a:stCxn id="97" idx="3"/>
            <a:endCxn id="107" idx="0"/>
          </p:cNvCxnSpPr>
          <p:nvPr/>
        </p:nvCxnSpPr>
        <p:spPr>
          <a:xfrm>
            <a:off x="4809080" y="1985733"/>
            <a:ext cx="690065" cy="603276"/>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3" name="Group 126"/>
          <p:cNvGrpSpPr/>
          <p:nvPr/>
        </p:nvGrpSpPr>
        <p:grpSpPr>
          <a:xfrm>
            <a:off x="5646453" y="2936501"/>
            <a:ext cx="204070" cy="1078769"/>
            <a:chOff x="5646453" y="4078549"/>
            <a:chExt cx="204070" cy="1438358"/>
          </a:xfrm>
        </p:grpSpPr>
        <p:cxnSp>
          <p:nvCxnSpPr>
            <p:cNvPr id="114" name="Elbow Connector 110"/>
            <p:cNvCxnSpPr/>
            <p:nvPr/>
          </p:nvCxnSpPr>
          <p:spPr>
            <a:xfrm rot="16200000" flipH="1">
              <a:off x="5577042" y="4147960"/>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8" name="Elbow Connector 110"/>
            <p:cNvCxnSpPr/>
            <p:nvPr/>
          </p:nvCxnSpPr>
          <p:spPr>
            <a:xfrm rot="16200000" flipH="1">
              <a:off x="5577042" y="443062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9" name="Elbow Connector 110"/>
            <p:cNvCxnSpPr/>
            <p:nvPr/>
          </p:nvCxnSpPr>
          <p:spPr>
            <a:xfrm rot="16200000" flipH="1">
              <a:off x="5577042" y="469732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0" name="Elbow Connector 110"/>
            <p:cNvCxnSpPr/>
            <p:nvPr/>
          </p:nvCxnSpPr>
          <p:spPr>
            <a:xfrm rot="16200000" flipH="1">
              <a:off x="5577042" y="497418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Elbow Connector 110"/>
            <p:cNvCxnSpPr/>
            <p:nvPr/>
          </p:nvCxnSpPr>
          <p:spPr>
            <a:xfrm rot="16200000" flipH="1">
              <a:off x="5577042" y="524342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22" name="Rectangle 121"/>
          <p:cNvSpPr/>
          <p:nvPr/>
        </p:nvSpPr>
        <p:spPr>
          <a:xfrm>
            <a:off x="6320426" y="3116033"/>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B1</a:t>
            </a:r>
          </a:p>
        </p:txBody>
      </p:sp>
      <p:sp>
        <p:nvSpPr>
          <p:cNvPr id="123" name="Rectangle 122"/>
          <p:cNvSpPr/>
          <p:nvPr/>
        </p:nvSpPr>
        <p:spPr>
          <a:xfrm>
            <a:off x="6320426" y="3319238"/>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B2</a:t>
            </a:r>
          </a:p>
        </p:txBody>
      </p:sp>
      <p:sp>
        <p:nvSpPr>
          <p:cNvPr id="124" name="Rectangle 123"/>
          <p:cNvSpPr/>
          <p:nvPr/>
        </p:nvSpPr>
        <p:spPr>
          <a:xfrm>
            <a:off x="6320426" y="3522440"/>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B3</a:t>
            </a:r>
          </a:p>
        </p:txBody>
      </p:sp>
      <p:sp>
        <p:nvSpPr>
          <p:cNvPr id="125" name="Rectangle 124"/>
          <p:cNvSpPr/>
          <p:nvPr/>
        </p:nvSpPr>
        <p:spPr>
          <a:xfrm>
            <a:off x="6320426" y="3725648"/>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B4</a:t>
            </a:r>
          </a:p>
        </p:txBody>
      </p:sp>
      <p:sp>
        <p:nvSpPr>
          <p:cNvPr id="126" name="Rectangle 125"/>
          <p:cNvSpPr/>
          <p:nvPr/>
        </p:nvSpPr>
        <p:spPr>
          <a:xfrm>
            <a:off x="6320426" y="3928853"/>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B5</a:t>
            </a:r>
          </a:p>
        </p:txBody>
      </p:sp>
      <p:cxnSp>
        <p:nvCxnSpPr>
          <p:cNvPr id="129" name="Elbow Connector 110"/>
          <p:cNvCxnSpPr/>
          <p:nvPr/>
        </p:nvCxnSpPr>
        <p:spPr>
          <a:xfrm rot="16200000">
            <a:off x="6100459" y="4054254"/>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0" name="Elbow Connector 110"/>
          <p:cNvCxnSpPr/>
          <p:nvPr/>
        </p:nvCxnSpPr>
        <p:spPr>
          <a:xfrm rot="16200000">
            <a:off x="6100459" y="3850419"/>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1" name="Elbow Connector 110"/>
          <p:cNvCxnSpPr/>
          <p:nvPr/>
        </p:nvCxnSpPr>
        <p:spPr>
          <a:xfrm rot="16200000">
            <a:off x="6100459" y="3650394"/>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2" name="Elbow Connector 110"/>
          <p:cNvCxnSpPr/>
          <p:nvPr/>
        </p:nvCxnSpPr>
        <p:spPr>
          <a:xfrm rot="16200000">
            <a:off x="6100459" y="3442749"/>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3" name="Elbow Connector 110"/>
          <p:cNvCxnSpPr/>
          <p:nvPr/>
        </p:nvCxnSpPr>
        <p:spPr>
          <a:xfrm rot="16200000">
            <a:off x="6100459" y="3240819"/>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sp>
        <p:nvSpPr>
          <p:cNvPr id="136" name="Rectangle 135"/>
          <p:cNvSpPr/>
          <p:nvPr/>
        </p:nvSpPr>
        <p:spPr>
          <a:xfrm>
            <a:off x="6731254" y="3113552"/>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37" name="Rectangle 136"/>
          <p:cNvSpPr/>
          <p:nvPr/>
        </p:nvSpPr>
        <p:spPr>
          <a:xfrm>
            <a:off x="6731254" y="3316754"/>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138" name="Rectangle 137"/>
          <p:cNvSpPr/>
          <p:nvPr/>
        </p:nvSpPr>
        <p:spPr>
          <a:xfrm>
            <a:off x="6731228" y="3519959"/>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139" name="Rectangle 138"/>
          <p:cNvSpPr/>
          <p:nvPr/>
        </p:nvSpPr>
        <p:spPr>
          <a:xfrm>
            <a:off x="6731228" y="3723167"/>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140" name="Rectangle 139"/>
          <p:cNvSpPr/>
          <p:nvPr/>
        </p:nvSpPr>
        <p:spPr>
          <a:xfrm>
            <a:off x="6731228" y="3926369"/>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sp>
        <p:nvSpPr>
          <p:cNvPr id="85" name="Rectangle 84"/>
          <p:cNvSpPr/>
          <p:nvPr/>
        </p:nvSpPr>
        <p:spPr>
          <a:xfrm>
            <a:off x="5198558" y="4306023"/>
            <a:ext cx="499533" cy="355600"/>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white"/>
                </a:solidFill>
              </a:rPr>
              <a:t>B</a:t>
            </a:r>
          </a:p>
        </p:txBody>
      </p:sp>
      <p:sp>
        <p:nvSpPr>
          <p:cNvPr id="94" name="Rectangle 93"/>
          <p:cNvSpPr/>
          <p:nvPr/>
        </p:nvSpPr>
        <p:spPr>
          <a:xfrm>
            <a:off x="7710972" y="1545964"/>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05" name="Rectangle 104"/>
          <p:cNvSpPr/>
          <p:nvPr/>
        </p:nvSpPr>
        <p:spPr>
          <a:xfrm>
            <a:off x="7645406" y="20474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B</a:t>
            </a:r>
          </a:p>
        </p:txBody>
      </p:sp>
      <p:sp>
        <p:nvSpPr>
          <p:cNvPr id="106" name="Rectangle 105"/>
          <p:cNvSpPr/>
          <p:nvPr/>
        </p:nvSpPr>
        <p:spPr>
          <a:xfrm>
            <a:off x="7710972" y="2288930"/>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110" name="Rectangle 109"/>
          <p:cNvSpPr/>
          <p:nvPr/>
        </p:nvSpPr>
        <p:spPr>
          <a:xfrm>
            <a:off x="7645406" y="27822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C</a:t>
            </a:r>
          </a:p>
        </p:txBody>
      </p:sp>
      <p:sp>
        <p:nvSpPr>
          <p:cNvPr id="112" name="Rectangle 111"/>
          <p:cNvSpPr/>
          <p:nvPr/>
        </p:nvSpPr>
        <p:spPr>
          <a:xfrm>
            <a:off x="7710972" y="3023732"/>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113" name="Rectangle 112"/>
          <p:cNvSpPr/>
          <p:nvPr/>
        </p:nvSpPr>
        <p:spPr>
          <a:xfrm>
            <a:off x="7645406" y="3533368"/>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D</a:t>
            </a:r>
          </a:p>
        </p:txBody>
      </p:sp>
      <p:sp>
        <p:nvSpPr>
          <p:cNvPr id="115" name="Rectangle 114"/>
          <p:cNvSpPr/>
          <p:nvPr/>
        </p:nvSpPr>
        <p:spPr>
          <a:xfrm>
            <a:off x="7710972" y="3774863"/>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116" name="Rectangle 115"/>
          <p:cNvSpPr/>
          <p:nvPr/>
        </p:nvSpPr>
        <p:spPr>
          <a:xfrm>
            <a:off x="7645406" y="4268170"/>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E</a:t>
            </a:r>
          </a:p>
        </p:txBody>
      </p:sp>
      <p:sp>
        <p:nvSpPr>
          <p:cNvPr id="117" name="Rectangle 116"/>
          <p:cNvSpPr/>
          <p:nvPr/>
        </p:nvSpPr>
        <p:spPr>
          <a:xfrm>
            <a:off x="7710972" y="4509665"/>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cxnSp>
        <p:nvCxnSpPr>
          <p:cNvPr id="141" name="Elbow Connector 140"/>
          <p:cNvCxnSpPr>
            <a:stCxn id="136" idx="3"/>
            <a:endCxn id="94" idx="1"/>
          </p:cNvCxnSpPr>
          <p:nvPr/>
        </p:nvCxnSpPr>
        <p:spPr>
          <a:xfrm flipV="1">
            <a:off x="7116448" y="1631708"/>
            <a:ext cx="594551" cy="1567587"/>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2" name="Elbow Connector 141"/>
          <p:cNvCxnSpPr>
            <a:stCxn id="137" idx="3"/>
            <a:endCxn id="106" idx="1"/>
          </p:cNvCxnSpPr>
          <p:nvPr/>
        </p:nvCxnSpPr>
        <p:spPr>
          <a:xfrm flipV="1">
            <a:off x="7116412" y="2374674"/>
            <a:ext cx="594557" cy="1027824"/>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5" name="Elbow Connector 144"/>
          <p:cNvCxnSpPr>
            <a:stCxn id="138" idx="3"/>
            <a:endCxn id="112" idx="1"/>
          </p:cNvCxnSpPr>
          <p:nvPr/>
        </p:nvCxnSpPr>
        <p:spPr>
          <a:xfrm flipV="1">
            <a:off x="7116409" y="3109477"/>
            <a:ext cx="594563" cy="496226"/>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8" name="Elbow Connector 147"/>
          <p:cNvCxnSpPr>
            <a:stCxn id="139" idx="3"/>
            <a:endCxn id="115" idx="1"/>
          </p:cNvCxnSpPr>
          <p:nvPr/>
        </p:nvCxnSpPr>
        <p:spPr>
          <a:xfrm>
            <a:off x="7116409" y="3808909"/>
            <a:ext cx="594563" cy="51698"/>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1" name="Elbow Connector 150"/>
          <p:cNvCxnSpPr>
            <a:stCxn id="140" idx="3"/>
            <a:endCxn id="117" idx="1"/>
          </p:cNvCxnSpPr>
          <p:nvPr/>
        </p:nvCxnSpPr>
        <p:spPr>
          <a:xfrm>
            <a:off x="7116406" y="4012113"/>
            <a:ext cx="594569" cy="583296"/>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a:stCxn id="122" idx="3"/>
            <a:endCxn id="136" idx="1"/>
          </p:cNvCxnSpPr>
          <p:nvPr/>
        </p:nvCxnSpPr>
        <p:spPr>
          <a:xfrm flipV="1">
            <a:off x="6532092" y="3199352"/>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a:stCxn id="123" idx="3"/>
            <a:endCxn id="137" idx="1"/>
          </p:cNvCxnSpPr>
          <p:nvPr/>
        </p:nvCxnSpPr>
        <p:spPr>
          <a:xfrm flipV="1">
            <a:off x="6532085" y="3402556"/>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61" name="Straight Arrow Connector 160"/>
          <p:cNvCxnSpPr>
            <a:stCxn id="124" idx="3"/>
            <a:endCxn id="138" idx="1"/>
          </p:cNvCxnSpPr>
          <p:nvPr/>
        </p:nvCxnSpPr>
        <p:spPr>
          <a:xfrm flipV="1">
            <a:off x="6532085" y="3605759"/>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65" name="Straight Arrow Connector 164"/>
          <p:cNvCxnSpPr>
            <a:stCxn id="125" idx="3"/>
            <a:endCxn id="139" idx="1"/>
          </p:cNvCxnSpPr>
          <p:nvPr/>
        </p:nvCxnSpPr>
        <p:spPr>
          <a:xfrm flipV="1">
            <a:off x="6532085" y="3808967"/>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a:stCxn id="126" idx="3"/>
            <a:endCxn id="140" idx="1"/>
          </p:cNvCxnSpPr>
          <p:nvPr/>
        </p:nvCxnSpPr>
        <p:spPr>
          <a:xfrm flipV="1">
            <a:off x="6532085" y="4012171"/>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83" name="Elbow Connector 182"/>
          <p:cNvCxnSpPr>
            <a:stCxn id="85" idx="0"/>
          </p:cNvCxnSpPr>
          <p:nvPr/>
        </p:nvCxnSpPr>
        <p:spPr>
          <a:xfrm rot="5400000" flipH="1" flipV="1">
            <a:off x="5774726" y="3937834"/>
            <a:ext cx="41795" cy="694584"/>
          </a:xfrm>
          <a:prstGeom prst="bentConnector2">
            <a:avLst/>
          </a:prstGeom>
          <a:ln w="12700">
            <a:solidFill>
              <a:srgbClr val="6600CC"/>
            </a:solidFill>
          </a:ln>
        </p:spPr>
        <p:style>
          <a:lnRef idx="1">
            <a:schemeClr val="accent1"/>
          </a:lnRef>
          <a:fillRef idx="0">
            <a:schemeClr val="accent1"/>
          </a:fillRef>
          <a:effectRef idx="0">
            <a:schemeClr val="accent1"/>
          </a:effectRef>
          <a:fontRef idx="minor">
            <a:schemeClr val="tx1"/>
          </a:fontRef>
        </p:style>
      </p:cxnSp>
      <p:sp>
        <p:nvSpPr>
          <p:cNvPr id="189" name="Rectangle 188"/>
          <p:cNvSpPr/>
          <p:nvPr/>
        </p:nvSpPr>
        <p:spPr>
          <a:xfrm>
            <a:off x="42182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Component &amp; DIB Suppliers</a:t>
            </a:r>
          </a:p>
        </p:txBody>
      </p:sp>
      <p:sp>
        <p:nvSpPr>
          <p:cNvPr id="104" name="Flowchart: Punched Tape 103"/>
          <p:cNvSpPr/>
          <p:nvPr/>
        </p:nvSpPr>
        <p:spPr>
          <a:xfrm>
            <a:off x="1824893" y="1795235"/>
            <a:ext cx="485057" cy="373743"/>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cxnSp>
        <p:nvCxnSpPr>
          <p:cNvPr id="127" name="Straight Arrow Connector 126"/>
          <p:cNvCxnSpPr>
            <a:stCxn id="104" idx="3"/>
            <a:endCxn id="63" idx="1"/>
          </p:cNvCxnSpPr>
          <p:nvPr/>
        </p:nvCxnSpPr>
        <p:spPr>
          <a:xfrm flipV="1">
            <a:off x="2309941" y="1982157"/>
            <a:ext cx="962680" cy="5"/>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4" name="Isosceles Triangle 133"/>
          <p:cNvSpPr/>
          <p:nvPr/>
        </p:nvSpPr>
        <p:spPr>
          <a:xfrm rot="10800000">
            <a:off x="4915717" y="1878151"/>
            <a:ext cx="138546" cy="83127"/>
          </a:xfrm>
          <a:prstGeom prst="triangle">
            <a:avLst/>
          </a:prstGeom>
          <a:solidFill>
            <a:schemeClr val="bg1">
              <a:alpha val="61000"/>
            </a:schemeClr>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cxnSp>
        <p:nvCxnSpPr>
          <p:cNvPr id="135" name="Elbow Connector 155"/>
          <p:cNvCxnSpPr>
            <a:stCxn id="134" idx="3"/>
            <a:endCxn id="143" idx="1"/>
          </p:cNvCxnSpPr>
          <p:nvPr/>
        </p:nvCxnSpPr>
        <p:spPr>
          <a:xfrm rot="5400000" flipH="1" flipV="1">
            <a:off x="4993513" y="1795394"/>
            <a:ext cx="74235" cy="91280"/>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3" name="TextBox 142"/>
          <p:cNvSpPr txBox="1"/>
          <p:nvPr/>
        </p:nvSpPr>
        <p:spPr>
          <a:xfrm>
            <a:off x="5076270" y="1619250"/>
            <a:ext cx="1083236" cy="369332"/>
          </a:xfrm>
          <a:prstGeom prst="rect">
            <a:avLst/>
          </a:prstGeom>
          <a:noFill/>
        </p:spPr>
        <p:txBody>
          <a:bodyPr wrap="square" lIns="91440" rIns="91440" rtlCol="0">
            <a:spAutoFit/>
          </a:bodyPr>
          <a:lstStyle/>
          <a:p>
            <a:pPr defTabSz="914400" fontAlgn="base">
              <a:spcBef>
                <a:spcPct val="0"/>
              </a:spcBef>
              <a:spcAft>
                <a:spcPct val="0"/>
              </a:spcAft>
            </a:pPr>
            <a:r>
              <a:rPr lang="en-US" sz="900" dirty="0" smtClean="0">
                <a:solidFill>
                  <a:prstClr val="black"/>
                </a:solidFill>
                <a:latin typeface="Arial" charset="0"/>
              </a:rPr>
              <a:t>Title Transfer Air</a:t>
            </a:r>
          </a:p>
          <a:p>
            <a:pPr defTabSz="914400" fontAlgn="base">
              <a:spcBef>
                <a:spcPct val="0"/>
              </a:spcBef>
              <a:spcAft>
                <a:spcPct val="0"/>
              </a:spcAft>
            </a:pPr>
            <a:r>
              <a:rPr lang="en-US" sz="900" dirty="0" smtClean="0">
                <a:solidFill>
                  <a:prstClr val="black"/>
                </a:solidFill>
                <a:latin typeface="Arial" charset="0"/>
              </a:rPr>
              <a:t>ODM to HP </a:t>
            </a:r>
            <a:endParaRPr lang="en-US" sz="900" dirty="0">
              <a:solidFill>
                <a:prstClr val="black"/>
              </a:solidFill>
              <a:latin typeface="Arial" charset="0"/>
            </a:endParaRPr>
          </a:p>
        </p:txBody>
      </p:sp>
      <p:sp>
        <p:nvSpPr>
          <p:cNvPr id="90" name="Flowchart: Punched Tape 89"/>
          <p:cNvSpPr/>
          <p:nvPr/>
        </p:nvSpPr>
        <p:spPr>
          <a:xfrm>
            <a:off x="318002" y="87356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91" name="Flowchart: Punched Tape 90"/>
          <p:cNvSpPr/>
          <p:nvPr/>
        </p:nvSpPr>
        <p:spPr>
          <a:xfrm>
            <a:off x="285345" y="90622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92" name="Flowchart: Punched Tape 91"/>
          <p:cNvSpPr/>
          <p:nvPr/>
        </p:nvSpPr>
        <p:spPr>
          <a:xfrm>
            <a:off x="252687" y="93887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93" name="Flowchart: Punched Tape 92"/>
          <p:cNvSpPr/>
          <p:nvPr/>
        </p:nvSpPr>
        <p:spPr>
          <a:xfrm>
            <a:off x="230915" y="97970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95" name="Flowchart: Punched Tape 94"/>
          <p:cNvSpPr/>
          <p:nvPr/>
        </p:nvSpPr>
        <p:spPr>
          <a:xfrm>
            <a:off x="198258" y="1012357"/>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cxnSp>
        <p:nvCxnSpPr>
          <p:cNvPr id="96" name="Shape 95"/>
          <p:cNvCxnSpPr>
            <a:stCxn id="95" idx="2"/>
          </p:cNvCxnSpPr>
          <p:nvPr/>
        </p:nvCxnSpPr>
        <p:spPr>
          <a:xfrm rot="16200000" flipH="1">
            <a:off x="235503" y="1266387"/>
            <a:ext cx="459560" cy="271538"/>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03" name="Shape 102"/>
          <p:cNvCxnSpPr>
            <a:stCxn id="95" idx="2"/>
          </p:cNvCxnSpPr>
          <p:nvPr/>
        </p:nvCxnSpPr>
        <p:spPr>
          <a:xfrm rot="16200000" flipH="1">
            <a:off x="133901" y="1367992"/>
            <a:ext cx="662763" cy="271532"/>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28" name="Shape 127"/>
          <p:cNvCxnSpPr>
            <a:stCxn id="95" idx="2"/>
          </p:cNvCxnSpPr>
          <p:nvPr/>
        </p:nvCxnSpPr>
        <p:spPr>
          <a:xfrm rot="16200000" flipH="1">
            <a:off x="36516" y="1465421"/>
            <a:ext cx="865967" cy="279993"/>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44" name="Shape 143"/>
          <p:cNvCxnSpPr>
            <a:stCxn id="95" idx="2"/>
          </p:cNvCxnSpPr>
          <p:nvPr/>
        </p:nvCxnSpPr>
        <p:spPr>
          <a:xfrm rot="16200000" flipH="1">
            <a:off x="-68274" y="1570200"/>
            <a:ext cx="1075520" cy="279987"/>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49" name="Shape 148"/>
          <p:cNvCxnSpPr>
            <a:stCxn id="95" idx="2"/>
          </p:cNvCxnSpPr>
          <p:nvPr/>
        </p:nvCxnSpPr>
        <p:spPr>
          <a:xfrm rot="16200000" flipH="1">
            <a:off x="-173055" y="1674980"/>
            <a:ext cx="1285074" cy="279981"/>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150" name="TextBox 149"/>
          <p:cNvSpPr txBox="1"/>
          <p:nvPr/>
        </p:nvSpPr>
        <p:spPr>
          <a:xfrm>
            <a:off x="576939" y="938890"/>
            <a:ext cx="1263487"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Customer Orders</a:t>
            </a:r>
            <a:endParaRPr lang="en-US" sz="1100" dirty="0">
              <a:solidFill>
                <a:prstClr val="black"/>
              </a:solidFill>
              <a:latin typeface="Arial" charset="0"/>
            </a:endParaRPr>
          </a:p>
        </p:txBody>
      </p:sp>
      <p:sp>
        <p:nvSpPr>
          <p:cNvPr id="152" name="TextBox 151"/>
          <p:cNvSpPr txBox="1"/>
          <p:nvPr/>
        </p:nvSpPr>
        <p:spPr>
          <a:xfrm>
            <a:off x="544271" y="1311190"/>
            <a:ext cx="388248"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SO</a:t>
            </a:r>
            <a:endParaRPr lang="en-US" sz="1100" dirty="0">
              <a:solidFill>
                <a:prstClr val="black"/>
              </a:solidFill>
              <a:latin typeface="Arial" charset="0"/>
            </a:endParaRPr>
          </a:p>
        </p:txBody>
      </p:sp>
      <p:sp>
        <p:nvSpPr>
          <p:cNvPr id="153" name="TextBox 152"/>
          <p:cNvSpPr txBox="1"/>
          <p:nvPr/>
        </p:nvSpPr>
        <p:spPr>
          <a:xfrm>
            <a:off x="1937675" y="1311187"/>
            <a:ext cx="388248"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PO</a:t>
            </a:r>
            <a:endParaRPr lang="en-US" sz="1100" dirty="0">
              <a:solidFill>
                <a:prstClr val="black"/>
              </a:solidFill>
              <a:latin typeface="Arial" charset="0"/>
            </a:endParaRPr>
          </a:p>
        </p:txBody>
      </p:sp>
      <p:sp>
        <p:nvSpPr>
          <p:cNvPr id="146" name="Rounded Rectangle 145"/>
          <p:cNvSpPr/>
          <p:nvPr/>
        </p:nvSpPr>
        <p:spPr>
          <a:xfrm>
            <a:off x="5214761" y="830868"/>
            <a:ext cx="1862314" cy="804491"/>
          </a:xfrm>
          <a:prstGeom prst="roundRect">
            <a:avLst/>
          </a:prstGeom>
          <a:solidFill>
            <a:schemeClr val="bg1">
              <a:alpha val="6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200" b="1" dirty="0" smtClean="0">
                <a:solidFill>
                  <a:srgbClr val="FF0000"/>
                </a:solidFill>
                <a:latin typeface="Calibri" pitchFamily="34" charset="0"/>
                <a:cs typeface="Calibri" pitchFamily="34" charset="0"/>
              </a:rPr>
              <a:t>Customer Orders will no longer be relayed to ODM.  ODM will ship against Build Trigger POs</a:t>
            </a:r>
          </a:p>
        </p:txBody>
      </p:sp>
      <p:sp>
        <p:nvSpPr>
          <p:cNvPr id="147" name="Rounded Rectangle 14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17</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06677181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500"/>
                                        <p:tgtEl>
                                          <p:spTgt spid="10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3"/>
                                        </p:tgtEl>
                                        <p:attrNameLst>
                                          <p:attrName>style.visibility</p:attrName>
                                        </p:attrNameLst>
                                      </p:cBhvr>
                                      <p:to>
                                        <p:strVal val="visible"/>
                                      </p:to>
                                    </p:set>
                                    <p:animEffect transition="in" filter="fade">
                                      <p:cBhvr>
                                        <p:cTn id="10" dur="500"/>
                                        <p:tgtEl>
                                          <p:spTgt spid="15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fade">
                                      <p:cBhvr>
                                        <p:cTn id="15" dur="500"/>
                                        <p:tgtEl>
                                          <p:spTgt spid="63"/>
                                        </p:tgtEl>
                                      </p:cBhvr>
                                    </p:animEffect>
                                  </p:childTnLst>
                                </p:cTn>
                              </p:par>
                              <p:par>
                                <p:cTn id="16" presetID="10" presetClass="entr" presetSubtype="0" fill="hold" nodeType="withEffect">
                                  <p:stCondLst>
                                    <p:cond delay="0"/>
                                  </p:stCondLst>
                                  <p:childTnLst>
                                    <p:set>
                                      <p:cBhvr>
                                        <p:cTn id="17" dur="1" fill="hold">
                                          <p:stCondLst>
                                            <p:cond delay="0"/>
                                          </p:stCondLst>
                                        </p:cTn>
                                        <p:tgtEl>
                                          <p:spTgt spid="127"/>
                                        </p:tgtEl>
                                        <p:attrNameLst>
                                          <p:attrName>style.visibility</p:attrName>
                                        </p:attrNameLst>
                                      </p:cBhvr>
                                      <p:to>
                                        <p:strVal val="visible"/>
                                      </p:to>
                                    </p:set>
                                    <p:animEffect transition="in" filter="fade">
                                      <p:cBhvr>
                                        <p:cTn id="18" dur="500"/>
                                        <p:tgtEl>
                                          <p:spTgt spid="1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7"/>
                                        </p:tgtEl>
                                        <p:attrNameLst>
                                          <p:attrName>style.visibility</p:attrName>
                                        </p:attrNameLst>
                                      </p:cBhvr>
                                      <p:to>
                                        <p:strVal val="visible"/>
                                      </p:to>
                                    </p:set>
                                    <p:animEffect transition="in" filter="fade">
                                      <p:cBhvr>
                                        <p:cTn id="23" dur="500"/>
                                        <p:tgtEl>
                                          <p:spTgt spid="97"/>
                                        </p:tgtEl>
                                      </p:cBhvr>
                                    </p:animEffect>
                                  </p:childTnLst>
                                </p:cTn>
                              </p:par>
                              <p:par>
                                <p:cTn id="24" presetID="10" presetClass="entr" presetSubtype="0" fill="hold" nodeType="withEffect">
                                  <p:stCondLst>
                                    <p:cond delay="0"/>
                                  </p:stCondLst>
                                  <p:childTnLst>
                                    <p:set>
                                      <p:cBhvr>
                                        <p:cTn id="25" dur="1" fill="hold">
                                          <p:stCondLst>
                                            <p:cond delay="0"/>
                                          </p:stCondLst>
                                        </p:cTn>
                                        <p:tgtEl>
                                          <p:spTgt spid="108"/>
                                        </p:tgtEl>
                                        <p:attrNameLst>
                                          <p:attrName>style.visibility</p:attrName>
                                        </p:attrNameLst>
                                      </p:cBhvr>
                                      <p:to>
                                        <p:strVal val="visible"/>
                                      </p:to>
                                    </p:set>
                                    <p:animEffect transition="in" filter="fade">
                                      <p:cBhvr>
                                        <p:cTn id="26" dur="500"/>
                                        <p:tgtEl>
                                          <p:spTgt spid="10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7"/>
                                        </p:tgtEl>
                                        <p:attrNameLst>
                                          <p:attrName>style.visibility</p:attrName>
                                        </p:attrNameLst>
                                      </p:cBhvr>
                                      <p:to>
                                        <p:strVal val="visible"/>
                                      </p:to>
                                    </p:set>
                                    <p:animEffect transition="in" filter="fade">
                                      <p:cBhvr>
                                        <p:cTn id="31" dur="500"/>
                                        <p:tgtEl>
                                          <p:spTgt spid="107"/>
                                        </p:tgtEl>
                                      </p:cBhvr>
                                    </p:animEffect>
                                  </p:childTnLst>
                                </p:cTn>
                              </p:par>
                              <p:par>
                                <p:cTn id="32" presetID="10" presetClass="entr" presetSubtype="0" fill="hold" nodeType="withEffect">
                                  <p:stCondLst>
                                    <p:cond delay="0"/>
                                  </p:stCondLst>
                                  <p:childTnLst>
                                    <p:set>
                                      <p:cBhvr>
                                        <p:cTn id="33" dur="1" fill="hold">
                                          <p:stCondLst>
                                            <p:cond delay="0"/>
                                          </p:stCondLst>
                                        </p:cTn>
                                        <p:tgtEl>
                                          <p:spTgt spid="111"/>
                                        </p:tgtEl>
                                        <p:attrNameLst>
                                          <p:attrName>style.visibility</p:attrName>
                                        </p:attrNameLst>
                                      </p:cBhvr>
                                      <p:to>
                                        <p:strVal val="visible"/>
                                      </p:to>
                                    </p:set>
                                    <p:animEffect transition="in" filter="fade">
                                      <p:cBhvr>
                                        <p:cTn id="34" dur="500"/>
                                        <p:tgtEl>
                                          <p:spTgt spid="1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90"/>
                                        </p:tgtEl>
                                        <p:attrNameLst>
                                          <p:attrName>style.visibility</p:attrName>
                                        </p:attrNameLst>
                                      </p:cBhvr>
                                      <p:to>
                                        <p:strVal val="visible"/>
                                      </p:to>
                                    </p:set>
                                    <p:animEffect transition="in" filter="fade">
                                      <p:cBhvr>
                                        <p:cTn id="54" dur="500"/>
                                        <p:tgtEl>
                                          <p:spTgt spid="9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91"/>
                                        </p:tgtEl>
                                        <p:attrNameLst>
                                          <p:attrName>style.visibility</p:attrName>
                                        </p:attrNameLst>
                                      </p:cBhvr>
                                      <p:to>
                                        <p:strVal val="visible"/>
                                      </p:to>
                                    </p:set>
                                    <p:animEffect transition="in" filter="fade">
                                      <p:cBhvr>
                                        <p:cTn id="57" dur="500"/>
                                        <p:tgtEl>
                                          <p:spTgt spid="9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92"/>
                                        </p:tgtEl>
                                        <p:attrNameLst>
                                          <p:attrName>style.visibility</p:attrName>
                                        </p:attrNameLst>
                                      </p:cBhvr>
                                      <p:to>
                                        <p:strVal val="visible"/>
                                      </p:to>
                                    </p:set>
                                    <p:animEffect transition="in" filter="fade">
                                      <p:cBhvr>
                                        <p:cTn id="60" dur="500"/>
                                        <p:tgtEl>
                                          <p:spTgt spid="9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93"/>
                                        </p:tgtEl>
                                        <p:attrNameLst>
                                          <p:attrName>style.visibility</p:attrName>
                                        </p:attrNameLst>
                                      </p:cBhvr>
                                      <p:to>
                                        <p:strVal val="visible"/>
                                      </p:to>
                                    </p:set>
                                    <p:animEffect transition="in" filter="fade">
                                      <p:cBhvr>
                                        <p:cTn id="63" dur="500"/>
                                        <p:tgtEl>
                                          <p:spTgt spid="9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95"/>
                                        </p:tgtEl>
                                        <p:attrNameLst>
                                          <p:attrName>style.visibility</p:attrName>
                                        </p:attrNameLst>
                                      </p:cBhvr>
                                      <p:to>
                                        <p:strVal val="visible"/>
                                      </p:to>
                                    </p:set>
                                    <p:animEffect transition="in" filter="fade">
                                      <p:cBhvr>
                                        <p:cTn id="66" dur="500"/>
                                        <p:tgtEl>
                                          <p:spTgt spid="95"/>
                                        </p:tgtEl>
                                      </p:cBhvr>
                                    </p:animEffect>
                                  </p:childTnLst>
                                </p:cTn>
                              </p:par>
                              <p:par>
                                <p:cTn id="67" presetID="10" presetClass="entr" presetSubtype="0" fill="hold" nodeType="withEffect">
                                  <p:stCondLst>
                                    <p:cond delay="0"/>
                                  </p:stCondLst>
                                  <p:childTnLst>
                                    <p:set>
                                      <p:cBhvr>
                                        <p:cTn id="68" dur="1" fill="hold">
                                          <p:stCondLst>
                                            <p:cond delay="0"/>
                                          </p:stCondLst>
                                        </p:cTn>
                                        <p:tgtEl>
                                          <p:spTgt spid="96"/>
                                        </p:tgtEl>
                                        <p:attrNameLst>
                                          <p:attrName>style.visibility</p:attrName>
                                        </p:attrNameLst>
                                      </p:cBhvr>
                                      <p:to>
                                        <p:strVal val="visible"/>
                                      </p:to>
                                    </p:set>
                                    <p:animEffect transition="in" filter="fade">
                                      <p:cBhvr>
                                        <p:cTn id="69" dur="500"/>
                                        <p:tgtEl>
                                          <p:spTgt spid="96"/>
                                        </p:tgtEl>
                                      </p:cBhvr>
                                    </p:animEffect>
                                  </p:childTnLst>
                                </p:cTn>
                              </p:par>
                              <p:par>
                                <p:cTn id="70" presetID="10" presetClass="entr" presetSubtype="0" fill="hold" nodeType="withEffect">
                                  <p:stCondLst>
                                    <p:cond delay="0"/>
                                  </p:stCondLst>
                                  <p:childTnLst>
                                    <p:set>
                                      <p:cBhvr>
                                        <p:cTn id="71" dur="1" fill="hold">
                                          <p:stCondLst>
                                            <p:cond delay="0"/>
                                          </p:stCondLst>
                                        </p:cTn>
                                        <p:tgtEl>
                                          <p:spTgt spid="103"/>
                                        </p:tgtEl>
                                        <p:attrNameLst>
                                          <p:attrName>style.visibility</p:attrName>
                                        </p:attrNameLst>
                                      </p:cBhvr>
                                      <p:to>
                                        <p:strVal val="visible"/>
                                      </p:to>
                                    </p:set>
                                    <p:animEffect transition="in" filter="fade">
                                      <p:cBhvr>
                                        <p:cTn id="72" dur="500"/>
                                        <p:tgtEl>
                                          <p:spTgt spid="103"/>
                                        </p:tgtEl>
                                      </p:cBhvr>
                                    </p:animEffect>
                                  </p:childTnLst>
                                </p:cTn>
                              </p:par>
                              <p:par>
                                <p:cTn id="73" presetID="10" presetClass="entr" presetSubtype="0" fill="hold" nodeType="withEffect">
                                  <p:stCondLst>
                                    <p:cond delay="0"/>
                                  </p:stCondLst>
                                  <p:childTnLst>
                                    <p:set>
                                      <p:cBhvr>
                                        <p:cTn id="74" dur="1" fill="hold">
                                          <p:stCondLst>
                                            <p:cond delay="0"/>
                                          </p:stCondLst>
                                        </p:cTn>
                                        <p:tgtEl>
                                          <p:spTgt spid="128"/>
                                        </p:tgtEl>
                                        <p:attrNameLst>
                                          <p:attrName>style.visibility</p:attrName>
                                        </p:attrNameLst>
                                      </p:cBhvr>
                                      <p:to>
                                        <p:strVal val="visible"/>
                                      </p:to>
                                    </p:set>
                                    <p:animEffect transition="in" filter="fade">
                                      <p:cBhvr>
                                        <p:cTn id="75" dur="500"/>
                                        <p:tgtEl>
                                          <p:spTgt spid="128"/>
                                        </p:tgtEl>
                                      </p:cBhvr>
                                    </p:animEffect>
                                  </p:childTnLst>
                                </p:cTn>
                              </p:par>
                              <p:par>
                                <p:cTn id="76" presetID="10" presetClass="entr" presetSubtype="0" fill="hold" nodeType="withEffect">
                                  <p:stCondLst>
                                    <p:cond delay="0"/>
                                  </p:stCondLst>
                                  <p:childTnLst>
                                    <p:set>
                                      <p:cBhvr>
                                        <p:cTn id="77" dur="1" fill="hold">
                                          <p:stCondLst>
                                            <p:cond delay="0"/>
                                          </p:stCondLst>
                                        </p:cTn>
                                        <p:tgtEl>
                                          <p:spTgt spid="144"/>
                                        </p:tgtEl>
                                        <p:attrNameLst>
                                          <p:attrName>style.visibility</p:attrName>
                                        </p:attrNameLst>
                                      </p:cBhvr>
                                      <p:to>
                                        <p:strVal val="visible"/>
                                      </p:to>
                                    </p:set>
                                    <p:animEffect transition="in" filter="fade">
                                      <p:cBhvr>
                                        <p:cTn id="78" dur="500"/>
                                        <p:tgtEl>
                                          <p:spTgt spid="144"/>
                                        </p:tgtEl>
                                      </p:cBhvr>
                                    </p:animEffect>
                                  </p:childTnLst>
                                </p:cTn>
                              </p:par>
                              <p:par>
                                <p:cTn id="79" presetID="10" presetClass="entr" presetSubtype="0" fill="hold" nodeType="withEffect">
                                  <p:stCondLst>
                                    <p:cond delay="0"/>
                                  </p:stCondLst>
                                  <p:childTnLst>
                                    <p:set>
                                      <p:cBhvr>
                                        <p:cTn id="80" dur="1" fill="hold">
                                          <p:stCondLst>
                                            <p:cond delay="0"/>
                                          </p:stCondLst>
                                        </p:cTn>
                                        <p:tgtEl>
                                          <p:spTgt spid="149"/>
                                        </p:tgtEl>
                                        <p:attrNameLst>
                                          <p:attrName>style.visibility</p:attrName>
                                        </p:attrNameLst>
                                      </p:cBhvr>
                                      <p:to>
                                        <p:strVal val="visible"/>
                                      </p:to>
                                    </p:set>
                                    <p:animEffect transition="in" filter="fade">
                                      <p:cBhvr>
                                        <p:cTn id="81" dur="500"/>
                                        <p:tgtEl>
                                          <p:spTgt spid="14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52"/>
                                        </p:tgtEl>
                                        <p:attrNameLst>
                                          <p:attrName>style.visibility</p:attrName>
                                        </p:attrNameLst>
                                      </p:cBhvr>
                                      <p:to>
                                        <p:strVal val="visible"/>
                                      </p:to>
                                    </p:set>
                                    <p:animEffect transition="in" filter="fade">
                                      <p:cBhvr>
                                        <p:cTn id="84" dur="500"/>
                                        <p:tgtEl>
                                          <p:spTgt spid="15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50"/>
                                        </p:tgtEl>
                                        <p:attrNameLst>
                                          <p:attrName>style.visibility</p:attrName>
                                        </p:attrNameLst>
                                      </p:cBhvr>
                                      <p:to>
                                        <p:strVal val="visible"/>
                                      </p:to>
                                    </p:set>
                                    <p:animEffect transition="in" filter="fade">
                                      <p:cBhvr>
                                        <p:cTn id="87" dur="500"/>
                                        <p:tgtEl>
                                          <p:spTgt spid="15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500"/>
                                        <p:tgtEl>
                                          <p:spTgt spid="3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500"/>
                                        <p:tgtEl>
                                          <p:spTgt spid="3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500"/>
                                        <p:tgtEl>
                                          <p:spTgt spid="3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500"/>
                                        <p:tgtEl>
                                          <p:spTgt spid="33"/>
                                        </p:tgtEl>
                                      </p:cBhvr>
                                    </p:animEffect>
                                  </p:childTnLst>
                                </p:cTn>
                              </p:par>
                              <p:par>
                                <p:cTn id="105" presetID="10" presetClass="entr" presetSubtype="0" fill="hold" nodeType="withEffect">
                                  <p:stCondLst>
                                    <p:cond delay="0"/>
                                  </p:stCondLst>
                                  <p:childTnLst>
                                    <p:set>
                                      <p:cBhvr>
                                        <p:cTn id="106" dur="1" fill="hold">
                                          <p:stCondLst>
                                            <p:cond delay="0"/>
                                          </p:stCondLst>
                                        </p:cTn>
                                        <p:tgtEl>
                                          <p:spTgt spid="86"/>
                                        </p:tgtEl>
                                        <p:attrNameLst>
                                          <p:attrName>style.visibility</p:attrName>
                                        </p:attrNameLst>
                                      </p:cBhvr>
                                      <p:to>
                                        <p:strVal val="visible"/>
                                      </p:to>
                                    </p:set>
                                    <p:animEffect transition="in" filter="fade">
                                      <p:cBhvr>
                                        <p:cTn id="107" dur="500"/>
                                        <p:tgtEl>
                                          <p:spTgt spid="86"/>
                                        </p:tgtEl>
                                      </p:cBhvr>
                                    </p:animEffect>
                                  </p:childTnLst>
                                </p:cTn>
                              </p:par>
                              <p:par>
                                <p:cTn id="108" presetID="10" presetClass="entr" presetSubtype="0" fill="hold" nodeType="withEffect">
                                  <p:stCondLst>
                                    <p:cond delay="0"/>
                                  </p:stCondLst>
                                  <p:childTnLst>
                                    <p:set>
                                      <p:cBhvr>
                                        <p:cTn id="109" dur="1" fill="hold">
                                          <p:stCondLst>
                                            <p:cond delay="0"/>
                                          </p:stCondLst>
                                        </p:cTn>
                                        <p:tgtEl>
                                          <p:spTgt spid="87"/>
                                        </p:tgtEl>
                                        <p:attrNameLst>
                                          <p:attrName>style.visibility</p:attrName>
                                        </p:attrNameLst>
                                      </p:cBhvr>
                                      <p:to>
                                        <p:strVal val="visible"/>
                                      </p:to>
                                    </p:set>
                                    <p:animEffect transition="in" filter="fade">
                                      <p:cBhvr>
                                        <p:cTn id="110" dur="500"/>
                                        <p:tgtEl>
                                          <p:spTgt spid="87"/>
                                        </p:tgtEl>
                                      </p:cBhvr>
                                    </p:animEffect>
                                  </p:childTnLst>
                                </p:cTn>
                              </p:par>
                              <p:par>
                                <p:cTn id="111" presetID="10" presetClass="entr" presetSubtype="0" fill="hold" nodeType="withEffect">
                                  <p:stCondLst>
                                    <p:cond delay="0"/>
                                  </p:stCondLst>
                                  <p:childTnLst>
                                    <p:set>
                                      <p:cBhvr>
                                        <p:cTn id="112" dur="1" fill="hold">
                                          <p:stCondLst>
                                            <p:cond delay="0"/>
                                          </p:stCondLst>
                                        </p:cTn>
                                        <p:tgtEl>
                                          <p:spTgt spid="88"/>
                                        </p:tgtEl>
                                        <p:attrNameLst>
                                          <p:attrName>style.visibility</p:attrName>
                                        </p:attrNameLst>
                                      </p:cBhvr>
                                      <p:to>
                                        <p:strVal val="visible"/>
                                      </p:to>
                                    </p:set>
                                    <p:animEffect transition="in" filter="fade">
                                      <p:cBhvr>
                                        <p:cTn id="113" dur="500"/>
                                        <p:tgtEl>
                                          <p:spTgt spid="88"/>
                                        </p:tgtEl>
                                      </p:cBhvr>
                                    </p:animEffect>
                                  </p:childTnLst>
                                </p:cTn>
                              </p:par>
                              <p:par>
                                <p:cTn id="114" presetID="10" presetClass="entr" presetSubtype="0" fill="hold" nodeType="withEffect">
                                  <p:stCondLst>
                                    <p:cond delay="0"/>
                                  </p:stCondLst>
                                  <p:childTnLst>
                                    <p:set>
                                      <p:cBhvr>
                                        <p:cTn id="115" dur="1" fill="hold">
                                          <p:stCondLst>
                                            <p:cond delay="0"/>
                                          </p:stCondLst>
                                        </p:cTn>
                                        <p:tgtEl>
                                          <p:spTgt spid="89"/>
                                        </p:tgtEl>
                                        <p:attrNameLst>
                                          <p:attrName>style.visibility</p:attrName>
                                        </p:attrNameLst>
                                      </p:cBhvr>
                                      <p:to>
                                        <p:strVal val="visible"/>
                                      </p:to>
                                    </p:set>
                                    <p:animEffect transition="in" filter="fade">
                                      <p:cBhvr>
                                        <p:cTn id="116" dur="500"/>
                                        <p:tgtEl>
                                          <p:spTgt spid="89"/>
                                        </p:tgtEl>
                                      </p:cBhvr>
                                    </p:animEffect>
                                  </p:childTnLst>
                                </p:cTn>
                              </p:par>
                              <p:par>
                                <p:cTn id="117" presetID="10" presetClass="entr" presetSubtype="0" fill="hold" nodeType="with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500"/>
                                        <p:tgtEl>
                                          <p:spTgt spid="38"/>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98"/>
                                        </p:tgtEl>
                                        <p:attrNameLst>
                                          <p:attrName>style.visibility</p:attrName>
                                        </p:attrNameLst>
                                      </p:cBhvr>
                                      <p:to>
                                        <p:strVal val="visible"/>
                                      </p:to>
                                    </p:set>
                                    <p:animEffect transition="in" filter="fade">
                                      <p:cBhvr>
                                        <p:cTn id="124" dur="500"/>
                                        <p:tgtEl>
                                          <p:spTgt spid="98"/>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99"/>
                                        </p:tgtEl>
                                        <p:attrNameLst>
                                          <p:attrName>style.visibility</p:attrName>
                                        </p:attrNameLst>
                                      </p:cBhvr>
                                      <p:to>
                                        <p:strVal val="visible"/>
                                      </p:to>
                                    </p:set>
                                    <p:animEffect transition="in" filter="fade">
                                      <p:cBhvr>
                                        <p:cTn id="127" dur="500"/>
                                        <p:tgtEl>
                                          <p:spTgt spid="99"/>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00"/>
                                        </p:tgtEl>
                                        <p:attrNameLst>
                                          <p:attrName>style.visibility</p:attrName>
                                        </p:attrNameLst>
                                      </p:cBhvr>
                                      <p:to>
                                        <p:strVal val="visible"/>
                                      </p:to>
                                    </p:set>
                                    <p:animEffect transition="in" filter="fade">
                                      <p:cBhvr>
                                        <p:cTn id="130" dur="500"/>
                                        <p:tgtEl>
                                          <p:spTgt spid="100"/>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01"/>
                                        </p:tgtEl>
                                        <p:attrNameLst>
                                          <p:attrName>style.visibility</p:attrName>
                                        </p:attrNameLst>
                                      </p:cBhvr>
                                      <p:to>
                                        <p:strVal val="visible"/>
                                      </p:to>
                                    </p:set>
                                    <p:animEffect transition="in" filter="fade">
                                      <p:cBhvr>
                                        <p:cTn id="133" dur="500"/>
                                        <p:tgtEl>
                                          <p:spTgt spid="101"/>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02"/>
                                        </p:tgtEl>
                                        <p:attrNameLst>
                                          <p:attrName>style.visibility</p:attrName>
                                        </p:attrNameLst>
                                      </p:cBhvr>
                                      <p:to>
                                        <p:strVal val="visible"/>
                                      </p:to>
                                    </p:set>
                                    <p:animEffect transition="in" filter="fade">
                                      <p:cBhvr>
                                        <p:cTn id="136" dur="500"/>
                                        <p:tgtEl>
                                          <p:spTgt spid="102"/>
                                        </p:tgtEl>
                                      </p:cBhvr>
                                    </p:animEffect>
                                  </p:childTnLst>
                                </p:cTn>
                              </p:par>
                              <p:par>
                                <p:cTn id="137" presetID="10" presetClass="entr" presetSubtype="0" fill="hold" nodeType="withEffect">
                                  <p:stCondLst>
                                    <p:cond delay="0"/>
                                  </p:stCondLst>
                                  <p:childTnLst>
                                    <p:set>
                                      <p:cBhvr>
                                        <p:cTn id="138" dur="1" fill="hold">
                                          <p:stCondLst>
                                            <p:cond delay="0"/>
                                          </p:stCondLst>
                                        </p:cTn>
                                        <p:tgtEl>
                                          <p:spTgt spid="3"/>
                                        </p:tgtEl>
                                        <p:attrNameLst>
                                          <p:attrName>style.visibility</p:attrName>
                                        </p:attrNameLst>
                                      </p:cBhvr>
                                      <p:to>
                                        <p:strVal val="visible"/>
                                      </p:to>
                                    </p:set>
                                    <p:animEffect transition="in" filter="fade">
                                      <p:cBhvr>
                                        <p:cTn id="139" dur="500"/>
                                        <p:tgtEl>
                                          <p:spTgt spid="3"/>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nodeType="clickEffect">
                                  <p:stCondLst>
                                    <p:cond delay="0"/>
                                  </p:stCondLst>
                                  <p:childTnLst>
                                    <p:set>
                                      <p:cBhvr>
                                        <p:cTn id="143" dur="1" fill="hold">
                                          <p:stCondLst>
                                            <p:cond delay="0"/>
                                          </p:stCondLst>
                                        </p:cTn>
                                        <p:tgtEl>
                                          <p:spTgt spid="183"/>
                                        </p:tgtEl>
                                        <p:attrNameLst>
                                          <p:attrName>style.visibility</p:attrName>
                                        </p:attrNameLst>
                                      </p:cBhvr>
                                      <p:to>
                                        <p:strVal val="visible"/>
                                      </p:to>
                                    </p:set>
                                    <p:animEffect transition="in" filter="fade">
                                      <p:cBhvr>
                                        <p:cTn id="144" dur="500"/>
                                        <p:tgtEl>
                                          <p:spTgt spid="183"/>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122"/>
                                        </p:tgtEl>
                                        <p:attrNameLst>
                                          <p:attrName>style.visibility</p:attrName>
                                        </p:attrNameLst>
                                      </p:cBhvr>
                                      <p:to>
                                        <p:strVal val="visible"/>
                                      </p:to>
                                    </p:set>
                                    <p:animEffect transition="in" filter="fade">
                                      <p:cBhvr>
                                        <p:cTn id="147" dur="500"/>
                                        <p:tgtEl>
                                          <p:spTgt spid="12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123"/>
                                        </p:tgtEl>
                                        <p:attrNameLst>
                                          <p:attrName>style.visibility</p:attrName>
                                        </p:attrNameLst>
                                      </p:cBhvr>
                                      <p:to>
                                        <p:strVal val="visible"/>
                                      </p:to>
                                    </p:set>
                                    <p:animEffect transition="in" filter="fade">
                                      <p:cBhvr>
                                        <p:cTn id="150" dur="500"/>
                                        <p:tgtEl>
                                          <p:spTgt spid="12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124"/>
                                        </p:tgtEl>
                                        <p:attrNameLst>
                                          <p:attrName>style.visibility</p:attrName>
                                        </p:attrNameLst>
                                      </p:cBhvr>
                                      <p:to>
                                        <p:strVal val="visible"/>
                                      </p:to>
                                    </p:set>
                                    <p:animEffect transition="in" filter="fade">
                                      <p:cBhvr>
                                        <p:cTn id="153" dur="500"/>
                                        <p:tgtEl>
                                          <p:spTgt spid="124"/>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125"/>
                                        </p:tgtEl>
                                        <p:attrNameLst>
                                          <p:attrName>style.visibility</p:attrName>
                                        </p:attrNameLst>
                                      </p:cBhvr>
                                      <p:to>
                                        <p:strVal val="visible"/>
                                      </p:to>
                                    </p:set>
                                    <p:animEffect transition="in" filter="fade">
                                      <p:cBhvr>
                                        <p:cTn id="156" dur="500"/>
                                        <p:tgtEl>
                                          <p:spTgt spid="12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126"/>
                                        </p:tgtEl>
                                        <p:attrNameLst>
                                          <p:attrName>style.visibility</p:attrName>
                                        </p:attrNameLst>
                                      </p:cBhvr>
                                      <p:to>
                                        <p:strVal val="visible"/>
                                      </p:to>
                                    </p:set>
                                    <p:animEffect transition="in" filter="fade">
                                      <p:cBhvr>
                                        <p:cTn id="159" dur="500"/>
                                        <p:tgtEl>
                                          <p:spTgt spid="126"/>
                                        </p:tgtEl>
                                      </p:cBhvr>
                                    </p:animEffect>
                                  </p:childTnLst>
                                </p:cTn>
                              </p:par>
                              <p:par>
                                <p:cTn id="160" presetID="10" presetClass="entr" presetSubtype="0" fill="hold" nodeType="withEffect">
                                  <p:stCondLst>
                                    <p:cond delay="0"/>
                                  </p:stCondLst>
                                  <p:childTnLst>
                                    <p:set>
                                      <p:cBhvr>
                                        <p:cTn id="161" dur="1" fill="hold">
                                          <p:stCondLst>
                                            <p:cond delay="0"/>
                                          </p:stCondLst>
                                        </p:cTn>
                                        <p:tgtEl>
                                          <p:spTgt spid="129"/>
                                        </p:tgtEl>
                                        <p:attrNameLst>
                                          <p:attrName>style.visibility</p:attrName>
                                        </p:attrNameLst>
                                      </p:cBhvr>
                                      <p:to>
                                        <p:strVal val="visible"/>
                                      </p:to>
                                    </p:set>
                                    <p:animEffect transition="in" filter="fade">
                                      <p:cBhvr>
                                        <p:cTn id="162" dur="500"/>
                                        <p:tgtEl>
                                          <p:spTgt spid="129"/>
                                        </p:tgtEl>
                                      </p:cBhvr>
                                    </p:animEffect>
                                  </p:childTnLst>
                                </p:cTn>
                              </p:par>
                              <p:par>
                                <p:cTn id="163" presetID="10" presetClass="entr" presetSubtype="0" fill="hold" nodeType="withEffect">
                                  <p:stCondLst>
                                    <p:cond delay="0"/>
                                  </p:stCondLst>
                                  <p:childTnLst>
                                    <p:set>
                                      <p:cBhvr>
                                        <p:cTn id="164" dur="1" fill="hold">
                                          <p:stCondLst>
                                            <p:cond delay="0"/>
                                          </p:stCondLst>
                                        </p:cTn>
                                        <p:tgtEl>
                                          <p:spTgt spid="130"/>
                                        </p:tgtEl>
                                        <p:attrNameLst>
                                          <p:attrName>style.visibility</p:attrName>
                                        </p:attrNameLst>
                                      </p:cBhvr>
                                      <p:to>
                                        <p:strVal val="visible"/>
                                      </p:to>
                                    </p:set>
                                    <p:animEffect transition="in" filter="fade">
                                      <p:cBhvr>
                                        <p:cTn id="165" dur="500"/>
                                        <p:tgtEl>
                                          <p:spTgt spid="130"/>
                                        </p:tgtEl>
                                      </p:cBhvr>
                                    </p:animEffect>
                                  </p:childTnLst>
                                </p:cTn>
                              </p:par>
                              <p:par>
                                <p:cTn id="166" presetID="10" presetClass="entr" presetSubtype="0" fill="hold" nodeType="withEffect">
                                  <p:stCondLst>
                                    <p:cond delay="0"/>
                                  </p:stCondLst>
                                  <p:childTnLst>
                                    <p:set>
                                      <p:cBhvr>
                                        <p:cTn id="167" dur="1" fill="hold">
                                          <p:stCondLst>
                                            <p:cond delay="0"/>
                                          </p:stCondLst>
                                        </p:cTn>
                                        <p:tgtEl>
                                          <p:spTgt spid="131"/>
                                        </p:tgtEl>
                                        <p:attrNameLst>
                                          <p:attrName>style.visibility</p:attrName>
                                        </p:attrNameLst>
                                      </p:cBhvr>
                                      <p:to>
                                        <p:strVal val="visible"/>
                                      </p:to>
                                    </p:set>
                                    <p:animEffect transition="in" filter="fade">
                                      <p:cBhvr>
                                        <p:cTn id="168" dur="500"/>
                                        <p:tgtEl>
                                          <p:spTgt spid="131"/>
                                        </p:tgtEl>
                                      </p:cBhvr>
                                    </p:animEffect>
                                  </p:childTnLst>
                                </p:cTn>
                              </p:par>
                              <p:par>
                                <p:cTn id="169" presetID="10" presetClass="entr" presetSubtype="0" fill="hold" nodeType="withEffect">
                                  <p:stCondLst>
                                    <p:cond delay="0"/>
                                  </p:stCondLst>
                                  <p:childTnLst>
                                    <p:set>
                                      <p:cBhvr>
                                        <p:cTn id="170" dur="1" fill="hold">
                                          <p:stCondLst>
                                            <p:cond delay="0"/>
                                          </p:stCondLst>
                                        </p:cTn>
                                        <p:tgtEl>
                                          <p:spTgt spid="132"/>
                                        </p:tgtEl>
                                        <p:attrNameLst>
                                          <p:attrName>style.visibility</p:attrName>
                                        </p:attrNameLst>
                                      </p:cBhvr>
                                      <p:to>
                                        <p:strVal val="visible"/>
                                      </p:to>
                                    </p:set>
                                    <p:animEffect transition="in" filter="fade">
                                      <p:cBhvr>
                                        <p:cTn id="171" dur="500"/>
                                        <p:tgtEl>
                                          <p:spTgt spid="132"/>
                                        </p:tgtEl>
                                      </p:cBhvr>
                                    </p:animEffect>
                                  </p:childTnLst>
                                </p:cTn>
                              </p:par>
                              <p:par>
                                <p:cTn id="172" presetID="10" presetClass="entr" presetSubtype="0" fill="hold" nodeType="withEffect">
                                  <p:stCondLst>
                                    <p:cond delay="0"/>
                                  </p:stCondLst>
                                  <p:childTnLst>
                                    <p:set>
                                      <p:cBhvr>
                                        <p:cTn id="173" dur="1" fill="hold">
                                          <p:stCondLst>
                                            <p:cond delay="0"/>
                                          </p:stCondLst>
                                        </p:cTn>
                                        <p:tgtEl>
                                          <p:spTgt spid="133"/>
                                        </p:tgtEl>
                                        <p:attrNameLst>
                                          <p:attrName>style.visibility</p:attrName>
                                        </p:attrNameLst>
                                      </p:cBhvr>
                                      <p:to>
                                        <p:strVal val="visible"/>
                                      </p:to>
                                    </p:set>
                                    <p:animEffect transition="in" filter="fade">
                                      <p:cBhvr>
                                        <p:cTn id="174" dur="500"/>
                                        <p:tgtEl>
                                          <p:spTgt spid="133"/>
                                        </p:tgtEl>
                                      </p:cBhvr>
                                    </p:animEffect>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grpId="0" nodeType="clickEffect">
                                  <p:stCondLst>
                                    <p:cond delay="0"/>
                                  </p:stCondLst>
                                  <p:childTnLst>
                                    <p:set>
                                      <p:cBhvr>
                                        <p:cTn id="178" dur="1" fill="hold">
                                          <p:stCondLst>
                                            <p:cond delay="0"/>
                                          </p:stCondLst>
                                        </p:cTn>
                                        <p:tgtEl>
                                          <p:spTgt spid="136"/>
                                        </p:tgtEl>
                                        <p:attrNameLst>
                                          <p:attrName>style.visibility</p:attrName>
                                        </p:attrNameLst>
                                      </p:cBhvr>
                                      <p:to>
                                        <p:strVal val="visible"/>
                                      </p:to>
                                    </p:set>
                                    <p:animEffect transition="in" filter="fade">
                                      <p:cBhvr>
                                        <p:cTn id="179" dur="500"/>
                                        <p:tgtEl>
                                          <p:spTgt spid="136"/>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137"/>
                                        </p:tgtEl>
                                        <p:attrNameLst>
                                          <p:attrName>style.visibility</p:attrName>
                                        </p:attrNameLst>
                                      </p:cBhvr>
                                      <p:to>
                                        <p:strVal val="visible"/>
                                      </p:to>
                                    </p:set>
                                    <p:animEffect transition="in" filter="fade">
                                      <p:cBhvr>
                                        <p:cTn id="182" dur="500"/>
                                        <p:tgtEl>
                                          <p:spTgt spid="137"/>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138"/>
                                        </p:tgtEl>
                                        <p:attrNameLst>
                                          <p:attrName>style.visibility</p:attrName>
                                        </p:attrNameLst>
                                      </p:cBhvr>
                                      <p:to>
                                        <p:strVal val="visible"/>
                                      </p:to>
                                    </p:set>
                                    <p:animEffect transition="in" filter="fade">
                                      <p:cBhvr>
                                        <p:cTn id="185" dur="500"/>
                                        <p:tgtEl>
                                          <p:spTgt spid="138"/>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139"/>
                                        </p:tgtEl>
                                        <p:attrNameLst>
                                          <p:attrName>style.visibility</p:attrName>
                                        </p:attrNameLst>
                                      </p:cBhvr>
                                      <p:to>
                                        <p:strVal val="visible"/>
                                      </p:to>
                                    </p:set>
                                    <p:animEffect transition="in" filter="fade">
                                      <p:cBhvr>
                                        <p:cTn id="188" dur="500"/>
                                        <p:tgtEl>
                                          <p:spTgt spid="139"/>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140"/>
                                        </p:tgtEl>
                                        <p:attrNameLst>
                                          <p:attrName>style.visibility</p:attrName>
                                        </p:attrNameLst>
                                      </p:cBhvr>
                                      <p:to>
                                        <p:strVal val="visible"/>
                                      </p:to>
                                    </p:set>
                                    <p:animEffect transition="in" filter="fade">
                                      <p:cBhvr>
                                        <p:cTn id="191" dur="500"/>
                                        <p:tgtEl>
                                          <p:spTgt spid="140"/>
                                        </p:tgtEl>
                                      </p:cBhvr>
                                    </p:animEffect>
                                  </p:childTnLst>
                                </p:cTn>
                              </p:par>
                              <p:par>
                                <p:cTn id="192" presetID="10" presetClass="entr" presetSubtype="0" fill="hold" nodeType="withEffect">
                                  <p:stCondLst>
                                    <p:cond delay="0"/>
                                  </p:stCondLst>
                                  <p:childTnLst>
                                    <p:set>
                                      <p:cBhvr>
                                        <p:cTn id="193" dur="1" fill="hold">
                                          <p:stCondLst>
                                            <p:cond delay="0"/>
                                          </p:stCondLst>
                                        </p:cTn>
                                        <p:tgtEl>
                                          <p:spTgt spid="157"/>
                                        </p:tgtEl>
                                        <p:attrNameLst>
                                          <p:attrName>style.visibility</p:attrName>
                                        </p:attrNameLst>
                                      </p:cBhvr>
                                      <p:to>
                                        <p:strVal val="visible"/>
                                      </p:to>
                                    </p:set>
                                    <p:animEffect transition="in" filter="fade">
                                      <p:cBhvr>
                                        <p:cTn id="194" dur="500"/>
                                        <p:tgtEl>
                                          <p:spTgt spid="157"/>
                                        </p:tgtEl>
                                      </p:cBhvr>
                                    </p:animEffect>
                                  </p:childTnLst>
                                </p:cTn>
                              </p:par>
                              <p:par>
                                <p:cTn id="195" presetID="10" presetClass="entr" presetSubtype="0" fill="hold" nodeType="withEffect">
                                  <p:stCondLst>
                                    <p:cond delay="0"/>
                                  </p:stCondLst>
                                  <p:childTnLst>
                                    <p:set>
                                      <p:cBhvr>
                                        <p:cTn id="196" dur="1" fill="hold">
                                          <p:stCondLst>
                                            <p:cond delay="0"/>
                                          </p:stCondLst>
                                        </p:cTn>
                                        <p:tgtEl>
                                          <p:spTgt spid="158"/>
                                        </p:tgtEl>
                                        <p:attrNameLst>
                                          <p:attrName>style.visibility</p:attrName>
                                        </p:attrNameLst>
                                      </p:cBhvr>
                                      <p:to>
                                        <p:strVal val="visible"/>
                                      </p:to>
                                    </p:set>
                                    <p:animEffect transition="in" filter="fade">
                                      <p:cBhvr>
                                        <p:cTn id="197" dur="500"/>
                                        <p:tgtEl>
                                          <p:spTgt spid="158"/>
                                        </p:tgtEl>
                                      </p:cBhvr>
                                    </p:animEffect>
                                  </p:childTnLst>
                                </p:cTn>
                              </p:par>
                              <p:par>
                                <p:cTn id="198" presetID="10" presetClass="entr" presetSubtype="0" fill="hold" nodeType="withEffect">
                                  <p:stCondLst>
                                    <p:cond delay="0"/>
                                  </p:stCondLst>
                                  <p:childTnLst>
                                    <p:set>
                                      <p:cBhvr>
                                        <p:cTn id="199" dur="1" fill="hold">
                                          <p:stCondLst>
                                            <p:cond delay="0"/>
                                          </p:stCondLst>
                                        </p:cTn>
                                        <p:tgtEl>
                                          <p:spTgt spid="161"/>
                                        </p:tgtEl>
                                        <p:attrNameLst>
                                          <p:attrName>style.visibility</p:attrName>
                                        </p:attrNameLst>
                                      </p:cBhvr>
                                      <p:to>
                                        <p:strVal val="visible"/>
                                      </p:to>
                                    </p:set>
                                    <p:animEffect transition="in" filter="fade">
                                      <p:cBhvr>
                                        <p:cTn id="200" dur="500"/>
                                        <p:tgtEl>
                                          <p:spTgt spid="161"/>
                                        </p:tgtEl>
                                      </p:cBhvr>
                                    </p:animEffect>
                                  </p:childTnLst>
                                </p:cTn>
                              </p:par>
                              <p:par>
                                <p:cTn id="201" presetID="10" presetClass="entr" presetSubtype="0" fill="hold" nodeType="withEffect">
                                  <p:stCondLst>
                                    <p:cond delay="0"/>
                                  </p:stCondLst>
                                  <p:childTnLst>
                                    <p:set>
                                      <p:cBhvr>
                                        <p:cTn id="202" dur="1" fill="hold">
                                          <p:stCondLst>
                                            <p:cond delay="0"/>
                                          </p:stCondLst>
                                        </p:cTn>
                                        <p:tgtEl>
                                          <p:spTgt spid="165"/>
                                        </p:tgtEl>
                                        <p:attrNameLst>
                                          <p:attrName>style.visibility</p:attrName>
                                        </p:attrNameLst>
                                      </p:cBhvr>
                                      <p:to>
                                        <p:strVal val="visible"/>
                                      </p:to>
                                    </p:set>
                                    <p:animEffect transition="in" filter="fade">
                                      <p:cBhvr>
                                        <p:cTn id="203" dur="500"/>
                                        <p:tgtEl>
                                          <p:spTgt spid="165"/>
                                        </p:tgtEl>
                                      </p:cBhvr>
                                    </p:animEffect>
                                  </p:childTnLst>
                                </p:cTn>
                              </p:par>
                              <p:par>
                                <p:cTn id="204" presetID="10" presetClass="entr" presetSubtype="0" fill="hold" nodeType="withEffect">
                                  <p:stCondLst>
                                    <p:cond delay="0"/>
                                  </p:stCondLst>
                                  <p:childTnLst>
                                    <p:set>
                                      <p:cBhvr>
                                        <p:cTn id="205" dur="1" fill="hold">
                                          <p:stCondLst>
                                            <p:cond delay="0"/>
                                          </p:stCondLst>
                                        </p:cTn>
                                        <p:tgtEl>
                                          <p:spTgt spid="168"/>
                                        </p:tgtEl>
                                        <p:attrNameLst>
                                          <p:attrName>style.visibility</p:attrName>
                                        </p:attrNameLst>
                                      </p:cBhvr>
                                      <p:to>
                                        <p:strVal val="visible"/>
                                      </p:to>
                                    </p:set>
                                    <p:animEffect transition="in" filter="fade">
                                      <p:cBhvr>
                                        <p:cTn id="206" dur="500"/>
                                        <p:tgtEl>
                                          <p:spTgt spid="168"/>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ntr" presetSubtype="0" fill="hold" grpId="0" nodeType="clickEffect">
                                  <p:stCondLst>
                                    <p:cond delay="0"/>
                                  </p:stCondLst>
                                  <p:childTnLst>
                                    <p:set>
                                      <p:cBhvr>
                                        <p:cTn id="210" dur="1" fill="hold">
                                          <p:stCondLst>
                                            <p:cond delay="0"/>
                                          </p:stCondLst>
                                        </p:cTn>
                                        <p:tgtEl>
                                          <p:spTgt spid="94"/>
                                        </p:tgtEl>
                                        <p:attrNameLst>
                                          <p:attrName>style.visibility</p:attrName>
                                        </p:attrNameLst>
                                      </p:cBhvr>
                                      <p:to>
                                        <p:strVal val="visible"/>
                                      </p:to>
                                    </p:set>
                                    <p:animEffect transition="in" filter="fade">
                                      <p:cBhvr>
                                        <p:cTn id="211" dur="500"/>
                                        <p:tgtEl>
                                          <p:spTgt spid="94"/>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106"/>
                                        </p:tgtEl>
                                        <p:attrNameLst>
                                          <p:attrName>style.visibility</p:attrName>
                                        </p:attrNameLst>
                                      </p:cBhvr>
                                      <p:to>
                                        <p:strVal val="visible"/>
                                      </p:to>
                                    </p:set>
                                    <p:animEffect transition="in" filter="fade">
                                      <p:cBhvr>
                                        <p:cTn id="214" dur="500"/>
                                        <p:tgtEl>
                                          <p:spTgt spid="106"/>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112"/>
                                        </p:tgtEl>
                                        <p:attrNameLst>
                                          <p:attrName>style.visibility</p:attrName>
                                        </p:attrNameLst>
                                      </p:cBhvr>
                                      <p:to>
                                        <p:strVal val="visible"/>
                                      </p:to>
                                    </p:set>
                                    <p:animEffect transition="in" filter="fade">
                                      <p:cBhvr>
                                        <p:cTn id="217" dur="500"/>
                                        <p:tgtEl>
                                          <p:spTgt spid="112"/>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115"/>
                                        </p:tgtEl>
                                        <p:attrNameLst>
                                          <p:attrName>style.visibility</p:attrName>
                                        </p:attrNameLst>
                                      </p:cBhvr>
                                      <p:to>
                                        <p:strVal val="visible"/>
                                      </p:to>
                                    </p:set>
                                    <p:animEffect transition="in" filter="fade">
                                      <p:cBhvr>
                                        <p:cTn id="220" dur="500"/>
                                        <p:tgtEl>
                                          <p:spTgt spid="115"/>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117"/>
                                        </p:tgtEl>
                                        <p:attrNameLst>
                                          <p:attrName>style.visibility</p:attrName>
                                        </p:attrNameLst>
                                      </p:cBhvr>
                                      <p:to>
                                        <p:strVal val="visible"/>
                                      </p:to>
                                    </p:set>
                                    <p:animEffect transition="in" filter="fade">
                                      <p:cBhvr>
                                        <p:cTn id="223" dur="500"/>
                                        <p:tgtEl>
                                          <p:spTgt spid="117"/>
                                        </p:tgtEl>
                                      </p:cBhvr>
                                    </p:animEffect>
                                  </p:childTnLst>
                                </p:cTn>
                              </p:par>
                              <p:par>
                                <p:cTn id="224" presetID="10" presetClass="entr" presetSubtype="0" fill="hold" nodeType="withEffect">
                                  <p:stCondLst>
                                    <p:cond delay="0"/>
                                  </p:stCondLst>
                                  <p:childTnLst>
                                    <p:set>
                                      <p:cBhvr>
                                        <p:cTn id="225" dur="1" fill="hold">
                                          <p:stCondLst>
                                            <p:cond delay="0"/>
                                          </p:stCondLst>
                                        </p:cTn>
                                        <p:tgtEl>
                                          <p:spTgt spid="141"/>
                                        </p:tgtEl>
                                        <p:attrNameLst>
                                          <p:attrName>style.visibility</p:attrName>
                                        </p:attrNameLst>
                                      </p:cBhvr>
                                      <p:to>
                                        <p:strVal val="visible"/>
                                      </p:to>
                                    </p:set>
                                    <p:animEffect transition="in" filter="fade">
                                      <p:cBhvr>
                                        <p:cTn id="226" dur="500"/>
                                        <p:tgtEl>
                                          <p:spTgt spid="141"/>
                                        </p:tgtEl>
                                      </p:cBhvr>
                                    </p:animEffect>
                                  </p:childTnLst>
                                </p:cTn>
                              </p:par>
                              <p:par>
                                <p:cTn id="227" presetID="10" presetClass="entr" presetSubtype="0" fill="hold" nodeType="withEffect">
                                  <p:stCondLst>
                                    <p:cond delay="0"/>
                                  </p:stCondLst>
                                  <p:childTnLst>
                                    <p:set>
                                      <p:cBhvr>
                                        <p:cTn id="228" dur="1" fill="hold">
                                          <p:stCondLst>
                                            <p:cond delay="0"/>
                                          </p:stCondLst>
                                        </p:cTn>
                                        <p:tgtEl>
                                          <p:spTgt spid="142"/>
                                        </p:tgtEl>
                                        <p:attrNameLst>
                                          <p:attrName>style.visibility</p:attrName>
                                        </p:attrNameLst>
                                      </p:cBhvr>
                                      <p:to>
                                        <p:strVal val="visible"/>
                                      </p:to>
                                    </p:set>
                                    <p:animEffect transition="in" filter="fade">
                                      <p:cBhvr>
                                        <p:cTn id="229" dur="500"/>
                                        <p:tgtEl>
                                          <p:spTgt spid="142"/>
                                        </p:tgtEl>
                                      </p:cBhvr>
                                    </p:animEffect>
                                  </p:childTnLst>
                                </p:cTn>
                              </p:par>
                              <p:par>
                                <p:cTn id="230" presetID="10" presetClass="entr" presetSubtype="0" fill="hold" nodeType="withEffect">
                                  <p:stCondLst>
                                    <p:cond delay="0"/>
                                  </p:stCondLst>
                                  <p:childTnLst>
                                    <p:set>
                                      <p:cBhvr>
                                        <p:cTn id="231" dur="1" fill="hold">
                                          <p:stCondLst>
                                            <p:cond delay="0"/>
                                          </p:stCondLst>
                                        </p:cTn>
                                        <p:tgtEl>
                                          <p:spTgt spid="145"/>
                                        </p:tgtEl>
                                        <p:attrNameLst>
                                          <p:attrName>style.visibility</p:attrName>
                                        </p:attrNameLst>
                                      </p:cBhvr>
                                      <p:to>
                                        <p:strVal val="visible"/>
                                      </p:to>
                                    </p:set>
                                    <p:animEffect transition="in" filter="fade">
                                      <p:cBhvr>
                                        <p:cTn id="232" dur="500"/>
                                        <p:tgtEl>
                                          <p:spTgt spid="145"/>
                                        </p:tgtEl>
                                      </p:cBhvr>
                                    </p:animEffect>
                                  </p:childTnLst>
                                </p:cTn>
                              </p:par>
                              <p:par>
                                <p:cTn id="233" presetID="10" presetClass="entr" presetSubtype="0" fill="hold" nodeType="withEffect">
                                  <p:stCondLst>
                                    <p:cond delay="0"/>
                                  </p:stCondLst>
                                  <p:childTnLst>
                                    <p:set>
                                      <p:cBhvr>
                                        <p:cTn id="234" dur="1" fill="hold">
                                          <p:stCondLst>
                                            <p:cond delay="0"/>
                                          </p:stCondLst>
                                        </p:cTn>
                                        <p:tgtEl>
                                          <p:spTgt spid="148"/>
                                        </p:tgtEl>
                                        <p:attrNameLst>
                                          <p:attrName>style.visibility</p:attrName>
                                        </p:attrNameLst>
                                      </p:cBhvr>
                                      <p:to>
                                        <p:strVal val="visible"/>
                                      </p:to>
                                    </p:set>
                                    <p:animEffect transition="in" filter="fade">
                                      <p:cBhvr>
                                        <p:cTn id="235" dur="500"/>
                                        <p:tgtEl>
                                          <p:spTgt spid="148"/>
                                        </p:tgtEl>
                                      </p:cBhvr>
                                    </p:animEffect>
                                  </p:childTnLst>
                                </p:cTn>
                              </p:par>
                              <p:par>
                                <p:cTn id="236" presetID="10" presetClass="entr" presetSubtype="0" fill="hold" nodeType="withEffect">
                                  <p:stCondLst>
                                    <p:cond delay="0"/>
                                  </p:stCondLst>
                                  <p:childTnLst>
                                    <p:set>
                                      <p:cBhvr>
                                        <p:cTn id="237" dur="1" fill="hold">
                                          <p:stCondLst>
                                            <p:cond delay="0"/>
                                          </p:stCondLst>
                                        </p:cTn>
                                        <p:tgtEl>
                                          <p:spTgt spid="151"/>
                                        </p:tgtEl>
                                        <p:attrNameLst>
                                          <p:attrName>style.visibility</p:attrName>
                                        </p:attrNameLst>
                                      </p:cBhvr>
                                      <p:to>
                                        <p:strVal val="visible"/>
                                      </p:to>
                                    </p:set>
                                    <p:animEffect transition="in" filter="fade">
                                      <p:cBhvr>
                                        <p:cTn id="238" dur="500"/>
                                        <p:tgtEl>
                                          <p:spTgt spid="151"/>
                                        </p:tgtEl>
                                      </p:cBhvr>
                                    </p:animEffect>
                                  </p:childTnLst>
                                </p:cTn>
                              </p:par>
                            </p:childTnLst>
                          </p:cTn>
                        </p:par>
                      </p:childTnLst>
                    </p:cTn>
                  </p:par>
                  <p:par>
                    <p:cTn id="239" fill="hold">
                      <p:stCondLst>
                        <p:cond delay="indefinite"/>
                      </p:stCondLst>
                      <p:childTnLst>
                        <p:par>
                          <p:cTn id="240" fill="hold">
                            <p:stCondLst>
                              <p:cond delay="0"/>
                            </p:stCondLst>
                            <p:childTnLst>
                              <p:par>
                                <p:cTn id="241" presetID="10" presetClass="entr" presetSubtype="0" fill="hold" grpId="0" nodeType="clickEffect">
                                  <p:stCondLst>
                                    <p:cond delay="0"/>
                                  </p:stCondLst>
                                  <p:childTnLst>
                                    <p:set>
                                      <p:cBhvr>
                                        <p:cTn id="242" dur="1" fill="hold">
                                          <p:stCondLst>
                                            <p:cond delay="0"/>
                                          </p:stCondLst>
                                        </p:cTn>
                                        <p:tgtEl>
                                          <p:spTgt spid="134"/>
                                        </p:tgtEl>
                                        <p:attrNameLst>
                                          <p:attrName>style.visibility</p:attrName>
                                        </p:attrNameLst>
                                      </p:cBhvr>
                                      <p:to>
                                        <p:strVal val="visible"/>
                                      </p:to>
                                    </p:set>
                                    <p:animEffect transition="in" filter="fade">
                                      <p:cBhvr>
                                        <p:cTn id="243" dur="500"/>
                                        <p:tgtEl>
                                          <p:spTgt spid="134"/>
                                        </p:tgtEl>
                                      </p:cBhvr>
                                    </p:animEffect>
                                  </p:childTnLst>
                                </p:cTn>
                              </p:par>
                              <p:par>
                                <p:cTn id="244" presetID="10" presetClass="entr" presetSubtype="0" fill="hold" nodeType="withEffect">
                                  <p:stCondLst>
                                    <p:cond delay="0"/>
                                  </p:stCondLst>
                                  <p:childTnLst>
                                    <p:set>
                                      <p:cBhvr>
                                        <p:cTn id="245" dur="1" fill="hold">
                                          <p:stCondLst>
                                            <p:cond delay="0"/>
                                          </p:stCondLst>
                                        </p:cTn>
                                        <p:tgtEl>
                                          <p:spTgt spid="135"/>
                                        </p:tgtEl>
                                        <p:attrNameLst>
                                          <p:attrName>style.visibility</p:attrName>
                                        </p:attrNameLst>
                                      </p:cBhvr>
                                      <p:to>
                                        <p:strVal val="visible"/>
                                      </p:to>
                                    </p:set>
                                    <p:animEffect transition="in" filter="fade">
                                      <p:cBhvr>
                                        <p:cTn id="246" dur="500"/>
                                        <p:tgtEl>
                                          <p:spTgt spid="135"/>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143"/>
                                        </p:tgtEl>
                                        <p:attrNameLst>
                                          <p:attrName>style.visibility</p:attrName>
                                        </p:attrNameLst>
                                      </p:cBhvr>
                                      <p:to>
                                        <p:strVal val="visible"/>
                                      </p:to>
                                    </p:set>
                                    <p:animEffect transition="in" filter="fade">
                                      <p:cBhvr>
                                        <p:cTn id="249"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9" grpId="0" animBg="1"/>
      <p:bldP spid="30" grpId="0" animBg="1"/>
      <p:bldP spid="31" grpId="0" animBg="1"/>
      <p:bldP spid="32" grpId="0" animBg="1"/>
      <p:bldP spid="33" grpId="0" animBg="1"/>
      <p:bldP spid="63" grpId="0" animBg="1"/>
      <p:bldP spid="97" grpId="0" animBg="1"/>
      <p:bldP spid="98" grpId="0" animBg="1"/>
      <p:bldP spid="99" grpId="0" animBg="1"/>
      <p:bldP spid="100" grpId="0" animBg="1"/>
      <p:bldP spid="101" grpId="0" animBg="1"/>
      <p:bldP spid="102" grpId="0" animBg="1"/>
      <p:bldP spid="107" grpId="0" animBg="1"/>
      <p:bldP spid="122" grpId="0" animBg="1"/>
      <p:bldP spid="123" grpId="0" animBg="1"/>
      <p:bldP spid="124" grpId="0" animBg="1"/>
      <p:bldP spid="125" grpId="0" animBg="1"/>
      <p:bldP spid="126" grpId="0" animBg="1"/>
      <p:bldP spid="136" grpId="0" animBg="1"/>
      <p:bldP spid="137" grpId="0" animBg="1"/>
      <p:bldP spid="138" grpId="0" animBg="1"/>
      <p:bldP spid="139" grpId="0" animBg="1"/>
      <p:bldP spid="140" grpId="0" animBg="1"/>
      <p:bldP spid="94" grpId="0" animBg="1"/>
      <p:bldP spid="106" grpId="0" animBg="1"/>
      <p:bldP spid="112" grpId="0" animBg="1"/>
      <p:bldP spid="115" grpId="0" animBg="1"/>
      <p:bldP spid="117" grpId="0" animBg="1"/>
      <p:bldP spid="104" grpId="0" animBg="1"/>
      <p:bldP spid="134" grpId="0" animBg="1"/>
      <p:bldP spid="143" grpId="0"/>
      <p:bldP spid="90" grpId="0" animBg="1"/>
      <p:bldP spid="91" grpId="0" animBg="1"/>
      <p:bldP spid="92" grpId="0" animBg="1"/>
      <p:bldP spid="93" grpId="0" animBg="1"/>
      <p:bldP spid="95" grpId="0" animBg="1"/>
      <p:bldP spid="150" grpId="0"/>
      <p:bldP spid="152" grpId="0"/>
      <p:bldP spid="15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BSaM</a:t>
            </a:r>
            <a:r>
              <a:rPr lang="en-US" dirty="0" smtClean="0"/>
              <a:t> High Level Process Flows</a:t>
            </a:r>
            <a:endParaRPr lang="en-US" dirty="0"/>
          </a:p>
        </p:txBody>
      </p:sp>
      <p:sp>
        <p:nvSpPr>
          <p:cNvPr id="4" name="Content Placeholder 3"/>
          <p:cNvSpPr>
            <a:spLocks noGrp="1"/>
          </p:cNvSpPr>
          <p:nvPr>
            <p:ph sz="quarter" idx="16"/>
          </p:nvPr>
        </p:nvSpPr>
        <p:spPr/>
        <p:txBody>
          <a:bodyPr/>
          <a:lstStyle/>
          <a:p>
            <a:pPr marL="342900" indent="-342900">
              <a:lnSpc>
                <a:spcPct val="80000"/>
              </a:lnSpc>
              <a:buFont typeface="+mj-lt"/>
              <a:buAutoNum type="arabicPeriod"/>
            </a:pPr>
            <a:r>
              <a:rPr lang="en-US" dirty="0" smtClean="0"/>
              <a:t>Order-to-Delivery Processes</a:t>
            </a:r>
          </a:p>
          <a:p>
            <a:pPr marL="512763" lvl="3" indent="-171450">
              <a:lnSpc>
                <a:spcPct val="80000"/>
              </a:lnSpc>
              <a:buFont typeface="Arial" pitchFamily="34" charset="0"/>
              <a:buChar char="•"/>
            </a:pPr>
            <a:r>
              <a:rPr lang="en-US" dirty="0" smtClean="0"/>
              <a:t>B Part Process</a:t>
            </a:r>
          </a:p>
          <a:p>
            <a:pPr marL="512763" lvl="3" indent="-171450">
              <a:lnSpc>
                <a:spcPct val="80000"/>
              </a:lnSpc>
              <a:buFont typeface="Arial" pitchFamily="34" charset="0"/>
              <a:buChar char="•"/>
            </a:pPr>
            <a:r>
              <a:rPr lang="en-US" dirty="0" smtClean="0"/>
              <a:t>A Part BTO Process</a:t>
            </a:r>
          </a:p>
          <a:p>
            <a:pPr marL="512763" lvl="3" indent="-171450">
              <a:lnSpc>
                <a:spcPct val="80000"/>
              </a:lnSpc>
              <a:buFont typeface="Arial" pitchFamily="34" charset="0"/>
              <a:buChar char="•"/>
            </a:pPr>
            <a:r>
              <a:rPr lang="en-US" dirty="0" smtClean="0"/>
              <a:t>A Part Build Trigger Process </a:t>
            </a:r>
          </a:p>
          <a:p>
            <a:pPr lvl="1">
              <a:lnSpc>
                <a:spcPct val="80000"/>
              </a:lnSpc>
            </a:pPr>
            <a:endParaRPr lang="en-US" sz="1200" dirty="0"/>
          </a:p>
          <a:p>
            <a:pPr marL="342900" indent="-342900">
              <a:lnSpc>
                <a:spcPct val="80000"/>
              </a:lnSpc>
              <a:buFont typeface="+mj-lt"/>
              <a:buAutoNum type="arabicPeriod"/>
            </a:pPr>
            <a:r>
              <a:rPr lang="en-US" dirty="0" smtClean="0"/>
              <a:t>PDM/BOM Structure</a:t>
            </a:r>
            <a:endParaRPr lang="en-US" dirty="0"/>
          </a:p>
          <a:p>
            <a:pPr marL="512763" lvl="3" indent="-171450">
              <a:lnSpc>
                <a:spcPct val="80000"/>
              </a:lnSpc>
              <a:buFont typeface="Arial" pitchFamily="34" charset="0"/>
              <a:buChar char="•"/>
            </a:pPr>
            <a:r>
              <a:rPr lang="en-US" dirty="0" smtClean="0"/>
              <a:t>BSaM PDM/BOM Approach</a:t>
            </a:r>
          </a:p>
          <a:p>
            <a:pPr marL="512763" lvl="3" indent="-171450">
              <a:lnSpc>
                <a:spcPct val="80000"/>
              </a:lnSpc>
              <a:buFont typeface="Arial" pitchFamily="34" charset="0"/>
              <a:buChar char="•"/>
            </a:pPr>
            <a:r>
              <a:rPr lang="en-US" dirty="0" smtClean="0"/>
              <a:t>BSaM AV for Cost Adjustment and Planning</a:t>
            </a:r>
          </a:p>
          <a:p>
            <a:pPr lvl="1">
              <a:lnSpc>
                <a:spcPct val="80000"/>
              </a:lnSpc>
            </a:pPr>
            <a:endParaRPr lang="en-US" sz="1200" dirty="0"/>
          </a:p>
          <a:p>
            <a:pPr marL="342900" indent="-342900">
              <a:lnSpc>
                <a:spcPct val="80000"/>
              </a:lnSpc>
              <a:buFont typeface="+mj-lt"/>
              <a:buAutoNum type="arabicPeriod"/>
            </a:pPr>
            <a:r>
              <a:rPr lang="en-US" dirty="0"/>
              <a:t>Planning</a:t>
            </a:r>
          </a:p>
          <a:p>
            <a:pPr marL="512763" lvl="3" indent="-171450">
              <a:lnSpc>
                <a:spcPct val="80000"/>
              </a:lnSpc>
              <a:buFont typeface="Arial" pitchFamily="34" charset="0"/>
              <a:buChar char="•"/>
            </a:pPr>
            <a:r>
              <a:rPr lang="en-US" dirty="0"/>
              <a:t>A Part and B Part Planning </a:t>
            </a:r>
            <a:r>
              <a:rPr lang="en-US" dirty="0" smtClean="0"/>
              <a:t>Process</a:t>
            </a:r>
          </a:p>
          <a:p>
            <a:pPr marL="512763" lvl="3" indent="-171450">
              <a:lnSpc>
                <a:spcPct val="80000"/>
              </a:lnSpc>
              <a:buFont typeface="Arial" pitchFamily="34" charset="0"/>
              <a:buChar char="•"/>
            </a:pPr>
            <a:endParaRPr lang="en-US" dirty="0" smtClean="0"/>
          </a:p>
          <a:p>
            <a:pPr marL="342900" indent="-342900">
              <a:lnSpc>
                <a:spcPct val="80000"/>
              </a:lnSpc>
              <a:buFont typeface="+mj-lt"/>
              <a:buAutoNum type="arabicPeriod"/>
            </a:pPr>
            <a:r>
              <a:rPr lang="en-US" dirty="0" smtClean="0"/>
              <a:t>Production Grouping Process</a:t>
            </a:r>
          </a:p>
          <a:p>
            <a:pPr marL="512763" lvl="3" indent="-171450">
              <a:lnSpc>
                <a:spcPct val="80000"/>
              </a:lnSpc>
              <a:buFont typeface="Arial" pitchFamily="34" charset="0"/>
              <a:buChar char="•"/>
            </a:pPr>
            <a:r>
              <a:rPr lang="en-US" dirty="0" smtClean="0"/>
              <a:t>Bulk Packaging Order Grouping</a:t>
            </a:r>
          </a:p>
          <a:p>
            <a:pPr marL="512763" lvl="3" indent="-171450">
              <a:lnSpc>
                <a:spcPct val="80000"/>
              </a:lnSpc>
              <a:buFont typeface="Arial" pitchFamily="34" charset="0"/>
              <a:buChar char="•"/>
            </a:pPr>
            <a:endParaRPr lang="en-US" sz="1200" dirty="0" smtClean="0"/>
          </a:p>
          <a:p>
            <a:pPr marL="512763" lvl="3" indent="-171450">
              <a:lnSpc>
                <a:spcPct val="80000"/>
              </a:lnSpc>
              <a:buFont typeface="Arial" pitchFamily="34" charset="0"/>
              <a:buChar char="•"/>
            </a:pPr>
            <a:endParaRPr lang="en-US" sz="1200" dirty="0"/>
          </a:p>
          <a:p>
            <a:pPr marL="512763" lvl="3" indent="-171450">
              <a:lnSpc>
                <a:spcPct val="80000"/>
              </a:lnSpc>
              <a:buFont typeface="Arial" pitchFamily="34" charset="0"/>
              <a:buChar char="•"/>
            </a:pPr>
            <a:endParaRPr lang="en-US" sz="1200" dirty="0"/>
          </a:p>
        </p:txBody>
      </p:sp>
      <p:sp>
        <p:nvSpPr>
          <p:cNvPr id="5" name="Content Placeholder 4"/>
          <p:cNvSpPr>
            <a:spLocks noGrp="1"/>
          </p:cNvSpPr>
          <p:nvPr>
            <p:ph sz="quarter" idx="17"/>
          </p:nvPr>
        </p:nvSpPr>
        <p:spPr/>
        <p:txBody>
          <a:bodyPr/>
          <a:lstStyle/>
          <a:p>
            <a:pPr marL="342900" indent="-342900">
              <a:lnSpc>
                <a:spcPct val="80000"/>
              </a:lnSpc>
              <a:buFont typeface="+mj-lt"/>
              <a:buAutoNum type="arabicPeriod" startAt="5"/>
            </a:pPr>
            <a:r>
              <a:rPr lang="en-US" dirty="0" smtClean="0"/>
              <a:t>BSaM Build Trigger Process</a:t>
            </a:r>
            <a:endParaRPr lang="en-US" dirty="0"/>
          </a:p>
          <a:p>
            <a:pPr marL="512763" lvl="3" indent="-171450">
              <a:lnSpc>
                <a:spcPct val="80000"/>
              </a:lnSpc>
              <a:buFont typeface="Arial" pitchFamily="34" charset="0"/>
              <a:buChar char="•"/>
            </a:pPr>
            <a:r>
              <a:rPr lang="en-US" dirty="0" smtClean="0"/>
              <a:t>Build Trigger PO instead of Customer PO</a:t>
            </a:r>
          </a:p>
          <a:p>
            <a:pPr marL="512763" lvl="3" indent="-171450">
              <a:lnSpc>
                <a:spcPct val="80000"/>
              </a:lnSpc>
              <a:buFont typeface="Arial" pitchFamily="34" charset="0"/>
              <a:buChar char="•"/>
            </a:pPr>
            <a:r>
              <a:rPr lang="en-US" dirty="0" smtClean="0"/>
              <a:t>RSD and Performance Measurement</a:t>
            </a:r>
          </a:p>
          <a:p>
            <a:pPr lvl="1">
              <a:lnSpc>
                <a:spcPct val="80000"/>
              </a:lnSpc>
            </a:pPr>
            <a:endParaRPr lang="en-US" sz="1200" dirty="0" smtClean="0"/>
          </a:p>
          <a:p>
            <a:pPr lvl="1">
              <a:lnSpc>
                <a:spcPct val="80000"/>
              </a:lnSpc>
            </a:pPr>
            <a:endParaRPr lang="en-US" sz="1200" dirty="0" smtClean="0"/>
          </a:p>
          <a:p>
            <a:pPr marL="342900" indent="-342900">
              <a:lnSpc>
                <a:spcPct val="80000"/>
              </a:lnSpc>
              <a:buFont typeface="+mj-lt"/>
              <a:buAutoNum type="arabicPeriod" startAt="5"/>
            </a:pPr>
            <a:r>
              <a:rPr lang="en-US" dirty="0" smtClean="0"/>
              <a:t>Full Unit Test Process</a:t>
            </a:r>
            <a:endParaRPr lang="en-US" dirty="0"/>
          </a:p>
          <a:p>
            <a:pPr marL="512763" lvl="3" indent="-171450">
              <a:lnSpc>
                <a:spcPct val="80000"/>
              </a:lnSpc>
              <a:buFont typeface="Arial" pitchFamily="34" charset="0"/>
              <a:buChar char="•"/>
            </a:pPr>
            <a:r>
              <a:rPr lang="en-US" dirty="0" smtClean="0"/>
              <a:t>NB Full Unit Testing using Temp Battery</a:t>
            </a:r>
            <a:endParaRPr lang="en-US" dirty="0"/>
          </a:p>
          <a:p>
            <a:pPr lvl="1">
              <a:lnSpc>
                <a:spcPct val="80000"/>
              </a:lnSpc>
            </a:pPr>
            <a:endParaRPr lang="en-US" sz="1200" dirty="0"/>
          </a:p>
          <a:p>
            <a:pPr marL="342900" indent="-342900">
              <a:lnSpc>
                <a:spcPct val="80000"/>
              </a:lnSpc>
              <a:buFont typeface="+mj-lt"/>
              <a:buAutoNum type="arabicPeriod" startAt="5"/>
            </a:pPr>
            <a:r>
              <a:rPr lang="en-US" dirty="0" smtClean="0"/>
              <a:t>B Part Process</a:t>
            </a:r>
            <a:endParaRPr lang="en-US" dirty="0"/>
          </a:p>
          <a:p>
            <a:pPr marL="512763" lvl="3" indent="-171450">
              <a:lnSpc>
                <a:spcPct val="80000"/>
              </a:lnSpc>
              <a:buFont typeface="Arial" pitchFamily="34" charset="0"/>
              <a:buChar char="•"/>
            </a:pPr>
            <a:r>
              <a:rPr lang="en-US" dirty="0" smtClean="0"/>
              <a:t>Supplier VMI Model vs. ODM HOI Model</a:t>
            </a:r>
          </a:p>
          <a:p>
            <a:pPr marL="512763" lvl="3" indent="-171450">
              <a:lnSpc>
                <a:spcPct val="80000"/>
              </a:lnSpc>
              <a:buFont typeface="Arial" pitchFamily="34" charset="0"/>
              <a:buChar char="•"/>
            </a:pPr>
            <a:r>
              <a:rPr lang="en-US" dirty="0" smtClean="0"/>
              <a:t>Process required for Exception Contingency</a:t>
            </a:r>
          </a:p>
          <a:p>
            <a:pPr marL="512763" lvl="3" indent="-171450">
              <a:lnSpc>
                <a:spcPct val="80000"/>
              </a:lnSpc>
              <a:buFont typeface="Arial" pitchFamily="34" charset="0"/>
              <a:buChar char="•"/>
            </a:pPr>
            <a:endParaRPr lang="en-US" dirty="0"/>
          </a:p>
          <a:p>
            <a:pPr marL="342900" indent="-342900">
              <a:lnSpc>
                <a:spcPct val="80000"/>
              </a:lnSpc>
              <a:buFont typeface="+mj-lt"/>
              <a:buAutoNum type="arabicPeriod" startAt="5"/>
            </a:pPr>
            <a:r>
              <a:rPr lang="en-US" dirty="0" smtClean="0"/>
              <a:t>Outbound Operation &amp; Logistics</a:t>
            </a:r>
            <a:endParaRPr lang="en-US" dirty="0"/>
          </a:p>
          <a:p>
            <a:pPr marL="512763" lvl="3" indent="-171450">
              <a:lnSpc>
                <a:spcPct val="80000"/>
              </a:lnSpc>
              <a:buFont typeface="Arial" pitchFamily="34" charset="0"/>
              <a:buChar char="•"/>
            </a:pPr>
            <a:r>
              <a:rPr lang="en-US" dirty="0" smtClean="0"/>
              <a:t>Utilize of  IDS HVLS and RCTO processes</a:t>
            </a:r>
          </a:p>
        </p:txBody>
      </p:sp>
      <p:sp>
        <p:nvSpPr>
          <p:cNvPr id="2" name="Subtitle 1"/>
          <p:cNvSpPr>
            <a:spLocks noGrp="1"/>
          </p:cNvSpPr>
          <p:nvPr>
            <p:ph type="subTitle" idx="1"/>
          </p:nvPr>
        </p:nvSpPr>
        <p:spPr/>
        <p:txBody>
          <a:bodyPr/>
          <a:lstStyle/>
          <a:p>
            <a:r>
              <a:rPr lang="en-US" dirty="0" smtClean="0"/>
              <a:t> </a:t>
            </a:r>
            <a:endParaRPr lang="en-US" dirty="0"/>
          </a:p>
        </p:txBody>
      </p:sp>
      <p:sp>
        <p:nvSpPr>
          <p:cNvPr id="6" name="Rounded Rectangle 5"/>
          <p:cNvSpPr/>
          <p:nvPr/>
        </p:nvSpPr>
        <p:spPr>
          <a:xfrm>
            <a:off x="266700" y="2238276"/>
            <a:ext cx="4015740" cy="350520"/>
          </a:xfrm>
          <a:prstGeom prst="round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18</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4872070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p:cNvSpPr>
            <a:spLocks noGrp="1"/>
          </p:cNvSpPr>
          <p:nvPr>
            <p:ph type="subTitle" idx="1"/>
          </p:nvPr>
        </p:nvSpPr>
        <p:spPr/>
        <p:txBody>
          <a:bodyPr/>
          <a:lstStyle/>
          <a:p>
            <a:r>
              <a:rPr lang="en-US" dirty="0" smtClean="0"/>
              <a:t> </a:t>
            </a:r>
            <a:endParaRPr lang="en-US" dirty="0"/>
          </a:p>
        </p:txBody>
      </p:sp>
      <p:sp>
        <p:nvSpPr>
          <p:cNvPr id="8" name="Title 7"/>
          <p:cNvSpPr>
            <a:spLocks noGrp="1"/>
          </p:cNvSpPr>
          <p:nvPr>
            <p:ph type="title"/>
          </p:nvPr>
        </p:nvSpPr>
        <p:spPr/>
        <p:txBody>
          <a:bodyPr/>
          <a:lstStyle/>
          <a:p>
            <a:r>
              <a:rPr lang="en-US" dirty="0" smtClean="0"/>
              <a:t>PDM BOM Related Processes</a:t>
            </a:r>
            <a:endParaRPr lang="en-US" dirty="0"/>
          </a:p>
        </p:txBody>
      </p:sp>
      <p:sp>
        <p:nvSpPr>
          <p:cNvPr id="10" name="Content Placeholder 9"/>
          <p:cNvSpPr>
            <a:spLocks noGrp="1"/>
          </p:cNvSpPr>
          <p:nvPr>
            <p:ph sz="quarter" idx="10"/>
          </p:nvPr>
        </p:nvSpPr>
        <p:spPr/>
        <p:txBody>
          <a:bodyPr/>
          <a:lstStyle/>
          <a:p>
            <a:pPr marL="285750" indent="-285750">
              <a:buFont typeface="Arial" pitchFamily="34" charset="0"/>
              <a:buChar char="•"/>
            </a:pPr>
            <a:r>
              <a:rPr lang="en-US" dirty="0" smtClean="0"/>
              <a:t>2 SKU BOM Approach</a:t>
            </a:r>
          </a:p>
          <a:p>
            <a:pPr lvl="3" indent="0">
              <a:buNone/>
            </a:pPr>
            <a:r>
              <a:rPr lang="en-US" b="0" dirty="0" smtClean="0">
                <a:solidFill>
                  <a:schemeClr val="tx1"/>
                </a:solidFill>
              </a:rPr>
              <a:t>When a new PDM/BOM is developed for IDS, HP will have systemic capability to generate an additional SKU BOM for BSaM.  The initial IDS BOM will be for the “C” BTO Part Number, and the additional SKU BOM will be for the “A” BTO Part Number.  HP will relay both PDM/BOM information (just as is conducted today) but with an indicator if a specific BOM is for the BSaM “A” Part.  The “A” Part is a non-sellable SKU; Customers will not be able to order “A” Part SKUs as finished goods and will need to order “C” FGs.  ODM will be expected to support both SKUs.</a:t>
            </a:r>
          </a:p>
          <a:p>
            <a:pPr marL="627063" lvl="3" indent="-285750">
              <a:buFont typeface="Arial" pitchFamily="34" charset="0"/>
              <a:buChar char="•"/>
            </a:pPr>
            <a:endParaRPr lang="en-US" dirty="0" smtClean="0">
              <a:solidFill>
                <a:schemeClr val="tx1"/>
              </a:solidFill>
            </a:endParaRPr>
          </a:p>
          <a:p>
            <a:pPr marL="285750" indent="-285750">
              <a:buFont typeface="Arial" pitchFamily="34" charset="0"/>
              <a:buChar char="•"/>
            </a:pPr>
            <a:r>
              <a:rPr lang="en-US" dirty="0" smtClean="0"/>
              <a:t>Unique BSaM AV &amp; IDS AV</a:t>
            </a:r>
            <a:endParaRPr lang="en-US" dirty="0"/>
          </a:p>
          <a:p>
            <a:pPr lvl="3" indent="0">
              <a:buNone/>
            </a:pPr>
            <a:r>
              <a:rPr lang="en-US" dirty="0" smtClean="0">
                <a:solidFill>
                  <a:schemeClr val="tx1"/>
                </a:solidFill>
              </a:rPr>
              <a:t>The “A” Part BOM will contain a unique BSaM AV for the purpose of cost adjustment and material (as bulk box and related labels) required just for BSaM.  The  IDS “C” BOM will be adjusted to have a unique IDS AV.  IDS specific material will be positioned under this IDS AV.</a:t>
            </a:r>
          </a:p>
          <a:p>
            <a:pPr lvl="3" indent="0">
              <a:buNone/>
            </a:pPr>
            <a:r>
              <a:rPr lang="en-US" dirty="0" smtClean="0">
                <a:solidFill>
                  <a:schemeClr val="tx1"/>
                </a:solidFill>
              </a:rPr>
              <a:t>Separate from production, these AV’s </a:t>
            </a:r>
            <a:r>
              <a:rPr lang="en-US" dirty="0">
                <a:solidFill>
                  <a:schemeClr val="tx1"/>
                </a:solidFill>
              </a:rPr>
              <a:t>will also be used for Planning/Forecasting purposes so that the ODM will be able to determine the BSaM volume compared to </a:t>
            </a:r>
            <a:r>
              <a:rPr lang="en-US" dirty="0" smtClean="0">
                <a:solidFill>
                  <a:schemeClr val="tx1"/>
                </a:solidFill>
              </a:rPr>
              <a:t>IDS for appropriate supply positioning. </a:t>
            </a:r>
            <a:endParaRPr lang="en-US" b="0" dirty="0">
              <a:solidFill>
                <a:schemeClr val="tx1"/>
              </a:solidFill>
            </a:endParaRPr>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19</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9557267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p:cNvSpPr/>
          <p:nvPr/>
        </p:nvSpPr>
        <p:spPr>
          <a:xfrm>
            <a:off x="1088595" y="1200153"/>
            <a:ext cx="2841171" cy="3509008"/>
          </a:xfrm>
          <a:prstGeom prst="roundRect">
            <a:avLst>
              <a:gd name="adj" fmla="val 8238"/>
            </a:avLst>
          </a:prstGeom>
          <a:solidFill>
            <a:srgbClr val="008000">
              <a:alpha val="52000"/>
            </a:srgbClr>
          </a:solidFill>
          <a:ln>
            <a:solidFill>
              <a:schemeClr val="tx1"/>
            </a:solidFill>
          </a:ln>
          <a:scene3d>
            <a:camera prst="orthographicFront"/>
            <a:lightRig rig="threePt" dir="t"/>
          </a:scene3d>
          <a:sp3d prstMaterial="metal">
            <a:bevelT w="127000" h="127000"/>
            <a:bevelB w="127000" h="127000"/>
          </a:sp3d>
        </p:spPr>
        <p:style>
          <a:lnRef idx="2">
            <a:schemeClr val="accent1">
              <a:shade val="50000"/>
            </a:schemeClr>
          </a:lnRef>
          <a:fillRef idx="1">
            <a:schemeClr val="accent1"/>
          </a:fillRef>
          <a:effectRef idx="0">
            <a:schemeClr val="accent1"/>
          </a:effectRef>
          <a:fontRef idx="minor">
            <a:schemeClr val="lt1"/>
          </a:fontRef>
        </p:style>
        <p:txBody>
          <a:bodyPr lIns="91440" tIns="18288" rtlCol="0" anchor="t"/>
          <a:lstStyle/>
          <a:p>
            <a:pPr algn="ctr" fontAlgn="base">
              <a:spcBef>
                <a:spcPct val="0"/>
              </a:spcBef>
              <a:spcAft>
                <a:spcPct val="0"/>
              </a:spcAft>
              <a:defRPr/>
            </a:pPr>
            <a:r>
              <a:rPr lang="en-US" sz="2000" b="1" dirty="0" smtClean="0">
                <a:solidFill>
                  <a:prstClr val="black"/>
                </a:solidFill>
                <a:latin typeface="Calibri" pitchFamily="34" charset="0"/>
                <a:cs typeface="Calibri" pitchFamily="34" charset="0"/>
              </a:rPr>
              <a:t>“C” Finished Good SKU </a:t>
            </a:r>
            <a:endParaRPr lang="en-US" sz="1400" dirty="0">
              <a:solidFill>
                <a:prstClr val="black"/>
              </a:solidFill>
              <a:latin typeface="Calibri" pitchFamily="34" charset="0"/>
              <a:cs typeface="Calibri" pitchFamily="34" charset="0"/>
            </a:endParaRPr>
          </a:p>
        </p:txBody>
      </p:sp>
      <p:sp>
        <p:nvSpPr>
          <p:cNvPr id="3" name="Title 2"/>
          <p:cNvSpPr>
            <a:spLocks noGrp="1"/>
          </p:cNvSpPr>
          <p:nvPr>
            <p:ph type="title"/>
          </p:nvPr>
        </p:nvSpPr>
        <p:spPr/>
        <p:txBody>
          <a:bodyPr/>
          <a:lstStyle/>
          <a:p>
            <a:r>
              <a:rPr lang="en-US" dirty="0" smtClean="0"/>
              <a:t>BSaM Terminology: A + B = C</a:t>
            </a:r>
            <a:endParaRPr lang="en-US" dirty="0"/>
          </a:p>
        </p:txBody>
      </p:sp>
      <p:sp>
        <p:nvSpPr>
          <p:cNvPr id="11" name="Content Placeholder 14"/>
          <p:cNvSpPr txBox="1">
            <a:spLocks/>
          </p:cNvSpPr>
          <p:nvPr/>
        </p:nvSpPr>
        <p:spPr>
          <a:xfrm>
            <a:off x="4648200" y="1200151"/>
            <a:ext cx="4038600" cy="3394472"/>
          </a:xfrm>
          <a:prstGeom prst="rect">
            <a:avLst/>
          </a:prstGeom>
        </p:spPr>
        <p:txBody>
          <a:bodyPr/>
          <a:lstStyle/>
          <a:p>
            <a:pPr marL="342900" indent="-342900" defTabSz="914400" eaLnBrk="0" fontAlgn="base" hangingPunct="0">
              <a:spcBef>
                <a:spcPct val="20000"/>
              </a:spcBef>
              <a:spcAft>
                <a:spcPct val="0"/>
              </a:spcAft>
              <a:buFont typeface="Arial" charset="0"/>
              <a:buChar char="•"/>
              <a:defRPr/>
            </a:pPr>
            <a:r>
              <a:rPr lang="en-US" sz="1400" b="1" dirty="0" smtClean="0">
                <a:solidFill>
                  <a:prstClr val="black"/>
                </a:solidFill>
                <a:latin typeface="Futura Bk" pitchFamily="34" charset="0"/>
              </a:rPr>
              <a:t>“C” Finished Good SKU</a:t>
            </a:r>
          </a:p>
          <a:p>
            <a:pPr marL="342900" indent="-342900" defTabSz="914400" eaLnBrk="0" fontAlgn="base" hangingPunct="0">
              <a:spcBef>
                <a:spcPct val="20000"/>
              </a:spcBef>
              <a:spcAft>
                <a:spcPct val="0"/>
              </a:spcAft>
              <a:defRPr/>
            </a:pPr>
            <a:r>
              <a:rPr lang="en-US" sz="1400" dirty="0" smtClean="0">
                <a:solidFill>
                  <a:prstClr val="black"/>
                </a:solidFill>
                <a:latin typeface="Futura Bk" pitchFamily="34" charset="0"/>
              </a:rPr>
              <a:t>	Represents the BTO finished good SKU that will be offered to HP Customers.</a:t>
            </a:r>
          </a:p>
          <a:p>
            <a:pPr marL="342900" indent="-342900" defTabSz="914400" eaLnBrk="0" fontAlgn="base" hangingPunct="0">
              <a:spcBef>
                <a:spcPct val="20000"/>
              </a:spcBef>
              <a:spcAft>
                <a:spcPct val="0"/>
              </a:spcAft>
              <a:buFont typeface="Arial" charset="0"/>
              <a:buChar char="•"/>
              <a:defRPr/>
            </a:pPr>
            <a:endParaRPr lang="en-US" sz="1400" dirty="0" smtClean="0">
              <a:solidFill>
                <a:prstClr val="black"/>
              </a:solidFill>
              <a:latin typeface="Futura Bk" pitchFamily="34" charset="0"/>
            </a:endParaRPr>
          </a:p>
          <a:p>
            <a:pPr marL="342900" indent="-342900" defTabSz="914400" eaLnBrk="0" fontAlgn="base" hangingPunct="0">
              <a:spcBef>
                <a:spcPct val="20000"/>
              </a:spcBef>
              <a:spcAft>
                <a:spcPct val="0"/>
              </a:spcAft>
              <a:buFont typeface="Arial" charset="0"/>
              <a:buChar char="•"/>
              <a:defRPr/>
            </a:pPr>
            <a:r>
              <a:rPr lang="en-US" sz="1400" b="1" dirty="0" smtClean="0">
                <a:solidFill>
                  <a:prstClr val="black"/>
                </a:solidFill>
                <a:latin typeface="Futura Bk" pitchFamily="34" charset="0"/>
              </a:rPr>
              <a:t>“A” Part</a:t>
            </a:r>
          </a:p>
          <a:p>
            <a:pPr marL="342900" indent="-342900" defTabSz="914400" eaLnBrk="0" fontAlgn="base" hangingPunct="0">
              <a:spcBef>
                <a:spcPct val="20000"/>
              </a:spcBef>
              <a:spcAft>
                <a:spcPct val="0"/>
              </a:spcAft>
              <a:defRPr/>
            </a:pPr>
            <a:r>
              <a:rPr lang="en-US" sz="1400" dirty="0" smtClean="0">
                <a:solidFill>
                  <a:prstClr val="black"/>
                </a:solidFill>
                <a:latin typeface="Futura Bk" pitchFamily="34" charset="0"/>
              </a:rPr>
              <a:t>	Represents the portion of the NB finished good that will be produced by the ODM.  Does not include B Parts.</a:t>
            </a:r>
          </a:p>
          <a:p>
            <a:pPr marL="342900" indent="-342900" defTabSz="914400" eaLnBrk="0" fontAlgn="base" hangingPunct="0">
              <a:spcBef>
                <a:spcPct val="20000"/>
              </a:spcBef>
              <a:spcAft>
                <a:spcPct val="0"/>
              </a:spcAft>
              <a:defRPr/>
            </a:pPr>
            <a:endParaRPr lang="en-US" sz="1400" dirty="0" smtClean="0">
              <a:solidFill>
                <a:prstClr val="black"/>
              </a:solidFill>
              <a:latin typeface="Futura Bk" pitchFamily="34" charset="0"/>
            </a:endParaRPr>
          </a:p>
          <a:p>
            <a:pPr marL="342900" indent="-342900" defTabSz="914400" eaLnBrk="0" fontAlgn="base" hangingPunct="0">
              <a:spcBef>
                <a:spcPct val="20000"/>
              </a:spcBef>
              <a:spcAft>
                <a:spcPct val="0"/>
              </a:spcAft>
              <a:buFont typeface="Arial" pitchFamily="34" charset="0"/>
              <a:buChar char="•"/>
              <a:defRPr/>
            </a:pPr>
            <a:r>
              <a:rPr lang="en-US" sz="1400" b="1" dirty="0" smtClean="0">
                <a:solidFill>
                  <a:prstClr val="black"/>
                </a:solidFill>
                <a:latin typeface="Futura Bk" pitchFamily="34" charset="0"/>
              </a:rPr>
              <a:t>“B” Parts</a:t>
            </a:r>
          </a:p>
          <a:p>
            <a:pPr marL="342900" indent="-342900" defTabSz="914400" eaLnBrk="0" fontAlgn="base" hangingPunct="0">
              <a:spcBef>
                <a:spcPct val="20000"/>
              </a:spcBef>
              <a:spcAft>
                <a:spcPct val="0"/>
              </a:spcAft>
              <a:defRPr/>
            </a:pPr>
            <a:r>
              <a:rPr lang="en-US" sz="1400" dirty="0" smtClean="0">
                <a:solidFill>
                  <a:prstClr val="black"/>
                </a:solidFill>
                <a:latin typeface="Futura Bk" pitchFamily="34" charset="0"/>
              </a:rPr>
              <a:t>	Postponement parts that will be positioned at the PCC (Postponement Merge Location) prior to A Parts being ordered and shipped.  B parts will consist of Battery, AC Adapter, Power Cords and selected DIBs. </a:t>
            </a:r>
            <a:endParaRPr lang="en-US" sz="1400" dirty="0">
              <a:solidFill>
                <a:prstClr val="black"/>
              </a:solidFill>
              <a:latin typeface="Futura Bk" pitchFamily="34" charset="0"/>
            </a:endParaRPr>
          </a:p>
        </p:txBody>
      </p:sp>
      <p:sp>
        <p:nvSpPr>
          <p:cNvPr id="13" name="TextBox 12"/>
          <p:cNvSpPr txBox="1"/>
          <p:nvPr/>
        </p:nvSpPr>
        <p:spPr>
          <a:xfrm>
            <a:off x="1263523" y="3696248"/>
            <a:ext cx="2437631" cy="877163"/>
          </a:xfrm>
          <a:prstGeom prst="rect">
            <a:avLst/>
          </a:prstGeom>
          <a:solidFill>
            <a:srgbClr val="00B0F0"/>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a:spAutoFit/>
          </a:bodyPr>
          <a:lstStyle/>
          <a:p>
            <a:pPr fontAlgn="base">
              <a:spcBef>
                <a:spcPct val="0"/>
              </a:spcBef>
              <a:spcAft>
                <a:spcPct val="0"/>
              </a:spcAft>
              <a:tabLst>
                <a:tab pos="1433513" algn="l"/>
              </a:tabLst>
              <a:defRPr/>
            </a:pPr>
            <a:r>
              <a:rPr lang="en-US" b="1" dirty="0" smtClean="0">
                <a:solidFill>
                  <a:prstClr val="black"/>
                </a:solidFill>
                <a:latin typeface="Calibri" pitchFamily="34" charset="0"/>
                <a:cs typeface="Calibri" pitchFamily="34" charset="0"/>
              </a:rPr>
              <a:t>“B” Parts </a:t>
            </a:r>
            <a:r>
              <a:rPr lang="en-US" sz="1100" b="1" dirty="0" smtClean="0">
                <a:solidFill>
                  <a:prstClr val="black"/>
                </a:solidFill>
                <a:latin typeface="Calibri" pitchFamily="34" charset="0"/>
                <a:cs typeface="Calibri" pitchFamily="34" charset="0"/>
              </a:rPr>
              <a:t> (Postponement Parts)</a:t>
            </a:r>
          </a:p>
          <a:p>
            <a:pPr marL="174625" indent="-120650" fontAlgn="base">
              <a:spcBef>
                <a:spcPct val="0"/>
              </a:spcBef>
              <a:spcAft>
                <a:spcPct val="0"/>
              </a:spcAft>
              <a:buFont typeface="Arial" pitchFamily="34" charset="0"/>
              <a:buChar char="•"/>
              <a:tabLst>
                <a:tab pos="1433513" algn="l"/>
              </a:tabLst>
              <a:defRPr/>
            </a:pPr>
            <a:r>
              <a:rPr lang="en-US" sz="1100" b="1" dirty="0" smtClean="0">
                <a:solidFill>
                  <a:prstClr val="black"/>
                </a:solidFill>
                <a:latin typeface="Calibri" pitchFamily="34" charset="0"/>
                <a:cs typeface="Calibri" pitchFamily="34" charset="0"/>
              </a:rPr>
              <a:t>Battery		AV10</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defRPr/>
            </a:pPr>
            <a:r>
              <a:rPr lang="en-US" sz="1100" b="1" dirty="0">
                <a:solidFill>
                  <a:prstClr val="black"/>
                </a:solidFill>
                <a:latin typeface="Calibri" pitchFamily="34" charset="0"/>
                <a:cs typeface="Calibri" pitchFamily="34" charset="0"/>
              </a:rPr>
              <a:t>AC </a:t>
            </a:r>
            <a:r>
              <a:rPr lang="en-US" sz="1100" b="1" dirty="0" smtClean="0">
                <a:solidFill>
                  <a:prstClr val="black"/>
                </a:solidFill>
                <a:latin typeface="Calibri" pitchFamily="34" charset="0"/>
                <a:cs typeface="Calibri" pitchFamily="34" charset="0"/>
              </a:rPr>
              <a:t>Adapter + Cord</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AV11</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defRPr/>
            </a:pPr>
            <a:r>
              <a:rPr lang="en-US" sz="1100" b="1" dirty="0" smtClean="0">
                <a:solidFill>
                  <a:prstClr val="black"/>
                </a:solidFill>
                <a:latin typeface="Calibri" pitchFamily="34" charset="0"/>
                <a:cs typeface="Calibri" pitchFamily="34" charset="0"/>
              </a:rPr>
              <a:t>DIBs		</a:t>
            </a:r>
            <a:r>
              <a:rPr lang="en-US" sz="1100" b="1" dirty="0" err="1" smtClean="0">
                <a:solidFill>
                  <a:prstClr val="black"/>
                </a:solidFill>
                <a:latin typeface="Calibri" pitchFamily="34" charset="0"/>
                <a:cs typeface="Calibri" pitchFamily="34" charset="0"/>
              </a:rPr>
              <a:t>AVy</a:t>
            </a:r>
            <a:endParaRPr lang="en-US" sz="1100" b="1" dirty="0">
              <a:solidFill>
                <a:prstClr val="black"/>
              </a:solidFill>
              <a:latin typeface="Calibri" pitchFamily="34" charset="0"/>
              <a:cs typeface="Calibri" pitchFamily="34" charset="0"/>
            </a:endParaRPr>
          </a:p>
        </p:txBody>
      </p:sp>
      <p:sp>
        <p:nvSpPr>
          <p:cNvPr id="14" name="TextBox 35"/>
          <p:cNvSpPr txBox="1">
            <a:spLocks noChangeArrowheads="1"/>
          </p:cNvSpPr>
          <p:nvPr/>
        </p:nvSpPr>
        <p:spPr bwMode="auto">
          <a:xfrm>
            <a:off x="1267456" y="1675310"/>
            <a:ext cx="2433694" cy="1923604"/>
          </a:xfrm>
          <a:prstGeom prst="rect">
            <a:avLst/>
          </a:prstGeom>
          <a:solidFill>
            <a:srgbClr val="FF0000"/>
          </a:solidFill>
          <a:ln>
            <a:noFill/>
            <a:headEnd/>
            <a:tailEnd/>
          </a:ln>
        </p:spPr>
        <p:style>
          <a:lnRef idx="2">
            <a:schemeClr val="accent3">
              <a:shade val="50000"/>
            </a:schemeClr>
          </a:lnRef>
          <a:fillRef idx="1">
            <a:schemeClr val="accent3"/>
          </a:fillRef>
          <a:effectRef idx="0">
            <a:schemeClr val="accent3"/>
          </a:effectRef>
          <a:fontRef idx="minor">
            <a:schemeClr val="lt1"/>
          </a:fontRef>
        </p:style>
        <p:txBody>
          <a:bodyPr wrap="square" anchor="b">
            <a:spAutoFit/>
          </a:bodyPr>
          <a:lstStyle/>
          <a:p>
            <a:pPr fontAlgn="base">
              <a:spcBef>
                <a:spcPct val="0"/>
              </a:spcBef>
              <a:spcAft>
                <a:spcPct val="0"/>
              </a:spcAft>
              <a:tabLst>
                <a:tab pos="1433513" algn="l"/>
              </a:tabLst>
            </a:pPr>
            <a:r>
              <a:rPr lang="en-US" sz="2000" b="1" dirty="0" smtClean="0">
                <a:solidFill>
                  <a:prstClr val="black"/>
                </a:solidFill>
                <a:latin typeface="Calibri" pitchFamily="34" charset="0"/>
                <a:cs typeface="Calibri" pitchFamily="34" charset="0"/>
              </a:rPr>
              <a:t>“A” Part </a:t>
            </a:r>
            <a:r>
              <a:rPr lang="en-US" sz="1200" b="1" dirty="0" smtClean="0">
                <a:solidFill>
                  <a:prstClr val="black"/>
                </a:solidFill>
                <a:latin typeface="Calibri" pitchFamily="34" charset="0"/>
                <a:cs typeface="Calibri" pitchFamily="34" charset="0"/>
              </a:rPr>
              <a:t> (ODM Build Part)</a:t>
            </a: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BU</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AV1</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Hard </a:t>
            </a:r>
            <a:r>
              <a:rPr lang="en-US" sz="1100" b="1" dirty="0">
                <a:solidFill>
                  <a:prstClr val="black"/>
                </a:solidFill>
                <a:latin typeface="Calibri" pitchFamily="34" charset="0"/>
                <a:cs typeface="Calibri" pitchFamily="34" charset="0"/>
              </a:rPr>
              <a:t>Drive	</a:t>
            </a:r>
            <a:r>
              <a:rPr lang="en-US" sz="1100" b="1" dirty="0" smtClean="0">
                <a:solidFill>
                  <a:prstClr val="black"/>
                </a:solidFill>
                <a:latin typeface="Calibri" pitchFamily="34" charset="0"/>
                <a:cs typeface="Calibri" pitchFamily="34" charset="0"/>
              </a:rPr>
              <a:t>	AV2</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Processor</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AV3</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Panel</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AV4</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Memory</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AV5</a:t>
            </a:r>
            <a:endParaRPr lang="en-US" sz="1100" b="1" dirty="0">
              <a:solidFill>
                <a:prstClr val="black"/>
              </a:solidFill>
              <a:latin typeface="Calibri" pitchFamily="34" charset="0"/>
              <a:cs typeface="Calibri" pitchFamily="34" charset="0"/>
            </a:endParaRP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Optical</a:t>
            </a:r>
            <a:r>
              <a:rPr lang="en-US" sz="1100" b="1" dirty="0">
                <a:solidFill>
                  <a:prstClr val="black"/>
                </a:solidFill>
                <a:latin typeface="Calibri" pitchFamily="34" charset="0"/>
                <a:cs typeface="Calibri" pitchFamily="34" charset="0"/>
              </a:rPr>
              <a:t>	</a:t>
            </a:r>
            <a:r>
              <a:rPr lang="en-US" sz="1100" b="1" dirty="0" smtClean="0">
                <a:solidFill>
                  <a:prstClr val="black"/>
                </a:solidFill>
                <a:latin typeface="Calibri" pitchFamily="34" charset="0"/>
                <a:cs typeface="Calibri" pitchFamily="34" charset="0"/>
              </a:rPr>
              <a:t>	AV6</a:t>
            </a: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Warranty Card		AV7</a:t>
            </a: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Easy Set Up		AV8</a:t>
            </a:r>
          </a:p>
          <a:p>
            <a:pPr marL="174625" indent="-120650" fontAlgn="base">
              <a:spcBef>
                <a:spcPct val="0"/>
              </a:spcBef>
              <a:spcAft>
                <a:spcPct val="0"/>
              </a:spcAft>
              <a:buFont typeface="Arial" pitchFamily="34" charset="0"/>
              <a:buChar char="•"/>
              <a:tabLst>
                <a:tab pos="1433513" algn="l"/>
              </a:tabLst>
            </a:pPr>
            <a:r>
              <a:rPr lang="en-US" sz="1100" b="1" dirty="0" smtClean="0">
                <a:solidFill>
                  <a:prstClr val="black"/>
                </a:solidFill>
                <a:latin typeface="Calibri" pitchFamily="34" charset="0"/>
                <a:cs typeface="Calibri" pitchFamily="34" charset="0"/>
              </a:rPr>
              <a:t>Others		</a:t>
            </a:r>
            <a:r>
              <a:rPr lang="en-US" sz="1100" b="1" dirty="0" err="1" smtClean="0">
                <a:solidFill>
                  <a:prstClr val="black"/>
                </a:solidFill>
                <a:latin typeface="Calibri" pitchFamily="34" charset="0"/>
                <a:cs typeface="Calibri" pitchFamily="34" charset="0"/>
              </a:rPr>
              <a:t>AVx</a:t>
            </a:r>
            <a:endParaRPr lang="en-US" sz="1100" b="1" dirty="0">
              <a:solidFill>
                <a:prstClr val="black"/>
              </a:solidFill>
              <a:latin typeface="Calibri" pitchFamily="34" charset="0"/>
              <a:cs typeface="Calibri" pitchFamily="34" charset="0"/>
            </a:endParaRPr>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20</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07083701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6"/>
          </p:nvPr>
        </p:nvSpPr>
        <p:spPr>
          <a:xfrm>
            <a:off x="332330" y="1188731"/>
            <a:ext cx="4121906" cy="3219769"/>
          </a:xfrm>
          <a:solidFill>
            <a:schemeClr val="bg1"/>
          </a:solidFill>
        </p:spPr>
        <p:txBody>
          <a:bodyPr/>
          <a:lstStyle/>
          <a:p>
            <a:pPr marL="285750" indent="-285750">
              <a:lnSpc>
                <a:spcPct val="90000"/>
              </a:lnSpc>
              <a:buFont typeface="Arial" pitchFamily="34" charset="0"/>
              <a:buChar char="•"/>
            </a:pPr>
            <a:r>
              <a:rPr lang="en-US" sz="1600" dirty="0" smtClean="0">
                <a:solidFill>
                  <a:schemeClr val="tx1"/>
                </a:solidFill>
              </a:rPr>
              <a:t>ODM to support 2 SKUs</a:t>
            </a:r>
          </a:p>
          <a:p>
            <a:pPr marL="627063" lvl="3" indent="-285750">
              <a:lnSpc>
                <a:spcPct val="90000"/>
              </a:lnSpc>
              <a:buFontTx/>
              <a:buChar char="-"/>
            </a:pPr>
            <a:r>
              <a:rPr lang="en-US" b="0" dirty="0" smtClean="0">
                <a:solidFill>
                  <a:schemeClr val="tx1"/>
                </a:solidFill>
              </a:rPr>
              <a:t>C SKU = Full Configuration for IDS</a:t>
            </a:r>
          </a:p>
          <a:p>
            <a:pPr marL="627063" lvl="3" indent="-285750">
              <a:lnSpc>
                <a:spcPct val="90000"/>
              </a:lnSpc>
              <a:buFontTx/>
              <a:buChar char="-"/>
            </a:pPr>
            <a:r>
              <a:rPr lang="en-US" b="0" dirty="0" smtClean="0">
                <a:solidFill>
                  <a:schemeClr val="tx1"/>
                </a:solidFill>
              </a:rPr>
              <a:t>A SKU = BSaM NB portion</a:t>
            </a:r>
          </a:p>
          <a:p>
            <a:pPr marL="627063" lvl="3" indent="-285750">
              <a:lnSpc>
                <a:spcPct val="90000"/>
              </a:lnSpc>
              <a:buFontTx/>
              <a:buChar char="-"/>
            </a:pPr>
            <a:endParaRPr lang="en-US" sz="800" dirty="0">
              <a:solidFill>
                <a:schemeClr val="tx1"/>
              </a:solidFill>
            </a:endParaRPr>
          </a:p>
          <a:p>
            <a:pPr marL="285750" lvl="1" indent="-285750">
              <a:lnSpc>
                <a:spcPct val="90000"/>
              </a:lnSpc>
              <a:buFont typeface="Arial" pitchFamily="34" charset="0"/>
              <a:buChar char="•"/>
            </a:pPr>
            <a:r>
              <a:rPr lang="en-US" b="1" dirty="0" smtClean="0">
                <a:solidFill>
                  <a:schemeClr val="tx1"/>
                </a:solidFill>
              </a:rPr>
              <a:t>A SKU to contain unique BSaM AV</a:t>
            </a:r>
            <a:endParaRPr lang="en-US" b="1" dirty="0">
              <a:solidFill>
                <a:schemeClr val="tx1"/>
              </a:solidFill>
            </a:endParaRPr>
          </a:p>
          <a:p>
            <a:pPr marL="627063" lvl="3" indent="-285750">
              <a:lnSpc>
                <a:spcPct val="90000"/>
              </a:lnSpc>
              <a:buFontTx/>
              <a:buChar char="-"/>
            </a:pPr>
            <a:r>
              <a:rPr lang="en-US" dirty="0" smtClean="0">
                <a:solidFill>
                  <a:schemeClr val="tx1"/>
                </a:solidFill>
              </a:rPr>
              <a:t>A SKU will contain unique BSaM AVs to represent BSaM unique cost and material</a:t>
            </a:r>
          </a:p>
          <a:p>
            <a:pPr marL="627063" lvl="3" indent="-285750">
              <a:lnSpc>
                <a:spcPct val="90000"/>
              </a:lnSpc>
              <a:buFontTx/>
              <a:buChar char="-"/>
            </a:pPr>
            <a:endParaRPr lang="en-US" sz="800" b="0" dirty="0" smtClean="0">
              <a:solidFill>
                <a:schemeClr val="tx1"/>
              </a:solidFill>
            </a:endParaRPr>
          </a:p>
          <a:p>
            <a:pPr marL="285750" lvl="1" indent="-285750">
              <a:lnSpc>
                <a:spcPct val="90000"/>
              </a:lnSpc>
              <a:buFont typeface="Arial" pitchFamily="34" charset="0"/>
              <a:buChar char="•"/>
            </a:pPr>
            <a:r>
              <a:rPr lang="en-US" b="1" dirty="0" smtClean="0">
                <a:solidFill>
                  <a:schemeClr val="tx1"/>
                </a:solidFill>
              </a:rPr>
              <a:t>C </a:t>
            </a:r>
            <a:r>
              <a:rPr lang="en-US" b="1" dirty="0">
                <a:solidFill>
                  <a:schemeClr val="tx1"/>
                </a:solidFill>
              </a:rPr>
              <a:t>SKU to contain unique </a:t>
            </a:r>
            <a:r>
              <a:rPr lang="en-US" b="1" dirty="0" smtClean="0">
                <a:solidFill>
                  <a:schemeClr val="tx1"/>
                </a:solidFill>
              </a:rPr>
              <a:t>IDS AV</a:t>
            </a:r>
            <a:endParaRPr lang="en-US" b="1" dirty="0">
              <a:solidFill>
                <a:schemeClr val="tx1"/>
              </a:solidFill>
            </a:endParaRPr>
          </a:p>
          <a:p>
            <a:pPr marL="627063" lvl="3" indent="-285750">
              <a:lnSpc>
                <a:spcPct val="90000"/>
              </a:lnSpc>
              <a:buFontTx/>
              <a:buChar char="-"/>
            </a:pPr>
            <a:r>
              <a:rPr lang="en-US" dirty="0" smtClean="0">
                <a:solidFill>
                  <a:schemeClr val="tx1"/>
                </a:solidFill>
              </a:rPr>
              <a:t>C SKU </a:t>
            </a:r>
            <a:r>
              <a:rPr lang="en-US" dirty="0">
                <a:solidFill>
                  <a:schemeClr val="tx1"/>
                </a:solidFill>
              </a:rPr>
              <a:t>will contain unique </a:t>
            </a:r>
            <a:r>
              <a:rPr lang="en-US" dirty="0" smtClean="0">
                <a:solidFill>
                  <a:schemeClr val="tx1"/>
                </a:solidFill>
              </a:rPr>
              <a:t>IDS AVs </a:t>
            </a:r>
            <a:r>
              <a:rPr lang="en-US" dirty="0">
                <a:solidFill>
                  <a:schemeClr val="tx1"/>
                </a:solidFill>
              </a:rPr>
              <a:t>to represent </a:t>
            </a:r>
            <a:r>
              <a:rPr lang="en-US" dirty="0" smtClean="0">
                <a:solidFill>
                  <a:schemeClr val="tx1"/>
                </a:solidFill>
              </a:rPr>
              <a:t>IDS </a:t>
            </a:r>
            <a:r>
              <a:rPr lang="en-US" dirty="0">
                <a:solidFill>
                  <a:schemeClr val="tx1"/>
                </a:solidFill>
              </a:rPr>
              <a:t>unique cost and material</a:t>
            </a:r>
          </a:p>
          <a:p>
            <a:pPr marL="627063" lvl="3" indent="-285750">
              <a:lnSpc>
                <a:spcPct val="90000"/>
              </a:lnSpc>
              <a:buFontTx/>
              <a:buChar char="-"/>
            </a:pPr>
            <a:endParaRPr lang="en-US" sz="800" b="0" dirty="0">
              <a:solidFill>
                <a:schemeClr val="tx1"/>
              </a:solidFill>
            </a:endParaRPr>
          </a:p>
          <a:p>
            <a:pPr marL="285750" lvl="1" indent="-285750">
              <a:lnSpc>
                <a:spcPct val="90000"/>
              </a:lnSpc>
              <a:buFont typeface="Arial" pitchFamily="34" charset="0"/>
              <a:buChar char="•"/>
            </a:pPr>
            <a:r>
              <a:rPr lang="en-US" b="1" dirty="0" smtClean="0">
                <a:solidFill>
                  <a:schemeClr val="tx1"/>
                </a:solidFill>
              </a:rPr>
              <a:t>HP to notify ODM on A Part SKUs at NPI</a:t>
            </a:r>
          </a:p>
          <a:p>
            <a:pPr marL="627063" lvl="3" indent="-285750">
              <a:lnSpc>
                <a:spcPct val="90000"/>
              </a:lnSpc>
              <a:buFontTx/>
              <a:buChar char="-"/>
            </a:pPr>
            <a:r>
              <a:rPr lang="en-US" dirty="0" smtClean="0">
                <a:solidFill>
                  <a:schemeClr val="tx1"/>
                </a:solidFill>
              </a:rPr>
              <a:t>HP will notify ODM of A </a:t>
            </a:r>
            <a:r>
              <a:rPr lang="en-US" dirty="0">
                <a:solidFill>
                  <a:schemeClr val="tx1"/>
                </a:solidFill>
              </a:rPr>
              <a:t>SKU’s </a:t>
            </a:r>
            <a:r>
              <a:rPr lang="en-US" dirty="0" smtClean="0">
                <a:solidFill>
                  <a:schemeClr val="tx1"/>
                </a:solidFill>
              </a:rPr>
              <a:t>at time of NPI</a:t>
            </a:r>
          </a:p>
          <a:p>
            <a:pPr marL="627063" lvl="3" indent="0">
              <a:lnSpc>
                <a:spcPct val="90000"/>
              </a:lnSpc>
              <a:buNone/>
            </a:pPr>
            <a:r>
              <a:rPr lang="en-US" dirty="0" smtClean="0">
                <a:solidFill>
                  <a:schemeClr val="tx1"/>
                </a:solidFill>
              </a:rPr>
              <a:t>thru Program Matrix and SRP BOM (Details TBD)</a:t>
            </a:r>
          </a:p>
          <a:p>
            <a:pPr marL="285750" lvl="1" indent="-285750">
              <a:lnSpc>
                <a:spcPct val="90000"/>
              </a:lnSpc>
              <a:buFontTx/>
              <a:buChar char="-"/>
            </a:pPr>
            <a:endParaRPr lang="en-US" dirty="0">
              <a:solidFill>
                <a:schemeClr val="tx1"/>
              </a:solidFill>
            </a:endParaRPr>
          </a:p>
          <a:p>
            <a:pPr marL="285750" lvl="1" indent="-285750">
              <a:lnSpc>
                <a:spcPct val="90000"/>
              </a:lnSpc>
              <a:buFont typeface="Arial" pitchFamily="34" charset="0"/>
              <a:buChar char="•"/>
            </a:pPr>
            <a:endParaRPr lang="en-US" b="1" dirty="0" smtClean="0">
              <a:solidFill>
                <a:schemeClr val="tx1"/>
              </a:solidFill>
            </a:endParaRPr>
          </a:p>
        </p:txBody>
      </p:sp>
      <p:sp>
        <p:nvSpPr>
          <p:cNvPr id="2" name="Title 1"/>
          <p:cNvSpPr>
            <a:spLocks noGrp="1"/>
          </p:cNvSpPr>
          <p:nvPr>
            <p:ph type="title"/>
          </p:nvPr>
        </p:nvSpPr>
        <p:spPr/>
        <p:txBody>
          <a:bodyPr/>
          <a:lstStyle/>
          <a:p>
            <a:r>
              <a:rPr lang="en-US" dirty="0" smtClean="0"/>
              <a:t>2 SKU Process – A SKU and C SKU</a:t>
            </a:r>
            <a:endParaRPr lang="en-US" sz="2400" dirty="0">
              <a:solidFill>
                <a:srgbClr val="FF0000"/>
              </a:solidFill>
            </a:endParaRPr>
          </a:p>
        </p:txBody>
      </p:sp>
      <p:sp>
        <p:nvSpPr>
          <p:cNvPr id="5" name="Subtitle 4"/>
          <p:cNvSpPr>
            <a:spLocks noGrp="1"/>
          </p:cNvSpPr>
          <p:nvPr>
            <p:ph type="subTitle" idx="1"/>
          </p:nvPr>
        </p:nvSpPr>
        <p:spPr/>
        <p:txBody>
          <a:bodyPr/>
          <a:lstStyle/>
          <a:p>
            <a:r>
              <a:rPr lang="en-US" dirty="0" smtClean="0"/>
              <a:t> </a:t>
            </a:r>
            <a:endParaRPr lang="en-US" dirty="0"/>
          </a:p>
        </p:txBody>
      </p:sp>
      <p:graphicFrame>
        <p:nvGraphicFramePr>
          <p:cNvPr id="35" name="Table 34"/>
          <p:cNvGraphicFramePr>
            <a:graphicFrameLocks noGrp="1"/>
          </p:cNvGraphicFramePr>
          <p:nvPr>
            <p:extLst>
              <p:ext uri="{D42A27DB-BD31-4B8C-83A1-F6EECF244321}">
                <p14:modId xmlns:p14="http://schemas.microsoft.com/office/powerpoint/2010/main" xmlns="" val="2708568168"/>
              </p:ext>
            </p:extLst>
          </p:nvPr>
        </p:nvGraphicFramePr>
        <p:xfrm>
          <a:off x="4739520" y="1128217"/>
          <a:ext cx="3589868" cy="3189482"/>
        </p:xfrm>
        <a:graphic>
          <a:graphicData uri="http://schemas.openxmlformats.org/drawingml/2006/table">
            <a:tbl>
              <a:tblPr firstRow="1" bandRow="1">
                <a:tableStyleId>{073A0DAA-6AF3-43AB-8588-CEC1D06C72B9}</a:tableStyleId>
              </a:tblPr>
              <a:tblGrid>
                <a:gridCol w="897467"/>
                <a:gridCol w="897467"/>
                <a:gridCol w="897467"/>
                <a:gridCol w="897467"/>
              </a:tblGrid>
              <a:tr h="209550">
                <a:tc>
                  <a:txBody>
                    <a:bodyPr/>
                    <a:lstStyle/>
                    <a:p>
                      <a:pPr algn="ctr"/>
                      <a:r>
                        <a:rPr lang="en-US" sz="800" dirty="0" smtClean="0"/>
                        <a:t>Level 1</a:t>
                      </a:r>
                      <a:endParaRPr lang="en-US" sz="800" dirty="0"/>
                    </a:p>
                  </a:txBody>
                  <a:tcPr marT="34290" marB="34290"/>
                </a:tc>
                <a:tc>
                  <a:txBody>
                    <a:bodyPr/>
                    <a:lstStyle/>
                    <a:p>
                      <a:pPr algn="ctr"/>
                      <a:r>
                        <a:rPr lang="en-US" sz="800" dirty="0" smtClean="0"/>
                        <a:t>Level 2</a:t>
                      </a:r>
                      <a:endParaRPr lang="en-US" sz="800" dirty="0"/>
                    </a:p>
                  </a:txBody>
                  <a:tcPr marT="34290" marB="34290"/>
                </a:tc>
                <a:tc>
                  <a:txBody>
                    <a:bodyPr/>
                    <a:lstStyle/>
                    <a:p>
                      <a:pPr algn="ctr"/>
                      <a:r>
                        <a:rPr lang="en-US" sz="800" dirty="0" smtClean="0"/>
                        <a:t>Level 3</a:t>
                      </a:r>
                      <a:endParaRPr lang="en-US" sz="800" dirty="0"/>
                    </a:p>
                  </a:txBody>
                  <a:tcPr marT="34290" marB="34290"/>
                </a:tc>
                <a:tc>
                  <a:txBody>
                    <a:bodyPr/>
                    <a:lstStyle/>
                    <a:p>
                      <a:pPr algn="ctr"/>
                      <a:r>
                        <a:rPr lang="en-US" sz="800" dirty="0" smtClean="0"/>
                        <a:t>Level 4</a:t>
                      </a:r>
                      <a:endParaRPr lang="en-US" sz="800" dirty="0"/>
                    </a:p>
                  </a:txBody>
                  <a:tcPr marT="34290" marB="34290"/>
                </a:tc>
              </a:tr>
              <a:tr h="255782">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r h="209550">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r>
            </a:tbl>
          </a:graphicData>
        </a:graphic>
      </p:graphicFrame>
      <p:sp>
        <p:nvSpPr>
          <p:cNvPr id="74" name="Rounded Rectangle 73"/>
          <p:cNvSpPr/>
          <p:nvPr/>
        </p:nvSpPr>
        <p:spPr>
          <a:xfrm>
            <a:off x="5763783" y="1639048"/>
            <a:ext cx="581025" cy="135731"/>
          </a:xfrm>
          <a:prstGeom prst="roundRect">
            <a:avLst/>
          </a:prstGeom>
          <a:solidFill>
            <a:srgbClr val="48BAFE">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000" b="1" dirty="0" smtClean="0">
                <a:solidFill>
                  <a:prstClr val="black"/>
                </a:solidFill>
                <a:latin typeface="Calibri" pitchFamily="34" charset="0"/>
                <a:cs typeface="Calibri" pitchFamily="34" charset="0"/>
              </a:rPr>
              <a:t>“A” AV</a:t>
            </a:r>
          </a:p>
        </p:txBody>
      </p:sp>
      <p:sp>
        <p:nvSpPr>
          <p:cNvPr id="75" name="Rounded Rectangle 74"/>
          <p:cNvSpPr/>
          <p:nvPr/>
        </p:nvSpPr>
        <p:spPr>
          <a:xfrm>
            <a:off x="6685822" y="1639524"/>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SA’s</a:t>
            </a:r>
          </a:p>
        </p:txBody>
      </p:sp>
      <p:sp>
        <p:nvSpPr>
          <p:cNvPr id="76" name="Rounded Rectangle 75"/>
          <p:cNvSpPr/>
          <p:nvPr/>
        </p:nvSpPr>
        <p:spPr>
          <a:xfrm>
            <a:off x="7600213" y="1640953"/>
            <a:ext cx="581025" cy="135731"/>
          </a:xfrm>
          <a:prstGeom prst="roundRect">
            <a:avLst/>
          </a:prstGeom>
          <a:solidFill>
            <a:schemeClr val="bg1">
              <a:lumMod val="85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Comp’s</a:t>
            </a:r>
          </a:p>
        </p:txBody>
      </p:sp>
      <p:cxnSp>
        <p:nvCxnSpPr>
          <p:cNvPr id="77" name="Shape 76"/>
          <p:cNvCxnSpPr>
            <a:endCxn id="74" idx="1"/>
          </p:cNvCxnSpPr>
          <p:nvPr/>
        </p:nvCxnSpPr>
        <p:spPr>
          <a:xfrm rot="16200000" flipH="1">
            <a:off x="5386725" y="1329792"/>
            <a:ext cx="151210" cy="6029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74" idx="3"/>
            <a:endCxn id="75" idx="1"/>
          </p:cNvCxnSpPr>
          <p:nvPr/>
        </p:nvCxnSpPr>
        <p:spPr>
          <a:xfrm>
            <a:off x="6344834" y="1706866"/>
            <a:ext cx="340995" cy="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75" idx="3"/>
            <a:endCxn id="76" idx="1"/>
          </p:cNvCxnSpPr>
          <p:nvPr/>
        </p:nvCxnSpPr>
        <p:spPr>
          <a:xfrm>
            <a:off x="7266846" y="1707390"/>
            <a:ext cx="333375" cy="1429"/>
          </a:xfrm>
          <a:prstGeom prst="line">
            <a:avLst/>
          </a:prstGeom>
        </p:spPr>
        <p:style>
          <a:lnRef idx="1">
            <a:schemeClr val="accent1"/>
          </a:lnRef>
          <a:fillRef idx="0">
            <a:schemeClr val="accent1"/>
          </a:fillRef>
          <a:effectRef idx="0">
            <a:schemeClr val="accent1"/>
          </a:effectRef>
          <a:fontRef idx="minor">
            <a:schemeClr val="tx1"/>
          </a:fontRef>
        </p:style>
      </p:cxnSp>
      <p:sp>
        <p:nvSpPr>
          <p:cNvPr id="100" name="Rounded Rectangle 99"/>
          <p:cNvSpPr/>
          <p:nvPr/>
        </p:nvSpPr>
        <p:spPr>
          <a:xfrm>
            <a:off x="5763783" y="1853361"/>
            <a:ext cx="581025" cy="135731"/>
          </a:xfrm>
          <a:prstGeom prst="roundRect">
            <a:avLst/>
          </a:prstGeom>
          <a:solidFill>
            <a:srgbClr val="48BAFE">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“A” AV</a:t>
            </a:r>
          </a:p>
        </p:txBody>
      </p:sp>
      <p:sp>
        <p:nvSpPr>
          <p:cNvPr id="101" name="Rounded Rectangle 100"/>
          <p:cNvSpPr/>
          <p:nvPr/>
        </p:nvSpPr>
        <p:spPr>
          <a:xfrm>
            <a:off x="6685822" y="1853837"/>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SA’s</a:t>
            </a:r>
          </a:p>
        </p:txBody>
      </p:sp>
      <p:sp>
        <p:nvSpPr>
          <p:cNvPr id="102" name="Rounded Rectangle 101"/>
          <p:cNvSpPr/>
          <p:nvPr/>
        </p:nvSpPr>
        <p:spPr>
          <a:xfrm>
            <a:off x="7600213" y="1855266"/>
            <a:ext cx="581025" cy="135731"/>
          </a:xfrm>
          <a:prstGeom prst="roundRect">
            <a:avLst/>
          </a:prstGeom>
          <a:solidFill>
            <a:schemeClr val="bg1">
              <a:lumMod val="85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Comp’s</a:t>
            </a:r>
          </a:p>
        </p:txBody>
      </p:sp>
      <p:cxnSp>
        <p:nvCxnSpPr>
          <p:cNvPr id="103" name="Shape 102"/>
          <p:cNvCxnSpPr>
            <a:endCxn id="100" idx="1"/>
          </p:cNvCxnSpPr>
          <p:nvPr/>
        </p:nvCxnSpPr>
        <p:spPr>
          <a:xfrm rot="16200000" flipH="1">
            <a:off x="5279569" y="1436949"/>
            <a:ext cx="365522" cy="6029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100" idx="3"/>
            <a:endCxn id="101" idx="1"/>
          </p:cNvCxnSpPr>
          <p:nvPr/>
        </p:nvCxnSpPr>
        <p:spPr>
          <a:xfrm>
            <a:off x="6344834" y="1921177"/>
            <a:ext cx="340995" cy="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101" idx="3"/>
            <a:endCxn id="102" idx="1"/>
          </p:cNvCxnSpPr>
          <p:nvPr/>
        </p:nvCxnSpPr>
        <p:spPr>
          <a:xfrm>
            <a:off x="7266846" y="1921703"/>
            <a:ext cx="333375" cy="1429"/>
          </a:xfrm>
          <a:prstGeom prst="line">
            <a:avLst/>
          </a:prstGeom>
        </p:spPr>
        <p:style>
          <a:lnRef idx="1">
            <a:schemeClr val="accent1"/>
          </a:lnRef>
          <a:fillRef idx="0">
            <a:schemeClr val="accent1"/>
          </a:fillRef>
          <a:effectRef idx="0">
            <a:schemeClr val="accent1"/>
          </a:effectRef>
          <a:fontRef idx="minor">
            <a:schemeClr val="tx1"/>
          </a:fontRef>
        </p:style>
      </p:cxnSp>
      <p:sp>
        <p:nvSpPr>
          <p:cNvPr id="108" name="Rounded Rectangle 107"/>
          <p:cNvSpPr/>
          <p:nvPr/>
        </p:nvSpPr>
        <p:spPr>
          <a:xfrm>
            <a:off x="5763783" y="2048623"/>
            <a:ext cx="581025" cy="135731"/>
          </a:xfrm>
          <a:prstGeom prst="roundRect">
            <a:avLst/>
          </a:prstGeom>
          <a:solidFill>
            <a:srgbClr val="48BAFE">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“A” AV</a:t>
            </a:r>
          </a:p>
        </p:txBody>
      </p:sp>
      <p:sp>
        <p:nvSpPr>
          <p:cNvPr id="109" name="Rounded Rectangle 108"/>
          <p:cNvSpPr/>
          <p:nvPr/>
        </p:nvSpPr>
        <p:spPr>
          <a:xfrm>
            <a:off x="6685822" y="2049099"/>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SA’s</a:t>
            </a:r>
          </a:p>
        </p:txBody>
      </p:sp>
      <p:sp>
        <p:nvSpPr>
          <p:cNvPr id="110" name="Rounded Rectangle 109"/>
          <p:cNvSpPr/>
          <p:nvPr/>
        </p:nvSpPr>
        <p:spPr>
          <a:xfrm>
            <a:off x="7600213" y="2050528"/>
            <a:ext cx="581025" cy="135731"/>
          </a:xfrm>
          <a:prstGeom prst="roundRect">
            <a:avLst/>
          </a:prstGeom>
          <a:solidFill>
            <a:schemeClr val="bg1">
              <a:lumMod val="85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Comp’s</a:t>
            </a:r>
          </a:p>
        </p:txBody>
      </p:sp>
      <p:cxnSp>
        <p:nvCxnSpPr>
          <p:cNvPr id="111" name="Shape 110"/>
          <p:cNvCxnSpPr>
            <a:endCxn id="108" idx="1"/>
          </p:cNvCxnSpPr>
          <p:nvPr/>
        </p:nvCxnSpPr>
        <p:spPr>
          <a:xfrm rot="16200000" flipH="1">
            <a:off x="5181937" y="1534580"/>
            <a:ext cx="560785" cy="6029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8" idx="3"/>
            <a:endCxn id="109" idx="1"/>
          </p:cNvCxnSpPr>
          <p:nvPr/>
        </p:nvCxnSpPr>
        <p:spPr>
          <a:xfrm>
            <a:off x="6344834" y="2116441"/>
            <a:ext cx="340995" cy="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109" idx="3"/>
            <a:endCxn id="110" idx="1"/>
          </p:cNvCxnSpPr>
          <p:nvPr/>
        </p:nvCxnSpPr>
        <p:spPr>
          <a:xfrm>
            <a:off x="7266846" y="2116965"/>
            <a:ext cx="333375" cy="1429"/>
          </a:xfrm>
          <a:prstGeom prst="line">
            <a:avLst/>
          </a:prstGeom>
        </p:spPr>
        <p:style>
          <a:lnRef idx="1">
            <a:schemeClr val="accent1"/>
          </a:lnRef>
          <a:fillRef idx="0">
            <a:schemeClr val="accent1"/>
          </a:fillRef>
          <a:effectRef idx="0">
            <a:schemeClr val="accent1"/>
          </a:effectRef>
          <a:fontRef idx="minor">
            <a:schemeClr val="tx1"/>
          </a:fontRef>
        </p:style>
      </p:cxnSp>
      <p:sp>
        <p:nvSpPr>
          <p:cNvPr id="120" name="Rounded Rectangle 119"/>
          <p:cNvSpPr/>
          <p:nvPr/>
        </p:nvSpPr>
        <p:spPr>
          <a:xfrm>
            <a:off x="4870337" y="1381125"/>
            <a:ext cx="581025" cy="135731"/>
          </a:xfrm>
          <a:prstGeom prst="roundRect">
            <a:avLst/>
          </a:prstGeom>
          <a:solidFill>
            <a:srgbClr val="FF99FF">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000" b="1" dirty="0" smtClean="0">
                <a:solidFill>
                  <a:prstClr val="black"/>
                </a:solidFill>
                <a:latin typeface="Calibri" pitchFamily="34" charset="0"/>
                <a:cs typeface="Calibri" pitchFamily="34" charset="0"/>
              </a:rPr>
              <a:t>“C” SKU</a:t>
            </a:r>
          </a:p>
        </p:txBody>
      </p:sp>
      <p:sp>
        <p:nvSpPr>
          <p:cNvPr id="122" name="Rounded Rectangle 121"/>
          <p:cNvSpPr/>
          <p:nvPr/>
        </p:nvSpPr>
        <p:spPr>
          <a:xfrm>
            <a:off x="6685822" y="2268174"/>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SA’s</a:t>
            </a:r>
          </a:p>
        </p:txBody>
      </p:sp>
      <p:sp>
        <p:nvSpPr>
          <p:cNvPr id="123" name="Rounded Rectangle 122"/>
          <p:cNvSpPr/>
          <p:nvPr/>
        </p:nvSpPr>
        <p:spPr>
          <a:xfrm>
            <a:off x="7600213" y="2269603"/>
            <a:ext cx="581025" cy="135731"/>
          </a:xfrm>
          <a:prstGeom prst="roundRect">
            <a:avLst/>
          </a:prstGeom>
          <a:solidFill>
            <a:schemeClr val="bg1">
              <a:lumMod val="85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Comp’s</a:t>
            </a:r>
          </a:p>
        </p:txBody>
      </p:sp>
      <p:cxnSp>
        <p:nvCxnSpPr>
          <p:cNvPr id="124" name="Shape 123"/>
          <p:cNvCxnSpPr/>
          <p:nvPr/>
        </p:nvCxnSpPr>
        <p:spPr>
          <a:xfrm rot="16200000" flipH="1">
            <a:off x="5386725" y="1958442"/>
            <a:ext cx="151210" cy="6029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25" name="Straight Connector 124"/>
          <p:cNvCxnSpPr>
            <a:endCxn id="122" idx="1"/>
          </p:cNvCxnSpPr>
          <p:nvPr/>
        </p:nvCxnSpPr>
        <p:spPr>
          <a:xfrm>
            <a:off x="6344834" y="2335516"/>
            <a:ext cx="340995" cy="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122" idx="3"/>
            <a:endCxn id="123" idx="1"/>
          </p:cNvCxnSpPr>
          <p:nvPr/>
        </p:nvCxnSpPr>
        <p:spPr>
          <a:xfrm>
            <a:off x="7266846" y="2336040"/>
            <a:ext cx="333375" cy="1429"/>
          </a:xfrm>
          <a:prstGeom prst="line">
            <a:avLst/>
          </a:prstGeom>
        </p:spPr>
        <p:style>
          <a:lnRef idx="1">
            <a:schemeClr val="accent1"/>
          </a:lnRef>
          <a:fillRef idx="0">
            <a:schemeClr val="accent1"/>
          </a:fillRef>
          <a:effectRef idx="0">
            <a:schemeClr val="accent1"/>
          </a:effectRef>
          <a:fontRef idx="minor">
            <a:schemeClr val="tx1"/>
          </a:fontRef>
        </p:style>
      </p:cxnSp>
      <p:sp>
        <p:nvSpPr>
          <p:cNvPr id="127" name="Rounded Rectangle 126"/>
          <p:cNvSpPr/>
          <p:nvPr/>
        </p:nvSpPr>
        <p:spPr>
          <a:xfrm>
            <a:off x="5763783" y="2482011"/>
            <a:ext cx="581025" cy="135731"/>
          </a:xfrm>
          <a:prstGeom prst="roundRect">
            <a:avLst/>
          </a:prstGeom>
          <a:solidFill>
            <a:schemeClr val="accent1">
              <a:lumMod val="60000"/>
              <a:lumOff val="40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a:solidFill>
                  <a:schemeClr val="tx1"/>
                </a:solidFill>
                <a:latin typeface="Calibri" pitchFamily="34" charset="0"/>
                <a:cs typeface="Calibri" pitchFamily="34" charset="0"/>
              </a:rPr>
              <a:t>“B” AV</a:t>
            </a:r>
          </a:p>
        </p:txBody>
      </p:sp>
      <p:sp>
        <p:nvSpPr>
          <p:cNvPr id="128" name="Rounded Rectangle 127"/>
          <p:cNvSpPr/>
          <p:nvPr/>
        </p:nvSpPr>
        <p:spPr>
          <a:xfrm>
            <a:off x="6685822" y="2482487"/>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SA’s</a:t>
            </a:r>
          </a:p>
        </p:txBody>
      </p:sp>
      <p:sp>
        <p:nvSpPr>
          <p:cNvPr id="129" name="Rounded Rectangle 128"/>
          <p:cNvSpPr/>
          <p:nvPr/>
        </p:nvSpPr>
        <p:spPr>
          <a:xfrm>
            <a:off x="7617458" y="2464506"/>
            <a:ext cx="581025" cy="135731"/>
          </a:xfrm>
          <a:prstGeom prst="roundRect">
            <a:avLst/>
          </a:prstGeom>
          <a:solidFill>
            <a:schemeClr val="bg1">
              <a:lumMod val="85000"/>
              <a:alpha val="61000"/>
            </a:scheme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Comp’s</a:t>
            </a:r>
          </a:p>
        </p:txBody>
      </p:sp>
      <p:cxnSp>
        <p:nvCxnSpPr>
          <p:cNvPr id="130" name="Shape 129"/>
          <p:cNvCxnSpPr>
            <a:endCxn id="127" idx="1"/>
          </p:cNvCxnSpPr>
          <p:nvPr/>
        </p:nvCxnSpPr>
        <p:spPr>
          <a:xfrm rot="16200000" flipH="1">
            <a:off x="5279569" y="2065599"/>
            <a:ext cx="365522" cy="6029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31" name="Straight Connector 130"/>
          <p:cNvCxnSpPr>
            <a:stCxn id="127" idx="3"/>
            <a:endCxn id="128" idx="1"/>
          </p:cNvCxnSpPr>
          <p:nvPr/>
        </p:nvCxnSpPr>
        <p:spPr>
          <a:xfrm>
            <a:off x="6344834" y="2549827"/>
            <a:ext cx="340995" cy="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Straight Connector 131"/>
          <p:cNvCxnSpPr>
            <a:stCxn id="128" idx="3"/>
            <a:endCxn id="129" idx="1"/>
          </p:cNvCxnSpPr>
          <p:nvPr/>
        </p:nvCxnSpPr>
        <p:spPr>
          <a:xfrm flipV="1">
            <a:off x="7266820" y="2532372"/>
            <a:ext cx="350628" cy="17981"/>
          </a:xfrm>
          <a:prstGeom prst="line">
            <a:avLst/>
          </a:prstGeom>
        </p:spPr>
        <p:style>
          <a:lnRef idx="1">
            <a:schemeClr val="accent1"/>
          </a:lnRef>
          <a:fillRef idx="0">
            <a:schemeClr val="accent1"/>
          </a:fillRef>
          <a:effectRef idx="0">
            <a:schemeClr val="accent1"/>
          </a:effectRef>
          <a:fontRef idx="minor">
            <a:schemeClr val="tx1"/>
          </a:fontRef>
        </p:style>
      </p:cxnSp>
      <p:sp>
        <p:nvSpPr>
          <p:cNvPr id="133" name="Rounded Rectangle 132"/>
          <p:cNvSpPr/>
          <p:nvPr/>
        </p:nvSpPr>
        <p:spPr>
          <a:xfrm>
            <a:off x="5763783" y="2677248"/>
            <a:ext cx="581025" cy="135731"/>
          </a:xfrm>
          <a:prstGeom prst="roundRect">
            <a:avLst/>
          </a:prstGeom>
          <a:solidFill>
            <a:schemeClr val="accent1">
              <a:lumMod val="60000"/>
              <a:lumOff val="40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a:solidFill>
                  <a:schemeClr val="tx1"/>
                </a:solidFill>
                <a:latin typeface="Calibri" pitchFamily="34" charset="0"/>
                <a:cs typeface="Calibri" pitchFamily="34" charset="0"/>
              </a:rPr>
              <a:t>“B” AV</a:t>
            </a:r>
          </a:p>
        </p:txBody>
      </p:sp>
      <p:sp>
        <p:nvSpPr>
          <p:cNvPr id="134" name="Rounded Rectangle 133"/>
          <p:cNvSpPr/>
          <p:nvPr/>
        </p:nvSpPr>
        <p:spPr>
          <a:xfrm>
            <a:off x="6685822" y="2677713"/>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SA’s</a:t>
            </a:r>
          </a:p>
        </p:txBody>
      </p:sp>
      <p:sp>
        <p:nvSpPr>
          <p:cNvPr id="135" name="Rounded Rectangle 134"/>
          <p:cNvSpPr/>
          <p:nvPr/>
        </p:nvSpPr>
        <p:spPr>
          <a:xfrm>
            <a:off x="7600213" y="2679174"/>
            <a:ext cx="581025" cy="135731"/>
          </a:xfrm>
          <a:prstGeom prst="roundRect">
            <a:avLst/>
          </a:prstGeom>
          <a:solidFill>
            <a:schemeClr val="bg1">
              <a:lumMod val="85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Comp’s</a:t>
            </a:r>
          </a:p>
        </p:txBody>
      </p:sp>
      <p:cxnSp>
        <p:nvCxnSpPr>
          <p:cNvPr id="136" name="Shape 135"/>
          <p:cNvCxnSpPr>
            <a:endCxn id="133" idx="1"/>
          </p:cNvCxnSpPr>
          <p:nvPr/>
        </p:nvCxnSpPr>
        <p:spPr>
          <a:xfrm rot="16200000" flipH="1">
            <a:off x="4867612" y="1848905"/>
            <a:ext cx="1189435" cy="6029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p:cNvCxnSpPr>
            <a:stCxn id="133" idx="3"/>
            <a:endCxn id="134" idx="1"/>
          </p:cNvCxnSpPr>
          <p:nvPr/>
        </p:nvCxnSpPr>
        <p:spPr>
          <a:xfrm>
            <a:off x="6344834" y="2745090"/>
            <a:ext cx="340995" cy="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p:cNvCxnSpPr>
            <a:stCxn id="134" idx="3"/>
            <a:endCxn id="135" idx="1"/>
          </p:cNvCxnSpPr>
          <p:nvPr/>
        </p:nvCxnSpPr>
        <p:spPr>
          <a:xfrm>
            <a:off x="7266846" y="2745587"/>
            <a:ext cx="333375" cy="1429"/>
          </a:xfrm>
          <a:prstGeom prst="line">
            <a:avLst/>
          </a:prstGeom>
        </p:spPr>
        <p:style>
          <a:lnRef idx="1">
            <a:schemeClr val="accent1"/>
          </a:lnRef>
          <a:fillRef idx="0">
            <a:schemeClr val="accent1"/>
          </a:fillRef>
          <a:effectRef idx="0">
            <a:schemeClr val="accent1"/>
          </a:effectRef>
          <a:fontRef idx="minor">
            <a:schemeClr val="tx1"/>
          </a:fontRef>
        </p:style>
      </p:cxnSp>
      <p:sp>
        <p:nvSpPr>
          <p:cNvPr id="140" name="Rounded Rectangle 139"/>
          <p:cNvSpPr/>
          <p:nvPr/>
        </p:nvSpPr>
        <p:spPr>
          <a:xfrm>
            <a:off x="5563750" y="1602209"/>
            <a:ext cx="2827020" cy="614742"/>
          </a:xfrm>
          <a:prstGeom prst="round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b="1" dirty="0" smtClean="0">
              <a:solidFill>
                <a:prstClr val="black"/>
              </a:solidFill>
              <a:latin typeface="Calibri" pitchFamily="34" charset="0"/>
              <a:cs typeface="Calibri" pitchFamily="34" charset="0"/>
            </a:endParaRPr>
          </a:p>
        </p:txBody>
      </p:sp>
      <p:sp>
        <p:nvSpPr>
          <p:cNvPr id="81" name="Rounded Rectangle 80"/>
          <p:cNvSpPr/>
          <p:nvPr/>
        </p:nvSpPr>
        <p:spPr>
          <a:xfrm>
            <a:off x="5763783" y="3320760"/>
            <a:ext cx="581025" cy="135731"/>
          </a:xfrm>
          <a:prstGeom prst="roundRect">
            <a:avLst/>
          </a:prstGeom>
          <a:solidFill>
            <a:srgbClr val="48BAFE">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“A” AV</a:t>
            </a:r>
          </a:p>
        </p:txBody>
      </p:sp>
      <p:sp>
        <p:nvSpPr>
          <p:cNvPr id="82" name="Rounded Rectangle 81"/>
          <p:cNvSpPr/>
          <p:nvPr/>
        </p:nvSpPr>
        <p:spPr>
          <a:xfrm>
            <a:off x="6685796" y="3321236"/>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SA’s</a:t>
            </a:r>
          </a:p>
        </p:txBody>
      </p:sp>
      <p:sp>
        <p:nvSpPr>
          <p:cNvPr id="85" name="Rounded Rectangle 84"/>
          <p:cNvSpPr/>
          <p:nvPr/>
        </p:nvSpPr>
        <p:spPr>
          <a:xfrm>
            <a:off x="7600213" y="3322665"/>
            <a:ext cx="581025" cy="135731"/>
          </a:xfrm>
          <a:prstGeom prst="roundRect">
            <a:avLst/>
          </a:prstGeom>
          <a:solidFill>
            <a:schemeClr val="bg1">
              <a:lumMod val="85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Comp’s</a:t>
            </a:r>
          </a:p>
        </p:txBody>
      </p:sp>
      <p:cxnSp>
        <p:nvCxnSpPr>
          <p:cNvPr id="86" name="Shape 85"/>
          <p:cNvCxnSpPr>
            <a:stCxn id="139" idx="2"/>
            <a:endCxn id="81" idx="1"/>
          </p:cNvCxnSpPr>
          <p:nvPr/>
        </p:nvCxnSpPr>
        <p:spPr>
          <a:xfrm rot="16200000" flipH="1">
            <a:off x="5382285" y="3007114"/>
            <a:ext cx="148820" cy="61420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81" idx="3"/>
            <a:endCxn id="82" idx="1"/>
          </p:cNvCxnSpPr>
          <p:nvPr/>
        </p:nvCxnSpPr>
        <p:spPr>
          <a:xfrm>
            <a:off x="6344801" y="3388576"/>
            <a:ext cx="340995" cy="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82" idx="3"/>
            <a:endCxn id="85" idx="1"/>
          </p:cNvCxnSpPr>
          <p:nvPr/>
        </p:nvCxnSpPr>
        <p:spPr>
          <a:xfrm>
            <a:off x="7266846" y="3389101"/>
            <a:ext cx="333375" cy="1429"/>
          </a:xfrm>
          <a:prstGeom prst="line">
            <a:avLst/>
          </a:prstGeom>
        </p:spPr>
        <p:style>
          <a:lnRef idx="1">
            <a:schemeClr val="accent1"/>
          </a:lnRef>
          <a:fillRef idx="0">
            <a:schemeClr val="accent1"/>
          </a:fillRef>
          <a:effectRef idx="0">
            <a:schemeClr val="accent1"/>
          </a:effectRef>
          <a:fontRef idx="minor">
            <a:schemeClr val="tx1"/>
          </a:fontRef>
        </p:style>
      </p:cxnSp>
      <p:sp>
        <p:nvSpPr>
          <p:cNvPr id="90" name="Rounded Rectangle 89"/>
          <p:cNvSpPr/>
          <p:nvPr/>
        </p:nvSpPr>
        <p:spPr>
          <a:xfrm>
            <a:off x="5763783" y="3535072"/>
            <a:ext cx="581025" cy="135731"/>
          </a:xfrm>
          <a:prstGeom prst="roundRect">
            <a:avLst/>
          </a:prstGeom>
          <a:solidFill>
            <a:srgbClr val="48BAFE">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“A” AV</a:t>
            </a:r>
          </a:p>
        </p:txBody>
      </p:sp>
      <p:sp>
        <p:nvSpPr>
          <p:cNvPr id="91" name="Rounded Rectangle 90"/>
          <p:cNvSpPr/>
          <p:nvPr/>
        </p:nvSpPr>
        <p:spPr>
          <a:xfrm>
            <a:off x="6685796" y="3535548"/>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SA’s</a:t>
            </a:r>
          </a:p>
        </p:txBody>
      </p:sp>
      <p:sp>
        <p:nvSpPr>
          <p:cNvPr id="92" name="Rounded Rectangle 91"/>
          <p:cNvSpPr/>
          <p:nvPr/>
        </p:nvSpPr>
        <p:spPr>
          <a:xfrm>
            <a:off x="7600213" y="3536977"/>
            <a:ext cx="581025" cy="135731"/>
          </a:xfrm>
          <a:prstGeom prst="roundRect">
            <a:avLst/>
          </a:prstGeom>
          <a:solidFill>
            <a:schemeClr val="bg1">
              <a:lumMod val="85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Comp’s</a:t>
            </a:r>
          </a:p>
        </p:txBody>
      </p:sp>
      <p:cxnSp>
        <p:nvCxnSpPr>
          <p:cNvPr id="93" name="Shape 92"/>
          <p:cNvCxnSpPr>
            <a:stCxn id="139" idx="2"/>
            <a:endCxn id="90" idx="1"/>
          </p:cNvCxnSpPr>
          <p:nvPr/>
        </p:nvCxnSpPr>
        <p:spPr>
          <a:xfrm rot="16200000" flipH="1">
            <a:off x="5275106" y="3114270"/>
            <a:ext cx="363132" cy="61420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90" idx="3"/>
            <a:endCxn id="91" idx="1"/>
          </p:cNvCxnSpPr>
          <p:nvPr/>
        </p:nvCxnSpPr>
        <p:spPr>
          <a:xfrm>
            <a:off x="6344801" y="3602890"/>
            <a:ext cx="340995" cy="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91" idx="3"/>
            <a:endCxn id="92" idx="1"/>
          </p:cNvCxnSpPr>
          <p:nvPr/>
        </p:nvCxnSpPr>
        <p:spPr>
          <a:xfrm>
            <a:off x="7266846" y="3603414"/>
            <a:ext cx="333375" cy="1429"/>
          </a:xfrm>
          <a:prstGeom prst="line">
            <a:avLst/>
          </a:prstGeom>
        </p:spPr>
        <p:style>
          <a:lnRef idx="1">
            <a:schemeClr val="accent1"/>
          </a:lnRef>
          <a:fillRef idx="0">
            <a:schemeClr val="accent1"/>
          </a:fillRef>
          <a:effectRef idx="0">
            <a:schemeClr val="accent1"/>
          </a:effectRef>
          <a:fontRef idx="minor">
            <a:schemeClr val="tx1"/>
          </a:fontRef>
        </p:style>
      </p:cxnSp>
      <p:sp>
        <p:nvSpPr>
          <p:cNvPr id="96" name="Rounded Rectangle 95"/>
          <p:cNvSpPr/>
          <p:nvPr/>
        </p:nvSpPr>
        <p:spPr>
          <a:xfrm>
            <a:off x="5763783" y="3730335"/>
            <a:ext cx="581025" cy="135731"/>
          </a:xfrm>
          <a:prstGeom prst="roundRect">
            <a:avLst/>
          </a:prstGeom>
          <a:solidFill>
            <a:srgbClr val="48BAFE">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“A” AV</a:t>
            </a:r>
          </a:p>
        </p:txBody>
      </p:sp>
      <p:sp>
        <p:nvSpPr>
          <p:cNvPr id="97" name="Rounded Rectangle 96"/>
          <p:cNvSpPr/>
          <p:nvPr/>
        </p:nvSpPr>
        <p:spPr>
          <a:xfrm>
            <a:off x="6685796" y="3730811"/>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SA’s</a:t>
            </a:r>
          </a:p>
        </p:txBody>
      </p:sp>
      <p:sp>
        <p:nvSpPr>
          <p:cNvPr id="98" name="Rounded Rectangle 97"/>
          <p:cNvSpPr/>
          <p:nvPr/>
        </p:nvSpPr>
        <p:spPr>
          <a:xfrm>
            <a:off x="7600213" y="3732239"/>
            <a:ext cx="581025" cy="135731"/>
          </a:xfrm>
          <a:prstGeom prst="roundRect">
            <a:avLst/>
          </a:prstGeom>
          <a:solidFill>
            <a:schemeClr val="bg1">
              <a:lumMod val="85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Comp’s</a:t>
            </a:r>
          </a:p>
        </p:txBody>
      </p:sp>
      <p:cxnSp>
        <p:nvCxnSpPr>
          <p:cNvPr id="99" name="Shape 98"/>
          <p:cNvCxnSpPr>
            <a:stCxn id="139" idx="2"/>
            <a:endCxn id="96" idx="1"/>
          </p:cNvCxnSpPr>
          <p:nvPr/>
        </p:nvCxnSpPr>
        <p:spPr>
          <a:xfrm rot="16200000" flipH="1">
            <a:off x="5177497" y="3211901"/>
            <a:ext cx="558395" cy="614203"/>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4" name="Straight Connector 103"/>
          <p:cNvCxnSpPr>
            <a:stCxn id="96" idx="3"/>
            <a:endCxn id="97" idx="1"/>
          </p:cNvCxnSpPr>
          <p:nvPr/>
        </p:nvCxnSpPr>
        <p:spPr>
          <a:xfrm>
            <a:off x="6344801" y="3798151"/>
            <a:ext cx="340995" cy="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97" idx="3"/>
            <a:endCxn id="98" idx="1"/>
          </p:cNvCxnSpPr>
          <p:nvPr/>
        </p:nvCxnSpPr>
        <p:spPr>
          <a:xfrm>
            <a:off x="7266846" y="3798677"/>
            <a:ext cx="333375" cy="1429"/>
          </a:xfrm>
          <a:prstGeom prst="line">
            <a:avLst/>
          </a:prstGeom>
        </p:spPr>
        <p:style>
          <a:lnRef idx="1">
            <a:schemeClr val="accent1"/>
          </a:lnRef>
          <a:fillRef idx="0">
            <a:schemeClr val="accent1"/>
          </a:fillRef>
          <a:effectRef idx="0">
            <a:schemeClr val="accent1"/>
          </a:effectRef>
          <a:fontRef idx="minor">
            <a:schemeClr val="tx1"/>
          </a:fontRef>
        </p:style>
      </p:cxnSp>
      <p:sp>
        <p:nvSpPr>
          <p:cNvPr id="139" name="Rounded Rectangle 138"/>
          <p:cNvSpPr/>
          <p:nvPr/>
        </p:nvSpPr>
        <p:spPr>
          <a:xfrm>
            <a:off x="4856963" y="3102597"/>
            <a:ext cx="585216" cy="137160"/>
          </a:xfrm>
          <a:prstGeom prst="roundRect">
            <a:avLst/>
          </a:prstGeom>
          <a:solidFill>
            <a:srgbClr val="FF99FF">
              <a:alpha val="61000"/>
            </a:srgb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000" b="1" dirty="0" smtClean="0">
                <a:solidFill>
                  <a:srgbClr val="0000FF"/>
                </a:solidFill>
                <a:latin typeface="Calibri" pitchFamily="34" charset="0"/>
                <a:cs typeface="Calibri" pitchFamily="34" charset="0"/>
              </a:rPr>
              <a:t>“A” SKU</a:t>
            </a:r>
          </a:p>
        </p:txBody>
      </p:sp>
      <p:sp>
        <p:nvSpPr>
          <p:cNvPr id="141" name="Rounded Rectangle 140"/>
          <p:cNvSpPr/>
          <p:nvPr/>
        </p:nvSpPr>
        <p:spPr>
          <a:xfrm>
            <a:off x="5563746" y="3272133"/>
            <a:ext cx="2827020" cy="633890"/>
          </a:xfrm>
          <a:prstGeom prst="round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b="1" dirty="0" smtClean="0">
              <a:solidFill>
                <a:prstClr val="black"/>
              </a:solidFill>
              <a:latin typeface="Calibri" pitchFamily="34" charset="0"/>
              <a:cs typeface="Calibri" pitchFamily="34" charset="0"/>
            </a:endParaRPr>
          </a:p>
        </p:txBody>
      </p:sp>
      <p:grpSp>
        <p:nvGrpSpPr>
          <p:cNvPr id="19" name="Group 18"/>
          <p:cNvGrpSpPr/>
          <p:nvPr/>
        </p:nvGrpSpPr>
        <p:grpSpPr>
          <a:xfrm>
            <a:off x="5753605" y="160648"/>
            <a:ext cx="1759566" cy="559073"/>
            <a:chOff x="6068252" y="4299287"/>
            <a:chExt cx="1759566" cy="559073"/>
          </a:xfrm>
        </p:grpSpPr>
        <p:sp>
          <p:nvSpPr>
            <p:cNvPr id="83" name="Rectangle 82"/>
            <p:cNvSpPr/>
            <p:nvPr/>
          </p:nvSpPr>
          <p:spPr>
            <a:xfrm>
              <a:off x="6068252" y="4299287"/>
              <a:ext cx="1759566" cy="559073"/>
            </a:xfrm>
            <a:prstGeom prst="rect">
              <a:avLst/>
            </a:prstGeom>
            <a:solidFill>
              <a:schemeClr val="accent4">
                <a:lumMod val="40000"/>
                <a:lumOff val="60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8925" indent="-288925" fontAlgn="base">
                <a:lnSpc>
                  <a:spcPct val="80000"/>
                </a:lnSpc>
                <a:spcBef>
                  <a:spcPct val="0"/>
                </a:spcBef>
                <a:spcAft>
                  <a:spcPct val="0"/>
                </a:spcAft>
                <a:tabLst>
                  <a:tab pos="1028700" algn="l"/>
                </a:tabLst>
              </a:pPr>
              <a:r>
                <a:rPr lang="en-US" sz="800" b="1" dirty="0" smtClean="0">
                  <a:solidFill>
                    <a:prstClr val="black"/>
                  </a:solidFill>
                  <a:latin typeface="Calibri" pitchFamily="34" charset="0"/>
                  <a:cs typeface="Calibri" pitchFamily="34" charset="0"/>
                </a:rPr>
                <a:t>	Bundle	  ZBUN</a:t>
              </a:r>
            </a:p>
            <a:p>
              <a:pPr marL="288925" indent="-288925" fontAlgn="base">
                <a:lnSpc>
                  <a:spcPct val="80000"/>
                </a:lnSpc>
                <a:spcBef>
                  <a:spcPct val="0"/>
                </a:spcBef>
                <a:spcAft>
                  <a:spcPct val="0"/>
                </a:spcAft>
                <a:tabLst>
                  <a:tab pos="1028700" algn="l"/>
                </a:tabLst>
              </a:pPr>
              <a:r>
                <a:rPr lang="en-US" sz="800" b="1" dirty="0" smtClean="0">
                  <a:solidFill>
                    <a:prstClr val="black"/>
                  </a:solidFill>
                  <a:latin typeface="Calibri" pitchFamily="34" charset="0"/>
                  <a:cs typeface="Calibri" pitchFamily="34" charset="0"/>
                </a:rPr>
                <a:t>	SKU	  FERT</a:t>
              </a:r>
            </a:p>
            <a:p>
              <a:pPr marL="288925" indent="-288925" fontAlgn="base">
                <a:lnSpc>
                  <a:spcPct val="80000"/>
                </a:lnSpc>
                <a:spcBef>
                  <a:spcPct val="0"/>
                </a:spcBef>
                <a:spcAft>
                  <a:spcPct val="0"/>
                </a:spcAft>
                <a:tabLst>
                  <a:tab pos="1028700" algn="l"/>
                </a:tabLst>
              </a:pPr>
              <a:r>
                <a:rPr lang="en-US" sz="800" b="1" dirty="0" smtClean="0">
                  <a:solidFill>
                    <a:prstClr val="black"/>
                  </a:solidFill>
                  <a:latin typeface="Calibri" pitchFamily="34" charset="0"/>
                  <a:cs typeface="Calibri" pitchFamily="34" charset="0"/>
                </a:rPr>
                <a:t>	AV	  ZMOD</a:t>
              </a:r>
            </a:p>
            <a:p>
              <a:pPr marL="288925" indent="-288925" fontAlgn="base">
                <a:lnSpc>
                  <a:spcPct val="80000"/>
                </a:lnSpc>
                <a:spcBef>
                  <a:spcPct val="0"/>
                </a:spcBef>
                <a:spcAft>
                  <a:spcPct val="0"/>
                </a:spcAft>
                <a:tabLst>
                  <a:tab pos="1028700" algn="l"/>
                </a:tabLst>
              </a:pPr>
              <a:r>
                <a:rPr lang="en-US" sz="800" b="1" dirty="0" smtClean="0">
                  <a:solidFill>
                    <a:prstClr val="black"/>
                  </a:solidFill>
                  <a:latin typeface="Calibri" pitchFamily="34" charset="0"/>
                  <a:cs typeface="Calibri" pitchFamily="34" charset="0"/>
                </a:rPr>
                <a:t>	SA	  HALB</a:t>
              </a:r>
            </a:p>
            <a:p>
              <a:pPr marL="288925" indent="-288925" fontAlgn="base">
                <a:lnSpc>
                  <a:spcPct val="80000"/>
                </a:lnSpc>
                <a:spcBef>
                  <a:spcPct val="0"/>
                </a:spcBef>
                <a:spcAft>
                  <a:spcPct val="0"/>
                </a:spcAft>
                <a:tabLst>
                  <a:tab pos="1028700" algn="l"/>
                </a:tabLst>
              </a:pPr>
              <a:r>
                <a:rPr lang="en-US" sz="800" b="1" dirty="0" smtClean="0">
                  <a:solidFill>
                    <a:prstClr val="black"/>
                  </a:solidFill>
                  <a:latin typeface="Calibri" pitchFamily="34" charset="0"/>
                  <a:cs typeface="Calibri" pitchFamily="34" charset="0"/>
                </a:rPr>
                <a:t>	Component 		  ROH</a:t>
              </a:r>
            </a:p>
          </p:txBody>
        </p:sp>
        <p:sp>
          <p:nvSpPr>
            <p:cNvPr id="84" name="Rounded Rectangle 83"/>
            <p:cNvSpPr/>
            <p:nvPr/>
          </p:nvSpPr>
          <p:spPr>
            <a:xfrm>
              <a:off x="6166704" y="4435502"/>
              <a:ext cx="210449" cy="77293"/>
            </a:xfrm>
            <a:prstGeom prst="roundRect">
              <a:avLst/>
            </a:prstGeom>
            <a:solidFill>
              <a:srgbClr val="FF99FF">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endParaRPr lang="en-US" sz="800" b="1" dirty="0" smtClean="0">
                <a:solidFill>
                  <a:prstClr val="black"/>
                </a:solidFill>
              </a:endParaRPr>
            </a:p>
          </p:txBody>
        </p:sp>
        <p:sp>
          <p:nvSpPr>
            <p:cNvPr id="144" name="Rounded Rectangle 143"/>
            <p:cNvSpPr/>
            <p:nvPr/>
          </p:nvSpPr>
          <p:spPr>
            <a:xfrm>
              <a:off x="6166704" y="4335284"/>
              <a:ext cx="210449" cy="77293"/>
            </a:xfrm>
            <a:prstGeom prst="roundRect">
              <a:avLst/>
            </a:prstGeom>
            <a:solidFill>
              <a:srgbClr val="6600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endParaRPr lang="en-US" sz="800" b="1" dirty="0" smtClean="0">
                <a:solidFill>
                  <a:prstClr val="black"/>
                </a:solidFill>
              </a:endParaRPr>
            </a:p>
          </p:txBody>
        </p:sp>
        <p:sp>
          <p:nvSpPr>
            <p:cNvPr id="146" name="Rounded Rectangle 145"/>
            <p:cNvSpPr/>
            <p:nvPr/>
          </p:nvSpPr>
          <p:spPr>
            <a:xfrm>
              <a:off x="6166704" y="4535692"/>
              <a:ext cx="210449" cy="77293"/>
            </a:xfrm>
            <a:prstGeom prst="roundRect">
              <a:avLst/>
            </a:prstGeom>
            <a:solidFill>
              <a:srgbClr val="48BAFE">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endParaRPr lang="en-US" sz="800" b="1" dirty="0" smtClean="0">
                <a:solidFill>
                  <a:prstClr val="black"/>
                </a:solidFill>
              </a:endParaRPr>
            </a:p>
          </p:txBody>
        </p:sp>
        <p:sp>
          <p:nvSpPr>
            <p:cNvPr id="147" name="Rounded Rectangle 146"/>
            <p:cNvSpPr/>
            <p:nvPr/>
          </p:nvSpPr>
          <p:spPr>
            <a:xfrm>
              <a:off x="6166704" y="4638745"/>
              <a:ext cx="210449" cy="77293"/>
            </a:xfrm>
            <a:prstGeom prst="roundRect">
              <a:avLst/>
            </a:prstGeom>
            <a:solidFill>
              <a:schemeClr val="accent2">
                <a:lumMod val="40000"/>
                <a:lumOff val="60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endParaRPr lang="en-US" sz="800" b="1" dirty="0" smtClean="0">
                <a:solidFill>
                  <a:prstClr val="black"/>
                </a:solidFill>
              </a:endParaRPr>
            </a:p>
          </p:txBody>
        </p:sp>
        <p:sp>
          <p:nvSpPr>
            <p:cNvPr id="148" name="Rounded Rectangle 147"/>
            <p:cNvSpPr/>
            <p:nvPr/>
          </p:nvSpPr>
          <p:spPr>
            <a:xfrm>
              <a:off x="6166704" y="4738935"/>
              <a:ext cx="210449" cy="77293"/>
            </a:xfrm>
            <a:prstGeom prst="roundRect">
              <a:avLst/>
            </a:prstGeom>
            <a:solidFill>
              <a:schemeClr val="bg1">
                <a:lumMod val="65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endParaRPr lang="en-US" sz="800" b="1" dirty="0" smtClean="0">
                <a:solidFill>
                  <a:prstClr val="black"/>
                </a:solidFill>
              </a:endParaRPr>
            </a:p>
          </p:txBody>
        </p:sp>
      </p:grpSp>
      <p:sp>
        <p:nvSpPr>
          <p:cNvPr id="80" name="Rounded Rectangle 79"/>
          <p:cNvSpPr/>
          <p:nvPr/>
        </p:nvSpPr>
        <p:spPr>
          <a:xfrm>
            <a:off x="5763783" y="3951315"/>
            <a:ext cx="581025" cy="135731"/>
          </a:xfrm>
          <a:prstGeom prst="roundRect">
            <a:avLst/>
          </a:prstGeom>
          <a:solidFill>
            <a:schemeClr val="accent1">
              <a:lumMod val="60000"/>
              <a:lumOff val="40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schemeClr val="tx1"/>
                </a:solidFill>
                <a:latin typeface="Calibri" pitchFamily="34" charset="0"/>
                <a:cs typeface="Calibri" pitchFamily="34" charset="0"/>
              </a:rPr>
              <a:t>BSAM AV</a:t>
            </a:r>
          </a:p>
        </p:txBody>
      </p:sp>
      <p:sp>
        <p:nvSpPr>
          <p:cNvPr id="88" name="Rounded Rectangle 87"/>
          <p:cNvSpPr/>
          <p:nvPr/>
        </p:nvSpPr>
        <p:spPr>
          <a:xfrm>
            <a:off x="6685796" y="3951791"/>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SA’s</a:t>
            </a:r>
          </a:p>
        </p:txBody>
      </p:sp>
      <p:sp>
        <p:nvSpPr>
          <p:cNvPr id="113" name="Rounded Rectangle 112"/>
          <p:cNvSpPr/>
          <p:nvPr/>
        </p:nvSpPr>
        <p:spPr>
          <a:xfrm>
            <a:off x="7600213" y="3953219"/>
            <a:ext cx="581025" cy="135731"/>
          </a:xfrm>
          <a:prstGeom prst="roundRect">
            <a:avLst/>
          </a:prstGeom>
          <a:solidFill>
            <a:schemeClr val="bg1">
              <a:lumMod val="85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Comp’s</a:t>
            </a:r>
          </a:p>
        </p:txBody>
      </p:sp>
      <p:cxnSp>
        <p:nvCxnSpPr>
          <p:cNvPr id="114" name="Straight Connector 113"/>
          <p:cNvCxnSpPr>
            <a:stCxn id="80" idx="3"/>
            <a:endCxn id="88" idx="1"/>
          </p:cNvCxnSpPr>
          <p:nvPr/>
        </p:nvCxnSpPr>
        <p:spPr>
          <a:xfrm>
            <a:off x="6344808" y="4019181"/>
            <a:ext cx="340988" cy="4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88" idx="3"/>
            <a:endCxn id="113" idx="1"/>
          </p:cNvCxnSpPr>
          <p:nvPr/>
        </p:nvCxnSpPr>
        <p:spPr>
          <a:xfrm>
            <a:off x="7266846" y="4019657"/>
            <a:ext cx="333375" cy="142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Elbow Connector 9"/>
          <p:cNvCxnSpPr>
            <a:stCxn id="140" idx="3"/>
          </p:cNvCxnSpPr>
          <p:nvPr/>
        </p:nvCxnSpPr>
        <p:spPr>
          <a:xfrm>
            <a:off x="8390770" y="1909580"/>
            <a:ext cx="12700" cy="1761174"/>
          </a:xfrm>
          <a:prstGeom prst="bentConnector4">
            <a:avLst>
              <a:gd name="adj1" fmla="val 1500000"/>
              <a:gd name="adj2" fmla="val 99829"/>
            </a:avLst>
          </a:prstGeom>
          <a:ln w="12700" cmpd="sng">
            <a:solidFill>
              <a:srgbClr val="0000FF"/>
            </a:solidFill>
            <a:tailEnd type="none"/>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rot="16200000">
            <a:off x="8348498" y="2655300"/>
            <a:ext cx="696024" cy="246221"/>
          </a:xfrm>
          <a:prstGeom prst="rect">
            <a:avLst/>
          </a:prstGeom>
          <a:noFill/>
        </p:spPr>
        <p:txBody>
          <a:bodyPr wrap="none" rtlCol="0">
            <a:spAutoFit/>
          </a:bodyPr>
          <a:lstStyle/>
          <a:p>
            <a:pPr marL="0" defTabSz="430213">
              <a:spcAft>
                <a:spcPts val="400"/>
              </a:spcAft>
              <a:buSzPct val="100000"/>
            </a:pPr>
            <a:r>
              <a:rPr lang="en-US" sz="1000" dirty="0" smtClean="0">
                <a:solidFill>
                  <a:srgbClr val="0000FF"/>
                </a:solidFill>
                <a:latin typeface="Calibri" pitchFamily="34" charset="0"/>
                <a:cs typeface="Calibri" pitchFamily="34" charset="0"/>
              </a:rPr>
              <a:t>Same AVs</a:t>
            </a:r>
          </a:p>
        </p:txBody>
      </p:sp>
      <p:sp>
        <p:nvSpPr>
          <p:cNvPr id="116" name="Rounded Rectangle 115"/>
          <p:cNvSpPr/>
          <p:nvPr/>
        </p:nvSpPr>
        <p:spPr>
          <a:xfrm>
            <a:off x="5753607" y="2269603"/>
            <a:ext cx="581025" cy="135731"/>
          </a:xfrm>
          <a:prstGeom prst="roundRect">
            <a:avLst/>
          </a:prstGeom>
          <a:solidFill>
            <a:schemeClr val="accent1">
              <a:lumMod val="60000"/>
              <a:lumOff val="40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schemeClr val="tx1"/>
                </a:solidFill>
                <a:latin typeface="Calibri" pitchFamily="34" charset="0"/>
                <a:cs typeface="Calibri" pitchFamily="34" charset="0"/>
              </a:rPr>
              <a:t>IDS AV</a:t>
            </a:r>
          </a:p>
        </p:txBody>
      </p:sp>
      <p:cxnSp>
        <p:nvCxnSpPr>
          <p:cNvPr id="118" name="Shape 98"/>
          <p:cNvCxnSpPr/>
          <p:nvPr/>
        </p:nvCxnSpPr>
        <p:spPr>
          <a:xfrm rot="16200000" flipH="1">
            <a:off x="5177497" y="3430976"/>
            <a:ext cx="558395" cy="614203"/>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117" name="Rounded Rectangle 116"/>
          <p:cNvSpPr/>
          <p:nvPr/>
        </p:nvSpPr>
        <p:spPr>
          <a:xfrm>
            <a:off x="361950" y="95251"/>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21</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509989802"/>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9"/>
          <p:cNvSpPr>
            <a:spLocks noGrp="1"/>
          </p:cNvSpPr>
          <p:nvPr>
            <p:ph type="subTitle" idx="1"/>
          </p:nvPr>
        </p:nvSpPr>
        <p:spPr/>
        <p:txBody>
          <a:bodyPr/>
          <a:lstStyle/>
          <a:p>
            <a:r>
              <a:rPr lang="en-US" dirty="0" smtClean="0"/>
              <a:t>Unique BSaM AV for “A” BOM, Unique IDS AV for “C” BOM</a:t>
            </a:r>
            <a:endParaRPr lang="en-US" dirty="0"/>
          </a:p>
        </p:txBody>
      </p:sp>
      <p:sp>
        <p:nvSpPr>
          <p:cNvPr id="7" name="Title 6"/>
          <p:cNvSpPr>
            <a:spLocks noGrp="1"/>
          </p:cNvSpPr>
          <p:nvPr>
            <p:ph type="title"/>
          </p:nvPr>
        </p:nvSpPr>
        <p:spPr/>
        <p:txBody>
          <a:bodyPr/>
          <a:lstStyle/>
          <a:p>
            <a:r>
              <a:rPr lang="en-US" dirty="0" smtClean="0"/>
              <a:t>BSaM Cost Adjustment – Proposal E</a:t>
            </a:r>
            <a:endParaRPr lang="en-US" dirty="0"/>
          </a:p>
        </p:txBody>
      </p:sp>
      <p:sp>
        <p:nvSpPr>
          <p:cNvPr id="9" name="Rounded Rectangle 8"/>
          <p:cNvSpPr/>
          <p:nvPr/>
        </p:nvSpPr>
        <p:spPr>
          <a:xfrm>
            <a:off x="448731" y="1495115"/>
            <a:ext cx="5367869" cy="2978136"/>
          </a:xfrm>
          <a:prstGeom prst="round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2400" b="1" dirty="0" smtClean="0">
                <a:solidFill>
                  <a:prstClr val="black"/>
                </a:solidFill>
              </a:rPr>
              <a:t>ODM </a:t>
            </a:r>
          </a:p>
          <a:p>
            <a:pPr algn="ctr" defTabSz="914400" fontAlgn="base">
              <a:spcBef>
                <a:spcPct val="0"/>
              </a:spcBef>
              <a:spcAft>
                <a:spcPct val="0"/>
              </a:spcAft>
            </a:pPr>
            <a:endParaRPr lang="en-US" sz="1400" b="1" dirty="0" smtClean="0">
              <a:solidFill>
                <a:prstClr val="black"/>
              </a:solidFill>
            </a:endParaRPr>
          </a:p>
          <a:p>
            <a:pPr algn="ctr" defTabSz="914400" fontAlgn="base">
              <a:spcBef>
                <a:spcPct val="0"/>
              </a:spcBef>
              <a:spcAft>
                <a:spcPct val="0"/>
              </a:spcAft>
            </a:pPr>
            <a:endParaRPr lang="en-US" sz="1400" b="1" dirty="0" smtClean="0">
              <a:solidFill>
                <a:prstClr val="black"/>
              </a:solidFill>
            </a:endParaRPr>
          </a:p>
          <a:p>
            <a:pPr algn="ctr" defTabSz="914400" fontAlgn="base">
              <a:spcBef>
                <a:spcPct val="0"/>
              </a:spcBef>
              <a:spcAft>
                <a:spcPct val="0"/>
              </a:spcAft>
            </a:pPr>
            <a:endParaRPr lang="en-US" sz="2400" b="1" dirty="0" smtClean="0">
              <a:solidFill>
                <a:prstClr val="black"/>
              </a:solidFill>
            </a:endParaRPr>
          </a:p>
          <a:p>
            <a:pPr algn="ctr" defTabSz="914400" fontAlgn="base">
              <a:spcBef>
                <a:spcPct val="0"/>
              </a:spcBef>
              <a:spcAft>
                <a:spcPct val="0"/>
              </a:spcAft>
            </a:pPr>
            <a:endParaRPr lang="en-US" sz="2400" b="1" dirty="0">
              <a:solidFill>
                <a:prstClr val="black"/>
              </a:solidFill>
            </a:endParaRPr>
          </a:p>
          <a:p>
            <a:pPr algn="ctr" defTabSz="914400" fontAlgn="base">
              <a:spcBef>
                <a:spcPct val="0"/>
              </a:spcBef>
              <a:spcAft>
                <a:spcPct val="0"/>
              </a:spcAft>
            </a:pPr>
            <a:endParaRPr lang="en-US" sz="2400" b="1" dirty="0" smtClean="0">
              <a:solidFill>
                <a:prstClr val="black"/>
              </a:solidFill>
            </a:endParaRPr>
          </a:p>
          <a:p>
            <a:pPr algn="ctr" defTabSz="914400" fontAlgn="base">
              <a:spcBef>
                <a:spcPct val="0"/>
              </a:spcBef>
              <a:spcAft>
                <a:spcPct val="0"/>
              </a:spcAft>
            </a:pPr>
            <a:endParaRPr lang="en-US" sz="2400" b="1" dirty="0">
              <a:solidFill>
                <a:prstClr val="black"/>
              </a:solidFill>
            </a:endParaRPr>
          </a:p>
          <a:p>
            <a:pPr algn="ctr" defTabSz="914400" fontAlgn="base">
              <a:spcBef>
                <a:spcPct val="0"/>
              </a:spcBef>
              <a:spcAft>
                <a:spcPct val="0"/>
              </a:spcAft>
            </a:pPr>
            <a:endParaRPr lang="en-US" sz="2400" b="1" dirty="0" smtClean="0">
              <a:solidFill>
                <a:prstClr val="black"/>
              </a:solidFill>
            </a:endParaRPr>
          </a:p>
          <a:p>
            <a:pPr algn="ctr" defTabSz="914400" fontAlgn="base">
              <a:spcBef>
                <a:spcPct val="0"/>
              </a:spcBef>
              <a:spcAft>
                <a:spcPct val="0"/>
              </a:spcAft>
            </a:pPr>
            <a:endParaRPr lang="en-US" sz="2400" b="1" dirty="0" smtClean="0">
              <a:solidFill>
                <a:prstClr val="black"/>
              </a:solidFill>
            </a:endParaRPr>
          </a:p>
          <a:p>
            <a:pPr algn="ctr" defTabSz="914400" fontAlgn="base">
              <a:spcBef>
                <a:spcPct val="0"/>
              </a:spcBef>
              <a:spcAft>
                <a:spcPct val="0"/>
              </a:spcAft>
            </a:pPr>
            <a:endParaRPr lang="en-US" sz="2400" b="1" dirty="0" smtClean="0">
              <a:solidFill>
                <a:prstClr val="black"/>
              </a:solidFill>
            </a:endParaRPr>
          </a:p>
          <a:p>
            <a:pPr algn="ctr" defTabSz="914400" fontAlgn="base">
              <a:spcBef>
                <a:spcPct val="0"/>
              </a:spcBef>
              <a:spcAft>
                <a:spcPct val="0"/>
              </a:spcAft>
            </a:pPr>
            <a:endParaRPr lang="en-US" sz="2400" b="1" dirty="0" smtClean="0">
              <a:solidFill>
                <a:prstClr val="black"/>
              </a:solidFill>
            </a:endParaRPr>
          </a:p>
        </p:txBody>
      </p:sp>
      <p:sp>
        <p:nvSpPr>
          <p:cNvPr id="11" name="TextBox 10"/>
          <p:cNvSpPr txBox="1"/>
          <p:nvPr/>
        </p:nvSpPr>
        <p:spPr>
          <a:xfrm>
            <a:off x="929014" y="1640333"/>
            <a:ext cx="1769009" cy="412421"/>
          </a:xfrm>
          <a:prstGeom prst="rect">
            <a:avLst/>
          </a:prstGeom>
          <a:noFill/>
        </p:spPr>
        <p:txBody>
          <a:bodyPr wrap="none" rtlCol="0">
            <a:spAutoFit/>
          </a:bodyPr>
          <a:lstStyle/>
          <a:p>
            <a:pPr algn="ctr" defTabSz="914400" fontAlgn="base">
              <a:lnSpc>
                <a:spcPct val="80000"/>
              </a:lnSpc>
              <a:spcBef>
                <a:spcPct val="0"/>
              </a:spcBef>
              <a:spcAft>
                <a:spcPct val="0"/>
              </a:spcAft>
            </a:pPr>
            <a:r>
              <a:rPr lang="en-US" sz="1600" b="1" dirty="0" smtClean="0">
                <a:solidFill>
                  <a:prstClr val="black"/>
                </a:solidFill>
              </a:rPr>
              <a:t>IDS C Part Number</a:t>
            </a:r>
          </a:p>
          <a:p>
            <a:pPr algn="ctr" defTabSz="914400" fontAlgn="base">
              <a:lnSpc>
                <a:spcPct val="80000"/>
              </a:lnSpc>
              <a:spcBef>
                <a:spcPct val="0"/>
              </a:spcBef>
              <a:spcAft>
                <a:spcPct val="0"/>
              </a:spcAft>
            </a:pPr>
            <a:r>
              <a:rPr lang="en-US" sz="1000" b="1" dirty="0" smtClean="0">
                <a:solidFill>
                  <a:prstClr val="black">
                    <a:lumMod val="75000"/>
                    <a:lumOff val="25000"/>
                  </a:prstClr>
                </a:solidFill>
              </a:rPr>
              <a:t>CCCCCC#CCC</a:t>
            </a:r>
            <a:endParaRPr lang="en-US" sz="1000" b="1" dirty="0">
              <a:solidFill>
                <a:prstClr val="black">
                  <a:lumMod val="75000"/>
                  <a:lumOff val="25000"/>
                </a:prstClr>
              </a:solidFill>
            </a:endParaRPr>
          </a:p>
        </p:txBody>
      </p:sp>
      <p:sp>
        <p:nvSpPr>
          <p:cNvPr id="18" name="TextBox 17"/>
          <p:cNvSpPr txBox="1"/>
          <p:nvPr/>
        </p:nvSpPr>
        <p:spPr>
          <a:xfrm>
            <a:off x="3405022" y="1640333"/>
            <a:ext cx="1972591" cy="412421"/>
          </a:xfrm>
          <a:prstGeom prst="rect">
            <a:avLst/>
          </a:prstGeom>
          <a:noFill/>
        </p:spPr>
        <p:txBody>
          <a:bodyPr wrap="none" rtlCol="0">
            <a:spAutoFit/>
          </a:bodyPr>
          <a:lstStyle/>
          <a:p>
            <a:pPr algn="ctr" defTabSz="914400" fontAlgn="base">
              <a:lnSpc>
                <a:spcPct val="80000"/>
              </a:lnSpc>
              <a:spcBef>
                <a:spcPct val="0"/>
              </a:spcBef>
              <a:spcAft>
                <a:spcPct val="0"/>
              </a:spcAft>
            </a:pPr>
            <a:r>
              <a:rPr lang="en-US" sz="1600" b="1" dirty="0" err="1" smtClean="0">
                <a:solidFill>
                  <a:prstClr val="black"/>
                </a:solidFill>
              </a:rPr>
              <a:t>BSaM</a:t>
            </a:r>
            <a:r>
              <a:rPr lang="en-US" sz="1600" b="1" dirty="0" smtClean="0">
                <a:solidFill>
                  <a:prstClr val="black"/>
                </a:solidFill>
              </a:rPr>
              <a:t> A Part Number</a:t>
            </a:r>
          </a:p>
          <a:p>
            <a:pPr algn="ctr" defTabSz="914400" fontAlgn="base">
              <a:lnSpc>
                <a:spcPct val="80000"/>
              </a:lnSpc>
              <a:spcBef>
                <a:spcPct val="0"/>
              </a:spcBef>
              <a:spcAft>
                <a:spcPct val="0"/>
              </a:spcAft>
            </a:pPr>
            <a:r>
              <a:rPr lang="en-US" sz="1000" b="1" dirty="0" smtClean="0">
                <a:solidFill>
                  <a:prstClr val="black"/>
                </a:solidFill>
              </a:rPr>
              <a:t>AAAAAA#AAA</a:t>
            </a:r>
            <a:endParaRPr lang="en-US" sz="1000" b="1" dirty="0">
              <a:solidFill>
                <a:prstClr val="black"/>
              </a:solidFill>
            </a:endParaRPr>
          </a:p>
        </p:txBody>
      </p:sp>
      <p:sp>
        <p:nvSpPr>
          <p:cNvPr id="13" name="TextBox 12"/>
          <p:cNvSpPr txBox="1"/>
          <p:nvPr/>
        </p:nvSpPr>
        <p:spPr>
          <a:xfrm>
            <a:off x="372547" y="4527225"/>
            <a:ext cx="3113353" cy="253916"/>
          </a:xfrm>
          <a:prstGeom prst="rect">
            <a:avLst/>
          </a:prstGeom>
          <a:noFill/>
        </p:spPr>
        <p:txBody>
          <a:bodyPr wrap="none" rtlCol="0">
            <a:spAutoFit/>
          </a:bodyPr>
          <a:lstStyle/>
          <a:p>
            <a:pPr defTabSz="914400" fontAlgn="base">
              <a:spcBef>
                <a:spcPct val="0"/>
              </a:spcBef>
              <a:spcAft>
                <a:spcPct val="0"/>
              </a:spcAft>
            </a:pPr>
            <a:r>
              <a:rPr lang="en-US" sz="1050" dirty="0" smtClean="0">
                <a:solidFill>
                  <a:prstClr val="black"/>
                </a:solidFill>
                <a:latin typeface="Arial" charset="0"/>
              </a:rPr>
              <a:t>** Shown pricing is for explanation purposes only</a:t>
            </a:r>
            <a:endParaRPr lang="en-US" sz="1050" dirty="0">
              <a:solidFill>
                <a:prstClr val="black"/>
              </a:solidFill>
              <a:latin typeface="Arial" charset="0"/>
            </a:endParaRP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19750" y="2089192"/>
            <a:ext cx="2396418" cy="2248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3225209" y="2103685"/>
            <a:ext cx="2396418" cy="16893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2" name="TextBox 11"/>
          <p:cNvSpPr txBox="1"/>
          <p:nvPr/>
        </p:nvSpPr>
        <p:spPr>
          <a:xfrm>
            <a:off x="6011318" y="1457061"/>
            <a:ext cx="2768002" cy="2400657"/>
          </a:xfrm>
          <a:prstGeom prst="rect">
            <a:avLst/>
          </a:prstGeom>
          <a:noFill/>
        </p:spPr>
        <p:txBody>
          <a:bodyPr wrap="none" rtlCol="0">
            <a:spAutoFit/>
          </a:bodyPr>
          <a:lstStyle/>
          <a:p>
            <a:pPr marL="171450" indent="-171450" defTabSz="430213">
              <a:spcAft>
                <a:spcPts val="400"/>
              </a:spcAft>
              <a:buSzPct val="100000"/>
              <a:buFont typeface="Arial" charset="0"/>
              <a:buChar char="•"/>
            </a:pPr>
            <a:r>
              <a:rPr lang="en-US" sz="1200" dirty="0" smtClean="0">
                <a:solidFill>
                  <a:srgbClr val="FF0000"/>
                </a:solidFill>
                <a:latin typeface="HP Simplified" pitchFamily="34" charset="0"/>
                <a:cs typeface="HP Simplified" pitchFamily="34" charset="0"/>
              </a:rPr>
              <a:t>Add BSaM AV to A BOM.  All unique </a:t>
            </a:r>
          </a:p>
          <a:p>
            <a:pPr marL="169863" indent="-119063" defTabSz="430213">
              <a:spcAft>
                <a:spcPts val="400"/>
              </a:spcAft>
              <a:buSzPct val="100000"/>
            </a:pPr>
            <a:r>
              <a:rPr lang="en-US" sz="1200" dirty="0" smtClean="0">
                <a:solidFill>
                  <a:srgbClr val="FF0000"/>
                </a:solidFill>
                <a:latin typeface="HP Simplified" pitchFamily="34" charset="0"/>
                <a:cs typeface="HP Simplified" pitchFamily="34" charset="0"/>
              </a:rPr>
              <a:t>	BSaM material to be positioned under</a:t>
            </a:r>
          </a:p>
          <a:p>
            <a:pPr marL="169863" indent="-119063" defTabSz="430213">
              <a:spcAft>
                <a:spcPts val="400"/>
              </a:spcAft>
              <a:buSzPct val="100000"/>
            </a:pPr>
            <a:r>
              <a:rPr lang="en-US" sz="1200" dirty="0">
                <a:solidFill>
                  <a:srgbClr val="FF0000"/>
                </a:solidFill>
                <a:latin typeface="HP Simplified" pitchFamily="34" charset="0"/>
                <a:cs typeface="HP Simplified" pitchFamily="34" charset="0"/>
              </a:rPr>
              <a:t>	</a:t>
            </a:r>
            <a:r>
              <a:rPr lang="en-US" sz="1200" dirty="0" smtClean="0">
                <a:solidFill>
                  <a:srgbClr val="FF0000"/>
                </a:solidFill>
                <a:latin typeface="HP Simplified" pitchFamily="34" charset="0"/>
                <a:cs typeface="HP Simplified" pitchFamily="34" charset="0"/>
              </a:rPr>
              <a:t>BSaM AV (Example: BSaM Bulk Box)</a:t>
            </a:r>
          </a:p>
          <a:p>
            <a:pPr marL="169863" indent="-119063" defTabSz="430213">
              <a:spcAft>
                <a:spcPts val="400"/>
              </a:spcAft>
              <a:buSzPct val="100000"/>
            </a:pPr>
            <a:endParaRPr lang="en-US" sz="1200" dirty="0" smtClean="0">
              <a:solidFill>
                <a:srgbClr val="FF0000"/>
              </a:solidFill>
              <a:latin typeface="HP Simplified" pitchFamily="34" charset="0"/>
              <a:cs typeface="HP Simplified" pitchFamily="34" charset="0"/>
            </a:endParaRPr>
          </a:p>
          <a:p>
            <a:pPr marL="171450" indent="-171450" defTabSz="430213">
              <a:spcAft>
                <a:spcPts val="400"/>
              </a:spcAft>
              <a:buSzPct val="100000"/>
              <a:buFont typeface="Arial" charset="0"/>
              <a:buChar char="•"/>
            </a:pPr>
            <a:r>
              <a:rPr lang="en-US" sz="1200" dirty="0" smtClean="0">
                <a:solidFill>
                  <a:srgbClr val="FF0000"/>
                </a:solidFill>
                <a:latin typeface="HP Simplified" pitchFamily="34" charset="0"/>
                <a:cs typeface="HP Simplified" pitchFamily="34" charset="0"/>
              </a:rPr>
              <a:t>Add IDS AV to C BOM.  All IDS unique</a:t>
            </a:r>
          </a:p>
          <a:p>
            <a:pPr marL="169863" indent="-169863" defTabSz="430213">
              <a:spcAft>
                <a:spcPts val="400"/>
              </a:spcAft>
              <a:buSzPct val="100000"/>
            </a:pPr>
            <a:r>
              <a:rPr lang="en-US" sz="1200" dirty="0">
                <a:solidFill>
                  <a:srgbClr val="FF0000"/>
                </a:solidFill>
                <a:latin typeface="HP Simplified" pitchFamily="34" charset="0"/>
                <a:cs typeface="HP Simplified" pitchFamily="34" charset="0"/>
              </a:rPr>
              <a:t>	</a:t>
            </a:r>
            <a:r>
              <a:rPr lang="en-US" sz="1200" dirty="0" smtClean="0">
                <a:solidFill>
                  <a:srgbClr val="FF0000"/>
                </a:solidFill>
                <a:latin typeface="HP Simplified" pitchFamily="34" charset="0"/>
                <a:cs typeface="HP Simplified" pitchFamily="34" charset="0"/>
              </a:rPr>
              <a:t>Material to be positioned under IDS AV</a:t>
            </a:r>
          </a:p>
          <a:p>
            <a:pPr marL="169863" indent="-169863" defTabSz="430213">
              <a:spcAft>
                <a:spcPts val="400"/>
              </a:spcAft>
              <a:buSzPct val="100000"/>
            </a:pPr>
            <a:r>
              <a:rPr lang="en-US" sz="1200" dirty="0">
                <a:solidFill>
                  <a:srgbClr val="FF0000"/>
                </a:solidFill>
                <a:latin typeface="HP Simplified" pitchFamily="34" charset="0"/>
                <a:cs typeface="HP Simplified" pitchFamily="34" charset="0"/>
              </a:rPr>
              <a:t>	</a:t>
            </a:r>
            <a:r>
              <a:rPr lang="en-US" sz="1200" dirty="0" smtClean="0">
                <a:solidFill>
                  <a:srgbClr val="FF0000"/>
                </a:solidFill>
                <a:latin typeface="HP Simplified" pitchFamily="34" charset="0"/>
                <a:cs typeface="HP Simplified" pitchFamily="34" charset="0"/>
              </a:rPr>
              <a:t>(Example: Single FG Carton)</a:t>
            </a:r>
          </a:p>
          <a:p>
            <a:pPr defTabSz="430213">
              <a:spcAft>
                <a:spcPts val="400"/>
              </a:spcAft>
              <a:buSzPct val="100000"/>
            </a:pPr>
            <a:endParaRPr lang="en-US" sz="1200" dirty="0" smtClean="0">
              <a:solidFill>
                <a:srgbClr val="FF0000"/>
              </a:solidFill>
              <a:latin typeface="HP Simplified" pitchFamily="34" charset="0"/>
              <a:cs typeface="HP Simplified" pitchFamily="34" charset="0"/>
            </a:endParaRPr>
          </a:p>
          <a:p>
            <a:pPr defTabSz="430213">
              <a:spcAft>
                <a:spcPts val="400"/>
              </a:spcAft>
              <a:buSzPct val="100000"/>
            </a:pPr>
            <a:endParaRPr lang="en-US" sz="1200" dirty="0" smtClean="0">
              <a:solidFill>
                <a:srgbClr val="FF0000"/>
              </a:solidFill>
              <a:latin typeface="HP Simplified" pitchFamily="34" charset="0"/>
              <a:cs typeface="HP Simplified" pitchFamily="34" charset="0"/>
            </a:endParaRPr>
          </a:p>
          <a:p>
            <a:pPr marL="0" defTabSz="430213">
              <a:spcAft>
                <a:spcPts val="400"/>
              </a:spcAft>
              <a:buSzPct val="100000"/>
            </a:pPr>
            <a:endParaRPr lang="en-US" sz="1200" dirty="0" smtClean="0">
              <a:solidFill>
                <a:srgbClr val="FF0000"/>
              </a:solidFill>
              <a:latin typeface="HP Simplified" pitchFamily="34" charset="0"/>
              <a:cs typeface="HP Simplified" pitchFamily="34" charset="0"/>
            </a:endParaRPr>
          </a:p>
        </p:txBody>
      </p:sp>
      <p:sp>
        <p:nvSpPr>
          <p:cNvPr id="14" name="TextBox 13"/>
          <p:cNvSpPr txBox="1"/>
          <p:nvPr/>
        </p:nvSpPr>
        <p:spPr>
          <a:xfrm>
            <a:off x="5276850" y="958850"/>
            <a:ext cx="3596818" cy="338554"/>
          </a:xfrm>
          <a:prstGeom prst="rect">
            <a:avLst/>
          </a:prstGeom>
          <a:noFill/>
        </p:spPr>
        <p:txBody>
          <a:bodyPr wrap="none" rtlCol="0">
            <a:spAutoFit/>
          </a:bodyPr>
          <a:lstStyle/>
          <a:p>
            <a:pPr marL="0" defTabSz="430213">
              <a:spcAft>
                <a:spcPts val="400"/>
              </a:spcAft>
              <a:buSzPct val="100000"/>
            </a:pPr>
            <a:r>
              <a:rPr lang="en-US" sz="1600" dirty="0" smtClean="0">
                <a:solidFill>
                  <a:srgbClr val="FF0000"/>
                </a:solidFill>
                <a:latin typeface="HP Simplified" pitchFamily="34" charset="0"/>
                <a:cs typeface="HP Simplified" pitchFamily="34" charset="0"/>
              </a:rPr>
              <a:t>Proposal E has been selected as solution</a:t>
            </a:r>
          </a:p>
        </p:txBody>
      </p:sp>
      <p:sp>
        <p:nvSpPr>
          <p:cNvPr id="15" name="Rounded Rectangle 1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22</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165988498"/>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marL="285750" indent="-285750">
              <a:lnSpc>
                <a:spcPct val="85000"/>
              </a:lnSpc>
              <a:buFont typeface="Arial" pitchFamily="34" charset="0"/>
              <a:buChar char="•"/>
            </a:pPr>
            <a:r>
              <a:rPr lang="en-US" dirty="0" smtClean="0"/>
              <a:t>Unique AVs with Unique SAs</a:t>
            </a:r>
          </a:p>
          <a:p>
            <a:pPr marL="627063" lvl="3" indent="-285750">
              <a:lnSpc>
                <a:spcPct val="85000"/>
              </a:lnSpc>
              <a:buFont typeface="Arial" pitchFamily="34" charset="0"/>
              <a:buChar char="•"/>
            </a:pPr>
            <a:r>
              <a:rPr lang="en-US" dirty="0" smtClean="0">
                <a:solidFill>
                  <a:schemeClr val="tx1"/>
                </a:solidFill>
              </a:rPr>
              <a:t>Tie unique SA (Sub-Assembly PN) to each Unique AV; one to one relationship </a:t>
            </a:r>
          </a:p>
          <a:p>
            <a:pPr lvl="3" indent="0">
              <a:lnSpc>
                <a:spcPct val="85000"/>
              </a:lnSpc>
              <a:buNone/>
            </a:pPr>
            <a:r>
              <a:rPr lang="en-US" dirty="0">
                <a:solidFill>
                  <a:schemeClr val="tx1"/>
                </a:solidFill>
              </a:rPr>
              <a:t>	</a:t>
            </a:r>
            <a:r>
              <a:rPr lang="en-US" dirty="0" smtClean="0">
                <a:solidFill>
                  <a:schemeClr val="tx1"/>
                </a:solidFill>
              </a:rPr>
              <a:t>	BSaM AV </a:t>
            </a:r>
            <a:r>
              <a:rPr lang="en-US" dirty="0" smtClean="0">
                <a:solidFill>
                  <a:schemeClr val="tx1"/>
                </a:solidFill>
                <a:sym typeface="Wingdings" pitchFamily="2" charset="2"/>
              </a:rPr>
              <a:t> BSaM SA, IDS AV  IDS SA</a:t>
            </a:r>
          </a:p>
          <a:p>
            <a:pPr marL="627063" lvl="3" indent="-285750">
              <a:lnSpc>
                <a:spcPct val="85000"/>
              </a:lnSpc>
              <a:buFont typeface="Arial" pitchFamily="34" charset="0"/>
              <a:buChar char="•"/>
            </a:pPr>
            <a:r>
              <a:rPr lang="en-US" dirty="0" smtClean="0">
                <a:solidFill>
                  <a:schemeClr val="tx1"/>
                </a:solidFill>
                <a:sym typeface="Wingdings" pitchFamily="2" charset="2"/>
              </a:rPr>
              <a:t>ODM to tie all detailed material (not visible to HP) to the Unique SA’s in their Super BOM.</a:t>
            </a:r>
          </a:p>
          <a:p>
            <a:pPr lvl="4" indent="0">
              <a:lnSpc>
                <a:spcPct val="85000"/>
              </a:lnSpc>
              <a:buNone/>
            </a:pPr>
            <a:r>
              <a:rPr lang="en-US" dirty="0">
                <a:solidFill>
                  <a:schemeClr val="tx1"/>
                </a:solidFill>
                <a:sym typeface="Wingdings" pitchFamily="2" charset="2"/>
              </a:rPr>
              <a:t>	</a:t>
            </a:r>
            <a:r>
              <a:rPr lang="en-US" dirty="0" smtClean="0">
                <a:solidFill>
                  <a:schemeClr val="tx1"/>
                </a:solidFill>
                <a:sym typeface="Wingdings" pitchFamily="2" charset="2"/>
              </a:rPr>
              <a:t>Detailed material unique to IDS will be tied to IDS SA; includes ODM material transparent to HP </a:t>
            </a:r>
          </a:p>
          <a:p>
            <a:pPr lvl="4" indent="0">
              <a:lnSpc>
                <a:spcPct val="85000"/>
              </a:lnSpc>
              <a:buNone/>
            </a:pPr>
            <a:r>
              <a:rPr lang="en-US" dirty="0">
                <a:solidFill>
                  <a:schemeClr val="tx1"/>
                </a:solidFill>
                <a:sym typeface="Wingdings" pitchFamily="2" charset="2"/>
              </a:rPr>
              <a:t>	</a:t>
            </a:r>
            <a:r>
              <a:rPr lang="en-US" dirty="0" smtClean="0">
                <a:solidFill>
                  <a:schemeClr val="tx1"/>
                </a:solidFill>
                <a:sym typeface="Wingdings" pitchFamily="2" charset="2"/>
              </a:rPr>
              <a:t>Detailed material unique to BSaM to BSaM SA; </a:t>
            </a:r>
            <a:r>
              <a:rPr lang="en-US" dirty="0">
                <a:solidFill>
                  <a:schemeClr val="tx1"/>
                </a:solidFill>
                <a:sym typeface="Wingdings" pitchFamily="2" charset="2"/>
              </a:rPr>
              <a:t>includes ODM material transparent to HP </a:t>
            </a:r>
            <a:endParaRPr lang="en-US" dirty="0" smtClean="0">
              <a:solidFill>
                <a:schemeClr val="tx1"/>
              </a:solidFill>
              <a:sym typeface="Wingdings" pitchFamily="2" charset="2"/>
            </a:endParaRPr>
          </a:p>
          <a:p>
            <a:pPr lvl="4" indent="0">
              <a:lnSpc>
                <a:spcPct val="85000"/>
              </a:lnSpc>
              <a:buNone/>
            </a:pPr>
            <a:r>
              <a:rPr lang="en-US" dirty="0">
                <a:solidFill>
                  <a:schemeClr val="tx1"/>
                </a:solidFill>
                <a:sym typeface="Wingdings" pitchFamily="2" charset="2"/>
              </a:rPr>
              <a:t>	</a:t>
            </a:r>
            <a:r>
              <a:rPr lang="en-US" dirty="0" smtClean="0">
                <a:solidFill>
                  <a:schemeClr val="tx1"/>
                </a:solidFill>
                <a:sym typeface="Wingdings" pitchFamily="2" charset="2"/>
              </a:rPr>
              <a:t>ODM cannot do this at AV level (only at SA level).</a:t>
            </a:r>
          </a:p>
          <a:p>
            <a:pPr lvl="4" indent="0">
              <a:lnSpc>
                <a:spcPct val="85000"/>
              </a:lnSpc>
              <a:buNone/>
            </a:pPr>
            <a:r>
              <a:rPr lang="en-US" sz="800" dirty="0">
                <a:sym typeface="Wingdings" pitchFamily="2" charset="2"/>
              </a:rPr>
              <a:t>	</a:t>
            </a:r>
            <a:endParaRPr lang="en-US" sz="800" dirty="0" smtClean="0"/>
          </a:p>
          <a:p>
            <a:pPr marL="285750" indent="-285750">
              <a:lnSpc>
                <a:spcPct val="85000"/>
              </a:lnSpc>
              <a:buFont typeface="Arial" pitchFamily="34" charset="0"/>
              <a:buChar char="•"/>
            </a:pPr>
            <a:r>
              <a:rPr lang="en-US" dirty="0" smtClean="0"/>
              <a:t>Program Matrix </a:t>
            </a:r>
          </a:p>
          <a:p>
            <a:pPr marL="627063" lvl="3" indent="-285750">
              <a:lnSpc>
                <a:spcPct val="85000"/>
              </a:lnSpc>
              <a:buFont typeface="Arial" pitchFamily="34" charset="0"/>
              <a:buChar char="•"/>
            </a:pPr>
            <a:r>
              <a:rPr lang="en-US" dirty="0" smtClean="0">
                <a:solidFill>
                  <a:schemeClr val="tx1"/>
                </a:solidFill>
              </a:rPr>
              <a:t>HP will need to include IDS Unique AV and BSaM Unique AV in the Program Matrix</a:t>
            </a:r>
          </a:p>
          <a:p>
            <a:pPr marL="627063" lvl="3" indent="-285750">
              <a:lnSpc>
                <a:spcPct val="85000"/>
              </a:lnSpc>
              <a:buFont typeface="Arial" pitchFamily="34" charset="0"/>
              <a:buChar char="•"/>
            </a:pPr>
            <a:r>
              <a:rPr lang="en-US" dirty="0" smtClean="0">
                <a:solidFill>
                  <a:schemeClr val="tx1"/>
                </a:solidFill>
              </a:rPr>
              <a:t>Add additional field “BSAM-SKU” next to “IDS-SKU, IDS-CTO, RCTO-SKU and RCTO-CTO.  This field will be checked to define which AV/SA/Component relate to which of the SC models  </a:t>
            </a:r>
          </a:p>
          <a:p>
            <a:pPr marL="627063" lvl="3" indent="-285750">
              <a:lnSpc>
                <a:spcPct val="85000"/>
              </a:lnSpc>
              <a:buFont typeface="Arial" pitchFamily="34" charset="0"/>
              <a:buChar char="•"/>
            </a:pPr>
            <a:endParaRPr lang="en-US" sz="800" dirty="0"/>
          </a:p>
          <a:p>
            <a:pPr marL="285750" indent="-285750">
              <a:lnSpc>
                <a:spcPct val="85000"/>
              </a:lnSpc>
              <a:buFont typeface="Arial" pitchFamily="34" charset="0"/>
              <a:buChar char="•"/>
            </a:pPr>
            <a:r>
              <a:rPr lang="en-US" dirty="0" smtClean="0"/>
              <a:t>SRP BOM </a:t>
            </a:r>
            <a:endParaRPr lang="en-US" dirty="0"/>
          </a:p>
          <a:p>
            <a:pPr marL="627063" lvl="3" indent="-285750">
              <a:lnSpc>
                <a:spcPct val="85000"/>
              </a:lnSpc>
              <a:buFont typeface="Arial" pitchFamily="34" charset="0"/>
              <a:buChar char="•"/>
            </a:pPr>
            <a:r>
              <a:rPr lang="en-US" dirty="0" smtClean="0">
                <a:solidFill>
                  <a:schemeClr val="tx1"/>
                </a:solidFill>
              </a:rPr>
              <a:t>SRP BOM will need to contain BSaM AV and IDS AVs.  An additional field/segment will need to be added/used to reflect the “A” BOM - “C” BOM Relationship.</a:t>
            </a:r>
          </a:p>
        </p:txBody>
      </p:sp>
      <p:sp>
        <p:nvSpPr>
          <p:cNvPr id="3" name="Subtitle 2"/>
          <p:cNvSpPr>
            <a:spLocks noGrp="1"/>
          </p:cNvSpPr>
          <p:nvPr>
            <p:ph type="subTitle" idx="1"/>
          </p:nvPr>
        </p:nvSpPr>
        <p:spPr/>
        <p:txBody>
          <a:bodyPr/>
          <a:lstStyle/>
          <a:p>
            <a:r>
              <a:rPr lang="en-US" b="1" dirty="0" smtClean="0">
                <a:solidFill>
                  <a:srgbClr val="FF0000"/>
                </a:solidFill>
              </a:rPr>
              <a:t> </a:t>
            </a:r>
            <a:r>
              <a:rPr lang="en-US" b="1" dirty="0">
                <a:solidFill>
                  <a:srgbClr val="FF0000"/>
                </a:solidFill>
              </a:rPr>
              <a:t> </a:t>
            </a:r>
            <a:r>
              <a:rPr lang="en-US" b="1" dirty="0" smtClean="0">
                <a:solidFill>
                  <a:srgbClr val="FF0000"/>
                </a:solidFill>
              </a:rPr>
              <a:t>Proposal based on discussion with ODMs</a:t>
            </a:r>
            <a:endParaRPr lang="en-US" dirty="0"/>
          </a:p>
        </p:txBody>
      </p:sp>
      <p:sp>
        <p:nvSpPr>
          <p:cNvPr id="4" name="Title 3"/>
          <p:cNvSpPr>
            <a:spLocks noGrp="1"/>
          </p:cNvSpPr>
          <p:nvPr>
            <p:ph type="title"/>
          </p:nvPr>
        </p:nvSpPr>
        <p:spPr/>
        <p:txBody>
          <a:bodyPr/>
          <a:lstStyle/>
          <a:p>
            <a:r>
              <a:rPr lang="en-US" dirty="0" smtClean="0"/>
              <a:t>PDM/BOM ODM Discussion Points </a:t>
            </a:r>
            <a:endParaRPr lang="en-US" dirty="0"/>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23</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4391182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 </a:t>
            </a:r>
            <a:r>
              <a:rPr lang="en-US" dirty="0" smtClean="0"/>
              <a:t>“A” SKU Example</a:t>
            </a:r>
            <a:endParaRPr lang="en-US" dirty="0"/>
          </a:p>
        </p:txBody>
      </p:sp>
      <p:sp>
        <p:nvSpPr>
          <p:cNvPr id="4" name="Title 3"/>
          <p:cNvSpPr>
            <a:spLocks noGrp="1"/>
          </p:cNvSpPr>
          <p:nvPr>
            <p:ph type="title"/>
          </p:nvPr>
        </p:nvSpPr>
        <p:spPr/>
        <p:txBody>
          <a:bodyPr/>
          <a:lstStyle/>
          <a:p>
            <a:r>
              <a:rPr lang="en-US" dirty="0" smtClean="0"/>
              <a:t>Unique AVs – BSaM/IDS SA    </a:t>
            </a:r>
            <a:r>
              <a:rPr lang="en-US" dirty="0" smtClean="0">
                <a:solidFill>
                  <a:srgbClr val="FF0000"/>
                </a:solidFill>
              </a:rPr>
              <a:t>Proposal</a:t>
            </a:r>
            <a:endParaRPr lang="en-US" dirty="0">
              <a:solidFill>
                <a:srgbClr val="FF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xmlns="" val="3161067771"/>
              </p:ext>
            </p:extLst>
          </p:nvPr>
        </p:nvGraphicFramePr>
        <p:xfrm>
          <a:off x="794065" y="1252418"/>
          <a:ext cx="3642468" cy="3423405"/>
        </p:xfrm>
        <a:graphic>
          <a:graphicData uri="http://schemas.openxmlformats.org/drawingml/2006/table">
            <a:tbl>
              <a:tblPr firstRow="1" bandRow="1">
                <a:tableStyleId>{073A0DAA-6AF3-43AB-8588-CEC1D06C72B9}</a:tableStyleId>
              </a:tblPr>
              <a:tblGrid>
                <a:gridCol w="910617"/>
                <a:gridCol w="910617"/>
                <a:gridCol w="910617"/>
                <a:gridCol w="910617"/>
              </a:tblGrid>
              <a:tr h="445770">
                <a:tc>
                  <a:txBody>
                    <a:bodyPr/>
                    <a:lstStyle/>
                    <a:p>
                      <a:pPr algn="ctr"/>
                      <a:r>
                        <a:rPr lang="en-US" sz="800" dirty="0" smtClean="0"/>
                        <a:t>Level 1</a:t>
                      </a:r>
                      <a:endParaRPr lang="en-US" sz="800" dirty="0"/>
                    </a:p>
                  </a:txBody>
                  <a:tcPr marT="34290" marB="34290"/>
                </a:tc>
                <a:tc>
                  <a:txBody>
                    <a:bodyPr/>
                    <a:lstStyle/>
                    <a:p>
                      <a:pPr algn="ctr"/>
                      <a:r>
                        <a:rPr lang="en-US" sz="800" dirty="0" smtClean="0"/>
                        <a:t>Level 2</a:t>
                      </a:r>
                      <a:endParaRPr lang="en-US" sz="800" dirty="0"/>
                    </a:p>
                  </a:txBody>
                  <a:tcPr marT="34290" marB="34290"/>
                </a:tc>
                <a:tc>
                  <a:txBody>
                    <a:bodyPr/>
                    <a:lstStyle/>
                    <a:p>
                      <a:pPr algn="ctr"/>
                      <a:r>
                        <a:rPr lang="en-US" sz="800" dirty="0" smtClean="0"/>
                        <a:t>Level 3</a:t>
                      </a:r>
                      <a:endParaRPr lang="en-US" sz="800" dirty="0"/>
                    </a:p>
                  </a:txBody>
                  <a:tcPr marT="34290" marB="34290"/>
                </a:tc>
                <a:tc>
                  <a:txBody>
                    <a:bodyPr/>
                    <a:lstStyle/>
                    <a:p>
                      <a:pPr algn="ctr"/>
                      <a:r>
                        <a:rPr lang="en-US" sz="800" dirty="0" smtClean="0"/>
                        <a:t>ODM Super BOM</a:t>
                      </a:r>
                    </a:p>
                    <a:p>
                      <a:pPr algn="ctr"/>
                      <a:r>
                        <a:rPr lang="en-US" sz="800" dirty="0" smtClean="0"/>
                        <a:t>Level 4</a:t>
                      </a:r>
                      <a:endParaRPr lang="en-US" sz="800" dirty="0"/>
                    </a:p>
                  </a:txBody>
                  <a:tcPr marT="34290" marB="34290"/>
                </a:tc>
              </a:tr>
              <a:tr h="2977635">
                <a:tc>
                  <a:txBody>
                    <a:bodyPr/>
                    <a:lstStyle/>
                    <a:p>
                      <a:endParaRPr lang="en-US" sz="800" dirty="0"/>
                    </a:p>
                  </a:txBody>
                  <a:tcPr marT="34290" marB="34290"/>
                </a:tc>
                <a:tc>
                  <a:txBody>
                    <a:bodyPr/>
                    <a:lstStyle/>
                    <a:p>
                      <a:endParaRPr lang="en-US" sz="800" dirty="0"/>
                    </a:p>
                  </a:txBody>
                  <a:tcPr marT="34290" marB="34290"/>
                </a:tc>
                <a:tc>
                  <a:txBody>
                    <a:bodyPr/>
                    <a:lstStyle/>
                    <a:p>
                      <a:endParaRPr lang="en-US" sz="800" dirty="0"/>
                    </a:p>
                  </a:txBody>
                  <a:tcPr marT="34290" marB="34290"/>
                </a:tc>
                <a:tc>
                  <a:txBody>
                    <a:bodyPr/>
                    <a:lstStyle/>
                    <a:p>
                      <a:pPr algn="ctr"/>
                      <a:endParaRPr lang="en-US" sz="800" dirty="0" smtClean="0"/>
                    </a:p>
                    <a:p>
                      <a:pPr algn="ctr"/>
                      <a:endParaRPr lang="en-US" sz="800" dirty="0" smtClean="0"/>
                    </a:p>
                    <a:p>
                      <a:pPr algn="ctr"/>
                      <a:endParaRPr lang="en-US" sz="800" dirty="0" smtClean="0"/>
                    </a:p>
                    <a:p>
                      <a:pPr algn="ctr"/>
                      <a:endParaRPr lang="en-US" sz="800" dirty="0" smtClean="0"/>
                    </a:p>
                    <a:p>
                      <a:pPr algn="ctr"/>
                      <a:endParaRPr lang="en-US" sz="800" dirty="0" smtClean="0"/>
                    </a:p>
                    <a:p>
                      <a:pPr algn="ctr"/>
                      <a:endParaRPr lang="en-US" sz="800" dirty="0" smtClean="0"/>
                    </a:p>
                    <a:p>
                      <a:pPr algn="ctr"/>
                      <a:endParaRPr lang="en-US" sz="800" dirty="0" smtClean="0"/>
                    </a:p>
                  </a:txBody>
                  <a:tcPr marT="34290" marB="34290">
                    <a:solidFill>
                      <a:schemeClr val="accent3">
                        <a:lumMod val="40000"/>
                        <a:lumOff val="60000"/>
                      </a:schemeClr>
                    </a:solidFill>
                  </a:tcPr>
                </a:tc>
              </a:tr>
            </a:tbl>
          </a:graphicData>
        </a:graphic>
      </p:graphicFrame>
      <p:sp>
        <p:nvSpPr>
          <p:cNvPr id="6" name="Rounded Rectangle 5"/>
          <p:cNvSpPr/>
          <p:nvPr/>
        </p:nvSpPr>
        <p:spPr>
          <a:xfrm>
            <a:off x="1852031" y="1969261"/>
            <a:ext cx="581025" cy="135731"/>
          </a:xfrm>
          <a:prstGeom prst="roundRect">
            <a:avLst/>
          </a:prstGeom>
          <a:solidFill>
            <a:srgbClr val="48BAFE">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000" b="1" dirty="0" smtClean="0">
                <a:solidFill>
                  <a:prstClr val="black"/>
                </a:solidFill>
                <a:latin typeface="Calibri" pitchFamily="34" charset="0"/>
                <a:cs typeface="Calibri" pitchFamily="34" charset="0"/>
              </a:rPr>
              <a:t>“A” AV</a:t>
            </a:r>
          </a:p>
        </p:txBody>
      </p:sp>
      <p:sp>
        <p:nvSpPr>
          <p:cNvPr id="7" name="Rounded Rectangle 6"/>
          <p:cNvSpPr/>
          <p:nvPr/>
        </p:nvSpPr>
        <p:spPr>
          <a:xfrm>
            <a:off x="2774064" y="1969737"/>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a:t>
            </a:r>
          </a:p>
        </p:txBody>
      </p:sp>
      <p:cxnSp>
        <p:nvCxnSpPr>
          <p:cNvPr id="9" name="Shape 76"/>
          <p:cNvCxnSpPr>
            <a:endCxn id="6" idx="1"/>
          </p:cNvCxnSpPr>
          <p:nvPr/>
        </p:nvCxnSpPr>
        <p:spPr>
          <a:xfrm rot="16200000" flipH="1">
            <a:off x="1474972" y="1660005"/>
            <a:ext cx="151210" cy="602932"/>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6" idx="3"/>
            <a:endCxn id="7" idx="1"/>
          </p:cNvCxnSpPr>
          <p:nvPr/>
        </p:nvCxnSpPr>
        <p:spPr>
          <a:xfrm>
            <a:off x="2433054" y="2037127"/>
            <a:ext cx="341008" cy="476"/>
          </a:xfrm>
          <a:prstGeom prst="line">
            <a:avLst/>
          </a:prstGeom>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1852031" y="2496853"/>
            <a:ext cx="581025" cy="135731"/>
          </a:xfrm>
          <a:prstGeom prst="roundRect">
            <a:avLst/>
          </a:prstGeom>
          <a:solidFill>
            <a:srgbClr val="48BAFE">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“A” AV</a:t>
            </a:r>
          </a:p>
        </p:txBody>
      </p:sp>
      <p:sp>
        <p:nvSpPr>
          <p:cNvPr id="13" name="Rounded Rectangle 12"/>
          <p:cNvSpPr/>
          <p:nvPr/>
        </p:nvSpPr>
        <p:spPr>
          <a:xfrm>
            <a:off x="2774064" y="2488862"/>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a:t>
            </a:r>
          </a:p>
        </p:txBody>
      </p:sp>
      <p:cxnSp>
        <p:nvCxnSpPr>
          <p:cNvPr id="15" name="Shape 102"/>
          <p:cNvCxnSpPr>
            <a:stCxn id="24" idx="2"/>
          </p:cNvCxnSpPr>
          <p:nvPr/>
        </p:nvCxnSpPr>
        <p:spPr>
          <a:xfrm rot="16200000" flipH="1">
            <a:off x="1196004" y="1900162"/>
            <a:ext cx="709132" cy="602946"/>
          </a:xfrm>
          <a:prstGeom prst="bentConnector3">
            <a:avLst>
              <a:gd name="adj1" fmla="val 100146"/>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13" idx="1"/>
          </p:cNvCxnSpPr>
          <p:nvPr/>
        </p:nvCxnSpPr>
        <p:spPr>
          <a:xfrm>
            <a:off x="2433054" y="2556252"/>
            <a:ext cx="341008" cy="476"/>
          </a:xfrm>
          <a:prstGeom prst="line">
            <a:avLst/>
          </a:prstGeom>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1852031" y="2979993"/>
            <a:ext cx="581025" cy="135731"/>
          </a:xfrm>
          <a:prstGeom prst="roundRect">
            <a:avLst/>
          </a:prstGeom>
          <a:solidFill>
            <a:srgbClr val="48BAFE">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“A” AV</a:t>
            </a:r>
          </a:p>
        </p:txBody>
      </p:sp>
      <p:cxnSp>
        <p:nvCxnSpPr>
          <p:cNvPr id="21" name="Shape 110"/>
          <p:cNvCxnSpPr>
            <a:endCxn id="18" idx="1"/>
          </p:cNvCxnSpPr>
          <p:nvPr/>
        </p:nvCxnSpPr>
        <p:spPr>
          <a:xfrm rot="16200000" flipH="1">
            <a:off x="1270185" y="2465950"/>
            <a:ext cx="560785" cy="602932"/>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24" name="Rounded Rectangle 23"/>
          <p:cNvSpPr/>
          <p:nvPr/>
        </p:nvSpPr>
        <p:spPr>
          <a:xfrm>
            <a:off x="958583" y="1711339"/>
            <a:ext cx="581025" cy="135731"/>
          </a:xfrm>
          <a:prstGeom prst="roundRect">
            <a:avLst/>
          </a:prstGeom>
          <a:solidFill>
            <a:srgbClr val="FF99FF">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000" b="1" dirty="0" smtClean="0">
                <a:solidFill>
                  <a:prstClr val="black"/>
                </a:solidFill>
                <a:latin typeface="Calibri" pitchFamily="34" charset="0"/>
                <a:cs typeface="Calibri" pitchFamily="34" charset="0"/>
              </a:rPr>
              <a:t>“A” SKU</a:t>
            </a:r>
          </a:p>
        </p:txBody>
      </p:sp>
      <p:sp>
        <p:nvSpPr>
          <p:cNvPr id="25" name="Rounded Rectangle 24"/>
          <p:cNvSpPr/>
          <p:nvPr/>
        </p:nvSpPr>
        <p:spPr>
          <a:xfrm>
            <a:off x="2774064" y="3656762"/>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BSAM SA</a:t>
            </a:r>
          </a:p>
        </p:txBody>
      </p:sp>
      <p:cxnSp>
        <p:nvCxnSpPr>
          <p:cNvPr id="28" name="Straight Connector 27"/>
          <p:cNvCxnSpPr>
            <a:endCxn id="25" idx="1"/>
          </p:cNvCxnSpPr>
          <p:nvPr/>
        </p:nvCxnSpPr>
        <p:spPr>
          <a:xfrm>
            <a:off x="2433080" y="3724105"/>
            <a:ext cx="340982" cy="523"/>
          </a:xfrm>
          <a:prstGeom prst="line">
            <a:avLst/>
          </a:prstGeom>
        </p:spPr>
        <p:style>
          <a:lnRef idx="1">
            <a:schemeClr val="accent1"/>
          </a:lnRef>
          <a:fillRef idx="0">
            <a:schemeClr val="accent1"/>
          </a:fillRef>
          <a:effectRef idx="0">
            <a:schemeClr val="accent1"/>
          </a:effectRef>
          <a:fontRef idx="minor">
            <a:schemeClr val="tx1"/>
          </a:fontRef>
        </p:style>
      </p:cxnSp>
      <p:sp>
        <p:nvSpPr>
          <p:cNvPr id="70" name="Rounded Rectangle 69"/>
          <p:cNvSpPr/>
          <p:nvPr/>
        </p:nvSpPr>
        <p:spPr>
          <a:xfrm>
            <a:off x="1841853" y="3658191"/>
            <a:ext cx="581025" cy="135731"/>
          </a:xfrm>
          <a:prstGeom prst="roundRect">
            <a:avLst/>
          </a:prstGeom>
          <a:solidFill>
            <a:schemeClr val="accent1">
              <a:lumMod val="60000"/>
              <a:lumOff val="40000"/>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schemeClr val="tx1"/>
                </a:solidFill>
                <a:latin typeface="Calibri" pitchFamily="34" charset="0"/>
                <a:cs typeface="Calibri" pitchFamily="34" charset="0"/>
              </a:rPr>
              <a:t>BSaM AV</a:t>
            </a:r>
          </a:p>
        </p:txBody>
      </p:sp>
      <p:sp>
        <p:nvSpPr>
          <p:cNvPr id="74" name="Rounded Rectangle 73"/>
          <p:cNvSpPr/>
          <p:nvPr/>
        </p:nvSpPr>
        <p:spPr>
          <a:xfrm>
            <a:off x="2774064" y="2139071"/>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a:t>
            </a:r>
          </a:p>
        </p:txBody>
      </p:sp>
      <p:cxnSp>
        <p:nvCxnSpPr>
          <p:cNvPr id="77" name="Shape 123"/>
          <p:cNvCxnSpPr>
            <a:stCxn id="6" idx="3"/>
          </p:cNvCxnSpPr>
          <p:nvPr/>
        </p:nvCxnSpPr>
        <p:spPr>
          <a:xfrm>
            <a:off x="2433054" y="2037127"/>
            <a:ext cx="341014" cy="16980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80" name="Rounded Rectangle 79"/>
          <p:cNvSpPr/>
          <p:nvPr/>
        </p:nvSpPr>
        <p:spPr>
          <a:xfrm>
            <a:off x="2774064" y="2308405"/>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a:t>
            </a:r>
          </a:p>
        </p:txBody>
      </p:sp>
      <p:cxnSp>
        <p:nvCxnSpPr>
          <p:cNvPr id="81" name="Shape 123"/>
          <p:cNvCxnSpPr>
            <a:stCxn id="6" idx="3"/>
          </p:cNvCxnSpPr>
          <p:nvPr/>
        </p:nvCxnSpPr>
        <p:spPr>
          <a:xfrm>
            <a:off x="2433054" y="2037127"/>
            <a:ext cx="341008" cy="33914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85" name="Rounded Rectangle 84"/>
          <p:cNvSpPr/>
          <p:nvPr/>
        </p:nvSpPr>
        <p:spPr>
          <a:xfrm>
            <a:off x="2774064" y="2655552"/>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a:t>
            </a:r>
          </a:p>
        </p:txBody>
      </p:sp>
      <p:cxnSp>
        <p:nvCxnSpPr>
          <p:cNvPr id="86" name="Shape 123"/>
          <p:cNvCxnSpPr/>
          <p:nvPr/>
        </p:nvCxnSpPr>
        <p:spPr>
          <a:xfrm>
            <a:off x="2433048" y="2553608"/>
            <a:ext cx="341014" cy="16980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87" name="Rounded Rectangle 86"/>
          <p:cNvSpPr/>
          <p:nvPr/>
        </p:nvSpPr>
        <p:spPr>
          <a:xfrm>
            <a:off x="2774064" y="2977304"/>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a:t>
            </a:r>
          </a:p>
        </p:txBody>
      </p:sp>
      <p:cxnSp>
        <p:nvCxnSpPr>
          <p:cNvPr id="88" name="Straight Connector 87"/>
          <p:cNvCxnSpPr>
            <a:endCxn id="87" idx="1"/>
          </p:cNvCxnSpPr>
          <p:nvPr/>
        </p:nvCxnSpPr>
        <p:spPr>
          <a:xfrm>
            <a:off x="2424609" y="3044647"/>
            <a:ext cx="349455" cy="523"/>
          </a:xfrm>
          <a:prstGeom prst="line">
            <a:avLst/>
          </a:prstGeom>
        </p:spPr>
        <p:style>
          <a:lnRef idx="1">
            <a:schemeClr val="accent1"/>
          </a:lnRef>
          <a:fillRef idx="0">
            <a:schemeClr val="accent1"/>
          </a:fillRef>
          <a:effectRef idx="0">
            <a:schemeClr val="accent1"/>
          </a:effectRef>
          <a:fontRef idx="minor">
            <a:schemeClr val="tx1"/>
          </a:fontRef>
        </p:style>
      </p:cxnSp>
      <p:sp>
        <p:nvSpPr>
          <p:cNvPr id="89" name="Rounded Rectangle 88"/>
          <p:cNvSpPr/>
          <p:nvPr/>
        </p:nvSpPr>
        <p:spPr>
          <a:xfrm>
            <a:off x="2774064" y="3146638"/>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a:t>
            </a:r>
          </a:p>
        </p:txBody>
      </p:sp>
      <p:cxnSp>
        <p:nvCxnSpPr>
          <p:cNvPr id="90" name="Shape 123"/>
          <p:cNvCxnSpPr/>
          <p:nvPr/>
        </p:nvCxnSpPr>
        <p:spPr>
          <a:xfrm>
            <a:off x="2424581" y="3044693"/>
            <a:ext cx="341014" cy="16980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91" name="Rounded Rectangle 90"/>
          <p:cNvSpPr/>
          <p:nvPr/>
        </p:nvSpPr>
        <p:spPr>
          <a:xfrm>
            <a:off x="2774064" y="3315972"/>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1100" b="1" dirty="0" smtClean="0">
                <a:solidFill>
                  <a:prstClr val="black"/>
                </a:solidFill>
                <a:latin typeface="Calibri" pitchFamily="34" charset="0"/>
                <a:cs typeface="Calibri" pitchFamily="34" charset="0"/>
              </a:rPr>
              <a:t>SA</a:t>
            </a:r>
          </a:p>
        </p:txBody>
      </p:sp>
      <p:cxnSp>
        <p:nvCxnSpPr>
          <p:cNvPr id="92" name="Shape 123"/>
          <p:cNvCxnSpPr/>
          <p:nvPr/>
        </p:nvCxnSpPr>
        <p:spPr>
          <a:xfrm>
            <a:off x="2424581" y="3044694"/>
            <a:ext cx="341008" cy="339143"/>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3" name="Shape 110"/>
          <p:cNvCxnSpPr>
            <a:stCxn id="24" idx="2"/>
            <a:endCxn id="70" idx="1"/>
          </p:cNvCxnSpPr>
          <p:nvPr/>
        </p:nvCxnSpPr>
        <p:spPr>
          <a:xfrm rot="16200000" flipH="1">
            <a:off x="605981" y="2490185"/>
            <a:ext cx="1878987" cy="592755"/>
          </a:xfrm>
          <a:prstGeom prst="bentConnector2">
            <a:avLst/>
          </a:prstGeom>
        </p:spPr>
        <p:style>
          <a:lnRef idx="1">
            <a:schemeClr val="accent1"/>
          </a:lnRef>
          <a:fillRef idx="0">
            <a:schemeClr val="accent1"/>
          </a:fillRef>
          <a:effectRef idx="0">
            <a:schemeClr val="accent1"/>
          </a:effectRef>
          <a:fontRef idx="minor">
            <a:schemeClr val="tx1"/>
          </a:fontRef>
        </p:style>
      </p:cxnSp>
      <p:sp>
        <p:nvSpPr>
          <p:cNvPr id="97" name="Rounded Rectangle 96"/>
          <p:cNvSpPr/>
          <p:nvPr/>
        </p:nvSpPr>
        <p:spPr>
          <a:xfrm>
            <a:off x="1643580" y="3533475"/>
            <a:ext cx="2811189" cy="88612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endParaRPr lang="en-US" sz="2400" b="1" dirty="0" smtClean="0">
              <a:solidFill>
                <a:prstClr val="black"/>
              </a:solidFill>
              <a:latin typeface="Calibri" pitchFamily="34" charset="0"/>
              <a:cs typeface="Calibri" pitchFamily="34" charset="0"/>
            </a:endParaRPr>
          </a:p>
        </p:txBody>
      </p:sp>
      <p:sp>
        <p:nvSpPr>
          <p:cNvPr id="100" name="Rounded Rectangle 99"/>
          <p:cNvSpPr/>
          <p:nvPr/>
        </p:nvSpPr>
        <p:spPr>
          <a:xfrm>
            <a:off x="4793183" y="1202241"/>
            <a:ext cx="3732740" cy="321736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fontAlgn="base">
              <a:spcBef>
                <a:spcPct val="0"/>
              </a:spcBef>
              <a:spcAft>
                <a:spcPct val="0"/>
              </a:spcAft>
              <a:buFont typeface="Arial" pitchFamily="34" charset="0"/>
              <a:buChar char="•"/>
            </a:pPr>
            <a:r>
              <a:rPr lang="en-US" sz="1200" dirty="0" smtClean="0">
                <a:solidFill>
                  <a:srgbClr val="FF0000"/>
                </a:solidFill>
                <a:latin typeface="Calibri" pitchFamily="34" charset="0"/>
                <a:cs typeface="Calibri" pitchFamily="34" charset="0"/>
              </a:rPr>
              <a:t>One Unique BSaM SA for Unique BSaM AV</a:t>
            </a:r>
          </a:p>
          <a:p>
            <a:pPr marL="171450" indent="-171450" fontAlgn="base">
              <a:spcBef>
                <a:spcPct val="0"/>
              </a:spcBef>
              <a:spcAft>
                <a:spcPct val="0"/>
              </a:spcAft>
              <a:buFont typeface="Arial" pitchFamily="34" charset="0"/>
              <a:buChar char="•"/>
            </a:pPr>
            <a:endParaRPr lang="en-US" sz="1200" dirty="0" smtClean="0">
              <a:solidFill>
                <a:srgbClr val="FF0000"/>
              </a:solidFill>
              <a:latin typeface="Calibri" pitchFamily="34" charset="0"/>
              <a:cs typeface="Calibri" pitchFamily="34" charset="0"/>
            </a:endParaRPr>
          </a:p>
          <a:p>
            <a:pPr marL="171450" indent="-171450" fontAlgn="base">
              <a:spcBef>
                <a:spcPct val="0"/>
              </a:spcBef>
              <a:spcAft>
                <a:spcPct val="0"/>
              </a:spcAft>
              <a:buFont typeface="Arial" pitchFamily="34" charset="0"/>
              <a:buChar char="•"/>
            </a:pPr>
            <a:r>
              <a:rPr lang="en-US" sz="1200" dirty="0" smtClean="0">
                <a:solidFill>
                  <a:srgbClr val="FF0000"/>
                </a:solidFill>
                <a:latin typeface="Calibri" pitchFamily="34" charset="0"/>
                <a:cs typeface="Calibri" pitchFamily="34" charset="0"/>
              </a:rPr>
              <a:t>Enables ODMs to tie BSaM detailed material to BSaM AV/SA in their Super BOM (Transparent to HP).</a:t>
            </a:r>
          </a:p>
          <a:p>
            <a:pPr marL="171450" indent="-171450" fontAlgn="base">
              <a:spcBef>
                <a:spcPct val="0"/>
              </a:spcBef>
              <a:spcAft>
                <a:spcPct val="0"/>
              </a:spcAft>
              <a:buFont typeface="Arial" pitchFamily="34" charset="0"/>
              <a:buChar char="•"/>
            </a:pPr>
            <a:endParaRPr lang="en-US" sz="1200" dirty="0" smtClean="0">
              <a:solidFill>
                <a:srgbClr val="FF0000"/>
              </a:solidFill>
              <a:latin typeface="Calibri" pitchFamily="34" charset="0"/>
              <a:cs typeface="Calibri" pitchFamily="34" charset="0"/>
            </a:endParaRPr>
          </a:p>
          <a:p>
            <a:pPr marL="171450" indent="-171450" fontAlgn="base">
              <a:spcBef>
                <a:spcPct val="0"/>
              </a:spcBef>
              <a:spcAft>
                <a:spcPct val="0"/>
              </a:spcAft>
              <a:buFont typeface="Arial" pitchFamily="34" charset="0"/>
              <a:buChar char="•"/>
            </a:pPr>
            <a:r>
              <a:rPr lang="en-US" sz="1200" dirty="0" smtClean="0">
                <a:solidFill>
                  <a:srgbClr val="FF0000"/>
                </a:solidFill>
                <a:latin typeface="Calibri" pitchFamily="34" charset="0"/>
                <a:cs typeface="Calibri" pitchFamily="34" charset="0"/>
              </a:rPr>
              <a:t>Each Unique BSaM AV will need to have a Unique BSaM SA (BSaM SA cannot be shared by BSaM AVs)</a:t>
            </a:r>
          </a:p>
          <a:p>
            <a:pPr marL="171450" indent="-171450" fontAlgn="base">
              <a:spcBef>
                <a:spcPct val="0"/>
              </a:spcBef>
              <a:spcAft>
                <a:spcPct val="0"/>
              </a:spcAft>
              <a:buFont typeface="Arial" pitchFamily="34" charset="0"/>
              <a:buChar char="•"/>
            </a:pPr>
            <a:endParaRPr lang="en-US" sz="1200" dirty="0" smtClean="0">
              <a:solidFill>
                <a:srgbClr val="FF0000"/>
              </a:solidFill>
              <a:latin typeface="Calibri" pitchFamily="34" charset="0"/>
              <a:cs typeface="Calibri" pitchFamily="34" charset="0"/>
            </a:endParaRPr>
          </a:p>
          <a:p>
            <a:pPr marL="171450" indent="-171450" fontAlgn="base">
              <a:spcBef>
                <a:spcPct val="0"/>
              </a:spcBef>
              <a:spcAft>
                <a:spcPct val="0"/>
              </a:spcAft>
              <a:buFont typeface="Arial" pitchFamily="34" charset="0"/>
              <a:buChar char="•"/>
            </a:pPr>
            <a:r>
              <a:rPr lang="en-US" sz="1200" dirty="0">
                <a:solidFill>
                  <a:srgbClr val="FF0000"/>
                </a:solidFill>
                <a:latin typeface="Calibri" pitchFamily="34" charset="0"/>
                <a:cs typeface="Calibri" pitchFamily="34" charset="0"/>
              </a:rPr>
              <a:t>Pursue in having only one BSaM SA under each BSAM AV </a:t>
            </a:r>
            <a:r>
              <a:rPr lang="en-US" sz="1200" dirty="0" smtClean="0">
                <a:solidFill>
                  <a:srgbClr val="FF0000"/>
                </a:solidFill>
                <a:latin typeface="Calibri" pitchFamily="34" charset="0"/>
                <a:cs typeface="Calibri" pitchFamily="34" charset="0"/>
              </a:rPr>
              <a:t>(Investigation required on if this can be supported)</a:t>
            </a:r>
            <a:endParaRPr lang="en-US" sz="1200" dirty="0">
              <a:solidFill>
                <a:srgbClr val="FF0000"/>
              </a:solidFill>
              <a:latin typeface="Calibri" pitchFamily="34" charset="0"/>
              <a:cs typeface="Calibri" pitchFamily="34" charset="0"/>
            </a:endParaRPr>
          </a:p>
          <a:p>
            <a:pPr marL="171450" indent="-171450" fontAlgn="base">
              <a:spcBef>
                <a:spcPct val="0"/>
              </a:spcBef>
              <a:spcAft>
                <a:spcPct val="0"/>
              </a:spcAft>
              <a:buFont typeface="Arial" pitchFamily="34" charset="0"/>
              <a:buChar char="•"/>
            </a:pPr>
            <a:endParaRPr lang="en-US" sz="1200" dirty="0">
              <a:solidFill>
                <a:srgbClr val="FF0000"/>
              </a:solidFill>
              <a:latin typeface="Calibri" pitchFamily="34" charset="0"/>
              <a:cs typeface="Calibri" pitchFamily="34" charset="0"/>
            </a:endParaRPr>
          </a:p>
          <a:p>
            <a:pPr marL="171450" indent="-171450" fontAlgn="base">
              <a:spcBef>
                <a:spcPct val="0"/>
              </a:spcBef>
              <a:spcAft>
                <a:spcPct val="0"/>
              </a:spcAft>
              <a:buFont typeface="Arial" pitchFamily="34" charset="0"/>
              <a:buChar char="•"/>
            </a:pPr>
            <a:r>
              <a:rPr lang="en-US" sz="1200" b="1" dirty="0" smtClean="0">
                <a:solidFill>
                  <a:srgbClr val="FF0000"/>
                </a:solidFill>
                <a:latin typeface="Calibri" pitchFamily="34" charset="0"/>
                <a:cs typeface="Calibri" pitchFamily="34" charset="0"/>
              </a:rPr>
              <a:t>Same principle will be applied to “C” IDS AVs.  One IDS AV will have one IDS SA.</a:t>
            </a:r>
          </a:p>
          <a:p>
            <a:pPr marL="171450" indent="-171450" fontAlgn="base">
              <a:spcBef>
                <a:spcPct val="0"/>
              </a:spcBef>
              <a:spcAft>
                <a:spcPct val="0"/>
              </a:spcAft>
              <a:buFont typeface="Arial" pitchFamily="34" charset="0"/>
              <a:buChar char="•"/>
            </a:pPr>
            <a:endParaRPr lang="en-US" sz="1200" dirty="0" smtClean="0">
              <a:solidFill>
                <a:srgbClr val="FF0000"/>
              </a:solidFill>
              <a:latin typeface="Calibri" pitchFamily="34" charset="0"/>
              <a:cs typeface="Calibri" pitchFamily="34" charset="0"/>
            </a:endParaRPr>
          </a:p>
        </p:txBody>
      </p:sp>
      <p:sp>
        <p:nvSpPr>
          <p:cNvPr id="101" name="Rounded Rectangle 100"/>
          <p:cNvSpPr/>
          <p:nvPr/>
        </p:nvSpPr>
        <p:spPr>
          <a:xfrm>
            <a:off x="3696961" y="3654658"/>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900" b="1" dirty="0" smtClean="0">
                <a:solidFill>
                  <a:prstClr val="black"/>
                </a:solidFill>
                <a:latin typeface="Calibri" pitchFamily="34" charset="0"/>
                <a:cs typeface="Calibri" pitchFamily="34" charset="0"/>
              </a:rPr>
              <a:t>Bulk Box</a:t>
            </a:r>
          </a:p>
        </p:txBody>
      </p:sp>
      <p:sp>
        <p:nvSpPr>
          <p:cNvPr id="102" name="Rounded Rectangle 101"/>
          <p:cNvSpPr/>
          <p:nvPr/>
        </p:nvSpPr>
        <p:spPr>
          <a:xfrm>
            <a:off x="3696955" y="3832459"/>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900" b="1" dirty="0" smtClean="0">
                <a:solidFill>
                  <a:prstClr val="black"/>
                </a:solidFill>
                <a:latin typeface="Calibri" pitchFamily="34" charset="0"/>
                <a:cs typeface="Calibri" pitchFamily="34" charset="0"/>
              </a:rPr>
              <a:t>Bulk Label</a:t>
            </a:r>
          </a:p>
        </p:txBody>
      </p:sp>
      <p:sp>
        <p:nvSpPr>
          <p:cNvPr id="103" name="Rounded Rectangle 102"/>
          <p:cNvSpPr/>
          <p:nvPr/>
        </p:nvSpPr>
        <p:spPr>
          <a:xfrm>
            <a:off x="3696949" y="4001793"/>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900" b="1" dirty="0" smtClean="0">
                <a:solidFill>
                  <a:prstClr val="black"/>
                </a:solidFill>
                <a:latin typeface="Calibri" pitchFamily="34" charset="0"/>
                <a:cs typeface="Calibri" pitchFamily="34" charset="0"/>
              </a:rPr>
              <a:t>Pouch</a:t>
            </a:r>
          </a:p>
        </p:txBody>
      </p:sp>
      <p:sp>
        <p:nvSpPr>
          <p:cNvPr id="105" name="Rounded Rectangle 104"/>
          <p:cNvSpPr/>
          <p:nvPr/>
        </p:nvSpPr>
        <p:spPr>
          <a:xfrm>
            <a:off x="3696943" y="4171127"/>
            <a:ext cx="581025" cy="135731"/>
          </a:xfrm>
          <a:prstGeom prst="roundRect">
            <a:avLst/>
          </a:prstGeom>
          <a:solidFill>
            <a:srgbClr val="CCFFCC">
              <a:alpha val="61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fontAlgn="base">
              <a:spcBef>
                <a:spcPct val="0"/>
              </a:spcBef>
              <a:spcAft>
                <a:spcPct val="0"/>
              </a:spcAft>
            </a:pPr>
            <a:r>
              <a:rPr lang="en-US" sz="900" b="1" dirty="0" smtClean="0">
                <a:solidFill>
                  <a:prstClr val="black"/>
                </a:solidFill>
                <a:latin typeface="Calibri" pitchFamily="34" charset="0"/>
                <a:cs typeface="Calibri" pitchFamily="34" charset="0"/>
              </a:rPr>
              <a:t>Others</a:t>
            </a:r>
          </a:p>
        </p:txBody>
      </p:sp>
      <p:cxnSp>
        <p:nvCxnSpPr>
          <p:cNvPr id="106" name="Shape 123"/>
          <p:cNvCxnSpPr>
            <a:stCxn id="25" idx="3"/>
            <a:endCxn id="103" idx="1"/>
          </p:cNvCxnSpPr>
          <p:nvPr/>
        </p:nvCxnSpPr>
        <p:spPr>
          <a:xfrm>
            <a:off x="3355087" y="3724628"/>
            <a:ext cx="341860" cy="345031"/>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09" name="Shape 123"/>
          <p:cNvCxnSpPr>
            <a:stCxn id="25" idx="3"/>
            <a:endCxn id="105" idx="1"/>
          </p:cNvCxnSpPr>
          <p:nvPr/>
        </p:nvCxnSpPr>
        <p:spPr>
          <a:xfrm>
            <a:off x="3355087" y="3724628"/>
            <a:ext cx="341854" cy="51436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1" name="Shape 123"/>
          <p:cNvCxnSpPr>
            <a:endCxn id="102" idx="1"/>
          </p:cNvCxnSpPr>
          <p:nvPr/>
        </p:nvCxnSpPr>
        <p:spPr>
          <a:xfrm>
            <a:off x="3355087" y="3722523"/>
            <a:ext cx="341866" cy="17780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4" name="Shape 123"/>
          <p:cNvCxnSpPr>
            <a:stCxn id="25" idx="3"/>
            <a:endCxn id="101" idx="1"/>
          </p:cNvCxnSpPr>
          <p:nvPr/>
        </p:nvCxnSpPr>
        <p:spPr>
          <a:xfrm flipV="1">
            <a:off x="3355087" y="3722523"/>
            <a:ext cx="341872" cy="210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28" name="Straight Arrow Connector 127"/>
          <p:cNvCxnSpPr/>
          <p:nvPr/>
        </p:nvCxnSpPr>
        <p:spPr>
          <a:xfrm flipH="1">
            <a:off x="4546601" y="3792493"/>
            <a:ext cx="246582" cy="189317"/>
          </a:xfrm>
          <a:prstGeom prst="straightConnector1">
            <a:avLst/>
          </a:prstGeom>
          <a:ln w="31750" cmpd="sng">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2" name="TextBox 1"/>
          <p:cNvSpPr txBox="1"/>
          <p:nvPr/>
        </p:nvSpPr>
        <p:spPr>
          <a:xfrm>
            <a:off x="4669892" y="4527551"/>
            <a:ext cx="3728008" cy="276999"/>
          </a:xfrm>
          <a:prstGeom prst="rect">
            <a:avLst/>
          </a:prstGeom>
          <a:noFill/>
        </p:spPr>
        <p:txBody>
          <a:bodyPr wrap="none" rtlCol="0">
            <a:spAutoFit/>
          </a:bodyPr>
          <a:lstStyle/>
          <a:p>
            <a:pPr marL="0" defTabSz="430213">
              <a:spcAft>
                <a:spcPts val="400"/>
              </a:spcAft>
              <a:buSzPct val="100000"/>
            </a:pPr>
            <a:r>
              <a:rPr lang="en-US" sz="1200" dirty="0" smtClean="0">
                <a:solidFill>
                  <a:srgbClr val="0000FF"/>
                </a:solidFill>
                <a:latin typeface="HP Simplified" pitchFamily="34" charset="0"/>
                <a:cs typeface="HP Simplified" pitchFamily="34" charset="0"/>
              </a:rPr>
              <a:t>Question: Is Component PN always required for each SA?</a:t>
            </a:r>
          </a:p>
        </p:txBody>
      </p:sp>
      <p:sp>
        <p:nvSpPr>
          <p:cNvPr id="44" name="Rounded Rectangle 43"/>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24</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6755553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BSaM</a:t>
            </a:r>
            <a:r>
              <a:rPr lang="en-US" dirty="0" smtClean="0"/>
              <a:t> High Level Process Flows</a:t>
            </a:r>
            <a:endParaRPr lang="en-US" dirty="0"/>
          </a:p>
        </p:txBody>
      </p:sp>
      <p:sp>
        <p:nvSpPr>
          <p:cNvPr id="4" name="Content Placeholder 3"/>
          <p:cNvSpPr>
            <a:spLocks noGrp="1"/>
          </p:cNvSpPr>
          <p:nvPr>
            <p:ph sz="quarter" idx="16"/>
          </p:nvPr>
        </p:nvSpPr>
        <p:spPr/>
        <p:txBody>
          <a:bodyPr/>
          <a:lstStyle/>
          <a:p>
            <a:pPr marL="342900" indent="-342900">
              <a:lnSpc>
                <a:spcPct val="80000"/>
              </a:lnSpc>
              <a:buFont typeface="+mj-lt"/>
              <a:buAutoNum type="arabicPeriod"/>
            </a:pPr>
            <a:r>
              <a:rPr lang="en-US" dirty="0" smtClean="0"/>
              <a:t>Order-to-Delivery Processes</a:t>
            </a:r>
          </a:p>
          <a:p>
            <a:pPr marL="512763" lvl="3" indent="-171450">
              <a:lnSpc>
                <a:spcPct val="80000"/>
              </a:lnSpc>
              <a:buFont typeface="Arial" pitchFamily="34" charset="0"/>
              <a:buChar char="•"/>
            </a:pPr>
            <a:r>
              <a:rPr lang="en-US" dirty="0" smtClean="0"/>
              <a:t>B Part Process</a:t>
            </a:r>
          </a:p>
          <a:p>
            <a:pPr marL="512763" lvl="3" indent="-171450">
              <a:lnSpc>
                <a:spcPct val="80000"/>
              </a:lnSpc>
              <a:buFont typeface="Arial" pitchFamily="34" charset="0"/>
              <a:buChar char="•"/>
            </a:pPr>
            <a:r>
              <a:rPr lang="en-US" dirty="0" smtClean="0"/>
              <a:t>A Part BTO Process</a:t>
            </a:r>
          </a:p>
          <a:p>
            <a:pPr marL="512763" lvl="3" indent="-171450">
              <a:lnSpc>
                <a:spcPct val="80000"/>
              </a:lnSpc>
              <a:buFont typeface="Arial" pitchFamily="34" charset="0"/>
              <a:buChar char="•"/>
            </a:pPr>
            <a:r>
              <a:rPr lang="en-US" dirty="0" smtClean="0"/>
              <a:t>A Part Build Trigger Process </a:t>
            </a:r>
          </a:p>
          <a:p>
            <a:pPr lvl="1">
              <a:lnSpc>
                <a:spcPct val="80000"/>
              </a:lnSpc>
            </a:pPr>
            <a:endParaRPr lang="en-US" sz="1200" dirty="0"/>
          </a:p>
          <a:p>
            <a:pPr marL="342900" indent="-342900">
              <a:lnSpc>
                <a:spcPct val="80000"/>
              </a:lnSpc>
              <a:buFont typeface="+mj-lt"/>
              <a:buAutoNum type="arabicPeriod"/>
            </a:pPr>
            <a:r>
              <a:rPr lang="en-US" dirty="0" smtClean="0"/>
              <a:t>PDM/BOM Structure</a:t>
            </a:r>
            <a:endParaRPr lang="en-US" dirty="0"/>
          </a:p>
          <a:p>
            <a:pPr marL="512763" lvl="3" indent="-171450">
              <a:lnSpc>
                <a:spcPct val="80000"/>
              </a:lnSpc>
              <a:buFont typeface="Arial" pitchFamily="34" charset="0"/>
              <a:buChar char="•"/>
            </a:pPr>
            <a:r>
              <a:rPr lang="en-US" dirty="0" smtClean="0"/>
              <a:t>BSaM PDM/BOM Approach</a:t>
            </a:r>
          </a:p>
          <a:p>
            <a:pPr marL="512763" lvl="3" indent="-171450">
              <a:lnSpc>
                <a:spcPct val="80000"/>
              </a:lnSpc>
              <a:buFont typeface="Arial" pitchFamily="34" charset="0"/>
              <a:buChar char="•"/>
            </a:pPr>
            <a:r>
              <a:rPr lang="en-US" dirty="0" smtClean="0"/>
              <a:t>BSaM AV for Cost Adjustment and Planning</a:t>
            </a:r>
          </a:p>
          <a:p>
            <a:pPr lvl="1">
              <a:lnSpc>
                <a:spcPct val="80000"/>
              </a:lnSpc>
            </a:pPr>
            <a:endParaRPr lang="en-US" sz="1200" dirty="0"/>
          </a:p>
          <a:p>
            <a:pPr marL="342900" indent="-342900">
              <a:lnSpc>
                <a:spcPct val="80000"/>
              </a:lnSpc>
              <a:buFont typeface="+mj-lt"/>
              <a:buAutoNum type="arabicPeriod"/>
            </a:pPr>
            <a:r>
              <a:rPr lang="en-US" dirty="0"/>
              <a:t>Planning</a:t>
            </a:r>
          </a:p>
          <a:p>
            <a:pPr marL="512763" lvl="3" indent="-171450">
              <a:lnSpc>
                <a:spcPct val="80000"/>
              </a:lnSpc>
              <a:buFont typeface="Arial" pitchFamily="34" charset="0"/>
              <a:buChar char="•"/>
            </a:pPr>
            <a:r>
              <a:rPr lang="en-US" dirty="0"/>
              <a:t>A Part and B Part Planning </a:t>
            </a:r>
            <a:r>
              <a:rPr lang="en-US" dirty="0" smtClean="0"/>
              <a:t>Process</a:t>
            </a:r>
          </a:p>
          <a:p>
            <a:pPr marL="512763" lvl="3" indent="-171450">
              <a:lnSpc>
                <a:spcPct val="80000"/>
              </a:lnSpc>
              <a:buFont typeface="Arial" pitchFamily="34" charset="0"/>
              <a:buChar char="•"/>
            </a:pPr>
            <a:endParaRPr lang="en-US" dirty="0" smtClean="0"/>
          </a:p>
          <a:p>
            <a:pPr marL="342900" indent="-342900">
              <a:lnSpc>
                <a:spcPct val="80000"/>
              </a:lnSpc>
              <a:buFont typeface="+mj-lt"/>
              <a:buAutoNum type="arabicPeriod"/>
            </a:pPr>
            <a:r>
              <a:rPr lang="en-US" dirty="0" smtClean="0"/>
              <a:t>Production Grouping Process</a:t>
            </a:r>
          </a:p>
          <a:p>
            <a:pPr marL="512763" lvl="3" indent="-171450">
              <a:lnSpc>
                <a:spcPct val="80000"/>
              </a:lnSpc>
              <a:buFont typeface="Arial" pitchFamily="34" charset="0"/>
              <a:buChar char="•"/>
            </a:pPr>
            <a:r>
              <a:rPr lang="en-US" dirty="0" smtClean="0"/>
              <a:t>Bulk Packaging Order Grouping</a:t>
            </a:r>
          </a:p>
          <a:p>
            <a:pPr marL="512763" lvl="3" indent="-171450">
              <a:lnSpc>
                <a:spcPct val="80000"/>
              </a:lnSpc>
              <a:buFont typeface="Arial" pitchFamily="34" charset="0"/>
              <a:buChar char="•"/>
            </a:pPr>
            <a:endParaRPr lang="en-US" sz="1200" dirty="0" smtClean="0"/>
          </a:p>
          <a:p>
            <a:pPr marL="512763" lvl="3" indent="-171450">
              <a:lnSpc>
                <a:spcPct val="80000"/>
              </a:lnSpc>
              <a:buFont typeface="Arial" pitchFamily="34" charset="0"/>
              <a:buChar char="•"/>
            </a:pPr>
            <a:endParaRPr lang="en-US" sz="1200" dirty="0"/>
          </a:p>
          <a:p>
            <a:pPr marL="512763" lvl="3" indent="-171450">
              <a:lnSpc>
                <a:spcPct val="80000"/>
              </a:lnSpc>
              <a:buFont typeface="Arial" pitchFamily="34" charset="0"/>
              <a:buChar char="•"/>
            </a:pPr>
            <a:endParaRPr lang="en-US" sz="1200" dirty="0"/>
          </a:p>
        </p:txBody>
      </p:sp>
      <p:sp>
        <p:nvSpPr>
          <p:cNvPr id="5" name="Content Placeholder 4"/>
          <p:cNvSpPr>
            <a:spLocks noGrp="1"/>
          </p:cNvSpPr>
          <p:nvPr>
            <p:ph sz="quarter" idx="17"/>
          </p:nvPr>
        </p:nvSpPr>
        <p:spPr/>
        <p:txBody>
          <a:bodyPr/>
          <a:lstStyle/>
          <a:p>
            <a:pPr marL="342900" indent="-342900">
              <a:lnSpc>
                <a:spcPct val="80000"/>
              </a:lnSpc>
              <a:buFont typeface="+mj-lt"/>
              <a:buAutoNum type="arabicPeriod" startAt="5"/>
            </a:pPr>
            <a:r>
              <a:rPr lang="en-US" dirty="0" smtClean="0"/>
              <a:t>BSaM Build Trigger Process</a:t>
            </a:r>
            <a:endParaRPr lang="en-US" dirty="0"/>
          </a:p>
          <a:p>
            <a:pPr marL="512763" lvl="3" indent="-171450">
              <a:lnSpc>
                <a:spcPct val="80000"/>
              </a:lnSpc>
              <a:buFont typeface="Arial" pitchFamily="34" charset="0"/>
              <a:buChar char="•"/>
            </a:pPr>
            <a:r>
              <a:rPr lang="en-US" dirty="0" smtClean="0"/>
              <a:t>Build Trigger PO instead of Customer PO</a:t>
            </a:r>
          </a:p>
          <a:p>
            <a:pPr marL="512763" lvl="3" indent="-171450">
              <a:lnSpc>
                <a:spcPct val="80000"/>
              </a:lnSpc>
              <a:buFont typeface="Arial" pitchFamily="34" charset="0"/>
              <a:buChar char="•"/>
            </a:pPr>
            <a:r>
              <a:rPr lang="en-US" dirty="0" smtClean="0"/>
              <a:t>RSD and Performance Measurement</a:t>
            </a:r>
          </a:p>
          <a:p>
            <a:pPr lvl="1">
              <a:lnSpc>
                <a:spcPct val="80000"/>
              </a:lnSpc>
            </a:pPr>
            <a:endParaRPr lang="en-US" sz="1200" dirty="0" smtClean="0"/>
          </a:p>
          <a:p>
            <a:pPr lvl="1">
              <a:lnSpc>
                <a:spcPct val="80000"/>
              </a:lnSpc>
            </a:pPr>
            <a:endParaRPr lang="en-US" sz="1200" dirty="0" smtClean="0"/>
          </a:p>
          <a:p>
            <a:pPr marL="342900" indent="-342900">
              <a:lnSpc>
                <a:spcPct val="80000"/>
              </a:lnSpc>
              <a:buFont typeface="+mj-lt"/>
              <a:buAutoNum type="arabicPeriod" startAt="5"/>
            </a:pPr>
            <a:r>
              <a:rPr lang="en-US" dirty="0" smtClean="0"/>
              <a:t>Full Unit Test Process</a:t>
            </a:r>
            <a:endParaRPr lang="en-US" dirty="0"/>
          </a:p>
          <a:p>
            <a:pPr marL="512763" lvl="3" indent="-171450">
              <a:lnSpc>
                <a:spcPct val="80000"/>
              </a:lnSpc>
              <a:buFont typeface="Arial" pitchFamily="34" charset="0"/>
              <a:buChar char="•"/>
            </a:pPr>
            <a:r>
              <a:rPr lang="en-US" dirty="0" smtClean="0"/>
              <a:t>NB Full Unit Testing using Temp Battery</a:t>
            </a:r>
            <a:endParaRPr lang="en-US" dirty="0"/>
          </a:p>
          <a:p>
            <a:pPr lvl="1">
              <a:lnSpc>
                <a:spcPct val="80000"/>
              </a:lnSpc>
            </a:pPr>
            <a:endParaRPr lang="en-US" sz="1200" dirty="0"/>
          </a:p>
          <a:p>
            <a:pPr marL="342900" indent="-342900">
              <a:lnSpc>
                <a:spcPct val="80000"/>
              </a:lnSpc>
              <a:buFont typeface="+mj-lt"/>
              <a:buAutoNum type="arabicPeriod" startAt="5"/>
            </a:pPr>
            <a:r>
              <a:rPr lang="en-US" dirty="0" smtClean="0"/>
              <a:t>B Part Process</a:t>
            </a:r>
            <a:endParaRPr lang="en-US" dirty="0"/>
          </a:p>
          <a:p>
            <a:pPr marL="512763" lvl="3" indent="-171450">
              <a:lnSpc>
                <a:spcPct val="80000"/>
              </a:lnSpc>
              <a:buFont typeface="Arial" pitchFamily="34" charset="0"/>
              <a:buChar char="•"/>
            </a:pPr>
            <a:r>
              <a:rPr lang="en-US" dirty="0" smtClean="0"/>
              <a:t>Supplier VMI Model vs. ODM HOI Model</a:t>
            </a:r>
          </a:p>
          <a:p>
            <a:pPr marL="512763" lvl="3" indent="-171450">
              <a:lnSpc>
                <a:spcPct val="80000"/>
              </a:lnSpc>
              <a:buFont typeface="Arial" pitchFamily="34" charset="0"/>
              <a:buChar char="•"/>
            </a:pPr>
            <a:r>
              <a:rPr lang="en-US" dirty="0" smtClean="0"/>
              <a:t>Process required for Exception Contingency</a:t>
            </a:r>
          </a:p>
          <a:p>
            <a:pPr marL="512763" lvl="3" indent="-171450">
              <a:lnSpc>
                <a:spcPct val="80000"/>
              </a:lnSpc>
              <a:buFont typeface="Arial" pitchFamily="34" charset="0"/>
              <a:buChar char="•"/>
            </a:pPr>
            <a:endParaRPr lang="en-US" dirty="0"/>
          </a:p>
          <a:p>
            <a:pPr marL="342900" indent="-342900">
              <a:lnSpc>
                <a:spcPct val="80000"/>
              </a:lnSpc>
              <a:buFont typeface="+mj-lt"/>
              <a:buAutoNum type="arabicPeriod" startAt="5"/>
            </a:pPr>
            <a:r>
              <a:rPr lang="en-US" dirty="0" smtClean="0"/>
              <a:t>Outbound Operation &amp; Logistics</a:t>
            </a:r>
            <a:endParaRPr lang="en-US" dirty="0"/>
          </a:p>
          <a:p>
            <a:pPr marL="512763" lvl="3" indent="-171450">
              <a:lnSpc>
                <a:spcPct val="80000"/>
              </a:lnSpc>
              <a:buFont typeface="Arial" pitchFamily="34" charset="0"/>
              <a:buChar char="•"/>
            </a:pPr>
            <a:r>
              <a:rPr lang="en-US" dirty="0" smtClean="0"/>
              <a:t>Utilize of  IDS HVLS and RCTO processes</a:t>
            </a:r>
          </a:p>
        </p:txBody>
      </p:sp>
      <p:sp>
        <p:nvSpPr>
          <p:cNvPr id="2" name="Subtitle 1"/>
          <p:cNvSpPr>
            <a:spLocks noGrp="1"/>
          </p:cNvSpPr>
          <p:nvPr>
            <p:ph type="subTitle" idx="1"/>
          </p:nvPr>
        </p:nvSpPr>
        <p:spPr/>
        <p:txBody>
          <a:bodyPr/>
          <a:lstStyle/>
          <a:p>
            <a:r>
              <a:rPr lang="en-US" dirty="0" smtClean="0"/>
              <a:t> </a:t>
            </a:r>
            <a:endParaRPr lang="en-US" dirty="0"/>
          </a:p>
        </p:txBody>
      </p:sp>
      <p:sp>
        <p:nvSpPr>
          <p:cNvPr id="6" name="Rounded Rectangle 5"/>
          <p:cNvSpPr/>
          <p:nvPr/>
        </p:nvSpPr>
        <p:spPr>
          <a:xfrm>
            <a:off x="266700" y="3145713"/>
            <a:ext cx="4015740" cy="350520"/>
          </a:xfrm>
          <a:prstGeom prst="round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25</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9309982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ubtitle 11"/>
          <p:cNvSpPr>
            <a:spLocks noGrp="1"/>
          </p:cNvSpPr>
          <p:nvPr>
            <p:ph type="subTitle" idx="1"/>
          </p:nvPr>
        </p:nvSpPr>
        <p:spPr/>
        <p:txBody>
          <a:bodyPr/>
          <a:lstStyle/>
          <a:p>
            <a:r>
              <a:rPr lang="en-US" dirty="0" smtClean="0"/>
              <a:t> </a:t>
            </a:r>
            <a:endParaRPr lang="en-US" dirty="0"/>
          </a:p>
        </p:txBody>
      </p:sp>
      <p:sp>
        <p:nvSpPr>
          <p:cNvPr id="11" name="Title 10"/>
          <p:cNvSpPr>
            <a:spLocks noGrp="1"/>
          </p:cNvSpPr>
          <p:nvPr>
            <p:ph type="title"/>
          </p:nvPr>
        </p:nvSpPr>
        <p:spPr/>
        <p:txBody>
          <a:bodyPr/>
          <a:lstStyle/>
          <a:p>
            <a:r>
              <a:rPr lang="en-US" dirty="0" smtClean="0"/>
              <a:t>Planning Process</a:t>
            </a:r>
            <a:endParaRPr lang="en-US" dirty="0"/>
          </a:p>
        </p:txBody>
      </p:sp>
      <p:sp>
        <p:nvSpPr>
          <p:cNvPr id="13" name="Content Placeholder 12"/>
          <p:cNvSpPr>
            <a:spLocks noGrp="1"/>
          </p:cNvSpPr>
          <p:nvPr>
            <p:ph sz="quarter" idx="10"/>
          </p:nvPr>
        </p:nvSpPr>
        <p:spPr/>
        <p:txBody>
          <a:bodyPr/>
          <a:lstStyle/>
          <a:p>
            <a:pPr marL="285750" indent="-285750">
              <a:buFont typeface="Arial" pitchFamily="34" charset="0"/>
              <a:buChar char="•"/>
            </a:pPr>
            <a:r>
              <a:rPr lang="en-US" dirty="0" smtClean="0"/>
              <a:t>“A” Part Planning</a:t>
            </a:r>
          </a:p>
          <a:p>
            <a:pPr lvl="3" indent="0">
              <a:buNone/>
            </a:pPr>
            <a:r>
              <a:rPr lang="en-US" dirty="0" smtClean="0"/>
              <a:t>Data for </a:t>
            </a:r>
            <a:r>
              <a:rPr lang="en-US" b="1" dirty="0" smtClean="0"/>
              <a:t>“A” Part Supply Planning </a:t>
            </a:r>
            <a:r>
              <a:rPr lang="en-US" dirty="0" smtClean="0"/>
              <a:t>will be sent to the ODM </a:t>
            </a:r>
            <a:r>
              <a:rPr lang="en-US" b="1" dirty="0" smtClean="0"/>
              <a:t>through the IDS process</a:t>
            </a:r>
            <a:r>
              <a:rPr lang="en-US" dirty="0" smtClean="0"/>
              <a:t>.  The </a:t>
            </a:r>
            <a:r>
              <a:rPr lang="en-US" b="1" dirty="0" smtClean="0"/>
              <a:t>SC Node </a:t>
            </a:r>
            <a:r>
              <a:rPr lang="en-US" dirty="0" smtClean="0"/>
              <a:t>will show “</a:t>
            </a:r>
            <a:r>
              <a:rPr lang="en-US" b="1" dirty="0" smtClean="0"/>
              <a:t>IDS</a:t>
            </a:r>
            <a:r>
              <a:rPr lang="en-US" dirty="0" smtClean="0"/>
              <a:t>” just like all other IDS forecasts but will contain the</a:t>
            </a:r>
            <a:r>
              <a:rPr lang="en-US" dirty="0" smtClean="0">
                <a:solidFill>
                  <a:schemeClr val="tx1"/>
                </a:solidFill>
              </a:rPr>
              <a:t> </a:t>
            </a:r>
            <a:r>
              <a:rPr lang="en-US" b="1" dirty="0" smtClean="0">
                <a:solidFill>
                  <a:schemeClr val="tx1"/>
                </a:solidFill>
              </a:rPr>
              <a:t>Unique BSaM AV/SA</a:t>
            </a:r>
            <a:r>
              <a:rPr lang="en-US" dirty="0" smtClean="0">
                <a:solidFill>
                  <a:schemeClr val="tx1"/>
                </a:solidFill>
              </a:rPr>
              <a:t> as well as</a:t>
            </a:r>
            <a:r>
              <a:rPr lang="en-US" b="1" dirty="0" smtClean="0">
                <a:solidFill>
                  <a:schemeClr val="tx1"/>
                </a:solidFill>
              </a:rPr>
              <a:t> the Unique IDS AV/SA </a:t>
            </a:r>
            <a:r>
              <a:rPr lang="en-US" dirty="0" smtClean="0">
                <a:solidFill>
                  <a:schemeClr val="tx1"/>
                </a:solidFill>
              </a:rPr>
              <a:t>so that the appropriate material supply for BSaM vs. IDS can be determined by the ODM.  </a:t>
            </a:r>
          </a:p>
          <a:p>
            <a:pPr lvl="3" indent="0">
              <a:buNone/>
            </a:pPr>
            <a:endParaRPr lang="en-US" dirty="0"/>
          </a:p>
          <a:p>
            <a:pPr lvl="3" indent="0">
              <a:buNone/>
            </a:pPr>
            <a:r>
              <a:rPr lang="en-US" dirty="0" smtClean="0"/>
              <a:t>The ODM will need to establish a systemic process so that the BSaM forecast can be determined and the material requirement for BSaM vs. IDS can be properly planned.</a:t>
            </a:r>
          </a:p>
          <a:p>
            <a:endParaRPr lang="en-US" dirty="0"/>
          </a:p>
          <a:p>
            <a:pPr marL="285750" indent="-285750">
              <a:buFont typeface="Arial" pitchFamily="34" charset="0"/>
              <a:buChar char="•"/>
            </a:pPr>
            <a:r>
              <a:rPr lang="en-US" dirty="0" smtClean="0"/>
              <a:t>“B” Part Planning </a:t>
            </a:r>
          </a:p>
          <a:p>
            <a:pPr lvl="3" indent="0">
              <a:buNone/>
            </a:pPr>
            <a:r>
              <a:rPr lang="en-US" dirty="0" smtClean="0"/>
              <a:t>Data for </a:t>
            </a:r>
            <a:r>
              <a:rPr lang="en-US" b="1" dirty="0" smtClean="0"/>
              <a:t>“B” Part Supply Planning </a:t>
            </a:r>
            <a:r>
              <a:rPr lang="en-US" dirty="0" smtClean="0"/>
              <a:t>will be sent to the ODM through the </a:t>
            </a:r>
            <a:r>
              <a:rPr lang="en-US" b="1" dirty="0" smtClean="0"/>
              <a:t>same  process as RCTO (RMFG)</a:t>
            </a:r>
            <a:r>
              <a:rPr lang="en-US" dirty="0" smtClean="0"/>
              <a:t>.  The </a:t>
            </a:r>
            <a:r>
              <a:rPr lang="en-US" b="1" dirty="0" smtClean="0"/>
              <a:t>SC Node </a:t>
            </a:r>
            <a:r>
              <a:rPr lang="en-US" dirty="0" smtClean="0"/>
              <a:t>though will be sent with a </a:t>
            </a:r>
            <a:r>
              <a:rPr lang="en-US" b="1" dirty="0" smtClean="0"/>
              <a:t>Unique “BSaM” code</a:t>
            </a:r>
            <a:r>
              <a:rPr lang="en-US" dirty="0" smtClean="0"/>
              <a:t> instead of RMFG.  BSaM code for SC Note TBD.</a:t>
            </a:r>
          </a:p>
          <a:p>
            <a:pPr lvl="3" indent="0">
              <a:buNone/>
            </a:pPr>
            <a:endParaRPr lang="en-US" dirty="0" smtClean="0"/>
          </a:p>
          <a:p>
            <a:endParaRPr lang="en-US" dirty="0"/>
          </a:p>
          <a:p>
            <a:endParaRPr lang="en-US" dirty="0"/>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26</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564430506"/>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BSaM</a:t>
            </a:r>
            <a:r>
              <a:rPr lang="en-US" dirty="0" smtClean="0"/>
              <a:t> High Level Process Flows</a:t>
            </a:r>
            <a:endParaRPr lang="en-US" dirty="0"/>
          </a:p>
        </p:txBody>
      </p:sp>
      <p:sp>
        <p:nvSpPr>
          <p:cNvPr id="4" name="Content Placeholder 3"/>
          <p:cNvSpPr>
            <a:spLocks noGrp="1"/>
          </p:cNvSpPr>
          <p:nvPr>
            <p:ph sz="quarter" idx="16"/>
          </p:nvPr>
        </p:nvSpPr>
        <p:spPr/>
        <p:txBody>
          <a:bodyPr/>
          <a:lstStyle/>
          <a:p>
            <a:pPr marL="342900" indent="-342900">
              <a:lnSpc>
                <a:spcPct val="80000"/>
              </a:lnSpc>
              <a:buFont typeface="+mj-lt"/>
              <a:buAutoNum type="arabicPeriod"/>
            </a:pPr>
            <a:r>
              <a:rPr lang="en-US" dirty="0" smtClean="0"/>
              <a:t>Order-to-Delivery Processes</a:t>
            </a:r>
          </a:p>
          <a:p>
            <a:pPr marL="512763" lvl="3" indent="-171450">
              <a:lnSpc>
                <a:spcPct val="80000"/>
              </a:lnSpc>
              <a:buFont typeface="Arial" pitchFamily="34" charset="0"/>
              <a:buChar char="•"/>
            </a:pPr>
            <a:r>
              <a:rPr lang="en-US" dirty="0" smtClean="0"/>
              <a:t>B Part Process</a:t>
            </a:r>
          </a:p>
          <a:p>
            <a:pPr marL="512763" lvl="3" indent="-171450">
              <a:lnSpc>
                <a:spcPct val="80000"/>
              </a:lnSpc>
              <a:buFont typeface="Arial" pitchFamily="34" charset="0"/>
              <a:buChar char="•"/>
            </a:pPr>
            <a:r>
              <a:rPr lang="en-US" dirty="0" smtClean="0"/>
              <a:t>A Part BTO Process</a:t>
            </a:r>
          </a:p>
          <a:p>
            <a:pPr marL="512763" lvl="3" indent="-171450">
              <a:lnSpc>
                <a:spcPct val="80000"/>
              </a:lnSpc>
              <a:buFont typeface="Arial" pitchFamily="34" charset="0"/>
              <a:buChar char="•"/>
            </a:pPr>
            <a:r>
              <a:rPr lang="en-US" dirty="0" smtClean="0"/>
              <a:t>A Part Build Trigger Process </a:t>
            </a:r>
          </a:p>
          <a:p>
            <a:pPr lvl="1">
              <a:lnSpc>
                <a:spcPct val="80000"/>
              </a:lnSpc>
            </a:pPr>
            <a:endParaRPr lang="en-US" sz="1200" dirty="0"/>
          </a:p>
          <a:p>
            <a:pPr marL="342900" indent="-342900">
              <a:lnSpc>
                <a:spcPct val="80000"/>
              </a:lnSpc>
              <a:buFont typeface="+mj-lt"/>
              <a:buAutoNum type="arabicPeriod"/>
            </a:pPr>
            <a:r>
              <a:rPr lang="en-US" dirty="0" smtClean="0"/>
              <a:t>PDM/BOM Structure</a:t>
            </a:r>
            <a:endParaRPr lang="en-US" dirty="0"/>
          </a:p>
          <a:p>
            <a:pPr marL="512763" lvl="3" indent="-171450">
              <a:lnSpc>
                <a:spcPct val="80000"/>
              </a:lnSpc>
              <a:buFont typeface="Arial" pitchFamily="34" charset="0"/>
              <a:buChar char="•"/>
            </a:pPr>
            <a:r>
              <a:rPr lang="en-US" dirty="0" smtClean="0"/>
              <a:t>BSaM PDM/BOM Approach</a:t>
            </a:r>
          </a:p>
          <a:p>
            <a:pPr marL="512763" lvl="3" indent="-171450">
              <a:lnSpc>
                <a:spcPct val="80000"/>
              </a:lnSpc>
              <a:buFont typeface="Arial" pitchFamily="34" charset="0"/>
              <a:buChar char="•"/>
            </a:pPr>
            <a:r>
              <a:rPr lang="en-US" dirty="0" smtClean="0"/>
              <a:t>BSaM AV for Cost Adjustment and Planning</a:t>
            </a:r>
          </a:p>
          <a:p>
            <a:pPr lvl="1">
              <a:lnSpc>
                <a:spcPct val="80000"/>
              </a:lnSpc>
            </a:pPr>
            <a:endParaRPr lang="en-US" sz="1200" dirty="0"/>
          </a:p>
          <a:p>
            <a:pPr marL="342900" indent="-342900">
              <a:lnSpc>
                <a:spcPct val="80000"/>
              </a:lnSpc>
              <a:buFont typeface="+mj-lt"/>
              <a:buAutoNum type="arabicPeriod"/>
            </a:pPr>
            <a:r>
              <a:rPr lang="en-US" dirty="0"/>
              <a:t>Planning</a:t>
            </a:r>
          </a:p>
          <a:p>
            <a:pPr marL="512763" lvl="3" indent="-171450">
              <a:lnSpc>
                <a:spcPct val="80000"/>
              </a:lnSpc>
              <a:buFont typeface="Arial" pitchFamily="34" charset="0"/>
              <a:buChar char="•"/>
            </a:pPr>
            <a:r>
              <a:rPr lang="en-US" dirty="0"/>
              <a:t>A Part and B Part Planning </a:t>
            </a:r>
            <a:r>
              <a:rPr lang="en-US" dirty="0" smtClean="0"/>
              <a:t>Process</a:t>
            </a:r>
          </a:p>
          <a:p>
            <a:pPr marL="512763" lvl="3" indent="-171450">
              <a:lnSpc>
                <a:spcPct val="80000"/>
              </a:lnSpc>
              <a:buFont typeface="Arial" pitchFamily="34" charset="0"/>
              <a:buChar char="•"/>
            </a:pPr>
            <a:endParaRPr lang="en-US" dirty="0" smtClean="0"/>
          </a:p>
          <a:p>
            <a:pPr marL="342900" indent="-342900">
              <a:lnSpc>
                <a:spcPct val="80000"/>
              </a:lnSpc>
              <a:buFont typeface="+mj-lt"/>
              <a:buAutoNum type="arabicPeriod"/>
            </a:pPr>
            <a:r>
              <a:rPr lang="en-US" dirty="0" smtClean="0"/>
              <a:t>Production Grouping Process</a:t>
            </a:r>
          </a:p>
          <a:p>
            <a:pPr marL="512763" lvl="3" indent="-171450">
              <a:lnSpc>
                <a:spcPct val="80000"/>
              </a:lnSpc>
              <a:buFont typeface="Arial" pitchFamily="34" charset="0"/>
              <a:buChar char="•"/>
            </a:pPr>
            <a:r>
              <a:rPr lang="en-US" dirty="0" smtClean="0"/>
              <a:t>Bulk Packaging Order Grouping</a:t>
            </a:r>
          </a:p>
          <a:p>
            <a:pPr marL="512763" lvl="3" indent="-171450">
              <a:lnSpc>
                <a:spcPct val="80000"/>
              </a:lnSpc>
              <a:buFont typeface="Arial" pitchFamily="34" charset="0"/>
              <a:buChar char="•"/>
            </a:pPr>
            <a:endParaRPr lang="en-US" sz="1200" dirty="0" smtClean="0"/>
          </a:p>
          <a:p>
            <a:pPr marL="512763" lvl="3" indent="-171450">
              <a:lnSpc>
                <a:spcPct val="80000"/>
              </a:lnSpc>
              <a:buFont typeface="Arial" pitchFamily="34" charset="0"/>
              <a:buChar char="•"/>
            </a:pPr>
            <a:endParaRPr lang="en-US" sz="1200" dirty="0"/>
          </a:p>
          <a:p>
            <a:pPr marL="512763" lvl="3" indent="-171450">
              <a:lnSpc>
                <a:spcPct val="80000"/>
              </a:lnSpc>
              <a:buFont typeface="Arial" pitchFamily="34" charset="0"/>
              <a:buChar char="•"/>
            </a:pPr>
            <a:endParaRPr lang="en-US" sz="1200" dirty="0"/>
          </a:p>
        </p:txBody>
      </p:sp>
      <p:sp>
        <p:nvSpPr>
          <p:cNvPr id="5" name="Content Placeholder 4"/>
          <p:cNvSpPr>
            <a:spLocks noGrp="1"/>
          </p:cNvSpPr>
          <p:nvPr>
            <p:ph sz="quarter" idx="17"/>
          </p:nvPr>
        </p:nvSpPr>
        <p:spPr/>
        <p:txBody>
          <a:bodyPr/>
          <a:lstStyle/>
          <a:p>
            <a:pPr marL="342900" indent="-342900">
              <a:lnSpc>
                <a:spcPct val="80000"/>
              </a:lnSpc>
              <a:buFont typeface="+mj-lt"/>
              <a:buAutoNum type="arabicPeriod" startAt="5"/>
            </a:pPr>
            <a:r>
              <a:rPr lang="en-US" dirty="0" smtClean="0"/>
              <a:t>BSaM Build Trigger Process</a:t>
            </a:r>
            <a:endParaRPr lang="en-US" dirty="0"/>
          </a:p>
          <a:p>
            <a:pPr marL="512763" lvl="3" indent="-171450">
              <a:lnSpc>
                <a:spcPct val="80000"/>
              </a:lnSpc>
              <a:buFont typeface="Arial" pitchFamily="34" charset="0"/>
              <a:buChar char="•"/>
            </a:pPr>
            <a:r>
              <a:rPr lang="en-US" dirty="0" smtClean="0"/>
              <a:t>Build Trigger PO instead of Customer PO</a:t>
            </a:r>
          </a:p>
          <a:p>
            <a:pPr marL="512763" lvl="3" indent="-171450">
              <a:lnSpc>
                <a:spcPct val="80000"/>
              </a:lnSpc>
              <a:buFont typeface="Arial" pitchFamily="34" charset="0"/>
              <a:buChar char="•"/>
            </a:pPr>
            <a:r>
              <a:rPr lang="en-US" dirty="0" smtClean="0"/>
              <a:t>RSD and Performance Measurement</a:t>
            </a:r>
          </a:p>
          <a:p>
            <a:pPr lvl="1">
              <a:lnSpc>
                <a:spcPct val="80000"/>
              </a:lnSpc>
            </a:pPr>
            <a:endParaRPr lang="en-US" sz="1200" dirty="0" smtClean="0"/>
          </a:p>
          <a:p>
            <a:pPr lvl="1">
              <a:lnSpc>
                <a:spcPct val="80000"/>
              </a:lnSpc>
            </a:pPr>
            <a:endParaRPr lang="en-US" sz="1200" dirty="0" smtClean="0"/>
          </a:p>
          <a:p>
            <a:pPr marL="342900" indent="-342900">
              <a:lnSpc>
                <a:spcPct val="80000"/>
              </a:lnSpc>
              <a:buFont typeface="+mj-lt"/>
              <a:buAutoNum type="arabicPeriod" startAt="5"/>
            </a:pPr>
            <a:r>
              <a:rPr lang="en-US" dirty="0" smtClean="0"/>
              <a:t>Full Unit Test Process</a:t>
            </a:r>
            <a:endParaRPr lang="en-US" dirty="0"/>
          </a:p>
          <a:p>
            <a:pPr marL="512763" lvl="3" indent="-171450">
              <a:lnSpc>
                <a:spcPct val="80000"/>
              </a:lnSpc>
              <a:buFont typeface="Arial" pitchFamily="34" charset="0"/>
              <a:buChar char="•"/>
            </a:pPr>
            <a:r>
              <a:rPr lang="en-US" dirty="0" smtClean="0"/>
              <a:t>NB Full Unit Testing using Temp Battery</a:t>
            </a:r>
            <a:endParaRPr lang="en-US" dirty="0"/>
          </a:p>
          <a:p>
            <a:pPr lvl="1">
              <a:lnSpc>
                <a:spcPct val="80000"/>
              </a:lnSpc>
            </a:pPr>
            <a:endParaRPr lang="en-US" sz="1200" dirty="0"/>
          </a:p>
          <a:p>
            <a:pPr marL="342900" indent="-342900">
              <a:lnSpc>
                <a:spcPct val="80000"/>
              </a:lnSpc>
              <a:buFont typeface="+mj-lt"/>
              <a:buAutoNum type="arabicPeriod" startAt="5"/>
            </a:pPr>
            <a:r>
              <a:rPr lang="en-US" dirty="0" smtClean="0"/>
              <a:t>B Part Process</a:t>
            </a:r>
            <a:endParaRPr lang="en-US" dirty="0"/>
          </a:p>
          <a:p>
            <a:pPr marL="512763" lvl="3" indent="-171450">
              <a:lnSpc>
                <a:spcPct val="80000"/>
              </a:lnSpc>
              <a:buFont typeface="Arial" pitchFamily="34" charset="0"/>
              <a:buChar char="•"/>
            </a:pPr>
            <a:r>
              <a:rPr lang="en-US" dirty="0" smtClean="0"/>
              <a:t>Supplier VMI Model vs. ODM HOI Model</a:t>
            </a:r>
          </a:p>
          <a:p>
            <a:pPr marL="512763" lvl="3" indent="-171450">
              <a:lnSpc>
                <a:spcPct val="80000"/>
              </a:lnSpc>
              <a:buFont typeface="Arial" pitchFamily="34" charset="0"/>
              <a:buChar char="•"/>
            </a:pPr>
            <a:r>
              <a:rPr lang="en-US" dirty="0" smtClean="0"/>
              <a:t>Process required for Exception Contingency</a:t>
            </a:r>
          </a:p>
          <a:p>
            <a:pPr marL="512763" lvl="3" indent="-171450">
              <a:lnSpc>
                <a:spcPct val="80000"/>
              </a:lnSpc>
              <a:buFont typeface="Arial" pitchFamily="34" charset="0"/>
              <a:buChar char="•"/>
            </a:pPr>
            <a:endParaRPr lang="en-US" dirty="0"/>
          </a:p>
          <a:p>
            <a:pPr marL="342900" indent="-342900">
              <a:lnSpc>
                <a:spcPct val="80000"/>
              </a:lnSpc>
              <a:buFont typeface="+mj-lt"/>
              <a:buAutoNum type="arabicPeriod" startAt="5"/>
            </a:pPr>
            <a:r>
              <a:rPr lang="en-US" dirty="0" smtClean="0"/>
              <a:t>Outbound Operation &amp; Logistics</a:t>
            </a:r>
            <a:endParaRPr lang="en-US" dirty="0"/>
          </a:p>
          <a:p>
            <a:pPr marL="512763" lvl="3" indent="-171450">
              <a:lnSpc>
                <a:spcPct val="80000"/>
              </a:lnSpc>
              <a:buFont typeface="Arial" pitchFamily="34" charset="0"/>
              <a:buChar char="•"/>
            </a:pPr>
            <a:r>
              <a:rPr lang="en-US" dirty="0" smtClean="0"/>
              <a:t>Utilize of  IDS HVLS and RCTO processes</a:t>
            </a:r>
          </a:p>
        </p:txBody>
      </p:sp>
      <p:sp>
        <p:nvSpPr>
          <p:cNvPr id="2" name="Subtitle 1"/>
          <p:cNvSpPr>
            <a:spLocks noGrp="1"/>
          </p:cNvSpPr>
          <p:nvPr>
            <p:ph type="subTitle" idx="1"/>
          </p:nvPr>
        </p:nvSpPr>
        <p:spPr/>
        <p:txBody>
          <a:bodyPr/>
          <a:lstStyle/>
          <a:p>
            <a:r>
              <a:rPr lang="en-US" dirty="0" smtClean="0"/>
              <a:t> </a:t>
            </a:r>
            <a:endParaRPr lang="en-US" dirty="0"/>
          </a:p>
        </p:txBody>
      </p:sp>
      <p:sp>
        <p:nvSpPr>
          <p:cNvPr id="6" name="Rounded Rectangle 5"/>
          <p:cNvSpPr/>
          <p:nvPr/>
        </p:nvSpPr>
        <p:spPr>
          <a:xfrm>
            <a:off x="266700" y="3852267"/>
            <a:ext cx="4015740" cy="350520"/>
          </a:xfrm>
          <a:prstGeom prst="round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27</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25763673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p:cNvSpPr>
            <a:spLocks noGrp="1"/>
          </p:cNvSpPr>
          <p:nvPr>
            <p:ph type="subTitle" idx="1"/>
          </p:nvPr>
        </p:nvSpPr>
        <p:spPr/>
        <p:txBody>
          <a:bodyPr/>
          <a:lstStyle/>
          <a:p>
            <a:r>
              <a:rPr lang="en-US" dirty="0" smtClean="0"/>
              <a:t> </a:t>
            </a:r>
            <a:endParaRPr lang="en-US" dirty="0"/>
          </a:p>
        </p:txBody>
      </p:sp>
      <p:sp>
        <p:nvSpPr>
          <p:cNvPr id="8" name="Title 7"/>
          <p:cNvSpPr>
            <a:spLocks noGrp="1"/>
          </p:cNvSpPr>
          <p:nvPr>
            <p:ph type="title"/>
          </p:nvPr>
        </p:nvSpPr>
        <p:spPr/>
        <p:txBody>
          <a:bodyPr/>
          <a:lstStyle/>
          <a:p>
            <a:r>
              <a:rPr lang="en-US" dirty="0" smtClean="0"/>
              <a:t>Production Grouping</a:t>
            </a:r>
            <a:endParaRPr lang="en-US" dirty="0"/>
          </a:p>
        </p:txBody>
      </p:sp>
      <p:sp>
        <p:nvSpPr>
          <p:cNvPr id="10" name="Content Placeholder 9"/>
          <p:cNvSpPr>
            <a:spLocks noGrp="1"/>
          </p:cNvSpPr>
          <p:nvPr>
            <p:ph sz="quarter" idx="10"/>
          </p:nvPr>
        </p:nvSpPr>
        <p:spPr/>
        <p:txBody>
          <a:bodyPr/>
          <a:lstStyle/>
          <a:p>
            <a:pPr>
              <a:lnSpc>
                <a:spcPct val="90000"/>
              </a:lnSpc>
            </a:pPr>
            <a:r>
              <a:rPr lang="en-US" dirty="0" smtClean="0"/>
              <a:t>Production Grouping Concept</a:t>
            </a:r>
          </a:p>
          <a:p>
            <a:pPr marL="285750" indent="-285750">
              <a:lnSpc>
                <a:spcPct val="90000"/>
              </a:lnSpc>
              <a:buFont typeface="Arial" pitchFamily="34" charset="0"/>
              <a:buChar char="•"/>
            </a:pPr>
            <a:r>
              <a:rPr lang="en-US" sz="1400" b="0" dirty="0" smtClean="0">
                <a:solidFill>
                  <a:schemeClr val="tx1"/>
                </a:solidFill>
                <a:latin typeface="Calibri" pitchFamily="34" charset="0"/>
                <a:cs typeface="Calibri" pitchFamily="34" charset="0"/>
              </a:rPr>
              <a:t>In order to maximize the fill rate of Bulk Boxes at time of production (minimize the number of partially full bulk boxes), the ODM will need to support  “Production Grouping”.  “Production Grouping” is where the ODM will combine BSaM orders based on common “C” SKU Part Numbers, PCC Location, Ship Mode and  ODM build schedule/capacity.  Specific order groups will be defined for build at one time.  Each specific group of orders will be identified through a unique Order Group ID.</a:t>
            </a:r>
          </a:p>
          <a:p>
            <a:pPr marL="285750" indent="-285750">
              <a:lnSpc>
                <a:spcPct val="90000"/>
              </a:lnSpc>
              <a:buFont typeface="Arial" pitchFamily="34" charset="0"/>
              <a:buChar char="•"/>
            </a:pPr>
            <a:endParaRPr lang="en-US" sz="800" b="0" dirty="0" smtClean="0">
              <a:solidFill>
                <a:schemeClr val="tx1"/>
              </a:solidFill>
              <a:latin typeface="Calibri" pitchFamily="34" charset="0"/>
              <a:cs typeface="Calibri" pitchFamily="34" charset="0"/>
            </a:endParaRPr>
          </a:p>
          <a:p>
            <a:pPr marL="285750" indent="-285750">
              <a:lnSpc>
                <a:spcPct val="90000"/>
              </a:lnSpc>
              <a:buFont typeface="Arial" pitchFamily="34" charset="0"/>
              <a:buChar char="•"/>
            </a:pPr>
            <a:r>
              <a:rPr lang="en-US" sz="1400" b="0" dirty="0" smtClean="0">
                <a:solidFill>
                  <a:schemeClr val="tx1"/>
                </a:solidFill>
                <a:latin typeface="Calibri" pitchFamily="34" charset="0"/>
                <a:cs typeface="Calibri" pitchFamily="34" charset="0"/>
              </a:rPr>
              <a:t>At the time of the build, the ODM will be allowed to put NBs of the same Order Group ID into the same Bulk Box.  This will enable HP and the ODM to minimize/exclude the number of partially full bulk boxes.</a:t>
            </a:r>
          </a:p>
          <a:p>
            <a:pPr marL="285750" indent="-285750">
              <a:lnSpc>
                <a:spcPct val="90000"/>
              </a:lnSpc>
              <a:buFont typeface="Arial" pitchFamily="34" charset="0"/>
              <a:buChar char="•"/>
            </a:pPr>
            <a:endParaRPr lang="en-US" sz="800" b="0" dirty="0">
              <a:solidFill>
                <a:schemeClr val="tx1"/>
              </a:solidFill>
              <a:latin typeface="Calibri" pitchFamily="34" charset="0"/>
              <a:cs typeface="Calibri" pitchFamily="34" charset="0"/>
            </a:endParaRPr>
          </a:p>
          <a:p>
            <a:pPr marL="285750" indent="-285750">
              <a:lnSpc>
                <a:spcPct val="90000"/>
              </a:lnSpc>
              <a:buFont typeface="Arial" pitchFamily="34" charset="0"/>
              <a:buChar char="•"/>
            </a:pPr>
            <a:r>
              <a:rPr lang="en-US" sz="1400" b="0" dirty="0" smtClean="0">
                <a:solidFill>
                  <a:schemeClr val="tx1"/>
                </a:solidFill>
                <a:latin typeface="Calibri" pitchFamily="34" charset="0"/>
                <a:cs typeface="Calibri" pitchFamily="34" charset="0"/>
              </a:rPr>
              <a:t>When Production is completed and the bulk boxes are processed by ODM Operations, Operations will need to scan each Bulk Box and Serial Number to link the serial number to each individual order.  This will result in some Bulk Boxes containing 2 or more orders but will significantly cut down on the material and freight cost required.</a:t>
            </a:r>
          </a:p>
          <a:p>
            <a:pPr marL="285750" indent="-285750">
              <a:lnSpc>
                <a:spcPct val="90000"/>
              </a:lnSpc>
              <a:buFont typeface="Arial" pitchFamily="34" charset="0"/>
              <a:buChar char="•"/>
            </a:pPr>
            <a:endParaRPr lang="en-US" sz="800" b="0" dirty="0">
              <a:solidFill>
                <a:schemeClr val="tx1"/>
              </a:solidFill>
              <a:latin typeface="Calibri" pitchFamily="34" charset="0"/>
              <a:cs typeface="Calibri" pitchFamily="34" charset="0"/>
            </a:endParaRPr>
          </a:p>
          <a:p>
            <a:pPr marL="285750" indent="-285750">
              <a:lnSpc>
                <a:spcPct val="90000"/>
              </a:lnSpc>
              <a:buFont typeface="Arial" pitchFamily="34" charset="0"/>
              <a:buChar char="•"/>
            </a:pPr>
            <a:r>
              <a:rPr lang="en-US" sz="1400" b="0" dirty="0" smtClean="0">
                <a:solidFill>
                  <a:schemeClr val="tx1"/>
                </a:solidFill>
                <a:latin typeface="Calibri" pitchFamily="34" charset="0"/>
                <a:cs typeface="Calibri" pitchFamily="34" charset="0"/>
              </a:rPr>
              <a:t>Production Grouping is also critical in simplifying the operation at PCC.  The Order Group ID will be used to enable the PCC to operate without hunting down individual serial numbers within each physical shipment.</a:t>
            </a:r>
          </a:p>
          <a:p>
            <a:pPr marL="627063" lvl="3" indent="-285750">
              <a:lnSpc>
                <a:spcPct val="90000"/>
              </a:lnSpc>
              <a:buFontTx/>
              <a:buChar char="-"/>
            </a:pPr>
            <a:endParaRPr lang="en-US" dirty="0"/>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28</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881964697"/>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 </a:t>
            </a:r>
            <a:endParaRPr lang="en-US" dirty="0"/>
          </a:p>
        </p:txBody>
      </p:sp>
      <p:sp>
        <p:nvSpPr>
          <p:cNvPr id="3" name="Title 2"/>
          <p:cNvSpPr>
            <a:spLocks noGrp="1"/>
          </p:cNvSpPr>
          <p:nvPr>
            <p:ph type="title"/>
          </p:nvPr>
        </p:nvSpPr>
        <p:spPr/>
        <p:txBody>
          <a:bodyPr/>
          <a:lstStyle/>
          <a:p>
            <a:r>
              <a:rPr lang="en-US" dirty="0" smtClean="0"/>
              <a:t>Production Grouping</a:t>
            </a:r>
            <a:endParaRPr lang="en-US" dirty="0"/>
          </a:p>
        </p:txBody>
      </p:sp>
      <p:sp>
        <p:nvSpPr>
          <p:cNvPr id="4" name="Content Placeholder 3"/>
          <p:cNvSpPr>
            <a:spLocks noGrp="1"/>
          </p:cNvSpPr>
          <p:nvPr>
            <p:ph sz="quarter" idx="10"/>
          </p:nvPr>
        </p:nvSpPr>
        <p:spPr/>
        <p:txBody>
          <a:bodyPr/>
          <a:lstStyle/>
          <a:p>
            <a:r>
              <a:rPr lang="en-US" dirty="0" smtClean="0"/>
              <a:t>Production Grouping Process</a:t>
            </a:r>
            <a:endParaRPr lang="en-US" dirty="0"/>
          </a:p>
          <a:p>
            <a:endParaRPr lang="en-US" dirty="0" smtClean="0"/>
          </a:p>
          <a:p>
            <a:endParaRPr lang="en-US" dirty="0" smtClean="0"/>
          </a:p>
          <a:p>
            <a:endParaRPr lang="en-US" dirty="0"/>
          </a:p>
          <a:p>
            <a:endParaRPr lang="en-US" dirty="0" smtClean="0"/>
          </a:p>
        </p:txBody>
      </p:sp>
      <p:sp>
        <p:nvSpPr>
          <p:cNvPr id="5" name="Rounded Rectangle 4"/>
          <p:cNvSpPr/>
          <p:nvPr/>
        </p:nvSpPr>
        <p:spPr>
          <a:xfrm>
            <a:off x="450289" y="1593284"/>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BSaM Orders Received</a:t>
            </a:r>
            <a:endParaRPr lang="en-US" sz="1100" dirty="0">
              <a:solidFill>
                <a:prstClr val="black"/>
              </a:solidFill>
              <a:latin typeface="Calibri" pitchFamily="34" charset="0"/>
              <a:cs typeface="Calibri" pitchFamily="34" charset="0"/>
            </a:endParaRPr>
          </a:p>
        </p:txBody>
      </p:sp>
      <p:sp>
        <p:nvSpPr>
          <p:cNvPr id="6" name="Rounded Rectangle 5"/>
          <p:cNvSpPr/>
          <p:nvPr/>
        </p:nvSpPr>
        <p:spPr>
          <a:xfrm>
            <a:off x="1835744" y="1593284"/>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Conduct Production Grouping</a:t>
            </a:r>
            <a:endParaRPr lang="en-US" sz="1100" dirty="0">
              <a:solidFill>
                <a:prstClr val="black"/>
              </a:solidFill>
              <a:latin typeface="Calibri" pitchFamily="34" charset="0"/>
              <a:cs typeface="Calibri" pitchFamily="34" charset="0"/>
            </a:endParaRPr>
          </a:p>
        </p:txBody>
      </p:sp>
      <p:sp>
        <p:nvSpPr>
          <p:cNvPr id="7" name="Rounded Rectangle 6"/>
          <p:cNvSpPr/>
          <p:nvPr/>
        </p:nvSpPr>
        <p:spPr>
          <a:xfrm>
            <a:off x="3235004" y="1593290"/>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Conduct Production based on Order Group ID</a:t>
            </a:r>
            <a:endParaRPr lang="en-US" sz="1100" dirty="0">
              <a:solidFill>
                <a:prstClr val="black"/>
              </a:solidFill>
              <a:latin typeface="Calibri" pitchFamily="34" charset="0"/>
              <a:cs typeface="Calibri" pitchFamily="34" charset="0"/>
            </a:endParaRPr>
          </a:p>
        </p:txBody>
      </p:sp>
      <p:sp>
        <p:nvSpPr>
          <p:cNvPr id="8" name="Rounded Rectangle 7"/>
          <p:cNvSpPr/>
          <p:nvPr/>
        </p:nvSpPr>
        <p:spPr>
          <a:xfrm>
            <a:off x="4620410" y="1593296"/>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Link Production Units to Orders of Order Group</a:t>
            </a:r>
            <a:endParaRPr lang="en-US" sz="1100" dirty="0">
              <a:solidFill>
                <a:prstClr val="black"/>
              </a:solidFill>
              <a:latin typeface="Calibri" pitchFamily="34" charset="0"/>
              <a:cs typeface="Calibri" pitchFamily="34" charset="0"/>
            </a:endParaRPr>
          </a:p>
        </p:txBody>
      </p:sp>
      <p:sp>
        <p:nvSpPr>
          <p:cNvPr id="9" name="Rounded Rectangle 8"/>
          <p:cNvSpPr/>
          <p:nvPr/>
        </p:nvSpPr>
        <p:spPr>
          <a:xfrm>
            <a:off x="6019670" y="1586375"/>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Physically ship BSaM orders</a:t>
            </a:r>
            <a:endParaRPr lang="en-US" sz="1100" dirty="0">
              <a:solidFill>
                <a:prstClr val="black"/>
              </a:solidFill>
              <a:latin typeface="Calibri" pitchFamily="34" charset="0"/>
              <a:cs typeface="Calibri" pitchFamily="34" charset="0"/>
            </a:endParaRPr>
          </a:p>
        </p:txBody>
      </p:sp>
      <p:sp>
        <p:nvSpPr>
          <p:cNvPr id="10" name="Rounded Rectangle 9"/>
          <p:cNvSpPr/>
          <p:nvPr/>
        </p:nvSpPr>
        <p:spPr>
          <a:xfrm>
            <a:off x="7411908" y="1586372"/>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Send EDI856 with Order Group ID</a:t>
            </a:r>
            <a:endParaRPr lang="en-US" sz="1100" dirty="0">
              <a:solidFill>
                <a:prstClr val="black"/>
              </a:solidFill>
              <a:latin typeface="Calibri" pitchFamily="34" charset="0"/>
              <a:cs typeface="Calibri" pitchFamily="34" charset="0"/>
            </a:endParaRPr>
          </a:p>
        </p:txBody>
      </p:sp>
      <p:sp>
        <p:nvSpPr>
          <p:cNvPr id="11" name="Right Arrow 10"/>
          <p:cNvSpPr/>
          <p:nvPr/>
        </p:nvSpPr>
        <p:spPr>
          <a:xfrm>
            <a:off x="1648728" y="1801142"/>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ight Arrow 11"/>
          <p:cNvSpPr/>
          <p:nvPr/>
        </p:nvSpPr>
        <p:spPr>
          <a:xfrm>
            <a:off x="3034150" y="1801148"/>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ight Arrow 12"/>
          <p:cNvSpPr/>
          <p:nvPr/>
        </p:nvSpPr>
        <p:spPr>
          <a:xfrm>
            <a:off x="4433448" y="1801154"/>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ight Arrow 13"/>
          <p:cNvSpPr/>
          <p:nvPr/>
        </p:nvSpPr>
        <p:spPr>
          <a:xfrm>
            <a:off x="5825729" y="1815014"/>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ight Arrow 14"/>
          <p:cNvSpPr/>
          <p:nvPr/>
        </p:nvSpPr>
        <p:spPr>
          <a:xfrm>
            <a:off x="7224987" y="1808093"/>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TextBox 17"/>
          <p:cNvSpPr txBox="1"/>
          <p:nvPr/>
        </p:nvSpPr>
        <p:spPr>
          <a:xfrm>
            <a:off x="1717311" y="2486901"/>
            <a:ext cx="1620957" cy="1962076"/>
          </a:xfrm>
          <a:prstGeom prst="rect">
            <a:avLst/>
          </a:prstGeom>
          <a:noFill/>
        </p:spPr>
        <p:txBody>
          <a:bodyPr wrap="none" rtlCol="0">
            <a:spAutoFit/>
          </a:bodyPr>
          <a:lstStyle/>
          <a:p>
            <a:pPr defTabSz="430213">
              <a:lnSpc>
                <a:spcPct val="90000"/>
              </a:lnSpc>
              <a:buSzPct val="100000"/>
            </a:pPr>
            <a:r>
              <a:rPr lang="en-US" sz="900" dirty="0" smtClean="0">
                <a:solidFill>
                  <a:srgbClr val="000000"/>
                </a:solidFill>
                <a:latin typeface="Calibri" pitchFamily="34" charset="0"/>
                <a:cs typeface="Calibri" pitchFamily="34" charset="0"/>
              </a:rPr>
              <a:t>Group BSaM orders </a:t>
            </a:r>
          </a:p>
          <a:p>
            <a:pPr defTabSz="430213">
              <a:lnSpc>
                <a:spcPct val="90000"/>
              </a:lnSpc>
              <a:buSzPct val="100000"/>
            </a:pPr>
            <a:r>
              <a:rPr lang="en-US" sz="900" dirty="0" smtClean="0">
                <a:solidFill>
                  <a:srgbClr val="000000"/>
                </a:solidFill>
                <a:latin typeface="Calibri" pitchFamily="34" charset="0"/>
                <a:cs typeface="Calibri" pitchFamily="34" charset="0"/>
              </a:rPr>
              <a:t>based on PCC Ship-to </a:t>
            </a:r>
          </a:p>
          <a:p>
            <a:pPr defTabSz="430213">
              <a:lnSpc>
                <a:spcPct val="90000"/>
              </a:lnSpc>
              <a:buSzPct val="100000"/>
            </a:pPr>
            <a:r>
              <a:rPr lang="en-US" sz="900" dirty="0" smtClean="0">
                <a:solidFill>
                  <a:srgbClr val="000000"/>
                </a:solidFill>
                <a:latin typeface="Calibri" pitchFamily="34" charset="0"/>
                <a:cs typeface="Calibri" pitchFamily="34" charset="0"/>
              </a:rPr>
              <a:t>Location, Ship Mode,</a:t>
            </a:r>
          </a:p>
          <a:p>
            <a:pPr defTabSz="430213">
              <a:lnSpc>
                <a:spcPct val="90000"/>
              </a:lnSpc>
              <a:buSzPct val="100000"/>
            </a:pPr>
            <a:r>
              <a:rPr lang="en-US" sz="900" dirty="0" smtClean="0">
                <a:solidFill>
                  <a:srgbClr val="000000"/>
                </a:solidFill>
                <a:latin typeface="Calibri" pitchFamily="34" charset="0"/>
                <a:cs typeface="Calibri" pitchFamily="34" charset="0"/>
              </a:rPr>
              <a:t>“C” SKU PN, and </a:t>
            </a:r>
          </a:p>
          <a:p>
            <a:pPr defTabSz="430213">
              <a:lnSpc>
                <a:spcPct val="90000"/>
              </a:lnSpc>
              <a:buSzPct val="100000"/>
            </a:pPr>
            <a:r>
              <a:rPr lang="en-US" sz="900" dirty="0" smtClean="0">
                <a:solidFill>
                  <a:srgbClr val="000000"/>
                </a:solidFill>
                <a:latin typeface="Calibri" pitchFamily="34" charset="0"/>
                <a:cs typeface="Calibri" pitchFamily="34" charset="0"/>
              </a:rPr>
              <a:t>Production Schedule</a:t>
            </a:r>
          </a:p>
          <a:p>
            <a:pPr defTabSz="430213">
              <a:lnSpc>
                <a:spcPct val="90000"/>
              </a:lnSpc>
              <a:buSzPct val="100000"/>
            </a:pPr>
            <a:endParaRPr lang="en-US" sz="900" dirty="0" smtClean="0">
              <a:solidFill>
                <a:srgbClr val="000000"/>
              </a:solidFill>
              <a:latin typeface="Calibri" pitchFamily="34" charset="0"/>
              <a:cs typeface="Calibri" pitchFamily="34" charset="0"/>
            </a:endParaRPr>
          </a:p>
          <a:p>
            <a:pPr defTabSz="430213">
              <a:lnSpc>
                <a:spcPct val="90000"/>
              </a:lnSpc>
              <a:buSzPct val="100000"/>
            </a:pPr>
            <a:r>
              <a:rPr lang="en-US" sz="900" dirty="0" smtClean="0">
                <a:latin typeface="Calibri" pitchFamily="34" charset="0"/>
                <a:cs typeface="Calibri" pitchFamily="34" charset="0"/>
              </a:rPr>
              <a:t>Max unit </a:t>
            </a:r>
            <a:r>
              <a:rPr lang="en-US" sz="900" dirty="0" err="1" smtClean="0">
                <a:latin typeface="Calibri" pitchFamily="34" charset="0"/>
                <a:cs typeface="Calibri" pitchFamily="34" charset="0"/>
              </a:rPr>
              <a:t>qty</a:t>
            </a:r>
            <a:r>
              <a:rPr lang="en-US" sz="900" dirty="0" smtClean="0">
                <a:latin typeface="Calibri" pitchFamily="34" charset="0"/>
                <a:cs typeface="Calibri" pitchFamily="34" charset="0"/>
              </a:rPr>
              <a:t> per grouping</a:t>
            </a:r>
          </a:p>
          <a:p>
            <a:pPr defTabSz="430213">
              <a:lnSpc>
                <a:spcPct val="90000"/>
              </a:lnSpc>
              <a:buSzPct val="100000"/>
            </a:pPr>
            <a:r>
              <a:rPr lang="en-US" sz="900" dirty="0" smtClean="0">
                <a:latin typeface="Calibri" pitchFamily="34" charset="0"/>
                <a:cs typeface="Calibri" pitchFamily="34" charset="0"/>
              </a:rPr>
              <a:t>Will be determined based </a:t>
            </a:r>
          </a:p>
          <a:p>
            <a:pPr defTabSz="430213">
              <a:lnSpc>
                <a:spcPct val="90000"/>
              </a:lnSpc>
              <a:buSzPct val="100000"/>
            </a:pPr>
            <a:r>
              <a:rPr lang="en-US" sz="900" dirty="0" smtClean="0">
                <a:latin typeface="Calibri" pitchFamily="34" charset="0"/>
                <a:cs typeface="Calibri" pitchFamily="34" charset="0"/>
              </a:rPr>
              <a:t>on ODM/HP agreement.  </a:t>
            </a:r>
          </a:p>
          <a:p>
            <a:pPr defTabSz="430213">
              <a:lnSpc>
                <a:spcPct val="90000"/>
              </a:lnSpc>
              <a:buSzPct val="100000"/>
            </a:pPr>
            <a:r>
              <a:rPr lang="en-US" sz="900" dirty="0" smtClean="0">
                <a:latin typeface="Calibri" pitchFamily="34" charset="0"/>
                <a:cs typeface="Calibri" pitchFamily="34" charset="0"/>
              </a:rPr>
              <a:t>Should not exceed Production </a:t>
            </a:r>
          </a:p>
          <a:p>
            <a:pPr defTabSz="430213">
              <a:lnSpc>
                <a:spcPct val="90000"/>
              </a:lnSpc>
              <a:buSzPct val="100000"/>
            </a:pPr>
            <a:r>
              <a:rPr lang="en-US" sz="900" dirty="0" smtClean="0">
                <a:latin typeface="Calibri" pitchFamily="34" charset="0"/>
                <a:cs typeface="Calibri" pitchFamily="34" charset="0"/>
              </a:rPr>
              <a:t>Capacity as well as Max Pallet </a:t>
            </a:r>
          </a:p>
          <a:p>
            <a:pPr defTabSz="430213">
              <a:lnSpc>
                <a:spcPct val="90000"/>
              </a:lnSpc>
              <a:buSzPct val="100000"/>
            </a:pPr>
            <a:r>
              <a:rPr lang="en-US" sz="900" dirty="0" err="1" smtClean="0">
                <a:latin typeface="Calibri" pitchFamily="34" charset="0"/>
                <a:cs typeface="Calibri" pitchFamily="34" charset="0"/>
              </a:rPr>
              <a:t>Qty</a:t>
            </a:r>
            <a:r>
              <a:rPr lang="en-US" sz="900" dirty="0" smtClean="0">
                <a:latin typeface="Calibri" pitchFamily="34" charset="0"/>
                <a:cs typeface="Calibri" pitchFamily="34" charset="0"/>
              </a:rPr>
              <a:t> per Waybill (ACE CT)</a:t>
            </a:r>
            <a:endParaRPr lang="en-US" sz="900" dirty="0">
              <a:latin typeface="Calibri" pitchFamily="34" charset="0"/>
              <a:cs typeface="Calibri" pitchFamily="34" charset="0"/>
            </a:endParaRPr>
          </a:p>
          <a:p>
            <a:pPr defTabSz="430213">
              <a:lnSpc>
                <a:spcPct val="90000"/>
              </a:lnSpc>
              <a:buSzPct val="100000"/>
            </a:pPr>
            <a:endParaRPr lang="en-US" sz="900" dirty="0">
              <a:solidFill>
                <a:srgbClr val="000000"/>
              </a:solidFill>
              <a:latin typeface="Calibri" pitchFamily="34" charset="0"/>
              <a:cs typeface="Calibri" pitchFamily="34" charset="0"/>
            </a:endParaRPr>
          </a:p>
          <a:p>
            <a:pPr defTabSz="430213">
              <a:lnSpc>
                <a:spcPct val="90000"/>
              </a:lnSpc>
              <a:buSzPct val="100000"/>
            </a:pPr>
            <a:r>
              <a:rPr lang="en-US" sz="900" dirty="0" smtClean="0">
                <a:solidFill>
                  <a:srgbClr val="000000"/>
                </a:solidFill>
                <a:latin typeface="Calibri" pitchFamily="34" charset="0"/>
                <a:cs typeface="Calibri" pitchFamily="34" charset="0"/>
              </a:rPr>
              <a:t>Assign Order Group ID to</a:t>
            </a:r>
          </a:p>
          <a:p>
            <a:pPr defTabSz="430213">
              <a:lnSpc>
                <a:spcPct val="90000"/>
              </a:lnSpc>
              <a:buSzPct val="100000"/>
            </a:pPr>
            <a:r>
              <a:rPr lang="en-US" sz="900" dirty="0" smtClean="0">
                <a:solidFill>
                  <a:srgbClr val="000000"/>
                </a:solidFill>
                <a:latin typeface="Calibri" pitchFamily="34" charset="0"/>
                <a:cs typeface="Calibri" pitchFamily="34" charset="0"/>
              </a:rPr>
              <a:t>determined order group.</a:t>
            </a:r>
          </a:p>
        </p:txBody>
      </p:sp>
      <p:sp>
        <p:nvSpPr>
          <p:cNvPr id="19" name="TextBox 18"/>
          <p:cNvSpPr txBox="1"/>
          <p:nvPr/>
        </p:nvSpPr>
        <p:spPr>
          <a:xfrm>
            <a:off x="7328187" y="2493835"/>
            <a:ext cx="1406154" cy="1089529"/>
          </a:xfrm>
          <a:prstGeom prst="rect">
            <a:avLst/>
          </a:prstGeom>
          <a:noFill/>
        </p:spPr>
        <p:txBody>
          <a:bodyPr wrap="none" rtlCol="0">
            <a:spAutoFit/>
          </a:bodyPr>
          <a:lstStyle/>
          <a:p>
            <a:pPr defTabSz="430213">
              <a:lnSpc>
                <a:spcPct val="90000"/>
              </a:lnSpc>
              <a:buSzPct val="100000"/>
            </a:pPr>
            <a:r>
              <a:rPr lang="en-US" sz="900" dirty="0" smtClean="0">
                <a:solidFill>
                  <a:srgbClr val="000000"/>
                </a:solidFill>
                <a:latin typeface="Calibri" pitchFamily="34" charset="0"/>
                <a:cs typeface="Calibri" pitchFamily="34" charset="0"/>
              </a:rPr>
              <a:t>The Order Group ID will</a:t>
            </a:r>
          </a:p>
          <a:p>
            <a:pPr defTabSz="430213">
              <a:lnSpc>
                <a:spcPct val="90000"/>
              </a:lnSpc>
              <a:buSzPct val="100000"/>
            </a:pPr>
            <a:r>
              <a:rPr lang="en-US" sz="900" dirty="0" smtClean="0">
                <a:solidFill>
                  <a:srgbClr val="000000"/>
                </a:solidFill>
                <a:latin typeface="Calibri" pitchFamily="34" charset="0"/>
                <a:cs typeface="Calibri" pitchFamily="34" charset="0"/>
              </a:rPr>
              <a:t>be sent in the EDI856</a:t>
            </a:r>
          </a:p>
          <a:p>
            <a:pPr defTabSz="430213">
              <a:lnSpc>
                <a:spcPct val="90000"/>
              </a:lnSpc>
              <a:buSzPct val="100000"/>
            </a:pPr>
            <a:r>
              <a:rPr lang="en-US" sz="900" dirty="0" smtClean="0">
                <a:solidFill>
                  <a:srgbClr val="000000"/>
                </a:solidFill>
                <a:latin typeface="Calibri" pitchFamily="34" charset="0"/>
                <a:cs typeface="Calibri" pitchFamily="34" charset="0"/>
              </a:rPr>
              <a:t>back to HP.</a:t>
            </a:r>
          </a:p>
          <a:p>
            <a:pPr defTabSz="430213">
              <a:lnSpc>
                <a:spcPct val="90000"/>
              </a:lnSpc>
              <a:buSzPct val="100000"/>
            </a:pPr>
            <a:endParaRPr lang="en-US" sz="900" dirty="0">
              <a:solidFill>
                <a:srgbClr val="000000"/>
              </a:solidFill>
              <a:latin typeface="Calibri" pitchFamily="34" charset="0"/>
              <a:cs typeface="Calibri" pitchFamily="34" charset="0"/>
            </a:endParaRPr>
          </a:p>
          <a:p>
            <a:pPr defTabSz="430213">
              <a:lnSpc>
                <a:spcPct val="90000"/>
              </a:lnSpc>
              <a:buSzPct val="100000"/>
            </a:pPr>
            <a:r>
              <a:rPr lang="en-US" sz="900" dirty="0" smtClean="0">
                <a:solidFill>
                  <a:srgbClr val="000000"/>
                </a:solidFill>
                <a:latin typeface="Calibri" pitchFamily="34" charset="0"/>
                <a:cs typeface="Calibri" pitchFamily="34" charset="0"/>
              </a:rPr>
              <a:t>The Order Group ID is </a:t>
            </a:r>
          </a:p>
          <a:p>
            <a:pPr defTabSz="430213">
              <a:lnSpc>
                <a:spcPct val="90000"/>
              </a:lnSpc>
              <a:buSzPct val="100000"/>
            </a:pPr>
            <a:r>
              <a:rPr lang="en-US" sz="900" dirty="0" smtClean="0">
                <a:solidFill>
                  <a:srgbClr val="000000"/>
                </a:solidFill>
                <a:latin typeface="Calibri" pitchFamily="34" charset="0"/>
                <a:cs typeface="Calibri" pitchFamily="34" charset="0"/>
              </a:rPr>
              <a:t>required by Ryder to be </a:t>
            </a:r>
          </a:p>
          <a:p>
            <a:pPr defTabSz="430213">
              <a:lnSpc>
                <a:spcPct val="90000"/>
              </a:lnSpc>
              <a:buSzPct val="100000"/>
            </a:pPr>
            <a:r>
              <a:rPr lang="en-US" sz="900" dirty="0" smtClean="0">
                <a:solidFill>
                  <a:srgbClr val="000000"/>
                </a:solidFill>
                <a:latin typeface="Calibri" pitchFamily="34" charset="0"/>
                <a:cs typeface="Calibri" pitchFamily="34" charset="0"/>
              </a:rPr>
              <a:t>able to process the orders</a:t>
            </a:r>
          </a:p>
          <a:p>
            <a:pPr defTabSz="430213">
              <a:lnSpc>
                <a:spcPct val="90000"/>
              </a:lnSpc>
              <a:buSzPct val="100000"/>
            </a:pPr>
            <a:r>
              <a:rPr lang="en-US" sz="900" dirty="0" smtClean="0">
                <a:solidFill>
                  <a:srgbClr val="000000"/>
                </a:solidFill>
                <a:latin typeface="Calibri" pitchFamily="34" charset="0"/>
                <a:cs typeface="Calibri" pitchFamily="34" charset="0"/>
              </a:rPr>
              <a:t>correctly.</a:t>
            </a:r>
          </a:p>
        </p:txBody>
      </p:sp>
      <p:sp>
        <p:nvSpPr>
          <p:cNvPr id="20" name="TextBox 19"/>
          <p:cNvSpPr txBox="1"/>
          <p:nvPr/>
        </p:nvSpPr>
        <p:spPr>
          <a:xfrm>
            <a:off x="4558058" y="2486945"/>
            <a:ext cx="1452642" cy="1962076"/>
          </a:xfrm>
          <a:prstGeom prst="rect">
            <a:avLst/>
          </a:prstGeom>
          <a:noFill/>
        </p:spPr>
        <p:txBody>
          <a:bodyPr wrap="none" rtlCol="0">
            <a:spAutoFit/>
          </a:bodyPr>
          <a:lstStyle/>
          <a:p>
            <a:pPr defTabSz="430213">
              <a:lnSpc>
                <a:spcPct val="90000"/>
              </a:lnSpc>
              <a:buSzPct val="100000"/>
            </a:pPr>
            <a:r>
              <a:rPr lang="en-US" sz="900" dirty="0" smtClean="0">
                <a:solidFill>
                  <a:srgbClr val="000000"/>
                </a:solidFill>
                <a:latin typeface="Calibri" pitchFamily="34" charset="0"/>
                <a:cs typeface="Calibri" pitchFamily="34" charset="0"/>
              </a:rPr>
              <a:t>When the physical NBs</a:t>
            </a:r>
          </a:p>
          <a:p>
            <a:pPr defTabSz="430213">
              <a:lnSpc>
                <a:spcPct val="90000"/>
              </a:lnSpc>
              <a:buSzPct val="100000"/>
            </a:pPr>
            <a:r>
              <a:rPr lang="en-US" sz="900" dirty="0" smtClean="0">
                <a:solidFill>
                  <a:srgbClr val="000000"/>
                </a:solidFill>
                <a:latin typeface="Calibri" pitchFamily="34" charset="0"/>
                <a:cs typeface="Calibri" pitchFamily="34" charset="0"/>
              </a:rPr>
              <a:t>in bulk boxes are received</a:t>
            </a:r>
          </a:p>
          <a:p>
            <a:pPr defTabSz="430213">
              <a:lnSpc>
                <a:spcPct val="90000"/>
              </a:lnSpc>
              <a:buSzPct val="100000"/>
            </a:pPr>
            <a:r>
              <a:rPr lang="en-US" sz="900" dirty="0" smtClean="0">
                <a:solidFill>
                  <a:srgbClr val="000000"/>
                </a:solidFill>
                <a:latin typeface="Calibri" pitchFamily="34" charset="0"/>
                <a:cs typeface="Calibri" pitchFamily="34" charset="0"/>
              </a:rPr>
              <a:t>by Outbound Ops, there</a:t>
            </a:r>
          </a:p>
          <a:p>
            <a:pPr defTabSz="430213">
              <a:lnSpc>
                <a:spcPct val="90000"/>
              </a:lnSpc>
              <a:buSzPct val="100000"/>
            </a:pPr>
            <a:r>
              <a:rPr lang="en-US" sz="900" dirty="0" smtClean="0">
                <a:solidFill>
                  <a:srgbClr val="000000"/>
                </a:solidFill>
                <a:latin typeface="Calibri" pitchFamily="34" charset="0"/>
                <a:cs typeface="Calibri" pitchFamily="34" charset="0"/>
              </a:rPr>
              <a:t>will be a need to scan </a:t>
            </a:r>
          </a:p>
          <a:p>
            <a:pPr defTabSz="430213">
              <a:lnSpc>
                <a:spcPct val="90000"/>
              </a:lnSpc>
              <a:buSzPct val="100000"/>
            </a:pPr>
            <a:r>
              <a:rPr lang="en-US" sz="900" dirty="0" smtClean="0">
                <a:solidFill>
                  <a:srgbClr val="000000"/>
                </a:solidFill>
                <a:latin typeface="Calibri" pitchFamily="34" charset="0"/>
                <a:cs typeface="Calibri" pitchFamily="34" charset="0"/>
              </a:rPr>
              <a:t>and systemically link</a:t>
            </a:r>
          </a:p>
          <a:p>
            <a:pPr defTabSz="430213">
              <a:lnSpc>
                <a:spcPct val="90000"/>
              </a:lnSpc>
              <a:buSzPct val="100000"/>
            </a:pPr>
            <a:r>
              <a:rPr lang="en-US" sz="900" dirty="0" smtClean="0">
                <a:solidFill>
                  <a:srgbClr val="000000"/>
                </a:solidFill>
                <a:latin typeface="Calibri" pitchFamily="34" charset="0"/>
                <a:cs typeface="Calibri" pitchFamily="34" charset="0"/>
              </a:rPr>
              <a:t>each NB unit to an order.</a:t>
            </a:r>
          </a:p>
          <a:p>
            <a:pPr defTabSz="430213">
              <a:lnSpc>
                <a:spcPct val="90000"/>
              </a:lnSpc>
              <a:buSzPct val="100000"/>
            </a:pPr>
            <a:endParaRPr lang="en-US" sz="900" dirty="0">
              <a:solidFill>
                <a:srgbClr val="000000"/>
              </a:solidFill>
              <a:latin typeface="Calibri" pitchFamily="34" charset="0"/>
              <a:cs typeface="Calibri" pitchFamily="34" charset="0"/>
            </a:endParaRPr>
          </a:p>
          <a:p>
            <a:pPr defTabSz="430213">
              <a:lnSpc>
                <a:spcPct val="90000"/>
              </a:lnSpc>
              <a:buSzPct val="100000"/>
            </a:pPr>
            <a:r>
              <a:rPr lang="en-US" sz="900" dirty="0" smtClean="0">
                <a:solidFill>
                  <a:srgbClr val="000000"/>
                </a:solidFill>
                <a:latin typeface="Calibri" pitchFamily="34" charset="0"/>
                <a:cs typeface="Calibri" pitchFamily="34" charset="0"/>
              </a:rPr>
              <a:t>The order linkage to unit</a:t>
            </a:r>
          </a:p>
          <a:p>
            <a:pPr defTabSz="430213">
              <a:lnSpc>
                <a:spcPct val="90000"/>
              </a:lnSpc>
              <a:buSzPct val="100000"/>
            </a:pPr>
            <a:r>
              <a:rPr lang="en-US" sz="900" dirty="0" smtClean="0">
                <a:solidFill>
                  <a:srgbClr val="000000"/>
                </a:solidFill>
                <a:latin typeface="Calibri" pitchFamily="34" charset="0"/>
                <a:cs typeface="Calibri" pitchFamily="34" charset="0"/>
              </a:rPr>
              <a:t>should be based on the</a:t>
            </a:r>
          </a:p>
          <a:p>
            <a:pPr defTabSz="430213">
              <a:lnSpc>
                <a:spcPct val="90000"/>
              </a:lnSpc>
              <a:buSzPct val="100000"/>
            </a:pPr>
            <a:r>
              <a:rPr lang="en-US" sz="900" dirty="0" smtClean="0">
                <a:solidFill>
                  <a:srgbClr val="000000"/>
                </a:solidFill>
                <a:latin typeface="Calibri" pitchFamily="34" charset="0"/>
                <a:cs typeface="Calibri" pitchFamily="34" charset="0"/>
              </a:rPr>
              <a:t>Order Group ID.</a:t>
            </a:r>
          </a:p>
          <a:p>
            <a:pPr defTabSz="430213">
              <a:lnSpc>
                <a:spcPct val="90000"/>
              </a:lnSpc>
              <a:buSzPct val="100000"/>
            </a:pPr>
            <a:endParaRPr lang="en-US" sz="900" dirty="0">
              <a:solidFill>
                <a:srgbClr val="000000"/>
              </a:solidFill>
              <a:latin typeface="Calibri" pitchFamily="34" charset="0"/>
              <a:cs typeface="Calibri" pitchFamily="34" charset="0"/>
            </a:endParaRPr>
          </a:p>
          <a:p>
            <a:pPr defTabSz="430213">
              <a:lnSpc>
                <a:spcPct val="90000"/>
              </a:lnSpc>
              <a:buSzPct val="100000"/>
            </a:pPr>
            <a:r>
              <a:rPr lang="en-US" sz="900" dirty="0" smtClean="0">
                <a:solidFill>
                  <a:srgbClr val="000000"/>
                </a:solidFill>
                <a:latin typeface="Calibri" pitchFamily="34" charset="0"/>
                <a:cs typeface="Calibri" pitchFamily="34" charset="0"/>
              </a:rPr>
              <a:t>There will be cases where</a:t>
            </a:r>
          </a:p>
          <a:p>
            <a:pPr defTabSz="430213">
              <a:lnSpc>
                <a:spcPct val="90000"/>
              </a:lnSpc>
              <a:buSzPct val="100000"/>
            </a:pPr>
            <a:r>
              <a:rPr lang="en-US" sz="900" dirty="0" smtClean="0">
                <a:solidFill>
                  <a:srgbClr val="000000"/>
                </a:solidFill>
                <a:latin typeface="Calibri" pitchFamily="34" charset="0"/>
                <a:cs typeface="Calibri" pitchFamily="34" charset="0"/>
              </a:rPr>
              <a:t>There are 2 or more orders</a:t>
            </a:r>
          </a:p>
          <a:p>
            <a:pPr defTabSz="430213">
              <a:lnSpc>
                <a:spcPct val="90000"/>
              </a:lnSpc>
              <a:buSzPct val="100000"/>
            </a:pPr>
            <a:r>
              <a:rPr lang="en-US" sz="900" dirty="0" smtClean="0">
                <a:solidFill>
                  <a:srgbClr val="000000"/>
                </a:solidFill>
                <a:latin typeface="Calibri" pitchFamily="34" charset="0"/>
                <a:cs typeface="Calibri" pitchFamily="34" charset="0"/>
              </a:rPr>
              <a:t>within one bulk box.</a:t>
            </a:r>
          </a:p>
          <a:p>
            <a:pPr defTabSz="430213">
              <a:lnSpc>
                <a:spcPct val="90000"/>
              </a:lnSpc>
              <a:buSzPct val="100000"/>
            </a:pPr>
            <a:endParaRPr lang="en-US" sz="900" dirty="0" smtClean="0">
              <a:solidFill>
                <a:srgbClr val="000000"/>
              </a:solidFill>
              <a:latin typeface="Calibri" pitchFamily="34" charset="0"/>
              <a:cs typeface="Calibri" pitchFamily="34" charset="0"/>
            </a:endParaRPr>
          </a:p>
        </p:txBody>
      </p:sp>
      <p:sp>
        <p:nvSpPr>
          <p:cNvPr id="21" name="Rounded Rectangle 20"/>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29</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73599550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Production Grouping</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1532569739"/>
              </p:ext>
            </p:extLst>
          </p:nvPr>
        </p:nvGraphicFramePr>
        <p:xfrm>
          <a:off x="328611" y="2381116"/>
          <a:ext cx="8462100" cy="2654046"/>
        </p:xfrm>
        <a:graphic>
          <a:graphicData uri="http://schemas.openxmlformats.org/drawingml/2006/table">
            <a:tbl>
              <a:tblPr firstRow="1" bandRow="1">
                <a:tableStyleId>{00A15C55-8517-42AA-B614-E9B94910E393}</a:tableStyleId>
              </a:tblPr>
              <a:tblGrid>
                <a:gridCol w="2115525"/>
                <a:gridCol w="2115525"/>
                <a:gridCol w="2115525"/>
                <a:gridCol w="2115525"/>
              </a:tblGrid>
              <a:tr h="228600">
                <a:tc>
                  <a:txBody>
                    <a:bodyPr/>
                    <a:lstStyle/>
                    <a:p>
                      <a:pPr algn="ctr">
                        <a:lnSpc>
                          <a:spcPct val="90000"/>
                        </a:lnSpc>
                      </a:pPr>
                      <a:r>
                        <a:rPr lang="en-US" sz="1000" b="1" dirty="0" smtClean="0">
                          <a:solidFill>
                            <a:schemeClr val="tx1"/>
                          </a:solidFill>
                        </a:rPr>
                        <a:t>Order Processing</a:t>
                      </a:r>
                      <a:endParaRPr lang="en-US" sz="1000" b="1" dirty="0">
                        <a:solidFill>
                          <a:schemeClr val="tx1"/>
                        </a:solidFill>
                      </a:endParaRPr>
                    </a:p>
                  </a:txBody>
                  <a:tcPr anchor="ctr"/>
                </a:tc>
                <a:tc>
                  <a:txBody>
                    <a:bodyPr/>
                    <a:lstStyle/>
                    <a:p>
                      <a:pPr algn="ctr">
                        <a:lnSpc>
                          <a:spcPct val="90000"/>
                        </a:lnSpc>
                      </a:pPr>
                      <a:r>
                        <a:rPr lang="en-US" sz="1000" b="1" dirty="0" smtClean="0">
                          <a:solidFill>
                            <a:schemeClr val="tx1"/>
                          </a:solidFill>
                        </a:rPr>
                        <a:t>Production</a:t>
                      </a:r>
                      <a:endParaRPr lang="en-US" sz="1000" b="1" dirty="0">
                        <a:solidFill>
                          <a:schemeClr val="tx1"/>
                        </a:solidFill>
                      </a:endParaRPr>
                    </a:p>
                  </a:txBody>
                  <a:tcPr anchor="ctr"/>
                </a:tc>
                <a:tc>
                  <a:txBody>
                    <a:bodyPr/>
                    <a:lstStyle/>
                    <a:p>
                      <a:pPr algn="ctr">
                        <a:lnSpc>
                          <a:spcPct val="90000"/>
                        </a:lnSpc>
                      </a:pPr>
                      <a:r>
                        <a:rPr lang="en-US" sz="1000" b="1" dirty="0" smtClean="0">
                          <a:solidFill>
                            <a:schemeClr val="tx1"/>
                          </a:solidFill>
                        </a:rPr>
                        <a:t>Outbound Ops</a:t>
                      </a:r>
                      <a:r>
                        <a:rPr lang="en-US" sz="1000" b="1" baseline="0" dirty="0" smtClean="0">
                          <a:solidFill>
                            <a:schemeClr val="tx1"/>
                          </a:solidFill>
                        </a:rPr>
                        <a:t> &amp; Logistics</a:t>
                      </a:r>
                      <a:endParaRPr lang="en-US" sz="1000" b="1" dirty="0">
                        <a:solidFill>
                          <a:schemeClr val="tx1"/>
                        </a:solidFill>
                      </a:endParaRPr>
                    </a:p>
                  </a:txBody>
                  <a:tcPr anchor="ctr"/>
                </a:tc>
                <a:tc>
                  <a:txBody>
                    <a:bodyPr/>
                    <a:lstStyle/>
                    <a:p>
                      <a:pPr algn="ctr">
                        <a:lnSpc>
                          <a:spcPct val="90000"/>
                        </a:lnSpc>
                      </a:pPr>
                      <a:r>
                        <a:rPr lang="en-US" sz="1000" b="1" dirty="0" smtClean="0">
                          <a:solidFill>
                            <a:schemeClr val="tx1"/>
                          </a:solidFill>
                        </a:rPr>
                        <a:t>Ship Notice</a:t>
                      </a:r>
                      <a:endParaRPr lang="en-US" sz="1000" b="1" dirty="0">
                        <a:solidFill>
                          <a:schemeClr val="tx1"/>
                        </a:solidFill>
                      </a:endParaRPr>
                    </a:p>
                  </a:txBody>
                  <a:tcPr anchor="ctr"/>
                </a:tc>
              </a:tr>
              <a:tr h="2066544">
                <a:tc>
                  <a:txBody>
                    <a:bodyPr/>
                    <a:lstStyle/>
                    <a:p>
                      <a:pPr marL="228600" indent="-228600">
                        <a:lnSpc>
                          <a:spcPct val="90000"/>
                        </a:lnSpc>
                        <a:buFont typeface="+mj-lt"/>
                        <a:buAutoNum type="arabicPeriod"/>
                      </a:pPr>
                      <a:r>
                        <a:rPr lang="en-US" sz="900" b="0" dirty="0" smtClean="0">
                          <a:solidFill>
                            <a:schemeClr val="tx1"/>
                          </a:solidFill>
                          <a:latin typeface="Calibri" pitchFamily="34" charset="0"/>
                          <a:cs typeface="Calibri" pitchFamily="34" charset="0"/>
                        </a:rPr>
                        <a:t>EDI850 is received</a:t>
                      </a:r>
                    </a:p>
                    <a:p>
                      <a:pPr marL="228600" indent="-228600">
                        <a:lnSpc>
                          <a:spcPct val="90000"/>
                        </a:lnSpc>
                        <a:buFont typeface="+mj-lt"/>
                        <a:buAutoNum type="arabicPeriod"/>
                      </a:pPr>
                      <a:r>
                        <a:rPr lang="en-US" sz="900" b="0" dirty="0" smtClean="0">
                          <a:solidFill>
                            <a:schemeClr val="tx1"/>
                          </a:solidFill>
                          <a:latin typeface="Calibri" pitchFamily="34" charset="0"/>
                          <a:cs typeface="Calibri" pitchFamily="34" charset="0"/>
                        </a:rPr>
                        <a:t>BSaM Orders are Identified</a:t>
                      </a:r>
                    </a:p>
                    <a:p>
                      <a:pPr marL="228600" indent="-228600">
                        <a:lnSpc>
                          <a:spcPct val="90000"/>
                        </a:lnSpc>
                        <a:buFont typeface="+mj-lt"/>
                        <a:buAutoNum type="arabicPeriod"/>
                      </a:pPr>
                      <a:r>
                        <a:rPr lang="en-US" sz="900" b="0" dirty="0" smtClean="0">
                          <a:solidFill>
                            <a:schemeClr val="tx1"/>
                          </a:solidFill>
                          <a:latin typeface="Calibri" pitchFamily="34" charset="0"/>
                          <a:cs typeface="Calibri" pitchFamily="34" charset="0"/>
                        </a:rPr>
                        <a:t>Production commit obtained against all BSaM orders</a:t>
                      </a:r>
                    </a:p>
                    <a:p>
                      <a:pPr marL="228600" indent="-228600">
                        <a:lnSpc>
                          <a:spcPct val="90000"/>
                        </a:lnSpc>
                        <a:buFont typeface="+mj-lt"/>
                        <a:buAutoNum type="arabicPeriod"/>
                      </a:pPr>
                      <a:r>
                        <a:rPr lang="en-US" sz="900" b="0" dirty="0" smtClean="0">
                          <a:solidFill>
                            <a:schemeClr val="tx1"/>
                          </a:solidFill>
                          <a:latin typeface="Calibri" pitchFamily="34" charset="0"/>
                          <a:cs typeface="Calibri" pitchFamily="34" charset="0"/>
                        </a:rPr>
                        <a:t>Combine all BSaM orders for the same “C” SKU,  PCC Ship-to</a:t>
                      </a:r>
                      <a:r>
                        <a:rPr lang="en-US" sz="900" b="0" baseline="0" dirty="0" smtClean="0">
                          <a:solidFill>
                            <a:schemeClr val="tx1"/>
                          </a:solidFill>
                          <a:latin typeface="Calibri" pitchFamily="34" charset="0"/>
                          <a:cs typeface="Calibri" pitchFamily="34" charset="0"/>
                        </a:rPr>
                        <a:t> </a:t>
                      </a:r>
                      <a:r>
                        <a:rPr lang="en-US" sz="900" b="0" dirty="0" smtClean="0">
                          <a:solidFill>
                            <a:schemeClr val="tx1"/>
                          </a:solidFill>
                          <a:latin typeface="Calibri" pitchFamily="34" charset="0"/>
                          <a:cs typeface="Calibri" pitchFamily="34" charset="0"/>
                        </a:rPr>
                        <a:t>Location, Build Schedule and Max</a:t>
                      </a:r>
                      <a:r>
                        <a:rPr lang="en-US" sz="900" b="0" baseline="0" dirty="0" smtClean="0">
                          <a:solidFill>
                            <a:schemeClr val="tx1"/>
                          </a:solidFill>
                          <a:latin typeface="Calibri" pitchFamily="34" charset="0"/>
                          <a:cs typeface="Calibri" pitchFamily="34" charset="0"/>
                        </a:rPr>
                        <a:t> </a:t>
                      </a:r>
                      <a:r>
                        <a:rPr lang="en-US" sz="900" b="0" baseline="0" dirty="0" err="1" smtClean="0">
                          <a:solidFill>
                            <a:schemeClr val="tx1"/>
                          </a:solidFill>
                          <a:latin typeface="Calibri" pitchFamily="34" charset="0"/>
                          <a:cs typeface="Calibri" pitchFamily="34" charset="0"/>
                        </a:rPr>
                        <a:t>Qty</a:t>
                      </a:r>
                      <a:r>
                        <a:rPr lang="en-US" sz="900" b="0" baseline="0" dirty="0" smtClean="0">
                          <a:solidFill>
                            <a:schemeClr val="tx1"/>
                          </a:solidFill>
                          <a:latin typeface="Calibri" pitchFamily="34" charset="0"/>
                          <a:cs typeface="Calibri" pitchFamily="34" charset="0"/>
                        </a:rPr>
                        <a:t> allowed by Order Group.</a:t>
                      </a:r>
                      <a:endParaRPr lang="en-US" sz="900" b="0" dirty="0" smtClean="0">
                        <a:solidFill>
                          <a:schemeClr val="tx1"/>
                        </a:solidFill>
                        <a:latin typeface="Calibri" pitchFamily="34" charset="0"/>
                        <a:cs typeface="Calibri" pitchFamily="34" charset="0"/>
                      </a:endParaRPr>
                    </a:p>
                    <a:p>
                      <a:pPr marL="228600" indent="-228600">
                        <a:lnSpc>
                          <a:spcPct val="90000"/>
                        </a:lnSpc>
                        <a:buFont typeface="+mj-lt"/>
                        <a:buAutoNum type="arabicPeriod"/>
                      </a:pPr>
                      <a:r>
                        <a:rPr lang="en-US" sz="900" b="0" dirty="0" smtClean="0">
                          <a:solidFill>
                            <a:schemeClr val="tx1"/>
                          </a:solidFill>
                          <a:latin typeface="Calibri" pitchFamily="34" charset="0"/>
                          <a:cs typeface="Calibri" pitchFamily="34" charset="0"/>
                        </a:rPr>
                        <a:t>Assigned Order Group ID.</a:t>
                      </a:r>
                    </a:p>
                    <a:p>
                      <a:pPr marL="228600" indent="-228600">
                        <a:lnSpc>
                          <a:spcPct val="90000"/>
                        </a:lnSpc>
                        <a:buFont typeface="+mj-lt"/>
                        <a:buAutoNum type="arabicPeriod"/>
                      </a:pPr>
                      <a:r>
                        <a:rPr lang="en-US" sz="900" b="0" dirty="0" smtClean="0">
                          <a:solidFill>
                            <a:schemeClr val="tx1"/>
                          </a:solidFill>
                          <a:latin typeface="Calibri" pitchFamily="34" charset="0"/>
                          <a:cs typeface="Calibri" pitchFamily="34" charset="0"/>
                        </a:rPr>
                        <a:t>Notify Production to build based on Order Group IDs.</a:t>
                      </a:r>
                    </a:p>
                    <a:p>
                      <a:pPr marL="228600" indent="-228600">
                        <a:lnSpc>
                          <a:spcPct val="90000"/>
                        </a:lnSpc>
                        <a:buFont typeface="+mj-lt"/>
                        <a:buAutoNum type="arabicPeriod"/>
                      </a:pPr>
                      <a:r>
                        <a:rPr lang="en-US" sz="900" b="0" dirty="0" smtClean="0">
                          <a:solidFill>
                            <a:schemeClr val="tx1"/>
                          </a:solidFill>
                          <a:latin typeface="Calibri" pitchFamily="34" charset="0"/>
                          <a:cs typeface="Calibri" pitchFamily="34" charset="0"/>
                        </a:rPr>
                        <a:t>The Order Group ID will also</a:t>
                      </a:r>
                      <a:r>
                        <a:rPr lang="en-US" sz="900" b="0" baseline="0" dirty="0" smtClean="0">
                          <a:solidFill>
                            <a:schemeClr val="tx1"/>
                          </a:solidFill>
                          <a:latin typeface="Calibri" pitchFamily="34" charset="0"/>
                          <a:cs typeface="Calibri" pitchFamily="34" charset="0"/>
                        </a:rPr>
                        <a:t> need to be relayed to HVLS for processing.</a:t>
                      </a:r>
                      <a:endParaRPr lang="en-US" sz="900" b="0" dirty="0">
                        <a:solidFill>
                          <a:schemeClr val="tx1"/>
                        </a:solidFill>
                        <a:latin typeface="Calibri" pitchFamily="34" charset="0"/>
                        <a:cs typeface="Calibri" pitchFamily="34" charset="0"/>
                      </a:endParaRPr>
                    </a:p>
                  </a:txBody>
                  <a:tcPr/>
                </a:tc>
                <a:tc>
                  <a:txBody>
                    <a:bodyPr/>
                    <a:lstStyle/>
                    <a:p>
                      <a:pPr marL="228600" indent="-228600">
                        <a:lnSpc>
                          <a:spcPct val="90000"/>
                        </a:lnSpc>
                        <a:buFont typeface="+mj-lt"/>
                        <a:buAutoNum type="arabicPeriod" startAt="8"/>
                      </a:pPr>
                      <a:r>
                        <a:rPr lang="en-US" sz="900" b="0" baseline="0" dirty="0" smtClean="0">
                          <a:solidFill>
                            <a:schemeClr val="tx1"/>
                          </a:solidFill>
                          <a:latin typeface="Calibri" pitchFamily="34" charset="0"/>
                          <a:cs typeface="Calibri" pitchFamily="34" charset="0"/>
                        </a:rPr>
                        <a:t>Production to conduct  BSaM </a:t>
                      </a:r>
                      <a:r>
                        <a:rPr lang="en-US" sz="900" b="1" baseline="0" dirty="0" smtClean="0">
                          <a:solidFill>
                            <a:schemeClr val="tx1"/>
                          </a:solidFill>
                          <a:latin typeface="Calibri" pitchFamily="34" charset="0"/>
                          <a:cs typeface="Calibri" pitchFamily="34" charset="0"/>
                        </a:rPr>
                        <a:t>build by Order Group ID</a:t>
                      </a:r>
                      <a:r>
                        <a:rPr lang="en-US" sz="900" b="0" baseline="0" dirty="0" smtClean="0">
                          <a:solidFill>
                            <a:schemeClr val="tx1"/>
                          </a:solidFill>
                          <a:latin typeface="Calibri" pitchFamily="34" charset="0"/>
                          <a:cs typeface="Calibri" pitchFamily="34" charset="0"/>
                        </a:rPr>
                        <a:t>.  Partial Order Group ID build generally not allowed.</a:t>
                      </a:r>
                    </a:p>
                    <a:p>
                      <a:pPr marL="228600" indent="-228600">
                        <a:lnSpc>
                          <a:spcPct val="90000"/>
                        </a:lnSpc>
                        <a:buFont typeface="+mj-lt"/>
                        <a:buAutoNum type="arabicPeriod" startAt="8"/>
                      </a:pPr>
                      <a:r>
                        <a:rPr lang="en-US" sz="900" b="0" baseline="0" dirty="0" smtClean="0">
                          <a:solidFill>
                            <a:schemeClr val="tx1"/>
                          </a:solidFill>
                          <a:latin typeface="Calibri" pitchFamily="34" charset="0"/>
                          <a:cs typeface="Calibri" pitchFamily="34" charset="0"/>
                        </a:rPr>
                        <a:t>Production can place all NBs of the same Group ID into the same set of bulk boxes.</a:t>
                      </a:r>
                    </a:p>
                    <a:p>
                      <a:pPr marL="228600" indent="-228600">
                        <a:lnSpc>
                          <a:spcPct val="90000"/>
                        </a:lnSpc>
                        <a:buFont typeface="+mj-lt"/>
                        <a:buAutoNum type="arabicPeriod" startAt="8"/>
                      </a:pPr>
                      <a:r>
                        <a:rPr lang="en-US" sz="900" b="0" baseline="0" dirty="0" smtClean="0">
                          <a:solidFill>
                            <a:schemeClr val="tx1"/>
                          </a:solidFill>
                          <a:latin typeface="Calibri" pitchFamily="34" charset="0"/>
                          <a:cs typeface="Calibri" pitchFamily="34" charset="0"/>
                        </a:rPr>
                        <a:t>Production to systemically notify Ops and Logistics when the build of each Order Group has been completed.</a:t>
                      </a:r>
                    </a:p>
                    <a:p>
                      <a:pPr marL="171450" indent="-171450">
                        <a:lnSpc>
                          <a:spcPct val="90000"/>
                        </a:lnSpc>
                        <a:buFont typeface="Arial" charset="0"/>
                        <a:buChar char="•"/>
                      </a:pPr>
                      <a:endParaRPr lang="en-US" sz="900" b="0" dirty="0">
                        <a:solidFill>
                          <a:schemeClr val="tx1"/>
                        </a:solidFill>
                        <a:latin typeface="Calibri" pitchFamily="34" charset="0"/>
                        <a:cs typeface="Calibri" pitchFamily="34" charset="0"/>
                      </a:endParaRPr>
                    </a:p>
                  </a:txBody>
                  <a:tcPr/>
                </a:tc>
                <a:tc>
                  <a:txBody>
                    <a:bodyPr/>
                    <a:lstStyle/>
                    <a:p>
                      <a:pPr marL="228600" indent="-228600">
                        <a:lnSpc>
                          <a:spcPct val="90000"/>
                        </a:lnSpc>
                        <a:buFont typeface="+mj-lt"/>
                        <a:buAutoNum type="arabicPeriod" startAt="11"/>
                      </a:pPr>
                      <a:r>
                        <a:rPr lang="en-US" sz="900" b="0" dirty="0" smtClean="0">
                          <a:solidFill>
                            <a:schemeClr val="tx1"/>
                          </a:solidFill>
                          <a:latin typeface="Calibri" pitchFamily="34" charset="0"/>
                          <a:cs typeface="Calibri" pitchFamily="34" charset="0"/>
                        </a:rPr>
                        <a:t>Ops will need to barcode scan the bulk box of each Order Group received</a:t>
                      </a:r>
                      <a:r>
                        <a:rPr lang="en-US" sz="900" b="0" baseline="0" dirty="0" smtClean="0">
                          <a:solidFill>
                            <a:schemeClr val="tx1"/>
                          </a:solidFill>
                          <a:latin typeface="Calibri" pitchFamily="34" charset="0"/>
                          <a:cs typeface="Calibri" pitchFamily="34" charset="0"/>
                        </a:rPr>
                        <a:t> to determine which Bulk Box, NB and serial number will be assigned to which specific EDI850 order.</a:t>
                      </a:r>
                    </a:p>
                    <a:p>
                      <a:pPr marL="228600" indent="-228600">
                        <a:lnSpc>
                          <a:spcPct val="90000"/>
                        </a:lnSpc>
                        <a:buFont typeface="+mj-lt"/>
                        <a:buAutoNum type="arabicPeriod" startAt="11"/>
                      </a:pPr>
                      <a:r>
                        <a:rPr lang="en-US" sz="900" b="0" baseline="0" dirty="0" smtClean="0">
                          <a:solidFill>
                            <a:schemeClr val="tx1"/>
                          </a:solidFill>
                          <a:latin typeface="Calibri" pitchFamily="34" charset="0"/>
                          <a:cs typeface="Calibri" pitchFamily="34" charset="0"/>
                        </a:rPr>
                        <a:t>The serial number and bulk box assignment to each order will need to be systemically relayed back to the order management system for ship notice.</a:t>
                      </a:r>
                      <a:endParaRPr lang="en-US" sz="900" b="0" dirty="0">
                        <a:solidFill>
                          <a:schemeClr val="tx1"/>
                        </a:solidFill>
                        <a:latin typeface="Calibri" pitchFamily="34" charset="0"/>
                        <a:cs typeface="Calibri" pitchFamily="34" charset="0"/>
                      </a:endParaRPr>
                    </a:p>
                  </a:txBody>
                  <a:tcPr/>
                </a:tc>
                <a:tc>
                  <a:txBody>
                    <a:bodyPr/>
                    <a:lstStyle/>
                    <a:p>
                      <a:pPr marL="228600" indent="-228600">
                        <a:lnSpc>
                          <a:spcPct val="90000"/>
                        </a:lnSpc>
                        <a:buFont typeface="+mj-lt"/>
                        <a:buAutoNum type="arabicPeriod" startAt="13"/>
                      </a:pPr>
                      <a:r>
                        <a:rPr lang="en-US" sz="900" b="0" dirty="0" smtClean="0">
                          <a:solidFill>
                            <a:schemeClr val="tx1"/>
                          </a:solidFill>
                          <a:latin typeface="Calibri" pitchFamily="34" charset="0"/>
                          <a:cs typeface="Calibri" pitchFamily="34" charset="0"/>
                        </a:rPr>
                        <a:t>The</a:t>
                      </a:r>
                      <a:r>
                        <a:rPr lang="en-US" sz="900" b="0" baseline="0" dirty="0" smtClean="0">
                          <a:solidFill>
                            <a:schemeClr val="tx1"/>
                          </a:solidFill>
                          <a:latin typeface="Calibri" pitchFamily="34" charset="0"/>
                          <a:cs typeface="Calibri" pitchFamily="34" charset="0"/>
                        </a:rPr>
                        <a:t> serial number and Box ID assignment per order is received from Ops along with other data and the EDI856 is sent back to HP when the shipment is complete.</a:t>
                      </a:r>
                    </a:p>
                    <a:p>
                      <a:pPr marL="228600" indent="-228600">
                        <a:lnSpc>
                          <a:spcPct val="90000"/>
                        </a:lnSpc>
                        <a:buFont typeface="+mj-lt"/>
                        <a:buAutoNum type="arabicPeriod" startAt="13"/>
                      </a:pPr>
                      <a:r>
                        <a:rPr lang="en-US" sz="900" b="0" baseline="0" dirty="0" smtClean="0">
                          <a:solidFill>
                            <a:schemeClr val="tx1"/>
                          </a:solidFill>
                          <a:latin typeface="Calibri" pitchFamily="34" charset="0"/>
                          <a:cs typeface="Calibri" pitchFamily="34" charset="0"/>
                        </a:rPr>
                        <a:t>The EDI856 will contain the Order Group ID.</a:t>
                      </a:r>
                      <a:endParaRPr lang="en-US" sz="900" b="0" dirty="0">
                        <a:solidFill>
                          <a:schemeClr val="tx1"/>
                        </a:solidFill>
                        <a:latin typeface="Calibri" pitchFamily="34" charset="0"/>
                        <a:cs typeface="Calibri" pitchFamily="34" charset="0"/>
                      </a:endParaRPr>
                    </a:p>
                  </a:txBody>
                  <a:tcPr/>
                </a:tc>
              </a:tr>
              <a:tr h="358902">
                <a:tc>
                  <a:txBody>
                    <a:bodyPr/>
                    <a:lstStyle/>
                    <a:p>
                      <a:pPr>
                        <a:lnSpc>
                          <a:spcPct val="90000"/>
                        </a:lnSpc>
                      </a:pPr>
                      <a:r>
                        <a:rPr lang="en-US" sz="1000" b="0" dirty="0" smtClean="0">
                          <a:solidFill>
                            <a:schemeClr val="tx1"/>
                          </a:solidFill>
                          <a:latin typeface="Calibri" pitchFamily="34" charset="0"/>
                          <a:cs typeface="Calibri" pitchFamily="34" charset="0"/>
                        </a:rPr>
                        <a:t>ODM B2B &amp; Order </a:t>
                      </a:r>
                      <a:r>
                        <a:rPr lang="en-US" sz="1000" b="0" dirty="0" err="1" smtClean="0">
                          <a:solidFill>
                            <a:schemeClr val="tx1"/>
                          </a:solidFill>
                          <a:latin typeface="Calibri" pitchFamily="34" charset="0"/>
                          <a:cs typeface="Calibri" pitchFamily="34" charset="0"/>
                        </a:rPr>
                        <a:t>Mgmt</a:t>
                      </a:r>
                      <a:r>
                        <a:rPr lang="en-US" sz="1000" b="0" dirty="0" smtClean="0">
                          <a:solidFill>
                            <a:schemeClr val="tx1"/>
                          </a:solidFill>
                          <a:latin typeface="Calibri" pitchFamily="34" charset="0"/>
                          <a:cs typeface="Calibri" pitchFamily="34" charset="0"/>
                        </a:rPr>
                        <a:t> System</a:t>
                      </a:r>
                      <a:endParaRPr lang="en-US" sz="1000" b="0" dirty="0">
                        <a:solidFill>
                          <a:schemeClr val="tx1"/>
                        </a:solidFill>
                        <a:latin typeface="Calibri" pitchFamily="34" charset="0"/>
                        <a:cs typeface="Calibri" pitchFamily="34" charset="0"/>
                      </a:endParaRPr>
                    </a:p>
                  </a:txBody>
                  <a:tcPr/>
                </a:tc>
                <a:tc>
                  <a:txBody>
                    <a:bodyPr/>
                    <a:lstStyle/>
                    <a:p>
                      <a:pPr>
                        <a:lnSpc>
                          <a:spcPct val="90000"/>
                        </a:lnSpc>
                      </a:pPr>
                      <a:r>
                        <a:rPr lang="en-US" sz="1000" b="0" dirty="0" smtClean="0">
                          <a:solidFill>
                            <a:schemeClr val="tx1"/>
                          </a:solidFill>
                          <a:latin typeface="Calibri" pitchFamily="34" charset="0"/>
                          <a:cs typeface="Calibri" pitchFamily="34" charset="0"/>
                        </a:rPr>
                        <a:t>ODM</a:t>
                      </a:r>
                      <a:r>
                        <a:rPr lang="en-US" sz="1000" b="0" baseline="0" dirty="0" smtClean="0">
                          <a:solidFill>
                            <a:schemeClr val="tx1"/>
                          </a:solidFill>
                          <a:latin typeface="Calibri" pitchFamily="34" charset="0"/>
                          <a:cs typeface="Calibri" pitchFamily="34" charset="0"/>
                        </a:rPr>
                        <a:t> Ship Floor System</a:t>
                      </a:r>
                      <a:endParaRPr lang="en-US" sz="1000" b="0" dirty="0">
                        <a:solidFill>
                          <a:schemeClr val="tx1"/>
                        </a:solidFill>
                        <a:latin typeface="Calibri" pitchFamily="34" charset="0"/>
                        <a:cs typeface="Calibri" pitchFamily="34" charset="0"/>
                      </a:endParaRPr>
                    </a:p>
                  </a:txBody>
                  <a:tcPr/>
                </a:tc>
                <a:tc>
                  <a:txBody>
                    <a:bodyPr/>
                    <a:lstStyle/>
                    <a:p>
                      <a:pPr>
                        <a:lnSpc>
                          <a:spcPct val="90000"/>
                        </a:lnSpc>
                      </a:pPr>
                      <a:r>
                        <a:rPr lang="en-US" sz="1000" b="0" dirty="0" smtClean="0">
                          <a:solidFill>
                            <a:schemeClr val="tx1"/>
                          </a:solidFill>
                          <a:latin typeface="Calibri" pitchFamily="34" charset="0"/>
                          <a:cs typeface="Calibri" pitchFamily="34" charset="0"/>
                        </a:rPr>
                        <a:t>ODM Logistics</a:t>
                      </a:r>
                      <a:r>
                        <a:rPr lang="en-US" sz="1000" b="0" baseline="0" dirty="0" smtClean="0">
                          <a:solidFill>
                            <a:schemeClr val="tx1"/>
                          </a:solidFill>
                          <a:latin typeface="Calibri" pitchFamily="34" charset="0"/>
                          <a:cs typeface="Calibri" pitchFamily="34" charset="0"/>
                        </a:rPr>
                        <a:t> &amp; Order </a:t>
                      </a:r>
                      <a:r>
                        <a:rPr lang="en-US" sz="1000" b="0" baseline="0" dirty="0" err="1" smtClean="0">
                          <a:solidFill>
                            <a:schemeClr val="tx1"/>
                          </a:solidFill>
                          <a:latin typeface="Calibri" pitchFamily="34" charset="0"/>
                          <a:cs typeface="Calibri" pitchFamily="34" charset="0"/>
                        </a:rPr>
                        <a:t>Mgmt</a:t>
                      </a:r>
                      <a:r>
                        <a:rPr lang="en-US" sz="1000" b="0" baseline="0" dirty="0" smtClean="0">
                          <a:solidFill>
                            <a:schemeClr val="tx1"/>
                          </a:solidFill>
                          <a:latin typeface="Calibri" pitchFamily="34" charset="0"/>
                          <a:cs typeface="Calibri" pitchFamily="34" charset="0"/>
                        </a:rPr>
                        <a:t> System </a:t>
                      </a:r>
                      <a:endParaRPr lang="en-US" sz="1000" b="0" dirty="0">
                        <a:solidFill>
                          <a:schemeClr val="tx1"/>
                        </a:solidFill>
                        <a:latin typeface="Calibri" pitchFamily="34" charset="0"/>
                        <a:cs typeface="Calibri" pitchFamily="34" charset="0"/>
                      </a:endParaRPr>
                    </a:p>
                  </a:txBody>
                  <a:tcPr/>
                </a:tc>
                <a:tc>
                  <a:txBody>
                    <a:bodyPr/>
                    <a:lstStyle/>
                    <a:p>
                      <a:pPr>
                        <a:lnSpc>
                          <a:spcPct val="90000"/>
                        </a:lnSpc>
                      </a:pPr>
                      <a:r>
                        <a:rPr lang="en-US" sz="1000" b="0" dirty="0" smtClean="0">
                          <a:solidFill>
                            <a:schemeClr val="tx1"/>
                          </a:solidFill>
                          <a:latin typeface="Calibri" pitchFamily="34" charset="0"/>
                          <a:cs typeface="Calibri" pitchFamily="34" charset="0"/>
                        </a:rPr>
                        <a:t>ODM Order </a:t>
                      </a:r>
                      <a:r>
                        <a:rPr lang="en-US" sz="1000" b="0" dirty="0" err="1" smtClean="0">
                          <a:solidFill>
                            <a:schemeClr val="tx1"/>
                          </a:solidFill>
                          <a:latin typeface="Calibri" pitchFamily="34" charset="0"/>
                          <a:cs typeface="Calibri" pitchFamily="34" charset="0"/>
                        </a:rPr>
                        <a:t>Mgmt</a:t>
                      </a:r>
                      <a:r>
                        <a:rPr lang="en-US" sz="1000" b="0" baseline="0" dirty="0" smtClean="0">
                          <a:solidFill>
                            <a:schemeClr val="tx1"/>
                          </a:solidFill>
                          <a:latin typeface="Calibri" pitchFamily="34" charset="0"/>
                          <a:cs typeface="Calibri" pitchFamily="34" charset="0"/>
                        </a:rPr>
                        <a:t> System &amp; B2B </a:t>
                      </a:r>
                      <a:endParaRPr lang="en-US" sz="1000" b="0" dirty="0">
                        <a:solidFill>
                          <a:schemeClr val="tx1"/>
                        </a:solidFill>
                        <a:latin typeface="Calibri" pitchFamily="34" charset="0"/>
                        <a:cs typeface="Calibri" pitchFamily="34" charset="0"/>
                      </a:endParaRPr>
                    </a:p>
                  </a:txBody>
                  <a:tcPr/>
                </a:tc>
              </a:tr>
            </a:tbl>
          </a:graphicData>
        </a:graphic>
      </p:graphicFrame>
      <p:sp>
        <p:nvSpPr>
          <p:cNvPr id="6" name="Flowchart: Punched Tape 5"/>
          <p:cNvSpPr/>
          <p:nvPr/>
        </p:nvSpPr>
        <p:spPr>
          <a:xfrm>
            <a:off x="849804" y="1106560"/>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A1</a:t>
            </a:r>
          </a:p>
        </p:txBody>
      </p:sp>
      <p:sp>
        <p:nvSpPr>
          <p:cNvPr id="7" name="Flowchart: Punched Tape 6"/>
          <p:cNvSpPr/>
          <p:nvPr/>
        </p:nvSpPr>
        <p:spPr>
          <a:xfrm>
            <a:off x="849804" y="1309765"/>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A2</a:t>
            </a:r>
          </a:p>
        </p:txBody>
      </p:sp>
      <p:sp>
        <p:nvSpPr>
          <p:cNvPr id="8" name="Flowchart: Punched Tape 7"/>
          <p:cNvSpPr/>
          <p:nvPr/>
        </p:nvSpPr>
        <p:spPr>
          <a:xfrm>
            <a:off x="849804" y="1512967"/>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A3</a:t>
            </a:r>
          </a:p>
        </p:txBody>
      </p:sp>
      <p:sp>
        <p:nvSpPr>
          <p:cNvPr id="9" name="Flowchart: Punched Tape 8"/>
          <p:cNvSpPr/>
          <p:nvPr/>
        </p:nvSpPr>
        <p:spPr>
          <a:xfrm>
            <a:off x="849804" y="1722520"/>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A4</a:t>
            </a:r>
          </a:p>
        </p:txBody>
      </p:sp>
      <p:sp>
        <p:nvSpPr>
          <p:cNvPr id="10" name="Flowchart: Punched Tape 9"/>
          <p:cNvSpPr/>
          <p:nvPr/>
        </p:nvSpPr>
        <p:spPr>
          <a:xfrm>
            <a:off x="849804" y="1932076"/>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A5</a:t>
            </a:r>
          </a:p>
        </p:txBody>
      </p:sp>
      <p:sp>
        <p:nvSpPr>
          <p:cNvPr id="11" name="TextBox 10"/>
          <p:cNvSpPr txBox="1"/>
          <p:nvPr/>
        </p:nvSpPr>
        <p:spPr>
          <a:xfrm>
            <a:off x="1076067" y="1084628"/>
            <a:ext cx="922047"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00FF"/>
                </a:solidFill>
                <a:latin typeface="Calibri" pitchFamily="34" charset="0"/>
                <a:cs typeface="Calibri" pitchFamily="34" charset="0"/>
              </a:rPr>
              <a:t>SKU 001 x 7 Units</a:t>
            </a:r>
          </a:p>
        </p:txBody>
      </p:sp>
      <p:sp>
        <p:nvSpPr>
          <p:cNvPr id="12" name="TextBox 11"/>
          <p:cNvSpPr txBox="1"/>
          <p:nvPr/>
        </p:nvSpPr>
        <p:spPr>
          <a:xfrm>
            <a:off x="1076067" y="1292444"/>
            <a:ext cx="922047"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00FF"/>
                </a:solidFill>
                <a:latin typeface="Calibri" pitchFamily="34" charset="0"/>
                <a:cs typeface="Calibri" pitchFamily="34" charset="0"/>
              </a:rPr>
              <a:t>SKU 001 x 9 Units</a:t>
            </a:r>
          </a:p>
        </p:txBody>
      </p:sp>
      <p:sp>
        <p:nvSpPr>
          <p:cNvPr id="13" name="TextBox 12"/>
          <p:cNvSpPr txBox="1"/>
          <p:nvPr/>
        </p:nvSpPr>
        <p:spPr>
          <a:xfrm>
            <a:off x="1076067" y="1493333"/>
            <a:ext cx="922047"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00FF"/>
                </a:solidFill>
                <a:latin typeface="Calibri" pitchFamily="34" charset="0"/>
                <a:cs typeface="Calibri" pitchFamily="34" charset="0"/>
              </a:rPr>
              <a:t>SKU 001 x 5 Units</a:t>
            </a:r>
          </a:p>
        </p:txBody>
      </p:sp>
      <p:sp>
        <p:nvSpPr>
          <p:cNvPr id="14" name="TextBox 13"/>
          <p:cNvSpPr txBox="1"/>
          <p:nvPr/>
        </p:nvSpPr>
        <p:spPr>
          <a:xfrm>
            <a:off x="1082994" y="1701149"/>
            <a:ext cx="922047"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9999"/>
                </a:solidFill>
                <a:latin typeface="Calibri" pitchFamily="34" charset="0"/>
                <a:cs typeface="Calibri" pitchFamily="34" charset="0"/>
              </a:rPr>
              <a:t>SKU 002 x 7 Units</a:t>
            </a:r>
          </a:p>
        </p:txBody>
      </p:sp>
      <p:sp>
        <p:nvSpPr>
          <p:cNvPr id="15" name="TextBox 14"/>
          <p:cNvSpPr txBox="1"/>
          <p:nvPr/>
        </p:nvSpPr>
        <p:spPr>
          <a:xfrm>
            <a:off x="1082994" y="1902038"/>
            <a:ext cx="922047"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9999"/>
                </a:solidFill>
                <a:latin typeface="Calibri" pitchFamily="34" charset="0"/>
                <a:cs typeface="Calibri" pitchFamily="34" charset="0"/>
              </a:rPr>
              <a:t>SKU 002 x 8 Units</a:t>
            </a:r>
          </a:p>
        </p:txBody>
      </p:sp>
      <p:grpSp>
        <p:nvGrpSpPr>
          <p:cNvPr id="78" name="Group 77"/>
          <p:cNvGrpSpPr/>
          <p:nvPr/>
        </p:nvGrpSpPr>
        <p:grpSpPr>
          <a:xfrm>
            <a:off x="1901104" y="1143861"/>
            <a:ext cx="90660" cy="512604"/>
            <a:chOff x="1732548" y="761133"/>
            <a:chExt cx="200526" cy="512604"/>
          </a:xfrm>
        </p:grpSpPr>
        <p:cxnSp>
          <p:nvCxnSpPr>
            <p:cNvPr id="17" name="Straight Connector 16"/>
            <p:cNvCxnSpPr/>
            <p:nvPr/>
          </p:nvCxnSpPr>
          <p:spPr>
            <a:xfrm>
              <a:off x="1732548" y="761133"/>
              <a:ext cx="96615" cy="0"/>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1732554" y="1273737"/>
              <a:ext cx="96615" cy="0"/>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1829163" y="761133"/>
              <a:ext cx="6" cy="512604"/>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1836459" y="1010511"/>
              <a:ext cx="96615" cy="0"/>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grpSp>
      <p:grpSp>
        <p:nvGrpSpPr>
          <p:cNvPr id="79" name="Group 78"/>
          <p:cNvGrpSpPr/>
          <p:nvPr/>
        </p:nvGrpSpPr>
        <p:grpSpPr>
          <a:xfrm>
            <a:off x="1908063" y="1753445"/>
            <a:ext cx="83727" cy="339429"/>
            <a:chOff x="1739481" y="1370715"/>
            <a:chExt cx="200526" cy="339429"/>
          </a:xfrm>
        </p:grpSpPr>
        <p:cxnSp>
          <p:nvCxnSpPr>
            <p:cNvPr id="24" name="Straight Connector 23"/>
            <p:cNvCxnSpPr/>
            <p:nvPr/>
          </p:nvCxnSpPr>
          <p:spPr>
            <a:xfrm>
              <a:off x="1739481" y="1370715"/>
              <a:ext cx="96615" cy="0"/>
            </a:xfrm>
            <a:prstGeom prst="line">
              <a:avLst/>
            </a:prstGeom>
            <a:ln w="12700" cmpd="sng">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1739487" y="1710144"/>
              <a:ext cx="96615" cy="0"/>
            </a:xfrm>
            <a:prstGeom prst="line">
              <a:avLst/>
            </a:prstGeom>
            <a:ln w="12700" cmpd="sng">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1836096" y="1370715"/>
              <a:ext cx="0" cy="339429"/>
            </a:xfrm>
            <a:prstGeom prst="line">
              <a:avLst/>
            </a:prstGeom>
            <a:ln w="12700" cmpd="sng">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1843392" y="1543896"/>
              <a:ext cx="96615" cy="0"/>
            </a:xfrm>
            <a:prstGeom prst="line">
              <a:avLst/>
            </a:prstGeom>
            <a:ln w="12700" cmpd="sng">
              <a:solidFill>
                <a:srgbClr val="009999"/>
              </a:solidFill>
            </a:ln>
            <a:effectLst/>
          </p:spPr>
          <p:style>
            <a:lnRef idx="2">
              <a:schemeClr val="accent1"/>
            </a:lnRef>
            <a:fillRef idx="0">
              <a:schemeClr val="accent1"/>
            </a:fillRef>
            <a:effectRef idx="1">
              <a:schemeClr val="accent1"/>
            </a:effectRef>
            <a:fontRef idx="minor">
              <a:schemeClr val="tx1"/>
            </a:fontRef>
          </p:style>
        </p:cxnSp>
      </p:grpSp>
      <p:sp>
        <p:nvSpPr>
          <p:cNvPr id="32" name="TextBox 31"/>
          <p:cNvSpPr txBox="1"/>
          <p:nvPr/>
        </p:nvSpPr>
        <p:spPr>
          <a:xfrm>
            <a:off x="1928138" y="1327079"/>
            <a:ext cx="505267" cy="153888"/>
          </a:xfrm>
          <a:prstGeom prst="rect">
            <a:avLst/>
          </a:prstGeom>
          <a:noFill/>
        </p:spPr>
        <p:txBody>
          <a:bodyPr wrap="none" rtlCol="0">
            <a:spAutoFit/>
          </a:bodyPr>
          <a:lstStyle/>
          <a:p>
            <a:pPr marL="0" defTabSz="430213">
              <a:lnSpc>
                <a:spcPct val="50000"/>
              </a:lnSpc>
              <a:spcAft>
                <a:spcPts val="400"/>
              </a:spcAft>
              <a:buSzPct val="100000"/>
            </a:pPr>
            <a:r>
              <a:rPr lang="en-US" sz="800" b="1" dirty="0" smtClean="0">
                <a:solidFill>
                  <a:srgbClr val="0000FF"/>
                </a:solidFill>
                <a:latin typeface="Calibri" pitchFamily="34" charset="0"/>
                <a:cs typeface="Calibri" pitchFamily="34" charset="0"/>
              </a:rPr>
              <a:t>OG-001</a:t>
            </a:r>
          </a:p>
        </p:txBody>
      </p:sp>
      <p:sp>
        <p:nvSpPr>
          <p:cNvPr id="33" name="TextBox 32"/>
          <p:cNvSpPr txBox="1"/>
          <p:nvPr/>
        </p:nvSpPr>
        <p:spPr>
          <a:xfrm>
            <a:off x="1921229" y="1811987"/>
            <a:ext cx="505267"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9999"/>
                </a:solidFill>
                <a:latin typeface="Calibri" pitchFamily="34" charset="0"/>
                <a:cs typeface="Calibri" pitchFamily="34" charset="0"/>
              </a:rPr>
              <a:t>OG-002</a:t>
            </a:r>
          </a:p>
        </p:txBody>
      </p:sp>
      <p:sp>
        <p:nvSpPr>
          <p:cNvPr id="34" name="TextBox 33"/>
          <p:cNvSpPr txBox="1"/>
          <p:nvPr/>
        </p:nvSpPr>
        <p:spPr>
          <a:xfrm>
            <a:off x="2503042" y="1271669"/>
            <a:ext cx="2015295" cy="389850"/>
          </a:xfrm>
          <a:prstGeom prst="rect">
            <a:avLst/>
          </a:prstGeom>
          <a:noFill/>
        </p:spPr>
        <p:txBody>
          <a:bodyPr wrap="none" rtlCol="0">
            <a:spAutoFit/>
          </a:bodyPr>
          <a:lstStyle/>
          <a:p>
            <a:pPr marL="0" defTabSz="430213">
              <a:spcAft>
                <a:spcPts val="400"/>
              </a:spcAft>
              <a:buSzPct val="100000"/>
            </a:pPr>
            <a:r>
              <a:rPr lang="en-US" sz="800" b="1" dirty="0" smtClean="0">
                <a:solidFill>
                  <a:srgbClr val="0000FF"/>
                </a:solidFill>
                <a:latin typeface="Calibri" pitchFamily="34" charset="0"/>
                <a:cs typeface="Calibri" pitchFamily="34" charset="0"/>
              </a:rPr>
              <a:t>OG-001 = SKU 001 x 21 Units = 4 bulk boxes</a:t>
            </a:r>
          </a:p>
          <a:p>
            <a:pPr marL="0" defTabSz="430213">
              <a:spcAft>
                <a:spcPts val="400"/>
              </a:spcAft>
              <a:buSzPct val="100000"/>
            </a:pPr>
            <a:r>
              <a:rPr lang="en-US" sz="800" b="1" dirty="0" smtClean="0">
                <a:solidFill>
                  <a:schemeClr val="tx1">
                    <a:lumMod val="50000"/>
                    <a:lumOff val="50000"/>
                  </a:schemeClr>
                </a:solidFill>
                <a:latin typeface="Calibri" pitchFamily="34" charset="0"/>
                <a:cs typeface="Calibri" pitchFamily="34" charset="0"/>
              </a:rPr>
              <a:t>* Assumption = 6 Units max per bulk box  </a:t>
            </a:r>
          </a:p>
        </p:txBody>
      </p:sp>
      <p:sp>
        <p:nvSpPr>
          <p:cNvPr id="35" name="TextBox 34"/>
          <p:cNvSpPr txBox="1"/>
          <p:nvPr/>
        </p:nvSpPr>
        <p:spPr>
          <a:xfrm>
            <a:off x="2503046" y="1812018"/>
            <a:ext cx="1992853" cy="564257"/>
          </a:xfrm>
          <a:prstGeom prst="rect">
            <a:avLst/>
          </a:prstGeom>
          <a:noFill/>
        </p:spPr>
        <p:txBody>
          <a:bodyPr wrap="none" rtlCol="0">
            <a:spAutoFit/>
          </a:bodyPr>
          <a:lstStyle/>
          <a:p>
            <a:pPr marL="0" defTabSz="430213">
              <a:spcAft>
                <a:spcPts val="400"/>
              </a:spcAft>
              <a:buSzPct val="100000"/>
            </a:pPr>
            <a:r>
              <a:rPr lang="en-US" sz="800" b="1" dirty="0" smtClean="0">
                <a:solidFill>
                  <a:srgbClr val="009999"/>
                </a:solidFill>
                <a:latin typeface="Calibri" pitchFamily="34" charset="0"/>
                <a:cs typeface="Calibri" pitchFamily="34" charset="0"/>
              </a:rPr>
              <a:t>OG-002 = SKU002 x 14 Units = 3 bulk boxes</a:t>
            </a:r>
          </a:p>
          <a:p>
            <a:pPr defTabSz="430213">
              <a:spcAft>
                <a:spcPts val="400"/>
              </a:spcAft>
              <a:buSzPct val="100000"/>
            </a:pPr>
            <a:r>
              <a:rPr lang="en-US" sz="800" b="1" dirty="0">
                <a:solidFill>
                  <a:schemeClr val="tx1">
                    <a:lumMod val="50000"/>
                    <a:lumOff val="50000"/>
                  </a:schemeClr>
                </a:solidFill>
                <a:latin typeface="Calibri" pitchFamily="34" charset="0"/>
                <a:cs typeface="Calibri" pitchFamily="34" charset="0"/>
              </a:rPr>
              <a:t>* Assumption = </a:t>
            </a:r>
            <a:r>
              <a:rPr lang="en-US" sz="800" b="1" dirty="0" smtClean="0">
                <a:solidFill>
                  <a:schemeClr val="tx1">
                    <a:lumMod val="50000"/>
                    <a:lumOff val="50000"/>
                  </a:schemeClr>
                </a:solidFill>
                <a:latin typeface="Calibri" pitchFamily="34" charset="0"/>
                <a:cs typeface="Calibri" pitchFamily="34" charset="0"/>
              </a:rPr>
              <a:t>5 </a:t>
            </a:r>
            <a:r>
              <a:rPr lang="en-US" sz="800" b="1" dirty="0">
                <a:solidFill>
                  <a:schemeClr val="tx1">
                    <a:lumMod val="50000"/>
                    <a:lumOff val="50000"/>
                  </a:schemeClr>
                </a:solidFill>
                <a:latin typeface="Calibri" pitchFamily="34" charset="0"/>
                <a:cs typeface="Calibri" pitchFamily="34" charset="0"/>
              </a:rPr>
              <a:t>Units </a:t>
            </a:r>
            <a:r>
              <a:rPr lang="en-US" sz="800" b="1" dirty="0" smtClean="0">
                <a:solidFill>
                  <a:schemeClr val="tx1">
                    <a:lumMod val="50000"/>
                    <a:lumOff val="50000"/>
                  </a:schemeClr>
                </a:solidFill>
                <a:latin typeface="Calibri" pitchFamily="34" charset="0"/>
                <a:cs typeface="Calibri" pitchFamily="34" charset="0"/>
              </a:rPr>
              <a:t>max </a:t>
            </a:r>
            <a:r>
              <a:rPr lang="en-US" sz="800" b="1" dirty="0">
                <a:solidFill>
                  <a:schemeClr val="tx1">
                    <a:lumMod val="50000"/>
                    <a:lumOff val="50000"/>
                  </a:schemeClr>
                </a:solidFill>
                <a:latin typeface="Calibri" pitchFamily="34" charset="0"/>
                <a:cs typeface="Calibri" pitchFamily="34" charset="0"/>
              </a:rPr>
              <a:t>per </a:t>
            </a:r>
            <a:r>
              <a:rPr lang="en-US" sz="800" b="1" dirty="0" smtClean="0">
                <a:solidFill>
                  <a:schemeClr val="tx1">
                    <a:lumMod val="50000"/>
                    <a:lumOff val="50000"/>
                  </a:schemeClr>
                </a:solidFill>
                <a:latin typeface="Calibri" pitchFamily="34" charset="0"/>
                <a:cs typeface="Calibri" pitchFamily="34" charset="0"/>
              </a:rPr>
              <a:t>bulk box  </a:t>
            </a:r>
            <a:endParaRPr lang="en-US" sz="800" b="1" dirty="0" smtClean="0">
              <a:solidFill>
                <a:srgbClr val="009999"/>
              </a:solidFill>
              <a:latin typeface="Calibri" pitchFamily="34" charset="0"/>
              <a:cs typeface="Calibri" pitchFamily="34" charset="0"/>
            </a:endParaRPr>
          </a:p>
          <a:p>
            <a:pPr marL="0" defTabSz="430213">
              <a:spcAft>
                <a:spcPts val="400"/>
              </a:spcAft>
              <a:buSzPct val="100000"/>
            </a:pPr>
            <a:endParaRPr lang="en-US" sz="800" b="1" dirty="0" smtClean="0">
              <a:solidFill>
                <a:srgbClr val="009999"/>
              </a:solidFill>
              <a:latin typeface="Calibri" pitchFamily="34" charset="0"/>
              <a:cs typeface="Calibri" pitchFamily="34" charset="0"/>
            </a:endParaRPr>
          </a:p>
        </p:txBody>
      </p:sp>
      <p:sp>
        <p:nvSpPr>
          <p:cNvPr id="37" name="Right Arrow 36"/>
          <p:cNvSpPr/>
          <p:nvPr/>
        </p:nvSpPr>
        <p:spPr>
          <a:xfrm>
            <a:off x="2361053" y="1271669"/>
            <a:ext cx="200891" cy="215895"/>
          </a:xfrm>
          <a:prstGeom prst="rightArrow">
            <a:avLst/>
          </a:prstGeom>
          <a:solidFill>
            <a:schemeClr val="bg2">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ight Arrow 37"/>
          <p:cNvSpPr/>
          <p:nvPr/>
        </p:nvSpPr>
        <p:spPr>
          <a:xfrm>
            <a:off x="2361053" y="1818908"/>
            <a:ext cx="200891" cy="215895"/>
          </a:xfrm>
          <a:prstGeom prst="rightArrow">
            <a:avLst/>
          </a:prstGeom>
          <a:solidFill>
            <a:schemeClr val="bg2">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ight Arrow 38"/>
          <p:cNvSpPr/>
          <p:nvPr/>
        </p:nvSpPr>
        <p:spPr>
          <a:xfrm>
            <a:off x="4446155" y="1278602"/>
            <a:ext cx="200891" cy="215895"/>
          </a:xfrm>
          <a:prstGeom prst="rightArrow">
            <a:avLst/>
          </a:prstGeom>
          <a:solidFill>
            <a:schemeClr val="bg2">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ight Arrow 39"/>
          <p:cNvSpPr/>
          <p:nvPr/>
        </p:nvSpPr>
        <p:spPr>
          <a:xfrm>
            <a:off x="4446155" y="1825841"/>
            <a:ext cx="200891" cy="215895"/>
          </a:xfrm>
          <a:prstGeom prst="rightArrow">
            <a:avLst/>
          </a:prstGeom>
          <a:solidFill>
            <a:schemeClr val="bg2">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TextBox 41"/>
          <p:cNvSpPr txBox="1"/>
          <p:nvPr/>
        </p:nvSpPr>
        <p:spPr>
          <a:xfrm>
            <a:off x="4588042" y="1327085"/>
            <a:ext cx="505267" cy="153888"/>
          </a:xfrm>
          <a:prstGeom prst="rect">
            <a:avLst/>
          </a:prstGeom>
          <a:noFill/>
        </p:spPr>
        <p:txBody>
          <a:bodyPr wrap="none" rtlCol="0">
            <a:spAutoFit/>
          </a:bodyPr>
          <a:lstStyle/>
          <a:p>
            <a:pPr marL="0" defTabSz="430213">
              <a:lnSpc>
                <a:spcPct val="50000"/>
              </a:lnSpc>
              <a:spcAft>
                <a:spcPts val="400"/>
              </a:spcAft>
              <a:buSzPct val="100000"/>
            </a:pPr>
            <a:r>
              <a:rPr lang="en-US" sz="800" b="1" dirty="0" smtClean="0">
                <a:solidFill>
                  <a:srgbClr val="0000FF"/>
                </a:solidFill>
                <a:latin typeface="Calibri" pitchFamily="34" charset="0"/>
                <a:cs typeface="Calibri" pitchFamily="34" charset="0"/>
              </a:rPr>
              <a:t>OG-001</a:t>
            </a:r>
          </a:p>
        </p:txBody>
      </p:sp>
      <p:sp>
        <p:nvSpPr>
          <p:cNvPr id="43" name="TextBox 42"/>
          <p:cNvSpPr txBox="1"/>
          <p:nvPr/>
        </p:nvSpPr>
        <p:spPr>
          <a:xfrm>
            <a:off x="4581161" y="1811993"/>
            <a:ext cx="505267"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9999"/>
                </a:solidFill>
                <a:latin typeface="Calibri" pitchFamily="34" charset="0"/>
                <a:cs typeface="Calibri" pitchFamily="34" charset="0"/>
              </a:rPr>
              <a:t>OG-002</a:t>
            </a:r>
          </a:p>
        </p:txBody>
      </p:sp>
      <p:grpSp>
        <p:nvGrpSpPr>
          <p:cNvPr id="52" name="Group 51"/>
          <p:cNvGrpSpPr/>
          <p:nvPr/>
        </p:nvGrpSpPr>
        <p:grpSpPr>
          <a:xfrm flipH="1">
            <a:off x="5010736" y="1151147"/>
            <a:ext cx="221671" cy="949011"/>
            <a:chOff x="1739481" y="913533"/>
            <a:chExt cx="207459" cy="949011"/>
          </a:xfrm>
        </p:grpSpPr>
        <p:cxnSp>
          <p:nvCxnSpPr>
            <p:cNvPr id="44" name="Straight Connector 43"/>
            <p:cNvCxnSpPr/>
            <p:nvPr/>
          </p:nvCxnSpPr>
          <p:spPr>
            <a:xfrm>
              <a:off x="1739481" y="913533"/>
              <a:ext cx="96615" cy="0"/>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a:off x="1739487" y="1426137"/>
              <a:ext cx="96615" cy="0"/>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a:off x="1836096" y="913533"/>
              <a:ext cx="6" cy="512604"/>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1843392" y="1162911"/>
              <a:ext cx="96615" cy="0"/>
            </a:xfrm>
            <a:prstGeom prst="line">
              <a:avLst/>
            </a:prstGeom>
            <a:ln w="12700" cmpd="sng">
              <a:solidFill>
                <a:srgbClr val="0000FF"/>
              </a:solidFill>
            </a:ln>
            <a:effectLst/>
          </p:spPr>
          <p:style>
            <a:lnRef idx="2">
              <a:schemeClr val="accent1"/>
            </a:lnRef>
            <a:fillRef idx="0">
              <a:schemeClr val="accent1"/>
            </a:fillRef>
            <a:effectRef idx="1">
              <a:schemeClr val="accent1"/>
            </a:effectRef>
            <a:fontRef idx="minor">
              <a:schemeClr val="tx1"/>
            </a:fontRef>
          </p:style>
        </p:cxnSp>
        <p:cxnSp>
          <p:nvCxnSpPr>
            <p:cNvPr id="48" name="Straight Connector 47"/>
            <p:cNvCxnSpPr/>
            <p:nvPr/>
          </p:nvCxnSpPr>
          <p:spPr>
            <a:xfrm>
              <a:off x="1746414" y="1523115"/>
              <a:ext cx="96615" cy="0"/>
            </a:xfrm>
            <a:prstGeom prst="line">
              <a:avLst/>
            </a:prstGeom>
            <a:ln w="12700" cmpd="sng">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49" name="Straight Connector 48"/>
            <p:cNvCxnSpPr/>
            <p:nvPr/>
          </p:nvCxnSpPr>
          <p:spPr>
            <a:xfrm>
              <a:off x="1746420" y="1862544"/>
              <a:ext cx="96615" cy="0"/>
            </a:xfrm>
            <a:prstGeom prst="line">
              <a:avLst/>
            </a:prstGeom>
            <a:ln w="12700" cmpd="sng">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50" name="Straight Connector 49"/>
            <p:cNvCxnSpPr/>
            <p:nvPr/>
          </p:nvCxnSpPr>
          <p:spPr>
            <a:xfrm>
              <a:off x="1843029" y="1523115"/>
              <a:ext cx="0" cy="339429"/>
            </a:xfrm>
            <a:prstGeom prst="line">
              <a:avLst/>
            </a:prstGeom>
            <a:ln w="12700" cmpd="sng">
              <a:solidFill>
                <a:srgbClr val="009999"/>
              </a:solidFill>
            </a:ln>
            <a:effectLst/>
          </p:spPr>
          <p:style>
            <a:lnRef idx="2">
              <a:schemeClr val="accent1"/>
            </a:lnRef>
            <a:fillRef idx="0">
              <a:schemeClr val="accent1"/>
            </a:fillRef>
            <a:effectRef idx="1">
              <a:schemeClr val="accent1"/>
            </a:effectRef>
            <a:fontRef idx="minor">
              <a:schemeClr val="tx1"/>
            </a:fontRef>
          </p:style>
        </p:cxnSp>
        <p:cxnSp>
          <p:nvCxnSpPr>
            <p:cNvPr id="51" name="Straight Connector 50"/>
            <p:cNvCxnSpPr/>
            <p:nvPr/>
          </p:nvCxnSpPr>
          <p:spPr>
            <a:xfrm>
              <a:off x="1850325" y="1696296"/>
              <a:ext cx="96615" cy="0"/>
            </a:xfrm>
            <a:prstGeom prst="line">
              <a:avLst/>
            </a:prstGeom>
            <a:ln w="12700" cmpd="sng">
              <a:solidFill>
                <a:srgbClr val="009999"/>
              </a:solidFill>
            </a:ln>
            <a:effectLst/>
          </p:spPr>
          <p:style>
            <a:lnRef idx="2">
              <a:schemeClr val="accent1"/>
            </a:lnRef>
            <a:fillRef idx="0">
              <a:schemeClr val="accent1"/>
            </a:fillRef>
            <a:effectRef idx="1">
              <a:schemeClr val="accent1"/>
            </a:effectRef>
            <a:fontRef idx="minor">
              <a:schemeClr val="tx1"/>
            </a:fontRef>
          </p:style>
        </p:cxnSp>
      </p:grpSp>
      <p:sp>
        <p:nvSpPr>
          <p:cNvPr id="53" name="TextBox 52"/>
          <p:cNvSpPr txBox="1"/>
          <p:nvPr/>
        </p:nvSpPr>
        <p:spPr>
          <a:xfrm>
            <a:off x="5149117" y="1091561"/>
            <a:ext cx="1593706"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00FF"/>
                </a:solidFill>
                <a:latin typeface="Calibri" pitchFamily="34" charset="0"/>
                <a:cs typeface="Calibri" pitchFamily="34" charset="0"/>
              </a:rPr>
              <a:t>SKU 001 x 7 Units w/ SN &amp; Box ID</a:t>
            </a:r>
          </a:p>
        </p:txBody>
      </p:sp>
      <p:sp>
        <p:nvSpPr>
          <p:cNvPr id="54" name="TextBox 53"/>
          <p:cNvSpPr txBox="1"/>
          <p:nvPr/>
        </p:nvSpPr>
        <p:spPr>
          <a:xfrm>
            <a:off x="5149123" y="1299377"/>
            <a:ext cx="1593706"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00FF"/>
                </a:solidFill>
                <a:latin typeface="Calibri" pitchFamily="34" charset="0"/>
                <a:cs typeface="Calibri" pitchFamily="34" charset="0"/>
              </a:rPr>
              <a:t>SKU 001 x 9 Units w/SN &amp; Box ID </a:t>
            </a:r>
          </a:p>
        </p:txBody>
      </p:sp>
      <p:sp>
        <p:nvSpPr>
          <p:cNvPr id="55" name="TextBox 54"/>
          <p:cNvSpPr txBox="1"/>
          <p:nvPr/>
        </p:nvSpPr>
        <p:spPr>
          <a:xfrm>
            <a:off x="5149129" y="1500266"/>
            <a:ext cx="1571264"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00FF"/>
                </a:solidFill>
                <a:latin typeface="Calibri" pitchFamily="34" charset="0"/>
                <a:cs typeface="Calibri" pitchFamily="34" charset="0"/>
              </a:rPr>
              <a:t>SKU 001 x 5 Units w/SN &amp; Box ID</a:t>
            </a:r>
          </a:p>
        </p:txBody>
      </p:sp>
      <p:sp>
        <p:nvSpPr>
          <p:cNvPr id="56" name="TextBox 55"/>
          <p:cNvSpPr txBox="1"/>
          <p:nvPr/>
        </p:nvSpPr>
        <p:spPr>
          <a:xfrm>
            <a:off x="5156062" y="1708082"/>
            <a:ext cx="1571264"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9999"/>
                </a:solidFill>
                <a:latin typeface="Calibri" pitchFamily="34" charset="0"/>
                <a:cs typeface="Calibri" pitchFamily="34" charset="0"/>
              </a:rPr>
              <a:t>SKU 002 x 7 Units w/SN &amp; Box ID</a:t>
            </a:r>
          </a:p>
        </p:txBody>
      </p:sp>
      <p:sp>
        <p:nvSpPr>
          <p:cNvPr id="57" name="TextBox 56"/>
          <p:cNvSpPr txBox="1"/>
          <p:nvPr/>
        </p:nvSpPr>
        <p:spPr>
          <a:xfrm>
            <a:off x="5156068" y="1908971"/>
            <a:ext cx="1571264" cy="215444"/>
          </a:xfrm>
          <a:prstGeom prst="rect">
            <a:avLst/>
          </a:prstGeom>
          <a:noFill/>
        </p:spPr>
        <p:txBody>
          <a:bodyPr wrap="none" rtlCol="0">
            <a:spAutoFit/>
          </a:bodyPr>
          <a:lstStyle/>
          <a:p>
            <a:pPr marL="0" defTabSz="430213">
              <a:spcAft>
                <a:spcPts val="400"/>
              </a:spcAft>
              <a:buSzPct val="100000"/>
            </a:pPr>
            <a:r>
              <a:rPr lang="en-US" sz="800" b="1" dirty="0" smtClean="0">
                <a:solidFill>
                  <a:srgbClr val="009999"/>
                </a:solidFill>
                <a:latin typeface="Calibri" pitchFamily="34" charset="0"/>
                <a:cs typeface="Calibri" pitchFamily="34" charset="0"/>
              </a:rPr>
              <a:t>SKU 002 x 7 Units w/SN &amp; Box ID</a:t>
            </a:r>
          </a:p>
        </p:txBody>
      </p:sp>
      <p:sp>
        <p:nvSpPr>
          <p:cNvPr id="58" name="Right Arrow 57"/>
          <p:cNvSpPr/>
          <p:nvPr/>
        </p:nvSpPr>
        <p:spPr>
          <a:xfrm>
            <a:off x="6683516" y="1098506"/>
            <a:ext cx="200891" cy="215895"/>
          </a:xfrm>
          <a:prstGeom prst="rightArrow">
            <a:avLst/>
          </a:prstGeom>
          <a:solidFill>
            <a:schemeClr val="bg2">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Right Arrow 58"/>
          <p:cNvSpPr/>
          <p:nvPr/>
        </p:nvSpPr>
        <p:spPr>
          <a:xfrm>
            <a:off x="6683516" y="1306322"/>
            <a:ext cx="200891" cy="215895"/>
          </a:xfrm>
          <a:prstGeom prst="rightArrow">
            <a:avLst/>
          </a:prstGeom>
          <a:solidFill>
            <a:schemeClr val="bg2">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ight Arrow 59"/>
          <p:cNvSpPr/>
          <p:nvPr/>
        </p:nvSpPr>
        <p:spPr>
          <a:xfrm>
            <a:off x="6683516" y="1514138"/>
            <a:ext cx="200891" cy="215895"/>
          </a:xfrm>
          <a:prstGeom prst="rightArrow">
            <a:avLst/>
          </a:prstGeom>
          <a:solidFill>
            <a:schemeClr val="bg2">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ight Arrow 60"/>
          <p:cNvSpPr/>
          <p:nvPr/>
        </p:nvSpPr>
        <p:spPr>
          <a:xfrm>
            <a:off x="6683516" y="1721954"/>
            <a:ext cx="200891" cy="215895"/>
          </a:xfrm>
          <a:prstGeom prst="rightArrow">
            <a:avLst/>
          </a:prstGeom>
          <a:solidFill>
            <a:schemeClr val="bg2">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Right Arrow 61"/>
          <p:cNvSpPr/>
          <p:nvPr/>
        </p:nvSpPr>
        <p:spPr>
          <a:xfrm>
            <a:off x="6683516" y="1929770"/>
            <a:ext cx="200891" cy="215895"/>
          </a:xfrm>
          <a:prstGeom prst="rightArrow">
            <a:avLst/>
          </a:prstGeom>
          <a:solidFill>
            <a:schemeClr val="bg2">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Flowchart: Punched Tape 62"/>
          <p:cNvSpPr/>
          <p:nvPr/>
        </p:nvSpPr>
        <p:spPr>
          <a:xfrm>
            <a:off x="7104891" y="1106566"/>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A1</a:t>
            </a:r>
          </a:p>
        </p:txBody>
      </p:sp>
      <p:sp>
        <p:nvSpPr>
          <p:cNvPr id="64" name="Flowchart: Punched Tape 63"/>
          <p:cNvSpPr/>
          <p:nvPr/>
        </p:nvSpPr>
        <p:spPr>
          <a:xfrm>
            <a:off x="7104891" y="1309771"/>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A2</a:t>
            </a:r>
          </a:p>
        </p:txBody>
      </p:sp>
      <p:sp>
        <p:nvSpPr>
          <p:cNvPr id="65" name="Flowchart: Punched Tape 64"/>
          <p:cNvSpPr/>
          <p:nvPr/>
        </p:nvSpPr>
        <p:spPr>
          <a:xfrm>
            <a:off x="7104891" y="151297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A3</a:t>
            </a:r>
          </a:p>
        </p:txBody>
      </p:sp>
      <p:sp>
        <p:nvSpPr>
          <p:cNvPr id="66" name="Flowchart: Punched Tape 65"/>
          <p:cNvSpPr/>
          <p:nvPr/>
        </p:nvSpPr>
        <p:spPr>
          <a:xfrm>
            <a:off x="7104891" y="1722526"/>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A4</a:t>
            </a:r>
          </a:p>
        </p:txBody>
      </p:sp>
      <p:sp>
        <p:nvSpPr>
          <p:cNvPr id="67" name="Flowchart: Punched Tape 66"/>
          <p:cNvSpPr/>
          <p:nvPr/>
        </p:nvSpPr>
        <p:spPr>
          <a:xfrm>
            <a:off x="7104891" y="193208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A5</a:t>
            </a:r>
          </a:p>
        </p:txBody>
      </p:sp>
      <p:sp>
        <p:nvSpPr>
          <p:cNvPr id="68" name="Flowchart: Data 67"/>
          <p:cNvSpPr/>
          <p:nvPr/>
        </p:nvSpPr>
        <p:spPr>
          <a:xfrm>
            <a:off x="7899414" y="1091579"/>
            <a:ext cx="477982" cy="173163"/>
          </a:xfrm>
          <a:prstGeom prst="flowChartInputOutput">
            <a:avLst/>
          </a:prstGeom>
          <a:gradFill>
            <a:gsLst>
              <a:gs pos="0">
                <a:srgbClr val="FFFFFF"/>
              </a:gs>
              <a:gs pos="7001">
                <a:srgbClr val="E6E6E6"/>
              </a:gs>
              <a:gs pos="32001">
                <a:srgbClr val="7D8496"/>
              </a:gs>
              <a:gs pos="47000">
                <a:srgbClr val="E6E6E6"/>
              </a:gs>
              <a:gs pos="85001">
                <a:srgbClr val="7D8496"/>
              </a:gs>
              <a:gs pos="100000">
                <a:srgbClr val="E6E6E6"/>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b="1" dirty="0" smtClean="0">
                <a:solidFill>
                  <a:schemeClr val="tx1"/>
                </a:solidFill>
                <a:latin typeface="Calibri" pitchFamily="34" charset="0"/>
                <a:cs typeface="Calibri" pitchFamily="34" charset="0"/>
              </a:rPr>
              <a:t>EDI856</a:t>
            </a:r>
            <a:endParaRPr lang="en-US" sz="700" b="1" dirty="0">
              <a:solidFill>
                <a:schemeClr val="tx1"/>
              </a:solidFill>
              <a:latin typeface="Calibri" pitchFamily="34" charset="0"/>
              <a:cs typeface="Calibri" pitchFamily="34" charset="0"/>
            </a:endParaRPr>
          </a:p>
        </p:txBody>
      </p:sp>
      <p:sp>
        <p:nvSpPr>
          <p:cNvPr id="69" name="Flowchart: Data 68"/>
          <p:cNvSpPr/>
          <p:nvPr/>
        </p:nvSpPr>
        <p:spPr>
          <a:xfrm>
            <a:off x="7899414" y="1302860"/>
            <a:ext cx="477982" cy="173163"/>
          </a:xfrm>
          <a:prstGeom prst="flowChartInputOutput">
            <a:avLst/>
          </a:prstGeom>
          <a:gradFill>
            <a:gsLst>
              <a:gs pos="0">
                <a:srgbClr val="FFFFFF"/>
              </a:gs>
              <a:gs pos="7001">
                <a:srgbClr val="E6E6E6"/>
              </a:gs>
              <a:gs pos="32001">
                <a:srgbClr val="7D8496"/>
              </a:gs>
              <a:gs pos="47000">
                <a:srgbClr val="E6E6E6"/>
              </a:gs>
              <a:gs pos="85001">
                <a:srgbClr val="7D8496"/>
              </a:gs>
              <a:gs pos="100000">
                <a:srgbClr val="E6E6E6"/>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b="1" dirty="0" smtClean="0">
                <a:solidFill>
                  <a:schemeClr val="tx1"/>
                </a:solidFill>
                <a:latin typeface="Calibri" pitchFamily="34" charset="0"/>
                <a:cs typeface="Calibri" pitchFamily="34" charset="0"/>
              </a:rPr>
              <a:t>EDI856</a:t>
            </a:r>
            <a:endParaRPr lang="en-US" sz="700" b="1" dirty="0">
              <a:solidFill>
                <a:schemeClr val="tx1"/>
              </a:solidFill>
              <a:latin typeface="Calibri" pitchFamily="34" charset="0"/>
              <a:cs typeface="Calibri" pitchFamily="34" charset="0"/>
            </a:endParaRPr>
          </a:p>
        </p:txBody>
      </p:sp>
      <p:sp>
        <p:nvSpPr>
          <p:cNvPr id="70" name="Flowchart: Data 69"/>
          <p:cNvSpPr/>
          <p:nvPr/>
        </p:nvSpPr>
        <p:spPr>
          <a:xfrm>
            <a:off x="7899414" y="1514141"/>
            <a:ext cx="477982" cy="173163"/>
          </a:xfrm>
          <a:prstGeom prst="flowChartInputOutput">
            <a:avLst/>
          </a:prstGeom>
          <a:gradFill>
            <a:gsLst>
              <a:gs pos="0">
                <a:srgbClr val="FFFFFF"/>
              </a:gs>
              <a:gs pos="7001">
                <a:srgbClr val="E6E6E6"/>
              </a:gs>
              <a:gs pos="32001">
                <a:srgbClr val="7D8496"/>
              </a:gs>
              <a:gs pos="47000">
                <a:srgbClr val="E6E6E6"/>
              </a:gs>
              <a:gs pos="85001">
                <a:srgbClr val="7D8496"/>
              </a:gs>
              <a:gs pos="100000">
                <a:srgbClr val="E6E6E6"/>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b="1" dirty="0" smtClean="0">
                <a:solidFill>
                  <a:schemeClr val="tx1"/>
                </a:solidFill>
                <a:latin typeface="Calibri" pitchFamily="34" charset="0"/>
                <a:cs typeface="Calibri" pitchFamily="34" charset="0"/>
              </a:rPr>
              <a:t>EDI856</a:t>
            </a:r>
            <a:endParaRPr lang="en-US" sz="700" b="1" dirty="0">
              <a:solidFill>
                <a:schemeClr val="tx1"/>
              </a:solidFill>
              <a:latin typeface="Calibri" pitchFamily="34" charset="0"/>
              <a:cs typeface="Calibri" pitchFamily="34" charset="0"/>
            </a:endParaRPr>
          </a:p>
        </p:txBody>
      </p:sp>
      <p:sp>
        <p:nvSpPr>
          <p:cNvPr id="71" name="Flowchart: Data 70"/>
          <p:cNvSpPr/>
          <p:nvPr/>
        </p:nvSpPr>
        <p:spPr>
          <a:xfrm>
            <a:off x="7899414" y="1725419"/>
            <a:ext cx="477982" cy="173163"/>
          </a:xfrm>
          <a:prstGeom prst="flowChartInputOutput">
            <a:avLst/>
          </a:prstGeom>
          <a:gradFill>
            <a:gsLst>
              <a:gs pos="0">
                <a:srgbClr val="FFFFFF"/>
              </a:gs>
              <a:gs pos="7001">
                <a:srgbClr val="E6E6E6"/>
              </a:gs>
              <a:gs pos="32001">
                <a:srgbClr val="7D8496"/>
              </a:gs>
              <a:gs pos="47000">
                <a:srgbClr val="E6E6E6"/>
              </a:gs>
              <a:gs pos="85001">
                <a:srgbClr val="7D8496"/>
              </a:gs>
              <a:gs pos="100000">
                <a:srgbClr val="E6E6E6"/>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b="1" dirty="0" smtClean="0">
                <a:solidFill>
                  <a:schemeClr val="tx1"/>
                </a:solidFill>
                <a:latin typeface="Calibri" pitchFamily="34" charset="0"/>
                <a:cs typeface="Calibri" pitchFamily="34" charset="0"/>
              </a:rPr>
              <a:t>EDI856</a:t>
            </a:r>
            <a:endParaRPr lang="en-US" sz="700" b="1" dirty="0">
              <a:solidFill>
                <a:schemeClr val="tx1"/>
              </a:solidFill>
              <a:latin typeface="Calibri" pitchFamily="34" charset="0"/>
              <a:cs typeface="Calibri" pitchFamily="34" charset="0"/>
            </a:endParaRPr>
          </a:p>
        </p:txBody>
      </p:sp>
      <p:sp>
        <p:nvSpPr>
          <p:cNvPr id="72" name="Flowchart: Data 71"/>
          <p:cNvSpPr/>
          <p:nvPr/>
        </p:nvSpPr>
        <p:spPr>
          <a:xfrm>
            <a:off x="7899414" y="1936697"/>
            <a:ext cx="477982" cy="173163"/>
          </a:xfrm>
          <a:prstGeom prst="flowChartInputOutput">
            <a:avLst/>
          </a:prstGeom>
          <a:gradFill>
            <a:gsLst>
              <a:gs pos="0">
                <a:srgbClr val="FFFFFF"/>
              </a:gs>
              <a:gs pos="7001">
                <a:srgbClr val="E6E6E6"/>
              </a:gs>
              <a:gs pos="32001">
                <a:srgbClr val="7D8496"/>
              </a:gs>
              <a:gs pos="47000">
                <a:srgbClr val="E6E6E6"/>
              </a:gs>
              <a:gs pos="85001">
                <a:srgbClr val="7D8496"/>
              </a:gs>
              <a:gs pos="100000">
                <a:srgbClr val="E6E6E6"/>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b="1" dirty="0" smtClean="0">
                <a:solidFill>
                  <a:schemeClr val="tx1"/>
                </a:solidFill>
                <a:latin typeface="Calibri" pitchFamily="34" charset="0"/>
                <a:cs typeface="Calibri" pitchFamily="34" charset="0"/>
              </a:rPr>
              <a:t>EDI856</a:t>
            </a:r>
            <a:endParaRPr lang="en-US" sz="700" b="1" dirty="0">
              <a:solidFill>
                <a:schemeClr val="tx1"/>
              </a:solidFill>
              <a:latin typeface="Calibri" pitchFamily="34" charset="0"/>
              <a:cs typeface="Calibri" pitchFamily="34" charset="0"/>
            </a:endParaRPr>
          </a:p>
        </p:txBody>
      </p:sp>
      <p:sp>
        <p:nvSpPr>
          <p:cNvPr id="73" name="Flowchart: Data 72"/>
          <p:cNvSpPr/>
          <p:nvPr/>
        </p:nvSpPr>
        <p:spPr>
          <a:xfrm>
            <a:off x="344128" y="1105439"/>
            <a:ext cx="477982" cy="173163"/>
          </a:xfrm>
          <a:prstGeom prst="flowChartInputOutput">
            <a:avLst/>
          </a:prstGeom>
          <a:gradFill>
            <a:gsLst>
              <a:gs pos="0">
                <a:srgbClr val="FFFFFF"/>
              </a:gs>
              <a:gs pos="7001">
                <a:srgbClr val="E6E6E6"/>
              </a:gs>
              <a:gs pos="32001">
                <a:srgbClr val="7D8496"/>
              </a:gs>
              <a:gs pos="47000">
                <a:srgbClr val="E6E6E6"/>
              </a:gs>
              <a:gs pos="85001">
                <a:srgbClr val="7D8496"/>
              </a:gs>
              <a:gs pos="100000">
                <a:srgbClr val="E6E6E6"/>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b="1" dirty="0" smtClean="0">
                <a:solidFill>
                  <a:schemeClr val="tx1"/>
                </a:solidFill>
                <a:latin typeface="Calibri" pitchFamily="34" charset="0"/>
                <a:cs typeface="Calibri" pitchFamily="34" charset="0"/>
              </a:rPr>
              <a:t>EDI850</a:t>
            </a:r>
            <a:endParaRPr lang="en-US" sz="700" b="1" dirty="0">
              <a:solidFill>
                <a:schemeClr val="tx1"/>
              </a:solidFill>
              <a:latin typeface="Calibri" pitchFamily="34" charset="0"/>
              <a:cs typeface="Calibri" pitchFamily="34" charset="0"/>
            </a:endParaRPr>
          </a:p>
        </p:txBody>
      </p:sp>
      <p:sp>
        <p:nvSpPr>
          <p:cNvPr id="74" name="Flowchart: Data 73"/>
          <p:cNvSpPr/>
          <p:nvPr/>
        </p:nvSpPr>
        <p:spPr>
          <a:xfrm>
            <a:off x="344128" y="1316720"/>
            <a:ext cx="477982" cy="173163"/>
          </a:xfrm>
          <a:prstGeom prst="flowChartInputOutput">
            <a:avLst/>
          </a:prstGeom>
          <a:gradFill>
            <a:gsLst>
              <a:gs pos="0">
                <a:srgbClr val="FFFFFF"/>
              </a:gs>
              <a:gs pos="7001">
                <a:srgbClr val="E6E6E6"/>
              </a:gs>
              <a:gs pos="32001">
                <a:srgbClr val="7D8496"/>
              </a:gs>
              <a:gs pos="47000">
                <a:srgbClr val="E6E6E6"/>
              </a:gs>
              <a:gs pos="85001">
                <a:srgbClr val="7D8496"/>
              </a:gs>
              <a:gs pos="100000">
                <a:srgbClr val="E6E6E6"/>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b="1" dirty="0" smtClean="0">
                <a:solidFill>
                  <a:schemeClr val="tx1"/>
                </a:solidFill>
                <a:latin typeface="Calibri" pitchFamily="34" charset="0"/>
                <a:cs typeface="Calibri" pitchFamily="34" charset="0"/>
              </a:rPr>
              <a:t>EDI850</a:t>
            </a:r>
            <a:endParaRPr lang="en-US" sz="700" b="1" dirty="0">
              <a:solidFill>
                <a:schemeClr val="tx1"/>
              </a:solidFill>
              <a:latin typeface="Calibri" pitchFamily="34" charset="0"/>
              <a:cs typeface="Calibri" pitchFamily="34" charset="0"/>
            </a:endParaRPr>
          </a:p>
        </p:txBody>
      </p:sp>
      <p:sp>
        <p:nvSpPr>
          <p:cNvPr id="75" name="Flowchart: Data 74"/>
          <p:cNvSpPr/>
          <p:nvPr/>
        </p:nvSpPr>
        <p:spPr>
          <a:xfrm>
            <a:off x="344128" y="1528001"/>
            <a:ext cx="477982" cy="173163"/>
          </a:xfrm>
          <a:prstGeom prst="flowChartInputOutput">
            <a:avLst/>
          </a:prstGeom>
          <a:gradFill>
            <a:gsLst>
              <a:gs pos="0">
                <a:srgbClr val="FFFFFF"/>
              </a:gs>
              <a:gs pos="7001">
                <a:srgbClr val="E6E6E6"/>
              </a:gs>
              <a:gs pos="32001">
                <a:srgbClr val="7D8496"/>
              </a:gs>
              <a:gs pos="47000">
                <a:srgbClr val="E6E6E6"/>
              </a:gs>
              <a:gs pos="85001">
                <a:srgbClr val="7D8496"/>
              </a:gs>
              <a:gs pos="100000">
                <a:srgbClr val="E6E6E6"/>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b="1" dirty="0" smtClean="0">
                <a:solidFill>
                  <a:schemeClr val="tx1"/>
                </a:solidFill>
                <a:latin typeface="Calibri" pitchFamily="34" charset="0"/>
                <a:cs typeface="Calibri" pitchFamily="34" charset="0"/>
              </a:rPr>
              <a:t>EDI850</a:t>
            </a:r>
            <a:endParaRPr lang="en-US" sz="700" b="1" dirty="0">
              <a:solidFill>
                <a:schemeClr val="tx1"/>
              </a:solidFill>
              <a:latin typeface="Calibri" pitchFamily="34" charset="0"/>
              <a:cs typeface="Calibri" pitchFamily="34" charset="0"/>
            </a:endParaRPr>
          </a:p>
        </p:txBody>
      </p:sp>
      <p:sp>
        <p:nvSpPr>
          <p:cNvPr id="76" name="Flowchart: Data 75"/>
          <p:cNvSpPr/>
          <p:nvPr/>
        </p:nvSpPr>
        <p:spPr>
          <a:xfrm>
            <a:off x="344128" y="1739279"/>
            <a:ext cx="477982" cy="173163"/>
          </a:xfrm>
          <a:prstGeom prst="flowChartInputOutput">
            <a:avLst/>
          </a:prstGeom>
          <a:gradFill>
            <a:gsLst>
              <a:gs pos="0">
                <a:srgbClr val="FFFFFF"/>
              </a:gs>
              <a:gs pos="7001">
                <a:srgbClr val="E6E6E6"/>
              </a:gs>
              <a:gs pos="32001">
                <a:srgbClr val="7D8496"/>
              </a:gs>
              <a:gs pos="47000">
                <a:srgbClr val="E6E6E6"/>
              </a:gs>
              <a:gs pos="85001">
                <a:srgbClr val="7D8496"/>
              </a:gs>
              <a:gs pos="100000">
                <a:srgbClr val="E6E6E6"/>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b="1" dirty="0" smtClean="0">
                <a:solidFill>
                  <a:schemeClr val="tx1"/>
                </a:solidFill>
                <a:latin typeface="Calibri" pitchFamily="34" charset="0"/>
                <a:cs typeface="Calibri" pitchFamily="34" charset="0"/>
              </a:rPr>
              <a:t>EDI850</a:t>
            </a:r>
            <a:endParaRPr lang="en-US" sz="700" b="1" dirty="0">
              <a:solidFill>
                <a:schemeClr val="tx1"/>
              </a:solidFill>
              <a:latin typeface="Calibri" pitchFamily="34" charset="0"/>
              <a:cs typeface="Calibri" pitchFamily="34" charset="0"/>
            </a:endParaRPr>
          </a:p>
        </p:txBody>
      </p:sp>
      <p:sp>
        <p:nvSpPr>
          <p:cNvPr id="77" name="Flowchart: Data 76"/>
          <p:cNvSpPr/>
          <p:nvPr/>
        </p:nvSpPr>
        <p:spPr>
          <a:xfrm>
            <a:off x="344128" y="1950557"/>
            <a:ext cx="477982" cy="173163"/>
          </a:xfrm>
          <a:prstGeom prst="flowChartInputOutput">
            <a:avLst/>
          </a:prstGeom>
          <a:gradFill>
            <a:gsLst>
              <a:gs pos="0">
                <a:srgbClr val="FFFFFF"/>
              </a:gs>
              <a:gs pos="7001">
                <a:srgbClr val="E6E6E6"/>
              </a:gs>
              <a:gs pos="32001">
                <a:srgbClr val="7D8496"/>
              </a:gs>
              <a:gs pos="47000">
                <a:srgbClr val="E6E6E6"/>
              </a:gs>
              <a:gs pos="85001">
                <a:srgbClr val="7D8496"/>
              </a:gs>
              <a:gs pos="100000">
                <a:srgbClr val="E6E6E6"/>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b="1" dirty="0" smtClean="0">
                <a:solidFill>
                  <a:schemeClr val="tx1"/>
                </a:solidFill>
                <a:latin typeface="Calibri" pitchFamily="34" charset="0"/>
                <a:cs typeface="Calibri" pitchFamily="34" charset="0"/>
              </a:rPr>
              <a:t>EDI850</a:t>
            </a:r>
            <a:endParaRPr lang="en-US" sz="700" b="1" dirty="0">
              <a:solidFill>
                <a:schemeClr val="tx1"/>
              </a:solidFill>
              <a:latin typeface="Calibri" pitchFamily="34" charset="0"/>
              <a:cs typeface="Calibri" pitchFamily="34" charset="0"/>
            </a:endParaRPr>
          </a:p>
        </p:txBody>
      </p:sp>
      <p:cxnSp>
        <p:nvCxnSpPr>
          <p:cNvPr id="81" name="Straight Arrow Connector 80"/>
          <p:cNvCxnSpPr/>
          <p:nvPr/>
        </p:nvCxnSpPr>
        <p:spPr>
          <a:xfrm>
            <a:off x="760470" y="1192059"/>
            <a:ext cx="75492" cy="3439"/>
          </a:xfrm>
          <a:prstGeom prst="straightConnector1">
            <a:avLst/>
          </a:prstGeom>
          <a:ln w="6350" cmpd="sng">
            <a:solidFill>
              <a:srgbClr val="0000FF"/>
            </a:solidFill>
            <a:headEnd w="sm" len="sm"/>
            <a:tailEnd type="arrow" w="sm" len="sm"/>
          </a:ln>
          <a:effectLst/>
        </p:spPr>
        <p:style>
          <a:lnRef idx="2">
            <a:schemeClr val="accent1"/>
          </a:lnRef>
          <a:fillRef idx="0">
            <a:schemeClr val="accent1"/>
          </a:fillRef>
          <a:effectRef idx="1">
            <a:schemeClr val="accent1"/>
          </a:effectRef>
          <a:fontRef idx="minor">
            <a:schemeClr val="tx1"/>
          </a:fontRef>
        </p:style>
      </p:cxnSp>
      <p:cxnSp>
        <p:nvCxnSpPr>
          <p:cNvPr id="82" name="Straight Arrow Connector 81"/>
          <p:cNvCxnSpPr/>
          <p:nvPr/>
        </p:nvCxnSpPr>
        <p:spPr>
          <a:xfrm>
            <a:off x="760470" y="1401607"/>
            <a:ext cx="75492" cy="3439"/>
          </a:xfrm>
          <a:prstGeom prst="straightConnector1">
            <a:avLst/>
          </a:prstGeom>
          <a:ln w="6350" cmpd="sng">
            <a:solidFill>
              <a:srgbClr val="0000FF"/>
            </a:solidFill>
            <a:headEnd w="sm" len="sm"/>
            <a:tailEnd type="arrow" w="sm" len="sm"/>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a:off x="760470" y="1611141"/>
            <a:ext cx="75492" cy="3439"/>
          </a:xfrm>
          <a:prstGeom prst="straightConnector1">
            <a:avLst/>
          </a:prstGeom>
          <a:ln w="6350" cmpd="sng">
            <a:solidFill>
              <a:srgbClr val="0000FF"/>
            </a:solidFill>
            <a:headEnd w="sm" len="sm"/>
            <a:tailEnd type="arrow" w="sm" len="sm"/>
          </a:ln>
          <a:effectLst/>
        </p:spPr>
        <p:style>
          <a:lnRef idx="2">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a:off x="760470" y="1820703"/>
            <a:ext cx="75492" cy="3439"/>
          </a:xfrm>
          <a:prstGeom prst="straightConnector1">
            <a:avLst/>
          </a:prstGeom>
          <a:ln w="6350" cmpd="sng">
            <a:solidFill>
              <a:srgbClr val="0000FF"/>
            </a:solidFill>
            <a:headEnd w="sm" len="sm"/>
            <a:tailEnd type="arrow" w="sm" len="sm"/>
          </a:ln>
          <a:effectLst/>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a:off x="760470" y="2030250"/>
            <a:ext cx="75492" cy="3439"/>
          </a:xfrm>
          <a:prstGeom prst="straightConnector1">
            <a:avLst/>
          </a:prstGeom>
          <a:ln w="6350" cmpd="sng">
            <a:solidFill>
              <a:srgbClr val="0000FF"/>
            </a:solidFill>
            <a:headEnd w="sm" len="sm"/>
            <a:tailEnd type="arrow" w="sm" len="sm"/>
          </a:ln>
          <a:effectLst/>
        </p:spPr>
        <p:style>
          <a:lnRef idx="2">
            <a:schemeClr val="accent1"/>
          </a:lnRef>
          <a:fillRef idx="0">
            <a:schemeClr val="accent1"/>
          </a:fillRef>
          <a:effectRef idx="1">
            <a:schemeClr val="accent1"/>
          </a:effectRef>
          <a:fontRef idx="minor">
            <a:schemeClr val="tx1"/>
          </a:fontRef>
        </p:style>
      </p:cxnSp>
      <p:grpSp>
        <p:nvGrpSpPr>
          <p:cNvPr id="96" name="Group 95"/>
          <p:cNvGrpSpPr/>
          <p:nvPr/>
        </p:nvGrpSpPr>
        <p:grpSpPr>
          <a:xfrm>
            <a:off x="7417326" y="1205883"/>
            <a:ext cx="482091" cy="841630"/>
            <a:chOff x="7442723" y="823153"/>
            <a:chExt cx="75492" cy="841630"/>
          </a:xfrm>
        </p:grpSpPr>
        <p:cxnSp>
          <p:nvCxnSpPr>
            <p:cNvPr id="86" name="Straight Arrow Connector 85"/>
            <p:cNvCxnSpPr/>
            <p:nvPr/>
          </p:nvCxnSpPr>
          <p:spPr>
            <a:xfrm>
              <a:off x="7442723" y="823153"/>
              <a:ext cx="75492" cy="3439"/>
            </a:xfrm>
            <a:prstGeom prst="straightConnector1">
              <a:avLst/>
            </a:prstGeom>
            <a:ln w="6350" cmpd="sng">
              <a:solidFill>
                <a:srgbClr val="0000FF"/>
              </a:solidFill>
              <a:headEnd w="sm" len="sm"/>
              <a:tailEnd type="arrow" w="sm" len="sm"/>
            </a:ln>
            <a:effectLst/>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a:off x="7442723" y="1032701"/>
              <a:ext cx="75492" cy="3439"/>
            </a:xfrm>
            <a:prstGeom prst="straightConnector1">
              <a:avLst/>
            </a:prstGeom>
            <a:ln w="6350" cmpd="sng">
              <a:solidFill>
                <a:srgbClr val="0000FF"/>
              </a:solidFill>
              <a:headEnd w="sm" len="sm"/>
              <a:tailEnd type="arrow" w="sm" len="sm"/>
            </a:ln>
            <a:effectLst/>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a:off x="7442723" y="1242249"/>
              <a:ext cx="75492" cy="3439"/>
            </a:xfrm>
            <a:prstGeom prst="straightConnector1">
              <a:avLst/>
            </a:prstGeom>
            <a:ln w="6350" cmpd="sng">
              <a:solidFill>
                <a:srgbClr val="0000FF"/>
              </a:solidFill>
              <a:headEnd w="sm" len="sm"/>
              <a:tailEnd type="arrow" w="sm" len="sm"/>
            </a:ln>
            <a:effectLst/>
          </p:spPr>
          <p:style>
            <a:lnRef idx="2">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a:off x="7442723" y="1451797"/>
              <a:ext cx="75492" cy="3439"/>
            </a:xfrm>
            <a:prstGeom prst="straightConnector1">
              <a:avLst/>
            </a:prstGeom>
            <a:ln w="6350" cmpd="sng">
              <a:solidFill>
                <a:srgbClr val="0000FF"/>
              </a:solidFill>
              <a:headEnd w="sm" len="sm"/>
              <a:tailEnd type="arrow" w="sm" len="sm"/>
            </a:ln>
            <a:effectLst/>
          </p:spPr>
          <p:style>
            <a:lnRef idx="2">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a:off x="7442723" y="1661344"/>
              <a:ext cx="75492" cy="3439"/>
            </a:xfrm>
            <a:prstGeom prst="straightConnector1">
              <a:avLst/>
            </a:prstGeom>
            <a:ln w="6350" cmpd="sng">
              <a:solidFill>
                <a:srgbClr val="0000FF"/>
              </a:solidFill>
              <a:headEnd w="sm" len="sm"/>
              <a:tailEnd type="arrow" w="sm" len="sm"/>
            </a:ln>
            <a:effectLst/>
          </p:spPr>
          <p:style>
            <a:lnRef idx="2">
              <a:schemeClr val="accent1"/>
            </a:lnRef>
            <a:fillRef idx="0">
              <a:schemeClr val="accent1"/>
            </a:fillRef>
            <a:effectRef idx="1">
              <a:schemeClr val="accent1"/>
            </a:effectRef>
            <a:fontRef idx="minor">
              <a:schemeClr val="tx1"/>
            </a:fontRef>
          </p:style>
        </p:cxnSp>
      </p:grpSp>
      <p:sp>
        <p:nvSpPr>
          <p:cNvPr id="80" name="Rounded Rectangle 79"/>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30</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43153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500"/>
                                        <p:tgtEl>
                                          <p:spTgt spid="6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fade">
                                      <p:cBhvr>
                                        <p:cTn id="28" dur="500"/>
                                        <p:tgtEl>
                                          <p:spTgt spid="6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fade">
                                      <p:cBhvr>
                                        <p:cTn id="31" dur="500"/>
                                        <p:tgtEl>
                                          <p:spTgt spid="6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7"/>
                                        </p:tgtEl>
                                        <p:attrNameLst>
                                          <p:attrName>style.visibility</p:attrName>
                                        </p:attrNameLst>
                                      </p:cBhvr>
                                      <p:to>
                                        <p:strVal val="visible"/>
                                      </p:to>
                                    </p:set>
                                    <p:animEffect transition="in" filter="fade">
                                      <p:cBhvr>
                                        <p:cTn id="34"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63" grpId="0" animBg="1"/>
      <p:bldP spid="64" grpId="0" animBg="1"/>
      <p:bldP spid="65" grpId="0" animBg="1"/>
      <p:bldP spid="66" grpId="0" animBg="1"/>
      <p:bldP spid="6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lstStyle/>
          <a:p>
            <a:pPr marL="285750" indent="-285750">
              <a:buFont typeface="Arial" pitchFamily="34" charset="0"/>
              <a:buChar char="•"/>
            </a:pPr>
            <a:r>
              <a:rPr lang="en-US" dirty="0" smtClean="0"/>
              <a:t>Determine Max Unit </a:t>
            </a:r>
            <a:r>
              <a:rPr lang="en-US" dirty="0" err="1" smtClean="0"/>
              <a:t>Qty</a:t>
            </a:r>
            <a:r>
              <a:rPr lang="en-US" dirty="0" smtClean="0"/>
              <a:t> per Order Group</a:t>
            </a:r>
          </a:p>
          <a:p>
            <a:pPr marL="627063" lvl="3" indent="-285750">
              <a:buFont typeface="Arial" pitchFamily="34" charset="0"/>
              <a:buChar char="•"/>
            </a:pPr>
            <a:r>
              <a:rPr lang="en-US" dirty="0" smtClean="0">
                <a:solidFill>
                  <a:schemeClr val="tx1"/>
                </a:solidFill>
              </a:rPr>
              <a:t>HP/ODM will need to jointly determine and agree to a Max Unit </a:t>
            </a:r>
            <a:r>
              <a:rPr lang="en-US" dirty="0" err="1" smtClean="0">
                <a:solidFill>
                  <a:schemeClr val="tx1"/>
                </a:solidFill>
              </a:rPr>
              <a:t>Qty</a:t>
            </a:r>
            <a:r>
              <a:rPr lang="en-US" dirty="0" smtClean="0">
                <a:solidFill>
                  <a:schemeClr val="tx1"/>
                </a:solidFill>
              </a:rPr>
              <a:t> per Order Group.  The Unit </a:t>
            </a:r>
            <a:r>
              <a:rPr lang="en-US" dirty="0" err="1" smtClean="0">
                <a:solidFill>
                  <a:schemeClr val="tx1"/>
                </a:solidFill>
              </a:rPr>
              <a:t>Qty</a:t>
            </a:r>
            <a:r>
              <a:rPr lang="en-US" dirty="0" smtClean="0">
                <a:solidFill>
                  <a:schemeClr val="tx1"/>
                </a:solidFill>
              </a:rPr>
              <a:t> per order group should never exceed this Max Unit </a:t>
            </a:r>
            <a:r>
              <a:rPr lang="en-US" dirty="0" err="1" smtClean="0">
                <a:solidFill>
                  <a:schemeClr val="tx1"/>
                </a:solidFill>
              </a:rPr>
              <a:t>Qty</a:t>
            </a:r>
            <a:r>
              <a:rPr lang="en-US" dirty="0" smtClean="0">
                <a:solidFill>
                  <a:schemeClr val="tx1"/>
                </a:solidFill>
              </a:rPr>
              <a:t> when conducting Production Grouping unless it is for an approved exception by both parties.</a:t>
            </a:r>
          </a:p>
          <a:p>
            <a:pPr marL="627063" lvl="3" indent="-285750">
              <a:buFont typeface="Arial" pitchFamily="34" charset="0"/>
              <a:buChar char="•"/>
            </a:pPr>
            <a:endParaRPr lang="en-US" dirty="0" smtClean="0">
              <a:solidFill>
                <a:schemeClr val="tx1"/>
              </a:solidFill>
            </a:endParaRPr>
          </a:p>
          <a:p>
            <a:pPr marL="627063" lvl="3" indent="-285750">
              <a:buFont typeface="Arial" pitchFamily="34" charset="0"/>
              <a:buChar char="•"/>
            </a:pPr>
            <a:r>
              <a:rPr lang="en-US" dirty="0" smtClean="0">
                <a:solidFill>
                  <a:schemeClr val="tx1"/>
                </a:solidFill>
              </a:rPr>
              <a:t>The Max Unit </a:t>
            </a:r>
            <a:r>
              <a:rPr lang="en-US" dirty="0" err="1" smtClean="0">
                <a:solidFill>
                  <a:schemeClr val="tx1"/>
                </a:solidFill>
              </a:rPr>
              <a:t>Qty</a:t>
            </a:r>
            <a:r>
              <a:rPr lang="en-US" dirty="0" smtClean="0">
                <a:solidFill>
                  <a:schemeClr val="tx1"/>
                </a:solidFill>
              </a:rPr>
              <a:t> will be determined based on the Production Capacity at ODM.  The Production Grouping should also never exceed the Max Pallet </a:t>
            </a:r>
            <a:r>
              <a:rPr lang="en-US" dirty="0" err="1" smtClean="0">
                <a:solidFill>
                  <a:schemeClr val="tx1"/>
                </a:solidFill>
              </a:rPr>
              <a:t>Qty</a:t>
            </a:r>
            <a:r>
              <a:rPr lang="en-US" dirty="0" smtClean="0">
                <a:solidFill>
                  <a:schemeClr val="tx1"/>
                </a:solidFill>
              </a:rPr>
              <a:t> per Waybill defined by HP Logistics (20 Pallets for Air Shipments to US).</a:t>
            </a:r>
          </a:p>
          <a:p>
            <a:pPr marL="627063" lvl="3" indent="-285750">
              <a:buFont typeface="Arial" pitchFamily="34" charset="0"/>
              <a:buChar char="•"/>
            </a:pPr>
            <a:endParaRPr lang="en-US" dirty="0">
              <a:solidFill>
                <a:schemeClr val="tx1"/>
              </a:solidFill>
            </a:endParaRPr>
          </a:p>
          <a:p>
            <a:pPr marL="627063" lvl="3" indent="-285750">
              <a:buFont typeface="Arial" pitchFamily="34" charset="0"/>
              <a:buChar char="•"/>
            </a:pPr>
            <a:r>
              <a:rPr lang="en-US" dirty="0" smtClean="0">
                <a:solidFill>
                  <a:schemeClr val="tx1"/>
                </a:solidFill>
              </a:rPr>
              <a:t>An Order Group should always be based on “C” SKU, PCC Location, and Build Schedule.  A single Order Groups should never contain multiple “C” SKUs or different PCC locations.</a:t>
            </a:r>
          </a:p>
          <a:p>
            <a:pPr marL="627063" lvl="3" indent="-285750">
              <a:buFont typeface="Arial" pitchFamily="34" charset="0"/>
              <a:buChar char="•"/>
            </a:pPr>
            <a:endParaRPr lang="en-US" dirty="0" smtClean="0">
              <a:solidFill>
                <a:schemeClr val="tx1"/>
              </a:solidFill>
            </a:endParaRPr>
          </a:p>
          <a:p>
            <a:pPr marL="627063" lvl="3" indent="-285750">
              <a:buFont typeface="Arial" pitchFamily="34" charset="0"/>
              <a:buChar char="•"/>
            </a:pPr>
            <a:r>
              <a:rPr lang="en-US" dirty="0" smtClean="0">
                <a:solidFill>
                  <a:schemeClr val="tx1"/>
                </a:solidFill>
              </a:rPr>
              <a:t>The default setting of the Production Grouping Max Unit </a:t>
            </a:r>
            <a:r>
              <a:rPr lang="en-US" dirty="0" err="1" smtClean="0">
                <a:solidFill>
                  <a:schemeClr val="tx1"/>
                </a:solidFill>
              </a:rPr>
              <a:t>Qty</a:t>
            </a:r>
            <a:r>
              <a:rPr lang="en-US" dirty="0" smtClean="0">
                <a:solidFill>
                  <a:schemeClr val="tx1"/>
                </a:solidFill>
              </a:rPr>
              <a:t> should equal to 10 full Pallets of the specific SKU.</a:t>
            </a:r>
          </a:p>
        </p:txBody>
      </p:sp>
      <p:sp>
        <p:nvSpPr>
          <p:cNvPr id="3" name="Subtitle 2"/>
          <p:cNvSpPr>
            <a:spLocks noGrp="1"/>
          </p:cNvSpPr>
          <p:nvPr>
            <p:ph type="subTitle" idx="1"/>
          </p:nvPr>
        </p:nvSpPr>
        <p:spPr/>
        <p:txBody>
          <a:bodyPr/>
          <a:lstStyle/>
          <a:p>
            <a:r>
              <a:rPr lang="en-US" dirty="0" smtClean="0"/>
              <a:t> </a:t>
            </a:r>
            <a:endParaRPr lang="en-US" dirty="0"/>
          </a:p>
        </p:txBody>
      </p:sp>
      <p:sp>
        <p:nvSpPr>
          <p:cNvPr id="4" name="Title 3"/>
          <p:cNvSpPr>
            <a:spLocks noGrp="1"/>
          </p:cNvSpPr>
          <p:nvPr>
            <p:ph type="title"/>
          </p:nvPr>
        </p:nvSpPr>
        <p:spPr/>
        <p:txBody>
          <a:bodyPr/>
          <a:lstStyle/>
          <a:p>
            <a:r>
              <a:rPr lang="en-US" dirty="0" smtClean="0"/>
              <a:t>Production Grouping Max Unit </a:t>
            </a:r>
            <a:r>
              <a:rPr lang="en-US" dirty="0" err="1" smtClean="0"/>
              <a:t>Qty</a:t>
            </a:r>
            <a:r>
              <a:rPr lang="en-US" dirty="0" smtClean="0"/>
              <a:t> </a:t>
            </a:r>
            <a:endParaRPr lang="en-US" dirty="0"/>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31</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20404647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BSaM</a:t>
            </a:r>
            <a:r>
              <a:rPr lang="en-US" dirty="0" smtClean="0"/>
              <a:t> High Level Process Flows</a:t>
            </a:r>
            <a:endParaRPr lang="en-US" dirty="0"/>
          </a:p>
        </p:txBody>
      </p:sp>
      <p:sp>
        <p:nvSpPr>
          <p:cNvPr id="4" name="Content Placeholder 3"/>
          <p:cNvSpPr>
            <a:spLocks noGrp="1"/>
          </p:cNvSpPr>
          <p:nvPr>
            <p:ph sz="quarter" idx="16"/>
          </p:nvPr>
        </p:nvSpPr>
        <p:spPr/>
        <p:txBody>
          <a:bodyPr/>
          <a:lstStyle/>
          <a:p>
            <a:pPr marL="342900" indent="-342900">
              <a:lnSpc>
                <a:spcPct val="80000"/>
              </a:lnSpc>
              <a:buFont typeface="+mj-lt"/>
              <a:buAutoNum type="arabicPeriod"/>
            </a:pPr>
            <a:r>
              <a:rPr lang="en-US" dirty="0" smtClean="0"/>
              <a:t>Order-to-Delivery Processes</a:t>
            </a:r>
          </a:p>
          <a:p>
            <a:pPr marL="512763" lvl="3" indent="-171450">
              <a:lnSpc>
                <a:spcPct val="80000"/>
              </a:lnSpc>
              <a:buFont typeface="Arial" pitchFamily="34" charset="0"/>
              <a:buChar char="•"/>
            </a:pPr>
            <a:r>
              <a:rPr lang="en-US" dirty="0" smtClean="0"/>
              <a:t>B Part Process</a:t>
            </a:r>
          </a:p>
          <a:p>
            <a:pPr marL="512763" lvl="3" indent="-171450">
              <a:lnSpc>
                <a:spcPct val="80000"/>
              </a:lnSpc>
              <a:buFont typeface="Arial" pitchFamily="34" charset="0"/>
              <a:buChar char="•"/>
            </a:pPr>
            <a:r>
              <a:rPr lang="en-US" dirty="0" smtClean="0"/>
              <a:t>A Part BTO Process</a:t>
            </a:r>
          </a:p>
          <a:p>
            <a:pPr marL="512763" lvl="3" indent="-171450">
              <a:lnSpc>
                <a:spcPct val="80000"/>
              </a:lnSpc>
              <a:buFont typeface="Arial" pitchFamily="34" charset="0"/>
              <a:buChar char="•"/>
            </a:pPr>
            <a:r>
              <a:rPr lang="en-US" dirty="0" smtClean="0"/>
              <a:t>A Part Build Trigger Process </a:t>
            </a:r>
          </a:p>
          <a:p>
            <a:pPr lvl="1">
              <a:lnSpc>
                <a:spcPct val="80000"/>
              </a:lnSpc>
            </a:pPr>
            <a:endParaRPr lang="en-US" sz="1200" dirty="0"/>
          </a:p>
          <a:p>
            <a:pPr marL="342900" indent="-342900">
              <a:lnSpc>
                <a:spcPct val="80000"/>
              </a:lnSpc>
              <a:buFont typeface="+mj-lt"/>
              <a:buAutoNum type="arabicPeriod"/>
            </a:pPr>
            <a:r>
              <a:rPr lang="en-US" dirty="0" smtClean="0"/>
              <a:t>PDM/BOM Structure</a:t>
            </a:r>
            <a:endParaRPr lang="en-US" dirty="0"/>
          </a:p>
          <a:p>
            <a:pPr marL="512763" lvl="3" indent="-171450">
              <a:lnSpc>
                <a:spcPct val="80000"/>
              </a:lnSpc>
              <a:buFont typeface="Arial" pitchFamily="34" charset="0"/>
              <a:buChar char="•"/>
            </a:pPr>
            <a:r>
              <a:rPr lang="en-US" dirty="0" smtClean="0"/>
              <a:t>BSaM PDM/BOM Approach</a:t>
            </a:r>
          </a:p>
          <a:p>
            <a:pPr marL="512763" lvl="3" indent="-171450">
              <a:lnSpc>
                <a:spcPct val="80000"/>
              </a:lnSpc>
              <a:buFont typeface="Arial" pitchFamily="34" charset="0"/>
              <a:buChar char="•"/>
            </a:pPr>
            <a:r>
              <a:rPr lang="en-US" dirty="0" smtClean="0"/>
              <a:t>BSaM AV for Cost Adjustment and Planning</a:t>
            </a:r>
          </a:p>
          <a:p>
            <a:pPr lvl="1">
              <a:lnSpc>
                <a:spcPct val="80000"/>
              </a:lnSpc>
            </a:pPr>
            <a:endParaRPr lang="en-US" sz="1200" dirty="0"/>
          </a:p>
          <a:p>
            <a:pPr marL="342900" indent="-342900">
              <a:lnSpc>
                <a:spcPct val="80000"/>
              </a:lnSpc>
              <a:buFont typeface="+mj-lt"/>
              <a:buAutoNum type="arabicPeriod"/>
            </a:pPr>
            <a:r>
              <a:rPr lang="en-US" dirty="0"/>
              <a:t>Planning</a:t>
            </a:r>
          </a:p>
          <a:p>
            <a:pPr marL="512763" lvl="3" indent="-171450">
              <a:lnSpc>
                <a:spcPct val="80000"/>
              </a:lnSpc>
              <a:buFont typeface="Arial" pitchFamily="34" charset="0"/>
              <a:buChar char="•"/>
            </a:pPr>
            <a:r>
              <a:rPr lang="en-US" dirty="0"/>
              <a:t>A Part and B Part Planning </a:t>
            </a:r>
            <a:r>
              <a:rPr lang="en-US" dirty="0" smtClean="0"/>
              <a:t>Process</a:t>
            </a:r>
          </a:p>
          <a:p>
            <a:pPr marL="512763" lvl="3" indent="-171450">
              <a:lnSpc>
                <a:spcPct val="80000"/>
              </a:lnSpc>
              <a:buFont typeface="Arial" pitchFamily="34" charset="0"/>
              <a:buChar char="•"/>
            </a:pPr>
            <a:endParaRPr lang="en-US" dirty="0" smtClean="0"/>
          </a:p>
          <a:p>
            <a:pPr marL="342900" indent="-342900">
              <a:lnSpc>
                <a:spcPct val="80000"/>
              </a:lnSpc>
              <a:buFont typeface="+mj-lt"/>
              <a:buAutoNum type="arabicPeriod"/>
            </a:pPr>
            <a:r>
              <a:rPr lang="en-US" dirty="0" smtClean="0"/>
              <a:t>Production Grouping Process</a:t>
            </a:r>
          </a:p>
          <a:p>
            <a:pPr marL="512763" lvl="3" indent="-171450">
              <a:lnSpc>
                <a:spcPct val="80000"/>
              </a:lnSpc>
              <a:buFont typeface="Arial" pitchFamily="34" charset="0"/>
              <a:buChar char="•"/>
            </a:pPr>
            <a:r>
              <a:rPr lang="en-US" dirty="0" smtClean="0"/>
              <a:t>Bulk Packaging Order Grouping</a:t>
            </a:r>
          </a:p>
          <a:p>
            <a:pPr marL="512763" lvl="3" indent="-171450">
              <a:lnSpc>
                <a:spcPct val="80000"/>
              </a:lnSpc>
              <a:buFont typeface="Arial" pitchFamily="34" charset="0"/>
              <a:buChar char="•"/>
            </a:pPr>
            <a:endParaRPr lang="en-US" sz="1200" dirty="0" smtClean="0"/>
          </a:p>
          <a:p>
            <a:pPr marL="512763" lvl="3" indent="-171450">
              <a:lnSpc>
                <a:spcPct val="80000"/>
              </a:lnSpc>
              <a:buFont typeface="Arial" pitchFamily="34" charset="0"/>
              <a:buChar char="•"/>
            </a:pPr>
            <a:endParaRPr lang="en-US" sz="1200" dirty="0"/>
          </a:p>
          <a:p>
            <a:pPr marL="512763" lvl="3" indent="-171450">
              <a:lnSpc>
                <a:spcPct val="80000"/>
              </a:lnSpc>
              <a:buFont typeface="Arial" pitchFamily="34" charset="0"/>
              <a:buChar char="•"/>
            </a:pPr>
            <a:endParaRPr lang="en-US" sz="1200" dirty="0"/>
          </a:p>
        </p:txBody>
      </p:sp>
      <p:sp>
        <p:nvSpPr>
          <p:cNvPr id="5" name="Content Placeholder 4"/>
          <p:cNvSpPr>
            <a:spLocks noGrp="1"/>
          </p:cNvSpPr>
          <p:nvPr>
            <p:ph sz="quarter" idx="17"/>
          </p:nvPr>
        </p:nvSpPr>
        <p:spPr/>
        <p:txBody>
          <a:bodyPr/>
          <a:lstStyle/>
          <a:p>
            <a:pPr marL="342900" indent="-342900">
              <a:lnSpc>
                <a:spcPct val="80000"/>
              </a:lnSpc>
              <a:buFont typeface="+mj-lt"/>
              <a:buAutoNum type="arabicPeriod" startAt="5"/>
            </a:pPr>
            <a:r>
              <a:rPr lang="en-US" dirty="0" smtClean="0"/>
              <a:t>BSaM Build Trigger Process</a:t>
            </a:r>
            <a:endParaRPr lang="en-US" dirty="0"/>
          </a:p>
          <a:p>
            <a:pPr marL="512763" lvl="3" indent="-171450">
              <a:lnSpc>
                <a:spcPct val="80000"/>
              </a:lnSpc>
              <a:buFont typeface="Arial" pitchFamily="34" charset="0"/>
              <a:buChar char="•"/>
            </a:pPr>
            <a:r>
              <a:rPr lang="en-US" dirty="0" smtClean="0"/>
              <a:t>Build Trigger PO instead of Customer PO</a:t>
            </a:r>
          </a:p>
          <a:p>
            <a:pPr marL="512763" lvl="3" indent="-171450">
              <a:lnSpc>
                <a:spcPct val="80000"/>
              </a:lnSpc>
              <a:buFont typeface="Arial" pitchFamily="34" charset="0"/>
              <a:buChar char="•"/>
            </a:pPr>
            <a:r>
              <a:rPr lang="en-US" dirty="0" smtClean="0"/>
              <a:t>RSD and Performance Measurement</a:t>
            </a:r>
          </a:p>
          <a:p>
            <a:pPr lvl="1">
              <a:lnSpc>
                <a:spcPct val="80000"/>
              </a:lnSpc>
            </a:pPr>
            <a:endParaRPr lang="en-US" sz="1200" dirty="0" smtClean="0"/>
          </a:p>
          <a:p>
            <a:pPr lvl="1">
              <a:lnSpc>
                <a:spcPct val="80000"/>
              </a:lnSpc>
            </a:pPr>
            <a:endParaRPr lang="en-US" sz="1200" dirty="0" smtClean="0"/>
          </a:p>
          <a:p>
            <a:pPr marL="342900" indent="-342900">
              <a:lnSpc>
                <a:spcPct val="80000"/>
              </a:lnSpc>
              <a:buFont typeface="+mj-lt"/>
              <a:buAutoNum type="arabicPeriod" startAt="5"/>
            </a:pPr>
            <a:r>
              <a:rPr lang="en-US" dirty="0" smtClean="0"/>
              <a:t>Full Unit Test Process</a:t>
            </a:r>
            <a:endParaRPr lang="en-US" dirty="0"/>
          </a:p>
          <a:p>
            <a:pPr marL="512763" lvl="3" indent="-171450">
              <a:lnSpc>
                <a:spcPct val="80000"/>
              </a:lnSpc>
              <a:buFont typeface="Arial" pitchFamily="34" charset="0"/>
              <a:buChar char="•"/>
            </a:pPr>
            <a:r>
              <a:rPr lang="en-US" dirty="0" smtClean="0"/>
              <a:t>NB Full Unit Testing using Temp Battery</a:t>
            </a:r>
            <a:endParaRPr lang="en-US" dirty="0"/>
          </a:p>
          <a:p>
            <a:pPr lvl="1">
              <a:lnSpc>
                <a:spcPct val="80000"/>
              </a:lnSpc>
            </a:pPr>
            <a:endParaRPr lang="en-US" sz="1200" dirty="0"/>
          </a:p>
          <a:p>
            <a:pPr marL="342900" indent="-342900">
              <a:lnSpc>
                <a:spcPct val="80000"/>
              </a:lnSpc>
              <a:buFont typeface="+mj-lt"/>
              <a:buAutoNum type="arabicPeriod" startAt="5"/>
            </a:pPr>
            <a:r>
              <a:rPr lang="en-US" dirty="0" smtClean="0"/>
              <a:t>B Part Process</a:t>
            </a:r>
            <a:endParaRPr lang="en-US" dirty="0"/>
          </a:p>
          <a:p>
            <a:pPr marL="512763" lvl="3" indent="-171450">
              <a:lnSpc>
                <a:spcPct val="80000"/>
              </a:lnSpc>
              <a:buFont typeface="Arial" pitchFamily="34" charset="0"/>
              <a:buChar char="•"/>
            </a:pPr>
            <a:r>
              <a:rPr lang="en-US" dirty="0" smtClean="0"/>
              <a:t>Supplier VMI Model vs. ODM HOI Model</a:t>
            </a:r>
          </a:p>
          <a:p>
            <a:pPr marL="512763" lvl="3" indent="-171450">
              <a:lnSpc>
                <a:spcPct val="80000"/>
              </a:lnSpc>
              <a:buFont typeface="Arial" pitchFamily="34" charset="0"/>
              <a:buChar char="•"/>
            </a:pPr>
            <a:r>
              <a:rPr lang="en-US" dirty="0" smtClean="0"/>
              <a:t>Process required for Exception Contingency</a:t>
            </a:r>
          </a:p>
          <a:p>
            <a:pPr marL="512763" lvl="3" indent="-171450">
              <a:lnSpc>
                <a:spcPct val="80000"/>
              </a:lnSpc>
              <a:buFont typeface="Arial" pitchFamily="34" charset="0"/>
              <a:buChar char="•"/>
            </a:pPr>
            <a:endParaRPr lang="en-US" dirty="0"/>
          </a:p>
          <a:p>
            <a:pPr marL="342900" indent="-342900">
              <a:lnSpc>
                <a:spcPct val="80000"/>
              </a:lnSpc>
              <a:buFont typeface="+mj-lt"/>
              <a:buAutoNum type="arabicPeriod" startAt="5"/>
            </a:pPr>
            <a:r>
              <a:rPr lang="en-US" dirty="0" smtClean="0"/>
              <a:t>Outbound Operation &amp; Logistics</a:t>
            </a:r>
            <a:endParaRPr lang="en-US" dirty="0"/>
          </a:p>
          <a:p>
            <a:pPr marL="512763" lvl="3" indent="-171450">
              <a:lnSpc>
                <a:spcPct val="80000"/>
              </a:lnSpc>
              <a:buFont typeface="Arial" pitchFamily="34" charset="0"/>
              <a:buChar char="•"/>
            </a:pPr>
            <a:r>
              <a:rPr lang="en-US" dirty="0" smtClean="0"/>
              <a:t>Utilize of  IDS HVLS and RCTO processes</a:t>
            </a:r>
          </a:p>
        </p:txBody>
      </p:sp>
      <p:sp>
        <p:nvSpPr>
          <p:cNvPr id="2" name="Subtitle 1"/>
          <p:cNvSpPr>
            <a:spLocks noGrp="1"/>
          </p:cNvSpPr>
          <p:nvPr>
            <p:ph type="subTitle" idx="1"/>
          </p:nvPr>
        </p:nvSpPr>
        <p:spPr/>
        <p:txBody>
          <a:bodyPr/>
          <a:lstStyle/>
          <a:p>
            <a:r>
              <a:rPr lang="en-US" dirty="0" smtClean="0"/>
              <a:t> </a:t>
            </a:r>
            <a:endParaRPr lang="en-US" dirty="0"/>
          </a:p>
        </p:txBody>
      </p:sp>
      <p:sp>
        <p:nvSpPr>
          <p:cNvPr id="6" name="Rounded Rectangle 5"/>
          <p:cNvSpPr/>
          <p:nvPr/>
        </p:nvSpPr>
        <p:spPr>
          <a:xfrm>
            <a:off x="4429991" y="1088285"/>
            <a:ext cx="4015740" cy="350520"/>
          </a:xfrm>
          <a:prstGeom prst="round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32</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3280255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IDS vs. BSaM</a:t>
            </a:r>
            <a:endParaRPr lang="en-US" dirty="0"/>
          </a:p>
        </p:txBody>
      </p:sp>
      <p:sp>
        <p:nvSpPr>
          <p:cNvPr id="3" name="Title 2"/>
          <p:cNvSpPr>
            <a:spLocks noGrp="1"/>
          </p:cNvSpPr>
          <p:nvPr>
            <p:ph type="title"/>
          </p:nvPr>
        </p:nvSpPr>
        <p:spPr/>
        <p:txBody>
          <a:bodyPr/>
          <a:lstStyle/>
          <a:p>
            <a:r>
              <a:rPr lang="en-US" dirty="0" smtClean="0"/>
              <a:t>ODM Build Trigger Process</a:t>
            </a:r>
            <a:endParaRPr lang="en-US" dirty="0"/>
          </a:p>
        </p:txBody>
      </p:sp>
      <p:sp>
        <p:nvSpPr>
          <p:cNvPr id="4" name="Content Placeholder 3"/>
          <p:cNvSpPr>
            <a:spLocks noGrp="1"/>
          </p:cNvSpPr>
          <p:nvPr>
            <p:ph sz="quarter" idx="10"/>
          </p:nvPr>
        </p:nvSpPr>
        <p:spPr/>
        <p:txBody>
          <a:bodyPr/>
          <a:lstStyle/>
          <a:p>
            <a:pPr marL="285750" indent="-285750">
              <a:buFont typeface="Arial" pitchFamily="34" charset="0"/>
              <a:buChar char="•"/>
            </a:pPr>
            <a:r>
              <a:rPr lang="en-US" dirty="0" smtClean="0"/>
              <a:t>BSaM Build Trigger Order Process Change</a:t>
            </a:r>
          </a:p>
          <a:p>
            <a:pPr marL="627063" lvl="3" indent="-285750">
              <a:buFont typeface="Arial" pitchFamily="34" charset="0"/>
              <a:buChar char="•"/>
            </a:pPr>
            <a:r>
              <a:rPr lang="en-US" dirty="0" smtClean="0">
                <a:solidFill>
                  <a:schemeClr val="tx1"/>
                </a:solidFill>
              </a:rPr>
              <a:t>The Build Trigger order process will differ between IDS and BSaM.  </a:t>
            </a:r>
          </a:p>
          <a:p>
            <a:pPr marL="627063" lvl="3" indent="-285750">
              <a:buFont typeface="Arial" pitchFamily="34" charset="0"/>
              <a:buChar char="•"/>
            </a:pPr>
            <a:r>
              <a:rPr lang="en-US" dirty="0" smtClean="0">
                <a:solidFill>
                  <a:schemeClr val="tx1"/>
                </a:solidFill>
              </a:rPr>
              <a:t>IDS will continue to send customer orders to the ODM to consume the NB build triggered by the Build Trigger Files (or future EDI830)</a:t>
            </a:r>
          </a:p>
          <a:p>
            <a:pPr marL="627063" lvl="3" indent="-285750">
              <a:buFont typeface="Arial" pitchFamily="34" charset="0"/>
              <a:buChar char="•"/>
            </a:pPr>
            <a:r>
              <a:rPr lang="en-US" dirty="0" smtClean="0">
                <a:solidFill>
                  <a:schemeClr val="tx1"/>
                </a:solidFill>
              </a:rPr>
              <a:t>BSaM will send a Build Trigger PO, shortly after the Build Trigger File is sent.  BSaM will not send Customer based orders to ODM.</a:t>
            </a:r>
            <a:endParaRPr lang="en-US" dirty="0"/>
          </a:p>
          <a:p>
            <a:pPr marL="285750" indent="-285750">
              <a:buFont typeface="Arial" pitchFamily="34" charset="0"/>
              <a:buChar char="•"/>
            </a:pPr>
            <a:endParaRPr lang="en-US" dirty="0" smtClean="0"/>
          </a:p>
          <a:p>
            <a:pPr marL="285750" indent="-285750">
              <a:buFont typeface="Arial" pitchFamily="34" charset="0"/>
              <a:buChar char="•"/>
            </a:pPr>
            <a:r>
              <a:rPr lang="en-US" dirty="0" smtClean="0"/>
              <a:t>BSaM Build Trigger ODM Performance Metrics</a:t>
            </a:r>
          </a:p>
          <a:p>
            <a:pPr marL="627063" lvl="3" indent="-285750">
              <a:buFont typeface="Arial" pitchFamily="34" charset="0"/>
              <a:buChar char="•"/>
            </a:pPr>
            <a:r>
              <a:rPr lang="en-US" dirty="0" smtClean="0">
                <a:solidFill>
                  <a:schemeClr val="tx1"/>
                </a:solidFill>
              </a:rPr>
              <a:t>As the leadtime for Build Trigger POs will most likely differ from BTO POs, there is a need to establish a way to relay expected ODM ship date conduct better evaluation of ODM performance.</a:t>
            </a:r>
          </a:p>
          <a:p>
            <a:pPr marL="627063" lvl="3" indent="-285750">
              <a:buFont typeface="Arial" pitchFamily="34" charset="0"/>
              <a:buChar char="•"/>
            </a:pPr>
            <a:r>
              <a:rPr lang="en-US" dirty="0" smtClean="0">
                <a:solidFill>
                  <a:schemeClr val="tx1"/>
                </a:solidFill>
              </a:rPr>
              <a:t>BSaM will be leveraging the RSD (Requested Ship Date) functionality currently being deployed through a separate project.  The RSD will differ between Build Trigger PO and BTO </a:t>
            </a:r>
            <a:r>
              <a:rPr lang="en-US" dirty="0" err="1" smtClean="0">
                <a:solidFill>
                  <a:schemeClr val="tx1"/>
                </a:solidFill>
              </a:rPr>
              <a:t>POs.</a:t>
            </a:r>
            <a:r>
              <a:rPr lang="en-US" dirty="0" smtClean="0">
                <a:solidFill>
                  <a:schemeClr val="tx1"/>
                </a:solidFill>
              </a:rPr>
              <a:t> </a:t>
            </a:r>
            <a:r>
              <a:rPr lang="en-US" dirty="0" smtClean="0"/>
              <a:t> </a:t>
            </a:r>
          </a:p>
          <a:p>
            <a:pPr marL="627063" lvl="3" indent="-285750">
              <a:buFont typeface="Arial" pitchFamily="34" charset="0"/>
              <a:buChar char="•"/>
            </a:pPr>
            <a:r>
              <a:rPr lang="en-US" dirty="0" smtClean="0"/>
              <a:t>Specifics on leadtime expectations to be worked out between HP Global NBO and ODM.</a:t>
            </a:r>
            <a:endParaRPr lang="en-US" dirty="0"/>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33</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9535799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p:cNvSpPr/>
          <p:nvPr/>
        </p:nvSpPr>
        <p:spPr>
          <a:xfrm>
            <a:off x="512717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VMI/HP</a:t>
            </a:r>
          </a:p>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Hub</a:t>
            </a:r>
          </a:p>
        </p:txBody>
      </p:sp>
      <p:sp>
        <p:nvSpPr>
          <p:cNvPr id="36" name="Rectangle 35"/>
          <p:cNvSpPr/>
          <p:nvPr/>
        </p:nvSpPr>
        <p:spPr>
          <a:xfrm>
            <a:off x="428181" y="1287232"/>
            <a:ext cx="2053781" cy="1344378"/>
          </a:xfrm>
          <a:prstGeom prst="rect">
            <a:avLst/>
          </a:prstGeom>
          <a:gradFill>
            <a:gsLst>
              <a:gs pos="0">
                <a:srgbClr val="0000FF"/>
              </a:gs>
              <a:gs pos="50000">
                <a:srgbClr val="0066FF">
                  <a:alpha val="49000"/>
                </a:srgbClr>
              </a:gs>
              <a:gs pos="100000">
                <a:srgbClr val="0000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HP</a:t>
            </a:r>
          </a:p>
        </p:txBody>
      </p:sp>
      <p:sp>
        <p:nvSpPr>
          <p:cNvPr id="55" name="Rectangle 54"/>
          <p:cNvSpPr/>
          <p:nvPr/>
        </p:nvSpPr>
        <p:spPr>
          <a:xfrm>
            <a:off x="5119978" y="2820313"/>
            <a:ext cx="2075551" cy="1360736"/>
          </a:xfrm>
          <a:prstGeom prst="rect">
            <a:avLst/>
          </a:prstGeom>
          <a:gradFill>
            <a:gsLst>
              <a:gs pos="0">
                <a:srgbClr val="9966FF"/>
              </a:gs>
              <a:gs pos="50000">
                <a:srgbClr val="9966FF">
                  <a:alpha val="1000"/>
                </a:srgbClr>
              </a:gs>
              <a:gs pos="100000">
                <a:srgbClr val="9966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PCC</a:t>
            </a:r>
          </a:p>
        </p:txBody>
      </p:sp>
      <p:sp>
        <p:nvSpPr>
          <p:cNvPr id="2" name="Title 1"/>
          <p:cNvSpPr>
            <a:spLocks noGrp="1"/>
          </p:cNvSpPr>
          <p:nvPr>
            <p:ph type="title"/>
          </p:nvPr>
        </p:nvSpPr>
        <p:spPr/>
        <p:txBody>
          <a:bodyPr/>
          <a:lstStyle/>
          <a:p>
            <a:r>
              <a:rPr lang="en-US" dirty="0" smtClean="0"/>
              <a:t>BSaM Build Trigger/Stocking</a:t>
            </a:r>
            <a:endParaRPr lang="en-US" dirty="0"/>
          </a:p>
        </p:txBody>
      </p:sp>
      <p:sp>
        <p:nvSpPr>
          <p:cNvPr id="8" name="Rectangle 7"/>
          <p:cNvSpPr/>
          <p:nvPr/>
        </p:nvSpPr>
        <p:spPr>
          <a:xfrm>
            <a:off x="2844805" y="1279039"/>
            <a:ext cx="2075551" cy="1360736"/>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ODM</a:t>
            </a:r>
          </a:p>
        </p:txBody>
      </p:sp>
      <p:sp>
        <p:nvSpPr>
          <p:cNvPr id="11" name="Rectangle 10"/>
          <p:cNvSpPr/>
          <p:nvPr/>
        </p:nvSpPr>
        <p:spPr>
          <a:xfrm>
            <a:off x="7645406" y="1304467"/>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A</a:t>
            </a:r>
          </a:p>
        </p:txBody>
      </p:sp>
      <p:sp>
        <p:nvSpPr>
          <p:cNvPr id="18" name="Flowchart: Punched Tape 17"/>
          <p:cNvSpPr/>
          <p:nvPr/>
        </p:nvSpPr>
        <p:spPr>
          <a:xfrm>
            <a:off x="601030" y="1543036"/>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9" name="Flowchart: Punched Tape 18"/>
          <p:cNvSpPr/>
          <p:nvPr/>
        </p:nvSpPr>
        <p:spPr>
          <a:xfrm>
            <a:off x="601024" y="1746241"/>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20" name="Flowchart: Punched Tape 19"/>
          <p:cNvSpPr/>
          <p:nvPr/>
        </p:nvSpPr>
        <p:spPr>
          <a:xfrm>
            <a:off x="609485" y="194944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21" name="Flowchart: Punched Tape 20"/>
          <p:cNvSpPr/>
          <p:nvPr/>
        </p:nvSpPr>
        <p:spPr>
          <a:xfrm>
            <a:off x="609479" y="2158999"/>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22" name="Flowchart: Punched Tape 21"/>
          <p:cNvSpPr/>
          <p:nvPr/>
        </p:nvSpPr>
        <p:spPr>
          <a:xfrm>
            <a:off x="609473" y="236855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sp>
        <p:nvSpPr>
          <p:cNvPr id="29" name="Flowchart: Punched Tape 28"/>
          <p:cNvSpPr/>
          <p:nvPr/>
        </p:nvSpPr>
        <p:spPr>
          <a:xfrm>
            <a:off x="5291742" y="3112447"/>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30" name="Flowchart: Punched Tape 29"/>
          <p:cNvSpPr/>
          <p:nvPr/>
        </p:nvSpPr>
        <p:spPr>
          <a:xfrm>
            <a:off x="5291736" y="331565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31" name="Flowchart: Punched Tape 30"/>
          <p:cNvSpPr/>
          <p:nvPr/>
        </p:nvSpPr>
        <p:spPr>
          <a:xfrm>
            <a:off x="5300197" y="351885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32" name="Flowchart: Punched Tape 31"/>
          <p:cNvSpPr/>
          <p:nvPr/>
        </p:nvSpPr>
        <p:spPr>
          <a:xfrm>
            <a:off x="5308658" y="3728410"/>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33" name="Flowchart: Punched Tape 32"/>
          <p:cNvSpPr/>
          <p:nvPr/>
        </p:nvSpPr>
        <p:spPr>
          <a:xfrm>
            <a:off x="5308652" y="393796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cxnSp>
        <p:nvCxnSpPr>
          <p:cNvPr id="38" name="Elbow Connector 37"/>
          <p:cNvCxnSpPr>
            <a:stCxn id="18" idx="3"/>
            <a:endCxn id="29" idx="1"/>
          </p:cNvCxnSpPr>
          <p:nvPr/>
        </p:nvCxnSpPr>
        <p:spPr>
          <a:xfrm>
            <a:off x="863498" y="1631936"/>
            <a:ext cx="4428244" cy="1569411"/>
          </a:xfrm>
          <a:prstGeom prst="bentConnector3">
            <a:avLst>
              <a:gd name="adj1" fmla="val 4686"/>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63" name="Flowchart: Punched Tape 62"/>
          <p:cNvSpPr/>
          <p:nvPr/>
        </p:nvSpPr>
        <p:spPr>
          <a:xfrm>
            <a:off x="3272661" y="1795229"/>
            <a:ext cx="485057" cy="373743"/>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cxnSp>
        <p:nvCxnSpPr>
          <p:cNvPr id="86" name="Elbow Connector 85"/>
          <p:cNvCxnSpPr/>
          <p:nvPr/>
        </p:nvCxnSpPr>
        <p:spPr>
          <a:xfrm>
            <a:off x="863492" y="1854193"/>
            <a:ext cx="4428244" cy="1550360"/>
          </a:xfrm>
          <a:prstGeom prst="bentConnector3">
            <a:avLst>
              <a:gd name="adj1" fmla="val 465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7" name="Elbow Connector 86"/>
          <p:cNvCxnSpPr/>
          <p:nvPr/>
        </p:nvCxnSpPr>
        <p:spPr>
          <a:xfrm>
            <a:off x="863486" y="2051044"/>
            <a:ext cx="4428244" cy="1550360"/>
          </a:xfrm>
          <a:prstGeom prst="bentConnector3">
            <a:avLst>
              <a:gd name="adj1" fmla="val 465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8" name="Elbow Connector 87"/>
          <p:cNvCxnSpPr/>
          <p:nvPr/>
        </p:nvCxnSpPr>
        <p:spPr>
          <a:xfrm>
            <a:off x="863480" y="2260600"/>
            <a:ext cx="4428244" cy="1550360"/>
          </a:xfrm>
          <a:prstGeom prst="bentConnector3">
            <a:avLst>
              <a:gd name="adj1" fmla="val 465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9" name="Elbow Connector 88"/>
          <p:cNvCxnSpPr/>
          <p:nvPr/>
        </p:nvCxnSpPr>
        <p:spPr>
          <a:xfrm>
            <a:off x="871941" y="2463802"/>
            <a:ext cx="4428244" cy="1550360"/>
          </a:xfrm>
          <a:prstGeom prst="bentConnector3">
            <a:avLst>
              <a:gd name="adj1" fmla="val 4544"/>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97" name="Rectangle 96"/>
          <p:cNvSpPr/>
          <p:nvPr/>
        </p:nvSpPr>
        <p:spPr>
          <a:xfrm>
            <a:off x="4309650" y="1807935"/>
            <a:ext cx="499533" cy="3556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sp>
        <p:nvSpPr>
          <p:cNvPr id="98" name="Rectangle 97"/>
          <p:cNvSpPr/>
          <p:nvPr/>
        </p:nvSpPr>
        <p:spPr>
          <a:xfrm>
            <a:off x="5850541" y="3116033"/>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A1</a:t>
            </a:r>
          </a:p>
        </p:txBody>
      </p:sp>
      <p:sp>
        <p:nvSpPr>
          <p:cNvPr id="99" name="Rectangle 98"/>
          <p:cNvSpPr/>
          <p:nvPr/>
        </p:nvSpPr>
        <p:spPr>
          <a:xfrm>
            <a:off x="5850541" y="3319238"/>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A2</a:t>
            </a:r>
          </a:p>
        </p:txBody>
      </p:sp>
      <p:sp>
        <p:nvSpPr>
          <p:cNvPr id="100" name="Rectangle 99"/>
          <p:cNvSpPr/>
          <p:nvPr/>
        </p:nvSpPr>
        <p:spPr>
          <a:xfrm>
            <a:off x="5850541" y="3522440"/>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A3</a:t>
            </a:r>
          </a:p>
        </p:txBody>
      </p:sp>
      <p:sp>
        <p:nvSpPr>
          <p:cNvPr id="101" name="Rectangle 100"/>
          <p:cNvSpPr/>
          <p:nvPr/>
        </p:nvSpPr>
        <p:spPr>
          <a:xfrm>
            <a:off x="5850541" y="3725648"/>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A4</a:t>
            </a:r>
          </a:p>
        </p:txBody>
      </p:sp>
      <p:sp>
        <p:nvSpPr>
          <p:cNvPr id="102" name="Rectangle 101"/>
          <p:cNvSpPr/>
          <p:nvPr/>
        </p:nvSpPr>
        <p:spPr>
          <a:xfrm>
            <a:off x="5850508" y="3928853"/>
            <a:ext cx="211665" cy="171489"/>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A5</a:t>
            </a:r>
          </a:p>
        </p:txBody>
      </p:sp>
      <p:sp>
        <p:nvSpPr>
          <p:cNvPr id="107" name="Rectangle 106"/>
          <p:cNvSpPr/>
          <p:nvPr/>
        </p:nvSpPr>
        <p:spPr>
          <a:xfrm>
            <a:off x="5249382" y="2589009"/>
            <a:ext cx="499533" cy="35560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cxnSp>
        <p:nvCxnSpPr>
          <p:cNvPr id="108" name="Straight Arrow Connector 107"/>
          <p:cNvCxnSpPr>
            <a:stCxn id="63" idx="3"/>
            <a:endCxn id="97" idx="1"/>
          </p:cNvCxnSpPr>
          <p:nvPr/>
        </p:nvCxnSpPr>
        <p:spPr>
          <a:xfrm>
            <a:off x="3757687" y="1982102"/>
            <a:ext cx="551857" cy="3633"/>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1" name="Elbow Connector 110"/>
          <p:cNvCxnSpPr>
            <a:stCxn id="97" idx="3"/>
            <a:endCxn id="107" idx="0"/>
          </p:cNvCxnSpPr>
          <p:nvPr/>
        </p:nvCxnSpPr>
        <p:spPr>
          <a:xfrm>
            <a:off x="4809080" y="1985733"/>
            <a:ext cx="690065" cy="603276"/>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3" name="Group 126"/>
          <p:cNvGrpSpPr/>
          <p:nvPr/>
        </p:nvGrpSpPr>
        <p:grpSpPr>
          <a:xfrm>
            <a:off x="5646453" y="2936501"/>
            <a:ext cx="204070" cy="1078769"/>
            <a:chOff x="5646453" y="4078549"/>
            <a:chExt cx="204070" cy="1438358"/>
          </a:xfrm>
        </p:grpSpPr>
        <p:cxnSp>
          <p:nvCxnSpPr>
            <p:cNvPr id="114" name="Elbow Connector 110"/>
            <p:cNvCxnSpPr/>
            <p:nvPr/>
          </p:nvCxnSpPr>
          <p:spPr>
            <a:xfrm rot="16200000" flipH="1">
              <a:off x="5577042" y="4147960"/>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8" name="Elbow Connector 110"/>
            <p:cNvCxnSpPr/>
            <p:nvPr/>
          </p:nvCxnSpPr>
          <p:spPr>
            <a:xfrm rot="16200000" flipH="1">
              <a:off x="5577042" y="443062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9" name="Elbow Connector 110"/>
            <p:cNvCxnSpPr/>
            <p:nvPr/>
          </p:nvCxnSpPr>
          <p:spPr>
            <a:xfrm rot="16200000" flipH="1">
              <a:off x="5577042" y="469732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0" name="Elbow Connector 110"/>
            <p:cNvCxnSpPr/>
            <p:nvPr/>
          </p:nvCxnSpPr>
          <p:spPr>
            <a:xfrm rot="16200000" flipH="1">
              <a:off x="5577042" y="497418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1" name="Elbow Connector 110"/>
            <p:cNvCxnSpPr/>
            <p:nvPr/>
          </p:nvCxnSpPr>
          <p:spPr>
            <a:xfrm rot="16200000" flipH="1">
              <a:off x="5577042" y="5243426"/>
              <a:ext cx="342892" cy="204070"/>
            </a:xfrm>
            <a:prstGeom prst="bentConnector2">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22" name="Rectangle 121"/>
          <p:cNvSpPr/>
          <p:nvPr/>
        </p:nvSpPr>
        <p:spPr>
          <a:xfrm>
            <a:off x="6320426" y="3116033"/>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B1</a:t>
            </a:r>
          </a:p>
        </p:txBody>
      </p:sp>
      <p:sp>
        <p:nvSpPr>
          <p:cNvPr id="123" name="Rectangle 122"/>
          <p:cNvSpPr/>
          <p:nvPr/>
        </p:nvSpPr>
        <p:spPr>
          <a:xfrm>
            <a:off x="6320426" y="3319238"/>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B2</a:t>
            </a:r>
          </a:p>
        </p:txBody>
      </p:sp>
      <p:sp>
        <p:nvSpPr>
          <p:cNvPr id="124" name="Rectangle 123"/>
          <p:cNvSpPr/>
          <p:nvPr/>
        </p:nvSpPr>
        <p:spPr>
          <a:xfrm>
            <a:off x="6320426" y="3522440"/>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B3</a:t>
            </a:r>
          </a:p>
        </p:txBody>
      </p:sp>
      <p:sp>
        <p:nvSpPr>
          <p:cNvPr id="125" name="Rectangle 124"/>
          <p:cNvSpPr/>
          <p:nvPr/>
        </p:nvSpPr>
        <p:spPr>
          <a:xfrm>
            <a:off x="6320426" y="3725648"/>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B4</a:t>
            </a:r>
          </a:p>
        </p:txBody>
      </p:sp>
      <p:sp>
        <p:nvSpPr>
          <p:cNvPr id="126" name="Rectangle 125"/>
          <p:cNvSpPr/>
          <p:nvPr/>
        </p:nvSpPr>
        <p:spPr>
          <a:xfrm>
            <a:off x="6320426" y="3928853"/>
            <a:ext cx="211665" cy="171489"/>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B5</a:t>
            </a:r>
          </a:p>
        </p:txBody>
      </p:sp>
      <p:cxnSp>
        <p:nvCxnSpPr>
          <p:cNvPr id="129" name="Elbow Connector 110"/>
          <p:cNvCxnSpPr/>
          <p:nvPr/>
        </p:nvCxnSpPr>
        <p:spPr>
          <a:xfrm rot="16200000">
            <a:off x="6100459" y="4054254"/>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0" name="Elbow Connector 110"/>
          <p:cNvCxnSpPr/>
          <p:nvPr/>
        </p:nvCxnSpPr>
        <p:spPr>
          <a:xfrm rot="16200000">
            <a:off x="6100459" y="3850419"/>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1" name="Elbow Connector 110"/>
          <p:cNvCxnSpPr/>
          <p:nvPr/>
        </p:nvCxnSpPr>
        <p:spPr>
          <a:xfrm rot="16200000">
            <a:off x="6100459" y="3650394"/>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2" name="Elbow Connector 110"/>
          <p:cNvCxnSpPr/>
          <p:nvPr/>
        </p:nvCxnSpPr>
        <p:spPr>
          <a:xfrm rot="16200000">
            <a:off x="6100459" y="3442749"/>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33" name="Elbow Connector 110"/>
          <p:cNvCxnSpPr/>
          <p:nvPr/>
        </p:nvCxnSpPr>
        <p:spPr>
          <a:xfrm rot="16200000">
            <a:off x="6100459" y="3240819"/>
            <a:ext cx="257169" cy="166672"/>
          </a:xfrm>
          <a:prstGeom prst="bentConnector2">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sp>
        <p:nvSpPr>
          <p:cNvPr id="136" name="Rectangle 135"/>
          <p:cNvSpPr/>
          <p:nvPr/>
        </p:nvSpPr>
        <p:spPr>
          <a:xfrm>
            <a:off x="6731254" y="3113552"/>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37" name="Rectangle 136"/>
          <p:cNvSpPr/>
          <p:nvPr/>
        </p:nvSpPr>
        <p:spPr>
          <a:xfrm>
            <a:off x="6731254" y="3316754"/>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138" name="Rectangle 137"/>
          <p:cNvSpPr/>
          <p:nvPr/>
        </p:nvSpPr>
        <p:spPr>
          <a:xfrm>
            <a:off x="6731228" y="3519959"/>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139" name="Rectangle 138"/>
          <p:cNvSpPr/>
          <p:nvPr/>
        </p:nvSpPr>
        <p:spPr>
          <a:xfrm>
            <a:off x="6731228" y="3723167"/>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140" name="Rectangle 139"/>
          <p:cNvSpPr/>
          <p:nvPr/>
        </p:nvSpPr>
        <p:spPr>
          <a:xfrm>
            <a:off x="6731228" y="3926369"/>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sp>
        <p:nvSpPr>
          <p:cNvPr id="85" name="Rectangle 84"/>
          <p:cNvSpPr/>
          <p:nvPr/>
        </p:nvSpPr>
        <p:spPr>
          <a:xfrm>
            <a:off x="5198558" y="4306023"/>
            <a:ext cx="499533" cy="355600"/>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white"/>
                </a:solidFill>
              </a:rPr>
              <a:t>B</a:t>
            </a:r>
          </a:p>
        </p:txBody>
      </p:sp>
      <p:sp>
        <p:nvSpPr>
          <p:cNvPr id="94" name="Rectangle 93"/>
          <p:cNvSpPr/>
          <p:nvPr/>
        </p:nvSpPr>
        <p:spPr>
          <a:xfrm>
            <a:off x="7710972" y="1545964"/>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105" name="Rectangle 104"/>
          <p:cNvSpPr/>
          <p:nvPr/>
        </p:nvSpPr>
        <p:spPr>
          <a:xfrm>
            <a:off x="7645406" y="20474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B</a:t>
            </a:r>
          </a:p>
        </p:txBody>
      </p:sp>
      <p:sp>
        <p:nvSpPr>
          <p:cNvPr id="106" name="Rectangle 105"/>
          <p:cNvSpPr/>
          <p:nvPr/>
        </p:nvSpPr>
        <p:spPr>
          <a:xfrm>
            <a:off x="7710972" y="2288930"/>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C2</a:t>
            </a:r>
          </a:p>
        </p:txBody>
      </p:sp>
      <p:sp>
        <p:nvSpPr>
          <p:cNvPr id="110" name="Rectangle 109"/>
          <p:cNvSpPr/>
          <p:nvPr/>
        </p:nvSpPr>
        <p:spPr>
          <a:xfrm>
            <a:off x="7645406" y="27822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C</a:t>
            </a:r>
          </a:p>
        </p:txBody>
      </p:sp>
      <p:sp>
        <p:nvSpPr>
          <p:cNvPr id="112" name="Rectangle 111"/>
          <p:cNvSpPr/>
          <p:nvPr/>
        </p:nvSpPr>
        <p:spPr>
          <a:xfrm>
            <a:off x="7710972" y="3023732"/>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C3</a:t>
            </a:r>
          </a:p>
        </p:txBody>
      </p:sp>
      <p:sp>
        <p:nvSpPr>
          <p:cNvPr id="113" name="Rectangle 112"/>
          <p:cNvSpPr/>
          <p:nvPr/>
        </p:nvSpPr>
        <p:spPr>
          <a:xfrm>
            <a:off x="7645406" y="3533368"/>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D</a:t>
            </a:r>
          </a:p>
        </p:txBody>
      </p:sp>
      <p:sp>
        <p:nvSpPr>
          <p:cNvPr id="115" name="Rectangle 114"/>
          <p:cNvSpPr/>
          <p:nvPr/>
        </p:nvSpPr>
        <p:spPr>
          <a:xfrm>
            <a:off x="7710972" y="3774863"/>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C4</a:t>
            </a:r>
          </a:p>
        </p:txBody>
      </p:sp>
      <p:sp>
        <p:nvSpPr>
          <p:cNvPr id="116" name="Rectangle 115"/>
          <p:cNvSpPr/>
          <p:nvPr/>
        </p:nvSpPr>
        <p:spPr>
          <a:xfrm>
            <a:off x="7645406" y="4268170"/>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E</a:t>
            </a:r>
          </a:p>
        </p:txBody>
      </p:sp>
      <p:sp>
        <p:nvSpPr>
          <p:cNvPr id="117" name="Rectangle 116"/>
          <p:cNvSpPr/>
          <p:nvPr/>
        </p:nvSpPr>
        <p:spPr>
          <a:xfrm>
            <a:off x="7710972" y="4509665"/>
            <a:ext cx="385181" cy="171489"/>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C5</a:t>
            </a:r>
          </a:p>
        </p:txBody>
      </p:sp>
      <p:cxnSp>
        <p:nvCxnSpPr>
          <p:cNvPr id="141" name="Elbow Connector 140"/>
          <p:cNvCxnSpPr>
            <a:stCxn id="136" idx="3"/>
            <a:endCxn id="94" idx="1"/>
          </p:cNvCxnSpPr>
          <p:nvPr/>
        </p:nvCxnSpPr>
        <p:spPr>
          <a:xfrm flipV="1">
            <a:off x="7116448" y="1631708"/>
            <a:ext cx="594551" cy="1567587"/>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2" name="Elbow Connector 141"/>
          <p:cNvCxnSpPr>
            <a:stCxn id="137" idx="3"/>
            <a:endCxn id="106" idx="1"/>
          </p:cNvCxnSpPr>
          <p:nvPr/>
        </p:nvCxnSpPr>
        <p:spPr>
          <a:xfrm flipV="1">
            <a:off x="7116412" y="2374674"/>
            <a:ext cx="594557" cy="1027824"/>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5" name="Elbow Connector 144"/>
          <p:cNvCxnSpPr>
            <a:stCxn id="138" idx="3"/>
            <a:endCxn id="112" idx="1"/>
          </p:cNvCxnSpPr>
          <p:nvPr/>
        </p:nvCxnSpPr>
        <p:spPr>
          <a:xfrm flipV="1">
            <a:off x="7116409" y="3109477"/>
            <a:ext cx="594563" cy="496226"/>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48" name="Elbow Connector 147"/>
          <p:cNvCxnSpPr>
            <a:stCxn id="139" idx="3"/>
            <a:endCxn id="115" idx="1"/>
          </p:cNvCxnSpPr>
          <p:nvPr/>
        </p:nvCxnSpPr>
        <p:spPr>
          <a:xfrm>
            <a:off x="7116409" y="3808909"/>
            <a:ext cx="594563" cy="51698"/>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1" name="Elbow Connector 150"/>
          <p:cNvCxnSpPr>
            <a:stCxn id="140" idx="3"/>
            <a:endCxn id="117" idx="1"/>
          </p:cNvCxnSpPr>
          <p:nvPr/>
        </p:nvCxnSpPr>
        <p:spPr>
          <a:xfrm>
            <a:off x="7116406" y="4012113"/>
            <a:ext cx="594569" cy="583296"/>
          </a:xfrm>
          <a:prstGeom prst="bentConnector3">
            <a:avLst>
              <a:gd name="adj1" fmla="val 50000"/>
            </a:avLst>
          </a:prstGeom>
          <a:ln w="12700">
            <a:solidFill>
              <a:srgbClr val="006600"/>
            </a:solidFill>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p:cNvCxnSpPr>
            <a:stCxn id="122" idx="3"/>
            <a:endCxn id="136" idx="1"/>
          </p:cNvCxnSpPr>
          <p:nvPr/>
        </p:nvCxnSpPr>
        <p:spPr>
          <a:xfrm flipV="1">
            <a:off x="6532092" y="3199352"/>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58" name="Straight Arrow Connector 157"/>
          <p:cNvCxnSpPr>
            <a:stCxn id="123" idx="3"/>
            <a:endCxn id="137" idx="1"/>
          </p:cNvCxnSpPr>
          <p:nvPr/>
        </p:nvCxnSpPr>
        <p:spPr>
          <a:xfrm flipV="1">
            <a:off x="6532085" y="3402556"/>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61" name="Straight Arrow Connector 160"/>
          <p:cNvCxnSpPr>
            <a:stCxn id="124" idx="3"/>
            <a:endCxn id="138" idx="1"/>
          </p:cNvCxnSpPr>
          <p:nvPr/>
        </p:nvCxnSpPr>
        <p:spPr>
          <a:xfrm flipV="1">
            <a:off x="6532085" y="3605759"/>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65" name="Straight Arrow Connector 164"/>
          <p:cNvCxnSpPr>
            <a:stCxn id="125" idx="3"/>
            <a:endCxn id="139" idx="1"/>
          </p:cNvCxnSpPr>
          <p:nvPr/>
        </p:nvCxnSpPr>
        <p:spPr>
          <a:xfrm flipV="1">
            <a:off x="6532085" y="3808967"/>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68" name="Straight Arrow Connector 167"/>
          <p:cNvCxnSpPr>
            <a:stCxn id="126" idx="3"/>
            <a:endCxn id="140" idx="1"/>
          </p:cNvCxnSpPr>
          <p:nvPr/>
        </p:nvCxnSpPr>
        <p:spPr>
          <a:xfrm flipV="1">
            <a:off x="6532085" y="4012171"/>
            <a:ext cx="199149" cy="2483"/>
          </a:xfrm>
          <a:prstGeom prst="straightConnector1">
            <a:avLst/>
          </a:prstGeom>
          <a:ln w="12700">
            <a:solidFill>
              <a:srgbClr val="6600CC"/>
            </a:solidFill>
            <a:tailEnd type="arrow"/>
          </a:ln>
        </p:spPr>
        <p:style>
          <a:lnRef idx="1">
            <a:schemeClr val="accent1"/>
          </a:lnRef>
          <a:fillRef idx="0">
            <a:schemeClr val="accent1"/>
          </a:fillRef>
          <a:effectRef idx="0">
            <a:schemeClr val="accent1"/>
          </a:effectRef>
          <a:fontRef idx="minor">
            <a:schemeClr val="tx1"/>
          </a:fontRef>
        </p:style>
      </p:cxnSp>
      <p:cxnSp>
        <p:nvCxnSpPr>
          <p:cNvPr id="183" name="Elbow Connector 182"/>
          <p:cNvCxnSpPr>
            <a:stCxn id="85" idx="0"/>
          </p:cNvCxnSpPr>
          <p:nvPr/>
        </p:nvCxnSpPr>
        <p:spPr>
          <a:xfrm rot="5400000" flipH="1" flipV="1">
            <a:off x="5774726" y="3937834"/>
            <a:ext cx="41795" cy="694584"/>
          </a:xfrm>
          <a:prstGeom prst="bentConnector2">
            <a:avLst/>
          </a:prstGeom>
          <a:ln w="12700">
            <a:solidFill>
              <a:srgbClr val="6600CC"/>
            </a:solidFill>
          </a:ln>
        </p:spPr>
        <p:style>
          <a:lnRef idx="1">
            <a:schemeClr val="accent1"/>
          </a:lnRef>
          <a:fillRef idx="0">
            <a:schemeClr val="accent1"/>
          </a:fillRef>
          <a:effectRef idx="0">
            <a:schemeClr val="accent1"/>
          </a:effectRef>
          <a:fontRef idx="minor">
            <a:schemeClr val="tx1"/>
          </a:fontRef>
        </p:style>
      </p:cxnSp>
      <p:sp>
        <p:nvSpPr>
          <p:cNvPr id="189" name="Rectangle 188"/>
          <p:cNvSpPr/>
          <p:nvPr/>
        </p:nvSpPr>
        <p:spPr>
          <a:xfrm>
            <a:off x="42182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b="1" dirty="0" smtClean="0">
                <a:solidFill>
                  <a:prstClr val="black"/>
                </a:solidFill>
                <a:latin typeface="Calibri" pitchFamily="34" charset="0"/>
                <a:cs typeface="Calibri" pitchFamily="34" charset="0"/>
              </a:rPr>
              <a:t>Component &amp; DIB Suppliers</a:t>
            </a:r>
          </a:p>
        </p:txBody>
      </p:sp>
      <p:sp>
        <p:nvSpPr>
          <p:cNvPr id="104" name="Flowchart: Punched Tape 103"/>
          <p:cNvSpPr/>
          <p:nvPr/>
        </p:nvSpPr>
        <p:spPr>
          <a:xfrm>
            <a:off x="1824893" y="1795235"/>
            <a:ext cx="485057" cy="373743"/>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black"/>
                </a:solidFill>
              </a:rPr>
              <a:t>A</a:t>
            </a:r>
          </a:p>
        </p:txBody>
      </p:sp>
      <p:cxnSp>
        <p:nvCxnSpPr>
          <p:cNvPr id="127" name="Straight Arrow Connector 126"/>
          <p:cNvCxnSpPr>
            <a:stCxn id="104" idx="3"/>
            <a:endCxn id="63" idx="1"/>
          </p:cNvCxnSpPr>
          <p:nvPr/>
        </p:nvCxnSpPr>
        <p:spPr>
          <a:xfrm flipV="1">
            <a:off x="2309941" y="1982157"/>
            <a:ext cx="962680" cy="5"/>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4" name="Isosceles Triangle 133"/>
          <p:cNvSpPr/>
          <p:nvPr/>
        </p:nvSpPr>
        <p:spPr>
          <a:xfrm rot="10800000">
            <a:off x="4915717" y="1878151"/>
            <a:ext cx="138546" cy="83127"/>
          </a:xfrm>
          <a:prstGeom prst="triangle">
            <a:avLst/>
          </a:prstGeom>
          <a:solidFill>
            <a:schemeClr val="bg1">
              <a:alpha val="61000"/>
            </a:schemeClr>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cxnSp>
        <p:nvCxnSpPr>
          <p:cNvPr id="135" name="Elbow Connector 155"/>
          <p:cNvCxnSpPr>
            <a:stCxn id="134" idx="3"/>
            <a:endCxn id="143" idx="1"/>
          </p:cNvCxnSpPr>
          <p:nvPr/>
        </p:nvCxnSpPr>
        <p:spPr>
          <a:xfrm rot="5400000" flipH="1" flipV="1">
            <a:off x="4993513" y="1795394"/>
            <a:ext cx="74235" cy="91280"/>
          </a:xfrm>
          <a:prstGeom prst="bentConnector2">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3" name="TextBox 142"/>
          <p:cNvSpPr txBox="1"/>
          <p:nvPr/>
        </p:nvSpPr>
        <p:spPr>
          <a:xfrm>
            <a:off x="5076270" y="1619250"/>
            <a:ext cx="1083236" cy="369332"/>
          </a:xfrm>
          <a:prstGeom prst="rect">
            <a:avLst/>
          </a:prstGeom>
          <a:noFill/>
        </p:spPr>
        <p:txBody>
          <a:bodyPr wrap="square" lIns="91440" rIns="91440" rtlCol="0">
            <a:spAutoFit/>
          </a:bodyPr>
          <a:lstStyle/>
          <a:p>
            <a:pPr defTabSz="914400" fontAlgn="base">
              <a:spcBef>
                <a:spcPct val="0"/>
              </a:spcBef>
              <a:spcAft>
                <a:spcPct val="0"/>
              </a:spcAft>
            </a:pPr>
            <a:r>
              <a:rPr lang="en-US" sz="900" dirty="0" smtClean="0">
                <a:solidFill>
                  <a:prstClr val="black"/>
                </a:solidFill>
                <a:latin typeface="Arial" charset="0"/>
              </a:rPr>
              <a:t>Title Transfer Air</a:t>
            </a:r>
          </a:p>
          <a:p>
            <a:pPr defTabSz="914400" fontAlgn="base">
              <a:spcBef>
                <a:spcPct val="0"/>
              </a:spcBef>
              <a:spcAft>
                <a:spcPct val="0"/>
              </a:spcAft>
            </a:pPr>
            <a:r>
              <a:rPr lang="en-US" sz="900" dirty="0" smtClean="0">
                <a:solidFill>
                  <a:prstClr val="black"/>
                </a:solidFill>
                <a:latin typeface="Arial" charset="0"/>
              </a:rPr>
              <a:t>ODM to HP </a:t>
            </a:r>
            <a:endParaRPr lang="en-US" sz="900" dirty="0">
              <a:solidFill>
                <a:prstClr val="black"/>
              </a:solidFill>
              <a:latin typeface="Arial" charset="0"/>
            </a:endParaRPr>
          </a:p>
        </p:txBody>
      </p:sp>
      <p:sp>
        <p:nvSpPr>
          <p:cNvPr id="90" name="Flowchart: Punched Tape 89"/>
          <p:cNvSpPr/>
          <p:nvPr/>
        </p:nvSpPr>
        <p:spPr>
          <a:xfrm>
            <a:off x="318002" y="87356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91" name="Flowchart: Punched Tape 90"/>
          <p:cNvSpPr/>
          <p:nvPr/>
        </p:nvSpPr>
        <p:spPr>
          <a:xfrm>
            <a:off x="285345" y="906223"/>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92" name="Flowchart: Punched Tape 91"/>
          <p:cNvSpPr/>
          <p:nvPr/>
        </p:nvSpPr>
        <p:spPr>
          <a:xfrm>
            <a:off x="252687" y="93887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93" name="Flowchart: Punched Tape 92"/>
          <p:cNvSpPr/>
          <p:nvPr/>
        </p:nvSpPr>
        <p:spPr>
          <a:xfrm>
            <a:off x="230915" y="979702"/>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sp>
        <p:nvSpPr>
          <p:cNvPr id="95" name="Flowchart: Punched Tape 94"/>
          <p:cNvSpPr/>
          <p:nvPr/>
        </p:nvSpPr>
        <p:spPr>
          <a:xfrm>
            <a:off x="198258" y="1012357"/>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C1</a:t>
            </a:r>
          </a:p>
        </p:txBody>
      </p:sp>
      <p:cxnSp>
        <p:nvCxnSpPr>
          <p:cNvPr id="96" name="Shape 95"/>
          <p:cNvCxnSpPr>
            <a:stCxn id="95" idx="2"/>
          </p:cNvCxnSpPr>
          <p:nvPr/>
        </p:nvCxnSpPr>
        <p:spPr>
          <a:xfrm rot="16200000" flipH="1">
            <a:off x="235503" y="1266387"/>
            <a:ext cx="459560" cy="271538"/>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03" name="Shape 102"/>
          <p:cNvCxnSpPr>
            <a:stCxn id="95" idx="2"/>
          </p:cNvCxnSpPr>
          <p:nvPr/>
        </p:nvCxnSpPr>
        <p:spPr>
          <a:xfrm rot="16200000" flipH="1">
            <a:off x="133901" y="1367992"/>
            <a:ext cx="662763" cy="271532"/>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28" name="Shape 127"/>
          <p:cNvCxnSpPr>
            <a:stCxn id="95" idx="2"/>
          </p:cNvCxnSpPr>
          <p:nvPr/>
        </p:nvCxnSpPr>
        <p:spPr>
          <a:xfrm rot="16200000" flipH="1">
            <a:off x="36516" y="1465421"/>
            <a:ext cx="865967" cy="279993"/>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44" name="Shape 143"/>
          <p:cNvCxnSpPr>
            <a:stCxn id="95" idx="2"/>
          </p:cNvCxnSpPr>
          <p:nvPr/>
        </p:nvCxnSpPr>
        <p:spPr>
          <a:xfrm rot="16200000" flipH="1">
            <a:off x="-68274" y="1570200"/>
            <a:ext cx="1075520" cy="279987"/>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cxnSp>
        <p:nvCxnSpPr>
          <p:cNvPr id="149" name="Shape 148"/>
          <p:cNvCxnSpPr>
            <a:stCxn id="95" idx="2"/>
          </p:cNvCxnSpPr>
          <p:nvPr/>
        </p:nvCxnSpPr>
        <p:spPr>
          <a:xfrm rot="16200000" flipH="1">
            <a:off x="-173055" y="1674980"/>
            <a:ext cx="1285074" cy="279981"/>
          </a:xfrm>
          <a:prstGeom prst="bentConnector2">
            <a:avLst/>
          </a:prstGeom>
          <a:ln w="12700">
            <a:solidFill>
              <a:srgbClr val="008000"/>
            </a:solidFill>
            <a:tailEnd type="arrow"/>
          </a:ln>
        </p:spPr>
        <p:style>
          <a:lnRef idx="1">
            <a:schemeClr val="accent1"/>
          </a:lnRef>
          <a:fillRef idx="0">
            <a:schemeClr val="accent1"/>
          </a:fillRef>
          <a:effectRef idx="0">
            <a:schemeClr val="accent1"/>
          </a:effectRef>
          <a:fontRef idx="minor">
            <a:schemeClr val="tx1"/>
          </a:fontRef>
        </p:style>
      </p:cxnSp>
      <p:sp>
        <p:nvSpPr>
          <p:cNvPr id="150" name="TextBox 149"/>
          <p:cNvSpPr txBox="1"/>
          <p:nvPr/>
        </p:nvSpPr>
        <p:spPr>
          <a:xfrm>
            <a:off x="576939" y="938890"/>
            <a:ext cx="1263487"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Customer Orders</a:t>
            </a:r>
            <a:endParaRPr lang="en-US" sz="1100" dirty="0">
              <a:solidFill>
                <a:prstClr val="black"/>
              </a:solidFill>
              <a:latin typeface="Arial" charset="0"/>
            </a:endParaRPr>
          </a:p>
        </p:txBody>
      </p:sp>
      <p:sp>
        <p:nvSpPr>
          <p:cNvPr id="152" name="TextBox 151"/>
          <p:cNvSpPr txBox="1"/>
          <p:nvPr/>
        </p:nvSpPr>
        <p:spPr>
          <a:xfrm>
            <a:off x="544271" y="1311190"/>
            <a:ext cx="388248"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SO</a:t>
            </a:r>
            <a:endParaRPr lang="en-US" sz="1100" dirty="0">
              <a:solidFill>
                <a:prstClr val="black"/>
              </a:solidFill>
              <a:latin typeface="Arial" charset="0"/>
            </a:endParaRPr>
          </a:p>
        </p:txBody>
      </p:sp>
      <p:sp>
        <p:nvSpPr>
          <p:cNvPr id="153" name="TextBox 152"/>
          <p:cNvSpPr txBox="1"/>
          <p:nvPr/>
        </p:nvSpPr>
        <p:spPr>
          <a:xfrm>
            <a:off x="1937675" y="1311187"/>
            <a:ext cx="388248" cy="261610"/>
          </a:xfrm>
          <a:prstGeom prst="rect">
            <a:avLst/>
          </a:prstGeom>
          <a:noFill/>
        </p:spPr>
        <p:txBody>
          <a:bodyPr wrap="none" rtlCol="0">
            <a:spAutoFit/>
          </a:bodyPr>
          <a:lstStyle/>
          <a:p>
            <a:pPr defTabSz="914400" fontAlgn="base">
              <a:spcBef>
                <a:spcPct val="0"/>
              </a:spcBef>
              <a:spcAft>
                <a:spcPct val="0"/>
              </a:spcAft>
            </a:pPr>
            <a:r>
              <a:rPr lang="en-US" sz="1100" dirty="0" smtClean="0">
                <a:solidFill>
                  <a:prstClr val="black"/>
                </a:solidFill>
                <a:latin typeface="Arial" charset="0"/>
              </a:rPr>
              <a:t>PO</a:t>
            </a:r>
            <a:endParaRPr lang="en-US" sz="1100" dirty="0">
              <a:solidFill>
                <a:prstClr val="black"/>
              </a:solidFill>
              <a:latin typeface="Arial" charset="0"/>
            </a:endParaRPr>
          </a:p>
        </p:txBody>
      </p:sp>
      <p:sp>
        <p:nvSpPr>
          <p:cNvPr id="146" name="Rounded Rectangle 145"/>
          <p:cNvSpPr/>
          <p:nvPr/>
        </p:nvSpPr>
        <p:spPr>
          <a:xfrm>
            <a:off x="5214761" y="830868"/>
            <a:ext cx="1862314" cy="804491"/>
          </a:xfrm>
          <a:prstGeom prst="roundRect">
            <a:avLst/>
          </a:prstGeom>
          <a:solidFill>
            <a:schemeClr val="bg1">
              <a:alpha val="6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200" b="1" dirty="0" smtClean="0">
                <a:solidFill>
                  <a:srgbClr val="FF0000"/>
                </a:solidFill>
                <a:latin typeface="Calibri" pitchFamily="34" charset="0"/>
                <a:cs typeface="Calibri" pitchFamily="34" charset="0"/>
              </a:rPr>
              <a:t>Customer Orders will no longer be relayed to ODM.  ODM will ship against Build Trigger POs</a:t>
            </a:r>
          </a:p>
        </p:txBody>
      </p:sp>
      <p:sp>
        <p:nvSpPr>
          <p:cNvPr id="147" name="Rounded Rectangle 14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34</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62752871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500"/>
                                        <p:tgtEl>
                                          <p:spTgt spid="10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3"/>
                                        </p:tgtEl>
                                        <p:attrNameLst>
                                          <p:attrName>style.visibility</p:attrName>
                                        </p:attrNameLst>
                                      </p:cBhvr>
                                      <p:to>
                                        <p:strVal val="visible"/>
                                      </p:to>
                                    </p:set>
                                    <p:animEffect transition="in" filter="fade">
                                      <p:cBhvr>
                                        <p:cTn id="10" dur="500"/>
                                        <p:tgtEl>
                                          <p:spTgt spid="15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fade">
                                      <p:cBhvr>
                                        <p:cTn id="15" dur="500"/>
                                        <p:tgtEl>
                                          <p:spTgt spid="63"/>
                                        </p:tgtEl>
                                      </p:cBhvr>
                                    </p:animEffect>
                                  </p:childTnLst>
                                </p:cTn>
                              </p:par>
                              <p:par>
                                <p:cTn id="16" presetID="10" presetClass="entr" presetSubtype="0" fill="hold" nodeType="withEffect">
                                  <p:stCondLst>
                                    <p:cond delay="0"/>
                                  </p:stCondLst>
                                  <p:childTnLst>
                                    <p:set>
                                      <p:cBhvr>
                                        <p:cTn id="17" dur="1" fill="hold">
                                          <p:stCondLst>
                                            <p:cond delay="0"/>
                                          </p:stCondLst>
                                        </p:cTn>
                                        <p:tgtEl>
                                          <p:spTgt spid="127"/>
                                        </p:tgtEl>
                                        <p:attrNameLst>
                                          <p:attrName>style.visibility</p:attrName>
                                        </p:attrNameLst>
                                      </p:cBhvr>
                                      <p:to>
                                        <p:strVal val="visible"/>
                                      </p:to>
                                    </p:set>
                                    <p:animEffect transition="in" filter="fade">
                                      <p:cBhvr>
                                        <p:cTn id="18" dur="500"/>
                                        <p:tgtEl>
                                          <p:spTgt spid="12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7"/>
                                        </p:tgtEl>
                                        <p:attrNameLst>
                                          <p:attrName>style.visibility</p:attrName>
                                        </p:attrNameLst>
                                      </p:cBhvr>
                                      <p:to>
                                        <p:strVal val="visible"/>
                                      </p:to>
                                    </p:set>
                                    <p:animEffect transition="in" filter="fade">
                                      <p:cBhvr>
                                        <p:cTn id="23" dur="500"/>
                                        <p:tgtEl>
                                          <p:spTgt spid="97"/>
                                        </p:tgtEl>
                                      </p:cBhvr>
                                    </p:animEffect>
                                  </p:childTnLst>
                                </p:cTn>
                              </p:par>
                              <p:par>
                                <p:cTn id="24" presetID="10" presetClass="entr" presetSubtype="0" fill="hold" nodeType="withEffect">
                                  <p:stCondLst>
                                    <p:cond delay="0"/>
                                  </p:stCondLst>
                                  <p:childTnLst>
                                    <p:set>
                                      <p:cBhvr>
                                        <p:cTn id="25" dur="1" fill="hold">
                                          <p:stCondLst>
                                            <p:cond delay="0"/>
                                          </p:stCondLst>
                                        </p:cTn>
                                        <p:tgtEl>
                                          <p:spTgt spid="108"/>
                                        </p:tgtEl>
                                        <p:attrNameLst>
                                          <p:attrName>style.visibility</p:attrName>
                                        </p:attrNameLst>
                                      </p:cBhvr>
                                      <p:to>
                                        <p:strVal val="visible"/>
                                      </p:to>
                                    </p:set>
                                    <p:animEffect transition="in" filter="fade">
                                      <p:cBhvr>
                                        <p:cTn id="26" dur="500"/>
                                        <p:tgtEl>
                                          <p:spTgt spid="10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7"/>
                                        </p:tgtEl>
                                        <p:attrNameLst>
                                          <p:attrName>style.visibility</p:attrName>
                                        </p:attrNameLst>
                                      </p:cBhvr>
                                      <p:to>
                                        <p:strVal val="visible"/>
                                      </p:to>
                                    </p:set>
                                    <p:animEffect transition="in" filter="fade">
                                      <p:cBhvr>
                                        <p:cTn id="31" dur="500"/>
                                        <p:tgtEl>
                                          <p:spTgt spid="107"/>
                                        </p:tgtEl>
                                      </p:cBhvr>
                                    </p:animEffect>
                                  </p:childTnLst>
                                </p:cTn>
                              </p:par>
                              <p:par>
                                <p:cTn id="32" presetID="10" presetClass="entr" presetSubtype="0" fill="hold" nodeType="withEffect">
                                  <p:stCondLst>
                                    <p:cond delay="0"/>
                                  </p:stCondLst>
                                  <p:childTnLst>
                                    <p:set>
                                      <p:cBhvr>
                                        <p:cTn id="33" dur="1" fill="hold">
                                          <p:stCondLst>
                                            <p:cond delay="0"/>
                                          </p:stCondLst>
                                        </p:cTn>
                                        <p:tgtEl>
                                          <p:spTgt spid="111"/>
                                        </p:tgtEl>
                                        <p:attrNameLst>
                                          <p:attrName>style.visibility</p:attrName>
                                        </p:attrNameLst>
                                      </p:cBhvr>
                                      <p:to>
                                        <p:strVal val="visible"/>
                                      </p:to>
                                    </p:set>
                                    <p:animEffect transition="in" filter="fade">
                                      <p:cBhvr>
                                        <p:cTn id="34" dur="500"/>
                                        <p:tgtEl>
                                          <p:spTgt spid="11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90"/>
                                        </p:tgtEl>
                                        <p:attrNameLst>
                                          <p:attrName>style.visibility</p:attrName>
                                        </p:attrNameLst>
                                      </p:cBhvr>
                                      <p:to>
                                        <p:strVal val="visible"/>
                                      </p:to>
                                    </p:set>
                                    <p:animEffect transition="in" filter="fade">
                                      <p:cBhvr>
                                        <p:cTn id="54" dur="500"/>
                                        <p:tgtEl>
                                          <p:spTgt spid="9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91"/>
                                        </p:tgtEl>
                                        <p:attrNameLst>
                                          <p:attrName>style.visibility</p:attrName>
                                        </p:attrNameLst>
                                      </p:cBhvr>
                                      <p:to>
                                        <p:strVal val="visible"/>
                                      </p:to>
                                    </p:set>
                                    <p:animEffect transition="in" filter="fade">
                                      <p:cBhvr>
                                        <p:cTn id="57" dur="500"/>
                                        <p:tgtEl>
                                          <p:spTgt spid="9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92"/>
                                        </p:tgtEl>
                                        <p:attrNameLst>
                                          <p:attrName>style.visibility</p:attrName>
                                        </p:attrNameLst>
                                      </p:cBhvr>
                                      <p:to>
                                        <p:strVal val="visible"/>
                                      </p:to>
                                    </p:set>
                                    <p:animEffect transition="in" filter="fade">
                                      <p:cBhvr>
                                        <p:cTn id="60" dur="500"/>
                                        <p:tgtEl>
                                          <p:spTgt spid="9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93"/>
                                        </p:tgtEl>
                                        <p:attrNameLst>
                                          <p:attrName>style.visibility</p:attrName>
                                        </p:attrNameLst>
                                      </p:cBhvr>
                                      <p:to>
                                        <p:strVal val="visible"/>
                                      </p:to>
                                    </p:set>
                                    <p:animEffect transition="in" filter="fade">
                                      <p:cBhvr>
                                        <p:cTn id="63" dur="500"/>
                                        <p:tgtEl>
                                          <p:spTgt spid="9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95"/>
                                        </p:tgtEl>
                                        <p:attrNameLst>
                                          <p:attrName>style.visibility</p:attrName>
                                        </p:attrNameLst>
                                      </p:cBhvr>
                                      <p:to>
                                        <p:strVal val="visible"/>
                                      </p:to>
                                    </p:set>
                                    <p:animEffect transition="in" filter="fade">
                                      <p:cBhvr>
                                        <p:cTn id="66" dur="500"/>
                                        <p:tgtEl>
                                          <p:spTgt spid="95"/>
                                        </p:tgtEl>
                                      </p:cBhvr>
                                    </p:animEffect>
                                  </p:childTnLst>
                                </p:cTn>
                              </p:par>
                              <p:par>
                                <p:cTn id="67" presetID="10" presetClass="entr" presetSubtype="0" fill="hold" nodeType="withEffect">
                                  <p:stCondLst>
                                    <p:cond delay="0"/>
                                  </p:stCondLst>
                                  <p:childTnLst>
                                    <p:set>
                                      <p:cBhvr>
                                        <p:cTn id="68" dur="1" fill="hold">
                                          <p:stCondLst>
                                            <p:cond delay="0"/>
                                          </p:stCondLst>
                                        </p:cTn>
                                        <p:tgtEl>
                                          <p:spTgt spid="96"/>
                                        </p:tgtEl>
                                        <p:attrNameLst>
                                          <p:attrName>style.visibility</p:attrName>
                                        </p:attrNameLst>
                                      </p:cBhvr>
                                      <p:to>
                                        <p:strVal val="visible"/>
                                      </p:to>
                                    </p:set>
                                    <p:animEffect transition="in" filter="fade">
                                      <p:cBhvr>
                                        <p:cTn id="69" dur="500"/>
                                        <p:tgtEl>
                                          <p:spTgt spid="96"/>
                                        </p:tgtEl>
                                      </p:cBhvr>
                                    </p:animEffect>
                                  </p:childTnLst>
                                </p:cTn>
                              </p:par>
                              <p:par>
                                <p:cTn id="70" presetID="10" presetClass="entr" presetSubtype="0" fill="hold" nodeType="withEffect">
                                  <p:stCondLst>
                                    <p:cond delay="0"/>
                                  </p:stCondLst>
                                  <p:childTnLst>
                                    <p:set>
                                      <p:cBhvr>
                                        <p:cTn id="71" dur="1" fill="hold">
                                          <p:stCondLst>
                                            <p:cond delay="0"/>
                                          </p:stCondLst>
                                        </p:cTn>
                                        <p:tgtEl>
                                          <p:spTgt spid="103"/>
                                        </p:tgtEl>
                                        <p:attrNameLst>
                                          <p:attrName>style.visibility</p:attrName>
                                        </p:attrNameLst>
                                      </p:cBhvr>
                                      <p:to>
                                        <p:strVal val="visible"/>
                                      </p:to>
                                    </p:set>
                                    <p:animEffect transition="in" filter="fade">
                                      <p:cBhvr>
                                        <p:cTn id="72" dur="500"/>
                                        <p:tgtEl>
                                          <p:spTgt spid="103"/>
                                        </p:tgtEl>
                                      </p:cBhvr>
                                    </p:animEffect>
                                  </p:childTnLst>
                                </p:cTn>
                              </p:par>
                              <p:par>
                                <p:cTn id="73" presetID="10" presetClass="entr" presetSubtype="0" fill="hold" nodeType="withEffect">
                                  <p:stCondLst>
                                    <p:cond delay="0"/>
                                  </p:stCondLst>
                                  <p:childTnLst>
                                    <p:set>
                                      <p:cBhvr>
                                        <p:cTn id="74" dur="1" fill="hold">
                                          <p:stCondLst>
                                            <p:cond delay="0"/>
                                          </p:stCondLst>
                                        </p:cTn>
                                        <p:tgtEl>
                                          <p:spTgt spid="128"/>
                                        </p:tgtEl>
                                        <p:attrNameLst>
                                          <p:attrName>style.visibility</p:attrName>
                                        </p:attrNameLst>
                                      </p:cBhvr>
                                      <p:to>
                                        <p:strVal val="visible"/>
                                      </p:to>
                                    </p:set>
                                    <p:animEffect transition="in" filter="fade">
                                      <p:cBhvr>
                                        <p:cTn id="75" dur="500"/>
                                        <p:tgtEl>
                                          <p:spTgt spid="128"/>
                                        </p:tgtEl>
                                      </p:cBhvr>
                                    </p:animEffect>
                                  </p:childTnLst>
                                </p:cTn>
                              </p:par>
                              <p:par>
                                <p:cTn id="76" presetID="10" presetClass="entr" presetSubtype="0" fill="hold" nodeType="withEffect">
                                  <p:stCondLst>
                                    <p:cond delay="0"/>
                                  </p:stCondLst>
                                  <p:childTnLst>
                                    <p:set>
                                      <p:cBhvr>
                                        <p:cTn id="77" dur="1" fill="hold">
                                          <p:stCondLst>
                                            <p:cond delay="0"/>
                                          </p:stCondLst>
                                        </p:cTn>
                                        <p:tgtEl>
                                          <p:spTgt spid="144"/>
                                        </p:tgtEl>
                                        <p:attrNameLst>
                                          <p:attrName>style.visibility</p:attrName>
                                        </p:attrNameLst>
                                      </p:cBhvr>
                                      <p:to>
                                        <p:strVal val="visible"/>
                                      </p:to>
                                    </p:set>
                                    <p:animEffect transition="in" filter="fade">
                                      <p:cBhvr>
                                        <p:cTn id="78" dur="500"/>
                                        <p:tgtEl>
                                          <p:spTgt spid="144"/>
                                        </p:tgtEl>
                                      </p:cBhvr>
                                    </p:animEffect>
                                  </p:childTnLst>
                                </p:cTn>
                              </p:par>
                              <p:par>
                                <p:cTn id="79" presetID="10" presetClass="entr" presetSubtype="0" fill="hold" nodeType="withEffect">
                                  <p:stCondLst>
                                    <p:cond delay="0"/>
                                  </p:stCondLst>
                                  <p:childTnLst>
                                    <p:set>
                                      <p:cBhvr>
                                        <p:cTn id="80" dur="1" fill="hold">
                                          <p:stCondLst>
                                            <p:cond delay="0"/>
                                          </p:stCondLst>
                                        </p:cTn>
                                        <p:tgtEl>
                                          <p:spTgt spid="149"/>
                                        </p:tgtEl>
                                        <p:attrNameLst>
                                          <p:attrName>style.visibility</p:attrName>
                                        </p:attrNameLst>
                                      </p:cBhvr>
                                      <p:to>
                                        <p:strVal val="visible"/>
                                      </p:to>
                                    </p:set>
                                    <p:animEffect transition="in" filter="fade">
                                      <p:cBhvr>
                                        <p:cTn id="81" dur="500"/>
                                        <p:tgtEl>
                                          <p:spTgt spid="14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152"/>
                                        </p:tgtEl>
                                        <p:attrNameLst>
                                          <p:attrName>style.visibility</p:attrName>
                                        </p:attrNameLst>
                                      </p:cBhvr>
                                      <p:to>
                                        <p:strVal val="visible"/>
                                      </p:to>
                                    </p:set>
                                    <p:animEffect transition="in" filter="fade">
                                      <p:cBhvr>
                                        <p:cTn id="84" dur="500"/>
                                        <p:tgtEl>
                                          <p:spTgt spid="15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50"/>
                                        </p:tgtEl>
                                        <p:attrNameLst>
                                          <p:attrName>style.visibility</p:attrName>
                                        </p:attrNameLst>
                                      </p:cBhvr>
                                      <p:to>
                                        <p:strVal val="visible"/>
                                      </p:to>
                                    </p:set>
                                    <p:animEffect transition="in" filter="fade">
                                      <p:cBhvr>
                                        <p:cTn id="87" dur="500"/>
                                        <p:tgtEl>
                                          <p:spTgt spid="150"/>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500"/>
                                        <p:tgtEl>
                                          <p:spTgt spid="30"/>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500"/>
                                        <p:tgtEl>
                                          <p:spTgt spid="31"/>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500"/>
                                        <p:tgtEl>
                                          <p:spTgt spid="32"/>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500"/>
                                        <p:tgtEl>
                                          <p:spTgt spid="33"/>
                                        </p:tgtEl>
                                      </p:cBhvr>
                                    </p:animEffect>
                                  </p:childTnLst>
                                </p:cTn>
                              </p:par>
                              <p:par>
                                <p:cTn id="105" presetID="10" presetClass="entr" presetSubtype="0" fill="hold" nodeType="withEffect">
                                  <p:stCondLst>
                                    <p:cond delay="0"/>
                                  </p:stCondLst>
                                  <p:childTnLst>
                                    <p:set>
                                      <p:cBhvr>
                                        <p:cTn id="106" dur="1" fill="hold">
                                          <p:stCondLst>
                                            <p:cond delay="0"/>
                                          </p:stCondLst>
                                        </p:cTn>
                                        <p:tgtEl>
                                          <p:spTgt spid="86"/>
                                        </p:tgtEl>
                                        <p:attrNameLst>
                                          <p:attrName>style.visibility</p:attrName>
                                        </p:attrNameLst>
                                      </p:cBhvr>
                                      <p:to>
                                        <p:strVal val="visible"/>
                                      </p:to>
                                    </p:set>
                                    <p:animEffect transition="in" filter="fade">
                                      <p:cBhvr>
                                        <p:cTn id="107" dur="500"/>
                                        <p:tgtEl>
                                          <p:spTgt spid="86"/>
                                        </p:tgtEl>
                                      </p:cBhvr>
                                    </p:animEffect>
                                  </p:childTnLst>
                                </p:cTn>
                              </p:par>
                              <p:par>
                                <p:cTn id="108" presetID="10" presetClass="entr" presetSubtype="0" fill="hold" nodeType="withEffect">
                                  <p:stCondLst>
                                    <p:cond delay="0"/>
                                  </p:stCondLst>
                                  <p:childTnLst>
                                    <p:set>
                                      <p:cBhvr>
                                        <p:cTn id="109" dur="1" fill="hold">
                                          <p:stCondLst>
                                            <p:cond delay="0"/>
                                          </p:stCondLst>
                                        </p:cTn>
                                        <p:tgtEl>
                                          <p:spTgt spid="87"/>
                                        </p:tgtEl>
                                        <p:attrNameLst>
                                          <p:attrName>style.visibility</p:attrName>
                                        </p:attrNameLst>
                                      </p:cBhvr>
                                      <p:to>
                                        <p:strVal val="visible"/>
                                      </p:to>
                                    </p:set>
                                    <p:animEffect transition="in" filter="fade">
                                      <p:cBhvr>
                                        <p:cTn id="110" dur="500"/>
                                        <p:tgtEl>
                                          <p:spTgt spid="87"/>
                                        </p:tgtEl>
                                      </p:cBhvr>
                                    </p:animEffect>
                                  </p:childTnLst>
                                </p:cTn>
                              </p:par>
                              <p:par>
                                <p:cTn id="111" presetID="10" presetClass="entr" presetSubtype="0" fill="hold" nodeType="withEffect">
                                  <p:stCondLst>
                                    <p:cond delay="0"/>
                                  </p:stCondLst>
                                  <p:childTnLst>
                                    <p:set>
                                      <p:cBhvr>
                                        <p:cTn id="112" dur="1" fill="hold">
                                          <p:stCondLst>
                                            <p:cond delay="0"/>
                                          </p:stCondLst>
                                        </p:cTn>
                                        <p:tgtEl>
                                          <p:spTgt spid="88"/>
                                        </p:tgtEl>
                                        <p:attrNameLst>
                                          <p:attrName>style.visibility</p:attrName>
                                        </p:attrNameLst>
                                      </p:cBhvr>
                                      <p:to>
                                        <p:strVal val="visible"/>
                                      </p:to>
                                    </p:set>
                                    <p:animEffect transition="in" filter="fade">
                                      <p:cBhvr>
                                        <p:cTn id="113" dur="500"/>
                                        <p:tgtEl>
                                          <p:spTgt spid="88"/>
                                        </p:tgtEl>
                                      </p:cBhvr>
                                    </p:animEffect>
                                  </p:childTnLst>
                                </p:cTn>
                              </p:par>
                              <p:par>
                                <p:cTn id="114" presetID="10" presetClass="entr" presetSubtype="0" fill="hold" nodeType="withEffect">
                                  <p:stCondLst>
                                    <p:cond delay="0"/>
                                  </p:stCondLst>
                                  <p:childTnLst>
                                    <p:set>
                                      <p:cBhvr>
                                        <p:cTn id="115" dur="1" fill="hold">
                                          <p:stCondLst>
                                            <p:cond delay="0"/>
                                          </p:stCondLst>
                                        </p:cTn>
                                        <p:tgtEl>
                                          <p:spTgt spid="89"/>
                                        </p:tgtEl>
                                        <p:attrNameLst>
                                          <p:attrName>style.visibility</p:attrName>
                                        </p:attrNameLst>
                                      </p:cBhvr>
                                      <p:to>
                                        <p:strVal val="visible"/>
                                      </p:to>
                                    </p:set>
                                    <p:animEffect transition="in" filter="fade">
                                      <p:cBhvr>
                                        <p:cTn id="116" dur="500"/>
                                        <p:tgtEl>
                                          <p:spTgt spid="89"/>
                                        </p:tgtEl>
                                      </p:cBhvr>
                                    </p:animEffect>
                                  </p:childTnLst>
                                </p:cTn>
                              </p:par>
                              <p:par>
                                <p:cTn id="117" presetID="10" presetClass="entr" presetSubtype="0" fill="hold" nodeType="with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500"/>
                                        <p:tgtEl>
                                          <p:spTgt spid="38"/>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98"/>
                                        </p:tgtEl>
                                        <p:attrNameLst>
                                          <p:attrName>style.visibility</p:attrName>
                                        </p:attrNameLst>
                                      </p:cBhvr>
                                      <p:to>
                                        <p:strVal val="visible"/>
                                      </p:to>
                                    </p:set>
                                    <p:animEffect transition="in" filter="fade">
                                      <p:cBhvr>
                                        <p:cTn id="124" dur="500"/>
                                        <p:tgtEl>
                                          <p:spTgt spid="98"/>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99"/>
                                        </p:tgtEl>
                                        <p:attrNameLst>
                                          <p:attrName>style.visibility</p:attrName>
                                        </p:attrNameLst>
                                      </p:cBhvr>
                                      <p:to>
                                        <p:strVal val="visible"/>
                                      </p:to>
                                    </p:set>
                                    <p:animEffect transition="in" filter="fade">
                                      <p:cBhvr>
                                        <p:cTn id="127" dur="500"/>
                                        <p:tgtEl>
                                          <p:spTgt spid="99"/>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100"/>
                                        </p:tgtEl>
                                        <p:attrNameLst>
                                          <p:attrName>style.visibility</p:attrName>
                                        </p:attrNameLst>
                                      </p:cBhvr>
                                      <p:to>
                                        <p:strVal val="visible"/>
                                      </p:to>
                                    </p:set>
                                    <p:animEffect transition="in" filter="fade">
                                      <p:cBhvr>
                                        <p:cTn id="130" dur="500"/>
                                        <p:tgtEl>
                                          <p:spTgt spid="100"/>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101"/>
                                        </p:tgtEl>
                                        <p:attrNameLst>
                                          <p:attrName>style.visibility</p:attrName>
                                        </p:attrNameLst>
                                      </p:cBhvr>
                                      <p:to>
                                        <p:strVal val="visible"/>
                                      </p:to>
                                    </p:set>
                                    <p:animEffect transition="in" filter="fade">
                                      <p:cBhvr>
                                        <p:cTn id="133" dur="500"/>
                                        <p:tgtEl>
                                          <p:spTgt spid="101"/>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102"/>
                                        </p:tgtEl>
                                        <p:attrNameLst>
                                          <p:attrName>style.visibility</p:attrName>
                                        </p:attrNameLst>
                                      </p:cBhvr>
                                      <p:to>
                                        <p:strVal val="visible"/>
                                      </p:to>
                                    </p:set>
                                    <p:animEffect transition="in" filter="fade">
                                      <p:cBhvr>
                                        <p:cTn id="136" dur="500"/>
                                        <p:tgtEl>
                                          <p:spTgt spid="102"/>
                                        </p:tgtEl>
                                      </p:cBhvr>
                                    </p:animEffect>
                                  </p:childTnLst>
                                </p:cTn>
                              </p:par>
                              <p:par>
                                <p:cTn id="137" presetID="10" presetClass="entr" presetSubtype="0" fill="hold" nodeType="withEffect">
                                  <p:stCondLst>
                                    <p:cond delay="0"/>
                                  </p:stCondLst>
                                  <p:childTnLst>
                                    <p:set>
                                      <p:cBhvr>
                                        <p:cTn id="138" dur="1" fill="hold">
                                          <p:stCondLst>
                                            <p:cond delay="0"/>
                                          </p:stCondLst>
                                        </p:cTn>
                                        <p:tgtEl>
                                          <p:spTgt spid="3"/>
                                        </p:tgtEl>
                                        <p:attrNameLst>
                                          <p:attrName>style.visibility</p:attrName>
                                        </p:attrNameLst>
                                      </p:cBhvr>
                                      <p:to>
                                        <p:strVal val="visible"/>
                                      </p:to>
                                    </p:set>
                                    <p:animEffect transition="in" filter="fade">
                                      <p:cBhvr>
                                        <p:cTn id="139" dur="500"/>
                                        <p:tgtEl>
                                          <p:spTgt spid="3"/>
                                        </p:tgtEl>
                                      </p:cBhvr>
                                    </p:animEffec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nodeType="clickEffect">
                                  <p:stCondLst>
                                    <p:cond delay="0"/>
                                  </p:stCondLst>
                                  <p:childTnLst>
                                    <p:set>
                                      <p:cBhvr>
                                        <p:cTn id="143" dur="1" fill="hold">
                                          <p:stCondLst>
                                            <p:cond delay="0"/>
                                          </p:stCondLst>
                                        </p:cTn>
                                        <p:tgtEl>
                                          <p:spTgt spid="183"/>
                                        </p:tgtEl>
                                        <p:attrNameLst>
                                          <p:attrName>style.visibility</p:attrName>
                                        </p:attrNameLst>
                                      </p:cBhvr>
                                      <p:to>
                                        <p:strVal val="visible"/>
                                      </p:to>
                                    </p:set>
                                    <p:animEffect transition="in" filter="fade">
                                      <p:cBhvr>
                                        <p:cTn id="144" dur="500"/>
                                        <p:tgtEl>
                                          <p:spTgt spid="183"/>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122"/>
                                        </p:tgtEl>
                                        <p:attrNameLst>
                                          <p:attrName>style.visibility</p:attrName>
                                        </p:attrNameLst>
                                      </p:cBhvr>
                                      <p:to>
                                        <p:strVal val="visible"/>
                                      </p:to>
                                    </p:set>
                                    <p:animEffect transition="in" filter="fade">
                                      <p:cBhvr>
                                        <p:cTn id="147" dur="500"/>
                                        <p:tgtEl>
                                          <p:spTgt spid="122"/>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123"/>
                                        </p:tgtEl>
                                        <p:attrNameLst>
                                          <p:attrName>style.visibility</p:attrName>
                                        </p:attrNameLst>
                                      </p:cBhvr>
                                      <p:to>
                                        <p:strVal val="visible"/>
                                      </p:to>
                                    </p:set>
                                    <p:animEffect transition="in" filter="fade">
                                      <p:cBhvr>
                                        <p:cTn id="150" dur="500"/>
                                        <p:tgtEl>
                                          <p:spTgt spid="123"/>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124"/>
                                        </p:tgtEl>
                                        <p:attrNameLst>
                                          <p:attrName>style.visibility</p:attrName>
                                        </p:attrNameLst>
                                      </p:cBhvr>
                                      <p:to>
                                        <p:strVal val="visible"/>
                                      </p:to>
                                    </p:set>
                                    <p:animEffect transition="in" filter="fade">
                                      <p:cBhvr>
                                        <p:cTn id="153" dur="500"/>
                                        <p:tgtEl>
                                          <p:spTgt spid="124"/>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125"/>
                                        </p:tgtEl>
                                        <p:attrNameLst>
                                          <p:attrName>style.visibility</p:attrName>
                                        </p:attrNameLst>
                                      </p:cBhvr>
                                      <p:to>
                                        <p:strVal val="visible"/>
                                      </p:to>
                                    </p:set>
                                    <p:animEffect transition="in" filter="fade">
                                      <p:cBhvr>
                                        <p:cTn id="156" dur="500"/>
                                        <p:tgtEl>
                                          <p:spTgt spid="125"/>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126"/>
                                        </p:tgtEl>
                                        <p:attrNameLst>
                                          <p:attrName>style.visibility</p:attrName>
                                        </p:attrNameLst>
                                      </p:cBhvr>
                                      <p:to>
                                        <p:strVal val="visible"/>
                                      </p:to>
                                    </p:set>
                                    <p:animEffect transition="in" filter="fade">
                                      <p:cBhvr>
                                        <p:cTn id="159" dur="500"/>
                                        <p:tgtEl>
                                          <p:spTgt spid="126"/>
                                        </p:tgtEl>
                                      </p:cBhvr>
                                    </p:animEffect>
                                  </p:childTnLst>
                                </p:cTn>
                              </p:par>
                              <p:par>
                                <p:cTn id="160" presetID="10" presetClass="entr" presetSubtype="0" fill="hold" nodeType="withEffect">
                                  <p:stCondLst>
                                    <p:cond delay="0"/>
                                  </p:stCondLst>
                                  <p:childTnLst>
                                    <p:set>
                                      <p:cBhvr>
                                        <p:cTn id="161" dur="1" fill="hold">
                                          <p:stCondLst>
                                            <p:cond delay="0"/>
                                          </p:stCondLst>
                                        </p:cTn>
                                        <p:tgtEl>
                                          <p:spTgt spid="129"/>
                                        </p:tgtEl>
                                        <p:attrNameLst>
                                          <p:attrName>style.visibility</p:attrName>
                                        </p:attrNameLst>
                                      </p:cBhvr>
                                      <p:to>
                                        <p:strVal val="visible"/>
                                      </p:to>
                                    </p:set>
                                    <p:animEffect transition="in" filter="fade">
                                      <p:cBhvr>
                                        <p:cTn id="162" dur="500"/>
                                        <p:tgtEl>
                                          <p:spTgt spid="129"/>
                                        </p:tgtEl>
                                      </p:cBhvr>
                                    </p:animEffect>
                                  </p:childTnLst>
                                </p:cTn>
                              </p:par>
                              <p:par>
                                <p:cTn id="163" presetID="10" presetClass="entr" presetSubtype="0" fill="hold" nodeType="withEffect">
                                  <p:stCondLst>
                                    <p:cond delay="0"/>
                                  </p:stCondLst>
                                  <p:childTnLst>
                                    <p:set>
                                      <p:cBhvr>
                                        <p:cTn id="164" dur="1" fill="hold">
                                          <p:stCondLst>
                                            <p:cond delay="0"/>
                                          </p:stCondLst>
                                        </p:cTn>
                                        <p:tgtEl>
                                          <p:spTgt spid="130"/>
                                        </p:tgtEl>
                                        <p:attrNameLst>
                                          <p:attrName>style.visibility</p:attrName>
                                        </p:attrNameLst>
                                      </p:cBhvr>
                                      <p:to>
                                        <p:strVal val="visible"/>
                                      </p:to>
                                    </p:set>
                                    <p:animEffect transition="in" filter="fade">
                                      <p:cBhvr>
                                        <p:cTn id="165" dur="500"/>
                                        <p:tgtEl>
                                          <p:spTgt spid="130"/>
                                        </p:tgtEl>
                                      </p:cBhvr>
                                    </p:animEffect>
                                  </p:childTnLst>
                                </p:cTn>
                              </p:par>
                              <p:par>
                                <p:cTn id="166" presetID="10" presetClass="entr" presetSubtype="0" fill="hold" nodeType="withEffect">
                                  <p:stCondLst>
                                    <p:cond delay="0"/>
                                  </p:stCondLst>
                                  <p:childTnLst>
                                    <p:set>
                                      <p:cBhvr>
                                        <p:cTn id="167" dur="1" fill="hold">
                                          <p:stCondLst>
                                            <p:cond delay="0"/>
                                          </p:stCondLst>
                                        </p:cTn>
                                        <p:tgtEl>
                                          <p:spTgt spid="131"/>
                                        </p:tgtEl>
                                        <p:attrNameLst>
                                          <p:attrName>style.visibility</p:attrName>
                                        </p:attrNameLst>
                                      </p:cBhvr>
                                      <p:to>
                                        <p:strVal val="visible"/>
                                      </p:to>
                                    </p:set>
                                    <p:animEffect transition="in" filter="fade">
                                      <p:cBhvr>
                                        <p:cTn id="168" dur="500"/>
                                        <p:tgtEl>
                                          <p:spTgt spid="131"/>
                                        </p:tgtEl>
                                      </p:cBhvr>
                                    </p:animEffect>
                                  </p:childTnLst>
                                </p:cTn>
                              </p:par>
                              <p:par>
                                <p:cTn id="169" presetID="10" presetClass="entr" presetSubtype="0" fill="hold" nodeType="withEffect">
                                  <p:stCondLst>
                                    <p:cond delay="0"/>
                                  </p:stCondLst>
                                  <p:childTnLst>
                                    <p:set>
                                      <p:cBhvr>
                                        <p:cTn id="170" dur="1" fill="hold">
                                          <p:stCondLst>
                                            <p:cond delay="0"/>
                                          </p:stCondLst>
                                        </p:cTn>
                                        <p:tgtEl>
                                          <p:spTgt spid="132"/>
                                        </p:tgtEl>
                                        <p:attrNameLst>
                                          <p:attrName>style.visibility</p:attrName>
                                        </p:attrNameLst>
                                      </p:cBhvr>
                                      <p:to>
                                        <p:strVal val="visible"/>
                                      </p:to>
                                    </p:set>
                                    <p:animEffect transition="in" filter="fade">
                                      <p:cBhvr>
                                        <p:cTn id="171" dur="500"/>
                                        <p:tgtEl>
                                          <p:spTgt spid="132"/>
                                        </p:tgtEl>
                                      </p:cBhvr>
                                    </p:animEffect>
                                  </p:childTnLst>
                                </p:cTn>
                              </p:par>
                              <p:par>
                                <p:cTn id="172" presetID="10" presetClass="entr" presetSubtype="0" fill="hold" nodeType="withEffect">
                                  <p:stCondLst>
                                    <p:cond delay="0"/>
                                  </p:stCondLst>
                                  <p:childTnLst>
                                    <p:set>
                                      <p:cBhvr>
                                        <p:cTn id="173" dur="1" fill="hold">
                                          <p:stCondLst>
                                            <p:cond delay="0"/>
                                          </p:stCondLst>
                                        </p:cTn>
                                        <p:tgtEl>
                                          <p:spTgt spid="133"/>
                                        </p:tgtEl>
                                        <p:attrNameLst>
                                          <p:attrName>style.visibility</p:attrName>
                                        </p:attrNameLst>
                                      </p:cBhvr>
                                      <p:to>
                                        <p:strVal val="visible"/>
                                      </p:to>
                                    </p:set>
                                    <p:animEffect transition="in" filter="fade">
                                      <p:cBhvr>
                                        <p:cTn id="174" dur="500"/>
                                        <p:tgtEl>
                                          <p:spTgt spid="133"/>
                                        </p:tgtEl>
                                      </p:cBhvr>
                                    </p:animEffect>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grpId="0" nodeType="clickEffect">
                                  <p:stCondLst>
                                    <p:cond delay="0"/>
                                  </p:stCondLst>
                                  <p:childTnLst>
                                    <p:set>
                                      <p:cBhvr>
                                        <p:cTn id="178" dur="1" fill="hold">
                                          <p:stCondLst>
                                            <p:cond delay="0"/>
                                          </p:stCondLst>
                                        </p:cTn>
                                        <p:tgtEl>
                                          <p:spTgt spid="136"/>
                                        </p:tgtEl>
                                        <p:attrNameLst>
                                          <p:attrName>style.visibility</p:attrName>
                                        </p:attrNameLst>
                                      </p:cBhvr>
                                      <p:to>
                                        <p:strVal val="visible"/>
                                      </p:to>
                                    </p:set>
                                    <p:animEffect transition="in" filter="fade">
                                      <p:cBhvr>
                                        <p:cTn id="179" dur="500"/>
                                        <p:tgtEl>
                                          <p:spTgt spid="136"/>
                                        </p:tgtEl>
                                      </p:cBhvr>
                                    </p:animEffect>
                                  </p:childTnLst>
                                </p:cTn>
                              </p:par>
                              <p:par>
                                <p:cTn id="180" presetID="10" presetClass="entr" presetSubtype="0" fill="hold" grpId="0" nodeType="withEffect">
                                  <p:stCondLst>
                                    <p:cond delay="0"/>
                                  </p:stCondLst>
                                  <p:childTnLst>
                                    <p:set>
                                      <p:cBhvr>
                                        <p:cTn id="181" dur="1" fill="hold">
                                          <p:stCondLst>
                                            <p:cond delay="0"/>
                                          </p:stCondLst>
                                        </p:cTn>
                                        <p:tgtEl>
                                          <p:spTgt spid="137"/>
                                        </p:tgtEl>
                                        <p:attrNameLst>
                                          <p:attrName>style.visibility</p:attrName>
                                        </p:attrNameLst>
                                      </p:cBhvr>
                                      <p:to>
                                        <p:strVal val="visible"/>
                                      </p:to>
                                    </p:set>
                                    <p:animEffect transition="in" filter="fade">
                                      <p:cBhvr>
                                        <p:cTn id="182" dur="500"/>
                                        <p:tgtEl>
                                          <p:spTgt spid="137"/>
                                        </p:tgtEl>
                                      </p:cBhvr>
                                    </p:animEffect>
                                  </p:childTnLst>
                                </p:cTn>
                              </p:par>
                              <p:par>
                                <p:cTn id="183" presetID="10" presetClass="entr" presetSubtype="0" fill="hold" grpId="0" nodeType="withEffect">
                                  <p:stCondLst>
                                    <p:cond delay="0"/>
                                  </p:stCondLst>
                                  <p:childTnLst>
                                    <p:set>
                                      <p:cBhvr>
                                        <p:cTn id="184" dur="1" fill="hold">
                                          <p:stCondLst>
                                            <p:cond delay="0"/>
                                          </p:stCondLst>
                                        </p:cTn>
                                        <p:tgtEl>
                                          <p:spTgt spid="138"/>
                                        </p:tgtEl>
                                        <p:attrNameLst>
                                          <p:attrName>style.visibility</p:attrName>
                                        </p:attrNameLst>
                                      </p:cBhvr>
                                      <p:to>
                                        <p:strVal val="visible"/>
                                      </p:to>
                                    </p:set>
                                    <p:animEffect transition="in" filter="fade">
                                      <p:cBhvr>
                                        <p:cTn id="185" dur="500"/>
                                        <p:tgtEl>
                                          <p:spTgt spid="138"/>
                                        </p:tgtEl>
                                      </p:cBhvr>
                                    </p:animEffect>
                                  </p:childTnLst>
                                </p:cTn>
                              </p:par>
                              <p:par>
                                <p:cTn id="186" presetID="10" presetClass="entr" presetSubtype="0" fill="hold" grpId="0" nodeType="withEffect">
                                  <p:stCondLst>
                                    <p:cond delay="0"/>
                                  </p:stCondLst>
                                  <p:childTnLst>
                                    <p:set>
                                      <p:cBhvr>
                                        <p:cTn id="187" dur="1" fill="hold">
                                          <p:stCondLst>
                                            <p:cond delay="0"/>
                                          </p:stCondLst>
                                        </p:cTn>
                                        <p:tgtEl>
                                          <p:spTgt spid="139"/>
                                        </p:tgtEl>
                                        <p:attrNameLst>
                                          <p:attrName>style.visibility</p:attrName>
                                        </p:attrNameLst>
                                      </p:cBhvr>
                                      <p:to>
                                        <p:strVal val="visible"/>
                                      </p:to>
                                    </p:set>
                                    <p:animEffect transition="in" filter="fade">
                                      <p:cBhvr>
                                        <p:cTn id="188" dur="500"/>
                                        <p:tgtEl>
                                          <p:spTgt spid="139"/>
                                        </p:tgtEl>
                                      </p:cBhvr>
                                    </p:animEffect>
                                  </p:childTnLst>
                                </p:cTn>
                              </p:par>
                              <p:par>
                                <p:cTn id="189" presetID="10" presetClass="entr" presetSubtype="0" fill="hold" grpId="0" nodeType="withEffect">
                                  <p:stCondLst>
                                    <p:cond delay="0"/>
                                  </p:stCondLst>
                                  <p:childTnLst>
                                    <p:set>
                                      <p:cBhvr>
                                        <p:cTn id="190" dur="1" fill="hold">
                                          <p:stCondLst>
                                            <p:cond delay="0"/>
                                          </p:stCondLst>
                                        </p:cTn>
                                        <p:tgtEl>
                                          <p:spTgt spid="140"/>
                                        </p:tgtEl>
                                        <p:attrNameLst>
                                          <p:attrName>style.visibility</p:attrName>
                                        </p:attrNameLst>
                                      </p:cBhvr>
                                      <p:to>
                                        <p:strVal val="visible"/>
                                      </p:to>
                                    </p:set>
                                    <p:animEffect transition="in" filter="fade">
                                      <p:cBhvr>
                                        <p:cTn id="191" dur="500"/>
                                        <p:tgtEl>
                                          <p:spTgt spid="140"/>
                                        </p:tgtEl>
                                      </p:cBhvr>
                                    </p:animEffect>
                                  </p:childTnLst>
                                </p:cTn>
                              </p:par>
                              <p:par>
                                <p:cTn id="192" presetID="10" presetClass="entr" presetSubtype="0" fill="hold" nodeType="withEffect">
                                  <p:stCondLst>
                                    <p:cond delay="0"/>
                                  </p:stCondLst>
                                  <p:childTnLst>
                                    <p:set>
                                      <p:cBhvr>
                                        <p:cTn id="193" dur="1" fill="hold">
                                          <p:stCondLst>
                                            <p:cond delay="0"/>
                                          </p:stCondLst>
                                        </p:cTn>
                                        <p:tgtEl>
                                          <p:spTgt spid="157"/>
                                        </p:tgtEl>
                                        <p:attrNameLst>
                                          <p:attrName>style.visibility</p:attrName>
                                        </p:attrNameLst>
                                      </p:cBhvr>
                                      <p:to>
                                        <p:strVal val="visible"/>
                                      </p:to>
                                    </p:set>
                                    <p:animEffect transition="in" filter="fade">
                                      <p:cBhvr>
                                        <p:cTn id="194" dur="500"/>
                                        <p:tgtEl>
                                          <p:spTgt spid="157"/>
                                        </p:tgtEl>
                                      </p:cBhvr>
                                    </p:animEffect>
                                  </p:childTnLst>
                                </p:cTn>
                              </p:par>
                              <p:par>
                                <p:cTn id="195" presetID="10" presetClass="entr" presetSubtype="0" fill="hold" nodeType="withEffect">
                                  <p:stCondLst>
                                    <p:cond delay="0"/>
                                  </p:stCondLst>
                                  <p:childTnLst>
                                    <p:set>
                                      <p:cBhvr>
                                        <p:cTn id="196" dur="1" fill="hold">
                                          <p:stCondLst>
                                            <p:cond delay="0"/>
                                          </p:stCondLst>
                                        </p:cTn>
                                        <p:tgtEl>
                                          <p:spTgt spid="158"/>
                                        </p:tgtEl>
                                        <p:attrNameLst>
                                          <p:attrName>style.visibility</p:attrName>
                                        </p:attrNameLst>
                                      </p:cBhvr>
                                      <p:to>
                                        <p:strVal val="visible"/>
                                      </p:to>
                                    </p:set>
                                    <p:animEffect transition="in" filter="fade">
                                      <p:cBhvr>
                                        <p:cTn id="197" dur="500"/>
                                        <p:tgtEl>
                                          <p:spTgt spid="158"/>
                                        </p:tgtEl>
                                      </p:cBhvr>
                                    </p:animEffect>
                                  </p:childTnLst>
                                </p:cTn>
                              </p:par>
                              <p:par>
                                <p:cTn id="198" presetID="10" presetClass="entr" presetSubtype="0" fill="hold" nodeType="withEffect">
                                  <p:stCondLst>
                                    <p:cond delay="0"/>
                                  </p:stCondLst>
                                  <p:childTnLst>
                                    <p:set>
                                      <p:cBhvr>
                                        <p:cTn id="199" dur="1" fill="hold">
                                          <p:stCondLst>
                                            <p:cond delay="0"/>
                                          </p:stCondLst>
                                        </p:cTn>
                                        <p:tgtEl>
                                          <p:spTgt spid="161"/>
                                        </p:tgtEl>
                                        <p:attrNameLst>
                                          <p:attrName>style.visibility</p:attrName>
                                        </p:attrNameLst>
                                      </p:cBhvr>
                                      <p:to>
                                        <p:strVal val="visible"/>
                                      </p:to>
                                    </p:set>
                                    <p:animEffect transition="in" filter="fade">
                                      <p:cBhvr>
                                        <p:cTn id="200" dur="500"/>
                                        <p:tgtEl>
                                          <p:spTgt spid="161"/>
                                        </p:tgtEl>
                                      </p:cBhvr>
                                    </p:animEffect>
                                  </p:childTnLst>
                                </p:cTn>
                              </p:par>
                              <p:par>
                                <p:cTn id="201" presetID="10" presetClass="entr" presetSubtype="0" fill="hold" nodeType="withEffect">
                                  <p:stCondLst>
                                    <p:cond delay="0"/>
                                  </p:stCondLst>
                                  <p:childTnLst>
                                    <p:set>
                                      <p:cBhvr>
                                        <p:cTn id="202" dur="1" fill="hold">
                                          <p:stCondLst>
                                            <p:cond delay="0"/>
                                          </p:stCondLst>
                                        </p:cTn>
                                        <p:tgtEl>
                                          <p:spTgt spid="165"/>
                                        </p:tgtEl>
                                        <p:attrNameLst>
                                          <p:attrName>style.visibility</p:attrName>
                                        </p:attrNameLst>
                                      </p:cBhvr>
                                      <p:to>
                                        <p:strVal val="visible"/>
                                      </p:to>
                                    </p:set>
                                    <p:animEffect transition="in" filter="fade">
                                      <p:cBhvr>
                                        <p:cTn id="203" dur="500"/>
                                        <p:tgtEl>
                                          <p:spTgt spid="165"/>
                                        </p:tgtEl>
                                      </p:cBhvr>
                                    </p:animEffect>
                                  </p:childTnLst>
                                </p:cTn>
                              </p:par>
                              <p:par>
                                <p:cTn id="204" presetID="10" presetClass="entr" presetSubtype="0" fill="hold" nodeType="withEffect">
                                  <p:stCondLst>
                                    <p:cond delay="0"/>
                                  </p:stCondLst>
                                  <p:childTnLst>
                                    <p:set>
                                      <p:cBhvr>
                                        <p:cTn id="205" dur="1" fill="hold">
                                          <p:stCondLst>
                                            <p:cond delay="0"/>
                                          </p:stCondLst>
                                        </p:cTn>
                                        <p:tgtEl>
                                          <p:spTgt spid="168"/>
                                        </p:tgtEl>
                                        <p:attrNameLst>
                                          <p:attrName>style.visibility</p:attrName>
                                        </p:attrNameLst>
                                      </p:cBhvr>
                                      <p:to>
                                        <p:strVal val="visible"/>
                                      </p:to>
                                    </p:set>
                                    <p:animEffect transition="in" filter="fade">
                                      <p:cBhvr>
                                        <p:cTn id="206" dur="500"/>
                                        <p:tgtEl>
                                          <p:spTgt spid="168"/>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ntr" presetSubtype="0" fill="hold" grpId="0" nodeType="clickEffect">
                                  <p:stCondLst>
                                    <p:cond delay="0"/>
                                  </p:stCondLst>
                                  <p:childTnLst>
                                    <p:set>
                                      <p:cBhvr>
                                        <p:cTn id="210" dur="1" fill="hold">
                                          <p:stCondLst>
                                            <p:cond delay="0"/>
                                          </p:stCondLst>
                                        </p:cTn>
                                        <p:tgtEl>
                                          <p:spTgt spid="94"/>
                                        </p:tgtEl>
                                        <p:attrNameLst>
                                          <p:attrName>style.visibility</p:attrName>
                                        </p:attrNameLst>
                                      </p:cBhvr>
                                      <p:to>
                                        <p:strVal val="visible"/>
                                      </p:to>
                                    </p:set>
                                    <p:animEffect transition="in" filter="fade">
                                      <p:cBhvr>
                                        <p:cTn id="211" dur="500"/>
                                        <p:tgtEl>
                                          <p:spTgt spid="94"/>
                                        </p:tgtEl>
                                      </p:cBhvr>
                                    </p:animEffect>
                                  </p:childTnLst>
                                </p:cTn>
                              </p:par>
                              <p:par>
                                <p:cTn id="212" presetID="10" presetClass="entr" presetSubtype="0" fill="hold" grpId="0" nodeType="withEffect">
                                  <p:stCondLst>
                                    <p:cond delay="0"/>
                                  </p:stCondLst>
                                  <p:childTnLst>
                                    <p:set>
                                      <p:cBhvr>
                                        <p:cTn id="213" dur="1" fill="hold">
                                          <p:stCondLst>
                                            <p:cond delay="0"/>
                                          </p:stCondLst>
                                        </p:cTn>
                                        <p:tgtEl>
                                          <p:spTgt spid="106"/>
                                        </p:tgtEl>
                                        <p:attrNameLst>
                                          <p:attrName>style.visibility</p:attrName>
                                        </p:attrNameLst>
                                      </p:cBhvr>
                                      <p:to>
                                        <p:strVal val="visible"/>
                                      </p:to>
                                    </p:set>
                                    <p:animEffect transition="in" filter="fade">
                                      <p:cBhvr>
                                        <p:cTn id="214" dur="500"/>
                                        <p:tgtEl>
                                          <p:spTgt spid="106"/>
                                        </p:tgtEl>
                                      </p:cBhvr>
                                    </p:animEffect>
                                  </p:childTnLst>
                                </p:cTn>
                              </p:par>
                              <p:par>
                                <p:cTn id="215" presetID="10" presetClass="entr" presetSubtype="0" fill="hold" grpId="0" nodeType="withEffect">
                                  <p:stCondLst>
                                    <p:cond delay="0"/>
                                  </p:stCondLst>
                                  <p:childTnLst>
                                    <p:set>
                                      <p:cBhvr>
                                        <p:cTn id="216" dur="1" fill="hold">
                                          <p:stCondLst>
                                            <p:cond delay="0"/>
                                          </p:stCondLst>
                                        </p:cTn>
                                        <p:tgtEl>
                                          <p:spTgt spid="112"/>
                                        </p:tgtEl>
                                        <p:attrNameLst>
                                          <p:attrName>style.visibility</p:attrName>
                                        </p:attrNameLst>
                                      </p:cBhvr>
                                      <p:to>
                                        <p:strVal val="visible"/>
                                      </p:to>
                                    </p:set>
                                    <p:animEffect transition="in" filter="fade">
                                      <p:cBhvr>
                                        <p:cTn id="217" dur="500"/>
                                        <p:tgtEl>
                                          <p:spTgt spid="112"/>
                                        </p:tgtEl>
                                      </p:cBhvr>
                                    </p:animEffect>
                                  </p:childTnLst>
                                </p:cTn>
                              </p:par>
                              <p:par>
                                <p:cTn id="218" presetID="10" presetClass="entr" presetSubtype="0" fill="hold" grpId="0" nodeType="withEffect">
                                  <p:stCondLst>
                                    <p:cond delay="0"/>
                                  </p:stCondLst>
                                  <p:childTnLst>
                                    <p:set>
                                      <p:cBhvr>
                                        <p:cTn id="219" dur="1" fill="hold">
                                          <p:stCondLst>
                                            <p:cond delay="0"/>
                                          </p:stCondLst>
                                        </p:cTn>
                                        <p:tgtEl>
                                          <p:spTgt spid="115"/>
                                        </p:tgtEl>
                                        <p:attrNameLst>
                                          <p:attrName>style.visibility</p:attrName>
                                        </p:attrNameLst>
                                      </p:cBhvr>
                                      <p:to>
                                        <p:strVal val="visible"/>
                                      </p:to>
                                    </p:set>
                                    <p:animEffect transition="in" filter="fade">
                                      <p:cBhvr>
                                        <p:cTn id="220" dur="500"/>
                                        <p:tgtEl>
                                          <p:spTgt spid="115"/>
                                        </p:tgtEl>
                                      </p:cBhvr>
                                    </p:animEffect>
                                  </p:childTnLst>
                                </p:cTn>
                              </p:par>
                              <p:par>
                                <p:cTn id="221" presetID="10" presetClass="entr" presetSubtype="0" fill="hold" grpId="0" nodeType="withEffect">
                                  <p:stCondLst>
                                    <p:cond delay="0"/>
                                  </p:stCondLst>
                                  <p:childTnLst>
                                    <p:set>
                                      <p:cBhvr>
                                        <p:cTn id="222" dur="1" fill="hold">
                                          <p:stCondLst>
                                            <p:cond delay="0"/>
                                          </p:stCondLst>
                                        </p:cTn>
                                        <p:tgtEl>
                                          <p:spTgt spid="117"/>
                                        </p:tgtEl>
                                        <p:attrNameLst>
                                          <p:attrName>style.visibility</p:attrName>
                                        </p:attrNameLst>
                                      </p:cBhvr>
                                      <p:to>
                                        <p:strVal val="visible"/>
                                      </p:to>
                                    </p:set>
                                    <p:animEffect transition="in" filter="fade">
                                      <p:cBhvr>
                                        <p:cTn id="223" dur="500"/>
                                        <p:tgtEl>
                                          <p:spTgt spid="117"/>
                                        </p:tgtEl>
                                      </p:cBhvr>
                                    </p:animEffect>
                                  </p:childTnLst>
                                </p:cTn>
                              </p:par>
                              <p:par>
                                <p:cTn id="224" presetID="10" presetClass="entr" presetSubtype="0" fill="hold" nodeType="withEffect">
                                  <p:stCondLst>
                                    <p:cond delay="0"/>
                                  </p:stCondLst>
                                  <p:childTnLst>
                                    <p:set>
                                      <p:cBhvr>
                                        <p:cTn id="225" dur="1" fill="hold">
                                          <p:stCondLst>
                                            <p:cond delay="0"/>
                                          </p:stCondLst>
                                        </p:cTn>
                                        <p:tgtEl>
                                          <p:spTgt spid="141"/>
                                        </p:tgtEl>
                                        <p:attrNameLst>
                                          <p:attrName>style.visibility</p:attrName>
                                        </p:attrNameLst>
                                      </p:cBhvr>
                                      <p:to>
                                        <p:strVal val="visible"/>
                                      </p:to>
                                    </p:set>
                                    <p:animEffect transition="in" filter="fade">
                                      <p:cBhvr>
                                        <p:cTn id="226" dur="500"/>
                                        <p:tgtEl>
                                          <p:spTgt spid="141"/>
                                        </p:tgtEl>
                                      </p:cBhvr>
                                    </p:animEffect>
                                  </p:childTnLst>
                                </p:cTn>
                              </p:par>
                              <p:par>
                                <p:cTn id="227" presetID="10" presetClass="entr" presetSubtype="0" fill="hold" nodeType="withEffect">
                                  <p:stCondLst>
                                    <p:cond delay="0"/>
                                  </p:stCondLst>
                                  <p:childTnLst>
                                    <p:set>
                                      <p:cBhvr>
                                        <p:cTn id="228" dur="1" fill="hold">
                                          <p:stCondLst>
                                            <p:cond delay="0"/>
                                          </p:stCondLst>
                                        </p:cTn>
                                        <p:tgtEl>
                                          <p:spTgt spid="142"/>
                                        </p:tgtEl>
                                        <p:attrNameLst>
                                          <p:attrName>style.visibility</p:attrName>
                                        </p:attrNameLst>
                                      </p:cBhvr>
                                      <p:to>
                                        <p:strVal val="visible"/>
                                      </p:to>
                                    </p:set>
                                    <p:animEffect transition="in" filter="fade">
                                      <p:cBhvr>
                                        <p:cTn id="229" dur="500"/>
                                        <p:tgtEl>
                                          <p:spTgt spid="142"/>
                                        </p:tgtEl>
                                      </p:cBhvr>
                                    </p:animEffect>
                                  </p:childTnLst>
                                </p:cTn>
                              </p:par>
                              <p:par>
                                <p:cTn id="230" presetID="10" presetClass="entr" presetSubtype="0" fill="hold" nodeType="withEffect">
                                  <p:stCondLst>
                                    <p:cond delay="0"/>
                                  </p:stCondLst>
                                  <p:childTnLst>
                                    <p:set>
                                      <p:cBhvr>
                                        <p:cTn id="231" dur="1" fill="hold">
                                          <p:stCondLst>
                                            <p:cond delay="0"/>
                                          </p:stCondLst>
                                        </p:cTn>
                                        <p:tgtEl>
                                          <p:spTgt spid="145"/>
                                        </p:tgtEl>
                                        <p:attrNameLst>
                                          <p:attrName>style.visibility</p:attrName>
                                        </p:attrNameLst>
                                      </p:cBhvr>
                                      <p:to>
                                        <p:strVal val="visible"/>
                                      </p:to>
                                    </p:set>
                                    <p:animEffect transition="in" filter="fade">
                                      <p:cBhvr>
                                        <p:cTn id="232" dur="500"/>
                                        <p:tgtEl>
                                          <p:spTgt spid="145"/>
                                        </p:tgtEl>
                                      </p:cBhvr>
                                    </p:animEffect>
                                  </p:childTnLst>
                                </p:cTn>
                              </p:par>
                              <p:par>
                                <p:cTn id="233" presetID="10" presetClass="entr" presetSubtype="0" fill="hold" nodeType="withEffect">
                                  <p:stCondLst>
                                    <p:cond delay="0"/>
                                  </p:stCondLst>
                                  <p:childTnLst>
                                    <p:set>
                                      <p:cBhvr>
                                        <p:cTn id="234" dur="1" fill="hold">
                                          <p:stCondLst>
                                            <p:cond delay="0"/>
                                          </p:stCondLst>
                                        </p:cTn>
                                        <p:tgtEl>
                                          <p:spTgt spid="148"/>
                                        </p:tgtEl>
                                        <p:attrNameLst>
                                          <p:attrName>style.visibility</p:attrName>
                                        </p:attrNameLst>
                                      </p:cBhvr>
                                      <p:to>
                                        <p:strVal val="visible"/>
                                      </p:to>
                                    </p:set>
                                    <p:animEffect transition="in" filter="fade">
                                      <p:cBhvr>
                                        <p:cTn id="235" dur="500"/>
                                        <p:tgtEl>
                                          <p:spTgt spid="148"/>
                                        </p:tgtEl>
                                      </p:cBhvr>
                                    </p:animEffect>
                                  </p:childTnLst>
                                </p:cTn>
                              </p:par>
                              <p:par>
                                <p:cTn id="236" presetID="10" presetClass="entr" presetSubtype="0" fill="hold" nodeType="withEffect">
                                  <p:stCondLst>
                                    <p:cond delay="0"/>
                                  </p:stCondLst>
                                  <p:childTnLst>
                                    <p:set>
                                      <p:cBhvr>
                                        <p:cTn id="237" dur="1" fill="hold">
                                          <p:stCondLst>
                                            <p:cond delay="0"/>
                                          </p:stCondLst>
                                        </p:cTn>
                                        <p:tgtEl>
                                          <p:spTgt spid="151"/>
                                        </p:tgtEl>
                                        <p:attrNameLst>
                                          <p:attrName>style.visibility</p:attrName>
                                        </p:attrNameLst>
                                      </p:cBhvr>
                                      <p:to>
                                        <p:strVal val="visible"/>
                                      </p:to>
                                    </p:set>
                                    <p:animEffect transition="in" filter="fade">
                                      <p:cBhvr>
                                        <p:cTn id="238" dur="500"/>
                                        <p:tgtEl>
                                          <p:spTgt spid="151"/>
                                        </p:tgtEl>
                                      </p:cBhvr>
                                    </p:animEffect>
                                  </p:childTnLst>
                                </p:cTn>
                              </p:par>
                            </p:childTnLst>
                          </p:cTn>
                        </p:par>
                      </p:childTnLst>
                    </p:cTn>
                  </p:par>
                  <p:par>
                    <p:cTn id="239" fill="hold">
                      <p:stCondLst>
                        <p:cond delay="indefinite"/>
                      </p:stCondLst>
                      <p:childTnLst>
                        <p:par>
                          <p:cTn id="240" fill="hold">
                            <p:stCondLst>
                              <p:cond delay="0"/>
                            </p:stCondLst>
                            <p:childTnLst>
                              <p:par>
                                <p:cTn id="241" presetID="10" presetClass="entr" presetSubtype="0" fill="hold" grpId="0" nodeType="clickEffect">
                                  <p:stCondLst>
                                    <p:cond delay="0"/>
                                  </p:stCondLst>
                                  <p:childTnLst>
                                    <p:set>
                                      <p:cBhvr>
                                        <p:cTn id="242" dur="1" fill="hold">
                                          <p:stCondLst>
                                            <p:cond delay="0"/>
                                          </p:stCondLst>
                                        </p:cTn>
                                        <p:tgtEl>
                                          <p:spTgt spid="134"/>
                                        </p:tgtEl>
                                        <p:attrNameLst>
                                          <p:attrName>style.visibility</p:attrName>
                                        </p:attrNameLst>
                                      </p:cBhvr>
                                      <p:to>
                                        <p:strVal val="visible"/>
                                      </p:to>
                                    </p:set>
                                    <p:animEffect transition="in" filter="fade">
                                      <p:cBhvr>
                                        <p:cTn id="243" dur="500"/>
                                        <p:tgtEl>
                                          <p:spTgt spid="134"/>
                                        </p:tgtEl>
                                      </p:cBhvr>
                                    </p:animEffect>
                                  </p:childTnLst>
                                </p:cTn>
                              </p:par>
                              <p:par>
                                <p:cTn id="244" presetID="10" presetClass="entr" presetSubtype="0" fill="hold" nodeType="withEffect">
                                  <p:stCondLst>
                                    <p:cond delay="0"/>
                                  </p:stCondLst>
                                  <p:childTnLst>
                                    <p:set>
                                      <p:cBhvr>
                                        <p:cTn id="245" dur="1" fill="hold">
                                          <p:stCondLst>
                                            <p:cond delay="0"/>
                                          </p:stCondLst>
                                        </p:cTn>
                                        <p:tgtEl>
                                          <p:spTgt spid="135"/>
                                        </p:tgtEl>
                                        <p:attrNameLst>
                                          <p:attrName>style.visibility</p:attrName>
                                        </p:attrNameLst>
                                      </p:cBhvr>
                                      <p:to>
                                        <p:strVal val="visible"/>
                                      </p:to>
                                    </p:set>
                                    <p:animEffect transition="in" filter="fade">
                                      <p:cBhvr>
                                        <p:cTn id="246" dur="500"/>
                                        <p:tgtEl>
                                          <p:spTgt spid="135"/>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143"/>
                                        </p:tgtEl>
                                        <p:attrNameLst>
                                          <p:attrName>style.visibility</p:attrName>
                                        </p:attrNameLst>
                                      </p:cBhvr>
                                      <p:to>
                                        <p:strVal val="visible"/>
                                      </p:to>
                                    </p:set>
                                    <p:animEffect transition="in" filter="fade">
                                      <p:cBhvr>
                                        <p:cTn id="249"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9" grpId="0" animBg="1"/>
      <p:bldP spid="30" grpId="0" animBg="1"/>
      <p:bldP spid="31" grpId="0" animBg="1"/>
      <p:bldP spid="32" grpId="0" animBg="1"/>
      <p:bldP spid="33" grpId="0" animBg="1"/>
      <p:bldP spid="63" grpId="0" animBg="1"/>
      <p:bldP spid="97" grpId="0" animBg="1"/>
      <p:bldP spid="98" grpId="0" animBg="1"/>
      <p:bldP spid="99" grpId="0" animBg="1"/>
      <p:bldP spid="100" grpId="0" animBg="1"/>
      <p:bldP spid="101" grpId="0" animBg="1"/>
      <p:bldP spid="102" grpId="0" animBg="1"/>
      <p:bldP spid="107" grpId="0" animBg="1"/>
      <p:bldP spid="122" grpId="0" animBg="1"/>
      <p:bldP spid="123" grpId="0" animBg="1"/>
      <p:bldP spid="124" grpId="0" animBg="1"/>
      <p:bldP spid="125" grpId="0" animBg="1"/>
      <p:bldP spid="126" grpId="0" animBg="1"/>
      <p:bldP spid="136" grpId="0" animBg="1"/>
      <p:bldP spid="137" grpId="0" animBg="1"/>
      <p:bldP spid="138" grpId="0" animBg="1"/>
      <p:bldP spid="139" grpId="0" animBg="1"/>
      <p:bldP spid="140" grpId="0" animBg="1"/>
      <p:bldP spid="94" grpId="0" animBg="1"/>
      <p:bldP spid="106" grpId="0" animBg="1"/>
      <p:bldP spid="112" grpId="0" animBg="1"/>
      <p:bldP spid="115" grpId="0" animBg="1"/>
      <p:bldP spid="117" grpId="0" animBg="1"/>
      <p:bldP spid="104" grpId="0" animBg="1"/>
      <p:bldP spid="134" grpId="0" animBg="1"/>
      <p:bldP spid="143" grpId="0"/>
      <p:bldP spid="90" grpId="0" animBg="1"/>
      <p:bldP spid="91" grpId="0" animBg="1"/>
      <p:bldP spid="92" grpId="0" animBg="1"/>
      <p:bldP spid="93" grpId="0" animBg="1"/>
      <p:bldP spid="95" grpId="0" animBg="1"/>
      <p:bldP spid="150" grpId="0"/>
      <p:bldP spid="152" grpId="0"/>
      <p:bldP spid="15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p:txBody>
          <a:bodyPr/>
          <a:lstStyle/>
          <a:p>
            <a:r>
              <a:rPr lang="en-US" dirty="0" smtClean="0"/>
              <a:t>IDS vs. BSaM</a:t>
            </a:r>
            <a:endParaRPr lang="en-US" dirty="0"/>
          </a:p>
        </p:txBody>
      </p:sp>
      <p:sp>
        <p:nvSpPr>
          <p:cNvPr id="2" name="Title 1"/>
          <p:cNvSpPr>
            <a:spLocks noGrp="1"/>
          </p:cNvSpPr>
          <p:nvPr>
            <p:ph type="title"/>
          </p:nvPr>
        </p:nvSpPr>
        <p:spPr/>
        <p:txBody>
          <a:bodyPr/>
          <a:lstStyle/>
          <a:p>
            <a:r>
              <a:rPr lang="en-US" dirty="0" smtClean="0"/>
              <a:t>ODM Build Trigger Process</a:t>
            </a:r>
            <a:endParaRPr lang="en-US" sz="2000" dirty="0"/>
          </a:p>
        </p:txBody>
      </p:sp>
      <p:sp>
        <p:nvSpPr>
          <p:cNvPr id="3" name="Content Placeholder 2"/>
          <p:cNvSpPr>
            <a:spLocks noGrp="1"/>
          </p:cNvSpPr>
          <p:nvPr>
            <p:ph sz="quarter" idx="10"/>
          </p:nvPr>
        </p:nvSpPr>
        <p:spPr>
          <a:xfrm>
            <a:off x="329184" y="1059182"/>
            <a:ext cx="8119872" cy="3228975"/>
          </a:xfrm>
        </p:spPr>
        <p:txBody>
          <a:bodyPr/>
          <a:lstStyle/>
          <a:p>
            <a:pPr marL="285750" indent="-285750">
              <a:buFont typeface="Arial" pitchFamily="34" charset="0"/>
              <a:buChar char="•"/>
            </a:pPr>
            <a:r>
              <a:rPr lang="en-US" sz="1600" dirty="0" smtClean="0"/>
              <a:t>IDS NACC Build Trigger ODM Process (Current)</a:t>
            </a:r>
          </a:p>
          <a:p>
            <a:endParaRPr lang="en-US" sz="1600" dirty="0"/>
          </a:p>
          <a:p>
            <a:endParaRPr lang="en-US" sz="1600" dirty="0" smtClean="0"/>
          </a:p>
          <a:p>
            <a:endParaRPr lang="en-US" sz="1600" dirty="0"/>
          </a:p>
          <a:p>
            <a:endParaRPr lang="en-US" sz="1600" dirty="0" smtClean="0"/>
          </a:p>
          <a:p>
            <a:endParaRPr lang="en-US" sz="1600" dirty="0"/>
          </a:p>
          <a:p>
            <a:pPr marL="285750" indent="-285750">
              <a:buFont typeface="Arial" pitchFamily="34" charset="0"/>
              <a:buChar char="•"/>
            </a:pPr>
            <a:r>
              <a:rPr lang="en-US" sz="1600" dirty="0" smtClean="0"/>
              <a:t>BSaM NACC Build Trigger ODM Process (Future)</a:t>
            </a:r>
            <a:endParaRPr lang="en-US" sz="1600" dirty="0"/>
          </a:p>
        </p:txBody>
      </p:sp>
      <p:sp>
        <p:nvSpPr>
          <p:cNvPr id="35" name="TextBox 34"/>
          <p:cNvSpPr txBox="1"/>
          <p:nvPr/>
        </p:nvSpPr>
        <p:spPr>
          <a:xfrm>
            <a:off x="952517" y="4116049"/>
            <a:ext cx="5827236" cy="707886"/>
          </a:xfrm>
          <a:prstGeom prst="rect">
            <a:avLst/>
          </a:prstGeom>
          <a:noFill/>
        </p:spPr>
        <p:txBody>
          <a:bodyPr wrap="none" rtlCol="0">
            <a:spAutoFit/>
          </a:bodyPr>
          <a:lstStyle/>
          <a:p>
            <a:pPr marL="171450" indent="-171450" defTabSz="914400" fontAlgn="base">
              <a:spcBef>
                <a:spcPct val="0"/>
              </a:spcBef>
              <a:spcAft>
                <a:spcPct val="0"/>
              </a:spcAft>
              <a:buFont typeface="Arial" pitchFamily="34" charset="0"/>
              <a:buChar char="•"/>
            </a:pPr>
            <a:r>
              <a:rPr lang="en-US" sz="1000" dirty="0" smtClean="0">
                <a:solidFill>
                  <a:prstClr val="black">
                    <a:lumMod val="65000"/>
                    <a:lumOff val="35000"/>
                  </a:prstClr>
                </a:solidFill>
                <a:latin typeface="Arial" charset="0"/>
              </a:rPr>
              <a:t>Build Trigger sent through EDI830/850 in advance to ODM (EDI830 decision is not part of BSaM)</a:t>
            </a:r>
          </a:p>
          <a:p>
            <a:pPr marL="171450" indent="-171450" defTabSz="914400" fontAlgn="base">
              <a:spcBef>
                <a:spcPct val="0"/>
              </a:spcBef>
              <a:spcAft>
                <a:spcPct val="0"/>
              </a:spcAft>
              <a:buFont typeface="Arial" pitchFamily="34" charset="0"/>
              <a:buChar char="•"/>
            </a:pPr>
            <a:r>
              <a:rPr lang="en-US" sz="1000" dirty="0" smtClean="0">
                <a:solidFill>
                  <a:prstClr val="black">
                    <a:lumMod val="65000"/>
                    <a:lumOff val="35000"/>
                  </a:prstClr>
                </a:solidFill>
                <a:latin typeface="Arial" charset="0"/>
              </a:rPr>
              <a:t>No Customer Orders are sent to ODM</a:t>
            </a:r>
          </a:p>
          <a:p>
            <a:pPr marL="171450" indent="-171450" defTabSz="914400" fontAlgn="base">
              <a:spcBef>
                <a:spcPct val="0"/>
              </a:spcBef>
              <a:spcAft>
                <a:spcPct val="0"/>
              </a:spcAft>
              <a:buFont typeface="Arial" pitchFamily="34" charset="0"/>
              <a:buChar char="•"/>
            </a:pPr>
            <a:r>
              <a:rPr lang="en-US" sz="1000" dirty="0" smtClean="0">
                <a:solidFill>
                  <a:prstClr val="black">
                    <a:lumMod val="65000"/>
                    <a:lumOff val="35000"/>
                  </a:prstClr>
                </a:solidFill>
                <a:latin typeface="Arial" charset="0"/>
              </a:rPr>
              <a:t>PO leadtime will be extended longer than the standard BTO leadtime for Build Trigger.  </a:t>
            </a:r>
          </a:p>
          <a:p>
            <a:pPr marL="171450" indent="-171450" defTabSz="914400" fontAlgn="base">
              <a:spcBef>
                <a:spcPct val="0"/>
              </a:spcBef>
              <a:spcAft>
                <a:spcPct val="0"/>
              </a:spcAft>
              <a:buFont typeface="Arial" pitchFamily="34" charset="0"/>
              <a:buChar char="•"/>
            </a:pPr>
            <a:r>
              <a:rPr lang="en-US" sz="1000" dirty="0" smtClean="0">
                <a:solidFill>
                  <a:prstClr val="black">
                    <a:lumMod val="65000"/>
                    <a:lumOff val="35000"/>
                  </a:prstClr>
                </a:solidFill>
                <a:latin typeface="Arial" charset="0"/>
              </a:rPr>
              <a:t>RSD (Requested Ship Date) required for ODM performance validation </a:t>
            </a:r>
            <a:endParaRPr lang="en-US" sz="1000" dirty="0">
              <a:solidFill>
                <a:prstClr val="black">
                  <a:lumMod val="65000"/>
                  <a:lumOff val="35000"/>
                </a:prstClr>
              </a:solidFill>
              <a:latin typeface="Arial" charset="0"/>
            </a:endParaRPr>
          </a:p>
        </p:txBody>
      </p:sp>
      <p:sp>
        <p:nvSpPr>
          <p:cNvPr id="36" name="TextBox 35"/>
          <p:cNvSpPr txBox="1"/>
          <p:nvPr/>
        </p:nvSpPr>
        <p:spPr>
          <a:xfrm>
            <a:off x="922883" y="2260508"/>
            <a:ext cx="6141425" cy="553998"/>
          </a:xfrm>
          <a:prstGeom prst="rect">
            <a:avLst/>
          </a:prstGeom>
          <a:noFill/>
        </p:spPr>
        <p:txBody>
          <a:bodyPr wrap="none" rtlCol="0">
            <a:spAutoFit/>
          </a:bodyPr>
          <a:lstStyle/>
          <a:p>
            <a:pPr marL="171450" indent="-171450" defTabSz="914400" fontAlgn="base">
              <a:spcBef>
                <a:spcPct val="0"/>
              </a:spcBef>
              <a:spcAft>
                <a:spcPct val="0"/>
              </a:spcAft>
              <a:buFont typeface="Arial" pitchFamily="34" charset="0"/>
              <a:buChar char="•"/>
            </a:pPr>
            <a:r>
              <a:rPr lang="en-US" sz="1000" dirty="0" smtClean="0">
                <a:solidFill>
                  <a:prstClr val="black">
                    <a:lumMod val="65000"/>
                    <a:lumOff val="35000"/>
                  </a:prstClr>
                </a:solidFill>
                <a:latin typeface="Arial" charset="0"/>
              </a:rPr>
              <a:t>Build Trigger commitment is obtained from Customer (Retail) prior to receiving of Customer Orders</a:t>
            </a:r>
          </a:p>
          <a:p>
            <a:pPr marL="171450" indent="-171450" defTabSz="914400" fontAlgn="base">
              <a:spcBef>
                <a:spcPct val="0"/>
              </a:spcBef>
              <a:spcAft>
                <a:spcPct val="0"/>
              </a:spcAft>
              <a:buFont typeface="Arial" pitchFamily="34" charset="0"/>
              <a:buChar char="•"/>
            </a:pPr>
            <a:r>
              <a:rPr lang="en-US" sz="1000" dirty="0" smtClean="0">
                <a:solidFill>
                  <a:prstClr val="black">
                    <a:lumMod val="65000"/>
                    <a:lumOff val="35000"/>
                  </a:prstClr>
                </a:solidFill>
                <a:latin typeface="Arial" charset="0"/>
              </a:rPr>
              <a:t>Build Trigger File is provided in advance so that ODM can begin pre-build to meet high volume request</a:t>
            </a:r>
          </a:p>
          <a:p>
            <a:pPr marL="171450" indent="-171450" defTabSz="914400" fontAlgn="base">
              <a:spcBef>
                <a:spcPct val="0"/>
              </a:spcBef>
              <a:spcAft>
                <a:spcPct val="0"/>
              </a:spcAft>
              <a:buFont typeface="Arial" pitchFamily="34" charset="0"/>
              <a:buChar char="•"/>
            </a:pPr>
            <a:r>
              <a:rPr lang="en-US" sz="1000" dirty="0" smtClean="0">
                <a:solidFill>
                  <a:prstClr val="black">
                    <a:lumMod val="65000"/>
                    <a:lumOff val="35000"/>
                  </a:prstClr>
                </a:solidFill>
                <a:latin typeface="Arial" charset="0"/>
              </a:rPr>
              <a:t>Customer Orders are sent to ODM with specific ship-to information</a:t>
            </a:r>
          </a:p>
        </p:txBody>
      </p:sp>
      <p:sp>
        <p:nvSpPr>
          <p:cNvPr id="37" name="TextBox 36"/>
          <p:cNvSpPr txBox="1"/>
          <p:nvPr/>
        </p:nvSpPr>
        <p:spPr>
          <a:xfrm>
            <a:off x="4901316" y="730246"/>
            <a:ext cx="4023858" cy="215444"/>
          </a:xfrm>
          <a:prstGeom prst="rect">
            <a:avLst/>
          </a:prstGeom>
          <a:noFill/>
        </p:spPr>
        <p:txBody>
          <a:bodyPr wrap="none" rtlCol="0">
            <a:spAutoFit/>
          </a:bodyPr>
          <a:lstStyle/>
          <a:p>
            <a:pPr defTabSz="914400" fontAlgn="base">
              <a:spcBef>
                <a:spcPct val="0"/>
              </a:spcBef>
              <a:spcAft>
                <a:spcPct val="0"/>
              </a:spcAft>
            </a:pPr>
            <a:r>
              <a:rPr lang="en-US" sz="800" dirty="0" smtClean="0">
                <a:solidFill>
                  <a:srgbClr val="FF0000"/>
                </a:solidFill>
                <a:latin typeface="Arial" charset="0"/>
              </a:rPr>
              <a:t>**  Diagram is an example only.  Specific leadtime adjustment will be finalized by HP</a:t>
            </a:r>
            <a:endParaRPr lang="en-US" sz="800" dirty="0">
              <a:solidFill>
                <a:srgbClr val="FF0000"/>
              </a:solidFill>
              <a:latin typeface="Arial" charset="0"/>
            </a:endParaRPr>
          </a:p>
        </p:txBody>
      </p:sp>
      <p:cxnSp>
        <p:nvCxnSpPr>
          <p:cNvPr id="43" name="Straight Connector 42"/>
          <p:cNvCxnSpPr/>
          <p:nvPr/>
        </p:nvCxnSpPr>
        <p:spPr>
          <a:xfrm>
            <a:off x="1210640" y="2094283"/>
            <a:ext cx="6477000"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710173" y="2009609"/>
            <a:ext cx="0" cy="194733"/>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415373" y="2009609"/>
            <a:ext cx="0" cy="194733"/>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7120574" y="2009609"/>
            <a:ext cx="0" cy="194733"/>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53" name="TextBox 12"/>
          <p:cNvSpPr txBox="1"/>
          <p:nvPr/>
        </p:nvSpPr>
        <p:spPr>
          <a:xfrm>
            <a:off x="2776986" y="2102741"/>
            <a:ext cx="641522" cy="253916"/>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50" dirty="0" smtClean="0">
                <a:solidFill>
                  <a:srgbClr val="0000FF"/>
                </a:solidFill>
              </a:rPr>
              <a:t>Week 1</a:t>
            </a:r>
            <a:endParaRPr lang="en-US" sz="1050" dirty="0">
              <a:solidFill>
                <a:srgbClr val="0000FF"/>
              </a:solidFill>
            </a:endParaRPr>
          </a:p>
        </p:txBody>
      </p:sp>
      <p:sp>
        <p:nvSpPr>
          <p:cNvPr id="54" name="TextBox 13"/>
          <p:cNvSpPr txBox="1"/>
          <p:nvPr/>
        </p:nvSpPr>
        <p:spPr>
          <a:xfrm>
            <a:off x="5554156" y="2102735"/>
            <a:ext cx="641522" cy="253916"/>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50" dirty="0" smtClean="0">
                <a:solidFill>
                  <a:srgbClr val="0000FF"/>
                </a:solidFill>
              </a:rPr>
              <a:t>Week 2</a:t>
            </a:r>
            <a:endParaRPr lang="en-US" sz="1050" dirty="0">
              <a:solidFill>
                <a:srgbClr val="0000FF"/>
              </a:solidFill>
            </a:endParaRPr>
          </a:p>
        </p:txBody>
      </p:sp>
      <p:sp>
        <p:nvSpPr>
          <p:cNvPr id="55" name="TextBox 14"/>
          <p:cNvSpPr txBox="1"/>
          <p:nvPr/>
        </p:nvSpPr>
        <p:spPr>
          <a:xfrm>
            <a:off x="6693319" y="1476213"/>
            <a:ext cx="691215" cy="369332"/>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900" dirty="0" smtClean="0">
                <a:solidFill>
                  <a:prstClr val="black"/>
                </a:solidFill>
              </a:rPr>
              <a:t>ODM </a:t>
            </a:r>
          </a:p>
          <a:p>
            <a:pPr algn="ctr"/>
            <a:r>
              <a:rPr lang="en-US" sz="900" dirty="0" smtClean="0">
                <a:solidFill>
                  <a:prstClr val="black"/>
                </a:solidFill>
              </a:rPr>
              <a:t>Ship Date</a:t>
            </a:r>
            <a:endParaRPr lang="en-US" sz="900" dirty="0">
              <a:solidFill>
                <a:prstClr val="black"/>
              </a:solidFill>
            </a:endParaRPr>
          </a:p>
        </p:txBody>
      </p:sp>
      <p:sp>
        <p:nvSpPr>
          <p:cNvPr id="56" name="Isosceles Triangle 55"/>
          <p:cNvSpPr/>
          <p:nvPr/>
        </p:nvSpPr>
        <p:spPr>
          <a:xfrm flipV="1">
            <a:off x="6950008" y="1824945"/>
            <a:ext cx="177800" cy="184666"/>
          </a:xfrm>
          <a:prstGeom prst="triangle">
            <a:avLst/>
          </a:prstGeom>
          <a:solidFill>
            <a:schemeClr val="bg1">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2400" b="1" dirty="0" smtClean="0">
              <a:solidFill>
                <a:prstClr val="black"/>
              </a:solidFill>
            </a:endParaRPr>
          </a:p>
        </p:txBody>
      </p:sp>
      <p:sp>
        <p:nvSpPr>
          <p:cNvPr id="57" name="TextBox 16"/>
          <p:cNvSpPr txBox="1"/>
          <p:nvPr/>
        </p:nvSpPr>
        <p:spPr>
          <a:xfrm>
            <a:off x="1378489" y="1476207"/>
            <a:ext cx="838691" cy="369332"/>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900" dirty="0" smtClean="0">
                <a:solidFill>
                  <a:prstClr val="black"/>
                </a:solidFill>
              </a:rPr>
              <a:t>Build Trigger</a:t>
            </a:r>
          </a:p>
          <a:p>
            <a:pPr algn="ctr"/>
            <a:r>
              <a:rPr lang="en-US" sz="900" dirty="0" smtClean="0">
                <a:solidFill>
                  <a:prstClr val="black"/>
                </a:solidFill>
              </a:rPr>
              <a:t>File</a:t>
            </a:r>
            <a:endParaRPr lang="en-US" sz="900" dirty="0">
              <a:solidFill>
                <a:prstClr val="black"/>
              </a:solidFill>
            </a:endParaRPr>
          </a:p>
        </p:txBody>
      </p:sp>
      <p:sp>
        <p:nvSpPr>
          <p:cNvPr id="58" name="Isosceles Triangle 57"/>
          <p:cNvSpPr/>
          <p:nvPr/>
        </p:nvSpPr>
        <p:spPr>
          <a:xfrm flipV="1">
            <a:off x="1708929" y="1824939"/>
            <a:ext cx="177800" cy="184666"/>
          </a:xfrm>
          <a:prstGeom prst="triangle">
            <a:avLst/>
          </a:prstGeom>
          <a:solidFill>
            <a:schemeClr val="bg1">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2400" b="1" dirty="0" smtClean="0">
              <a:solidFill>
                <a:prstClr val="black"/>
              </a:solidFill>
            </a:endParaRPr>
          </a:p>
        </p:txBody>
      </p:sp>
      <p:sp>
        <p:nvSpPr>
          <p:cNvPr id="59" name="TextBox 18"/>
          <p:cNvSpPr txBox="1"/>
          <p:nvPr/>
        </p:nvSpPr>
        <p:spPr>
          <a:xfrm>
            <a:off x="4479068" y="1476201"/>
            <a:ext cx="716863" cy="369332"/>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900" dirty="0" smtClean="0">
                <a:solidFill>
                  <a:prstClr val="black"/>
                </a:solidFill>
              </a:rPr>
              <a:t>Customer </a:t>
            </a:r>
          </a:p>
          <a:p>
            <a:pPr algn="ctr"/>
            <a:r>
              <a:rPr lang="en-US" sz="900" dirty="0" smtClean="0">
                <a:solidFill>
                  <a:prstClr val="black"/>
                </a:solidFill>
              </a:rPr>
              <a:t>Orders</a:t>
            </a:r>
            <a:endParaRPr lang="en-US" sz="900" dirty="0">
              <a:solidFill>
                <a:prstClr val="black"/>
              </a:solidFill>
            </a:endParaRPr>
          </a:p>
        </p:txBody>
      </p:sp>
      <p:sp>
        <p:nvSpPr>
          <p:cNvPr id="60" name="Left Brace 59"/>
          <p:cNvSpPr/>
          <p:nvPr/>
        </p:nvSpPr>
        <p:spPr>
          <a:xfrm rot="5400000">
            <a:off x="4772436" y="1558684"/>
            <a:ext cx="128108" cy="718880"/>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fontAlgn="base">
              <a:spcBef>
                <a:spcPct val="0"/>
              </a:spcBef>
              <a:spcAft>
                <a:spcPct val="0"/>
              </a:spcAft>
              <a:defRPr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mn-lt"/>
                <a:ea typeface="+mn-ea"/>
                <a:cs typeface="+mn-cs"/>
              </a:defRPr>
            </a:lvl2pPr>
            <a:lvl3pPr marL="914400" algn="l" rtl="0" fontAlgn="base">
              <a:spcBef>
                <a:spcPct val="0"/>
              </a:spcBef>
              <a:spcAft>
                <a:spcPct val="0"/>
              </a:spcAft>
              <a:defRPr kern="1200">
                <a:solidFill>
                  <a:schemeClr val="tx1"/>
                </a:solidFill>
                <a:latin typeface="+mn-lt"/>
                <a:ea typeface="+mn-ea"/>
                <a:cs typeface="+mn-cs"/>
              </a:defRPr>
            </a:lvl3pPr>
            <a:lvl4pPr marL="1371600" algn="l" rtl="0" fontAlgn="base">
              <a:spcBef>
                <a:spcPct val="0"/>
              </a:spcBef>
              <a:spcAft>
                <a:spcPct val="0"/>
              </a:spcAft>
              <a:defRPr kern="1200">
                <a:solidFill>
                  <a:schemeClr val="tx1"/>
                </a:solidFill>
                <a:latin typeface="+mn-lt"/>
                <a:ea typeface="+mn-ea"/>
                <a:cs typeface="+mn-cs"/>
              </a:defRPr>
            </a:lvl4pPr>
            <a:lvl5pPr marL="1828800" algn="l" rtl="0" fontAlgn="base">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a:endParaRPr lang="en-US" dirty="0">
              <a:solidFill>
                <a:prstClr val="black"/>
              </a:solidFill>
            </a:endParaRPr>
          </a:p>
        </p:txBody>
      </p:sp>
      <p:cxnSp>
        <p:nvCxnSpPr>
          <p:cNvPr id="61" name="Straight Connector 60"/>
          <p:cNvCxnSpPr/>
          <p:nvPr/>
        </p:nvCxnSpPr>
        <p:spPr>
          <a:xfrm>
            <a:off x="4561697" y="1383064"/>
            <a:ext cx="2464511" cy="1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4561694" y="1383117"/>
            <a:ext cx="0" cy="9313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7025585" y="1391574"/>
            <a:ext cx="0" cy="9313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4" name="TextBox 44"/>
          <p:cNvSpPr txBox="1"/>
          <p:nvPr/>
        </p:nvSpPr>
        <p:spPr>
          <a:xfrm>
            <a:off x="4910565" y="1171407"/>
            <a:ext cx="1837362" cy="246221"/>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dirty="0" smtClean="0">
                <a:solidFill>
                  <a:srgbClr val="FF0000"/>
                </a:solidFill>
              </a:rPr>
              <a:t>ODM Order to Ship Leadtime</a:t>
            </a:r>
            <a:endParaRPr lang="en-US" sz="1000" dirty="0">
              <a:solidFill>
                <a:srgbClr val="FF0000"/>
              </a:solidFill>
            </a:endParaRPr>
          </a:p>
        </p:txBody>
      </p:sp>
      <p:cxnSp>
        <p:nvCxnSpPr>
          <p:cNvPr id="81" name="Straight Connector 80"/>
          <p:cNvCxnSpPr/>
          <p:nvPr/>
        </p:nvCxnSpPr>
        <p:spPr>
          <a:xfrm>
            <a:off x="1203867" y="3949330"/>
            <a:ext cx="6477000" cy="0"/>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703400" y="3864656"/>
            <a:ext cx="0" cy="194733"/>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4408600" y="3864656"/>
            <a:ext cx="0" cy="194733"/>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7113801" y="3864656"/>
            <a:ext cx="0" cy="194733"/>
          </a:xfrm>
          <a:prstGeom prst="line">
            <a:avLst/>
          </a:prstGeom>
          <a:ln w="12700">
            <a:solidFill>
              <a:srgbClr val="0000FF"/>
            </a:solidFill>
          </a:ln>
        </p:spPr>
        <p:style>
          <a:lnRef idx="1">
            <a:schemeClr val="accent1"/>
          </a:lnRef>
          <a:fillRef idx="0">
            <a:schemeClr val="accent1"/>
          </a:fillRef>
          <a:effectRef idx="0">
            <a:schemeClr val="accent1"/>
          </a:effectRef>
          <a:fontRef idx="minor">
            <a:schemeClr val="tx1"/>
          </a:fontRef>
        </p:style>
      </p:cxnSp>
      <p:sp>
        <p:nvSpPr>
          <p:cNvPr id="85" name="TextBox 24"/>
          <p:cNvSpPr txBox="1"/>
          <p:nvPr/>
        </p:nvSpPr>
        <p:spPr>
          <a:xfrm>
            <a:off x="2770213" y="3957788"/>
            <a:ext cx="641522" cy="253916"/>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50" dirty="0" smtClean="0">
                <a:solidFill>
                  <a:srgbClr val="0000FF"/>
                </a:solidFill>
              </a:rPr>
              <a:t>Week 1</a:t>
            </a:r>
            <a:endParaRPr lang="en-US" sz="1050" dirty="0">
              <a:solidFill>
                <a:srgbClr val="0000FF"/>
              </a:solidFill>
            </a:endParaRPr>
          </a:p>
        </p:txBody>
      </p:sp>
      <p:sp>
        <p:nvSpPr>
          <p:cNvPr id="86" name="TextBox 25"/>
          <p:cNvSpPr txBox="1"/>
          <p:nvPr/>
        </p:nvSpPr>
        <p:spPr>
          <a:xfrm>
            <a:off x="5547383" y="3957782"/>
            <a:ext cx="641522" cy="253916"/>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50" dirty="0" smtClean="0">
                <a:solidFill>
                  <a:srgbClr val="0000FF"/>
                </a:solidFill>
              </a:rPr>
              <a:t>Week 2</a:t>
            </a:r>
            <a:endParaRPr lang="en-US" sz="1050" dirty="0">
              <a:solidFill>
                <a:srgbClr val="0000FF"/>
              </a:solidFill>
            </a:endParaRPr>
          </a:p>
        </p:txBody>
      </p:sp>
      <p:sp>
        <p:nvSpPr>
          <p:cNvPr id="87" name="TextBox 26"/>
          <p:cNvSpPr txBox="1"/>
          <p:nvPr/>
        </p:nvSpPr>
        <p:spPr>
          <a:xfrm>
            <a:off x="6669606" y="3331260"/>
            <a:ext cx="691215" cy="369332"/>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900" dirty="0" smtClean="0">
                <a:solidFill>
                  <a:prstClr val="black"/>
                </a:solidFill>
              </a:rPr>
              <a:t>ODM </a:t>
            </a:r>
          </a:p>
          <a:p>
            <a:pPr algn="ctr"/>
            <a:r>
              <a:rPr lang="en-US" sz="900" dirty="0" smtClean="0">
                <a:solidFill>
                  <a:prstClr val="black"/>
                </a:solidFill>
              </a:rPr>
              <a:t>Ship Date</a:t>
            </a:r>
            <a:endParaRPr lang="en-US" sz="900" dirty="0">
              <a:solidFill>
                <a:prstClr val="black"/>
              </a:solidFill>
            </a:endParaRPr>
          </a:p>
        </p:txBody>
      </p:sp>
      <p:sp>
        <p:nvSpPr>
          <p:cNvPr id="88" name="TextBox 28"/>
          <p:cNvSpPr txBox="1"/>
          <p:nvPr/>
        </p:nvSpPr>
        <p:spPr>
          <a:xfrm>
            <a:off x="884415" y="3331254"/>
            <a:ext cx="1813317" cy="369332"/>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900" dirty="0" smtClean="0">
                <a:solidFill>
                  <a:prstClr val="black"/>
                </a:solidFill>
              </a:rPr>
              <a:t>Build Trigger File EDI830 (TBD)</a:t>
            </a:r>
          </a:p>
          <a:p>
            <a:pPr algn="ctr"/>
            <a:r>
              <a:rPr lang="en-US" sz="900" dirty="0" smtClean="0">
                <a:solidFill>
                  <a:prstClr val="black"/>
                </a:solidFill>
              </a:rPr>
              <a:t>Build Trigger Order EDI850</a:t>
            </a:r>
            <a:endParaRPr lang="en-US" sz="900" dirty="0">
              <a:solidFill>
                <a:prstClr val="black"/>
              </a:solidFill>
            </a:endParaRPr>
          </a:p>
        </p:txBody>
      </p:sp>
      <p:sp>
        <p:nvSpPr>
          <p:cNvPr id="89" name="Isosceles Triangle 88"/>
          <p:cNvSpPr/>
          <p:nvPr/>
        </p:nvSpPr>
        <p:spPr>
          <a:xfrm flipV="1">
            <a:off x="1702156" y="3679986"/>
            <a:ext cx="177800" cy="184666"/>
          </a:xfrm>
          <a:prstGeom prst="triangle">
            <a:avLst/>
          </a:prstGeom>
          <a:solidFill>
            <a:schemeClr val="bg1">
              <a:alpha val="61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2400" b="1" dirty="0" smtClean="0">
              <a:solidFill>
                <a:prstClr val="black"/>
              </a:solidFill>
            </a:endParaRPr>
          </a:p>
        </p:txBody>
      </p:sp>
      <p:sp>
        <p:nvSpPr>
          <p:cNvPr id="90" name="Left Brace 89"/>
          <p:cNvSpPr/>
          <p:nvPr/>
        </p:nvSpPr>
        <p:spPr>
          <a:xfrm rot="5400000">
            <a:off x="5687148" y="2492282"/>
            <a:ext cx="128108" cy="2561883"/>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algn="l" rtl="0" fontAlgn="base">
              <a:spcBef>
                <a:spcPct val="0"/>
              </a:spcBef>
              <a:spcAft>
                <a:spcPct val="0"/>
              </a:spcAft>
              <a:defRPr kern="1200">
                <a:solidFill>
                  <a:schemeClr val="tx1"/>
                </a:solidFill>
                <a:latin typeface="+mn-lt"/>
                <a:ea typeface="+mn-ea"/>
                <a:cs typeface="+mn-cs"/>
              </a:defRPr>
            </a:lvl1pPr>
            <a:lvl2pPr marL="457200" algn="l" rtl="0" fontAlgn="base">
              <a:spcBef>
                <a:spcPct val="0"/>
              </a:spcBef>
              <a:spcAft>
                <a:spcPct val="0"/>
              </a:spcAft>
              <a:defRPr kern="1200">
                <a:solidFill>
                  <a:schemeClr val="tx1"/>
                </a:solidFill>
                <a:latin typeface="+mn-lt"/>
                <a:ea typeface="+mn-ea"/>
                <a:cs typeface="+mn-cs"/>
              </a:defRPr>
            </a:lvl2pPr>
            <a:lvl3pPr marL="914400" algn="l" rtl="0" fontAlgn="base">
              <a:spcBef>
                <a:spcPct val="0"/>
              </a:spcBef>
              <a:spcAft>
                <a:spcPct val="0"/>
              </a:spcAft>
              <a:defRPr kern="1200">
                <a:solidFill>
                  <a:schemeClr val="tx1"/>
                </a:solidFill>
                <a:latin typeface="+mn-lt"/>
                <a:ea typeface="+mn-ea"/>
                <a:cs typeface="+mn-cs"/>
              </a:defRPr>
            </a:lvl3pPr>
            <a:lvl4pPr marL="1371600" algn="l" rtl="0" fontAlgn="base">
              <a:spcBef>
                <a:spcPct val="0"/>
              </a:spcBef>
              <a:spcAft>
                <a:spcPct val="0"/>
              </a:spcAft>
              <a:defRPr kern="1200">
                <a:solidFill>
                  <a:schemeClr val="tx1"/>
                </a:solidFill>
                <a:latin typeface="+mn-lt"/>
                <a:ea typeface="+mn-ea"/>
                <a:cs typeface="+mn-cs"/>
              </a:defRPr>
            </a:lvl4pPr>
            <a:lvl5pPr marL="1828800" algn="l" rtl="0" fontAlgn="base">
              <a:spcBef>
                <a:spcPct val="0"/>
              </a:spcBef>
              <a:spcAft>
                <a:spcPct val="0"/>
              </a:spcAft>
              <a:defRPr kern="1200">
                <a:solidFill>
                  <a:schemeClr val="tx1"/>
                </a:solidFill>
                <a:latin typeface="+mn-lt"/>
                <a:ea typeface="+mn-ea"/>
                <a:cs typeface="+mn-cs"/>
              </a:defRPr>
            </a:lvl5pPr>
            <a:lvl6pPr marL="2286000" algn="l" defTabSz="914400" rtl="0" eaLnBrk="1" latinLnBrk="0" hangingPunct="1">
              <a:defRPr kern="1200">
                <a:solidFill>
                  <a:schemeClr val="tx1"/>
                </a:solidFill>
                <a:latin typeface="+mn-lt"/>
                <a:ea typeface="+mn-ea"/>
                <a:cs typeface="+mn-cs"/>
              </a:defRPr>
            </a:lvl6pPr>
            <a:lvl7pPr marL="2743200" algn="l" defTabSz="914400" rtl="0" eaLnBrk="1" latinLnBrk="0" hangingPunct="1">
              <a:defRPr kern="1200">
                <a:solidFill>
                  <a:schemeClr val="tx1"/>
                </a:solidFill>
                <a:latin typeface="+mn-lt"/>
                <a:ea typeface="+mn-ea"/>
                <a:cs typeface="+mn-cs"/>
              </a:defRPr>
            </a:lvl7pPr>
            <a:lvl8pPr marL="3200400" algn="l" defTabSz="914400" rtl="0" eaLnBrk="1" latinLnBrk="0" hangingPunct="1">
              <a:defRPr kern="1200">
                <a:solidFill>
                  <a:schemeClr val="tx1"/>
                </a:solidFill>
                <a:latin typeface="+mn-lt"/>
                <a:ea typeface="+mn-ea"/>
                <a:cs typeface="+mn-cs"/>
              </a:defRPr>
            </a:lvl8pPr>
            <a:lvl9pPr marL="3657600" algn="l" defTabSz="914400" rtl="0" eaLnBrk="1" latinLnBrk="0" hangingPunct="1">
              <a:defRPr kern="1200">
                <a:solidFill>
                  <a:schemeClr val="tx1"/>
                </a:solidFill>
                <a:latin typeface="+mn-lt"/>
                <a:ea typeface="+mn-ea"/>
                <a:cs typeface="+mn-cs"/>
              </a:defRPr>
            </a:lvl9pPr>
          </a:lstStyle>
          <a:p>
            <a:pPr algn="ctr"/>
            <a:endParaRPr lang="en-US" dirty="0">
              <a:solidFill>
                <a:prstClr val="black"/>
              </a:solidFill>
            </a:endParaRPr>
          </a:p>
        </p:txBody>
      </p:sp>
      <p:sp>
        <p:nvSpPr>
          <p:cNvPr id="91" name="Isosceles Triangle 90"/>
          <p:cNvSpPr/>
          <p:nvPr/>
        </p:nvSpPr>
        <p:spPr>
          <a:xfrm flipV="1">
            <a:off x="6934768" y="3705393"/>
            <a:ext cx="177800" cy="184666"/>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2400" b="1" dirty="0" smtClean="0">
              <a:solidFill>
                <a:prstClr val="black"/>
              </a:solidFill>
            </a:endParaRPr>
          </a:p>
        </p:txBody>
      </p:sp>
      <p:sp>
        <p:nvSpPr>
          <p:cNvPr id="92" name="TextBox 33"/>
          <p:cNvSpPr txBox="1"/>
          <p:nvPr/>
        </p:nvSpPr>
        <p:spPr>
          <a:xfrm>
            <a:off x="5026493" y="3415924"/>
            <a:ext cx="1454244" cy="230832"/>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sz="900" dirty="0" smtClean="0">
                <a:solidFill>
                  <a:prstClr val="black"/>
                </a:solidFill>
              </a:rPr>
              <a:t>Ship Early if Supportable</a:t>
            </a:r>
            <a:endParaRPr lang="en-US" sz="900" dirty="0">
              <a:solidFill>
                <a:prstClr val="black"/>
              </a:solidFill>
            </a:endParaRPr>
          </a:p>
        </p:txBody>
      </p:sp>
      <p:cxnSp>
        <p:nvCxnSpPr>
          <p:cNvPr id="93" name="Straight Connector 92"/>
          <p:cNvCxnSpPr/>
          <p:nvPr/>
        </p:nvCxnSpPr>
        <p:spPr>
          <a:xfrm>
            <a:off x="1794679" y="3246578"/>
            <a:ext cx="5237462"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1794679" y="3246643"/>
            <a:ext cx="0" cy="9313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7035746" y="3255104"/>
            <a:ext cx="0" cy="9313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96" name="TextBox 48"/>
          <p:cNvSpPr txBox="1"/>
          <p:nvPr/>
        </p:nvSpPr>
        <p:spPr>
          <a:xfrm>
            <a:off x="4827541" y="3034961"/>
            <a:ext cx="1837362" cy="246221"/>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dirty="0" smtClean="0">
                <a:solidFill>
                  <a:srgbClr val="FF0000"/>
                </a:solidFill>
              </a:rPr>
              <a:t>ODM Order to Ship Leadtime</a:t>
            </a:r>
            <a:endParaRPr lang="en-US" sz="1000" dirty="0">
              <a:solidFill>
                <a:srgbClr val="FF0000"/>
              </a:solidFill>
            </a:endParaRPr>
          </a:p>
        </p:txBody>
      </p:sp>
      <p:sp>
        <p:nvSpPr>
          <p:cNvPr id="40" name="Rounded Rectangle 39"/>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35</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26924241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BSaM</a:t>
            </a:r>
            <a:r>
              <a:rPr lang="en-US" dirty="0" smtClean="0"/>
              <a:t> High Level Process Flows</a:t>
            </a:r>
            <a:endParaRPr lang="en-US" dirty="0"/>
          </a:p>
        </p:txBody>
      </p:sp>
      <p:sp>
        <p:nvSpPr>
          <p:cNvPr id="4" name="Content Placeholder 3"/>
          <p:cNvSpPr>
            <a:spLocks noGrp="1"/>
          </p:cNvSpPr>
          <p:nvPr>
            <p:ph sz="quarter" idx="16"/>
          </p:nvPr>
        </p:nvSpPr>
        <p:spPr/>
        <p:txBody>
          <a:bodyPr/>
          <a:lstStyle/>
          <a:p>
            <a:pPr marL="342900" indent="-342900">
              <a:lnSpc>
                <a:spcPct val="80000"/>
              </a:lnSpc>
              <a:buFont typeface="+mj-lt"/>
              <a:buAutoNum type="arabicPeriod"/>
            </a:pPr>
            <a:r>
              <a:rPr lang="en-US" dirty="0" smtClean="0"/>
              <a:t>Order-to-Delivery Processes</a:t>
            </a:r>
          </a:p>
          <a:p>
            <a:pPr marL="512763" lvl="3" indent="-171450">
              <a:lnSpc>
                <a:spcPct val="80000"/>
              </a:lnSpc>
              <a:buFont typeface="Arial" pitchFamily="34" charset="0"/>
              <a:buChar char="•"/>
            </a:pPr>
            <a:r>
              <a:rPr lang="en-US" dirty="0" smtClean="0"/>
              <a:t>B Part Process</a:t>
            </a:r>
          </a:p>
          <a:p>
            <a:pPr marL="512763" lvl="3" indent="-171450">
              <a:lnSpc>
                <a:spcPct val="80000"/>
              </a:lnSpc>
              <a:buFont typeface="Arial" pitchFamily="34" charset="0"/>
              <a:buChar char="•"/>
            </a:pPr>
            <a:r>
              <a:rPr lang="en-US" dirty="0" smtClean="0"/>
              <a:t>A Part BTO Process</a:t>
            </a:r>
          </a:p>
          <a:p>
            <a:pPr marL="512763" lvl="3" indent="-171450">
              <a:lnSpc>
                <a:spcPct val="80000"/>
              </a:lnSpc>
              <a:buFont typeface="Arial" pitchFamily="34" charset="0"/>
              <a:buChar char="•"/>
            </a:pPr>
            <a:r>
              <a:rPr lang="en-US" dirty="0" smtClean="0"/>
              <a:t>A Part Build Trigger Process </a:t>
            </a:r>
          </a:p>
          <a:p>
            <a:pPr lvl="1">
              <a:lnSpc>
                <a:spcPct val="80000"/>
              </a:lnSpc>
            </a:pPr>
            <a:endParaRPr lang="en-US" sz="1200" dirty="0"/>
          </a:p>
          <a:p>
            <a:pPr marL="342900" indent="-342900">
              <a:lnSpc>
                <a:spcPct val="80000"/>
              </a:lnSpc>
              <a:buFont typeface="+mj-lt"/>
              <a:buAutoNum type="arabicPeriod"/>
            </a:pPr>
            <a:r>
              <a:rPr lang="en-US" dirty="0" smtClean="0"/>
              <a:t>PDM/BOM Structure</a:t>
            </a:r>
            <a:endParaRPr lang="en-US" dirty="0"/>
          </a:p>
          <a:p>
            <a:pPr marL="512763" lvl="3" indent="-171450">
              <a:lnSpc>
                <a:spcPct val="80000"/>
              </a:lnSpc>
              <a:buFont typeface="Arial" pitchFamily="34" charset="0"/>
              <a:buChar char="•"/>
            </a:pPr>
            <a:r>
              <a:rPr lang="en-US" dirty="0" smtClean="0"/>
              <a:t>BSaM PDM/BOM Approach</a:t>
            </a:r>
          </a:p>
          <a:p>
            <a:pPr marL="512763" lvl="3" indent="-171450">
              <a:lnSpc>
                <a:spcPct val="80000"/>
              </a:lnSpc>
              <a:buFont typeface="Arial" pitchFamily="34" charset="0"/>
              <a:buChar char="•"/>
            </a:pPr>
            <a:r>
              <a:rPr lang="en-US" dirty="0" smtClean="0"/>
              <a:t>BSaM AV for Cost Adjustment and Planning</a:t>
            </a:r>
          </a:p>
          <a:p>
            <a:pPr lvl="1">
              <a:lnSpc>
                <a:spcPct val="80000"/>
              </a:lnSpc>
            </a:pPr>
            <a:endParaRPr lang="en-US" sz="1200" dirty="0"/>
          </a:p>
          <a:p>
            <a:pPr marL="342900" indent="-342900">
              <a:lnSpc>
                <a:spcPct val="80000"/>
              </a:lnSpc>
              <a:buFont typeface="+mj-lt"/>
              <a:buAutoNum type="arabicPeriod"/>
            </a:pPr>
            <a:r>
              <a:rPr lang="en-US" dirty="0"/>
              <a:t>Planning</a:t>
            </a:r>
          </a:p>
          <a:p>
            <a:pPr marL="512763" lvl="3" indent="-171450">
              <a:lnSpc>
                <a:spcPct val="80000"/>
              </a:lnSpc>
              <a:buFont typeface="Arial" pitchFamily="34" charset="0"/>
              <a:buChar char="•"/>
            </a:pPr>
            <a:r>
              <a:rPr lang="en-US" dirty="0"/>
              <a:t>A Part and B Part Planning </a:t>
            </a:r>
            <a:r>
              <a:rPr lang="en-US" dirty="0" smtClean="0"/>
              <a:t>Process</a:t>
            </a:r>
          </a:p>
          <a:p>
            <a:pPr marL="512763" lvl="3" indent="-171450">
              <a:lnSpc>
                <a:spcPct val="80000"/>
              </a:lnSpc>
              <a:buFont typeface="Arial" pitchFamily="34" charset="0"/>
              <a:buChar char="•"/>
            </a:pPr>
            <a:endParaRPr lang="en-US" dirty="0" smtClean="0"/>
          </a:p>
          <a:p>
            <a:pPr marL="342900" indent="-342900">
              <a:lnSpc>
                <a:spcPct val="80000"/>
              </a:lnSpc>
              <a:buFont typeface="+mj-lt"/>
              <a:buAutoNum type="arabicPeriod"/>
            </a:pPr>
            <a:r>
              <a:rPr lang="en-US" dirty="0" smtClean="0"/>
              <a:t>Production Grouping Process</a:t>
            </a:r>
          </a:p>
          <a:p>
            <a:pPr marL="512763" lvl="3" indent="-171450">
              <a:lnSpc>
                <a:spcPct val="80000"/>
              </a:lnSpc>
              <a:buFont typeface="Arial" pitchFamily="34" charset="0"/>
              <a:buChar char="•"/>
            </a:pPr>
            <a:r>
              <a:rPr lang="en-US" dirty="0" smtClean="0"/>
              <a:t>Bulk Packaging Order Grouping</a:t>
            </a:r>
          </a:p>
          <a:p>
            <a:pPr marL="512763" lvl="3" indent="-171450">
              <a:lnSpc>
                <a:spcPct val="80000"/>
              </a:lnSpc>
              <a:buFont typeface="Arial" pitchFamily="34" charset="0"/>
              <a:buChar char="•"/>
            </a:pPr>
            <a:endParaRPr lang="en-US" sz="1200" dirty="0" smtClean="0"/>
          </a:p>
          <a:p>
            <a:pPr marL="512763" lvl="3" indent="-171450">
              <a:lnSpc>
                <a:spcPct val="80000"/>
              </a:lnSpc>
              <a:buFont typeface="Arial" pitchFamily="34" charset="0"/>
              <a:buChar char="•"/>
            </a:pPr>
            <a:endParaRPr lang="en-US" sz="1200" dirty="0"/>
          </a:p>
          <a:p>
            <a:pPr marL="512763" lvl="3" indent="-171450">
              <a:lnSpc>
                <a:spcPct val="80000"/>
              </a:lnSpc>
              <a:buFont typeface="Arial" pitchFamily="34" charset="0"/>
              <a:buChar char="•"/>
            </a:pPr>
            <a:endParaRPr lang="en-US" sz="1200" dirty="0"/>
          </a:p>
        </p:txBody>
      </p:sp>
      <p:sp>
        <p:nvSpPr>
          <p:cNvPr id="5" name="Content Placeholder 4"/>
          <p:cNvSpPr>
            <a:spLocks noGrp="1"/>
          </p:cNvSpPr>
          <p:nvPr>
            <p:ph sz="quarter" idx="17"/>
          </p:nvPr>
        </p:nvSpPr>
        <p:spPr/>
        <p:txBody>
          <a:bodyPr/>
          <a:lstStyle/>
          <a:p>
            <a:pPr marL="342900" indent="-342900">
              <a:lnSpc>
                <a:spcPct val="80000"/>
              </a:lnSpc>
              <a:buFont typeface="+mj-lt"/>
              <a:buAutoNum type="arabicPeriod" startAt="5"/>
            </a:pPr>
            <a:r>
              <a:rPr lang="en-US" dirty="0" smtClean="0"/>
              <a:t>BSaM Build Trigger Process</a:t>
            </a:r>
            <a:endParaRPr lang="en-US" dirty="0"/>
          </a:p>
          <a:p>
            <a:pPr marL="512763" lvl="3" indent="-171450">
              <a:lnSpc>
                <a:spcPct val="80000"/>
              </a:lnSpc>
              <a:buFont typeface="Arial" pitchFamily="34" charset="0"/>
              <a:buChar char="•"/>
            </a:pPr>
            <a:r>
              <a:rPr lang="en-US" dirty="0" smtClean="0"/>
              <a:t>Build Trigger PO instead of Customer PO</a:t>
            </a:r>
          </a:p>
          <a:p>
            <a:pPr marL="512763" lvl="3" indent="-171450">
              <a:lnSpc>
                <a:spcPct val="80000"/>
              </a:lnSpc>
              <a:buFont typeface="Arial" pitchFamily="34" charset="0"/>
              <a:buChar char="•"/>
            </a:pPr>
            <a:r>
              <a:rPr lang="en-US" dirty="0" smtClean="0"/>
              <a:t>RSD and Performance Measurement</a:t>
            </a:r>
          </a:p>
          <a:p>
            <a:pPr lvl="1">
              <a:lnSpc>
                <a:spcPct val="80000"/>
              </a:lnSpc>
            </a:pPr>
            <a:endParaRPr lang="en-US" sz="1200" dirty="0" smtClean="0"/>
          </a:p>
          <a:p>
            <a:pPr lvl="1">
              <a:lnSpc>
                <a:spcPct val="80000"/>
              </a:lnSpc>
            </a:pPr>
            <a:endParaRPr lang="en-US" sz="1200" dirty="0" smtClean="0"/>
          </a:p>
          <a:p>
            <a:pPr marL="342900" indent="-342900">
              <a:lnSpc>
                <a:spcPct val="80000"/>
              </a:lnSpc>
              <a:buFont typeface="+mj-lt"/>
              <a:buAutoNum type="arabicPeriod" startAt="5"/>
            </a:pPr>
            <a:r>
              <a:rPr lang="en-US" dirty="0" smtClean="0"/>
              <a:t>Full Unit Test Process</a:t>
            </a:r>
            <a:endParaRPr lang="en-US" dirty="0"/>
          </a:p>
          <a:p>
            <a:pPr marL="512763" lvl="3" indent="-171450">
              <a:lnSpc>
                <a:spcPct val="80000"/>
              </a:lnSpc>
              <a:buFont typeface="Arial" pitchFamily="34" charset="0"/>
              <a:buChar char="•"/>
            </a:pPr>
            <a:r>
              <a:rPr lang="en-US" dirty="0" smtClean="0"/>
              <a:t>NB Full Unit Testing using Temp Battery</a:t>
            </a:r>
            <a:endParaRPr lang="en-US" dirty="0"/>
          </a:p>
          <a:p>
            <a:pPr lvl="1">
              <a:lnSpc>
                <a:spcPct val="80000"/>
              </a:lnSpc>
            </a:pPr>
            <a:endParaRPr lang="en-US" sz="1200" dirty="0"/>
          </a:p>
          <a:p>
            <a:pPr marL="342900" indent="-342900">
              <a:lnSpc>
                <a:spcPct val="80000"/>
              </a:lnSpc>
              <a:buFont typeface="+mj-lt"/>
              <a:buAutoNum type="arabicPeriod" startAt="5"/>
            </a:pPr>
            <a:r>
              <a:rPr lang="en-US" dirty="0" smtClean="0"/>
              <a:t>B Part Process</a:t>
            </a:r>
            <a:endParaRPr lang="en-US" dirty="0"/>
          </a:p>
          <a:p>
            <a:pPr marL="512763" lvl="3" indent="-171450">
              <a:lnSpc>
                <a:spcPct val="80000"/>
              </a:lnSpc>
              <a:buFont typeface="Arial" pitchFamily="34" charset="0"/>
              <a:buChar char="•"/>
            </a:pPr>
            <a:r>
              <a:rPr lang="en-US" dirty="0" smtClean="0"/>
              <a:t>Supplier VMI Model vs. ODM HOI Model</a:t>
            </a:r>
          </a:p>
          <a:p>
            <a:pPr marL="512763" lvl="3" indent="-171450">
              <a:lnSpc>
                <a:spcPct val="80000"/>
              </a:lnSpc>
              <a:buFont typeface="Arial" pitchFamily="34" charset="0"/>
              <a:buChar char="•"/>
            </a:pPr>
            <a:r>
              <a:rPr lang="en-US" dirty="0" smtClean="0"/>
              <a:t>Process required for Exception Contingency</a:t>
            </a:r>
          </a:p>
          <a:p>
            <a:pPr marL="512763" lvl="3" indent="-171450">
              <a:lnSpc>
                <a:spcPct val="80000"/>
              </a:lnSpc>
              <a:buFont typeface="Arial" pitchFamily="34" charset="0"/>
              <a:buChar char="•"/>
            </a:pPr>
            <a:endParaRPr lang="en-US" dirty="0"/>
          </a:p>
          <a:p>
            <a:pPr marL="342900" indent="-342900">
              <a:lnSpc>
                <a:spcPct val="80000"/>
              </a:lnSpc>
              <a:buFont typeface="+mj-lt"/>
              <a:buAutoNum type="arabicPeriod" startAt="5"/>
            </a:pPr>
            <a:r>
              <a:rPr lang="en-US" dirty="0" smtClean="0"/>
              <a:t>Outbound Operation &amp; Logistics</a:t>
            </a:r>
            <a:endParaRPr lang="en-US" dirty="0"/>
          </a:p>
          <a:p>
            <a:pPr marL="512763" lvl="3" indent="-171450">
              <a:lnSpc>
                <a:spcPct val="80000"/>
              </a:lnSpc>
              <a:buFont typeface="Arial" pitchFamily="34" charset="0"/>
              <a:buChar char="•"/>
            </a:pPr>
            <a:r>
              <a:rPr lang="en-US" dirty="0" smtClean="0"/>
              <a:t>Utilize of  IDS HVLS and RCTO processes</a:t>
            </a:r>
          </a:p>
        </p:txBody>
      </p:sp>
      <p:sp>
        <p:nvSpPr>
          <p:cNvPr id="2" name="Subtitle 1"/>
          <p:cNvSpPr>
            <a:spLocks noGrp="1"/>
          </p:cNvSpPr>
          <p:nvPr>
            <p:ph type="subTitle" idx="1"/>
          </p:nvPr>
        </p:nvSpPr>
        <p:spPr/>
        <p:txBody>
          <a:bodyPr/>
          <a:lstStyle/>
          <a:p>
            <a:r>
              <a:rPr lang="en-US" dirty="0" smtClean="0"/>
              <a:t> </a:t>
            </a:r>
            <a:endParaRPr lang="en-US" dirty="0"/>
          </a:p>
        </p:txBody>
      </p:sp>
      <p:sp>
        <p:nvSpPr>
          <p:cNvPr id="6" name="Rounded Rectangle 5"/>
          <p:cNvSpPr/>
          <p:nvPr/>
        </p:nvSpPr>
        <p:spPr>
          <a:xfrm>
            <a:off x="4429991" y="2189678"/>
            <a:ext cx="4015740" cy="350520"/>
          </a:xfrm>
          <a:prstGeom prst="round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36</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25636764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p:cNvSpPr>
            <a:spLocks noGrp="1"/>
          </p:cNvSpPr>
          <p:nvPr>
            <p:ph type="subTitle" idx="1"/>
          </p:nvPr>
        </p:nvSpPr>
        <p:spPr/>
        <p:txBody>
          <a:bodyPr/>
          <a:lstStyle/>
          <a:p>
            <a:r>
              <a:rPr lang="en-US" dirty="0" smtClean="0"/>
              <a:t> </a:t>
            </a:r>
            <a:endParaRPr lang="en-US" dirty="0"/>
          </a:p>
        </p:txBody>
      </p:sp>
      <p:sp>
        <p:nvSpPr>
          <p:cNvPr id="8" name="Title 7"/>
          <p:cNvSpPr>
            <a:spLocks noGrp="1"/>
          </p:cNvSpPr>
          <p:nvPr>
            <p:ph type="title"/>
          </p:nvPr>
        </p:nvSpPr>
        <p:spPr/>
        <p:txBody>
          <a:bodyPr/>
          <a:lstStyle/>
          <a:p>
            <a:r>
              <a:rPr lang="en-US" dirty="0" smtClean="0"/>
              <a:t>Full Unit Test Process</a:t>
            </a:r>
            <a:endParaRPr lang="en-US" dirty="0"/>
          </a:p>
        </p:txBody>
      </p:sp>
      <p:sp>
        <p:nvSpPr>
          <p:cNvPr id="10" name="Content Placeholder 9"/>
          <p:cNvSpPr>
            <a:spLocks noGrp="1"/>
          </p:cNvSpPr>
          <p:nvPr>
            <p:ph sz="quarter" idx="10"/>
          </p:nvPr>
        </p:nvSpPr>
        <p:spPr/>
        <p:txBody>
          <a:bodyPr/>
          <a:lstStyle/>
          <a:p>
            <a:pPr marL="285750" indent="-285750">
              <a:buFont typeface="Arial" pitchFamily="34" charset="0"/>
              <a:buChar char="•"/>
            </a:pPr>
            <a:r>
              <a:rPr lang="en-US" dirty="0" smtClean="0"/>
              <a:t>Full Unit Testing using Temporary Batteries</a:t>
            </a:r>
          </a:p>
          <a:p>
            <a:pPr marL="627063" lvl="3" indent="-285750">
              <a:buFontTx/>
              <a:buChar char="-"/>
            </a:pPr>
            <a:r>
              <a:rPr lang="en-US" dirty="0" smtClean="0"/>
              <a:t>The ODMs will need to conduct full unit testing for BSaM “A” Part orders.  This is required for product quality assurance.</a:t>
            </a:r>
            <a:endParaRPr lang="en-US" dirty="0"/>
          </a:p>
          <a:p>
            <a:pPr marL="627063" lvl="3" indent="-285750">
              <a:buFontTx/>
              <a:buChar char="-"/>
            </a:pPr>
            <a:r>
              <a:rPr lang="en-US" dirty="0" smtClean="0"/>
              <a:t>As “A” Part orders will not include Batteries, the ODM will need to conduct full unit testing using a temporary battery.  ODM systems will need to be modified to support this.</a:t>
            </a:r>
          </a:p>
          <a:p>
            <a:pPr marL="627063" lvl="3" indent="-285750">
              <a:buFontTx/>
              <a:buChar char="-"/>
            </a:pPr>
            <a:r>
              <a:rPr lang="en-US" dirty="0" smtClean="0"/>
              <a:t>After full unit testing is completed , the temporary battery will need to be removed  and repackaged.  The repackage battery will be use for IDS orders.  </a:t>
            </a:r>
          </a:p>
          <a:p>
            <a:pPr marL="627063" lvl="3" indent="-285750">
              <a:buFontTx/>
              <a:buChar char="-"/>
            </a:pPr>
            <a:r>
              <a:rPr lang="en-US" dirty="0" smtClean="0"/>
              <a:t>The temporary battery should only be tested one time for BSaM “A” Part Notebooks.  </a:t>
            </a:r>
            <a:r>
              <a:rPr lang="en-US" dirty="0" smtClean="0">
                <a:solidFill>
                  <a:schemeClr val="tx1"/>
                </a:solidFill>
              </a:rPr>
              <a:t>The battery should only be tested up to two times maximum (one for BSaM testing and one for IDS testing before shipment).</a:t>
            </a:r>
          </a:p>
          <a:p>
            <a:pPr marL="285750" indent="-285750">
              <a:buFont typeface="Arial" pitchFamily="34" charset="0"/>
              <a:buChar char="•"/>
            </a:pPr>
            <a:r>
              <a:rPr lang="en-US" dirty="0" smtClean="0"/>
              <a:t>BSaM to align with Global NBO Battery Test Strategy</a:t>
            </a:r>
          </a:p>
          <a:p>
            <a:pPr marL="627063" lvl="3" indent="-285750">
              <a:buFontTx/>
              <a:buChar char="-"/>
            </a:pPr>
            <a:r>
              <a:rPr lang="en-US" dirty="0" smtClean="0"/>
              <a:t>This </a:t>
            </a:r>
            <a:r>
              <a:rPr lang="en-US" dirty="0"/>
              <a:t>process will need to be aligned with the </a:t>
            </a:r>
            <a:r>
              <a:rPr lang="en-US" dirty="0" smtClean="0"/>
              <a:t>HP Global NBO Battery </a:t>
            </a:r>
            <a:r>
              <a:rPr lang="en-US" dirty="0"/>
              <a:t>Test Strategy process that is currently being conducted for RCTO/RNBA</a:t>
            </a:r>
            <a:r>
              <a:rPr lang="en-US" dirty="0" smtClean="0"/>
              <a:t>.</a:t>
            </a:r>
          </a:p>
          <a:p>
            <a:pPr marL="285750" indent="-285750">
              <a:buFontTx/>
              <a:buChar char="-"/>
            </a:pPr>
            <a:endParaRPr lang="en-US" dirty="0"/>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37</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622776830"/>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 </a:t>
            </a:r>
            <a:endParaRPr lang="en-US" dirty="0"/>
          </a:p>
        </p:txBody>
      </p:sp>
      <p:sp>
        <p:nvSpPr>
          <p:cNvPr id="3" name="Title 2"/>
          <p:cNvSpPr>
            <a:spLocks noGrp="1"/>
          </p:cNvSpPr>
          <p:nvPr>
            <p:ph type="title"/>
          </p:nvPr>
        </p:nvSpPr>
        <p:spPr/>
        <p:txBody>
          <a:bodyPr/>
          <a:lstStyle/>
          <a:p>
            <a:r>
              <a:rPr lang="en-US" dirty="0" smtClean="0"/>
              <a:t>Full Unit Testing using Temporary Battery</a:t>
            </a:r>
            <a:endParaRPr lang="en-US" dirty="0"/>
          </a:p>
        </p:txBody>
      </p:sp>
      <p:sp>
        <p:nvSpPr>
          <p:cNvPr id="4" name="Content Placeholder 3"/>
          <p:cNvSpPr>
            <a:spLocks noGrp="1"/>
          </p:cNvSpPr>
          <p:nvPr>
            <p:ph sz="quarter" idx="10"/>
          </p:nvPr>
        </p:nvSpPr>
        <p:spPr/>
        <p:txBody>
          <a:bodyPr/>
          <a:lstStyle/>
          <a:p>
            <a:r>
              <a:rPr lang="en-US" dirty="0" smtClean="0"/>
              <a:t>Production/Shop Floor System Process</a:t>
            </a:r>
          </a:p>
          <a:p>
            <a:endParaRPr lang="en-US" dirty="0"/>
          </a:p>
          <a:p>
            <a:endParaRPr lang="en-US" dirty="0" smtClean="0"/>
          </a:p>
          <a:p>
            <a:endParaRPr lang="en-US" dirty="0"/>
          </a:p>
          <a:p>
            <a:endParaRPr lang="en-US" dirty="0" smtClean="0"/>
          </a:p>
          <a:p>
            <a:endParaRPr lang="en-US" dirty="0" smtClean="0"/>
          </a:p>
          <a:p>
            <a:endParaRPr lang="en-US" dirty="0"/>
          </a:p>
          <a:p>
            <a:endParaRPr lang="en-US" dirty="0" smtClean="0"/>
          </a:p>
        </p:txBody>
      </p:sp>
      <p:sp>
        <p:nvSpPr>
          <p:cNvPr id="5" name="Rounded Rectangle 4"/>
          <p:cNvSpPr/>
          <p:nvPr/>
        </p:nvSpPr>
        <p:spPr>
          <a:xfrm>
            <a:off x="450289" y="1593284"/>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schemeClr val="tx1"/>
                </a:solidFill>
                <a:latin typeface="Calibri" pitchFamily="34" charset="0"/>
                <a:cs typeface="Calibri" pitchFamily="34" charset="0"/>
              </a:rPr>
              <a:t>Begin BSaM Notebook Production</a:t>
            </a:r>
            <a:endParaRPr lang="en-US" sz="1100" dirty="0">
              <a:solidFill>
                <a:schemeClr val="tx1"/>
              </a:solidFill>
              <a:latin typeface="Calibri" pitchFamily="34" charset="0"/>
              <a:cs typeface="Calibri" pitchFamily="34" charset="0"/>
            </a:endParaRPr>
          </a:p>
        </p:txBody>
      </p:sp>
      <p:sp>
        <p:nvSpPr>
          <p:cNvPr id="6" name="Rounded Rectangle 5"/>
          <p:cNvSpPr/>
          <p:nvPr/>
        </p:nvSpPr>
        <p:spPr>
          <a:xfrm>
            <a:off x="1835744" y="1593284"/>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schemeClr val="tx1"/>
                </a:solidFill>
                <a:latin typeface="Calibri" pitchFamily="34" charset="0"/>
                <a:cs typeface="Calibri" pitchFamily="34" charset="0"/>
              </a:rPr>
              <a:t>Temporary Battery is added to NB production tray</a:t>
            </a:r>
            <a:endParaRPr lang="en-US" sz="1100" dirty="0">
              <a:solidFill>
                <a:schemeClr val="tx1"/>
              </a:solidFill>
              <a:latin typeface="Calibri" pitchFamily="34" charset="0"/>
              <a:cs typeface="Calibri" pitchFamily="34" charset="0"/>
            </a:endParaRPr>
          </a:p>
        </p:txBody>
      </p:sp>
      <p:sp>
        <p:nvSpPr>
          <p:cNvPr id="7" name="Rounded Rectangle 6"/>
          <p:cNvSpPr/>
          <p:nvPr/>
        </p:nvSpPr>
        <p:spPr>
          <a:xfrm>
            <a:off x="3235004" y="1593290"/>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schemeClr val="tx1"/>
                </a:solidFill>
                <a:latin typeface="Calibri" pitchFamily="34" charset="0"/>
                <a:cs typeface="Calibri" pitchFamily="34" charset="0"/>
              </a:rPr>
              <a:t>Final  Assembly is completed</a:t>
            </a:r>
            <a:endParaRPr lang="en-US" sz="1100" dirty="0">
              <a:solidFill>
                <a:schemeClr val="tx1"/>
              </a:solidFill>
              <a:latin typeface="Calibri" pitchFamily="34" charset="0"/>
              <a:cs typeface="Calibri" pitchFamily="34" charset="0"/>
            </a:endParaRPr>
          </a:p>
        </p:txBody>
      </p:sp>
      <p:sp>
        <p:nvSpPr>
          <p:cNvPr id="8" name="Rounded Rectangle 7"/>
          <p:cNvSpPr/>
          <p:nvPr/>
        </p:nvSpPr>
        <p:spPr>
          <a:xfrm>
            <a:off x="4620410" y="1593296"/>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schemeClr val="tx1"/>
                </a:solidFill>
                <a:latin typeface="Calibri" pitchFamily="34" charset="0"/>
                <a:cs typeface="Calibri" pitchFamily="34" charset="0"/>
              </a:rPr>
              <a:t>Conducts Run-in/Full Unit Test</a:t>
            </a:r>
            <a:endParaRPr lang="en-US" sz="1100" dirty="0">
              <a:solidFill>
                <a:schemeClr val="tx1"/>
              </a:solidFill>
              <a:latin typeface="Calibri" pitchFamily="34" charset="0"/>
              <a:cs typeface="Calibri" pitchFamily="34" charset="0"/>
            </a:endParaRPr>
          </a:p>
        </p:txBody>
      </p:sp>
      <p:sp>
        <p:nvSpPr>
          <p:cNvPr id="9" name="Rounded Rectangle 8"/>
          <p:cNvSpPr/>
          <p:nvPr/>
        </p:nvSpPr>
        <p:spPr>
          <a:xfrm>
            <a:off x="6019670" y="1586375"/>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schemeClr val="tx1"/>
                </a:solidFill>
                <a:latin typeface="Calibri" pitchFamily="34" charset="0"/>
                <a:cs typeface="Calibri" pitchFamily="34" charset="0"/>
              </a:rPr>
              <a:t>Temporary Battery is removed and repackaged</a:t>
            </a:r>
            <a:endParaRPr lang="en-US" sz="1100" dirty="0">
              <a:solidFill>
                <a:schemeClr val="tx1"/>
              </a:solidFill>
              <a:latin typeface="Calibri" pitchFamily="34" charset="0"/>
              <a:cs typeface="Calibri" pitchFamily="34" charset="0"/>
            </a:endParaRPr>
          </a:p>
        </p:txBody>
      </p:sp>
      <p:sp>
        <p:nvSpPr>
          <p:cNvPr id="10" name="Rounded Rectangle 9"/>
          <p:cNvSpPr/>
          <p:nvPr/>
        </p:nvSpPr>
        <p:spPr>
          <a:xfrm>
            <a:off x="7411908" y="1586372"/>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schemeClr val="tx1"/>
                </a:solidFill>
                <a:latin typeface="Calibri" pitchFamily="34" charset="0"/>
                <a:cs typeface="Calibri" pitchFamily="34" charset="0"/>
              </a:rPr>
              <a:t>Final Bulk Box Packaging of NB</a:t>
            </a:r>
            <a:endParaRPr lang="en-US" sz="1100" dirty="0">
              <a:solidFill>
                <a:schemeClr val="tx1"/>
              </a:solidFill>
              <a:latin typeface="Calibri" pitchFamily="34" charset="0"/>
              <a:cs typeface="Calibri" pitchFamily="34" charset="0"/>
            </a:endParaRPr>
          </a:p>
        </p:txBody>
      </p:sp>
      <p:sp>
        <p:nvSpPr>
          <p:cNvPr id="11" name="Right Arrow 10"/>
          <p:cNvSpPr/>
          <p:nvPr/>
        </p:nvSpPr>
        <p:spPr>
          <a:xfrm>
            <a:off x="1648728" y="1801142"/>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ight Arrow 11"/>
          <p:cNvSpPr/>
          <p:nvPr/>
        </p:nvSpPr>
        <p:spPr>
          <a:xfrm>
            <a:off x="3034150" y="1801148"/>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ight Arrow 12"/>
          <p:cNvSpPr/>
          <p:nvPr/>
        </p:nvSpPr>
        <p:spPr>
          <a:xfrm>
            <a:off x="4433448" y="1801154"/>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ight Arrow 13"/>
          <p:cNvSpPr/>
          <p:nvPr/>
        </p:nvSpPr>
        <p:spPr>
          <a:xfrm>
            <a:off x="5825729" y="1815014"/>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Arrow 14"/>
          <p:cNvSpPr/>
          <p:nvPr/>
        </p:nvSpPr>
        <p:spPr>
          <a:xfrm>
            <a:off x="7224987" y="1808093"/>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p:cNvSpPr txBox="1"/>
          <p:nvPr/>
        </p:nvSpPr>
        <p:spPr>
          <a:xfrm>
            <a:off x="1814313" y="2486901"/>
            <a:ext cx="1221809" cy="836126"/>
          </a:xfrm>
          <a:prstGeom prst="rect">
            <a:avLst/>
          </a:prstGeom>
          <a:noFill/>
        </p:spPr>
        <p:txBody>
          <a:bodyPr wrap="none" rtlCol="0">
            <a:spAutoFit/>
          </a:bodyPr>
          <a:lstStyle/>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ODM will need to </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modify System to </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support Temporary </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Battery that is not </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part of BOM</a:t>
            </a:r>
          </a:p>
        </p:txBody>
      </p:sp>
      <p:sp>
        <p:nvSpPr>
          <p:cNvPr id="19" name="TextBox 18"/>
          <p:cNvSpPr txBox="1"/>
          <p:nvPr/>
        </p:nvSpPr>
        <p:spPr>
          <a:xfrm>
            <a:off x="6005130" y="2493888"/>
            <a:ext cx="1560042" cy="2267287"/>
          </a:xfrm>
          <a:prstGeom prst="rect">
            <a:avLst/>
          </a:prstGeom>
          <a:noFill/>
        </p:spPr>
        <p:txBody>
          <a:bodyPr wrap="none" rtlCol="0">
            <a:spAutoFit/>
          </a:bodyPr>
          <a:lstStyle/>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Repackaged Temp</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Battery to be used for</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IDS production.</a:t>
            </a:r>
          </a:p>
          <a:p>
            <a:pPr marL="0" defTabSz="430213">
              <a:lnSpc>
                <a:spcPct val="70000"/>
              </a:lnSpc>
              <a:spcAft>
                <a:spcPts val="400"/>
              </a:spcAft>
              <a:buSzPct val="100000"/>
            </a:pPr>
            <a:endParaRPr lang="en-US" sz="1000" dirty="0">
              <a:solidFill>
                <a:srgbClr val="000000"/>
              </a:solidFill>
              <a:latin typeface="Calibri" pitchFamily="34" charset="0"/>
              <a:cs typeface="Calibri" pitchFamily="34" charset="0"/>
            </a:endParaRP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Temp Batteries should </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never be utilized for BSaM</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NB testing more than </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one time.</a:t>
            </a:r>
          </a:p>
          <a:p>
            <a:pPr marL="0" defTabSz="430213">
              <a:lnSpc>
                <a:spcPct val="70000"/>
              </a:lnSpc>
              <a:spcAft>
                <a:spcPts val="400"/>
              </a:spcAft>
              <a:buSzPct val="100000"/>
            </a:pPr>
            <a:endParaRPr lang="en-US" sz="1000" dirty="0">
              <a:solidFill>
                <a:srgbClr val="000000"/>
              </a:solidFill>
              <a:latin typeface="Calibri" pitchFamily="34" charset="0"/>
              <a:cs typeface="Calibri" pitchFamily="34" charset="0"/>
            </a:endParaRP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ODM will need to develop</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Method to identify tested</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batteries from Non-tested</a:t>
            </a:r>
          </a:p>
          <a:p>
            <a:pPr marL="0"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batteries.</a:t>
            </a:r>
          </a:p>
          <a:p>
            <a:pPr marL="0" defTabSz="430213">
              <a:lnSpc>
                <a:spcPct val="70000"/>
              </a:lnSpc>
              <a:spcAft>
                <a:spcPts val="400"/>
              </a:spcAft>
              <a:buSzPct val="100000"/>
            </a:pPr>
            <a:endParaRPr lang="en-US" sz="1000" dirty="0" smtClean="0">
              <a:solidFill>
                <a:srgbClr val="000000"/>
              </a:solidFill>
              <a:latin typeface="Calibri" pitchFamily="34" charset="0"/>
              <a:cs typeface="Calibri" pitchFamily="34" charset="0"/>
            </a:endParaRPr>
          </a:p>
        </p:txBody>
      </p:sp>
      <p:sp>
        <p:nvSpPr>
          <p:cNvPr id="20" name="Rounded Rectangle 19"/>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38</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07807078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BSaM</a:t>
            </a:r>
            <a:r>
              <a:rPr lang="en-US" dirty="0" smtClean="0"/>
              <a:t> High Level Process Flows</a:t>
            </a:r>
            <a:endParaRPr lang="en-US" dirty="0"/>
          </a:p>
        </p:txBody>
      </p:sp>
      <p:sp>
        <p:nvSpPr>
          <p:cNvPr id="4" name="Content Placeholder 3"/>
          <p:cNvSpPr>
            <a:spLocks noGrp="1"/>
          </p:cNvSpPr>
          <p:nvPr>
            <p:ph sz="quarter" idx="16"/>
          </p:nvPr>
        </p:nvSpPr>
        <p:spPr/>
        <p:txBody>
          <a:bodyPr/>
          <a:lstStyle/>
          <a:p>
            <a:pPr marL="342900" indent="-342900">
              <a:lnSpc>
                <a:spcPct val="80000"/>
              </a:lnSpc>
              <a:buFont typeface="+mj-lt"/>
              <a:buAutoNum type="arabicPeriod"/>
            </a:pPr>
            <a:r>
              <a:rPr lang="en-US" dirty="0" smtClean="0"/>
              <a:t>Order-to-Delivery Processes</a:t>
            </a:r>
          </a:p>
          <a:p>
            <a:pPr marL="512763" lvl="3" indent="-171450">
              <a:lnSpc>
                <a:spcPct val="80000"/>
              </a:lnSpc>
              <a:buFont typeface="Arial" pitchFamily="34" charset="0"/>
              <a:buChar char="•"/>
            </a:pPr>
            <a:r>
              <a:rPr lang="en-US" dirty="0" smtClean="0"/>
              <a:t>B Part Process</a:t>
            </a:r>
          </a:p>
          <a:p>
            <a:pPr marL="512763" lvl="3" indent="-171450">
              <a:lnSpc>
                <a:spcPct val="80000"/>
              </a:lnSpc>
              <a:buFont typeface="Arial" pitchFamily="34" charset="0"/>
              <a:buChar char="•"/>
            </a:pPr>
            <a:r>
              <a:rPr lang="en-US" dirty="0" smtClean="0"/>
              <a:t>A Part BTO Process</a:t>
            </a:r>
          </a:p>
          <a:p>
            <a:pPr marL="512763" lvl="3" indent="-171450">
              <a:lnSpc>
                <a:spcPct val="80000"/>
              </a:lnSpc>
              <a:buFont typeface="Arial" pitchFamily="34" charset="0"/>
              <a:buChar char="•"/>
            </a:pPr>
            <a:r>
              <a:rPr lang="en-US" dirty="0" smtClean="0"/>
              <a:t>A Part Build Trigger Process </a:t>
            </a:r>
          </a:p>
          <a:p>
            <a:pPr lvl="1">
              <a:lnSpc>
                <a:spcPct val="80000"/>
              </a:lnSpc>
            </a:pPr>
            <a:endParaRPr lang="en-US" sz="1200" dirty="0"/>
          </a:p>
          <a:p>
            <a:pPr marL="342900" indent="-342900">
              <a:lnSpc>
                <a:spcPct val="80000"/>
              </a:lnSpc>
              <a:buFont typeface="+mj-lt"/>
              <a:buAutoNum type="arabicPeriod"/>
            </a:pPr>
            <a:r>
              <a:rPr lang="en-US" dirty="0" smtClean="0"/>
              <a:t>PDM/BOM Structure</a:t>
            </a:r>
            <a:endParaRPr lang="en-US" dirty="0"/>
          </a:p>
          <a:p>
            <a:pPr marL="512763" lvl="3" indent="-171450">
              <a:lnSpc>
                <a:spcPct val="80000"/>
              </a:lnSpc>
              <a:buFont typeface="Arial" pitchFamily="34" charset="0"/>
              <a:buChar char="•"/>
            </a:pPr>
            <a:r>
              <a:rPr lang="en-US" dirty="0" smtClean="0"/>
              <a:t>BSaM PDM/BOM Approach</a:t>
            </a:r>
          </a:p>
          <a:p>
            <a:pPr marL="512763" lvl="3" indent="-171450">
              <a:lnSpc>
                <a:spcPct val="80000"/>
              </a:lnSpc>
              <a:buFont typeface="Arial" pitchFamily="34" charset="0"/>
              <a:buChar char="•"/>
            </a:pPr>
            <a:r>
              <a:rPr lang="en-US" dirty="0" smtClean="0"/>
              <a:t>BSaM AV for Cost Adjustment and Planning</a:t>
            </a:r>
          </a:p>
          <a:p>
            <a:pPr lvl="1">
              <a:lnSpc>
                <a:spcPct val="80000"/>
              </a:lnSpc>
            </a:pPr>
            <a:endParaRPr lang="en-US" sz="1200" dirty="0"/>
          </a:p>
          <a:p>
            <a:pPr marL="342900" indent="-342900">
              <a:lnSpc>
                <a:spcPct val="80000"/>
              </a:lnSpc>
              <a:buFont typeface="+mj-lt"/>
              <a:buAutoNum type="arabicPeriod"/>
            </a:pPr>
            <a:r>
              <a:rPr lang="en-US" dirty="0"/>
              <a:t>Planning</a:t>
            </a:r>
          </a:p>
          <a:p>
            <a:pPr marL="512763" lvl="3" indent="-171450">
              <a:lnSpc>
                <a:spcPct val="80000"/>
              </a:lnSpc>
              <a:buFont typeface="Arial" pitchFamily="34" charset="0"/>
              <a:buChar char="•"/>
            </a:pPr>
            <a:r>
              <a:rPr lang="en-US" dirty="0"/>
              <a:t>A Part and B Part Planning </a:t>
            </a:r>
            <a:r>
              <a:rPr lang="en-US" dirty="0" smtClean="0"/>
              <a:t>Process</a:t>
            </a:r>
          </a:p>
          <a:p>
            <a:pPr marL="512763" lvl="3" indent="-171450">
              <a:lnSpc>
                <a:spcPct val="80000"/>
              </a:lnSpc>
              <a:buFont typeface="Arial" pitchFamily="34" charset="0"/>
              <a:buChar char="•"/>
            </a:pPr>
            <a:endParaRPr lang="en-US" dirty="0" smtClean="0"/>
          </a:p>
          <a:p>
            <a:pPr marL="342900" indent="-342900">
              <a:lnSpc>
                <a:spcPct val="80000"/>
              </a:lnSpc>
              <a:buFont typeface="+mj-lt"/>
              <a:buAutoNum type="arabicPeriod"/>
            </a:pPr>
            <a:r>
              <a:rPr lang="en-US" dirty="0" smtClean="0"/>
              <a:t>Production Grouping Process</a:t>
            </a:r>
          </a:p>
          <a:p>
            <a:pPr marL="512763" lvl="3" indent="-171450">
              <a:lnSpc>
                <a:spcPct val="80000"/>
              </a:lnSpc>
              <a:buFont typeface="Arial" pitchFamily="34" charset="0"/>
              <a:buChar char="•"/>
            </a:pPr>
            <a:r>
              <a:rPr lang="en-US" dirty="0" smtClean="0"/>
              <a:t>Bulk Packaging Order Grouping</a:t>
            </a:r>
          </a:p>
          <a:p>
            <a:pPr marL="512763" lvl="3" indent="-171450">
              <a:lnSpc>
                <a:spcPct val="80000"/>
              </a:lnSpc>
              <a:buFont typeface="Arial" pitchFamily="34" charset="0"/>
              <a:buChar char="•"/>
            </a:pPr>
            <a:endParaRPr lang="en-US" sz="1200" dirty="0" smtClean="0"/>
          </a:p>
          <a:p>
            <a:pPr marL="512763" lvl="3" indent="-171450">
              <a:lnSpc>
                <a:spcPct val="80000"/>
              </a:lnSpc>
              <a:buFont typeface="Arial" pitchFamily="34" charset="0"/>
              <a:buChar char="•"/>
            </a:pPr>
            <a:endParaRPr lang="en-US" sz="1200" dirty="0"/>
          </a:p>
          <a:p>
            <a:pPr marL="512763" lvl="3" indent="-171450">
              <a:lnSpc>
                <a:spcPct val="80000"/>
              </a:lnSpc>
              <a:buFont typeface="Arial" pitchFamily="34" charset="0"/>
              <a:buChar char="•"/>
            </a:pPr>
            <a:endParaRPr lang="en-US" sz="1200" dirty="0"/>
          </a:p>
        </p:txBody>
      </p:sp>
      <p:sp>
        <p:nvSpPr>
          <p:cNvPr id="5" name="Content Placeholder 4"/>
          <p:cNvSpPr>
            <a:spLocks noGrp="1"/>
          </p:cNvSpPr>
          <p:nvPr>
            <p:ph sz="quarter" idx="17"/>
          </p:nvPr>
        </p:nvSpPr>
        <p:spPr/>
        <p:txBody>
          <a:bodyPr/>
          <a:lstStyle/>
          <a:p>
            <a:pPr marL="342900" indent="-342900">
              <a:lnSpc>
                <a:spcPct val="80000"/>
              </a:lnSpc>
              <a:buFont typeface="+mj-lt"/>
              <a:buAutoNum type="arabicPeriod" startAt="5"/>
            </a:pPr>
            <a:r>
              <a:rPr lang="en-US" dirty="0" smtClean="0"/>
              <a:t>BSaM Build Trigger Process</a:t>
            </a:r>
            <a:endParaRPr lang="en-US" dirty="0"/>
          </a:p>
          <a:p>
            <a:pPr marL="512763" lvl="3" indent="-171450">
              <a:lnSpc>
                <a:spcPct val="80000"/>
              </a:lnSpc>
              <a:buFont typeface="Arial" pitchFamily="34" charset="0"/>
              <a:buChar char="•"/>
            </a:pPr>
            <a:r>
              <a:rPr lang="en-US" dirty="0" smtClean="0"/>
              <a:t>Build Trigger PO instead of Customer PO</a:t>
            </a:r>
          </a:p>
          <a:p>
            <a:pPr marL="512763" lvl="3" indent="-171450">
              <a:lnSpc>
                <a:spcPct val="80000"/>
              </a:lnSpc>
              <a:buFont typeface="Arial" pitchFamily="34" charset="0"/>
              <a:buChar char="•"/>
            </a:pPr>
            <a:r>
              <a:rPr lang="en-US" dirty="0" smtClean="0"/>
              <a:t>RSD and Performance Measurement</a:t>
            </a:r>
          </a:p>
          <a:p>
            <a:pPr lvl="1">
              <a:lnSpc>
                <a:spcPct val="80000"/>
              </a:lnSpc>
            </a:pPr>
            <a:endParaRPr lang="en-US" sz="1200" dirty="0" smtClean="0"/>
          </a:p>
          <a:p>
            <a:pPr lvl="1">
              <a:lnSpc>
                <a:spcPct val="80000"/>
              </a:lnSpc>
            </a:pPr>
            <a:endParaRPr lang="en-US" sz="1200" dirty="0" smtClean="0"/>
          </a:p>
          <a:p>
            <a:pPr marL="342900" indent="-342900">
              <a:lnSpc>
                <a:spcPct val="80000"/>
              </a:lnSpc>
              <a:buFont typeface="+mj-lt"/>
              <a:buAutoNum type="arabicPeriod" startAt="5"/>
            </a:pPr>
            <a:r>
              <a:rPr lang="en-US" dirty="0" smtClean="0"/>
              <a:t>Full Unit Test Process</a:t>
            </a:r>
            <a:endParaRPr lang="en-US" dirty="0"/>
          </a:p>
          <a:p>
            <a:pPr marL="512763" lvl="3" indent="-171450">
              <a:lnSpc>
                <a:spcPct val="80000"/>
              </a:lnSpc>
              <a:buFont typeface="Arial" pitchFamily="34" charset="0"/>
              <a:buChar char="•"/>
            </a:pPr>
            <a:r>
              <a:rPr lang="en-US" dirty="0" smtClean="0"/>
              <a:t>NB Full Unit Testing using Temp Battery</a:t>
            </a:r>
            <a:endParaRPr lang="en-US" dirty="0"/>
          </a:p>
          <a:p>
            <a:pPr lvl="1">
              <a:lnSpc>
                <a:spcPct val="80000"/>
              </a:lnSpc>
            </a:pPr>
            <a:endParaRPr lang="en-US" sz="1200" dirty="0"/>
          </a:p>
          <a:p>
            <a:pPr marL="342900" indent="-342900">
              <a:lnSpc>
                <a:spcPct val="80000"/>
              </a:lnSpc>
              <a:buFont typeface="+mj-lt"/>
              <a:buAutoNum type="arabicPeriod" startAt="5"/>
            </a:pPr>
            <a:r>
              <a:rPr lang="en-US" dirty="0" smtClean="0"/>
              <a:t>B Part Process</a:t>
            </a:r>
            <a:endParaRPr lang="en-US" dirty="0"/>
          </a:p>
          <a:p>
            <a:pPr marL="512763" lvl="3" indent="-171450">
              <a:lnSpc>
                <a:spcPct val="80000"/>
              </a:lnSpc>
              <a:buFont typeface="Arial" pitchFamily="34" charset="0"/>
              <a:buChar char="•"/>
            </a:pPr>
            <a:r>
              <a:rPr lang="en-US" dirty="0" smtClean="0"/>
              <a:t>Supplier VMI Model vs. ODM HOI Model</a:t>
            </a:r>
          </a:p>
          <a:p>
            <a:pPr marL="512763" lvl="3" indent="-171450">
              <a:lnSpc>
                <a:spcPct val="80000"/>
              </a:lnSpc>
              <a:buFont typeface="Arial" pitchFamily="34" charset="0"/>
              <a:buChar char="•"/>
            </a:pPr>
            <a:r>
              <a:rPr lang="en-US" dirty="0" smtClean="0"/>
              <a:t>Process required for Exception Contingency</a:t>
            </a:r>
          </a:p>
          <a:p>
            <a:pPr marL="512763" lvl="3" indent="-171450">
              <a:lnSpc>
                <a:spcPct val="80000"/>
              </a:lnSpc>
              <a:buFont typeface="Arial" pitchFamily="34" charset="0"/>
              <a:buChar char="•"/>
            </a:pPr>
            <a:endParaRPr lang="en-US" dirty="0"/>
          </a:p>
          <a:p>
            <a:pPr marL="342900" indent="-342900">
              <a:lnSpc>
                <a:spcPct val="80000"/>
              </a:lnSpc>
              <a:buFont typeface="+mj-lt"/>
              <a:buAutoNum type="arabicPeriod" startAt="5"/>
            </a:pPr>
            <a:r>
              <a:rPr lang="en-US" dirty="0" smtClean="0"/>
              <a:t>Outbound Operation &amp; Logistics</a:t>
            </a:r>
            <a:endParaRPr lang="en-US" dirty="0"/>
          </a:p>
          <a:p>
            <a:pPr marL="512763" lvl="3" indent="-171450">
              <a:lnSpc>
                <a:spcPct val="80000"/>
              </a:lnSpc>
              <a:buFont typeface="Arial" pitchFamily="34" charset="0"/>
              <a:buChar char="•"/>
            </a:pPr>
            <a:r>
              <a:rPr lang="en-US" dirty="0" smtClean="0"/>
              <a:t>Utilize of  IDS HVLS and RCTO processes</a:t>
            </a:r>
          </a:p>
        </p:txBody>
      </p:sp>
      <p:sp>
        <p:nvSpPr>
          <p:cNvPr id="2" name="Subtitle 1"/>
          <p:cNvSpPr>
            <a:spLocks noGrp="1"/>
          </p:cNvSpPr>
          <p:nvPr>
            <p:ph type="subTitle" idx="1"/>
          </p:nvPr>
        </p:nvSpPr>
        <p:spPr/>
        <p:txBody>
          <a:bodyPr/>
          <a:lstStyle/>
          <a:p>
            <a:r>
              <a:rPr lang="en-US" dirty="0" smtClean="0"/>
              <a:t> </a:t>
            </a:r>
            <a:endParaRPr lang="en-US" dirty="0"/>
          </a:p>
        </p:txBody>
      </p:sp>
      <p:sp>
        <p:nvSpPr>
          <p:cNvPr id="6" name="Rounded Rectangle 5"/>
          <p:cNvSpPr/>
          <p:nvPr/>
        </p:nvSpPr>
        <p:spPr>
          <a:xfrm>
            <a:off x="4429991" y="2875451"/>
            <a:ext cx="4015740" cy="350520"/>
          </a:xfrm>
          <a:prstGeom prst="round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39</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97152458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p:cNvSpPr>
            <a:spLocks noGrp="1"/>
          </p:cNvSpPr>
          <p:nvPr>
            <p:ph type="subTitle" idx="1"/>
          </p:nvPr>
        </p:nvSpPr>
        <p:spPr/>
        <p:txBody>
          <a:bodyPr/>
          <a:lstStyle/>
          <a:p>
            <a:r>
              <a:rPr lang="en-US" dirty="0" smtClean="0"/>
              <a:t> </a:t>
            </a:r>
            <a:endParaRPr lang="en-US" dirty="0"/>
          </a:p>
        </p:txBody>
      </p:sp>
      <p:sp>
        <p:nvSpPr>
          <p:cNvPr id="8" name="Title 7"/>
          <p:cNvSpPr>
            <a:spLocks noGrp="1"/>
          </p:cNvSpPr>
          <p:nvPr>
            <p:ph type="title"/>
          </p:nvPr>
        </p:nvSpPr>
        <p:spPr/>
        <p:txBody>
          <a:bodyPr/>
          <a:lstStyle/>
          <a:p>
            <a:r>
              <a:rPr lang="en-US" dirty="0" smtClean="0"/>
              <a:t>B Part Process</a:t>
            </a:r>
            <a:endParaRPr lang="en-US" dirty="0"/>
          </a:p>
        </p:txBody>
      </p:sp>
      <p:sp>
        <p:nvSpPr>
          <p:cNvPr id="10" name="Content Placeholder 9"/>
          <p:cNvSpPr>
            <a:spLocks noGrp="1"/>
          </p:cNvSpPr>
          <p:nvPr>
            <p:ph sz="quarter" idx="10"/>
          </p:nvPr>
        </p:nvSpPr>
        <p:spPr/>
        <p:txBody>
          <a:bodyPr/>
          <a:lstStyle/>
          <a:p>
            <a:pPr marL="285750" indent="-285750">
              <a:buFont typeface="Arial" pitchFamily="34" charset="0"/>
              <a:buChar char="•"/>
            </a:pPr>
            <a:r>
              <a:rPr lang="en-US" dirty="0" smtClean="0"/>
              <a:t>ODM B Part Process</a:t>
            </a:r>
          </a:p>
          <a:p>
            <a:pPr marL="627063" lvl="3" indent="-285750">
              <a:buFontTx/>
              <a:buChar char="-"/>
            </a:pPr>
            <a:r>
              <a:rPr lang="en-US" dirty="0" smtClean="0"/>
              <a:t>Although HP will be using the Supplier VMI model as a standard procedure to procure B Parts directly from suppliers, there will be a need for a ODM B Part Procurement Process as an Exception / Contingency Process.  This process will be used for cases such as Initial NPI Release, when there are technical issues, or for future scenarios where B Parts may include specific DIB items.</a:t>
            </a:r>
          </a:p>
          <a:p>
            <a:pPr marL="627063" lvl="3" indent="-285750">
              <a:buFontTx/>
              <a:buChar char="-"/>
            </a:pPr>
            <a:endParaRPr lang="en-US" sz="800" dirty="0" smtClean="0"/>
          </a:p>
          <a:p>
            <a:pPr marL="627063" lvl="3" indent="-285750">
              <a:buFontTx/>
              <a:buChar char="-"/>
            </a:pPr>
            <a:r>
              <a:rPr lang="en-US" dirty="0" smtClean="0"/>
              <a:t>The title transfer for ODM B Part orders will occur at the point of </a:t>
            </a:r>
            <a:r>
              <a:rPr lang="en-US" dirty="0" err="1" smtClean="0"/>
              <a:t>exworks</a:t>
            </a:r>
            <a:r>
              <a:rPr lang="en-US" dirty="0" smtClean="0"/>
              <a:t> (FCA Shipper’s Dock).  The ship mode for these B Part orders will depend on the order but in most cases they will be requested to be shipped air.</a:t>
            </a:r>
          </a:p>
          <a:p>
            <a:pPr marL="627063" lvl="3" indent="-285750">
              <a:buFontTx/>
              <a:buChar char="-"/>
            </a:pPr>
            <a:endParaRPr lang="en-US" sz="800" dirty="0" smtClean="0"/>
          </a:p>
          <a:p>
            <a:pPr marL="627063" lvl="3" indent="-285750">
              <a:buFontTx/>
              <a:buChar char="-"/>
            </a:pPr>
            <a:r>
              <a:rPr lang="en-US" dirty="0" smtClean="0"/>
              <a:t>The B Part process will generally be aligned with the current RCTO process where ODMs are shipping specific components or semi-configured items to the CM.  In the case of BSaM though the purchasing party will be HP and the ship-to location will be one of our PCCs which will be managed by Ryder.</a:t>
            </a:r>
          </a:p>
          <a:p>
            <a:pPr marL="627063" lvl="3" indent="-285750">
              <a:buFontTx/>
              <a:buChar char="-"/>
            </a:pPr>
            <a:endParaRPr lang="en-US" sz="800" dirty="0" smtClean="0"/>
          </a:p>
          <a:p>
            <a:pPr marL="627063" lvl="3" indent="-285750">
              <a:buFontTx/>
              <a:buChar char="-"/>
            </a:pPr>
            <a:r>
              <a:rPr lang="en-US" dirty="0" smtClean="0"/>
              <a:t>Currently there is discussion by our HP IT on if the process will need to be supported through EDI (TBD)</a:t>
            </a:r>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40</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57424548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08"/>
          <p:cNvSpPr/>
          <p:nvPr/>
        </p:nvSpPr>
        <p:spPr>
          <a:xfrm>
            <a:off x="512717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sz="1600" b="1" dirty="0" smtClean="0">
                <a:solidFill>
                  <a:prstClr val="black"/>
                </a:solidFill>
                <a:latin typeface="Calibri" pitchFamily="34" charset="0"/>
                <a:cs typeface="Calibri" pitchFamily="34" charset="0"/>
              </a:rPr>
              <a:t>VMI/HP</a:t>
            </a:r>
          </a:p>
          <a:p>
            <a:pPr algn="ctr" defTabSz="914400" fontAlgn="base">
              <a:lnSpc>
                <a:spcPct val="70000"/>
              </a:lnSpc>
              <a:spcBef>
                <a:spcPct val="0"/>
              </a:spcBef>
              <a:spcAft>
                <a:spcPct val="0"/>
              </a:spcAft>
            </a:pPr>
            <a:r>
              <a:rPr lang="en-US" sz="1600" b="1" dirty="0" smtClean="0">
                <a:solidFill>
                  <a:prstClr val="black"/>
                </a:solidFill>
                <a:latin typeface="Calibri" pitchFamily="34" charset="0"/>
                <a:cs typeface="Calibri" pitchFamily="34" charset="0"/>
              </a:rPr>
              <a:t>Hub</a:t>
            </a:r>
          </a:p>
        </p:txBody>
      </p:sp>
      <p:sp>
        <p:nvSpPr>
          <p:cNvPr id="36" name="Rectangle 35"/>
          <p:cNvSpPr/>
          <p:nvPr/>
        </p:nvSpPr>
        <p:spPr>
          <a:xfrm>
            <a:off x="428181" y="1287232"/>
            <a:ext cx="2053781" cy="1344378"/>
          </a:xfrm>
          <a:prstGeom prst="rect">
            <a:avLst/>
          </a:prstGeom>
          <a:gradFill>
            <a:gsLst>
              <a:gs pos="0">
                <a:srgbClr val="0000FF"/>
              </a:gs>
              <a:gs pos="50000">
                <a:srgbClr val="0066FF">
                  <a:alpha val="49000"/>
                </a:srgbClr>
              </a:gs>
              <a:gs pos="100000">
                <a:srgbClr val="0000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HP</a:t>
            </a:r>
          </a:p>
        </p:txBody>
      </p:sp>
      <p:sp>
        <p:nvSpPr>
          <p:cNvPr id="55" name="Rectangle 54"/>
          <p:cNvSpPr/>
          <p:nvPr/>
        </p:nvSpPr>
        <p:spPr>
          <a:xfrm>
            <a:off x="5119978" y="2820313"/>
            <a:ext cx="2075551" cy="1360736"/>
          </a:xfrm>
          <a:prstGeom prst="rect">
            <a:avLst/>
          </a:prstGeom>
          <a:gradFill>
            <a:gsLst>
              <a:gs pos="0">
                <a:srgbClr val="9966FF"/>
              </a:gs>
              <a:gs pos="50000">
                <a:srgbClr val="9966FF">
                  <a:alpha val="1000"/>
                </a:srgbClr>
              </a:gs>
              <a:gs pos="100000">
                <a:srgbClr val="9966FF"/>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PCC</a:t>
            </a:r>
          </a:p>
        </p:txBody>
      </p:sp>
      <p:sp>
        <p:nvSpPr>
          <p:cNvPr id="2" name="Title 1"/>
          <p:cNvSpPr>
            <a:spLocks noGrp="1"/>
          </p:cNvSpPr>
          <p:nvPr>
            <p:ph type="title"/>
          </p:nvPr>
        </p:nvSpPr>
        <p:spPr/>
        <p:txBody>
          <a:bodyPr/>
          <a:lstStyle/>
          <a:p>
            <a:r>
              <a:rPr lang="en-US" dirty="0" err="1" smtClean="0"/>
              <a:t>BSaM</a:t>
            </a:r>
            <a:r>
              <a:rPr lang="en-US" dirty="0" smtClean="0"/>
              <a:t> Postponement Parts Positioning</a:t>
            </a:r>
            <a:endParaRPr lang="en-US" dirty="0"/>
          </a:p>
        </p:txBody>
      </p:sp>
      <p:sp>
        <p:nvSpPr>
          <p:cNvPr id="8" name="Rectangle 7"/>
          <p:cNvSpPr/>
          <p:nvPr/>
        </p:nvSpPr>
        <p:spPr>
          <a:xfrm>
            <a:off x="2844805" y="1279039"/>
            <a:ext cx="2075551" cy="1360736"/>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b="1" dirty="0" smtClean="0">
                <a:solidFill>
                  <a:prstClr val="white"/>
                </a:solidFill>
                <a:latin typeface="Calibri" pitchFamily="34" charset="0"/>
                <a:cs typeface="Calibri" pitchFamily="34" charset="0"/>
              </a:rPr>
              <a:t>ODM</a:t>
            </a:r>
          </a:p>
        </p:txBody>
      </p:sp>
      <p:sp>
        <p:nvSpPr>
          <p:cNvPr id="11" name="Rectangle 10"/>
          <p:cNvSpPr/>
          <p:nvPr/>
        </p:nvSpPr>
        <p:spPr>
          <a:xfrm>
            <a:off x="7645406" y="1304467"/>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A</a:t>
            </a:r>
          </a:p>
        </p:txBody>
      </p:sp>
      <p:sp>
        <p:nvSpPr>
          <p:cNvPr id="85" name="Rectangle 84"/>
          <p:cNvSpPr/>
          <p:nvPr/>
        </p:nvSpPr>
        <p:spPr>
          <a:xfrm>
            <a:off x="5198558" y="4306023"/>
            <a:ext cx="499533" cy="355600"/>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600" b="1" dirty="0" smtClean="0">
                <a:solidFill>
                  <a:prstClr val="white"/>
                </a:solidFill>
              </a:rPr>
              <a:t>B</a:t>
            </a:r>
          </a:p>
        </p:txBody>
      </p:sp>
      <p:sp>
        <p:nvSpPr>
          <p:cNvPr id="105" name="Rectangle 104"/>
          <p:cNvSpPr/>
          <p:nvPr/>
        </p:nvSpPr>
        <p:spPr>
          <a:xfrm>
            <a:off x="7645406" y="20474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B</a:t>
            </a:r>
          </a:p>
        </p:txBody>
      </p:sp>
      <p:sp>
        <p:nvSpPr>
          <p:cNvPr id="110" name="Rectangle 109"/>
          <p:cNvSpPr/>
          <p:nvPr/>
        </p:nvSpPr>
        <p:spPr>
          <a:xfrm>
            <a:off x="7645406" y="2782235"/>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C</a:t>
            </a:r>
          </a:p>
        </p:txBody>
      </p:sp>
      <p:sp>
        <p:nvSpPr>
          <p:cNvPr id="113" name="Rectangle 112"/>
          <p:cNvSpPr/>
          <p:nvPr/>
        </p:nvSpPr>
        <p:spPr>
          <a:xfrm>
            <a:off x="7645406" y="3533368"/>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D</a:t>
            </a:r>
          </a:p>
        </p:txBody>
      </p:sp>
      <p:sp>
        <p:nvSpPr>
          <p:cNvPr id="116" name="Rectangle 115"/>
          <p:cNvSpPr/>
          <p:nvPr/>
        </p:nvSpPr>
        <p:spPr>
          <a:xfrm>
            <a:off x="7645406" y="4268170"/>
            <a:ext cx="999078" cy="463550"/>
          </a:xfrm>
          <a:prstGeom prst="rect">
            <a:avLst/>
          </a:prstGeom>
          <a:gradFill>
            <a:gsLst>
              <a:gs pos="0">
                <a:srgbClr val="006600"/>
              </a:gs>
              <a:gs pos="50000">
                <a:srgbClr val="006600">
                  <a:alpha val="33000"/>
                </a:srgbClr>
              </a:gs>
              <a:gs pos="100000">
                <a:srgbClr val="008000"/>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00" fontAlgn="base">
              <a:spcBef>
                <a:spcPct val="0"/>
              </a:spcBef>
              <a:spcAft>
                <a:spcPct val="0"/>
              </a:spcAft>
            </a:pPr>
            <a:r>
              <a:rPr lang="en-US" sz="1200" b="1" dirty="0" smtClean="0">
                <a:solidFill>
                  <a:prstClr val="white"/>
                </a:solidFill>
                <a:latin typeface="Calibri" pitchFamily="34" charset="0"/>
                <a:cs typeface="Calibri" pitchFamily="34" charset="0"/>
              </a:rPr>
              <a:t>Customer E</a:t>
            </a:r>
          </a:p>
        </p:txBody>
      </p:sp>
      <p:sp>
        <p:nvSpPr>
          <p:cNvPr id="189" name="Rectangle 188"/>
          <p:cNvSpPr/>
          <p:nvPr/>
        </p:nvSpPr>
        <p:spPr>
          <a:xfrm>
            <a:off x="421821" y="4212769"/>
            <a:ext cx="2079172" cy="507122"/>
          </a:xfrm>
          <a:prstGeom prst="rect">
            <a:avLst/>
          </a:prstGeom>
          <a:gradFill>
            <a:gsLst>
              <a:gs pos="0">
                <a:schemeClr val="tx1">
                  <a:lumMod val="65000"/>
                  <a:lumOff val="35000"/>
                </a:schemeClr>
              </a:gs>
              <a:gs pos="50000">
                <a:schemeClr val="tx1">
                  <a:lumMod val="65000"/>
                  <a:lumOff val="35000"/>
                  <a:alpha val="13000"/>
                </a:schemeClr>
              </a:gs>
              <a:gs pos="100000">
                <a:schemeClr val="tx1">
                  <a:lumMod val="65000"/>
                  <a:lumOff val="35000"/>
                </a:schemeClr>
              </a:gs>
            </a:gsLst>
            <a:lin ang="5400000" scaled="0"/>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lnSpc>
                <a:spcPct val="70000"/>
              </a:lnSpc>
              <a:spcBef>
                <a:spcPct val="0"/>
              </a:spcBef>
              <a:spcAft>
                <a:spcPct val="0"/>
              </a:spcAft>
            </a:pPr>
            <a:r>
              <a:rPr lang="en-US" sz="1600" b="1" dirty="0" smtClean="0">
                <a:solidFill>
                  <a:prstClr val="black"/>
                </a:solidFill>
                <a:latin typeface="Calibri" pitchFamily="34" charset="0"/>
                <a:cs typeface="Calibri" pitchFamily="34" charset="0"/>
              </a:rPr>
              <a:t>Component</a:t>
            </a:r>
          </a:p>
          <a:p>
            <a:pPr algn="ctr" defTabSz="914400" fontAlgn="base">
              <a:lnSpc>
                <a:spcPct val="70000"/>
              </a:lnSpc>
              <a:spcBef>
                <a:spcPct val="0"/>
              </a:spcBef>
              <a:spcAft>
                <a:spcPct val="0"/>
              </a:spcAft>
            </a:pPr>
            <a:r>
              <a:rPr lang="en-US" sz="1600" b="1" dirty="0" smtClean="0">
                <a:solidFill>
                  <a:prstClr val="black"/>
                </a:solidFill>
                <a:latin typeface="Calibri" pitchFamily="34" charset="0"/>
                <a:cs typeface="Calibri" pitchFamily="34" charset="0"/>
              </a:rPr>
              <a:t> &amp; DIB Suppliers</a:t>
            </a:r>
          </a:p>
        </p:txBody>
      </p:sp>
      <p:sp>
        <p:nvSpPr>
          <p:cNvPr id="104" name="Rectangle 103"/>
          <p:cNvSpPr/>
          <p:nvPr/>
        </p:nvSpPr>
        <p:spPr>
          <a:xfrm>
            <a:off x="4991100" y="2733732"/>
            <a:ext cx="2495550" cy="1471613"/>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latin typeface="Calibri" pitchFamily="34" charset="0"/>
              <a:cs typeface="Calibri" pitchFamily="34" charset="0"/>
            </a:endParaRPr>
          </a:p>
        </p:txBody>
      </p:sp>
      <p:sp>
        <p:nvSpPr>
          <p:cNvPr id="127" name="Rectangle 126"/>
          <p:cNvSpPr/>
          <p:nvPr/>
        </p:nvSpPr>
        <p:spPr>
          <a:xfrm>
            <a:off x="7372350" y="1266827"/>
            <a:ext cx="1581150" cy="3495675"/>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latin typeface="Calibri" pitchFamily="34" charset="0"/>
              <a:cs typeface="Calibri" pitchFamily="34" charset="0"/>
            </a:endParaRPr>
          </a:p>
        </p:txBody>
      </p:sp>
      <p:sp>
        <p:nvSpPr>
          <p:cNvPr id="135" name="Rectangle 134"/>
          <p:cNvSpPr/>
          <p:nvPr/>
        </p:nvSpPr>
        <p:spPr>
          <a:xfrm>
            <a:off x="2275485" y="4482871"/>
            <a:ext cx="289927" cy="232004"/>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a:t>
            </a:r>
          </a:p>
        </p:txBody>
      </p:sp>
      <p:sp>
        <p:nvSpPr>
          <p:cNvPr id="143" name="Rectangle 142"/>
          <p:cNvSpPr/>
          <p:nvPr/>
        </p:nvSpPr>
        <p:spPr>
          <a:xfrm>
            <a:off x="2275485" y="4225696"/>
            <a:ext cx="289927" cy="232004"/>
          </a:xfrm>
          <a:prstGeom prst="rect">
            <a:avLst/>
          </a:prstGeom>
          <a:solidFill>
            <a:srgbClr val="33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a:t>
            </a:r>
          </a:p>
        </p:txBody>
      </p:sp>
      <p:sp>
        <p:nvSpPr>
          <p:cNvPr id="144" name="Rectangle 143"/>
          <p:cNvSpPr/>
          <p:nvPr/>
        </p:nvSpPr>
        <p:spPr>
          <a:xfrm>
            <a:off x="3626274" y="2344510"/>
            <a:ext cx="289927" cy="232004"/>
          </a:xfrm>
          <a:prstGeom prst="rect">
            <a:avLst/>
          </a:prstGeom>
          <a:solidFill>
            <a:srgbClr val="3399FF">
              <a:alpha val="26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white"/>
                </a:solidFill>
              </a:rPr>
              <a:t>B</a:t>
            </a:r>
          </a:p>
        </p:txBody>
      </p:sp>
      <p:cxnSp>
        <p:nvCxnSpPr>
          <p:cNvPr id="147" name="Shape 146"/>
          <p:cNvCxnSpPr>
            <a:stCxn id="144" idx="2"/>
          </p:cNvCxnSpPr>
          <p:nvPr/>
        </p:nvCxnSpPr>
        <p:spPr>
          <a:xfrm rot="16200000" flipH="1">
            <a:off x="3589568" y="2758293"/>
            <a:ext cx="1787672" cy="1424223"/>
          </a:xfrm>
          <a:prstGeom prst="bentConnector3">
            <a:avLst>
              <a:gd name="adj1" fmla="val 99988"/>
            </a:avLst>
          </a:prstGeom>
          <a:ln w="12700">
            <a:solidFill>
              <a:schemeClr val="tx2">
                <a:lumMod val="75000"/>
                <a:alpha val="27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0" name="Elbow Connector 149"/>
          <p:cNvCxnSpPr>
            <a:stCxn id="143" idx="3"/>
            <a:endCxn id="85" idx="1"/>
          </p:cNvCxnSpPr>
          <p:nvPr/>
        </p:nvCxnSpPr>
        <p:spPr>
          <a:xfrm>
            <a:off x="2565400" y="4341699"/>
            <a:ext cx="2633144" cy="142126"/>
          </a:xfrm>
          <a:prstGeom prst="bentConnector3">
            <a:avLst>
              <a:gd name="adj1" fmla="val 14309"/>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6" name="Elbow Connector 165"/>
          <p:cNvCxnSpPr>
            <a:stCxn id="135" idx="3"/>
          </p:cNvCxnSpPr>
          <p:nvPr/>
        </p:nvCxnSpPr>
        <p:spPr>
          <a:xfrm flipV="1">
            <a:off x="2565400" y="4597978"/>
            <a:ext cx="2633518" cy="896"/>
          </a:xfrm>
          <a:prstGeom prst="bentConnector3">
            <a:avLst>
              <a:gd name="adj1" fmla="val 50000"/>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74" name="Flowchart: Punched Tape 173"/>
          <p:cNvSpPr/>
          <p:nvPr/>
        </p:nvSpPr>
        <p:spPr>
          <a:xfrm>
            <a:off x="1560975" y="1943071"/>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sp>
        <p:nvSpPr>
          <p:cNvPr id="175" name="Flowchart: Punched Tape 174"/>
          <p:cNvSpPr/>
          <p:nvPr/>
        </p:nvSpPr>
        <p:spPr>
          <a:xfrm>
            <a:off x="1560969" y="2146276"/>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sp>
        <p:nvSpPr>
          <p:cNvPr id="176" name="Flowchart: Punched Tape 175"/>
          <p:cNvSpPr/>
          <p:nvPr/>
        </p:nvSpPr>
        <p:spPr>
          <a:xfrm>
            <a:off x="1569430" y="234947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sp>
        <p:nvSpPr>
          <p:cNvPr id="177" name="Flowchart: Punched Tape 176"/>
          <p:cNvSpPr/>
          <p:nvPr/>
        </p:nvSpPr>
        <p:spPr>
          <a:xfrm>
            <a:off x="2976997" y="1943077"/>
            <a:ext cx="262468" cy="177800"/>
          </a:xfrm>
          <a:prstGeom prst="flowChartPunchedTape">
            <a:avLst/>
          </a:prstGeom>
          <a:solidFill>
            <a:schemeClr val="bg1">
              <a:alpha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cxnSp>
        <p:nvCxnSpPr>
          <p:cNvPr id="182" name="Shape 146"/>
          <p:cNvCxnSpPr>
            <a:stCxn id="177" idx="3"/>
            <a:endCxn id="144" idx="0"/>
          </p:cNvCxnSpPr>
          <p:nvPr/>
        </p:nvCxnSpPr>
        <p:spPr>
          <a:xfrm>
            <a:off x="3239465" y="2032032"/>
            <a:ext cx="531770" cy="312533"/>
          </a:xfrm>
          <a:prstGeom prst="bentConnector2">
            <a:avLst/>
          </a:prstGeom>
          <a:ln w="12700">
            <a:solidFill>
              <a:schemeClr val="tx2">
                <a:lumMod val="75000"/>
                <a:alpha val="27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86" name="Shape 146"/>
          <p:cNvCxnSpPr>
            <a:stCxn id="175" idx="3"/>
            <a:endCxn id="200" idx="0"/>
          </p:cNvCxnSpPr>
          <p:nvPr/>
        </p:nvCxnSpPr>
        <p:spPr>
          <a:xfrm>
            <a:off x="1823444" y="2235174"/>
            <a:ext cx="253403" cy="1903794"/>
          </a:xfrm>
          <a:prstGeom prst="bentConnector2">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0" name="Shape 146"/>
          <p:cNvCxnSpPr>
            <a:stCxn id="176" idx="3"/>
            <a:endCxn id="199" idx="0"/>
          </p:cNvCxnSpPr>
          <p:nvPr/>
        </p:nvCxnSpPr>
        <p:spPr>
          <a:xfrm>
            <a:off x="1831902" y="2438378"/>
            <a:ext cx="50207" cy="1700595"/>
          </a:xfrm>
          <a:prstGeom prst="bentConnector2">
            <a:avLst/>
          </a:prstGeom>
          <a:ln w="127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96" name="Straight Arrow Connector 195"/>
          <p:cNvCxnSpPr>
            <a:stCxn id="174" idx="3"/>
            <a:endCxn id="177" idx="1"/>
          </p:cNvCxnSpPr>
          <p:nvPr/>
        </p:nvCxnSpPr>
        <p:spPr>
          <a:xfrm>
            <a:off x="1823443" y="2032027"/>
            <a:ext cx="1153554" cy="5"/>
          </a:xfrm>
          <a:prstGeom prst="straightConnector1">
            <a:avLst/>
          </a:prstGeom>
          <a:ln w="12700">
            <a:solidFill>
              <a:schemeClr val="tx2">
                <a:lumMod val="75000"/>
                <a:alpha val="27000"/>
              </a:schemeClr>
            </a:solidFill>
            <a:tailEnd type="arrow"/>
          </a:ln>
        </p:spPr>
        <p:style>
          <a:lnRef idx="1">
            <a:schemeClr val="accent1"/>
          </a:lnRef>
          <a:fillRef idx="0">
            <a:schemeClr val="accent1"/>
          </a:fillRef>
          <a:effectRef idx="0">
            <a:schemeClr val="accent1"/>
          </a:effectRef>
          <a:fontRef idx="minor">
            <a:schemeClr val="tx1"/>
          </a:fontRef>
        </p:style>
      </p:cxnSp>
      <p:sp>
        <p:nvSpPr>
          <p:cNvPr id="197" name="Isosceles Triangle 196"/>
          <p:cNvSpPr/>
          <p:nvPr/>
        </p:nvSpPr>
        <p:spPr>
          <a:xfrm rot="16200000">
            <a:off x="3806867" y="2727882"/>
            <a:ext cx="103910" cy="110836"/>
          </a:xfrm>
          <a:prstGeom prst="triangle">
            <a:avLst/>
          </a:prstGeom>
          <a:solidFill>
            <a:schemeClr val="bg1">
              <a:alpha val="61000"/>
            </a:schemeClr>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198" name="TextBox 197"/>
          <p:cNvSpPr txBox="1"/>
          <p:nvPr/>
        </p:nvSpPr>
        <p:spPr>
          <a:xfrm>
            <a:off x="3895224" y="2641673"/>
            <a:ext cx="1328763" cy="507831"/>
          </a:xfrm>
          <a:prstGeom prst="rect">
            <a:avLst/>
          </a:prstGeom>
          <a:noFill/>
        </p:spPr>
        <p:txBody>
          <a:bodyPr wrap="square" lIns="91440" rIns="91440" rtlCol="0">
            <a:spAutoFit/>
          </a:bodyPr>
          <a:lstStyle/>
          <a:p>
            <a:pPr defTabSz="914400" fontAlgn="base">
              <a:spcBef>
                <a:spcPct val="0"/>
              </a:spcBef>
              <a:spcAft>
                <a:spcPct val="0"/>
              </a:spcAft>
            </a:pPr>
            <a:r>
              <a:rPr lang="en-US" sz="900" dirty="0" smtClean="0">
                <a:solidFill>
                  <a:prstClr val="black"/>
                </a:solidFill>
                <a:latin typeface="Arial" charset="0"/>
              </a:rPr>
              <a:t>Title Transfer Air</a:t>
            </a:r>
          </a:p>
          <a:p>
            <a:pPr defTabSz="914400" fontAlgn="base">
              <a:spcBef>
                <a:spcPct val="0"/>
              </a:spcBef>
              <a:spcAft>
                <a:spcPct val="0"/>
              </a:spcAft>
            </a:pPr>
            <a:r>
              <a:rPr lang="en-US" sz="900" dirty="0" smtClean="0">
                <a:solidFill>
                  <a:prstClr val="black"/>
                </a:solidFill>
                <a:latin typeface="Arial" charset="0"/>
              </a:rPr>
              <a:t>ODM to HP</a:t>
            </a:r>
          </a:p>
          <a:p>
            <a:pPr defTabSz="914400" fontAlgn="base">
              <a:spcBef>
                <a:spcPct val="0"/>
              </a:spcBef>
              <a:spcAft>
                <a:spcPct val="0"/>
              </a:spcAft>
            </a:pPr>
            <a:r>
              <a:rPr lang="en-US" sz="900" dirty="0" smtClean="0">
                <a:solidFill>
                  <a:prstClr val="black"/>
                </a:solidFill>
                <a:latin typeface="Arial" charset="0"/>
              </a:rPr>
              <a:t>(ODM HOI Model)</a:t>
            </a:r>
            <a:endParaRPr lang="en-US" sz="800" dirty="0">
              <a:solidFill>
                <a:prstClr val="black"/>
              </a:solidFill>
              <a:latin typeface="Arial" charset="0"/>
            </a:endParaRPr>
          </a:p>
        </p:txBody>
      </p:sp>
      <p:sp>
        <p:nvSpPr>
          <p:cNvPr id="199" name="Flowchart: Punched Tape 198"/>
          <p:cNvSpPr/>
          <p:nvPr/>
        </p:nvSpPr>
        <p:spPr>
          <a:xfrm>
            <a:off x="1750871" y="4121194"/>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sp>
        <p:nvSpPr>
          <p:cNvPr id="200" name="Flowchart: Punched Tape 199"/>
          <p:cNvSpPr/>
          <p:nvPr/>
        </p:nvSpPr>
        <p:spPr>
          <a:xfrm>
            <a:off x="1945606" y="4121188"/>
            <a:ext cx="262468" cy="177800"/>
          </a:xfrm>
          <a:prstGeom prst="flowChartPunchedTap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defTabSz="914400" fontAlgn="base">
              <a:spcBef>
                <a:spcPct val="0"/>
              </a:spcBef>
              <a:spcAft>
                <a:spcPct val="0"/>
              </a:spcAft>
            </a:pPr>
            <a:r>
              <a:rPr lang="en-US" sz="1000" b="1" dirty="0" smtClean="0">
                <a:solidFill>
                  <a:prstClr val="black"/>
                </a:solidFill>
              </a:rPr>
              <a:t>B</a:t>
            </a:r>
          </a:p>
        </p:txBody>
      </p:sp>
      <p:sp>
        <p:nvSpPr>
          <p:cNvPr id="203" name="Isosceles Triangle 202"/>
          <p:cNvSpPr/>
          <p:nvPr/>
        </p:nvSpPr>
        <p:spPr>
          <a:xfrm rot="5400000">
            <a:off x="4976561" y="4133772"/>
            <a:ext cx="103910" cy="110836"/>
          </a:xfrm>
          <a:prstGeom prst="triangle">
            <a:avLst/>
          </a:prstGeom>
          <a:solidFill>
            <a:schemeClr val="bg1">
              <a:alpha val="61000"/>
            </a:schemeClr>
          </a:solid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204" name="TextBox 203"/>
          <p:cNvSpPr txBox="1"/>
          <p:nvPr/>
        </p:nvSpPr>
        <p:spPr>
          <a:xfrm>
            <a:off x="3662814" y="4007558"/>
            <a:ext cx="1328763" cy="507831"/>
          </a:xfrm>
          <a:prstGeom prst="rect">
            <a:avLst/>
          </a:prstGeom>
          <a:noFill/>
        </p:spPr>
        <p:txBody>
          <a:bodyPr wrap="square" lIns="91440" rIns="91440" rtlCol="0">
            <a:spAutoFit/>
          </a:bodyPr>
          <a:lstStyle/>
          <a:p>
            <a:pPr algn="r" defTabSz="914400" fontAlgn="base">
              <a:spcBef>
                <a:spcPct val="0"/>
              </a:spcBef>
              <a:spcAft>
                <a:spcPct val="0"/>
              </a:spcAft>
            </a:pPr>
            <a:r>
              <a:rPr lang="en-US" sz="900" dirty="0" smtClean="0">
                <a:solidFill>
                  <a:prstClr val="black"/>
                </a:solidFill>
                <a:latin typeface="Arial" charset="0"/>
              </a:rPr>
              <a:t>Title Transfer</a:t>
            </a:r>
          </a:p>
          <a:p>
            <a:pPr algn="r" defTabSz="914400" fontAlgn="base">
              <a:spcBef>
                <a:spcPct val="0"/>
              </a:spcBef>
              <a:spcAft>
                <a:spcPct val="0"/>
              </a:spcAft>
            </a:pPr>
            <a:r>
              <a:rPr lang="en-US" sz="900" dirty="0" smtClean="0">
                <a:solidFill>
                  <a:prstClr val="black"/>
                </a:solidFill>
                <a:latin typeface="Arial" charset="0"/>
              </a:rPr>
              <a:t>Supplier to HP</a:t>
            </a:r>
          </a:p>
          <a:p>
            <a:pPr algn="r" defTabSz="914400" fontAlgn="base">
              <a:spcBef>
                <a:spcPct val="0"/>
              </a:spcBef>
              <a:spcAft>
                <a:spcPct val="0"/>
              </a:spcAft>
            </a:pPr>
            <a:r>
              <a:rPr lang="en-US" sz="900" dirty="0" smtClean="0">
                <a:solidFill>
                  <a:prstClr val="black"/>
                </a:solidFill>
                <a:latin typeface="Arial" charset="0"/>
              </a:rPr>
              <a:t>(Supplier VMI Model)</a:t>
            </a:r>
            <a:endParaRPr lang="en-US" sz="800" dirty="0">
              <a:solidFill>
                <a:prstClr val="black"/>
              </a:solidFill>
              <a:latin typeface="Arial" charset="0"/>
            </a:endParaRPr>
          </a:p>
        </p:txBody>
      </p:sp>
      <p:sp>
        <p:nvSpPr>
          <p:cNvPr id="3" name="Rounded Rectangle 2"/>
          <p:cNvSpPr/>
          <p:nvPr/>
        </p:nvSpPr>
        <p:spPr>
          <a:xfrm>
            <a:off x="5214761" y="1035844"/>
            <a:ext cx="1862314" cy="1313634"/>
          </a:xfrm>
          <a:prstGeom prst="roundRect">
            <a:avLst/>
          </a:prstGeom>
          <a:solidFill>
            <a:schemeClr val="bg1">
              <a:alpha val="6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200" b="1" dirty="0" smtClean="0">
                <a:solidFill>
                  <a:srgbClr val="FF0000"/>
                </a:solidFill>
                <a:latin typeface="Calibri" pitchFamily="34" charset="0"/>
                <a:cs typeface="Calibri" pitchFamily="34" charset="0"/>
              </a:rPr>
              <a:t>Standard B Part Procurement will be directly from Supplier.</a:t>
            </a:r>
          </a:p>
          <a:p>
            <a:pPr algn="ctr" defTabSz="914400" fontAlgn="base">
              <a:spcBef>
                <a:spcPct val="0"/>
              </a:spcBef>
              <a:spcAft>
                <a:spcPct val="0"/>
              </a:spcAft>
            </a:pPr>
            <a:r>
              <a:rPr lang="en-US" sz="1200" b="1" dirty="0" smtClean="0">
                <a:solidFill>
                  <a:srgbClr val="FF0000"/>
                </a:solidFill>
                <a:latin typeface="Calibri" pitchFamily="34" charset="0"/>
                <a:cs typeface="Calibri" pitchFamily="34" charset="0"/>
              </a:rPr>
              <a:t>B Part via ODM procurement will be used on an exception basis (Contingency)</a:t>
            </a:r>
          </a:p>
        </p:txBody>
      </p:sp>
      <p:sp>
        <p:nvSpPr>
          <p:cNvPr id="37" name="Rounded Rectangle 3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41</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961938821"/>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
                                        </p:tgtEl>
                                        <p:attrNameLst>
                                          <p:attrName>style.visibility</p:attrName>
                                        </p:attrNameLst>
                                      </p:cBhvr>
                                      <p:to>
                                        <p:strVal val="visible"/>
                                      </p:to>
                                    </p:set>
                                    <p:animEffect transition="in" filter="fade">
                                      <p:cBhvr>
                                        <p:cTn id="7" dur="500"/>
                                        <p:tgtEl>
                                          <p:spTgt spid="17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5"/>
                                        </p:tgtEl>
                                        <p:attrNameLst>
                                          <p:attrName>style.visibility</p:attrName>
                                        </p:attrNameLst>
                                      </p:cBhvr>
                                      <p:to>
                                        <p:strVal val="visible"/>
                                      </p:to>
                                    </p:set>
                                    <p:animEffect transition="in" filter="fade">
                                      <p:cBhvr>
                                        <p:cTn id="10" dur="500"/>
                                        <p:tgtEl>
                                          <p:spTgt spid="17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6"/>
                                        </p:tgtEl>
                                        <p:attrNameLst>
                                          <p:attrName>style.visibility</p:attrName>
                                        </p:attrNameLst>
                                      </p:cBhvr>
                                      <p:to>
                                        <p:strVal val="visible"/>
                                      </p:to>
                                    </p:set>
                                    <p:animEffect transition="in" filter="fade">
                                      <p:cBhvr>
                                        <p:cTn id="13" dur="500"/>
                                        <p:tgtEl>
                                          <p:spTgt spid="17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77"/>
                                        </p:tgtEl>
                                        <p:attrNameLst>
                                          <p:attrName>style.visibility</p:attrName>
                                        </p:attrNameLst>
                                      </p:cBhvr>
                                      <p:to>
                                        <p:strVal val="visible"/>
                                      </p:to>
                                    </p:set>
                                    <p:animEffect transition="in" filter="fade">
                                      <p:cBhvr>
                                        <p:cTn id="18" dur="500"/>
                                        <p:tgtEl>
                                          <p:spTgt spid="177"/>
                                        </p:tgtEl>
                                      </p:cBhvr>
                                    </p:animEffect>
                                  </p:childTnLst>
                                </p:cTn>
                              </p:par>
                              <p:par>
                                <p:cTn id="19" presetID="10" presetClass="entr" presetSubtype="0" fill="hold" nodeType="withEffect">
                                  <p:stCondLst>
                                    <p:cond delay="0"/>
                                  </p:stCondLst>
                                  <p:childTnLst>
                                    <p:set>
                                      <p:cBhvr>
                                        <p:cTn id="20" dur="1" fill="hold">
                                          <p:stCondLst>
                                            <p:cond delay="0"/>
                                          </p:stCondLst>
                                        </p:cTn>
                                        <p:tgtEl>
                                          <p:spTgt spid="186"/>
                                        </p:tgtEl>
                                        <p:attrNameLst>
                                          <p:attrName>style.visibility</p:attrName>
                                        </p:attrNameLst>
                                      </p:cBhvr>
                                      <p:to>
                                        <p:strVal val="visible"/>
                                      </p:to>
                                    </p:set>
                                    <p:animEffect transition="in" filter="fade">
                                      <p:cBhvr>
                                        <p:cTn id="21" dur="500"/>
                                        <p:tgtEl>
                                          <p:spTgt spid="186"/>
                                        </p:tgtEl>
                                      </p:cBhvr>
                                    </p:animEffect>
                                  </p:childTnLst>
                                </p:cTn>
                              </p:par>
                              <p:par>
                                <p:cTn id="22" presetID="10" presetClass="entr" presetSubtype="0" fill="hold" nodeType="withEffect">
                                  <p:stCondLst>
                                    <p:cond delay="0"/>
                                  </p:stCondLst>
                                  <p:childTnLst>
                                    <p:set>
                                      <p:cBhvr>
                                        <p:cTn id="23" dur="1" fill="hold">
                                          <p:stCondLst>
                                            <p:cond delay="0"/>
                                          </p:stCondLst>
                                        </p:cTn>
                                        <p:tgtEl>
                                          <p:spTgt spid="190"/>
                                        </p:tgtEl>
                                        <p:attrNameLst>
                                          <p:attrName>style.visibility</p:attrName>
                                        </p:attrNameLst>
                                      </p:cBhvr>
                                      <p:to>
                                        <p:strVal val="visible"/>
                                      </p:to>
                                    </p:set>
                                    <p:animEffect transition="in" filter="fade">
                                      <p:cBhvr>
                                        <p:cTn id="24" dur="500"/>
                                        <p:tgtEl>
                                          <p:spTgt spid="190"/>
                                        </p:tgtEl>
                                      </p:cBhvr>
                                    </p:animEffect>
                                  </p:childTnLst>
                                </p:cTn>
                              </p:par>
                              <p:par>
                                <p:cTn id="25" presetID="10" presetClass="entr" presetSubtype="0" fill="hold" nodeType="withEffect">
                                  <p:stCondLst>
                                    <p:cond delay="0"/>
                                  </p:stCondLst>
                                  <p:childTnLst>
                                    <p:set>
                                      <p:cBhvr>
                                        <p:cTn id="26" dur="1" fill="hold">
                                          <p:stCondLst>
                                            <p:cond delay="0"/>
                                          </p:stCondLst>
                                        </p:cTn>
                                        <p:tgtEl>
                                          <p:spTgt spid="196"/>
                                        </p:tgtEl>
                                        <p:attrNameLst>
                                          <p:attrName>style.visibility</p:attrName>
                                        </p:attrNameLst>
                                      </p:cBhvr>
                                      <p:to>
                                        <p:strVal val="visible"/>
                                      </p:to>
                                    </p:set>
                                    <p:animEffect transition="in" filter="fade">
                                      <p:cBhvr>
                                        <p:cTn id="27" dur="500"/>
                                        <p:tgtEl>
                                          <p:spTgt spid="19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9"/>
                                        </p:tgtEl>
                                        <p:attrNameLst>
                                          <p:attrName>style.visibility</p:attrName>
                                        </p:attrNameLst>
                                      </p:cBhvr>
                                      <p:to>
                                        <p:strVal val="visible"/>
                                      </p:to>
                                    </p:set>
                                    <p:animEffect transition="in" filter="fade">
                                      <p:cBhvr>
                                        <p:cTn id="30" dur="500"/>
                                        <p:tgtEl>
                                          <p:spTgt spid="19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0"/>
                                        </p:tgtEl>
                                        <p:attrNameLst>
                                          <p:attrName>style.visibility</p:attrName>
                                        </p:attrNameLst>
                                      </p:cBhvr>
                                      <p:to>
                                        <p:strVal val="visible"/>
                                      </p:to>
                                    </p:set>
                                    <p:animEffect transition="in" filter="fade">
                                      <p:cBhvr>
                                        <p:cTn id="33" dur="500"/>
                                        <p:tgtEl>
                                          <p:spTgt spid="20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5"/>
                                        </p:tgtEl>
                                        <p:attrNameLst>
                                          <p:attrName>style.visibility</p:attrName>
                                        </p:attrNameLst>
                                      </p:cBhvr>
                                      <p:to>
                                        <p:strVal val="visible"/>
                                      </p:to>
                                    </p:set>
                                    <p:animEffect transition="in" filter="fade">
                                      <p:cBhvr>
                                        <p:cTn id="38" dur="500"/>
                                        <p:tgtEl>
                                          <p:spTgt spid="13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3"/>
                                        </p:tgtEl>
                                        <p:attrNameLst>
                                          <p:attrName>style.visibility</p:attrName>
                                        </p:attrNameLst>
                                      </p:cBhvr>
                                      <p:to>
                                        <p:strVal val="visible"/>
                                      </p:to>
                                    </p:set>
                                    <p:animEffect transition="in" filter="fade">
                                      <p:cBhvr>
                                        <p:cTn id="41" dur="500"/>
                                        <p:tgtEl>
                                          <p:spTgt spid="1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4"/>
                                        </p:tgtEl>
                                        <p:attrNameLst>
                                          <p:attrName>style.visibility</p:attrName>
                                        </p:attrNameLst>
                                      </p:cBhvr>
                                      <p:to>
                                        <p:strVal val="visible"/>
                                      </p:to>
                                    </p:set>
                                    <p:animEffect transition="in" filter="fade">
                                      <p:cBhvr>
                                        <p:cTn id="44" dur="500"/>
                                        <p:tgtEl>
                                          <p:spTgt spid="144"/>
                                        </p:tgtEl>
                                      </p:cBhvr>
                                    </p:animEffect>
                                  </p:childTnLst>
                                </p:cTn>
                              </p:par>
                              <p:par>
                                <p:cTn id="45" presetID="10" presetClass="entr" presetSubtype="0" fill="hold" nodeType="withEffect">
                                  <p:stCondLst>
                                    <p:cond delay="0"/>
                                  </p:stCondLst>
                                  <p:childTnLst>
                                    <p:set>
                                      <p:cBhvr>
                                        <p:cTn id="46" dur="1" fill="hold">
                                          <p:stCondLst>
                                            <p:cond delay="0"/>
                                          </p:stCondLst>
                                        </p:cTn>
                                        <p:tgtEl>
                                          <p:spTgt spid="182"/>
                                        </p:tgtEl>
                                        <p:attrNameLst>
                                          <p:attrName>style.visibility</p:attrName>
                                        </p:attrNameLst>
                                      </p:cBhvr>
                                      <p:to>
                                        <p:strVal val="visible"/>
                                      </p:to>
                                    </p:set>
                                    <p:animEffect transition="in" filter="fade">
                                      <p:cBhvr>
                                        <p:cTn id="47" dur="500"/>
                                        <p:tgtEl>
                                          <p:spTgt spid="18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5"/>
                                        </p:tgtEl>
                                        <p:attrNameLst>
                                          <p:attrName>style.visibility</p:attrName>
                                        </p:attrNameLst>
                                      </p:cBhvr>
                                      <p:to>
                                        <p:strVal val="visible"/>
                                      </p:to>
                                    </p:set>
                                    <p:animEffect transition="in" filter="fade">
                                      <p:cBhvr>
                                        <p:cTn id="52" dur="500"/>
                                        <p:tgtEl>
                                          <p:spTgt spid="85"/>
                                        </p:tgtEl>
                                      </p:cBhvr>
                                    </p:animEffect>
                                  </p:childTnLst>
                                </p:cTn>
                              </p:par>
                              <p:par>
                                <p:cTn id="53" presetID="10" presetClass="entr" presetSubtype="0" fill="hold" nodeType="withEffect">
                                  <p:stCondLst>
                                    <p:cond delay="0"/>
                                  </p:stCondLst>
                                  <p:childTnLst>
                                    <p:set>
                                      <p:cBhvr>
                                        <p:cTn id="54" dur="1" fill="hold">
                                          <p:stCondLst>
                                            <p:cond delay="0"/>
                                          </p:stCondLst>
                                        </p:cTn>
                                        <p:tgtEl>
                                          <p:spTgt spid="147"/>
                                        </p:tgtEl>
                                        <p:attrNameLst>
                                          <p:attrName>style.visibility</p:attrName>
                                        </p:attrNameLst>
                                      </p:cBhvr>
                                      <p:to>
                                        <p:strVal val="visible"/>
                                      </p:to>
                                    </p:set>
                                    <p:animEffect transition="in" filter="fade">
                                      <p:cBhvr>
                                        <p:cTn id="55" dur="500"/>
                                        <p:tgtEl>
                                          <p:spTgt spid="147"/>
                                        </p:tgtEl>
                                      </p:cBhvr>
                                    </p:animEffect>
                                  </p:childTnLst>
                                </p:cTn>
                              </p:par>
                              <p:par>
                                <p:cTn id="56" presetID="10" presetClass="entr" presetSubtype="0" fill="hold" nodeType="withEffect">
                                  <p:stCondLst>
                                    <p:cond delay="0"/>
                                  </p:stCondLst>
                                  <p:childTnLst>
                                    <p:set>
                                      <p:cBhvr>
                                        <p:cTn id="57" dur="1" fill="hold">
                                          <p:stCondLst>
                                            <p:cond delay="0"/>
                                          </p:stCondLst>
                                        </p:cTn>
                                        <p:tgtEl>
                                          <p:spTgt spid="150"/>
                                        </p:tgtEl>
                                        <p:attrNameLst>
                                          <p:attrName>style.visibility</p:attrName>
                                        </p:attrNameLst>
                                      </p:cBhvr>
                                      <p:to>
                                        <p:strVal val="visible"/>
                                      </p:to>
                                    </p:set>
                                    <p:animEffect transition="in" filter="fade">
                                      <p:cBhvr>
                                        <p:cTn id="58" dur="500"/>
                                        <p:tgtEl>
                                          <p:spTgt spid="150"/>
                                        </p:tgtEl>
                                      </p:cBhvr>
                                    </p:animEffect>
                                  </p:childTnLst>
                                </p:cTn>
                              </p:par>
                              <p:par>
                                <p:cTn id="59" presetID="10" presetClass="entr" presetSubtype="0" fill="hold" nodeType="withEffect">
                                  <p:stCondLst>
                                    <p:cond delay="0"/>
                                  </p:stCondLst>
                                  <p:childTnLst>
                                    <p:set>
                                      <p:cBhvr>
                                        <p:cTn id="60" dur="1" fill="hold">
                                          <p:stCondLst>
                                            <p:cond delay="0"/>
                                          </p:stCondLst>
                                        </p:cTn>
                                        <p:tgtEl>
                                          <p:spTgt spid="166"/>
                                        </p:tgtEl>
                                        <p:attrNameLst>
                                          <p:attrName>style.visibility</p:attrName>
                                        </p:attrNameLst>
                                      </p:cBhvr>
                                      <p:to>
                                        <p:strVal val="visible"/>
                                      </p:to>
                                    </p:set>
                                    <p:animEffect transition="in" filter="fade">
                                      <p:cBhvr>
                                        <p:cTn id="61" dur="500"/>
                                        <p:tgtEl>
                                          <p:spTgt spid="166"/>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98"/>
                                        </p:tgtEl>
                                        <p:attrNameLst>
                                          <p:attrName>style.visibility</p:attrName>
                                        </p:attrNameLst>
                                      </p:cBhvr>
                                      <p:to>
                                        <p:strVal val="visible"/>
                                      </p:to>
                                    </p:set>
                                    <p:animEffect transition="in" filter="fade">
                                      <p:cBhvr>
                                        <p:cTn id="66" dur="500"/>
                                        <p:tgtEl>
                                          <p:spTgt spid="19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97"/>
                                        </p:tgtEl>
                                        <p:attrNameLst>
                                          <p:attrName>style.visibility</p:attrName>
                                        </p:attrNameLst>
                                      </p:cBhvr>
                                      <p:to>
                                        <p:strVal val="visible"/>
                                      </p:to>
                                    </p:set>
                                    <p:animEffect transition="in" filter="fade">
                                      <p:cBhvr>
                                        <p:cTn id="69" dur="500"/>
                                        <p:tgtEl>
                                          <p:spTgt spid="19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04"/>
                                        </p:tgtEl>
                                        <p:attrNameLst>
                                          <p:attrName>style.visibility</p:attrName>
                                        </p:attrNameLst>
                                      </p:cBhvr>
                                      <p:to>
                                        <p:strVal val="visible"/>
                                      </p:to>
                                    </p:set>
                                    <p:animEffect transition="in" filter="fade">
                                      <p:cBhvr>
                                        <p:cTn id="72" dur="500"/>
                                        <p:tgtEl>
                                          <p:spTgt spid="20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03"/>
                                        </p:tgtEl>
                                        <p:attrNameLst>
                                          <p:attrName>style.visibility</p:attrName>
                                        </p:attrNameLst>
                                      </p:cBhvr>
                                      <p:to>
                                        <p:strVal val="visible"/>
                                      </p:to>
                                    </p:set>
                                    <p:animEffect transition="in" filter="fade">
                                      <p:cBhvr>
                                        <p:cTn id="75" dur="500"/>
                                        <p:tgtEl>
                                          <p:spTgt spid="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135" grpId="0" animBg="1"/>
      <p:bldP spid="143" grpId="0" animBg="1"/>
      <p:bldP spid="144" grpId="0" animBg="1"/>
      <p:bldP spid="174" grpId="0" animBg="1"/>
      <p:bldP spid="175" grpId="0" animBg="1"/>
      <p:bldP spid="176" grpId="0" animBg="1"/>
      <p:bldP spid="177" grpId="0" animBg="1"/>
      <p:bldP spid="197" grpId="0" animBg="1"/>
      <p:bldP spid="198" grpId="0"/>
      <p:bldP spid="199" grpId="0" animBg="1"/>
      <p:bldP spid="200" grpId="0" animBg="1"/>
      <p:bldP spid="203" grpId="0" animBg="1"/>
      <p:bldP spid="20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BSaM</a:t>
            </a:r>
            <a:r>
              <a:rPr lang="en-US" dirty="0" smtClean="0"/>
              <a:t> High Level Process Flows</a:t>
            </a:r>
            <a:endParaRPr lang="en-US" dirty="0"/>
          </a:p>
        </p:txBody>
      </p:sp>
      <p:sp>
        <p:nvSpPr>
          <p:cNvPr id="4" name="Content Placeholder 3"/>
          <p:cNvSpPr>
            <a:spLocks noGrp="1"/>
          </p:cNvSpPr>
          <p:nvPr>
            <p:ph sz="quarter" idx="16"/>
          </p:nvPr>
        </p:nvSpPr>
        <p:spPr/>
        <p:txBody>
          <a:bodyPr/>
          <a:lstStyle/>
          <a:p>
            <a:pPr marL="342900" indent="-342900">
              <a:lnSpc>
                <a:spcPct val="80000"/>
              </a:lnSpc>
              <a:buFont typeface="+mj-lt"/>
              <a:buAutoNum type="arabicPeriod"/>
            </a:pPr>
            <a:r>
              <a:rPr lang="en-US" dirty="0" smtClean="0"/>
              <a:t>Order-to-Delivery Processes</a:t>
            </a:r>
          </a:p>
          <a:p>
            <a:pPr marL="512763" lvl="3" indent="-171450">
              <a:lnSpc>
                <a:spcPct val="80000"/>
              </a:lnSpc>
              <a:buFont typeface="Arial" pitchFamily="34" charset="0"/>
              <a:buChar char="•"/>
            </a:pPr>
            <a:r>
              <a:rPr lang="en-US" dirty="0" smtClean="0"/>
              <a:t>B Part Process</a:t>
            </a:r>
          </a:p>
          <a:p>
            <a:pPr marL="512763" lvl="3" indent="-171450">
              <a:lnSpc>
                <a:spcPct val="80000"/>
              </a:lnSpc>
              <a:buFont typeface="Arial" pitchFamily="34" charset="0"/>
              <a:buChar char="•"/>
            </a:pPr>
            <a:r>
              <a:rPr lang="en-US" dirty="0" smtClean="0"/>
              <a:t>A Part BTO Process</a:t>
            </a:r>
          </a:p>
          <a:p>
            <a:pPr marL="512763" lvl="3" indent="-171450">
              <a:lnSpc>
                <a:spcPct val="80000"/>
              </a:lnSpc>
              <a:buFont typeface="Arial" pitchFamily="34" charset="0"/>
              <a:buChar char="•"/>
            </a:pPr>
            <a:r>
              <a:rPr lang="en-US" dirty="0" smtClean="0"/>
              <a:t>A Part Build Trigger Process </a:t>
            </a:r>
          </a:p>
          <a:p>
            <a:pPr lvl="1">
              <a:lnSpc>
                <a:spcPct val="80000"/>
              </a:lnSpc>
            </a:pPr>
            <a:endParaRPr lang="en-US" sz="1200" dirty="0"/>
          </a:p>
          <a:p>
            <a:pPr marL="342900" indent="-342900">
              <a:lnSpc>
                <a:spcPct val="80000"/>
              </a:lnSpc>
              <a:buFont typeface="+mj-lt"/>
              <a:buAutoNum type="arabicPeriod"/>
            </a:pPr>
            <a:r>
              <a:rPr lang="en-US" dirty="0" smtClean="0"/>
              <a:t>PDM/BOM Structure</a:t>
            </a:r>
            <a:endParaRPr lang="en-US" dirty="0"/>
          </a:p>
          <a:p>
            <a:pPr marL="512763" lvl="3" indent="-171450">
              <a:lnSpc>
                <a:spcPct val="80000"/>
              </a:lnSpc>
              <a:buFont typeface="Arial" pitchFamily="34" charset="0"/>
              <a:buChar char="•"/>
            </a:pPr>
            <a:r>
              <a:rPr lang="en-US" dirty="0" smtClean="0"/>
              <a:t>BSaM PDM/BOM Approach</a:t>
            </a:r>
          </a:p>
          <a:p>
            <a:pPr marL="512763" lvl="3" indent="-171450">
              <a:lnSpc>
                <a:spcPct val="80000"/>
              </a:lnSpc>
              <a:buFont typeface="Arial" pitchFamily="34" charset="0"/>
              <a:buChar char="•"/>
            </a:pPr>
            <a:r>
              <a:rPr lang="en-US" dirty="0" smtClean="0"/>
              <a:t>BSaM AV for Cost Adjustment and Planning</a:t>
            </a:r>
          </a:p>
          <a:p>
            <a:pPr lvl="1">
              <a:lnSpc>
                <a:spcPct val="80000"/>
              </a:lnSpc>
            </a:pPr>
            <a:endParaRPr lang="en-US" sz="1200" dirty="0"/>
          </a:p>
          <a:p>
            <a:pPr marL="342900" indent="-342900">
              <a:lnSpc>
                <a:spcPct val="80000"/>
              </a:lnSpc>
              <a:buFont typeface="+mj-lt"/>
              <a:buAutoNum type="arabicPeriod"/>
            </a:pPr>
            <a:r>
              <a:rPr lang="en-US" dirty="0"/>
              <a:t>Planning</a:t>
            </a:r>
          </a:p>
          <a:p>
            <a:pPr marL="512763" lvl="3" indent="-171450">
              <a:lnSpc>
                <a:spcPct val="80000"/>
              </a:lnSpc>
              <a:buFont typeface="Arial" pitchFamily="34" charset="0"/>
              <a:buChar char="•"/>
            </a:pPr>
            <a:r>
              <a:rPr lang="en-US" dirty="0"/>
              <a:t>A Part and B Part Planning </a:t>
            </a:r>
            <a:r>
              <a:rPr lang="en-US" dirty="0" smtClean="0"/>
              <a:t>Process</a:t>
            </a:r>
          </a:p>
          <a:p>
            <a:pPr marL="512763" lvl="3" indent="-171450">
              <a:lnSpc>
                <a:spcPct val="80000"/>
              </a:lnSpc>
              <a:buFont typeface="Arial" pitchFamily="34" charset="0"/>
              <a:buChar char="•"/>
            </a:pPr>
            <a:endParaRPr lang="en-US" dirty="0" smtClean="0"/>
          </a:p>
          <a:p>
            <a:pPr marL="342900" indent="-342900">
              <a:lnSpc>
                <a:spcPct val="80000"/>
              </a:lnSpc>
              <a:buFont typeface="+mj-lt"/>
              <a:buAutoNum type="arabicPeriod"/>
            </a:pPr>
            <a:r>
              <a:rPr lang="en-US" dirty="0" smtClean="0"/>
              <a:t>Production Grouping Process</a:t>
            </a:r>
          </a:p>
          <a:p>
            <a:pPr marL="512763" lvl="3" indent="-171450">
              <a:lnSpc>
                <a:spcPct val="80000"/>
              </a:lnSpc>
              <a:buFont typeface="Arial" pitchFamily="34" charset="0"/>
              <a:buChar char="•"/>
            </a:pPr>
            <a:r>
              <a:rPr lang="en-US" dirty="0" smtClean="0"/>
              <a:t>Bulk Packaging Order Grouping</a:t>
            </a:r>
          </a:p>
          <a:p>
            <a:pPr marL="512763" lvl="3" indent="-171450">
              <a:lnSpc>
                <a:spcPct val="80000"/>
              </a:lnSpc>
              <a:buFont typeface="Arial" pitchFamily="34" charset="0"/>
              <a:buChar char="•"/>
            </a:pPr>
            <a:endParaRPr lang="en-US" sz="1200" dirty="0" smtClean="0"/>
          </a:p>
          <a:p>
            <a:pPr marL="512763" lvl="3" indent="-171450">
              <a:lnSpc>
                <a:spcPct val="80000"/>
              </a:lnSpc>
              <a:buFont typeface="Arial" pitchFamily="34" charset="0"/>
              <a:buChar char="•"/>
            </a:pPr>
            <a:endParaRPr lang="en-US" sz="1200" dirty="0"/>
          </a:p>
          <a:p>
            <a:pPr marL="512763" lvl="3" indent="-171450">
              <a:lnSpc>
                <a:spcPct val="80000"/>
              </a:lnSpc>
              <a:buFont typeface="Arial" pitchFamily="34" charset="0"/>
              <a:buChar char="•"/>
            </a:pPr>
            <a:endParaRPr lang="en-US" sz="1200" dirty="0"/>
          </a:p>
        </p:txBody>
      </p:sp>
      <p:sp>
        <p:nvSpPr>
          <p:cNvPr id="5" name="Content Placeholder 4"/>
          <p:cNvSpPr>
            <a:spLocks noGrp="1"/>
          </p:cNvSpPr>
          <p:nvPr>
            <p:ph sz="quarter" idx="17"/>
          </p:nvPr>
        </p:nvSpPr>
        <p:spPr/>
        <p:txBody>
          <a:bodyPr/>
          <a:lstStyle/>
          <a:p>
            <a:pPr marL="342900" indent="-342900">
              <a:lnSpc>
                <a:spcPct val="80000"/>
              </a:lnSpc>
              <a:buFont typeface="+mj-lt"/>
              <a:buAutoNum type="arabicPeriod" startAt="5"/>
            </a:pPr>
            <a:r>
              <a:rPr lang="en-US" dirty="0" smtClean="0"/>
              <a:t>BSaM Build Trigger Process</a:t>
            </a:r>
            <a:endParaRPr lang="en-US" dirty="0"/>
          </a:p>
          <a:p>
            <a:pPr marL="512763" lvl="3" indent="-171450">
              <a:lnSpc>
                <a:spcPct val="80000"/>
              </a:lnSpc>
              <a:buFont typeface="Arial" pitchFamily="34" charset="0"/>
              <a:buChar char="•"/>
            </a:pPr>
            <a:r>
              <a:rPr lang="en-US" dirty="0" smtClean="0"/>
              <a:t>Build Trigger PO instead of Customer PO</a:t>
            </a:r>
          </a:p>
          <a:p>
            <a:pPr marL="512763" lvl="3" indent="-171450">
              <a:lnSpc>
                <a:spcPct val="80000"/>
              </a:lnSpc>
              <a:buFont typeface="Arial" pitchFamily="34" charset="0"/>
              <a:buChar char="•"/>
            </a:pPr>
            <a:r>
              <a:rPr lang="en-US" dirty="0" smtClean="0"/>
              <a:t>RSD and Performance Measurement</a:t>
            </a:r>
          </a:p>
          <a:p>
            <a:pPr lvl="1">
              <a:lnSpc>
                <a:spcPct val="80000"/>
              </a:lnSpc>
            </a:pPr>
            <a:endParaRPr lang="en-US" sz="1200" dirty="0" smtClean="0"/>
          </a:p>
          <a:p>
            <a:pPr lvl="1">
              <a:lnSpc>
                <a:spcPct val="80000"/>
              </a:lnSpc>
            </a:pPr>
            <a:endParaRPr lang="en-US" sz="1200" dirty="0" smtClean="0"/>
          </a:p>
          <a:p>
            <a:pPr marL="342900" indent="-342900">
              <a:lnSpc>
                <a:spcPct val="80000"/>
              </a:lnSpc>
              <a:buFont typeface="+mj-lt"/>
              <a:buAutoNum type="arabicPeriod" startAt="5"/>
            </a:pPr>
            <a:r>
              <a:rPr lang="en-US" dirty="0" smtClean="0"/>
              <a:t>Full Unit Test Process</a:t>
            </a:r>
            <a:endParaRPr lang="en-US" dirty="0"/>
          </a:p>
          <a:p>
            <a:pPr marL="512763" lvl="3" indent="-171450">
              <a:lnSpc>
                <a:spcPct val="80000"/>
              </a:lnSpc>
              <a:buFont typeface="Arial" pitchFamily="34" charset="0"/>
              <a:buChar char="•"/>
            </a:pPr>
            <a:r>
              <a:rPr lang="en-US" dirty="0" smtClean="0"/>
              <a:t>NB Full Unit Testing using Temp Battery</a:t>
            </a:r>
            <a:endParaRPr lang="en-US" dirty="0"/>
          </a:p>
          <a:p>
            <a:pPr lvl="1">
              <a:lnSpc>
                <a:spcPct val="80000"/>
              </a:lnSpc>
            </a:pPr>
            <a:endParaRPr lang="en-US" sz="1200" dirty="0"/>
          </a:p>
          <a:p>
            <a:pPr marL="342900" indent="-342900">
              <a:lnSpc>
                <a:spcPct val="80000"/>
              </a:lnSpc>
              <a:buFont typeface="+mj-lt"/>
              <a:buAutoNum type="arabicPeriod" startAt="5"/>
            </a:pPr>
            <a:r>
              <a:rPr lang="en-US" dirty="0" smtClean="0"/>
              <a:t>B Part Process</a:t>
            </a:r>
            <a:endParaRPr lang="en-US" dirty="0"/>
          </a:p>
          <a:p>
            <a:pPr marL="512763" lvl="3" indent="-171450">
              <a:lnSpc>
                <a:spcPct val="80000"/>
              </a:lnSpc>
              <a:buFont typeface="Arial" pitchFamily="34" charset="0"/>
              <a:buChar char="•"/>
            </a:pPr>
            <a:r>
              <a:rPr lang="en-US" dirty="0" smtClean="0"/>
              <a:t>Supplier VMI Model vs. ODM HOI Model</a:t>
            </a:r>
          </a:p>
          <a:p>
            <a:pPr marL="512763" lvl="3" indent="-171450">
              <a:lnSpc>
                <a:spcPct val="80000"/>
              </a:lnSpc>
              <a:buFont typeface="Arial" pitchFamily="34" charset="0"/>
              <a:buChar char="•"/>
            </a:pPr>
            <a:r>
              <a:rPr lang="en-US" dirty="0" smtClean="0"/>
              <a:t>Process required for Exception Contingency</a:t>
            </a:r>
          </a:p>
          <a:p>
            <a:pPr marL="512763" lvl="3" indent="-171450">
              <a:lnSpc>
                <a:spcPct val="80000"/>
              </a:lnSpc>
              <a:buFont typeface="Arial" pitchFamily="34" charset="0"/>
              <a:buChar char="•"/>
            </a:pPr>
            <a:endParaRPr lang="en-US" dirty="0"/>
          </a:p>
          <a:p>
            <a:pPr marL="342900" indent="-342900">
              <a:lnSpc>
                <a:spcPct val="80000"/>
              </a:lnSpc>
              <a:buFont typeface="+mj-lt"/>
              <a:buAutoNum type="arabicPeriod" startAt="5"/>
            </a:pPr>
            <a:r>
              <a:rPr lang="en-US" dirty="0" smtClean="0"/>
              <a:t>Outbound Operation &amp; Logistics</a:t>
            </a:r>
            <a:endParaRPr lang="en-US" dirty="0"/>
          </a:p>
          <a:p>
            <a:pPr marL="512763" lvl="3" indent="-171450">
              <a:lnSpc>
                <a:spcPct val="80000"/>
              </a:lnSpc>
              <a:buFont typeface="Arial" pitchFamily="34" charset="0"/>
              <a:buChar char="•"/>
            </a:pPr>
            <a:r>
              <a:rPr lang="en-US" dirty="0" smtClean="0"/>
              <a:t>Utilize of  IDS HVLS and RCTO processes</a:t>
            </a:r>
          </a:p>
        </p:txBody>
      </p:sp>
      <p:sp>
        <p:nvSpPr>
          <p:cNvPr id="2" name="Subtitle 1"/>
          <p:cNvSpPr>
            <a:spLocks noGrp="1"/>
          </p:cNvSpPr>
          <p:nvPr>
            <p:ph type="subTitle" idx="1"/>
          </p:nvPr>
        </p:nvSpPr>
        <p:spPr/>
        <p:txBody>
          <a:bodyPr/>
          <a:lstStyle/>
          <a:p>
            <a:r>
              <a:rPr lang="en-US" dirty="0" smtClean="0"/>
              <a:t> </a:t>
            </a:r>
            <a:endParaRPr lang="en-US" dirty="0"/>
          </a:p>
        </p:txBody>
      </p:sp>
      <p:sp>
        <p:nvSpPr>
          <p:cNvPr id="6" name="Rounded Rectangle 5"/>
          <p:cNvSpPr/>
          <p:nvPr/>
        </p:nvSpPr>
        <p:spPr>
          <a:xfrm>
            <a:off x="4429991" y="3803669"/>
            <a:ext cx="4015740" cy="350520"/>
          </a:xfrm>
          <a:prstGeom prst="round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42</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74360440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p:cNvSpPr>
            <a:spLocks noGrp="1"/>
          </p:cNvSpPr>
          <p:nvPr>
            <p:ph type="subTitle" idx="1"/>
          </p:nvPr>
        </p:nvSpPr>
        <p:spPr/>
        <p:txBody>
          <a:bodyPr/>
          <a:lstStyle/>
          <a:p>
            <a:r>
              <a:rPr lang="en-US" dirty="0" smtClean="0"/>
              <a:t> </a:t>
            </a:r>
            <a:endParaRPr lang="en-US" dirty="0"/>
          </a:p>
        </p:txBody>
      </p:sp>
      <p:sp>
        <p:nvSpPr>
          <p:cNvPr id="8" name="Title 7"/>
          <p:cNvSpPr>
            <a:spLocks noGrp="1"/>
          </p:cNvSpPr>
          <p:nvPr>
            <p:ph type="title"/>
          </p:nvPr>
        </p:nvSpPr>
        <p:spPr/>
        <p:txBody>
          <a:bodyPr/>
          <a:lstStyle/>
          <a:p>
            <a:r>
              <a:rPr lang="en-US" dirty="0" smtClean="0"/>
              <a:t>Outbound Operations and Logistics</a:t>
            </a:r>
            <a:endParaRPr lang="en-US" dirty="0"/>
          </a:p>
        </p:txBody>
      </p:sp>
      <p:sp>
        <p:nvSpPr>
          <p:cNvPr id="10" name="Content Placeholder 9"/>
          <p:cNvSpPr>
            <a:spLocks noGrp="1"/>
          </p:cNvSpPr>
          <p:nvPr>
            <p:ph sz="quarter" idx="10"/>
          </p:nvPr>
        </p:nvSpPr>
        <p:spPr/>
        <p:txBody>
          <a:bodyPr/>
          <a:lstStyle/>
          <a:p>
            <a:pPr marL="285750" indent="-285750">
              <a:buFont typeface="Arial" pitchFamily="34" charset="0"/>
              <a:buChar char="•"/>
            </a:pPr>
            <a:r>
              <a:rPr lang="en-US" dirty="0" smtClean="0"/>
              <a:t>“A” Part Shipment - Linkage of Production Grouping with HVLS</a:t>
            </a:r>
          </a:p>
          <a:p>
            <a:pPr marL="627063" lvl="3" indent="-285750">
              <a:buFont typeface="Arial" pitchFamily="34" charset="0"/>
              <a:buChar char="•"/>
            </a:pPr>
            <a:r>
              <a:rPr lang="en-US" dirty="0"/>
              <a:t>BSaM </a:t>
            </a:r>
            <a:r>
              <a:rPr lang="en-US" dirty="0" smtClean="0"/>
              <a:t>Shipment Process will be leveraging the IDS Shipment Process.</a:t>
            </a:r>
            <a:endParaRPr lang="en-US" dirty="0"/>
          </a:p>
          <a:p>
            <a:pPr marL="627063" lvl="3" indent="-285750">
              <a:buFont typeface="Arial" pitchFamily="34" charset="0"/>
              <a:buChar char="•"/>
            </a:pPr>
            <a:r>
              <a:rPr lang="en-US" dirty="0" smtClean="0"/>
              <a:t>The ODM will need to work with HP to establish the proper linkage to enable HVLS to recognize how the BSaM orders have been grouped together for Production (Production Grouping).  HVLS ACE will need to keep all orders for the same Order Group ID together under the same Waybill.  Also the Pallet Fill </a:t>
            </a:r>
            <a:r>
              <a:rPr lang="en-US" dirty="0" err="1" smtClean="0"/>
              <a:t>Qty</a:t>
            </a:r>
            <a:r>
              <a:rPr lang="en-US" dirty="0" smtClean="0"/>
              <a:t> calculation will need to base the calculation off of the Bulk Box. </a:t>
            </a:r>
            <a:r>
              <a:rPr lang="en-US" dirty="0"/>
              <a:t>EDITS modifications may also apply. </a:t>
            </a:r>
            <a:r>
              <a:rPr lang="en-US" dirty="0" smtClean="0"/>
              <a:t>  Details of requirement to be provided by HVLS team.  </a:t>
            </a:r>
          </a:p>
          <a:p>
            <a:pPr marL="627063" lvl="3" indent="-285750">
              <a:buFont typeface="Arial" pitchFamily="34" charset="0"/>
              <a:buChar char="•"/>
            </a:pPr>
            <a:endParaRPr lang="en-US" dirty="0"/>
          </a:p>
          <a:p>
            <a:pPr marL="285750" indent="-285750">
              <a:buFont typeface="Arial" pitchFamily="34" charset="0"/>
              <a:buChar char="•"/>
            </a:pPr>
            <a:r>
              <a:rPr lang="en-US" dirty="0" smtClean="0"/>
              <a:t>“B” </a:t>
            </a:r>
            <a:r>
              <a:rPr lang="en-US" dirty="0"/>
              <a:t>Part Shipment </a:t>
            </a:r>
            <a:r>
              <a:rPr lang="en-US" dirty="0" smtClean="0"/>
              <a:t>– Leverage RCTO shipping process</a:t>
            </a:r>
            <a:endParaRPr lang="en-US" dirty="0"/>
          </a:p>
          <a:p>
            <a:pPr marL="627063" lvl="3" indent="-285750">
              <a:buFont typeface="Arial" pitchFamily="34" charset="0"/>
              <a:buChar char="•"/>
            </a:pPr>
            <a:r>
              <a:rPr lang="en-US" dirty="0"/>
              <a:t>The </a:t>
            </a:r>
            <a:r>
              <a:rPr lang="en-US" dirty="0" smtClean="0"/>
              <a:t>“B” Part Shipment process will leverage the RCTO shipping process.  Specific adjustments/changes required will be defined by HP.  Changes are mainly in the area of Shipping Documentation and Label adjustments.</a:t>
            </a:r>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43</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0541269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Air Communications </a:t>
            </a:r>
            <a:r>
              <a:rPr lang="en-US" dirty="0"/>
              <a:t>Flow</a:t>
            </a:r>
          </a:p>
        </p:txBody>
      </p:sp>
      <p:sp>
        <p:nvSpPr>
          <p:cNvPr id="5" name="AutoShape 4"/>
          <p:cNvSpPr txBox="1">
            <a:spLocks noChangeArrowheads="1"/>
          </p:cNvSpPr>
          <p:nvPr/>
        </p:nvSpPr>
        <p:spPr bwMode="auto">
          <a:xfrm>
            <a:off x="2892532" y="1139373"/>
            <a:ext cx="857541" cy="3396433"/>
          </a:xfrm>
          <a:prstGeom prst="roundRect">
            <a:avLst>
              <a:gd name="adj" fmla="val 16667"/>
            </a:avLst>
          </a:prstGeom>
          <a:gradFill rotWithShape="1">
            <a:gsLst>
              <a:gs pos="0">
                <a:srgbClr val="0066FF">
                  <a:gamma/>
                  <a:shade val="46275"/>
                  <a:invGamma/>
                </a:srgbClr>
              </a:gs>
              <a:gs pos="50000">
                <a:srgbClr val="0066FF"/>
              </a:gs>
              <a:gs pos="100000">
                <a:srgbClr val="0066FF">
                  <a:gamma/>
                  <a:shade val="46275"/>
                  <a:invGamma/>
                </a:srgbClr>
              </a:gs>
            </a:gsLst>
            <a:lin ang="5400000" scaled="1"/>
          </a:gradFill>
          <a:ln w="12700">
            <a:solidFill>
              <a:srgbClr val="000000"/>
            </a:solidFill>
            <a:round/>
            <a:headEnd/>
            <a:tailEnd type="none" w="lg" len="sm"/>
          </a:ln>
          <a:effectLst/>
        </p:spPr>
        <p:txBody>
          <a:bodyPr wrap="none" lIns="0" tIns="0" rIns="0" bIns="0" anchor="ctr"/>
          <a:lstStyle/>
          <a:p>
            <a:pPr marL="342900" indent="-342900" algn="ctr" eaLnBrk="0" hangingPunct="0">
              <a:spcBef>
                <a:spcPct val="50000"/>
              </a:spcBef>
              <a:buFont typeface="Arial" charset="0"/>
              <a:buNone/>
              <a:defRPr/>
            </a:pPr>
            <a:r>
              <a:rPr lang="en-US" sz="1600" dirty="0">
                <a:solidFill>
                  <a:schemeClr val="bg1"/>
                </a:solidFill>
                <a:effectLst>
                  <a:outerShdw blurRad="38100" dist="38100" dir="2700000" algn="tl">
                    <a:srgbClr val="000000"/>
                  </a:outerShdw>
                </a:effectLst>
                <a:latin typeface="Futura Bk" pitchFamily="34" charset="0"/>
              </a:rPr>
              <a:t>ODM</a:t>
            </a:r>
          </a:p>
        </p:txBody>
      </p:sp>
      <p:sp>
        <p:nvSpPr>
          <p:cNvPr id="6" name="AutoShape 4"/>
          <p:cNvSpPr txBox="1">
            <a:spLocks noChangeArrowheads="1"/>
          </p:cNvSpPr>
          <p:nvPr/>
        </p:nvSpPr>
        <p:spPr bwMode="auto">
          <a:xfrm>
            <a:off x="7286732" y="1139373"/>
            <a:ext cx="857541" cy="2348393"/>
          </a:xfrm>
          <a:prstGeom prst="roundRect">
            <a:avLst>
              <a:gd name="adj" fmla="val 16667"/>
            </a:avLst>
          </a:prstGeom>
          <a:gradFill rotWithShape="1">
            <a:gsLst>
              <a:gs pos="0">
                <a:srgbClr val="0066FF">
                  <a:gamma/>
                  <a:shade val="46275"/>
                  <a:invGamma/>
                </a:srgbClr>
              </a:gs>
              <a:gs pos="50000">
                <a:srgbClr val="0066FF"/>
              </a:gs>
              <a:gs pos="100000">
                <a:srgbClr val="0066FF">
                  <a:gamma/>
                  <a:shade val="46275"/>
                  <a:invGamma/>
                </a:srgbClr>
              </a:gs>
            </a:gsLst>
            <a:lin ang="5400000" scaled="1"/>
          </a:gradFill>
          <a:ln w="12700">
            <a:solidFill>
              <a:srgbClr val="000000"/>
            </a:solidFill>
            <a:round/>
            <a:headEnd/>
            <a:tailEnd type="none" w="lg" len="sm"/>
          </a:ln>
          <a:effectLst/>
        </p:spPr>
        <p:txBody>
          <a:bodyPr wrap="none" lIns="0" tIns="0" rIns="0" bIns="0" anchor="ctr"/>
          <a:lstStyle/>
          <a:p>
            <a:pPr marL="342900" indent="-342900" algn="ctr" eaLnBrk="0" hangingPunct="0">
              <a:spcBef>
                <a:spcPct val="50000"/>
              </a:spcBef>
              <a:buFont typeface="Arial" charset="0"/>
              <a:buNone/>
              <a:defRPr/>
            </a:pPr>
            <a:r>
              <a:rPr lang="en-US" sz="1600" dirty="0">
                <a:solidFill>
                  <a:schemeClr val="bg1"/>
                </a:solidFill>
                <a:effectLst>
                  <a:outerShdw blurRad="38100" dist="38100" dir="2700000" algn="tl">
                    <a:srgbClr val="000000"/>
                  </a:outerShdw>
                </a:effectLst>
                <a:latin typeface="Futura Bk" pitchFamily="34" charset="0"/>
              </a:rPr>
              <a:t>FF</a:t>
            </a:r>
          </a:p>
        </p:txBody>
      </p:sp>
      <p:cxnSp>
        <p:nvCxnSpPr>
          <p:cNvPr id="7" name="Straight Arrow Connector 6"/>
          <p:cNvCxnSpPr/>
          <p:nvPr/>
        </p:nvCxnSpPr>
        <p:spPr>
          <a:xfrm>
            <a:off x="1951004" y="2159758"/>
            <a:ext cx="921776" cy="1"/>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1970371" y="3092084"/>
            <a:ext cx="950577" cy="0"/>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951004" y="3442041"/>
            <a:ext cx="951902" cy="700"/>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0" name="TextBox 18"/>
          <p:cNvSpPr txBox="1">
            <a:spLocks noChangeArrowheads="1"/>
          </p:cNvSpPr>
          <p:nvPr/>
        </p:nvSpPr>
        <p:spPr bwMode="auto">
          <a:xfrm>
            <a:off x="2049623" y="1930789"/>
            <a:ext cx="1016819" cy="246221"/>
          </a:xfrm>
          <a:prstGeom prst="rect">
            <a:avLst/>
          </a:prstGeom>
          <a:noFill/>
          <a:ln w="9525">
            <a:noFill/>
            <a:miter lim="800000"/>
            <a:headEnd/>
            <a:tailEnd/>
          </a:ln>
        </p:spPr>
        <p:txBody>
          <a:bodyPr wrap="square">
            <a:spAutoFit/>
          </a:bodyPr>
          <a:lstStyle/>
          <a:p>
            <a:r>
              <a:rPr lang="en-US" sz="1000" dirty="0"/>
              <a:t>PO Commit</a:t>
            </a:r>
          </a:p>
        </p:txBody>
      </p:sp>
      <p:sp>
        <p:nvSpPr>
          <p:cNvPr id="11" name="TextBox 20"/>
          <p:cNvSpPr txBox="1">
            <a:spLocks noChangeArrowheads="1"/>
          </p:cNvSpPr>
          <p:nvPr/>
        </p:nvSpPr>
        <p:spPr bwMode="auto">
          <a:xfrm>
            <a:off x="2051378" y="3236052"/>
            <a:ext cx="704694" cy="246221"/>
          </a:xfrm>
          <a:prstGeom prst="rect">
            <a:avLst/>
          </a:prstGeom>
          <a:noFill/>
          <a:ln w="9525">
            <a:noFill/>
            <a:miter lim="800000"/>
            <a:headEnd/>
            <a:tailEnd/>
          </a:ln>
        </p:spPr>
        <p:txBody>
          <a:bodyPr wrap="square">
            <a:spAutoFit/>
          </a:bodyPr>
          <a:lstStyle/>
          <a:p>
            <a:r>
              <a:rPr lang="en-US" sz="1000" dirty="0" err="1" smtClean="0"/>
              <a:t>ASNAck</a:t>
            </a:r>
            <a:endParaRPr lang="en-US" sz="1000" dirty="0"/>
          </a:p>
        </p:txBody>
      </p:sp>
      <p:sp>
        <p:nvSpPr>
          <p:cNvPr id="12" name="TextBox 19"/>
          <p:cNvSpPr txBox="1">
            <a:spLocks noChangeArrowheads="1"/>
          </p:cNvSpPr>
          <p:nvPr/>
        </p:nvSpPr>
        <p:spPr bwMode="auto">
          <a:xfrm>
            <a:off x="2079646" y="2877173"/>
            <a:ext cx="704694" cy="246221"/>
          </a:xfrm>
          <a:prstGeom prst="rect">
            <a:avLst/>
          </a:prstGeom>
          <a:noFill/>
          <a:ln w="9525">
            <a:noFill/>
            <a:miter lim="800000"/>
            <a:headEnd/>
            <a:tailEnd/>
          </a:ln>
        </p:spPr>
        <p:txBody>
          <a:bodyPr wrap="square">
            <a:spAutoFit/>
          </a:bodyPr>
          <a:lstStyle/>
          <a:p>
            <a:r>
              <a:rPr lang="en-US" sz="1000" dirty="0"/>
              <a:t>ASN</a:t>
            </a:r>
          </a:p>
        </p:txBody>
      </p:sp>
      <p:cxnSp>
        <p:nvCxnSpPr>
          <p:cNvPr id="13" name="Straight Arrow Connector 12"/>
          <p:cNvCxnSpPr/>
          <p:nvPr/>
        </p:nvCxnSpPr>
        <p:spPr>
          <a:xfrm>
            <a:off x="1970369" y="1616760"/>
            <a:ext cx="93253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7"/>
          <p:cNvSpPr txBox="1">
            <a:spLocks noChangeArrowheads="1"/>
          </p:cNvSpPr>
          <p:nvPr/>
        </p:nvSpPr>
        <p:spPr bwMode="auto">
          <a:xfrm>
            <a:off x="2099404" y="1405065"/>
            <a:ext cx="704694" cy="246221"/>
          </a:xfrm>
          <a:prstGeom prst="rect">
            <a:avLst/>
          </a:prstGeom>
          <a:noFill/>
          <a:ln w="9525">
            <a:noFill/>
            <a:miter lim="800000"/>
            <a:headEnd/>
            <a:tailEnd/>
          </a:ln>
        </p:spPr>
        <p:txBody>
          <a:bodyPr wrap="square">
            <a:spAutoFit/>
          </a:bodyPr>
          <a:lstStyle/>
          <a:p>
            <a:r>
              <a:rPr lang="en-US" sz="1000" dirty="0"/>
              <a:t>PO</a:t>
            </a:r>
          </a:p>
        </p:txBody>
      </p:sp>
      <p:cxnSp>
        <p:nvCxnSpPr>
          <p:cNvPr id="16" name="Straight Arrow Connector 15"/>
          <p:cNvCxnSpPr/>
          <p:nvPr/>
        </p:nvCxnSpPr>
        <p:spPr bwMode="auto">
          <a:xfrm>
            <a:off x="3750073" y="2360495"/>
            <a:ext cx="3536659" cy="399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TextBox 35"/>
          <p:cNvSpPr txBox="1">
            <a:spLocks noChangeArrowheads="1"/>
          </p:cNvSpPr>
          <p:nvPr/>
        </p:nvSpPr>
        <p:spPr bwMode="auto">
          <a:xfrm>
            <a:off x="4046319" y="1532890"/>
            <a:ext cx="1605869" cy="246221"/>
          </a:xfrm>
          <a:prstGeom prst="rect">
            <a:avLst/>
          </a:prstGeom>
          <a:noFill/>
          <a:ln w="9525">
            <a:noFill/>
            <a:miter lim="800000"/>
            <a:headEnd/>
            <a:tailEnd/>
          </a:ln>
        </p:spPr>
        <p:txBody>
          <a:bodyPr wrap="square">
            <a:spAutoFit/>
          </a:bodyPr>
          <a:lstStyle/>
          <a:p>
            <a:r>
              <a:rPr lang="en-US" sz="1000" dirty="0" smtClean="0"/>
              <a:t>48 hr forecast</a:t>
            </a:r>
            <a:endParaRPr lang="en-US" sz="1000" dirty="0"/>
          </a:p>
        </p:txBody>
      </p:sp>
      <p:sp>
        <p:nvSpPr>
          <p:cNvPr id="21" name="TextBox 39"/>
          <p:cNvSpPr txBox="1">
            <a:spLocks noChangeArrowheads="1"/>
          </p:cNvSpPr>
          <p:nvPr/>
        </p:nvSpPr>
        <p:spPr bwMode="auto">
          <a:xfrm>
            <a:off x="4093423" y="2124224"/>
            <a:ext cx="1578295" cy="246221"/>
          </a:xfrm>
          <a:prstGeom prst="rect">
            <a:avLst/>
          </a:prstGeom>
          <a:noFill/>
          <a:ln w="9525">
            <a:noFill/>
            <a:miter lim="800000"/>
            <a:headEnd/>
            <a:tailEnd/>
          </a:ln>
        </p:spPr>
        <p:txBody>
          <a:bodyPr wrap="square">
            <a:spAutoFit/>
          </a:bodyPr>
          <a:lstStyle/>
          <a:p>
            <a:r>
              <a:rPr lang="en-US" sz="1000" dirty="0" smtClean="0"/>
              <a:t>24 hr forecast </a:t>
            </a:r>
            <a:endParaRPr lang="en-US" sz="1000" dirty="0"/>
          </a:p>
        </p:txBody>
      </p:sp>
      <p:cxnSp>
        <p:nvCxnSpPr>
          <p:cNvPr id="23" name="Straight Arrow Connector 22"/>
          <p:cNvCxnSpPr/>
          <p:nvPr/>
        </p:nvCxnSpPr>
        <p:spPr bwMode="auto">
          <a:xfrm>
            <a:off x="3754424" y="3005350"/>
            <a:ext cx="353230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TextBox 50"/>
          <p:cNvSpPr txBox="1">
            <a:spLocks noChangeArrowheads="1"/>
          </p:cNvSpPr>
          <p:nvPr/>
        </p:nvSpPr>
        <p:spPr bwMode="auto">
          <a:xfrm>
            <a:off x="4119300" y="2743337"/>
            <a:ext cx="1208056" cy="246221"/>
          </a:xfrm>
          <a:prstGeom prst="rect">
            <a:avLst/>
          </a:prstGeom>
          <a:noFill/>
          <a:ln w="9525">
            <a:noFill/>
            <a:miter lim="800000"/>
            <a:headEnd/>
            <a:tailEnd/>
          </a:ln>
        </p:spPr>
        <p:txBody>
          <a:bodyPr wrap="square">
            <a:spAutoFit/>
          </a:bodyPr>
          <a:lstStyle/>
          <a:p>
            <a:r>
              <a:rPr lang="en-US" sz="1000" dirty="0"/>
              <a:t>Preship</a:t>
            </a:r>
          </a:p>
        </p:txBody>
      </p:sp>
      <p:sp>
        <p:nvSpPr>
          <p:cNvPr id="27" name="AutoShape 12"/>
          <p:cNvSpPr>
            <a:spLocks noChangeArrowheads="1"/>
          </p:cNvSpPr>
          <p:nvPr/>
        </p:nvSpPr>
        <p:spPr bwMode="auto">
          <a:xfrm>
            <a:off x="3088489" y="3056220"/>
            <a:ext cx="464968" cy="334606"/>
          </a:xfrm>
          <a:prstGeom prst="roundRect">
            <a:avLst>
              <a:gd name="adj" fmla="val 16667"/>
            </a:avLst>
          </a:prstGeom>
          <a:gradFill rotWithShape="1">
            <a:gsLst>
              <a:gs pos="0">
                <a:srgbClr val="000076"/>
              </a:gs>
              <a:gs pos="100000">
                <a:srgbClr val="0000FF"/>
              </a:gs>
            </a:gsLst>
            <a:path path="shape">
              <a:fillToRect l="50000" t="50000" r="50000" b="50000"/>
            </a:path>
          </a:gradFill>
          <a:ln w="9525" algn="ctr">
            <a:noFill/>
            <a:round/>
            <a:headEnd/>
            <a:tailEnd/>
          </a:ln>
        </p:spPr>
        <p:txBody>
          <a:bodyPr wrap="none" anchor="ctr"/>
          <a:lstStyle/>
          <a:p>
            <a:pPr marL="228600" indent="-228600" algn="ctr"/>
            <a:r>
              <a:rPr lang="en-US" sz="1000">
                <a:solidFill>
                  <a:schemeClr val="bg1"/>
                </a:solidFill>
              </a:rPr>
              <a:t>ODM</a:t>
            </a:r>
          </a:p>
          <a:p>
            <a:pPr marL="228600" indent="-228600" algn="ctr"/>
            <a:r>
              <a:rPr lang="en-US" sz="1000">
                <a:solidFill>
                  <a:schemeClr val="bg1"/>
                </a:solidFill>
              </a:rPr>
              <a:t>ACE</a:t>
            </a:r>
          </a:p>
        </p:txBody>
      </p:sp>
      <p:sp>
        <p:nvSpPr>
          <p:cNvPr id="30" name="AutoShape 4"/>
          <p:cNvSpPr txBox="1">
            <a:spLocks noChangeArrowheads="1"/>
          </p:cNvSpPr>
          <p:nvPr/>
        </p:nvSpPr>
        <p:spPr>
          <a:xfrm>
            <a:off x="1112832" y="1139373"/>
            <a:ext cx="857539" cy="3396433"/>
          </a:xfrm>
          <a:prstGeom prst="roundRect">
            <a:avLst>
              <a:gd name="adj" fmla="val 16667"/>
            </a:avLst>
          </a:prstGeom>
          <a:gradFill rotWithShape="1">
            <a:gsLst>
              <a:gs pos="0">
                <a:srgbClr val="0066FF">
                  <a:gamma/>
                  <a:shade val="46275"/>
                  <a:invGamma/>
                </a:srgbClr>
              </a:gs>
              <a:gs pos="50000">
                <a:srgbClr val="0066FF"/>
              </a:gs>
              <a:gs pos="100000">
                <a:srgbClr val="0066FF">
                  <a:gamma/>
                  <a:shade val="46275"/>
                  <a:invGamma/>
                </a:srgbClr>
              </a:gs>
            </a:gsLst>
            <a:lin ang="5400000" scaled="1"/>
          </a:gradFill>
          <a:ln w="12700">
            <a:solidFill>
              <a:srgbClr val="000000"/>
            </a:solidFill>
            <a:round/>
            <a:tailEnd type="none" w="lg" len="sm"/>
          </a:ln>
        </p:spPr>
        <p:txBody>
          <a:bodyPr wrap="none" lIns="0" tIns="0" rIns="0" bIns="0" anchor="ctr"/>
          <a:lstStyle/>
          <a:p>
            <a:pPr marL="225425" marR="0" lvl="0" indent="-225425" algn="ctr" defTabSz="914400" rtl="0" eaLnBrk="1" fontAlgn="auto" latinLnBrk="0" hangingPunct="1">
              <a:lnSpc>
                <a:spcPct val="110000"/>
              </a:lnSpc>
              <a:spcBef>
                <a:spcPct val="50000"/>
              </a:spcBef>
              <a:spcAft>
                <a:spcPts val="0"/>
              </a:spcAft>
              <a:buClr>
                <a:srgbClr val="000000"/>
              </a:buClr>
              <a:buSzPct val="100000"/>
              <a:buFont typeface="Arial" charset="0"/>
              <a:buNone/>
              <a:tabLst/>
              <a:defRPr/>
            </a:pPr>
            <a:r>
              <a:rPr kumimoji="0" lang="en-US" sz="1600" b="0" i="0" u="none" strike="noStrike" kern="1200" cap="none" spc="0" normalizeH="0" baseline="0" noProof="0" dirty="0" smtClean="0">
                <a:ln>
                  <a:noFill/>
                </a:ln>
                <a:solidFill>
                  <a:schemeClr val="bg1"/>
                </a:solidFill>
                <a:effectLst>
                  <a:outerShdw blurRad="38100" dist="38100" dir="2700000" algn="tl">
                    <a:srgbClr val="000000"/>
                  </a:outerShdw>
                </a:effectLst>
                <a:uLnTx/>
                <a:uFillTx/>
                <a:latin typeface="+mn-lt"/>
                <a:ea typeface="+mn-ea"/>
                <a:cs typeface="+mn-cs"/>
              </a:rPr>
              <a:t>HP</a:t>
            </a:r>
            <a:endParaRPr kumimoji="0" 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p:txBody>
      </p:sp>
      <p:cxnSp>
        <p:nvCxnSpPr>
          <p:cNvPr id="31" name="Straight Arrow Connector 30"/>
          <p:cNvCxnSpPr/>
          <p:nvPr/>
        </p:nvCxnSpPr>
        <p:spPr bwMode="auto">
          <a:xfrm>
            <a:off x="3768545" y="1753056"/>
            <a:ext cx="351818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9" name="TextBox 51"/>
          <p:cNvSpPr txBox="1">
            <a:spLocks noChangeArrowheads="1"/>
          </p:cNvSpPr>
          <p:nvPr/>
        </p:nvSpPr>
        <p:spPr bwMode="auto">
          <a:xfrm>
            <a:off x="4039204" y="3708814"/>
            <a:ext cx="1620105" cy="246221"/>
          </a:xfrm>
          <a:prstGeom prst="rect">
            <a:avLst/>
          </a:prstGeom>
          <a:noFill/>
          <a:ln w="9525">
            <a:noFill/>
            <a:miter lim="800000"/>
            <a:headEnd/>
            <a:tailEnd/>
          </a:ln>
        </p:spPr>
        <p:txBody>
          <a:bodyPr wrap="square">
            <a:spAutoFit/>
          </a:bodyPr>
          <a:lstStyle/>
          <a:p>
            <a:r>
              <a:rPr lang="en-US" sz="1000" b="1" u="sng" dirty="0" smtClean="0">
                <a:solidFill>
                  <a:srgbClr val="0000FF"/>
                </a:solidFill>
              </a:rPr>
              <a:t>Final Pre-Ship</a:t>
            </a:r>
            <a:endParaRPr lang="en-US" sz="1000" b="1" u="sng" dirty="0">
              <a:solidFill>
                <a:srgbClr val="0000FF"/>
              </a:solidFill>
            </a:endParaRPr>
          </a:p>
        </p:txBody>
      </p:sp>
      <p:cxnSp>
        <p:nvCxnSpPr>
          <p:cNvPr id="100" name="Straight Arrow Connector 99"/>
          <p:cNvCxnSpPr/>
          <p:nvPr/>
        </p:nvCxnSpPr>
        <p:spPr bwMode="auto">
          <a:xfrm>
            <a:off x="3742463" y="3962527"/>
            <a:ext cx="3535643" cy="783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8" name="AutoShape 4"/>
          <p:cNvSpPr txBox="1">
            <a:spLocks noChangeArrowheads="1"/>
          </p:cNvSpPr>
          <p:nvPr/>
        </p:nvSpPr>
        <p:spPr bwMode="auto">
          <a:xfrm>
            <a:off x="7286732" y="3471735"/>
            <a:ext cx="857541" cy="1064071"/>
          </a:xfrm>
          <a:prstGeom prst="roundRect">
            <a:avLst>
              <a:gd name="adj" fmla="val 16667"/>
            </a:avLst>
          </a:prstGeom>
          <a:gradFill rotWithShape="1">
            <a:gsLst>
              <a:gs pos="0">
                <a:srgbClr val="0066FF">
                  <a:gamma/>
                  <a:shade val="46275"/>
                  <a:invGamma/>
                </a:srgbClr>
              </a:gs>
              <a:gs pos="50000">
                <a:srgbClr val="0066FF"/>
              </a:gs>
              <a:gs pos="100000">
                <a:srgbClr val="0066FF">
                  <a:gamma/>
                  <a:shade val="46275"/>
                  <a:invGamma/>
                </a:srgbClr>
              </a:gs>
            </a:gsLst>
            <a:lin ang="5400000" scaled="1"/>
          </a:gradFill>
          <a:ln w="12700">
            <a:solidFill>
              <a:srgbClr val="000000"/>
            </a:solidFill>
            <a:round/>
            <a:headEnd/>
            <a:tailEnd type="none" w="lg" len="sm"/>
          </a:ln>
          <a:effectLst/>
        </p:spPr>
        <p:txBody>
          <a:bodyPr wrap="none" lIns="0" tIns="0" rIns="0" bIns="0" anchor="ctr"/>
          <a:lstStyle/>
          <a:p>
            <a:pPr marL="342900" indent="-342900" algn="ctr" eaLnBrk="0" hangingPunct="0">
              <a:spcBef>
                <a:spcPct val="50000"/>
              </a:spcBef>
              <a:buFont typeface="Arial" charset="0"/>
              <a:buNone/>
              <a:defRPr/>
            </a:pPr>
            <a:r>
              <a:rPr lang="en-US" sz="1600" dirty="0" smtClean="0">
                <a:solidFill>
                  <a:schemeClr val="bg1"/>
                </a:solidFill>
                <a:effectLst>
                  <a:outerShdw blurRad="38100" dist="38100" dir="2700000" algn="tl">
                    <a:srgbClr val="000000"/>
                  </a:outerShdw>
                </a:effectLst>
                <a:latin typeface="Futura Bk" pitchFamily="34" charset="0"/>
              </a:rPr>
              <a:t>PCC</a:t>
            </a:r>
            <a:endParaRPr lang="en-US" sz="1600" dirty="0">
              <a:solidFill>
                <a:schemeClr val="bg1"/>
              </a:solidFill>
              <a:effectLst>
                <a:outerShdw blurRad="38100" dist="38100" dir="2700000" algn="tl">
                  <a:srgbClr val="000000"/>
                </a:outerShdw>
              </a:effectLst>
              <a:latin typeface="Futura Bk" pitchFamily="34" charset="0"/>
            </a:endParaRPr>
          </a:p>
        </p:txBody>
      </p:sp>
      <p:cxnSp>
        <p:nvCxnSpPr>
          <p:cNvPr id="109" name="Straight Arrow Connector 108"/>
          <p:cNvCxnSpPr/>
          <p:nvPr/>
        </p:nvCxnSpPr>
        <p:spPr bwMode="auto">
          <a:xfrm>
            <a:off x="1970370" y="3957389"/>
            <a:ext cx="902411" cy="0"/>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111" name="TextBox 51"/>
          <p:cNvSpPr txBox="1">
            <a:spLocks noChangeArrowheads="1"/>
          </p:cNvSpPr>
          <p:nvPr/>
        </p:nvSpPr>
        <p:spPr bwMode="auto">
          <a:xfrm>
            <a:off x="1951005" y="3724979"/>
            <a:ext cx="1051225" cy="246221"/>
          </a:xfrm>
          <a:prstGeom prst="rect">
            <a:avLst/>
          </a:prstGeom>
          <a:noFill/>
          <a:ln w="9525">
            <a:noFill/>
            <a:miter lim="800000"/>
            <a:headEnd/>
            <a:tailEnd/>
          </a:ln>
        </p:spPr>
        <p:txBody>
          <a:bodyPr wrap="square">
            <a:spAutoFit/>
          </a:bodyPr>
          <a:lstStyle/>
          <a:p>
            <a:r>
              <a:rPr lang="en-US" sz="1000" b="1" u="sng" dirty="0" smtClean="0">
                <a:solidFill>
                  <a:srgbClr val="0000FF"/>
                </a:solidFill>
              </a:rPr>
              <a:t>Final Pre-Ship</a:t>
            </a:r>
            <a:endParaRPr lang="en-US" sz="1000" b="1" u="sng" dirty="0">
              <a:solidFill>
                <a:srgbClr val="0000FF"/>
              </a:solidFill>
            </a:endParaRPr>
          </a:p>
        </p:txBody>
      </p:sp>
      <p:sp>
        <p:nvSpPr>
          <p:cNvPr id="26" name="Rounded Rectangle 2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44</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423675702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Ocean Communications Flow</a:t>
            </a:r>
            <a:endParaRPr lang="en-US" dirty="0"/>
          </a:p>
        </p:txBody>
      </p:sp>
      <p:sp>
        <p:nvSpPr>
          <p:cNvPr id="5" name="AutoShape 4"/>
          <p:cNvSpPr txBox="1">
            <a:spLocks noChangeArrowheads="1"/>
          </p:cNvSpPr>
          <p:nvPr/>
        </p:nvSpPr>
        <p:spPr bwMode="auto">
          <a:xfrm>
            <a:off x="2892532" y="785706"/>
            <a:ext cx="857541" cy="3827732"/>
          </a:xfrm>
          <a:prstGeom prst="roundRect">
            <a:avLst>
              <a:gd name="adj" fmla="val 16667"/>
            </a:avLst>
          </a:prstGeom>
          <a:gradFill rotWithShape="1">
            <a:gsLst>
              <a:gs pos="0">
                <a:srgbClr val="0066FF">
                  <a:gamma/>
                  <a:shade val="46275"/>
                  <a:invGamma/>
                </a:srgbClr>
              </a:gs>
              <a:gs pos="50000">
                <a:srgbClr val="0066FF"/>
              </a:gs>
              <a:gs pos="100000">
                <a:srgbClr val="0066FF">
                  <a:gamma/>
                  <a:shade val="46275"/>
                  <a:invGamma/>
                </a:srgbClr>
              </a:gs>
            </a:gsLst>
            <a:lin ang="5400000" scaled="1"/>
          </a:gradFill>
          <a:ln w="12700">
            <a:solidFill>
              <a:srgbClr val="000000"/>
            </a:solidFill>
            <a:round/>
            <a:headEnd/>
            <a:tailEnd type="none" w="lg" len="sm"/>
          </a:ln>
          <a:effectLst/>
        </p:spPr>
        <p:txBody>
          <a:bodyPr wrap="none" lIns="0" tIns="0" rIns="0" bIns="0" anchor="ctr"/>
          <a:lstStyle/>
          <a:p>
            <a:pPr marL="342900" indent="-342900" algn="ctr" eaLnBrk="0" hangingPunct="0">
              <a:spcBef>
                <a:spcPct val="50000"/>
              </a:spcBef>
              <a:buFont typeface="Arial" charset="0"/>
              <a:buNone/>
              <a:defRPr/>
            </a:pPr>
            <a:r>
              <a:rPr lang="en-US" sz="1600" dirty="0">
                <a:solidFill>
                  <a:schemeClr val="bg1"/>
                </a:solidFill>
                <a:effectLst>
                  <a:outerShdw blurRad="38100" dist="38100" dir="2700000" algn="tl">
                    <a:srgbClr val="000000"/>
                  </a:outerShdw>
                </a:effectLst>
                <a:latin typeface="Futura Bk" pitchFamily="34" charset="0"/>
              </a:rPr>
              <a:t>ODM</a:t>
            </a:r>
          </a:p>
        </p:txBody>
      </p:sp>
      <p:sp>
        <p:nvSpPr>
          <p:cNvPr id="6" name="AutoShape 4"/>
          <p:cNvSpPr txBox="1">
            <a:spLocks noChangeArrowheads="1"/>
          </p:cNvSpPr>
          <p:nvPr/>
        </p:nvSpPr>
        <p:spPr bwMode="auto">
          <a:xfrm>
            <a:off x="7286732" y="785706"/>
            <a:ext cx="857541" cy="3137173"/>
          </a:xfrm>
          <a:prstGeom prst="roundRect">
            <a:avLst>
              <a:gd name="adj" fmla="val 16667"/>
            </a:avLst>
          </a:prstGeom>
          <a:gradFill rotWithShape="1">
            <a:gsLst>
              <a:gs pos="0">
                <a:srgbClr val="0066FF">
                  <a:gamma/>
                  <a:shade val="46275"/>
                  <a:invGamma/>
                </a:srgbClr>
              </a:gs>
              <a:gs pos="50000">
                <a:srgbClr val="0066FF"/>
              </a:gs>
              <a:gs pos="100000">
                <a:srgbClr val="0066FF">
                  <a:gamma/>
                  <a:shade val="46275"/>
                  <a:invGamma/>
                </a:srgbClr>
              </a:gs>
            </a:gsLst>
            <a:lin ang="5400000" scaled="1"/>
          </a:gradFill>
          <a:ln w="12700">
            <a:solidFill>
              <a:srgbClr val="000000"/>
            </a:solidFill>
            <a:round/>
            <a:headEnd/>
            <a:tailEnd type="none" w="lg" len="sm"/>
          </a:ln>
          <a:effectLst/>
        </p:spPr>
        <p:txBody>
          <a:bodyPr wrap="none" lIns="0" tIns="0" rIns="0" bIns="0" anchor="ctr"/>
          <a:lstStyle/>
          <a:p>
            <a:pPr marL="342900" indent="-342900" algn="ctr" eaLnBrk="0" hangingPunct="0">
              <a:spcBef>
                <a:spcPct val="50000"/>
              </a:spcBef>
              <a:buFont typeface="Arial" charset="0"/>
              <a:buNone/>
              <a:defRPr/>
            </a:pPr>
            <a:r>
              <a:rPr lang="en-US" sz="1600" dirty="0">
                <a:solidFill>
                  <a:schemeClr val="bg1"/>
                </a:solidFill>
                <a:effectLst>
                  <a:outerShdw blurRad="38100" dist="38100" dir="2700000" algn="tl">
                    <a:srgbClr val="000000"/>
                  </a:outerShdw>
                </a:effectLst>
                <a:latin typeface="Futura Bk" pitchFamily="34" charset="0"/>
              </a:rPr>
              <a:t>FF</a:t>
            </a:r>
          </a:p>
        </p:txBody>
      </p:sp>
      <p:cxnSp>
        <p:nvCxnSpPr>
          <p:cNvPr id="7" name="Straight Arrow Connector 6"/>
          <p:cNvCxnSpPr/>
          <p:nvPr/>
        </p:nvCxnSpPr>
        <p:spPr>
          <a:xfrm>
            <a:off x="2013501" y="1806092"/>
            <a:ext cx="859281" cy="0"/>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2013499" y="3382854"/>
            <a:ext cx="897466" cy="1400"/>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2013501" y="3667734"/>
            <a:ext cx="890767" cy="0"/>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0" name="TextBox 18"/>
          <p:cNvSpPr txBox="1">
            <a:spLocks noChangeArrowheads="1"/>
          </p:cNvSpPr>
          <p:nvPr/>
        </p:nvSpPr>
        <p:spPr bwMode="auto">
          <a:xfrm>
            <a:off x="2101379" y="1525367"/>
            <a:ext cx="1016819" cy="246221"/>
          </a:xfrm>
          <a:prstGeom prst="rect">
            <a:avLst/>
          </a:prstGeom>
          <a:noFill/>
          <a:ln w="9525">
            <a:noFill/>
            <a:miter lim="800000"/>
            <a:headEnd/>
            <a:tailEnd/>
          </a:ln>
        </p:spPr>
        <p:txBody>
          <a:bodyPr wrap="square">
            <a:spAutoFit/>
          </a:bodyPr>
          <a:lstStyle/>
          <a:p>
            <a:r>
              <a:rPr lang="en-US" sz="1000" dirty="0"/>
              <a:t>PO Commit</a:t>
            </a:r>
          </a:p>
        </p:txBody>
      </p:sp>
      <p:sp>
        <p:nvSpPr>
          <p:cNvPr id="11" name="TextBox 20"/>
          <p:cNvSpPr txBox="1">
            <a:spLocks noChangeArrowheads="1"/>
          </p:cNvSpPr>
          <p:nvPr/>
        </p:nvSpPr>
        <p:spPr bwMode="auto">
          <a:xfrm>
            <a:off x="2119031" y="3468155"/>
            <a:ext cx="704694" cy="246221"/>
          </a:xfrm>
          <a:prstGeom prst="rect">
            <a:avLst/>
          </a:prstGeom>
          <a:noFill/>
          <a:ln w="9525">
            <a:noFill/>
            <a:miter lim="800000"/>
            <a:headEnd/>
            <a:tailEnd/>
          </a:ln>
        </p:spPr>
        <p:txBody>
          <a:bodyPr wrap="square">
            <a:spAutoFit/>
          </a:bodyPr>
          <a:lstStyle/>
          <a:p>
            <a:r>
              <a:rPr lang="en-US" sz="1000" dirty="0" err="1" smtClean="0"/>
              <a:t>ASNAck</a:t>
            </a:r>
            <a:endParaRPr lang="en-US" sz="1000" dirty="0"/>
          </a:p>
        </p:txBody>
      </p:sp>
      <p:sp>
        <p:nvSpPr>
          <p:cNvPr id="12" name="TextBox 19"/>
          <p:cNvSpPr txBox="1">
            <a:spLocks noChangeArrowheads="1"/>
          </p:cNvSpPr>
          <p:nvPr/>
        </p:nvSpPr>
        <p:spPr bwMode="auto">
          <a:xfrm>
            <a:off x="2204631" y="3167856"/>
            <a:ext cx="704694" cy="246221"/>
          </a:xfrm>
          <a:prstGeom prst="rect">
            <a:avLst/>
          </a:prstGeom>
          <a:noFill/>
          <a:ln w="9525">
            <a:noFill/>
            <a:miter lim="800000"/>
            <a:headEnd/>
            <a:tailEnd/>
          </a:ln>
        </p:spPr>
        <p:txBody>
          <a:bodyPr wrap="square">
            <a:spAutoFit/>
          </a:bodyPr>
          <a:lstStyle/>
          <a:p>
            <a:r>
              <a:rPr lang="en-US" sz="1000" dirty="0"/>
              <a:t>ASN</a:t>
            </a:r>
          </a:p>
        </p:txBody>
      </p:sp>
      <p:cxnSp>
        <p:nvCxnSpPr>
          <p:cNvPr id="13" name="Straight Arrow Connector 12"/>
          <p:cNvCxnSpPr/>
          <p:nvPr/>
        </p:nvCxnSpPr>
        <p:spPr>
          <a:xfrm>
            <a:off x="2013501" y="1263094"/>
            <a:ext cx="89076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7"/>
          <p:cNvSpPr txBox="1">
            <a:spLocks noChangeArrowheads="1"/>
          </p:cNvSpPr>
          <p:nvPr/>
        </p:nvSpPr>
        <p:spPr bwMode="auto">
          <a:xfrm>
            <a:off x="2119031" y="1051378"/>
            <a:ext cx="704694" cy="246221"/>
          </a:xfrm>
          <a:prstGeom prst="rect">
            <a:avLst/>
          </a:prstGeom>
          <a:noFill/>
          <a:ln w="9525">
            <a:noFill/>
            <a:miter lim="800000"/>
            <a:headEnd/>
            <a:tailEnd/>
          </a:ln>
        </p:spPr>
        <p:txBody>
          <a:bodyPr wrap="square">
            <a:spAutoFit/>
          </a:bodyPr>
          <a:lstStyle/>
          <a:p>
            <a:r>
              <a:rPr lang="en-US" sz="1000" dirty="0"/>
              <a:t>PO</a:t>
            </a:r>
          </a:p>
        </p:txBody>
      </p:sp>
      <p:cxnSp>
        <p:nvCxnSpPr>
          <p:cNvPr id="15" name="Straight Arrow Connector 14"/>
          <p:cNvCxnSpPr/>
          <p:nvPr/>
        </p:nvCxnSpPr>
        <p:spPr bwMode="auto">
          <a:xfrm>
            <a:off x="3764362" y="895350"/>
            <a:ext cx="3556937" cy="198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bwMode="auto">
          <a:xfrm>
            <a:off x="3750073" y="2093089"/>
            <a:ext cx="3536659" cy="399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bwMode="auto">
          <a:xfrm>
            <a:off x="3740376" y="2426353"/>
            <a:ext cx="3540980" cy="4200"/>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bwMode="auto">
          <a:xfrm>
            <a:off x="3742462" y="1176285"/>
            <a:ext cx="3564773" cy="2800"/>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19" name="TextBox 34"/>
          <p:cNvSpPr txBox="1">
            <a:spLocks noChangeArrowheads="1"/>
          </p:cNvSpPr>
          <p:nvPr/>
        </p:nvSpPr>
        <p:spPr bwMode="auto">
          <a:xfrm>
            <a:off x="4038651" y="715678"/>
            <a:ext cx="1732419" cy="246221"/>
          </a:xfrm>
          <a:prstGeom prst="rect">
            <a:avLst/>
          </a:prstGeom>
          <a:noFill/>
          <a:ln w="9525">
            <a:noFill/>
            <a:miter lim="800000"/>
            <a:headEnd/>
            <a:tailEnd/>
          </a:ln>
        </p:spPr>
        <p:txBody>
          <a:bodyPr wrap="square">
            <a:spAutoFit/>
          </a:bodyPr>
          <a:lstStyle/>
          <a:p>
            <a:r>
              <a:rPr lang="en-US" sz="1000" dirty="0"/>
              <a:t>Ship Commit 1</a:t>
            </a:r>
          </a:p>
        </p:txBody>
      </p:sp>
      <p:sp>
        <p:nvSpPr>
          <p:cNvPr id="20" name="TextBox 35"/>
          <p:cNvSpPr txBox="1">
            <a:spLocks noChangeArrowheads="1"/>
          </p:cNvSpPr>
          <p:nvPr/>
        </p:nvSpPr>
        <p:spPr bwMode="auto">
          <a:xfrm>
            <a:off x="4030576" y="934690"/>
            <a:ext cx="2042420" cy="246221"/>
          </a:xfrm>
          <a:prstGeom prst="rect">
            <a:avLst/>
          </a:prstGeom>
          <a:noFill/>
          <a:ln w="9525">
            <a:noFill/>
            <a:miter lim="800000"/>
            <a:headEnd/>
            <a:tailEnd/>
          </a:ln>
        </p:spPr>
        <p:txBody>
          <a:bodyPr wrap="square">
            <a:spAutoFit/>
          </a:bodyPr>
          <a:lstStyle/>
          <a:p>
            <a:r>
              <a:rPr lang="en-US" sz="1000" dirty="0"/>
              <a:t>Ship Commit 1 </a:t>
            </a:r>
            <a:r>
              <a:rPr lang="en-US" sz="1000" dirty="0" err="1"/>
              <a:t>Ack</a:t>
            </a:r>
            <a:endParaRPr lang="en-US" sz="1000" dirty="0"/>
          </a:p>
        </p:txBody>
      </p:sp>
      <p:sp>
        <p:nvSpPr>
          <p:cNvPr id="21" name="TextBox 39"/>
          <p:cNvSpPr txBox="1">
            <a:spLocks noChangeArrowheads="1"/>
          </p:cNvSpPr>
          <p:nvPr/>
        </p:nvSpPr>
        <p:spPr bwMode="auto">
          <a:xfrm>
            <a:off x="4058742" y="1875100"/>
            <a:ext cx="1578295" cy="246221"/>
          </a:xfrm>
          <a:prstGeom prst="rect">
            <a:avLst/>
          </a:prstGeom>
          <a:noFill/>
          <a:ln w="9525">
            <a:noFill/>
            <a:miter lim="800000"/>
            <a:headEnd/>
            <a:tailEnd/>
          </a:ln>
        </p:spPr>
        <p:txBody>
          <a:bodyPr wrap="square">
            <a:spAutoFit/>
          </a:bodyPr>
          <a:lstStyle/>
          <a:p>
            <a:r>
              <a:rPr lang="en-US" sz="1000" dirty="0"/>
              <a:t>Ship Commit 2</a:t>
            </a:r>
          </a:p>
        </p:txBody>
      </p:sp>
      <p:sp>
        <p:nvSpPr>
          <p:cNvPr id="22" name="TextBox 40"/>
          <p:cNvSpPr txBox="1">
            <a:spLocks noChangeArrowheads="1"/>
          </p:cNvSpPr>
          <p:nvPr/>
        </p:nvSpPr>
        <p:spPr bwMode="auto">
          <a:xfrm>
            <a:off x="4058982" y="2180607"/>
            <a:ext cx="1819551" cy="246221"/>
          </a:xfrm>
          <a:prstGeom prst="rect">
            <a:avLst/>
          </a:prstGeom>
          <a:noFill/>
          <a:ln w="9525">
            <a:noFill/>
            <a:miter lim="800000"/>
            <a:headEnd/>
            <a:tailEnd/>
          </a:ln>
        </p:spPr>
        <p:txBody>
          <a:bodyPr wrap="square">
            <a:spAutoFit/>
          </a:bodyPr>
          <a:lstStyle/>
          <a:p>
            <a:r>
              <a:rPr lang="en-US" sz="1000" dirty="0"/>
              <a:t>Ship Commit 2 </a:t>
            </a:r>
            <a:r>
              <a:rPr lang="en-US" sz="1000" dirty="0" err="1"/>
              <a:t>Ack</a:t>
            </a:r>
            <a:endParaRPr lang="en-US" sz="1000" dirty="0"/>
          </a:p>
        </p:txBody>
      </p:sp>
      <p:cxnSp>
        <p:nvCxnSpPr>
          <p:cNvPr id="23" name="Straight Arrow Connector 22"/>
          <p:cNvCxnSpPr/>
          <p:nvPr/>
        </p:nvCxnSpPr>
        <p:spPr bwMode="auto">
          <a:xfrm>
            <a:off x="3775017" y="2720051"/>
            <a:ext cx="351171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bwMode="auto">
          <a:xfrm>
            <a:off x="3759234" y="3084479"/>
            <a:ext cx="3518332" cy="1400"/>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25" name="TextBox 50"/>
          <p:cNvSpPr txBox="1">
            <a:spLocks noChangeArrowheads="1"/>
          </p:cNvSpPr>
          <p:nvPr/>
        </p:nvSpPr>
        <p:spPr bwMode="auto">
          <a:xfrm>
            <a:off x="4088565" y="2487856"/>
            <a:ext cx="1208056" cy="246221"/>
          </a:xfrm>
          <a:prstGeom prst="rect">
            <a:avLst/>
          </a:prstGeom>
          <a:noFill/>
          <a:ln w="9525">
            <a:noFill/>
            <a:miter lim="800000"/>
            <a:headEnd/>
            <a:tailEnd/>
          </a:ln>
        </p:spPr>
        <p:txBody>
          <a:bodyPr wrap="square">
            <a:spAutoFit/>
          </a:bodyPr>
          <a:lstStyle/>
          <a:p>
            <a:r>
              <a:rPr lang="en-US" sz="1000" dirty="0"/>
              <a:t>Preship</a:t>
            </a:r>
          </a:p>
        </p:txBody>
      </p:sp>
      <p:sp>
        <p:nvSpPr>
          <p:cNvPr id="26" name="TextBox 51"/>
          <p:cNvSpPr txBox="1">
            <a:spLocks noChangeArrowheads="1"/>
          </p:cNvSpPr>
          <p:nvPr/>
        </p:nvSpPr>
        <p:spPr bwMode="auto">
          <a:xfrm>
            <a:off x="4067431" y="2827409"/>
            <a:ext cx="1620105" cy="246221"/>
          </a:xfrm>
          <a:prstGeom prst="rect">
            <a:avLst/>
          </a:prstGeom>
          <a:noFill/>
          <a:ln w="9525">
            <a:noFill/>
            <a:miter lim="800000"/>
            <a:headEnd/>
            <a:tailEnd/>
          </a:ln>
        </p:spPr>
        <p:txBody>
          <a:bodyPr wrap="square">
            <a:spAutoFit/>
          </a:bodyPr>
          <a:lstStyle/>
          <a:p>
            <a:r>
              <a:rPr lang="en-US" sz="1000" dirty="0"/>
              <a:t>Preship </a:t>
            </a:r>
            <a:r>
              <a:rPr lang="en-US" sz="1000" dirty="0" err="1"/>
              <a:t>Ack</a:t>
            </a:r>
            <a:endParaRPr lang="en-US" sz="1000" dirty="0"/>
          </a:p>
        </p:txBody>
      </p:sp>
      <p:sp>
        <p:nvSpPr>
          <p:cNvPr id="27" name="AutoShape 12"/>
          <p:cNvSpPr>
            <a:spLocks noChangeArrowheads="1"/>
          </p:cNvSpPr>
          <p:nvPr/>
        </p:nvSpPr>
        <p:spPr bwMode="auto">
          <a:xfrm>
            <a:off x="3088489" y="2153250"/>
            <a:ext cx="464968" cy="334606"/>
          </a:xfrm>
          <a:prstGeom prst="roundRect">
            <a:avLst>
              <a:gd name="adj" fmla="val 16667"/>
            </a:avLst>
          </a:prstGeom>
          <a:gradFill rotWithShape="1">
            <a:gsLst>
              <a:gs pos="0">
                <a:srgbClr val="000076"/>
              </a:gs>
              <a:gs pos="100000">
                <a:srgbClr val="0000FF"/>
              </a:gs>
            </a:gsLst>
            <a:path path="shape">
              <a:fillToRect l="50000" t="50000" r="50000" b="50000"/>
            </a:path>
          </a:gradFill>
          <a:ln w="9525" algn="ctr">
            <a:noFill/>
            <a:round/>
            <a:headEnd/>
            <a:tailEnd/>
          </a:ln>
        </p:spPr>
        <p:txBody>
          <a:bodyPr wrap="none" anchor="ctr"/>
          <a:lstStyle/>
          <a:p>
            <a:pPr marL="228600" indent="-228600" algn="ctr"/>
            <a:r>
              <a:rPr lang="en-US" sz="1000" dirty="0">
                <a:solidFill>
                  <a:schemeClr val="bg1"/>
                </a:solidFill>
              </a:rPr>
              <a:t>ODM</a:t>
            </a:r>
          </a:p>
          <a:p>
            <a:pPr marL="228600" indent="-228600" algn="ctr"/>
            <a:r>
              <a:rPr lang="en-US" sz="1000" dirty="0">
                <a:solidFill>
                  <a:schemeClr val="bg1"/>
                </a:solidFill>
              </a:rPr>
              <a:t>ACE</a:t>
            </a:r>
          </a:p>
        </p:txBody>
      </p:sp>
      <p:sp>
        <p:nvSpPr>
          <p:cNvPr id="28" name="TextBox 99"/>
          <p:cNvSpPr txBox="1">
            <a:spLocks noChangeArrowheads="1"/>
          </p:cNvSpPr>
          <p:nvPr/>
        </p:nvSpPr>
        <p:spPr bwMode="auto">
          <a:xfrm rot="-5400000">
            <a:off x="-180345" y="2171168"/>
            <a:ext cx="1442031" cy="369332"/>
          </a:xfrm>
          <a:prstGeom prst="rect">
            <a:avLst/>
          </a:prstGeom>
          <a:noFill/>
          <a:ln w="9525">
            <a:noFill/>
            <a:miter lim="800000"/>
            <a:headEnd/>
            <a:tailEnd/>
          </a:ln>
        </p:spPr>
        <p:txBody>
          <a:bodyPr wrap="square">
            <a:spAutoFit/>
          </a:bodyPr>
          <a:lstStyle/>
          <a:p>
            <a:r>
              <a:rPr lang="en-US" dirty="0"/>
              <a:t>ODM to Port</a:t>
            </a:r>
          </a:p>
        </p:txBody>
      </p:sp>
      <p:sp>
        <p:nvSpPr>
          <p:cNvPr id="30" name="AutoShape 4"/>
          <p:cNvSpPr txBox="1">
            <a:spLocks noChangeArrowheads="1"/>
          </p:cNvSpPr>
          <p:nvPr/>
        </p:nvSpPr>
        <p:spPr>
          <a:xfrm>
            <a:off x="1155962" y="785706"/>
            <a:ext cx="857539" cy="3827732"/>
          </a:xfrm>
          <a:prstGeom prst="roundRect">
            <a:avLst>
              <a:gd name="adj" fmla="val 16667"/>
            </a:avLst>
          </a:prstGeom>
          <a:gradFill rotWithShape="1">
            <a:gsLst>
              <a:gs pos="0">
                <a:srgbClr val="0066FF">
                  <a:gamma/>
                  <a:shade val="46275"/>
                  <a:invGamma/>
                </a:srgbClr>
              </a:gs>
              <a:gs pos="50000">
                <a:srgbClr val="0066FF"/>
              </a:gs>
              <a:gs pos="100000">
                <a:srgbClr val="0066FF">
                  <a:gamma/>
                  <a:shade val="46275"/>
                  <a:invGamma/>
                </a:srgbClr>
              </a:gs>
            </a:gsLst>
            <a:lin ang="5400000" scaled="1"/>
          </a:gradFill>
          <a:ln w="12700">
            <a:solidFill>
              <a:srgbClr val="000000"/>
            </a:solidFill>
            <a:round/>
            <a:tailEnd type="none" w="lg" len="sm"/>
          </a:ln>
        </p:spPr>
        <p:txBody>
          <a:bodyPr wrap="none" lIns="0" tIns="0" rIns="0" bIns="0" anchor="ctr"/>
          <a:lstStyle/>
          <a:p>
            <a:pPr marL="225425" marR="0" lvl="0" indent="-225425" algn="ctr" defTabSz="914400" rtl="0" eaLnBrk="1" fontAlgn="auto" latinLnBrk="0" hangingPunct="1">
              <a:lnSpc>
                <a:spcPct val="110000"/>
              </a:lnSpc>
              <a:spcBef>
                <a:spcPct val="50000"/>
              </a:spcBef>
              <a:spcAft>
                <a:spcPts val="0"/>
              </a:spcAft>
              <a:buClr>
                <a:srgbClr val="000000"/>
              </a:buClr>
              <a:buSzPct val="100000"/>
              <a:buFont typeface="Arial" charset="0"/>
              <a:buNone/>
              <a:tabLst/>
              <a:defRPr/>
            </a:pPr>
            <a:r>
              <a:rPr kumimoji="0" lang="en-US" sz="1600" b="0" i="0" u="none" strike="noStrike" kern="1200" cap="none" spc="0" normalizeH="0" baseline="0" noProof="0" dirty="0" smtClean="0">
                <a:ln>
                  <a:noFill/>
                </a:ln>
                <a:solidFill>
                  <a:schemeClr val="bg1"/>
                </a:solidFill>
                <a:effectLst>
                  <a:outerShdw blurRad="38100" dist="38100" dir="2700000" algn="tl">
                    <a:srgbClr val="000000"/>
                  </a:outerShdw>
                </a:effectLst>
                <a:uLnTx/>
                <a:uFillTx/>
                <a:latin typeface="+mn-lt"/>
                <a:ea typeface="+mn-ea"/>
                <a:cs typeface="+mn-cs"/>
              </a:rPr>
              <a:t>HP</a:t>
            </a:r>
            <a:endParaRPr kumimoji="0" lang="en-US" sz="1600" b="0" i="0" u="none" strike="noStrike" kern="1200" cap="none" spc="0" normalizeH="0" baseline="0" noProof="0" dirty="0">
              <a:ln>
                <a:noFill/>
              </a:ln>
              <a:solidFill>
                <a:schemeClr val="bg1"/>
              </a:solidFill>
              <a:effectLst>
                <a:outerShdw blurRad="38100" dist="38100" dir="2700000" algn="tl">
                  <a:srgbClr val="000000"/>
                </a:outerShdw>
              </a:effectLst>
              <a:uLnTx/>
              <a:uFillTx/>
              <a:latin typeface="+mn-lt"/>
              <a:ea typeface="+mn-ea"/>
              <a:cs typeface="+mn-cs"/>
            </a:endParaRPr>
          </a:p>
        </p:txBody>
      </p:sp>
      <p:cxnSp>
        <p:nvCxnSpPr>
          <p:cNvPr id="31" name="Straight Arrow Connector 30"/>
          <p:cNvCxnSpPr/>
          <p:nvPr/>
        </p:nvCxnSpPr>
        <p:spPr bwMode="auto">
          <a:xfrm>
            <a:off x="3768545" y="1468398"/>
            <a:ext cx="351818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bwMode="auto">
          <a:xfrm>
            <a:off x="3737955" y="1775298"/>
            <a:ext cx="3608745" cy="2800"/>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3" name="TextBox 34"/>
          <p:cNvSpPr txBox="1">
            <a:spLocks noChangeArrowheads="1"/>
          </p:cNvSpPr>
          <p:nvPr/>
        </p:nvSpPr>
        <p:spPr bwMode="auto">
          <a:xfrm>
            <a:off x="4042773" y="1228430"/>
            <a:ext cx="2047477" cy="246221"/>
          </a:xfrm>
          <a:prstGeom prst="rect">
            <a:avLst/>
          </a:prstGeom>
          <a:noFill/>
          <a:ln w="9525">
            <a:noFill/>
            <a:miter lim="800000"/>
            <a:headEnd/>
            <a:tailEnd/>
          </a:ln>
        </p:spPr>
        <p:txBody>
          <a:bodyPr wrap="square">
            <a:spAutoFit/>
          </a:bodyPr>
          <a:lstStyle/>
          <a:p>
            <a:r>
              <a:rPr lang="en-US" sz="1000" dirty="0"/>
              <a:t>Ship Commit </a:t>
            </a:r>
            <a:r>
              <a:rPr lang="en-US" sz="1000" dirty="0" smtClean="0"/>
              <a:t>1 Revision</a:t>
            </a:r>
            <a:endParaRPr lang="en-US" sz="1000" dirty="0"/>
          </a:p>
        </p:txBody>
      </p:sp>
      <p:sp>
        <p:nvSpPr>
          <p:cNvPr id="34" name="TextBox 35"/>
          <p:cNvSpPr txBox="1">
            <a:spLocks noChangeArrowheads="1"/>
          </p:cNvSpPr>
          <p:nvPr/>
        </p:nvSpPr>
        <p:spPr bwMode="auto">
          <a:xfrm>
            <a:off x="4034696" y="1533703"/>
            <a:ext cx="2184947" cy="246221"/>
          </a:xfrm>
          <a:prstGeom prst="rect">
            <a:avLst/>
          </a:prstGeom>
          <a:noFill/>
          <a:ln w="9525">
            <a:noFill/>
            <a:miter lim="800000"/>
            <a:headEnd/>
            <a:tailEnd/>
          </a:ln>
        </p:spPr>
        <p:txBody>
          <a:bodyPr wrap="square">
            <a:spAutoFit/>
          </a:bodyPr>
          <a:lstStyle/>
          <a:p>
            <a:r>
              <a:rPr lang="en-US" sz="1000" dirty="0"/>
              <a:t>Ship Commit 1 </a:t>
            </a:r>
            <a:r>
              <a:rPr lang="en-US" sz="1000" dirty="0" smtClean="0"/>
              <a:t>Revision </a:t>
            </a:r>
            <a:r>
              <a:rPr lang="en-US" sz="1000" dirty="0" err="1" smtClean="0"/>
              <a:t>Ack</a:t>
            </a:r>
            <a:endParaRPr lang="en-US" sz="1000" dirty="0"/>
          </a:p>
        </p:txBody>
      </p:sp>
      <p:sp>
        <p:nvSpPr>
          <p:cNvPr id="99" name="TextBox 51"/>
          <p:cNvSpPr txBox="1">
            <a:spLocks noChangeArrowheads="1"/>
          </p:cNvSpPr>
          <p:nvPr/>
        </p:nvSpPr>
        <p:spPr bwMode="auto">
          <a:xfrm>
            <a:off x="4065104" y="4027143"/>
            <a:ext cx="1062065" cy="246221"/>
          </a:xfrm>
          <a:prstGeom prst="rect">
            <a:avLst/>
          </a:prstGeom>
          <a:noFill/>
          <a:ln w="9525">
            <a:noFill/>
            <a:miter lim="800000"/>
            <a:headEnd/>
            <a:tailEnd/>
          </a:ln>
        </p:spPr>
        <p:txBody>
          <a:bodyPr wrap="square">
            <a:spAutoFit/>
          </a:bodyPr>
          <a:lstStyle/>
          <a:p>
            <a:r>
              <a:rPr lang="en-US" sz="1000" b="1" u="sng" dirty="0" smtClean="0">
                <a:solidFill>
                  <a:srgbClr val="0000FF"/>
                </a:solidFill>
              </a:rPr>
              <a:t>Final Pre-Ship</a:t>
            </a:r>
            <a:endParaRPr lang="en-US" sz="1000" b="1" u="sng" dirty="0">
              <a:solidFill>
                <a:srgbClr val="0000FF"/>
              </a:solidFill>
            </a:endParaRPr>
          </a:p>
        </p:txBody>
      </p:sp>
      <p:cxnSp>
        <p:nvCxnSpPr>
          <p:cNvPr id="100" name="Straight Arrow Connector 99"/>
          <p:cNvCxnSpPr/>
          <p:nvPr/>
        </p:nvCxnSpPr>
        <p:spPr bwMode="auto">
          <a:xfrm>
            <a:off x="3742461" y="4251126"/>
            <a:ext cx="3539621" cy="39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5" name="AutoShape 4"/>
          <p:cNvSpPr txBox="1">
            <a:spLocks noChangeArrowheads="1"/>
          </p:cNvSpPr>
          <p:nvPr/>
        </p:nvSpPr>
        <p:spPr bwMode="auto">
          <a:xfrm>
            <a:off x="7286732" y="3922880"/>
            <a:ext cx="857541" cy="690559"/>
          </a:xfrm>
          <a:prstGeom prst="roundRect">
            <a:avLst>
              <a:gd name="adj" fmla="val 16667"/>
            </a:avLst>
          </a:prstGeom>
          <a:gradFill rotWithShape="1">
            <a:gsLst>
              <a:gs pos="0">
                <a:srgbClr val="0066FF">
                  <a:gamma/>
                  <a:shade val="46275"/>
                  <a:invGamma/>
                </a:srgbClr>
              </a:gs>
              <a:gs pos="50000">
                <a:srgbClr val="0066FF"/>
              </a:gs>
              <a:gs pos="100000">
                <a:srgbClr val="0066FF">
                  <a:gamma/>
                  <a:shade val="46275"/>
                  <a:invGamma/>
                </a:srgbClr>
              </a:gs>
            </a:gsLst>
            <a:lin ang="5400000" scaled="1"/>
          </a:gradFill>
          <a:ln w="12700">
            <a:solidFill>
              <a:srgbClr val="000000"/>
            </a:solidFill>
            <a:round/>
            <a:headEnd/>
            <a:tailEnd type="none" w="lg" len="sm"/>
          </a:ln>
          <a:effectLst/>
        </p:spPr>
        <p:txBody>
          <a:bodyPr wrap="none" lIns="0" tIns="0" rIns="0" bIns="0" anchor="ctr"/>
          <a:lstStyle/>
          <a:p>
            <a:pPr marL="342900" indent="-342900" algn="ctr" eaLnBrk="0" hangingPunct="0">
              <a:spcBef>
                <a:spcPct val="50000"/>
              </a:spcBef>
              <a:buFont typeface="Arial" charset="0"/>
              <a:buNone/>
              <a:defRPr/>
            </a:pPr>
            <a:r>
              <a:rPr lang="en-US" sz="1600" dirty="0" smtClean="0">
                <a:solidFill>
                  <a:schemeClr val="bg1"/>
                </a:solidFill>
                <a:effectLst>
                  <a:outerShdw blurRad="38100" dist="38100" dir="2700000" algn="tl">
                    <a:srgbClr val="000000"/>
                  </a:outerShdw>
                </a:effectLst>
                <a:latin typeface="Futura Bk" pitchFamily="34" charset="0"/>
              </a:rPr>
              <a:t>PCC</a:t>
            </a:r>
            <a:endParaRPr lang="en-US" sz="1600" dirty="0">
              <a:solidFill>
                <a:schemeClr val="bg1"/>
              </a:solidFill>
              <a:effectLst>
                <a:outerShdw blurRad="38100" dist="38100" dir="2700000" algn="tl">
                  <a:srgbClr val="000000"/>
                </a:outerShdw>
              </a:effectLst>
              <a:latin typeface="Futura Bk" pitchFamily="34" charset="0"/>
            </a:endParaRPr>
          </a:p>
        </p:txBody>
      </p:sp>
      <p:cxnSp>
        <p:nvCxnSpPr>
          <p:cNvPr id="36" name="Straight Arrow Connector 35"/>
          <p:cNvCxnSpPr/>
          <p:nvPr/>
        </p:nvCxnSpPr>
        <p:spPr>
          <a:xfrm>
            <a:off x="1985496" y="4281989"/>
            <a:ext cx="898408" cy="0"/>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7" name="TextBox 51"/>
          <p:cNvSpPr txBox="1">
            <a:spLocks noChangeArrowheads="1"/>
          </p:cNvSpPr>
          <p:nvPr/>
        </p:nvSpPr>
        <p:spPr bwMode="auto">
          <a:xfrm>
            <a:off x="1963461" y="4024042"/>
            <a:ext cx="1073272" cy="246221"/>
          </a:xfrm>
          <a:prstGeom prst="rect">
            <a:avLst/>
          </a:prstGeom>
          <a:noFill/>
          <a:ln w="9525">
            <a:noFill/>
            <a:miter lim="800000"/>
            <a:headEnd/>
            <a:tailEnd/>
          </a:ln>
        </p:spPr>
        <p:txBody>
          <a:bodyPr wrap="square">
            <a:spAutoFit/>
          </a:bodyPr>
          <a:lstStyle/>
          <a:p>
            <a:r>
              <a:rPr lang="en-US" sz="1000" b="1" u="sng" dirty="0" smtClean="0">
                <a:solidFill>
                  <a:srgbClr val="0000FF"/>
                </a:solidFill>
              </a:rPr>
              <a:t>Final Pre-Ship</a:t>
            </a:r>
            <a:endParaRPr lang="en-US" sz="1000" b="1" u="sng" dirty="0">
              <a:solidFill>
                <a:srgbClr val="0000FF"/>
              </a:solidFill>
            </a:endParaRPr>
          </a:p>
        </p:txBody>
      </p:sp>
      <p:cxnSp>
        <p:nvCxnSpPr>
          <p:cNvPr id="39" name="Straight Arrow Connector 38"/>
          <p:cNvCxnSpPr/>
          <p:nvPr/>
        </p:nvCxnSpPr>
        <p:spPr bwMode="auto">
          <a:xfrm>
            <a:off x="3780888" y="3392704"/>
            <a:ext cx="351171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TextBox 51"/>
          <p:cNvSpPr txBox="1">
            <a:spLocks noChangeArrowheads="1"/>
          </p:cNvSpPr>
          <p:nvPr/>
        </p:nvSpPr>
        <p:spPr bwMode="auto">
          <a:xfrm>
            <a:off x="4060064" y="3152595"/>
            <a:ext cx="1620105" cy="246221"/>
          </a:xfrm>
          <a:prstGeom prst="rect">
            <a:avLst/>
          </a:prstGeom>
          <a:noFill/>
          <a:ln w="9525">
            <a:noFill/>
            <a:miter lim="800000"/>
            <a:headEnd/>
            <a:tailEnd/>
          </a:ln>
        </p:spPr>
        <p:txBody>
          <a:bodyPr wrap="square">
            <a:spAutoFit/>
          </a:bodyPr>
          <a:lstStyle/>
          <a:p>
            <a:r>
              <a:rPr lang="en-US" sz="1000" dirty="0"/>
              <a:t>Preship </a:t>
            </a:r>
            <a:r>
              <a:rPr lang="en-US" sz="1000" dirty="0" smtClean="0"/>
              <a:t>Revision</a:t>
            </a:r>
            <a:endParaRPr lang="en-US" sz="1000" dirty="0"/>
          </a:p>
        </p:txBody>
      </p:sp>
      <p:sp>
        <p:nvSpPr>
          <p:cNvPr id="41" name="TextBox 51"/>
          <p:cNvSpPr txBox="1">
            <a:spLocks noChangeArrowheads="1"/>
          </p:cNvSpPr>
          <p:nvPr/>
        </p:nvSpPr>
        <p:spPr bwMode="auto">
          <a:xfrm>
            <a:off x="4047276" y="3480496"/>
            <a:ext cx="1620105" cy="246221"/>
          </a:xfrm>
          <a:prstGeom prst="rect">
            <a:avLst/>
          </a:prstGeom>
          <a:noFill/>
          <a:ln w="9525">
            <a:noFill/>
            <a:miter lim="800000"/>
            <a:headEnd/>
            <a:tailEnd/>
          </a:ln>
        </p:spPr>
        <p:txBody>
          <a:bodyPr wrap="square">
            <a:spAutoFit/>
          </a:bodyPr>
          <a:lstStyle/>
          <a:p>
            <a:r>
              <a:rPr lang="en-US" sz="1000" dirty="0"/>
              <a:t>Preship </a:t>
            </a:r>
            <a:r>
              <a:rPr lang="en-US" sz="1000" dirty="0" smtClean="0"/>
              <a:t>Revision Ack</a:t>
            </a:r>
            <a:endParaRPr lang="en-US" sz="1000" dirty="0"/>
          </a:p>
        </p:txBody>
      </p:sp>
      <p:cxnSp>
        <p:nvCxnSpPr>
          <p:cNvPr id="42" name="Straight Arrow Connector 41"/>
          <p:cNvCxnSpPr/>
          <p:nvPr/>
        </p:nvCxnSpPr>
        <p:spPr bwMode="auto">
          <a:xfrm>
            <a:off x="3746581" y="3728116"/>
            <a:ext cx="3518332" cy="1400"/>
          </a:xfrm>
          <a:prstGeom prst="straightConnector1">
            <a:avLst/>
          </a:prstGeom>
          <a:ln>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43" name="Rounded Rectangle 42"/>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45</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07088999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 </a:t>
            </a:r>
            <a:endParaRPr lang="en-US" dirty="0"/>
          </a:p>
        </p:txBody>
      </p:sp>
      <p:sp>
        <p:nvSpPr>
          <p:cNvPr id="3" name="Title 2"/>
          <p:cNvSpPr>
            <a:spLocks noGrp="1"/>
          </p:cNvSpPr>
          <p:nvPr>
            <p:ph type="title"/>
          </p:nvPr>
        </p:nvSpPr>
        <p:spPr/>
        <p:txBody>
          <a:bodyPr/>
          <a:lstStyle/>
          <a:p>
            <a:r>
              <a:rPr lang="en-US" dirty="0" smtClean="0"/>
              <a:t>BSaM and HVLS</a:t>
            </a:r>
            <a:endParaRPr lang="en-US" dirty="0"/>
          </a:p>
        </p:txBody>
      </p:sp>
      <p:sp>
        <p:nvSpPr>
          <p:cNvPr id="4" name="Content Placeholder 3"/>
          <p:cNvSpPr>
            <a:spLocks noGrp="1"/>
          </p:cNvSpPr>
          <p:nvPr>
            <p:ph sz="quarter" idx="10"/>
          </p:nvPr>
        </p:nvSpPr>
        <p:spPr/>
        <p:txBody>
          <a:bodyPr/>
          <a:lstStyle/>
          <a:p>
            <a:r>
              <a:rPr lang="en-US" dirty="0" smtClean="0"/>
              <a:t>BSaM Process relating to HVLS ACE</a:t>
            </a:r>
            <a:endParaRPr lang="en-US" dirty="0"/>
          </a:p>
          <a:p>
            <a:endParaRPr lang="en-US" dirty="0" smtClean="0"/>
          </a:p>
          <a:p>
            <a:endParaRPr lang="en-US" dirty="0"/>
          </a:p>
          <a:p>
            <a:endParaRPr lang="en-US" dirty="0" smtClean="0"/>
          </a:p>
          <a:p>
            <a:endParaRPr lang="en-US" dirty="0" smtClean="0"/>
          </a:p>
          <a:p>
            <a:endParaRPr lang="en-US" dirty="0"/>
          </a:p>
          <a:p>
            <a:endParaRPr lang="en-US" dirty="0" smtClean="0"/>
          </a:p>
        </p:txBody>
      </p:sp>
      <p:sp>
        <p:nvSpPr>
          <p:cNvPr id="5" name="Rounded Rectangle 4"/>
          <p:cNvSpPr/>
          <p:nvPr/>
        </p:nvSpPr>
        <p:spPr>
          <a:xfrm>
            <a:off x="450289" y="1593284"/>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Identify BSaM Orders</a:t>
            </a:r>
            <a:endParaRPr lang="en-US" sz="1100" dirty="0">
              <a:solidFill>
                <a:prstClr val="black"/>
              </a:solidFill>
              <a:latin typeface="Calibri" pitchFamily="34" charset="0"/>
              <a:cs typeface="Calibri" pitchFamily="34" charset="0"/>
            </a:endParaRPr>
          </a:p>
        </p:txBody>
      </p:sp>
      <p:sp>
        <p:nvSpPr>
          <p:cNvPr id="6" name="Rounded Rectangle 5"/>
          <p:cNvSpPr/>
          <p:nvPr/>
        </p:nvSpPr>
        <p:spPr>
          <a:xfrm>
            <a:off x="1835744" y="1593284"/>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Conduct</a:t>
            </a:r>
          </a:p>
          <a:p>
            <a:pPr algn="ctr"/>
            <a:r>
              <a:rPr lang="en-US" sz="1100" dirty="0" smtClean="0">
                <a:solidFill>
                  <a:prstClr val="black"/>
                </a:solidFill>
                <a:latin typeface="Calibri" pitchFamily="34" charset="0"/>
                <a:cs typeface="Calibri" pitchFamily="34" charset="0"/>
              </a:rPr>
              <a:t>Production Grouping</a:t>
            </a:r>
            <a:endParaRPr lang="en-US" sz="1100" dirty="0">
              <a:solidFill>
                <a:prstClr val="black"/>
              </a:solidFill>
              <a:latin typeface="Calibri" pitchFamily="34" charset="0"/>
              <a:cs typeface="Calibri" pitchFamily="34" charset="0"/>
            </a:endParaRPr>
          </a:p>
        </p:txBody>
      </p:sp>
      <p:sp>
        <p:nvSpPr>
          <p:cNvPr id="7" name="Rounded Rectangle 6"/>
          <p:cNvSpPr/>
          <p:nvPr/>
        </p:nvSpPr>
        <p:spPr>
          <a:xfrm>
            <a:off x="3235004" y="1593290"/>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Generate HVLS ACE DSPI file factoring  in Order Group ID</a:t>
            </a:r>
            <a:endParaRPr lang="en-US" sz="1100" dirty="0">
              <a:solidFill>
                <a:prstClr val="black"/>
              </a:solidFill>
              <a:latin typeface="Calibri" pitchFamily="34" charset="0"/>
              <a:cs typeface="Calibri" pitchFamily="34" charset="0"/>
            </a:endParaRPr>
          </a:p>
        </p:txBody>
      </p:sp>
      <p:sp>
        <p:nvSpPr>
          <p:cNvPr id="8" name="Rounded Rectangle 7"/>
          <p:cNvSpPr/>
          <p:nvPr/>
        </p:nvSpPr>
        <p:spPr>
          <a:xfrm>
            <a:off x="4620410" y="1593296"/>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Run ACE</a:t>
            </a:r>
            <a:endParaRPr lang="en-US" sz="1100" dirty="0">
              <a:solidFill>
                <a:prstClr val="black"/>
              </a:solidFill>
              <a:latin typeface="Calibri" pitchFamily="34" charset="0"/>
              <a:cs typeface="Calibri" pitchFamily="34" charset="0"/>
            </a:endParaRPr>
          </a:p>
        </p:txBody>
      </p:sp>
      <p:sp>
        <p:nvSpPr>
          <p:cNvPr id="9" name="Rounded Rectangle 8"/>
          <p:cNvSpPr/>
          <p:nvPr/>
        </p:nvSpPr>
        <p:spPr>
          <a:xfrm>
            <a:off x="6019670" y="1586375"/>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Generate Ship Commit and Pre-Ship Files</a:t>
            </a:r>
            <a:endParaRPr lang="en-US" sz="1100" dirty="0">
              <a:solidFill>
                <a:prstClr val="black"/>
              </a:solidFill>
              <a:latin typeface="Calibri" pitchFamily="34" charset="0"/>
              <a:cs typeface="Calibri" pitchFamily="34" charset="0"/>
            </a:endParaRPr>
          </a:p>
        </p:txBody>
      </p:sp>
      <p:sp>
        <p:nvSpPr>
          <p:cNvPr id="10" name="Rounded Rectangle 9"/>
          <p:cNvSpPr/>
          <p:nvPr/>
        </p:nvSpPr>
        <p:spPr>
          <a:xfrm>
            <a:off x="7411908" y="1586372"/>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Final Pre-Ship (Post Ship) Report</a:t>
            </a:r>
            <a:endParaRPr lang="en-US" sz="1100" dirty="0">
              <a:solidFill>
                <a:prstClr val="black"/>
              </a:solidFill>
              <a:latin typeface="Calibri" pitchFamily="34" charset="0"/>
              <a:cs typeface="Calibri" pitchFamily="34" charset="0"/>
            </a:endParaRPr>
          </a:p>
        </p:txBody>
      </p:sp>
      <p:sp>
        <p:nvSpPr>
          <p:cNvPr id="11" name="Right Arrow 10"/>
          <p:cNvSpPr/>
          <p:nvPr/>
        </p:nvSpPr>
        <p:spPr>
          <a:xfrm>
            <a:off x="1648728" y="1801142"/>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ight Arrow 11"/>
          <p:cNvSpPr/>
          <p:nvPr/>
        </p:nvSpPr>
        <p:spPr>
          <a:xfrm>
            <a:off x="3034150" y="1801148"/>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ight Arrow 12"/>
          <p:cNvSpPr/>
          <p:nvPr/>
        </p:nvSpPr>
        <p:spPr>
          <a:xfrm>
            <a:off x="4433448" y="1801154"/>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ight Arrow 13"/>
          <p:cNvSpPr/>
          <p:nvPr/>
        </p:nvSpPr>
        <p:spPr>
          <a:xfrm>
            <a:off x="5825729" y="1815014"/>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ight Arrow 14"/>
          <p:cNvSpPr/>
          <p:nvPr/>
        </p:nvSpPr>
        <p:spPr>
          <a:xfrm>
            <a:off x="7224987" y="1808093"/>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TextBox 17"/>
          <p:cNvSpPr txBox="1"/>
          <p:nvPr/>
        </p:nvSpPr>
        <p:spPr>
          <a:xfrm>
            <a:off x="3151200" y="2486901"/>
            <a:ext cx="1550424" cy="995144"/>
          </a:xfrm>
          <a:prstGeom prst="rect">
            <a:avLst/>
          </a:prstGeom>
          <a:noFill/>
        </p:spPr>
        <p:txBody>
          <a:bodyPr wrap="none" rtlCol="0">
            <a:spAutoFit/>
          </a:bodyPr>
          <a:lstStyle/>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Ensure Order Group ID</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and proper Pallet Fill </a:t>
            </a:r>
            <a:r>
              <a:rPr lang="en-US" sz="1000" dirty="0" err="1" smtClean="0">
                <a:solidFill>
                  <a:srgbClr val="000000"/>
                </a:solidFill>
                <a:latin typeface="Calibri" pitchFamily="34" charset="0"/>
                <a:cs typeface="Calibri" pitchFamily="34" charset="0"/>
              </a:rPr>
              <a:t>Qty</a:t>
            </a:r>
            <a:endParaRPr lang="en-US" sz="1000" dirty="0" smtClean="0">
              <a:solidFill>
                <a:srgbClr val="000000"/>
              </a:solidFill>
              <a:latin typeface="Calibri" pitchFamily="34" charset="0"/>
              <a:cs typeface="Calibri" pitchFamily="34" charset="0"/>
            </a:endParaRP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is calculated and included </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in the input file (DSPI) </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for ACE. *</a:t>
            </a:r>
          </a:p>
          <a:p>
            <a:pPr defTabSz="430213">
              <a:lnSpc>
                <a:spcPct val="70000"/>
              </a:lnSpc>
              <a:spcAft>
                <a:spcPts val="400"/>
              </a:spcAft>
              <a:buSzPct val="100000"/>
            </a:pPr>
            <a:endParaRPr lang="en-US" sz="1000" dirty="0">
              <a:solidFill>
                <a:srgbClr val="000000"/>
              </a:solidFill>
              <a:latin typeface="Calibri" pitchFamily="34" charset="0"/>
              <a:cs typeface="Calibri" pitchFamily="34" charset="0"/>
            </a:endParaRPr>
          </a:p>
        </p:txBody>
      </p:sp>
      <p:sp>
        <p:nvSpPr>
          <p:cNvPr id="19" name="TextBox 18"/>
          <p:cNvSpPr txBox="1"/>
          <p:nvPr/>
        </p:nvSpPr>
        <p:spPr>
          <a:xfrm>
            <a:off x="5894298" y="2493834"/>
            <a:ext cx="1372492" cy="1154162"/>
          </a:xfrm>
          <a:prstGeom prst="rect">
            <a:avLst/>
          </a:prstGeom>
          <a:noFill/>
        </p:spPr>
        <p:txBody>
          <a:bodyPr wrap="none" rtlCol="0">
            <a:spAutoFit/>
          </a:bodyPr>
          <a:lstStyle/>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Ensure that the output</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from ACE with new </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Order Group ID can </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be processed and </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reflected correctly in </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The Ship Commit and</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Pre-Ship Files. *</a:t>
            </a:r>
          </a:p>
        </p:txBody>
      </p:sp>
      <p:sp>
        <p:nvSpPr>
          <p:cNvPr id="16" name="Rectangle 15"/>
          <p:cNvSpPr/>
          <p:nvPr/>
        </p:nvSpPr>
        <p:spPr>
          <a:xfrm>
            <a:off x="450362" y="4353992"/>
            <a:ext cx="7578005" cy="210827"/>
          </a:xfrm>
          <a:prstGeom prst="rect">
            <a:avLst/>
          </a:prstGeom>
        </p:spPr>
        <p:txBody>
          <a:bodyPr wrap="square">
            <a:spAutoFit/>
          </a:bodyPr>
          <a:lstStyle/>
          <a:p>
            <a:pPr defTabSz="430213">
              <a:lnSpc>
                <a:spcPct val="70000"/>
              </a:lnSpc>
              <a:spcAft>
                <a:spcPts val="400"/>
              </a:spcAft>
              <a:buSzPct val="100000"/>
            </a:pPr>
            <a:r>
              <a:rPr lang="en-US" sz="1100" dirty="0" smtClean="0">
                <a:solidFill>
                  <a:srgbClr val="000000"/>
                </a:solidFill>
                <a:latin typeface="Calibri" pitchFamily="34" charset="0"/>
                <a:cs typeface="Calibri" pitchFamily="34" charset="0"/>
              </a:rPr>
              <a:t>* Detailed HVLS requirements to be provided by HP HVLS team.  This will include both ACE, EDITS, Ship Commit and Pre-Ship.</a:t>
            </a:r>
            <a:endParaRPr lang="en-US" sz="1100" dirty="0">
              <a:solidFill>
                <a:srgbClr val="000000"/>
              </a:solidFill>
              <a:latin typeface="Calibri" pitchFamily="34" charset="0"/>
              <a:cs typeface="Calibri" pitchFamily="34" charset="0"/>
            </a:endParaRPr>
          </a:p>
        </p:txBody>
      </p:sp>
      <p:sp>
        <p:nvSpPr>
          <p:cNvPr id="20" name="TextBox 19"/>
          <p:cNvSpPr txBox="1"/>
          <p:nvPr/>
        </p:nvSpPr>
        <p:spPr>
          <a:xfrm>
            <a:off x="7342047" y="2500767"/>
            <a:ext cx="1372492" cy="677108"/>
          </a:xfrm>
          <a:prstGeom prst="rect">
            <a:avLst/>
          </a:prstGeom>
          <a:noFill/>
        </p:spPr>
        <p:txBody>
          <a:bodyPr wrap="none" rtlCol="0">
            <a:spAutoFit/>
          </a:bodyPr>
          <a:lstStyle/>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ODM will need to send</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to HP, Ryder and FF</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A final version of the </a:t>
            </a:r>
          </a:p>
          <a:p>
            <a:pPr defTabSz="430213">
              <a:lnSpc>
                <a:spcPct val="70000"/>
              </a:lnSpc>
              <a:spcAft>
                <a:spcPts val="400"/>
              </a:spcAft>
              <a:buSzPct val="100000"/>
            </a:pPr>
            <a:r>
              <a:rPr lang="en-US" sz="1000" dirty="0" smtClean="0">
                <a:solidFill>
                  <a:srgbClr val="000000"/>
                </a:solidFill>
                <a:latin typeface="Calibri" pitchFamily="34" charset="0"/>
                <a:cs typeface="Calibri" pitchFamily="34" charset="0"/>
              </a:rPr>
              <a:t>Pre-Ship Report. *</a:t>
            </a:r>
          </a:p>
        </p:txBody>
      </p:sp>
      <p:sp>
        <p:nvSpPr>
          <p:cNvPr id="21" name="Rounded Rectangle 20"/>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46</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28204567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0"/>
          </p:nvPr>
        </p:nvSpPr>
        <p:spPr/>
        <p:txBody>
          <a:bodyPr anchor="ctr"/>
          <a:lstStyle/>
          <a:p>
            <a:pPr algn="ctr"/>
            <a:r>
              <a:rPr lang="en-US" sz="4000" dirty="0" smtClean="0">
                <a:solidFill>
                  <a:schemeClr val="tx1"/>
                </a:solidFill>
              </a:rPr>
              <a:t>ODM Requirements</a:t>
            </a:r>
          </a:p>
          <a:p>
            <a:pPr algn="ctr"/>
            <a:r>
              <a:rPr lang="en-US" sz="4000" dirty="0" smtClean="0">
                <a:solidFill>
                  <a:schemeClr val="tx1"/>
                </a:solidFill>
              </a:rPr>
              <a:t>A Part</a:t>
            </a:r>
          </a:p>
          <a:p>
            <a:pPr algn="ctr"/>
            <a:endParaRPr lang="en-US" sz="4000" dirty="0">
              <a:solidFill>
                <a:schemeClr val="tx1"/>
              </a:solidFill>
            </a:endParaRPr>
          </a:p>
        </p:txBody>
      </p:sp>
      <p:sp>
        <p:nvSpPr>
          <p:cNvPr id="3" name="Rounded Rectangle 2"/>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47</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81441627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PDM / BOM ODM Requirements (1 of 2)</a:t>
            </a:r>
            <a:endParaRPr lang="en-US" dirty="0"/>
          </a:p>
        </p:txBody>
      </p:sp>
      <p:sp>
        <p:nvSpPr>
          <p:cNvPr id="3" name="Title 2"/>
          <p:cNvSpPr>
            <a:spLocks noGrp="1"/>
          </p:cNvSpPr>
          <p:nvPr>
            <p:ph type="title"/>
          </p:nvPr>
        </p:nvSpPr>
        <p:spPr/>
        <p:txBody>
          <a:bodyPr/>
          <a:lstStyle/>
          <a:p>
            <a:r>
              <a:rPr lang="en-US" dirty="0" smtClean="0"/>
              <a:t>BSaM – A Part PDM</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1041195303"/>
              </p:ext>
            </p:extLst>
          </p:nvPr>
        </p:nvGraphicFramePr>
        <p:xfrm>
          <a:off x="328613" y="1189039"/>
          <a:ext cx="8120064" cy="2952750"/>
        </p:xfrm>
        <a:graphic>
          <a:graphicData uri="http://schemas.openxmlformats.org/drawingml/2006/table">
            <a:tbl>
              <a:tblPr firstRow="1" bandRow="1">
                <a:tableStyleId>{073A0DAA-6AF3-43AB-8588-CEC1D06C72B9}</a:tableStyleId>
              </a:tblPr>
              <a:tblGrid>
                <a:gridCol w="681037"/>
                <a:gridCol w="1695450"/>
                <a:gridCol w="3943350"/>
                <a:gridCol w="1800227"/>
              </a:tblGrid>
              <a:tr h="243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1428750">
                <a:tc>
                  <a:txBody>
                    <a:bodyPr/>
                    <a:lstStyle/>
                    <a:p>
                      <a:r>
                        <a:rPr lang="en-US" sz="800" dirty="0" smtClean="0"/>
                        <a:t>APDM-001</a:t>
                      </a:r>
                      <a:endParaRPr lang="en-US" sz="800" dirty="0"/>
                    </a:p>
                  </a:txBody>
                  <a:tcPr/>
                </a:tc>
                <a:tc>
                  <a:txBody>
                    <a:bodyPr/>
                    <a:lstStyle/>
                    <a:p>
                      <a:r>
                        <a:rPr lang="en-US" sz="1000" dirty="0" smtClean="0"/>
                        <a:t>Support</a:t>
                      </a:r>
                      <a:r>
                        <a:rPr lang="en-US" sz="1000" baseline="0" dirty="0" smtClean="0"/>
                        <a:t> 2 SKU BOM Approach</a:t>
                      </a:r>
                      <a:endParaRPr lang="en-US" sz="1000" dirty="0"/>
                    </a:p>
                  </a:txBody>
                  <a:tcPr/>
                </a:tc>
                <a:tc>
                  <a:txBody>
                    <a:bodyPr/>
                    <a:lstStyle/>
                    <a:p>
                      <a:r>
                        <a:rPr lang="en-US" sz="1000" dirty="0" smtClean="0"/>
                        <a:t>The ODM will need to support the PDM/BOM for both the “C” SKUs (for IDS) and “A” SKUs (for BSaM).  BSaM “A” SKUs will require different material and operational support compared to “C” SKUs which will need to be reflected appropriately</a:t>
                      </a:r>
                      <a:r>
                        <a:rPr lang="en-US" sz="1000" baseline="0" dirty="0" smtClean="0"/>
                        <a:t> in the ODM Super BOM</a:t>
                      </a:r>
                      <a:r>
                        <a:rPr lang="en-US" sz="1000" dirty="0" smtClean="0"/>
                        <a:t>.  Also the “A” SKU will contain a unique BSaM AV for cost adjustment</a:t>
                      </a:r>
                      <a:r>
                        <a:rPr lang="en-US" sz="1000" baseline="0" dirty="0" smtClean="0"/>
                        <a:t> and material specification purposes. The ODM will need to support both SKUs systemically and operationally.</a:t>
                      </a:r>
                      <a:endParaRPr lang="en-US" sz="1000" dirty="0"/>
                    </a:p>
                  </a:txBody>
                  <a:tcPr/>
                </a:tc>
                <a:tc>
                  <a:txBody>
                    <a:bodyPr/>
                    <a:lstStyle/>
                    <a:p>
                      <a:pPr marL="171450" indent="-171450">
                        <a:buFontTx/>
                        <a:buChar char="-"/>
                      </a:pPr>
                      <a:r>
                        <a:rPr lang="en-US" sz="1000" dirty="0" smtClean="0"/>
                        <a:t>Product</a:t>
                      </a:r>
                      <a:r>
                        <a:rPr lang="en-US" sz="1000" baseline="0" dirty="0" smtClean="0"/>
                        <a:t> Matrix and SKU BOM from HP</a:t>
                      </a:r>
                    </a:p>
                    <a:p>
                      <a:pPr marL="171450" indent="-171450">
                        <a:buFontTx/>
                        <a:buChar char="-"/>
                      </a:pPr>
                      <a:r>
                        <a:rPr lang="en-US" sz="1000" dirty="0" smtClean="0"/>
                        <a:t>Special “A” SKU</a:t>
                      </a:r>
                      <a:r>
                        <a:rPr lang="en-US" sz="1000" baseline="0" dirty="0" smtClean="0"/>
                        <a:t> </a:t>
                      </a:r>
                      <a:r>
                        <a:rPr lang="en-US" sz="1000" dirty="0" smtClean="0"/>
                        <a:t>Indicator</a:t>
                      </a:r>
                      <a:r>
                        <a:rPr lang="en-US" sz="1000" baseline="0" dirty="0" smtClean="0"/>
                        <a:t> to be included in PDM/BOM</a:t>
                      </a:r>
                    </a:p>
                    <a:p>
                      <a:pPr marL="171450" indent="-171450">
                        <a:buFontTx/>
                        <a:buChar char="-"/>
                      </a:pPr>
                      <a:endParaRPr lang="en-US" sz="1000" dirty="0"/>
                    </a:p>
                  </a:txBody>
                  <a:tcPr/>
                </a:tc>
              </a:tr>
              <a:tr h="1280160">
                <a:tc>
                  <a:txBody>
                    <a:bodyPr/>
                    <a:lstStyle/>
                    <a:p>
                      <a:r>
                        <a:rPr lang="en-US" sz="800" dirty="0" smtClean="0"/>
                        <a:t>APDM-002</a:t>
                      </a:r>
                      <a:endParaRPr lang="en-US" sz="800" dirty="0"/>
                    </a:p>
                  </a:txBody>
                  <a:tcPr/>
                </a:tc>
                <a:tc>
                  <a:txBody>
                    <a:bodyPr/>
                    <a:lstStyle/>
                    <a:p>
                      <a:r>
                        <a:rPr lang="en-US" sz="1000" dirty="0" smtClean="0"/>
                        <a:t>Exclude Carton/</a:t>
                      </a:r>
                      <a:r>
                        <a:rPr lang="en-US" sz="1000" baseline="0" dirty="0" smtClean="0"/>
                        <a:t> Include </a:t>
                      </a:r>
                      <a:r>
                        <a:rPr lang="en-US" sz="1000" dirty="0" smtClean="0"/>
                        <a:t>Bulk Packaging for BSaM</a:t>
                      </a:r>
                      <a:endParaRPr lang="en-US" sz="1000" dirty="0"/>
                    </a:p>
                  </a:txBody>
                  <a:tcPr/>
                </a:tc>
                <a:tc>
                  <a:txBody>
                    <a:bodyPr/>
                    <a:lstStyle/>
                    <a:p>
                      <a:r>
                        <a:rPr lang="en-US" sz="1000" dirty="0" smtClean="0"/>
                        <a:t>The ODM will need to support</a:t>
                      </a:r>
                      <a:r>
                        <a:rPr lang="en-US" sz="1000" baseline="0" dirty="0" smtClean="0"/>
                        <a:t> adjustments relating to Carton Packaging Material in the PDM/BOM.   For the “A” SKU, there will be a  need to exclude the single carton from the PDM/BOM and replace this with the material required for the Bulk Box.  </a:t>
                      </a:r>
                      <a:endParaRPr lang="en-US" sz="1000" dirty="0"/>
                    </a:p>
                  </a:txBody>
                  <a:tcPr/>
                </a:tc>
                <a:tc>
                  <a:txBody>
                    <a:bodyPr/>
                    <a:lstStyle/>
                    <a:p>
                      <a:pPr marL="171450" indent="-171450">
                        <a:buFontTx/>
                        <a:buChar char="-"/>
                      </a:pPr>
                      <a:r>
                        <a:rPr lang="en-US" sz="1000" dirty="0" smtClean="0"/>
                        <a:t>Program Matrix</a:t>
                      </a:r>
                      <a:r>
                        <a:rPr lang="en-US" sz="1000" baseline="0" dirty="0" smtClean="0"/>
                        <a:t> &amp; SKU BOM</a:t>
                      </a:r>
                      <a:endParaRPr lang="en-US" sz="1000" dirty="0" smtClean="0"/>
                    </a:p>
                    <a:p>
                      <a:pPr marL="171450" indent="-171450">
                        <a:buFontTx/>
                        <a:buChar char="-"/>
                      </a:pPr>
                      <a:r>
                        <a:rPr lang="en-US" sz="1000" dirty="0" smtClean="0"/>
                        <a:t>Special “A” SKU indicator in PDM/BOM data</a:t>
                      </a:r>
                      <a:r>
                        <a:rPr lang="en-US" sz="1000" baseline="0" dirty="0" smtClean="0"/>
                        <a:t> </a:t>
                      </a:r>
                      <a:r>
                        <a:rPr lang="en-US" sz="1000" dirty="0" smtClean="0"/>
                        <a:t>from HP</a:t>
                      </a:r>
                    </a:p>
                    <a:p>
                      <a:pPr marL="171450" indent="-171450">
                        <a:buFontTx/>
                        <a:buChar char="-"/>
                      </a:pPr>
                      <a:r>
                        <a:rPr lang="en-US" sz="1000" dirty="0" smtClean="0"/>
                        <a:t>Packaging Spec for</a:t>
                      </a:r>
                      <a:r>
                        <a:rPr lang="en-US" sz="1000" baseline="0" dirty="0" smtClean="0"/>
                        <a:t> BSaM Bulk Boxes</a:t>
                      </a:r>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48</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29289021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PDM / BOM ODM Requirements (2 of 2)</a:t>
            </a:r>
            <a:endParaRPr lang="en-US" dirty="0"/>
          </a:p>
        </p:txBody>
      </p:sp>
      <p:sp>
        <p:nvSpPr>
          <p:cNvPr id="3" name="Title 2"/>
          <p:cNvSpPr>
            <a:spLocks noGrp="1"/>
          </p:cNvSpPr>
          <p:nvPr>
            <p:ph type="title"/>
          </p:nvPr>
        </p:nvSpPr>
        <p:spPr/>
        <p:txBody>
          <a:bodyPr/>
          <a:lstStyle/>
          <a:p>
            <a:r>
              <a:rPr lang="en-US" dirty="0" smtClean="0"/>
              <a:t>BSaM – A Part PDM</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3205452097"/>
              </p:ext>
            </p:extLst>
          </p:nvPr>
        </p:nvGraphicFramePr>
        <p:xfrm>
          <a:off x="328613" y="1189039"/>
          <a:ext cx="8120064" cy="3011170"/>
        </p:xfrm>
        <a:graphic>
          <a:graphicData uri="http://schemas.openxmlformats.org/drawingml/2006/table">
            <a:tbl>
              <a:tblPr firstRow="1" bandRow="1">
                <a:tableStyleId>{073A0DAA-6AF3-43AB-8588-CEC1D06C72B9}</a:tableStyleId>
              </a:tblPr>
              <a:tblGrid>
                <a:gridCol w="681037"/>
                <a:gridCol w="1695450"/>
                <a:gridCol w="3943350"/>
                <a:gridCol w="1800227"/>
              </a:tblGrid>
              <a:tr h="243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46863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APDM-003</a:t>
                      </a:r>
                    </a:p>
                  </a:txBody>
                  <a:tcPr/>
                </a:tc>
                <a:tc>
                  <a:txBody>
                    <a:bodyPr/>
                    <a:lstStyle/>
                    <a:p>
                      <a:r>
                        <a:rPr lang="en-US" sz="1000" dirty="0" smtClean="0"/>
                        <a:t>“C” Part Number reflected appropriately in “A” SKU</a:t>
                      </a:r>
                    </a:p>
                  </a:txBody>
                  <a:tcPr/>
                </a:tc>
                <a:tc>
                  <a:txBody>
                    <a:bodyPr/>
                    <a:lstStyle/>
                    <a:p>
                      <a:r>
                        <a:rPr lang="en-US" sz="1000" dirty="0" smtClean="0"/>
                        <a:t>Although</a:t>
                      </a:r>
                      <a:r>
                        <a:rPr lang="en-US" sz="1000" baseline="0" dirty="0" smtClean="0"/>
                        <a:t> the ODM is producing an “A” SKU, as the FG going to the customer from  the PCC is a “C” SKU, the BOM will need to show the correct “C” Part Number for anything that is going to the customer.</a:t>
                      </a:r>
                    </a:p>
                    <a:p>
                      <a:r>
                        <a:rPr lang="en-US" sz="1000" baseline="0" dirty="0" smtClean="0"/>
                        <a:t>A check will need to be conducted to ensure that none of the documents or labels going to the end-customer will show an “A” Part Number.</a:t>
                      </a:r>
                      <a:endParaRPr lang="en-US" sz="1000" dirty="0"/>
                    </a:p>
                  </a:txBody>
                  <a:tcPr/>
                </a:tc>
                <a:tc>
                  <a:txBody>
                    <a:bodyPr/>
                    <a:lstStyle/>
                    <a:p>
                      <a:pPr marL="171450" indent="-171450">
                        <a:buFontTx/>
                        <a:buChar char="-"/>
                      </a:pPr>
                      <a:r>
                        <a:rPr lang="en-US" sz="1000" dirty="0" smtClean="0"/>
                        <a:t>ODM Super BOM</a:t>
                      </a:r>
                    </a:p>
                    <a:p>
                      <a:pPr marL="171450" indent="-171450">
                        <a:buFontTx/>
                        <a:buChar char="-"/>
                      </a:pPr>
                      <a:r>
                        <a:rPr lang="en-US" sz="1000" dirty="0" smtClean="0"/>
                        <a:t>Unique BSaM AV</a:t>
                      </a:r>
                    </a:p>
                  </a:txBody>
                  <a:tcPr/>
                </a:tc>
              </a:tr>
              <a:tr h="46863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APDM-004</a:t>
                      </a:r>
                    </a:p>
                    <a:p>
                      <a:endParaRPr lang="en-US" sz="800" dirty="0"/>
                    </a:p>
                  </a:txBody>
                  <a:tcPr/>
                </a:tc>
                <a:tc>
                  <a:txBody>
                    <a:bodyPr/>
                    <a:lstStyle/>
                    <a:p>
                      <a:r>
                        <a:rPr lang="en-US" sz="1000" dirty="0" smtClean="0"/>
                        <a:t>Cost Adjustment thru unique BSaM AV</a:t>
                      </a:r>
                      <a:endParaRPr lang="en-US" sz="1000" dirty="0"/>
                    </a:p>
                  </a:txBody>
                  <a:tcPr/>
                </a:tc>
                <a:tc>
                  <a:txBody>
                    <a:bodyPr/>
                    <a:lstStyle/>
                    <a:p>
                      <a:r>
                        <a:rPr lang="en-US" sz="1000" dirty="0" smtClean="0"/>
                        <a:t>All BSaM </a:t>
                      </a:r>
                      <a:r>
                        <a:rPr lang="en-US" sz="1000" baseline="0" dirty="0" smtClean="0"/>
                        <a:t>cost adjustment (cost difference compared to IDS) should be adjusted through the Unique BSaM AV.  </a:t>
                      </a:r>
                      <a:r>
                        <a:rPr lang="en-US" sz="1000" baseline="0" dirty="0" smtClean="0">
                          <a:solidFill>
                            <a:srgbClr val="0000FF"/>
                          </a:solidFill>
                        </a:rPr>
                        <a:t>There will also be a Unique IDS AV for IDS SKUs.  This Unique IDS AV should be used to reflect cost that is unique to IDS.  Note that the Unique IDS AV will initially only be used for new Product Platforms that are selected for BSaM.  Others will continue to use the previous BOM structure.</a:t>
                      </a:r>
                      <a:endParaRPr lang="en-US" sz="1000" dirty="0">
                        <a:solidFill>
                          <a:srgbClr val="0000FF"/>
                        </a:solidFill>
                      </a:endParaRPr>
                    </a:p>
                  </a:txBody>
                  <a:tcPr/>
                </a:tc>
                <a:tc>
                  <a:txBody>
                    <a:bodyPr/>
                    <a:lstStyle/>
                    <a:p>
                      <a:pPr marL="171450" marR="0" indent="-171450" algn="l" defTabSz="457200" rtl="0" eaLnBrk="1" fontAlgn="auto" latinLnBrk="0" hangingPunct="1">
                        <a:lnSpc>
                          <a:spcPct val="100000"/>
                        </a:lnSpc>
                        <a:spcBef>
                          <a:spcPts val="0"/>
                        </a:spcBef>
                        <a:spcAft>
                          <a:spcPts val="0"/>
                        </a:spcAft>
                        <a:buClrTx/>
                        <a:buSzTx/>
                        <a:buFontTx/>
                        <a:buChar char="-"/>
                        <a:tabLst/>
                        <a:defRPr/>
                      </a:pPr>
                      <a:r>
                        <a:rPr lang="en-US" sz="1000" dirty="0" smtClean="0"/>
                        <a:t>Unique BSaM</a:t>
                      </a:r>
                      <a:r>
                        <a:rPr lang="en-US" sz="1000" baseline="0" dirty="0" smtClean="0"/>
                        <a:t> AV</a:t>
                      </a:r>
                    </a:p>
                    <a:p>
                      <a:pPr marL="171450" marR="0" indent="-171450" algn="l" defTabSz="457200" rtl="0" eaLnBrk="1" fontAlgn="auto" latinLnBrk="0" hangingPunct="1">
                        <a:lnSpc>
                          <a:spcPct val="100000"/>
                        </a:lnSpc>
                        <a:spcBef>
                          <a:spcPts val="0"/>
                        </a:spcBef>
                        <a:spcAft>
                          <a:spcPts val="0"/>
                        </a:spcAft>
                        <a:buClrTx/>
                        <a:buSzTx/>
                        <a:buFontTx/>
                        <a:buChar char="-"/>
                        <a:tabLst/>
                        <a:defRPr/>
                      </a:pPr>
                      <a:r>
                        <a:rPr lang="en-US" sz="1000" baseline="0" dirty="0" smtClean="0">
                          <a:solidFill>
                            <a:srgbClr val="0000FF"/>
                          </a:solidFill>
                        </a:rPr>
                        <a:t>Unique IDS AV</a:t>
                      </a:r>
                      <a:endParaRPr lang="en-US" sz="1000" dirty="0">
                        <a:solidFill>
                          <a:srgbClr val="0000FF"/>
                        </a:solidFill>
                      </a:endParaRPr>
                    </a:p>
                  </a:txBody>
                  <a:tcPr/>
                </a:tc>
              </a:tr>
              <a:tr h="53721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APDM-005</a:t>
                      </a:r>
                    </a:p>
                    <a:p>
                      <a:endParaRPr lang="en-US" sz="800" dirty="0"/>
                    </a:p>
                  </a:txBody>
                  <a:tcPr/>
                </a:tc>
                <a:tc>
                  <a:txBody>
                    <a:bodyPr/>
                    <a:lstStyle/>
                    <a:p>
                      <a:r>
                        <a:rPr lang="en-US" sz="1000" dirty="0" smtClean="0"/>
                        <a:t>ODM</a:t>
                      </a:r>
                      <a:r>
                        <a:rPr lang="en-US" sz="1000" baseline="0" dirty="0" smtClean="0"/>
                        <a:t> NPI process to support “A” BOM set up</a:t>
                      </a:r>
                      <a:endParaRPr lang="en-US" sz="1000" dirty="0"/>
                    </a:p>
                  </a:txBody>
                  <a:tcPr/>
                </a:tc>
                <a:tc>
                  <a:txBody>
                    <a:bodyPr/>
                    <a:lstStyle/>
                    <a:p>
                      <a:r>
                        <a:rPr lang="en-US" sz="1000" dirty="0" smtClean="0"/>
                        <a:t>The ODM will need to set up a standard procedure so that “A”</a:t>
                      </a:r>
                      <a:r>
                        <a:rPr lang="en-US" sz="1000" baseline="0" dirty="0" smtClean="0"/>
                        <a:t> BOMs will be set up at the time of </a:t>
                      </a:r>
                      <a:endParaRPr lang="en-US" sz="1000" dirty="0"/>
                    </a:p>
                  </a:txBody>
                  <a:tcPr/>
                </a:tc>
                <a:tc>
                  <a:txBody>
                    <a:bodyPr/>
                    <a:lstStyle/>
                    <a:p>
                      <a:pPr marL="171450" marR="0" indent="-171450" algn="l" defTabSz="457200" rtl="0" eaLnBrk="1" fontAlgn="auto" latinLnBrk="0" hangingPunct="1">
                        <a:lnSpc>
                          <a:spcPct val="100000"/>
                        </a:lnSpc>
                        <a:spcBef>
                          <a:spcPts val="0"/>
                        </a:spcBef>
                        <a:spcAft>
                          <a:spcPts val="0"/>
                        </a:spcAft>
                        <a:buClrTx/>
                        <a:buSzTx/>
                        <a:buFontTx/>
                        <a:buChar char="-"/>
                        <a:tabLst/>
                        <a:defRPr/>
                      </a:pPr>
                      <a:endParaRPr lang="en-US" sz="1000" dirty="0"/>
                    </a:p>
                  </a:txBody>
                  <a:tcPr/>
                </a:tc>
              </a:tr>
              <a:tr h="370840">
                <a:tc>
                  <a:txBody>
                    <a:bodyPr/>
                    <a:lstStyle/>
                    <a:p>
                      <a:endParaRPr lang="en-US" sz="800" dirty="0"/>
                    </a:p>
                  </a:txBody>
                  <a:tcPr/>
                </a:tc>
                <a:tc>
                  <a:txBody>
                    <a:bodyPr/>
                    <a:lstStyle/>
                    <a:p>
                      <a:endParaRPr lang="en-US" sz="1000" dirty="0"/>
                    </a:p>
                  </a:txBody>
                  <a:tcPr/>
                </a:tc>
                <a:tc>
                  <a:txBody>
                    <a:bodyPr/>
                    <a:lstStyle/>
                    <a:p>
                      <a:endParaRPr lang="en-US" sz="1000" dirty="0"/>
                    </a:p>
                  </a:txBody>
                  <a:tcPr/>
                </a:tc>
                <a:tc>
                  <a:txBody>
                    <a:bodyPr/>
                    <a:lstStyle/>
                    <a:p>
                      <a:pPr marL="171450" marR="0" indent="-171450" algn="l" defTabSz="457200" rtl="0" eaLnBrk="1" fontAlgn="auto" latinLnBrk="0" hangingPunct="1">
                        <a:lnSpc>
                          <a:spcPct val="100000"/>
                        </a:lnSpc>
                        <a:spcBef>
                          <a:spcPts val="0"/>
                        </a:spcBef>
                        <a:spcAft>
                          <a:spcPts val="0"/>
                        </a:spcAft>
                        <a:buClrTx/>
                        <a:buSzTx/>
                        <a:buFontTx/>
                        <a:buChar char="-"/>
                        <a:tabLst/>
                        <a:defRPr/>
                      </a:pPr>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49</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76817993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Planning/Forecasting Requirements</a:t>
            </a:r>
            <a:endParaRPr lang="en-US" dirty="0"/>
          </a:p>
        </p:txBody>
      </p:sp>
      <p:sp>
        <p:nvSpPr>
          <p:cNvPr id="3" name="Title 2"/>
          <p:cNvSpPr>
            <a:spLocks noGrp="1"/>
          </p:cNvSpPr>
          <p:nvPr>
            <p:ph type="title"/>
          </p:nvPr>
        </p:nvSpPr>
        <p:spPr/>
        <p:txBody>
          <a:bodyPr/>
          <a:lstStyle/>
          <a:p>
            <a:r>
              <a:rPr lang="en-US" dirty="0" smtClean="0"/>
              <a:t>BSaM – A Part Planning</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4085780735"/>
              </p:ext>
            </p:extLst>
          </p:nvPr>
        </p:nvGraphicFramePr>
        <p:xfrm>
          <a:off x="328613" y="1189040"/>
          <a:ext cx="8120064" cy="2633980"/>
        </p:xfrm>
        <a:graphic>
          <a:graphicData uri="http://schemas.openxmlformats.org/drawingml/2006/table">
            <a:tbl>
              <a:tblPr firstRow="1" bandRow="1">
                <a:tableStyleId>{073A0DAA-6AF3-43AB-8588-CEC1D06C72B9}</a:tableStyleId>
              </a:tblPr>
              <a:tblGrid>
                <a:gridCol w="681037"/>
                <a:gridCol w="1695450"/>
                <a:gridCol w="3943350"/>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1428750">
                <a:tc>
                  <a:txBody>
                    <a:bodyPr/>
                    <a:lstStyle/>
                    <a:p>
                      <a:r>
                        <a:rPr lang="en-US" sz="800" dirty="0" smtClean="0"/>
                        <a:t>APLN-001</a:t>
                      </a:r>
                      <a:endParaRPr lang="en-US" sz="800" dirty="0"/>
                    </a:p>
                  </a:txBody>
                  <a:tcPr/>
                </a:tc>
                <a:tc>
                  <a:txBody>
                    <a:bodyPr/>
                    <a:lstStyle/>
                    <a:p>
                      <a:r>
                        <a:rPr lang="en-US" sz="1000" dirty="0" smtClean="0"/>
                        <a:t>Recognize</a:t>
                      </a:r>
                      <a:r>
                        <a:rPr lang="en-US" sz="1000" baseline="0" dirty="0" smtClean="0"/>
                        <a:t> BSaM “A” Part Supply Planning Forecast based on Unique BSaM AV</a:t>
                      </a:r>
                      <a:endParaRPr lang="en-US" sz="1000" dirty="0"/>
                    </a:p>
                  </a:txBody>
                  <a:tcPr/>
                </a:tc>
                <a:tc>
                  <a:txBody>
                    <a:bodyPr/>
                    <a:lstStyle/>
                    <a:p>
                      <a:r>
                        <a:rPr lang="en-US" sz="1000" dirty="0" smtClean="0"/>
                        <a:t>BSaM “A” Part Supply</a:t>
                      </a:r>
                      <a:r>
                        <a:rPr lang="en-US" sz="1000" baseline="0" dirty="0" smtClean="0"/>
                        <a:t> Planning will be relayed to the ODM as a part of the IDS forecast.  The “SC Node” will show as “IDS” but a Unique BSaM AV will be included in the forecast so that the ODM will know how much of specific BSaM material will be required to support future BSaM orders.  This unique BSaM AV will not be included in IDS supply projections.  The ODM will need to systemically and operationally support this BSaM “A” Part Supply Planning Process</a:t>
                      </a:r>
                      <a:endParaRPr lang="en-US" sz="1000" dirty="0"/>
                    </a:p>
                  </a:txBody>
                  <a:tcPr/>
                </a:tc>
                <a:tc>
                  <a:txBody>
                    <a:bodyPr/>
                    <a:lstStyle/>
                    <a:p>
                      <a:r>
                        <a:rPr lang="en-US" sz="1000" dirty="0" smtClean="0"/>
                        <a:t>SC</a:t>
                      </a:r>
                      <a:r>
                        <a:rPr lang="en-US" sz="1000" baseline="0" dirty="0" smtClean="0"/>
                        <a:t> Node in Forecast = “IDS”</a:t>
                      </a:r>
                    </a:p>
                    <a:p>
                      <a:r>
                        <a:rPr lang="en-US" sz="1000" baseline="0" dirty="0" smtClean="0"/>
                        <a:t>BSaM Unique AV = TBD</a:t>
                      </a:r>
                    </a:p>
                    <a:p>
                      <a:endParaRPr lang="en-US" sz="1000" dirty="0"/>
                    </a:p>
                  </a:txBody>
                  <a:tcPr/>
                </a:tc>
              </a:tr>
              <a:tr h="834390">
                <a:tc>
                  <a:txBody>
                    <a:bodyPr/>
                    <a:lstStyle/>
                    <a:p>
                      <a:r>
                        <a:rPr lang="en-US" sz="800" dirty="0" smtClean="0">
                          <a:solidFill>
                            <a:schemeClr val="tx1"/>
                          </a:solidFill>
                        </a:rPr>
                        <a:t>APLN-002</a:t>
                      </a:r>
                      <a:endParaRPr lang="en-US" sz="800" dirty="0">
                        <a:solidFill>
                          <a:schemeClr val="tx1"/>
                        </a:solidFill>
                      </a:endParaRPr>
                    </a:p>
                  </a:txBody>
                  <a:tcPr/>
                </a:tc>
                <a:tc>
                  <a:txBody>
                    <a:bodyPr/>
                    <a:lstStyle/>
                    <a:p>
                      <a:r>
                        <a:rPr lang="en-US" sz="1000" dirty="0" smtClean="0">
                          <a:solidFill>
                            <a:schemeClr val="tx1"/>
                          </a:solidFill>
                        </a:rPr>
                        <a:t>“C” Part Number Required in  SCITS</a:t>
                      </a:r>
                      <a:r>
                        <a:rPr lang="en-US" sz="1000" baseline="0" dirty="0" smtClean="0">
                          <a:solidFill>
                            <a:schemeClr val="tx1"/>
                          </a:solidFill>
                        </a:rPr>
                        <a:t> R11/R12 files</a:t>
                      </a:r>
                      <a:endParaRPr lang="en-US" sz="1000" dirty="0">
                        <a:solidFill>
                          <a:schemeClr val="tx1"/>
                        </a:solidFill>
                      </a:endParaRPr>
                    </a:p>
                  </a:txBody>
                  <a:tcPr/>
                </a:tc>
                <a:tc>
                  <a:txBody>
                    <a:bodyPr/>
                    <a:lstStyle/>
                    <a:p>
                      <a:r>
                        <a:rPr lang="en-US" sz="1000" dirty="0" smtClean="0">
                          <a:solidFill>
                            <a:schemeClr val="tx1"/>
                          </a:solidFill>
                        </a:rPr>
                        <a:t>ODM will need to populate</a:t>
                      </a:r>
                      <a:r>
                        <a:rPr lang="en-US" sz="1000" baseline="0" dirty="0" smtClean="0">
                          <a:solidFill>
                            <a:schemeClr val="tx1"/>
                          </a:solidFill>
                        </a:rPr>
                        <a:t> the Customer Part Number field in the SCITS R11/R12 files that they send to HP with the “C” Part Number.</a:t>
                      </a:r>
                      <a:endParaRPr lang="en-US" sz="1000" dirty="0">
                        <a:solidFill>
                          <a:schemeClr val="tx1"/>
                        </a:solidFill>
                      </a:endParaRPr>
                    </a:p>
                  </a:txBody>
                  <a:tcPr/>
                </a:tc>
                <a:tc>
                  <a:txBody>
                    <a:bodyPr/>
                    <a:lstStyle/>
                    <a:p>
                      <a:r>
                        <a:rPr lang="en-US" sz="1000" dirty="0" smtClean="0">
                          <a:solidFill>
                            <a:schemeClr val="tx1"/>
                          </a:solidFill>
                        </a:rPr>
                        <a:t>“A” Part PDM BOM</a:t>
                      </a:r>
                    </a:p>
                    <a:p>
                      <a:r>
                        <a:rPr lang="en-US" sz="1000" dirty="0" smtClean="0">
                          <a:solidFill>
                            <a:schemeClr val="tx1"/>
                          </a:solidFill>
                        </a:rPr>
                        <a:t>EDI850 Detail Level PO111 where PO110=BP</a:t>
                      </a:r>
                    </a:p>
                    <a:p>
                      <a:endParaRPr lang="en-US" sz="1000" dirty="0">
                        <a:solidFill>
                          <a:schemeClr val="tx1"/>
                        </a:solidFill>
                      </a:endParaRPr>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50</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9721253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Order Management Requirements (1 of 3)</a:t>
            </a:r>
            <a:endParaRPr lang="en-US" dirty="0"/>
          </a:p>
        </p:txBody>
      </p:sp>
      <p:sp>
        <p:nvSpPr>
          <p:cNvPr id="3" name="Title 2"/>
          <p:cNvSpPr>
            <a:spLocks noGrp="1"/>
          </p:cNvSpPr>
          <p:nvPr>
            <p:ph type="title"/>
          </p:nvPr>
        </p:nvSpPr>
        <p:spPr/>
        <p:txBody>
          <a:bodyPr/>
          <a:lstStyle/>
          <a:p>
            <a:r>
              <a:rPr lang="en-US" dirty="0" smtClean="0"/>
              <a:t>BSaM – A Part Order Processing</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2121709135"/>
              </p:ext>
            </p:extLst>
          </p:nvPr>
        </p:nvGraphicFramePr>
        <p:xfrm>
          <a:off x="328613" y="1109133"/>
          <a:ext cx="8120064" cy="3613150"/>
        </p:xfrm>
        <a:graphic>
          <a:graphicData uri="http://schemas.openxmlformats.org/drawingml/2006/table">
            <a:tbl>
              <a:tblPr firstRow="1" bandRow="1">
                <a:tableStyleId>{073A0DAA-6AF3-43AB-8588-CEC1D06C72B9}</a:tableStyleId>
              </a:tblPr>
              <a:tblGrid>
                <a:gridCol w="681037"/>
                <a:gridCol w="1695450"/>
                <a:gridCol w="3943350"/>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438882">
                <a:tc>
                  <a:txBody>
                    <a:bodyPr/>
                    <a:lstStyle/>
                    <a:p>
                      <a:r>
                        <a:rPr lang="en-US" sz="800" dirty="0" smtClean="0"/>
                        <a:t>AOM-001</a:t>
                      </a:r>
                      <a:endParaRPr lang="en-US" sz="800" dirty="0"/>
                    </a:p>
                  </a:txBody>
                  <a:tcPr/>
                </a:tc>
                <a:tc>
                  <a:txBody>
                    <a:bodyPr/>
                    <a:lstStyle/>
                    <a:p>
                      <a:r>
                        <a:rPr lang="en-US" sz="1000" dirty="0" smtClean="0"/>
                        <a:t>Identify BSaM Orders</a:t>
                      </a:r>
                    </a:p>
                    <a:p>
                      <a:endParaRPr lang="en-US" sz="1000" dirty="0"/>
                    </a:p>
                  </a:txBody>
                  <a:tcPr/>
                </a:tc>
                <a:tc>
                  <a:txBody>
                    <a:bodyPr/>
                    <a:lstStyle/>
                    <a:p>
                      <a:r>
                        <a:rPr lang="en-US" sz="1000" dirty="0" smtClean="0"/>
                        <a:t>The ODM will need to identify BSaM orders from regular IDS orders so that BSaM orders can be processed correctly.  BSaM orders can be identified based on the Process Handling</a:t>
                      </a:r>
                      <a:r>
                        <a:rPr lang="en-US" sz="1000" baseline="0" dirty="0" smtClean="0"/>
                        <a:t> Code in the EDI850.</a:t>
                      </a:r>
                    </a:p>
                    <a:p>
                      <a:endParaRPr lang="en-US" sz="1000" baseline="0" dirty="0" smtClean="0"/>
                    </a:p>
                  </a:txBody>
                  <a:tcPr/>
                </a:tc>
                <a:tc>
                  <a:txBody>
                    <a:bodyPr/>
                    <a:lstStyle/>
                    <a:p>
                      <a:r>
                        <a:rPr lang="en-US" sz="1000" dirty="0" smtClean="0">
                          <a:solidFill>
                            <a:schemeClr val="tx1"/>
                          </a:solidFill>
                        </a:rPr>
                        <a:t>EDI850 Header Level REF02 where REF01=”PHC”</a:t>
                      </a:r>
                    </a:p>
                    <a:p>
                      <a:endParaRPr lang="en-US" sz="1000" dirty="0">
                        <a:solidFill>
                          <a:schemeClr val="tx1"/>
                        </a:solidFill>
                      </a:endParaRPr>
                    </a:p>
                  </a:txBody>
                  <a:tcPr/>
                </a:tc>
              </a:tr>
              <a:tr h="562187">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AOM-002</a:t>
                      </a:r>
                    </a:p>
                    <a:p>
                      <a:endParaRPr lang="en-US" sz="800" dirty="0"/>
                    </a:p>
                  </a:txBody>
                  <a:tcPr/>
                </a:tc>
                <a:tc>
                  <a:txBody>
                    <a:bodyPr/>
                    <a:lstStyle/>
                    <a:p>
                      <a:r>
                        <a:rPr lang="en-US" sz="1000" dirty="0" smtClean="0"/>
                        <a:t>Identify</a:t>
                      </a:r>
                      <a:r>
                        <a:rPr lang="en-US" sz="1000" baseline="0" dirty="0" smtClean="0"/>
                        <a:t> BSaM Build Trigger Orders (vs. BTO Orders)</a:t>
                      </a:r>
                    </a:p>
                    <a:p>
                      <a:endParaRPr lang="en-US" sz="1000" dirty="0"/>
                    </a:p>
                  </a:txBody>
                  <a:tcPr/>
                </a:tc>
                <a:tc>
                  <a:txBody>
                    <a:bodyPr/>
                    <a:lstStyle/>
                    <a:p>
                      <a:r>
                        <a:rPr lang="en-US" sz="1000" dirty="0" smtClean="0"/>
                        <a:t>The ODM will need to identify</a:t>
                      </a:r>
                      <a:r>
                        <a:rPr lang="en-US" sz="1000" baseline="0" dirty="0" smtClean="0"/>
                        <a:t> BSaM Build Trigger orders from BSaM BTO orders.  This should be conducted based on the unique BSaM Build Trigger Sold To ID (Customer ID) which will be sent in the EDI850.</a:t>
                      </a:r>
                      <a:endParaRPr lang="en-US" sz="1000" dirty="0"/>
                    </a:p>
                  </a:txBody>
                  <a:tcPr/>
                </a:tc>
                <a:tc>
                  <a:txBody>
                    <a:bodyPr/>
                    <a:lstStyle/>
                    <a:p>
                      <a:r>
                        <a:rPr lang="en-US" sz="1000" dirty="0" smtClean="0">
                          <a:solidFill>
                            <a:srgbClr val="0000FF"/>
                          </a:solidFill>
                        </a:rPr>
                        <a:t>EDI850 Header level N104 where N101=</a:t>
                      </a:r>
                      <a:r>
                        <a:rPr lang="en-US" sz="1000" b="1" dirty="0" smtClean="0">
                          <a:solidFill>
                            <a:srgbClr val="0000FF"/>
                          </a:solidFill>
                        </a:rPr>
                        <a:t>"SO"</a:t>
                      </a:r>
                      <a:r>
                        <a:rPr lang="en-US" sz="1000" dirty="0" smtClean="0">
                          <a:solidFill>
                            <a:srgbClr val="0000FF"/>
                          </a:solidFill>
                        </a:rPr>
                        <a:t>.</a:t>
                      </a:r>
                    </a:p>
                    <a:p>
                      <a:r>
                        <a:rPr lang="en-US" sz="1000" dirty="0" smtClean="0">
                          <a:solidFill>
                            <a:schemeClr val="tx1"/>
                          </a:solidFill>
                        </a:rPr>
                        <a:t>Specific Build Trigger Sold-To ID numbers</a:t>
                      </a:r>
                      <a:r>
                        <a:rPr lang="en-US" sz="1000" baseline="0" dirty="0" smtClean="0">
                          <a:solidFill>
                            <a:schemeClr val="tx1"/>
                          </a:solidFill>
                        </a:rPr>
                        <a:t> TBD</a:t>
                      </a:r>
                      <a:endParaRPr lang="en-US" sz="1000" dirty="0">
                        <a:solidFill>
                          <a:schemeClr val="tx1"/>
                        </a:solidFill>
                      </a:endParaRPr>
                    </a:p>
                  </a:txBody>
                  <a:tcPr/>
                </a:tc>
              </a:tr>
              <a:tr h="88638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AOM-003</a:t>
                      </a:r>
                    </a:p>
                    <a:p>
                      <a:endParaRPr lang="en-US" sz="800" dirty="0"/>
                    </a:p>
                  </a:txBody>
                  <a:tcPr/>
                </a:tc>
                <a:tc>
                  <a:txBody>
                    <a:bodyPr/>
                    <a:lstStyle/>
                    <a:p>
                      <a:r>
                        <a:rPr lang="en-US" sz="1000" dirty="0" smtClean="0"/>
                        <a:t>Determine appropriate Scheduled Ship Date (Commit Date) based on AOP and Order-to-Ship Leadtime</a:t>
                      </a:r>
                      <a:endParaRPr lang="en-US" sz="1000" dirty="0"/>
                    </a:p>
                  </a:txBody>
                  <a:tcPr/>
                </a:tc>
                <a:tc>
                  <a:txBody>
                    <a:bodyPr/>
                    <a:lstStyle/>
                    <a:p>
                      <a:r>
                        <a:rPr lang="en-US" sz="1000" dirty="0" smtClean="0"/>
                        <a:t>When setting Scheduled Ship Date for a BSaM order, the ODM will need to determine the appropriate</a:t>
                      </a:r>
                      <a:r>
                        <a:rPr lang="en-US" sz="1000" baseline="0" dirty="0" smtClean="0"/>
                        <a:t> order prioritization based on AOP and also set the appropriate Order-to-Ship Leadtime.  BSaM Build Trigger orders will most likely require a different agreed-to leadtime than BSaM BTO. Build Trigger Order leadtime should be based on the RSD (Requested Ship Date) provided by HP.</a:t>
                      </a:r>
                      <a:endParaRPr lang="en-US" sz="1000" dirty="0"/>
                    </a:p>
                  </a:txBody>
                  <a:tcPr/>
                </a:tc>
                <a:tc>
                  <a:txBody>
                    <a:bodyPr/>
                    <a:lstStyle/>
                    <a:p>
                      <a:r>
                        <a:rPr lang="en-US" sz="1000" dirty="0" smtClean="0">
                          <a:solidFill>
                            <a:schemeClr val="tx1"/>
                          </a:solidFill>
                        </a:rPr>
                        <a:t>EDI850 AOP</a:t>
                      </a:r>
                    </a:p>
                    <a:p>
                      <a:r>
                        <a:rPr lang="en-US" sz="1000" dirty="0" smtClean="0">
                          <a:solidFill>
                            <a:srgbClr val="0000FF"/>
                          </a:solidFill>
                        </a:rPr>
                        <a:t>EDI850 Detail Level DTM02 where DTM01=</a:t>
                      </a:r>
                      <a:r>
                        <a:rPr lang="en-US" sz="1000" b="1" dirty="0" smtClean="0">
                          <a:solidFill>
                            <a:srgbClr val="0000FF"/>
                          </a:solidFill>
                        </a:rPr>
                        <a:t>068 </a:t>
                      </a:r>
                      <a:r>
                        <a:rPr lang="en-US" sz="1000" dirty="0" smtClean="0">
                          <a:solidFill>
                            <a:srgbClr val="0000FF"/>
                          </a:solidFill>
                        </a:rPr>
                        <a:t>(RSD)</a:t>
                      </a:r>
                    </a:p>
                    <a:p>
                      <a:endParaRPr lang="en-US" sz="1000" dirty="0">
                        <a:solidFill>
                          <a:schemeClr val="tx1"/>
                        </a:solidFill>
                      </a:endParaRPr>
                    </a:p>
                  </a:txBody>
                  <a:tcPr/>
                </a:tc>
              </a:tr>
              <a:tr h="83439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AOM-004</a:t>
                      </a:r>
                    </a:p>
                    <a:p>
                      <a:endParaRPr lang="en-US" sz="800" dirty="0"/>
                    </a:p>
                  </a:txBody>
                  <a:tcPr/>
                </a:tc>
                <a:tc>
                  <a:txBody>
                    <a:bodyPr/>
                    <a:lstStyle/>
                    <a:p>
                      <a:r>
                        <a:rPr lang="en-US" sz="1000" dirty="0" smtClean="0"/>
                        <a:t>Retrieve “C” Part</a:t>
                      </a:r>
                      <a:r>
                        <a:rPr lang="en-US" sz="1000" baseline="0" dirty="0" smtClean="0"/>
                        <a:t> Number</a:t>
                      </a:r>
                      <a:r>
                        <a:rPr lang="en-US" sz="1000" dirty="0" smtClean="0"/>
                        <a:t> from EDI850 Order</a:t>
                      </a:r>
                      <a:endParaRPr lang="en-US" sz="1000" dirty="0"/>
                    </a:p>
                  </a:txBody>
                  <a:tcPr/>
                </a:tc>
                <a:tc>
                  <a:txBody>
                    <a:bodyPr/>
                    <a:lstStyle/>
                    <a:p>
                      <a:r>
                        <a:rPr lang="en-US" sz="1000" dirty="0" smtClean="0">
                          <a:solidFill>
                            <a:schemeClr val="tx1"/>
                          </a:solidFill>
                        </a:rPr>
                        <a:t>The ODM will need to retrieve</a:t>
                      </a:r>
                      <a:r>
                        <a:rPr lang="en-US" sz="1000" baseline="0" dirty="0" smtClean="0">
                          <a:solidFill>
                            <a:schemeClr val="tx1"/>
                          </a:solidFill>
                        </a:rPr>
                        <a:t> the </a:t>
                      </a:r>
                      <a:r>
                        <a:rPr lang="en-US" sz="1000" dirty="0" smtClean="0">
                          <a:solidFill>
                            <a:schemeClr val="tx1"/>
                          </a:solidFill>
                        </a:rPr>
                        <a:t>“C” FG Part</a:t>
                      </a:r>
                      <a:r>
                        <a:rPr lang="en-US" sz="1000" baseline="0" dirty="0" smtClean="0">
                          <a:solidFill>
                            <a:schemeClr val="tx1"/>
                          </a:solidFill>
                        </a:rPr>
                        <a:t> Number for the “A” SKU being ordered.  The “C” Part Number for BSaM orders will be sent through the Customer Part Number field.</a:t>
                      </a:r>
                    </a:p>
                    <a:p>
                      <a:r>
                        <a:rPr lang="en-US" sz="1000" baseline="0" dirty="0" smtClean="0">
                          <a:solidFill>
                            <a:schemeClr val="tx1"/>
                          </a:solidFill>
                        </a:rPr>
                        <a:t>  </a:t>
                      </a:r>
                      <a:endParaRPr lang="en-US" sz="1000" dirty="0">
                        <a:solidFill>
                          <a:schemeClr val="tx1"/>
                        </a:solidFill>
                      </a:endParaRPr>
                    </a:p>
                  </a:txBody>
                  <a:tcPr/>
                </a:tc>
                <a:tc>
                  <a:txBody>
                    <a:bodyPr/>
                    <a:lstStyle/>
                    <a:p>
                      <a:r>
                        <a:rPr lang="en-US" sz="1000" dirty="0" smtClean="0">
                          <a:solidFill>
                            <a:schemeClr val="tx1"/>
                          </a:solidFill>
                        </a:rPr>
                        <a:t>EDI850 Detail Level PO111 where PO110=BP</a:t>
                      </a:r>
                      <a:endParaRPr lang="en-US" sz="1000" dirty="0">
                        <a:solidFill>
                          <a:schemeClr val="tx1"/>
                        </a:solidFill>
                      </a:endParaRPr>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51</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78372098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Order Management Requirements (2 of 3)</a:t>
            </a:r>
            <a:endParaRPr lang="en-US" dirty="0"/>
          </a:p>
        </p:txBody>
      </p:sp>
      <p:sp>
        <p:nvSpPr>
          <p:cNvPr id="3" name="Title 2"/>
          <p:cNvSpPr>
            <a:spLocks noGrp="1"/>
          </p:cNvSpPr>
          <p:nvPr>
            <p:ph type="title"/>
          </p:nvPr>
        </p:nvSpPr>
        <p:spPr/>
        <p:txBody>
          <a:bodyPr/>
          <a:lstStyle/>
          <a:p>
            <a:r>
              <a:rPr lang="en-US" dirty="0" smtClean="0"/>
              <a:t>BSaM – A Part Order Processing</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569958850"/>
              </p:ext>
            </p:extLst>
          </p:nvPr>
        </p:nvGraphicFramePr>
        <p:xfrm>
          <a:off x="328613" y="1175382"/>
          <a:ext cx="8120064" cy="2404633"/>
        </p:xfrm>
        <a:graphic>
          <a:graphicData uri="http://schemas.openxmlformats.org/drawingml/2006/table">
            <a:tbl>
              <a:tblPr firstRow="1" bandRow="1">
                <a:tableStyleId>{073A0DAA-6AF3-43AB-8588-CEC1D06C72B9}</a:tableStyleId>
              </a:tblPr>
              <a:tblGrid>
                <a:gridCol w="681037"/>
                <a:gridCol w="1695450"/>
                <a:gridCol w="3943350"/>
                <a:gridCol w="1800227"/>
              </a:tblGrid>
              <a:tr h="316753">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685800">
                <a:tc>
                  <a:txBody>
                    <a:bodyPr/>
                    <a:lstStyle/>
                    <a:p>
                      <a:r>
                        <a:rPr lang="en-US" sz="800" dirty="0" smtClean="0"/>
                        <a:t>AOM-005</a:t>
                      </a:r>
                      <a:endParaRPr lang="en-US" sz="800" dirty="0"/>
                    </a:p>
                  </a:txBody>
                  <a:tcPr/>
                </a:tc>
                <a:tc>
                  <a:txBody>
                    <a:bodyPr/>
                    <a:lstStyle/>
                    <a:p>
                      <a:pPr algn="l"/>
                      <a:r>
                        <a:rPr lang="en-US" sz="1000" b="0" dirty="0" smtClean="0">
                          <a:solidFill>
                            <a:schemeClr val="tx1"/>
                          </a:solidFill>
                          <a:latin typeface="+mn-lt"/>
                        </a:rPr>
                        <a:t>Determine Battery that needs to be used for NB full unit testing for BSaM orders</a:t>
                      </a:r>
                      <a:endParaRPr lang="en-US" sz="1000" b="0" dirty="0">
                        <a:solidFill>
                          <a:schemeClr val="tx1"/>
                        </a:solidFill>
                        <a:latin typeface="+mn-lt"/>
                      </a:endParaRPr>
                    </a:p>
                  </a:txBody>
                  <a:tcPr/>
                </a:tc>
                <a:tc>
                  <a:txBody>
                    <a:bodyPr/>
                    <a:lstStyle/>
                    <a:p>
                      <a:pPr algn="l"/>
                      <a:r>
                        <a:rPr lang="en-US" sz="1000" b="0" dirty="0" smtClean="0">
                          <a:latin typeface="+mn-lt"/>
                        </a:rPr>
                        <a:t>The ODM will need to determine the battery that will need to be used for NB full unit testing.  </a:t>
                      </a:r>
                      <a:r>
                        <a:rPr lang="en-US" sz="1000" b="0" baseline="0" dirty="0" smtClean="0">
                          <a:latin typeface="+mn-lt"/>
                        </a:rPr>
                        <a:t>The standard battery type used for that model/platform should be used.  </a:t>
                      </a:r>
                    </a:p>
                  </a:txBody>
                  <a:tcPr/>
                </a:tc>
                <a:tc>
                  <a:txBody>
                    <a:bodyPr/>
                    <a:lstStyle/>
                    <a:p>
                      <a:r>
                        <a:rPr lang="en-US" sz="1000" dirty="0" smtClean="0"/>
                        <a:t>ODM</a:t>
                      </a:r>
                      <a:endParaRPr lang="en-US" sz="1000" dirty="0"/>
                    </a:p>
                  </a:txBody>
                  <a:tcPr/>
                </a:tc>
              </a:tr>
              <a:tr h="69015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AOM-006</a:t>
                      </a:r>
                    </a:p>
                    <a:p>
                      <a:endParaRPr lang="en-US" sz="800" dirty="0"/>
                    </a:p>
                  </a:txBody>
                  <a:tcPr/>
                </a:tc>
                <a:tc>
                  <a:txBody>
                    <a:bodyPr/>
                    <a:lstStyle/>
                    <a:p>
                      <a:pPr algn="l"/>
                      <a:r>
                        <a:rPr lang="en-US" sz="1000" b="0" dirty="0" smtClean="0">
                          <a:solidFill>
                            <a:schemeClr val="tx1"/>
                          </a:solidFill>
                          <a:latin typeface="+mn-lt"/>
                        </a:rPr>
                        <a:t>Detect</a:t>
                      </a:r>
                      <a:r>
                        <a:rPr lang="en-US" sz="1000" b="0" baseline="0" dirty="0" smtClean="0">
                          <a:solidFill>
                            <a:schemeClr val="tx1"/>
                          </a:solidFill>
                          <a:latin typeface="+mn-lt"/>
                        </a:rPr>
                        <a:t> if a non-BSaM order is being placed which includes the BSaM AV.</a:t>
                      </a:r>
                      <a:endParaRPr lang="en-US" sz="1000" b="0" dirty="0">
                        <a:solidFill>
                          <a:schemeClr val="tx1"/>
                        </a:solidFill>
                        <a:latin typeface="+mn-lt"/>
                      </a:endParaRPr>
                    </a:p>
                  </a:txBody>
                  <a:tcPr/>
                </a:tc>
                <a:tc>
                  <a:txBody>
                    <a:bodyPr/>
                    <a:lstStyle/>
                    <a:p>
                      <a:pPr algn="l"/>
                      <a:r>
                        <a:rPr lang="en-US" sz="1000" b="0" dirty="0" smtClean="0">
                          <a:latin typeface="+mn-lt"/>
                        </a:rPr>
                        <a:t>The ODM will need to develop a systemic method to detect when a BSaM</a:t>
                      </a:r>
                      <a:r>
                        <a:rPr lang="en-US" sz="1000" b="0" baseline="0" dirty="0" smtClean="0">
                          <a:latin typeface="+mn-lt"/>
                        </a:rPr>
                        <a:t> </a:t>
                      </a:r>
                      <a:r>
                        <a:rPr lang="en-US" sz="1000" b="0" baseline="0" dirty="0" smtClean="0">
                          <a:solidFill>
                            <a:schemeClr val="tx1"/>
                          </a:solidFill>
                          <a:latin typeface="+mn-lt"/>
                        </a:rPr>
                        <a:t>Unique AV </a:t>
                      </a:r>
                      <a:r>
                        <a:rPr lang="en-US" sz="1000" b="0" baseline="0" dirty="0" smtClean="0">
                          <a:latin typeface="+mn-lt"/>
                        </a:rPr>
                        <a:t>is ordered along with Batteries or AC Adapters.  The ODM system should detect this type of order, place the order on hold and systemically notify their OM group.  The ODM will need to notify HP if such an order is detected.</a:t>
                      </a:r>
                    </a:p>
                  </a:txBody>
                  <a:tcPr/>
                </a:tc>
                <a:tc>
                  <a:txBody>
                    <a:bodyPr/>
                    <a:lstStyle/>
                    <a:p>
                      <a:r>
                        <a:rPr lang="en-US" sz="1000" dirty="0" smtClean="0"/>
                        <a:t>“A” and</a:t>
                      </a:r>
                      <a:r>
                        <a:rPr lang="en-US" sz="1000" baseline="0" dirty="0" smtClean="0"/>
                        <a:t> “C” PDM/BOM</a:t>
                      </a:r>
                      <a:endParaRPr lang="en-US" sz="1000" dirty="0" smtClean="0"/>
                    </a:p>
                    <a:p>
                      <a:r>
                        <a:rPr lang="en-US" sz="1000" dirty="0" smtClean="0"/>
                        <a:t>EDI850 Header Level REF02 where REF01=”PHC”</a:t>
                      </a:r>
                    </a:p>
                    <a:p>
                      <a:endParaRPr lang="en-US" sz="1000" dirty="0" smtClean="0"/>
                    </a:p>
                    <a:p>
                      <a:r>
                        <a:rPr lang="en-US" sz="1000" dirty="0" smtClean="0"/>
                        <a:t>ODM</a:t>
                      </a:r>
                      <a:endParaRPr lang="en-US" sz="1000" dirty="0"/>
                    </a:p>
                  </a:txBody>
                  <a:tcPr/>
                </a:tc>
              </a:tr>
              <a:tr h="47402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AOM-007</a:t>
                      </a:r>
                    </a:p>
                    <a:p>
                      <a:endParaRPr lang="en-US" sz="800" dirty="0"/>
                    </a:p>
                  </a:txBody>
                  <a:tcPr/>
                </a:tc>
                <a:tc>
                  <a:txBody>
                    <a:bodyPr/>
                    <a:lstStyle/>
                    <a:p>
                      <a:pPr algn="l"/>
                      <a:r>
                        <a:rPr lang="en-US" sz="1000" b="0" dirty="0" smtClean="0">
                          <a:solidFill>
                            <a:schemeClr val="tx1"/>
                          </a:solidFill>
                          <a:latin typeface="+mn-lt"/>
                        </a:rPr>
                        <a:t>Support</a:t>
                      </a:r>
                      <a:r>
                        <a:rPr lang="en-US" sz="1000" b="0" baseline="0" dirty="0" smtClean="0">
                          <a:solidFill>
                            <a:schemeClr val="tx1"/>
                          </a:solidFill>
                          <a:latin typeface="+mn-lt"/>
                        </a:rPr>
                        <a:t> IDS BTO orders as back up for the “C” FG configuration.  </a:t>
                      </a:r>
                      <a:endParaRPr lang="en-US" sz="1000" b="0" dirty="0">
                        <a:solidFill>
                          <a:schemeClr val="tx1"/>
                        </a:solidFill>
                        <a:latin typeface="+mn-lt"/>
                      </a:endParaRPr>
                    </a:p>
                  </a:txBody>
                  <a:tcPr/>
                </a:tc>
                <a:tc>
                  <a:txBody>
                    <a:bodyPr/>
                    <a:lstStyle/>
                    <a:p>
                      <a:pPr algn="l"/>
                      <a:r>
                        <a:rPr lang="en-US" sz="1000" b="0" dirty="0" smtClean="0">
                          <a:latin typeface="+mn-lt"/>
                        </a:rPr>
                        <a:t>The ODM will need to support both I</a:t>
                      </a:r>
                      <a:r>
                        <a:rPr lang="en-US" sz="1000" b="0" baseline="0" dirty="0" smtClean="0">
                          <a:latin typeface="+mn-lt"/>
                        </a:rPr>
                        <a:t>DS BTO orders for the “C” configuration as well as BSaM orders for the “A” configuration.</a:t>
                      </a:r>
                      <a:endParaRPr lang="en-US" sz="1000" b="0" dirty="0">
                        <a:latin typeface="+mn-lt"/>
                      </a:endParaRPr>
                    </a:p>
                  </a:txBody>
                  <a:tcPr/>
                </a:tc>
                <a:tc>
                  <a:txBody>
                    <a:bodyPr/>
                    <a:lstStyle/>
                    <a:p>
                      <a:r>
                        <a:rPr lang="en-US" sz="1000" dirty="0" smtClean="0"/>
                        <a:t>ODM</a:t>
                      </a:r>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52</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63176032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Order Management Requirements (3 of 3)</a:t>
            </a:r>
            <a:endParaRPr lang="en-US" dirty="0"/>
          </a:p>
        </p:txBody>
      </p:sp>
      <p:sp>
        <p:nvSpPr>
          <p:cNvPr id="3" name="Title 2"/>
          <p:cNvSpPr>
            <a:spLocks noGrp="1"/>
          </p:cNvSpPr>
          <p:nvPr>
            <p:ph type="title"/>
          </p:nvPr>
        </p:nvSpPr>
        <p:spPr/>
        <p:txBody>
          <a:bodyPr/>
          <a:lstStyle/>
          <a:p>
            <a:r>
              <a:rPr lang="en-US" dirty="0" smtClean="0"/>
              <a:t>BSaM – A Part Order Processing</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3846242799"/>
              </p:ext>
            </p:extLst>
          </p:nvPr>
        </p:nvGraphicFramePr>
        <p:xfrm>
          <a:off x="328613" y="1189041"/>
          <a:ext cx="8120064" cy="2519680"/>
        </p:xfrm>
        <a:graphic>
          <a:graphicData uri="http://schemas.openxmlformats.org/drawingml/2006/table">
            <a:tbl>
              <a:tblPr firstRow="1" bandRow="1">
                <a:tableStyleId>{073A0DAA-6AF3-43AB-8588-CEC1D06C72B9}</a:tableStyleId>
              </a:tblPr>
              <a:tblGrid>
                <a:gridCol w="681037"/>
                <a:gridCol w="1695450"/>
                <a:gridCol w="3943350"/>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68580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AOM-008</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Conduct BSaM Production Grouping; assign Order Group ID</a:t>
                      </a:r>
                    </a:p>
                  </a:txBody>
                  <a:tcPr/>
                </a:tc>
                <a:tc>
                  <a:txBody>
                    <a:bodyPr/>
                    <a:lstStyle/>
                    <a:p>
                      <a:r>
                        <a:rPr lang="en-US" sz="1000" dirty="0" smtClean="0"/>
                        <a:t>The ODM will need to develop a</a:t>
                      </a:r>
                      <a:r>
                        <a:rPr lang="en-US" sz="1000" baseline="0" dirty="0" smtClean="0"/>
                        <a:t> systemic method to group BSaM orders based on “C” SKU Part Number, PCC Location, Ship Mode, and ODM Build Schedule while not exceeding the Max Pallet </a:t>
                      </a:r>
                      <a:r>
                        <a:rPr lang="en-US" sz="1000" baseline="0" dirty="0" err="1" smtClean="0"/>
                        <a:t>Qty</a:t>
                      </a:r>
                      <a:r>
                        <a:rPr lang="en-US" sz="1000" baseline="0" dirty="0" smtClean="0"/>
                        <a:t> limitations from HVLS ACE.  The ODM will need to assign an Order Group ID to orders that have been grouped together.  Production should be conducted by Order Group ID.  This grouping process is required to enable the ODM to combine orders and develop maximum full bulk boxes at time of production. </a:t>
                      </a:r>
                      <a:r>
                        <a:rPr lang="en-US" sz="1000" baseline="0" dirty="0" smtClean="0">
                          <a:solidFill>
                            <a:schemeClr val="tx1"/>
                          </a:solidFill>
                        </a:rPr>
                        <a:t> (See Design Concept &amp; Requirement Details for Order Group ID format details)</a:t>
                      </a:r>
                      <a:endParaRPr lang="en-US" sz="1000" dirty="0">
                        <a:solidFill>
                          <a:schemeClr val="tx1"/>
                        </a:solidFill>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C PN: EDI850</a:t>
                      </a:r>
                      <a:r>
                        <a:rPr lang="en-US" sz="1000" baseline="0" dirty="0" smtClean="0"/>
                        <a:t> Detail level PO111 where PO110 = “BP” (Buyers Part Number) ”C “ PN</a:t>
                      </a:r>
                      <a:endParaRPr lang="en-US" sz="1000" dirty="0" smtClean="0"/>
                    </a:p>
                    <a:p>
                      <a:endParaRPr lang="en-US" sz="100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PCC Location: EDI850 Header level N104 where N101="ST“</a:t>
                      </a:r>
                      <a:r>
                        <a:rPr lang="en-US" sz="1000" baseline="0" dirty="0" smtClean="0"/>
                        <a:t>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00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HVLS</a:t>
                      </a:r>
                      <a:r>
                        <a:rPr lang="en-US" sz="1000" baseline="0" dirty="0" smtClean="0"/>
                        <a:t> ACE Condition Tables</a:t>
                      </a:r>
                      <a:endParaRPr lang="en-US" sz="1000" dirty="0" smtClean="0"/>
                    </a:p>
                  </a:txBody>
                  <a:tcPr/>
                </a:tc>
              </a:tr>
              <a:tr h="685800">
                <a:tc>
                  <a:txBody>
                    <a:bodyPr/>
                    <a:lstStyle/>
                    <a:p>
                      <a:r>
                        <a:rPr lang="en-US" sz="800" dirty="0" smtClean="0"/>
                        <a:t>AOM-009</a:t>
                      </a:r>
                      <a:endParaRPr lang="en-US" sz="800" dirty="0"/>
                    </a:p>
                  </a:txBody>
                  <a:tcPr/>
                </a:tc>
                <a:tc>
                  <a:txBody>
                    <a:bodyPr/>
                    <a:lstStyle/>
                    <a:p>
                      <a:pPr algn="l"/>
                      <a:r>
                        <a:rPr lang="en-US" sz="1000" b="0" dirty="0" smtClean="0">
                          <a:latin typeface="+mn-lt"/>
                        </a:rPr>
                        <a:t>Provide required Order Group ID information to HVLS ACE and EDITS</a:t>
                      </a:r>
                      <a:endParaRPr lang="en-US" sz="1000" b="0" dirty="0">
                        <a:latin typeface="+mn-lt"/>
                      </a:endParaRPr>
                    </a:p>
                  </a:txBody>
                  <a:tcPr/>
                </a:tc>
                <a:tc>
                  <a:txBody>
                    <a:bodyPr/>
                    <a:lstStyle/>
                    <a:p>
                      <a:pPr algn="l"/>
                      <a:r>
                        <a:rPr lang="en-US" sz="1000" b="0" dirty="0" smtClean="0">
                          <a:latin typeface="+mn-lt"/>
                        </a:rPr>
                        <a:t>The ODM will need to relay the Order Group ID information to both ACE and EDITS</a:t>
                      </a:r>
                      <a:r>
                        <a:rPr lang="en-US" sz="1000" b="0" baseline="0" dirty="0" smtClean="0">
                          <a:latin typeface="+mn-lt"/>
                        </a:rPr>
                        <a:t> for downstream processing.  Details on how this needs to be supported will be defined by the HVLS team.</a:t>
                      </a:r>
                    </a:p>
                  </a:txBody>
                  <a:tcPr/>
                </a:tc>
                <a:tc>
                  <a:txBody>
                    <a:bodyPr/>
                    <a:lstStyle/>
                    <a:p>
                      <a:r>
                        <a:rPr lang="en-US" sz="1000" dirty="0" smtClean="0"/>
                        <a:t>ODM</a:t>
                      </a:r>
                    </a:p>
                    <a:p>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53</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43812124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Production Requirements (1 of 3)</a:t>
            </a:r>
            <a:endParaRPr lang="en-US" dirty="0"/>
          </a:p>
        </p:txBody>
      </p:sp>
      <p:sp>
        <p:nvSpPr>
          <p:cNvPr id="3" name="Title 2"/>
          <p:cNvSpPr>
            <a:spLocks noGrp="1"/>
          </p:cNvSpPr>
          <p:nvPr>
            <p:ph type="title"/>
          </p:nvPr>
        </p:nvSpPr>
        <p:spPr/>
        <p:txBody>
          <a:bodyPr/>
          <a:lstStyle/>
          <a:p>
            <a:r>
              <a:rPr lang="en-US" dirty="0" smtClean="0"/>
              <a:t>BSaM – A Part Production</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2174086676"/>
              </p:ext>
            </p:extLst>
          </p:nvPr>
        </p:nvGraphicFramePr>
        <p:xfrm>
          <a:off x="328613" y="1039708"/>
          <a:ext cx="8120064" cy="2952750"/>
        </p:xfrm>
        <a:graphic>
          <a:graphicData uri="http://schemas.openxmlformats.org/drawingml/2006/table">
            <a:tbl>
              <a:tblPr firstRow="1" bandRow="1">
                <a:tableStyleId>{073A0DAA-6AF3-43AB-8588-CEC1D06C72B9}</a:tableStyleId>
              </a:tblPr>
              <a:tblGrid>
                <a:gridCol w="681037"/>
                <a:gridCol w="1695450"/>
                <a:gridCol w="3943350"/>
                <a:gridCol w="1800227"/>
              </a:tblGrid>
              <a:tr h="243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1725930">
                <a:tc>
                  <a:txBody>
                    <a:bodyPr/>
                    <a:lstStyle/>
                    <a:p>
                      <a:r>
                        <a:rPr lang="en-US" sz="800" dirty="0" smtClean="0"/>
                        <a:t>APRD-001</a:t>
                      </a:r>
                      <a:endParaRPr lang="en-US" sz="800" dirty="0"/>
                    </a:p>
                  </a:txBody>
                  <a:tcPr/>
                </a:tc>
                <a:tc>
                  <a:txBody>
                    <a:bodyPr/>
                    <a:lstStyle/>
                    <a:p>
                      <a:r>
                        <a:rPr lang="en-US" sz="1000" dirty="0" smtClean="0"/>
                        <a:t>Build based on Production Grouping</a:t>
                      </a:r>
                      <a:endParaRPr lang="en-US" sz="1000" dirty="0"/>
                    </a:p>
                  </a:txBody>
                  <a:tcPr/>
                </a:tc>
                <a:tc>
                  <a:txBody>
                    <a:bodyPr/>
                    <a:lstStyle/>
                    <a:p>
                      <a:r>
                        <a:rPr lang="en-US" sz="1000" dirty="0" smtClean="0"/>
                        <a:t>The ODM will need to be capable of conducting</a:t>
                      </a:r>
                      <a:r>
                        <a:rPr lang="en-US" sz="1000" baseline="0" dirty="0" smtClean="0"/>
                        <a:t> production by Order Group ID.  Standard procedure should be that  the production build for a single Order Group ID is conducted at one time.  In the case that there are any technical/production issues that result in the need to split the build of a single Order Group ID, the ODM will need to split the build so that there is only one or no partially full Bulk Boxes (Split a single Order Group ID build based on a multiple of full bulk box </a:t>
                      </a:r>
                      <a:r>
                        <a:rPr lang="en-US" sz="1000" baseline="0" dirty="0" err="1" smtClean="0"/>
                        <a:t>qty</a:t>
                      </a:r>
                      <a:r>
                        <a:rPr lang="en-US" sz="1000" baseline="0" dirty="0" smtClean="0"/>
                        <a:t>).</a:t>
                      </a:r>
                    </a:p>
                    <a:p>
                      <a:r>
                        <a:rPr lang="en-US" sz="1000" dirty="0" smtClean="0"/>
                        <a:t>The ODM will need to be</a:t>
                      </a:r>
                      <a:r>
                        <a:rPr lang="en-US" sz="1000" baseline="0" dirty="0" smtClean="0"/>
                        <a:t> capable of systemically and operationally supporting this process.</a:t>
                      </a:r>
                      <a:endParaRPr lang="en-US" sz="1000" dirty="0"/>
                    </a:p>
                  </a:txBody>
                  <a:tcPr/>
                </a:tc>
                <a:tc>
                  <a:txBody>
                    <a:bodyPr/>
                    <a:lstStyle/>
                    <a:p>
                      <a:r>
                        <a:rPr lang="en-US" sz="1000" dirty="0" smtClean="0"/>
                        <a:t>ODM</a:t>
                      </a:r>
                      <a:endParaRPr lang="en-US" sz="1000" dirty="0"/>
                    </a:p>
                  </a:txBody>
                  <a:tcPr/>
                </a:tc>
              </a:tr>
              <a:tr h="98298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APRD-002</a:t>
                      </a:r>
                    </a:p>
                    <a:p>
                      <a:endParaRPr lang="en-US" sz="800" dirty="0"/>
                    </a:p>
                  </a:txBody>
                  <a:tcPr/>
                </a:tc>
                <a:tc>
                  <a:txBody>
                    <a:bodyPr/>
                    <a:lstStyle/>
                    <a:p>
                      <a:r>
                        <a:rPr lang="en-US" sz="1000" dirty="0" smtClean="0"/>
                        <a:t>BIOS Adjustment Requirement</a:t>
                      </a:r>
                      <a:endParaRPr lang="en-US" sz="1000" dirty="0"/>
                    </a:p>
                  </a:txBody>
                  <a:tcPr/>
                </a:tc>
                <a:tc>
                  <a:txBody>
                    <a:bodyPr/>
                    <a:lstStyle/>
                    <a:p>
                      <a:r>
                        <a:rPr lang="en-US" sz="1000" dirty="0" smtClean="0"/>
                        <a:t>Although the ODM is producing an</a:t>
                      </a:r>
                      <a:r>
                        <a:rPr lang="en-US" sz="1000" baseline="0" dirty="0" smtClean="0"/>
                        <a:t> “A” SKU, the “A” SKU will go to HP’s Customer as a part of the “C” FG SKU.  The BIOS for “A” SKU Notebooks will need to show the Part Number as “C”.  The ODM will need to set up the BIOS for “A” SKUs to show the “C” Part Number. </a:t>
                      </a:r>
                      <a:endParaRPr lang="en-US" sz="1000" dirty="0"/>
                    </a:p>
                  </a:txBody>
                  <a:tcPr/>
                </a:tc>
                <a:tc>
                  <a:txBody>
                    <a:bodyPr/>
                    <a:lstStyle/>
                    <a:p>
                      <a:pPr marL="114300" indent="-114300">
                        <a:buFont typeface="Arial" charset="0"/>
                        <a:buChar char="•"/>
                      </a:pPr>
                      <a:r>
                        <a:rPr lang="en-US" sz="1000" dirty="0" smtClean="0">
                          <a:solidFill>
                            <a:schemeClr val="tx1"/>
                          </a:solidFill>
                        </a:rPr>
                        <a:t>“A” SKU Indicator in PDM/BOM</a:t>
                      </a:r>
                    </a:p>
                    <a:p>
                      <a:pPr marL="114300" marR="0" indent="-114300" algn="l" defTabSz="457200" rtl="0" eaLnBrk="1" fontAlgn="auto" latinLnBrk="0" hangingPunct="1">
                        <a:lnSpc>
                          <a:spcPct val="100000"/>
                        </a:lnSpc>
                        <a:spcBef>
                          <a:spcPts val="0"/>
                        </a:spcBef>
                        <a:spcAft>
                          <a:spcPts val="0"/>
                        </a:spcAft>
                        <a:buClrTx/>
                        <a:buSzTx/>
                        <a:buFont typeface="Arial" charset="0"/>
                        <a:buChar char="•"/>
                        <a:tabLst/>
                        <a:defRPr/>
                      </a:pPr>
                      <a:r>
                        <a:rPr lang="en-US" sz="1000" dirty="0" smtClean="0">
                          <a:solidFill>
                            <a:schemeClr val="tx1"/>
                          </a:solidFill>
                        </a:rPr>
                        <a:t>EDI850 Detail Level PO111</a:t>
                      </a:r>
                    </a:p>
                    <a:p>
                      <a:pPr marL="114300" marR="0" indent="0" algn="l" defTabSz="457200" rtl="0" eaLnBrk="1" fontAlgn="auto" latinLnBrk="0" hangingPunct="1">
                        <a:lnSpc>
                          <a:spcPct val="100000"/>
                        </a:lnSpc>
                        <a:spcBef>
                          <a:spcPts val="0"/>
                        </a:spcBef>
                        <a:spcAft>
                          <a:spcPts val="0"/>
                        </a:spcAft>
                        <a:buClrTx/>
                        <a:buSzTx/>
                        <a:buFont typeface="Arial" charset="0"/>
                        <a:buNone/>
                        <a:tabLst/>
                        <a:defRPr/>
                      </a:pPr>
                      <a:r>
                        <a:rPr lang="en-US" sz="1000" dirty="0" smtClean="0">
                          <a:solidFill>
                            <a:schemeClr val="tx1"/>
                          </a:solidFill>
                        </a:rPr>
                        <a:t> where PO110=BP</a:t>
                      </a:r>
                    </a:p>
                    <a:p>
                      <a:endParaRPr lang="en-US" sz="1000" dirty="0" smtClean="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54</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55888650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Production Requirements (2 of 3)</a:t>
            </a:r>
            <a:endParaRPr lang="en-US" dirty="0"/>
          </a:p>
        </p:txBody>
      </p:sp>
      <p:sp>
        <p:nvSpPr>
          <p:cNvPr id="3" name="Title 2"/>
          <p:cNvSpPr>
            <a:spLocks noGrp="1"/>
          </p:cNvSpPr>
          <p:nvPr>
            <p:ph type="title"/>
          </p:nvPr>
        </p:nvSpPr>
        <p:spPr/>
        <p:txBody>
          <a:bodyPr/>
          <a:lstStyle/>
          <a:p>
            <a:r>
              <a:rPr lang="en-US" dirty="0" smtClean="0"/>
              <a:t>BSaM – A Part Production</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3072849227"/>
              </p:ext>
            </p:extLst>
          </p:nvPr>
        </p:nvGraphicFramePr>
        <p:xfrm>
          <a:off x="328613" y="1189041"/>
          <a:ext cx="8120064" cy="3639820"/>
        </p:xfrm>
        <a:graphic>
          <a:graphicData uri="http://schemas.openxmlformats.org/drawingml/2006/table">
            <a:tbl>
              <a:tblPr firstRow="1" bandRow="1">
                <a:tableStyleId>{073A0DAA-6AF3-43AB-8588-CEC1D06C72B9}</a:tableStyleId>
              </a:tblPr>
              <a:tblGrid>
                <a:gridCol w="681037"/>
                <a:gridCol w="1695450"/>
                <a:gridCol w="3943350"/>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128016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APRD-003</a:t>
                      </a:r>
                    </a:p>
                  </a:txBody>
                  <a:tcPr/>
                </a:tc>
                <a:tc>
                  <a:txBody>
                    <a:bodyPr/>
                    <a:lstStyle/>
                    <a:p>
                      <a:r>
                        <a:rPr lang="en-US" sz="1000" dirty="0" smtClean="0"/>
                        <a:t>Full Unit Testing using Temporary Batteries</a:t>
                      </a:r>
                      <a:endParaRPr lang="en-US" sz="1000" dirty="0"/>
                    </a:p>
                  </a:txBody>
                  <a:tcPr/>
                </a:tc>
                <a:tc>
                  <a:txBody>
                    <a:bodyPr/>
                    <a:lstStyle/>
                    <a:p>
                      <a:r>
                        <a:rPr lang="en-US" sz="1000" dirty="0" smtClean="0"/>
                        <a:t>The ODM will need to support</a:t>
                      </a:r>
                      <a:r>
                        <a:rPr lang="en-US" sz="1000" baseline="0" dirty="0" smtClean="0"/>
                        <a:t> full unit testing for “A” SKUs using Temporary Batteries.  The Temporary Batteries should not be part of the official BOM.  The Temporary Batteries need to be added to the Notebook at time of assembly and then after the Run-in and full unit testing is completed, the battery should be removed and repackages.</a:t>
                      </a:r>
                    </a:p>
                    <a:p>
                      <a:r>
                        <a:rPr lang="en-US" sz="1000" baseline="0" dirty="0" smtClean="0"/>
                        <a:t>The Temporary Battery should be used for BSaM testing only one time and the repackaged battery should be used for future IDS build.</a:t>
                      </a:r>
                      <a:endParaRPr lang="en-US" sz="1000" dirty="0"/>
                    </a:p>
                  </a:txBody>
                  <a:tcPr/>
                </a:tc>
                <a:tc>
                  <a:txBody>
                    <a:bodyPr/>
                    <a:lstStyle/>
                    <a:p>
                      <a:r>
                        <a:rPr lang="en-US" sz="1000" dirty="0" smtClean="0"/>
                        <a:t>ODM</a:t>
                      </a:r>
                      <a:endParaRPr lang="en-US" sz="1000" dirty="0"/>
                    </a:p>
                  </a:txBody>
                  <a:tcPr/>
                </a:tc>
              </a:tr>
              <a:tr h="89375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APRD-004</a:t>
                      </a:r>
                    </a:p>
                  </a:txBody>
                  <a:tcPr/>
                </a:tc>
                <a:tc>
                  <a:txBody>
                    <a:bodyPr/>
                    <a:lstStyle/>
                    <a:p>
                      <a:r>
                        <a:rPr lang="en-US" sz="1000" dirty="0" smtClean="0"/>
                        <a:t>BSaM Pouch</a:t>
                      </a:r>
                      <a:r>
                        <a:rPr lang="en-US" sz="1000" baseline="0" dirty="0" smtClean="0"/>
                        <a:t> Process</a:t>
                      </a:r>
                      <a:endParaRPr lang="en-US" sz="1000" dirty="0"/>
                    </a:p>
                  </a:txBody>
                  <a:tcPr/>
                </a:tc>
                <a:tc>
                  <a:txBody>
                    <a:bodyPr/>
                    <a:lstStyle/>
                    <a:p>
                      <a:r>
                        <a:rPr lang="en-US" sz="1000" dirty="0" smtClean="0"/>
                        <a:t>All items of the “A” SKU that are not a physical part of the Notebook will need to be placed into a plastic pouch</a:t>
                      </a:r>
                      <a:r>
                        <a:rPr lang="en-US" sz="1000" baseline="0" dirty="0" smtClean="0"/>
                        <a:t> at time of production.  The Product Label will be placed on the Pouch and both the Pouch and the Notebook will be placed into the Bulk Box together.  The Pouch will always need to match with the appropriate Notebook.</a:t>
                      </a:r>
                      <a:endParaRPr lang="en-US" sz="1000" dirty="0" smtClean="0"/>
                    </a:p>
                    <a:p>
                      <a:endParaRPr lang="en-US" sz="1000" dirty="0"/>
                    </a:p>
                  </a:txBody>
                  <a:tcPr/>
                </a:tc>
                <a:tc>
                  <a:txBody>
                    <a:bodyPr/>
                    <a:lstStyle/>
                    <a:p>
                      <a:r>
                        <a:rPr lang="en-US" sz="1000" dirty="0" smtClean="0"/>
                        <a:t>ODM</a:t>
                      </a:r>
                      <a:endParaRPr lang="en-US" sz="1000" dirty="0"/>
                    </a:p>
                  </a:txBody>
                  <a:tcPr/>
                </a:tc>
              </a:tr>
              <a:tr h="98298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APRD-005</a:t>
                      </a:r>
                    </a:p>
                  </a:txBody>
                  <a:tcPr/>
                </a:tc>
                <a:tc>
                  <a:txBody>
                    <a:bodyPr/>
                    <a:lstStyle/>
                    <a:p>
                      <a:r>
                        <a:rPr lang="en-US" sz="1000" dirty="0" smtClean="0"/>
                        <a:t>Individual Product Label Requirements</a:t>
                      </a:r>
                      <a:endParaRPr lang="en-US" sz="1000" dirty="0"/>
                    </a:p>
                  </a:txBody>
                  <a:tcPr/>
                </a:tc>
                <a:tc>
                  <a:txBody>
                    <a:bodyPr/>
                    <a:lstStyle/>
                    <a:p>
                      <a:r>
                        <a:rPr lang="en-US" sz="1000" dirty="0" smtClean="0"/>
                        <a:t>The Product</a:t>
                      </a:r>
                      <a:r>
                        <a:rPr lang="en-US" sz="1000" baseline="0" dirty="0" smtClean="0"/>
                        <a:t> Label (POD) that needs to be provided by the ODM for BSaM “A” SKUs  require exclusion of B Part related information.  HP will provide the ODM with the label spec for the BSaM “A” SKU Product Labels.  In the case of BSaM, this Product Label should be placed on to the Pouch and not the Bulk Box.</a:t>
                      </a:r>
                      <a:endParaRPr lang="en-US" sz="1000" dirty="0" smtClean="0"/>
                    </a:p>
                  </a:txBody>
                  <a:tcPr/>
                </a:tc>
                <a:tc>
                  <a:txBody>
                    <a:bodyPr/>
                    <a:lstStyle/>
                    <a:p>
                      <a:r>
                        <a:rPr lang="en-US" sz="1000" dirty="0" smtClean="0"/>
                        <a:t>HP Packaging/Engineering Label</a:t>
                      </a:r>
                      <a:r>
                        <a:rPr lang="en-US" sz="1000" baseline="0" dirty="0" smtClean="0"/>
                        <a:t> Spec</a:t>
                      </a:r>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55</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20250212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Production Requirements (3 of 3)</a:t>
            </a:r>
            <a:endParaRPr lang="en-US" dirty="0"/>
          </a:p>
        </p:txBody>
      </p:sp>
      <p:sp>
        <p:nvSpPr>
          <p:cNvPr id="3" name="Title 2"/>
          <p:cNvSpPr>
            <a:spLocks noGrp="1"/>
          </p:cNvSpPr>
          <p:nvPr>
            <p:ph type="title"/>
          </p:nvPr>
        </p:nvSpPr>
        <p:spPr/>
        <p:txBody>
          <a:bodyPr/>
          <a:lstStyle/>
          <a:p>
            <a:r>
              <a:rPr lang="en-US" dirty="0" smtClean="0"/>
              <a:t>BSaM – A Part Production</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397928025"/>
              </p:ext>
            </p:extLst>
          </p:nvPr>
        </p:nvGraphicFramePr>
        <p:xfrm>
          <a:off x="328613" y="1189039"/>
          <a:ext cx="8120064" cy="2676202"/>
        </p:xfrm>
        <a:graphic>
          <a:graphicData uri="http://schemas.openxmlformats.org/drawingml/2006/table">
            <a:tbl>
              <a:tblPr firstRow="1" bandRow="1">
                <a:tableStyleId>{073A0DAA-6AF3-43AB-8588-CEC1D06C72B9}</a:tableStyleId>
              </a:tblPr>
              <a:tblGrid>
                <a:gridCol w="681037"/>
                <a:gridCol w="1695450"/>
                <a:gridCol w="3943350"/>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76845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APRD-006</a:t>
                      </a:r>
                    </a:p>
                  </a:txBody>
                  <a:tcPr/>
                </a:tc>
                <a:tc>
                  <a:txBody>
                    <a:bodyPr/>
                    <a:lstStyle/>
                    <a:p>
                      <a:r>
                        <a:rPr lang="en-US" sz="1000" dirty="0" smtClean="0"/>
                        <a:t>Bulk Box Product Label</a:t>
                      </a:r>
                      <a:r>
                        <a:rPr lang="en-US" sz="1000" baseline="0" dirty="0" smtClean="0"/>
                        <a:t> Requirements</a:t>
                      </a:r>
                      <a:endParaRPr lang="en-US" sz="1000" dirty="0"/>
                    </a:p>
                  </a:txBody>
                  <a:tcPr/>
                </a:tc>
                <a:tc>
                  <a:txBody>
                    <a:bodyPr/>
                    <a:lstStyle/>
                    <a:p>
                      <a:r>
                        <a:rPr lang="en-US" sz="1000" b="0" dirty="0" smtClean="0"/>
                        <a:t>The ODM will need to support a</a:t>
                      </a:r>
                      <a:r>
                        <a:rPr lang="en-US" sz="1000" b="0" baseline="0" dirty="0" smtClean="0"/>
                        <a:t> Bulk Box Product Label for the Bulk Box.  The specification of this label will be provided by HP.  The ODM will need to be capable of placing this label on to the bulk box at the time that the Notebooks are placed into the Bulk Box.</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HP Packaging/Engineering Label</a:t>
                      </a:r>
                      <a:r>
                        <a:rPr lang="en-US" sz="1000" baseline="0" dirty="0" smtClean="0"/>
                        <a:t> Spec</a:t>
                      </a:r>
                      <a:endParaRPr lang="en-US" sz="1000" dirty="0" smtClean="0"/>
                    </a:p>
                  </a:txBody>
                  <a:tcPr/>
                </a:tc>
              </a:tr>
              <a:tr h="76845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APRD-007</a:t>
                      </a:r>
                    </a:p>
                  </a:txBody>
                  <a:tcPr/>
                </a:tc>
                <a:tc>
                  <a:txBody>
                    <a:bodyPr/>
                    <a:lstStyle/>
                    <a:p>
                      <a:r>
                        <a:rPr lang="en-US" sz="1000" dirty="0" smtClean="0"/>
                        <a:t>BSaM Bulk Packaging</a:t>
                      </a:r>
                      <a:endParaRPr lang="en-US" sz="1000" dirty="0"/>
                    </a:p>
                  </a:txBody>
                  <a:tcPr/>
                </a:tc>
                <a:tc>
                  <a:txBody>
                    <a:bodyPr/>
                    <a:lstStyle/>
                    <a:p>
                      <a:r>
                        <a:rPr lang="en-US" sz="1000" dirty="0" smtClean="0"/>
                        <a:t>ODM will need to conduct Bulk Packaging based on Order Group ID as instructed</a:t>
                      </a:r>
                      <a:r>
                        <a:rPr lang="en-US" sz="1000" baseline="0" dirty="0" smtClean="0"/>
                        <a:t> by HP.  Bulk Box Packaging Spec will be provided by HP.</a:t>
                      </a:r>
                      <a:endParaRPr lang="en-US" sz="1000" dirty="0"/>
                    </a:p>
                  </a:txBody>
                  <a:tcPr/>
                </a:tc>
                <a:tc>
                  <a:txBody>
                    <a:bodyPr/>
                    <a:lstStyle/>
                    <a:p>
                      <a:r>
                        <a:rPr lang="en-US" sz="1000" dirty="0" smtClean="0"/>
                        <a:t>HP</a:t>
                      </a:r>
                      <a:r>
                        <a:rPr lang="en-US" sz="1000" baseline="0" dirty="0" smtClean="0"/>
                        <a:t> Bulk Box Packaging Spec</a:t>
                      </a:r>
                      <a:endParaRPr lang="en-US" sz="1000" dirty="0"/>
                    </a:p>
                  </a:txBody>
                  <a:tcPr/>
                </a:tc>
              </a:tr>
              <a:tr h="76845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APRD-008</a:t>
                      </a:r>
                    </a:p>
                  </a:txBody>
                  <a:tcPr/>
                </a:tc>
                <a:tc>
                  <a:txBody>
                    <a:bodyPr/>
                    <a:lstStyle/>
                    <a:p>
                      <a:r>
                        <a:rPr lang="en-US" sz="1000" dirty="0" smtClean="0"/>
                        <a:t>Order Group ID Label</a:t>
                      </a:r>
                      <a:endParaRPr lang="en-US" sz="1000" dirty="0"/>
                    </a:p>
                  </a:txBody>
                  <a:tcPr/>
                </a:tc>
                <a:tc>
                  <a:txBody>
                    <a:bodyPr/>
                    <a:lstStyle/>
                    <a:p>
                      <a:r>
                        <a:rPr lang="en-US" sz="1000" dirty="0" smtClean="0"/>
                        <a:t>ODM will need to generate an</a:t>
                      </a:r>
                      <a:r>
                        <a:rPr lang="en-US" sz="1000" baseline="0" dirty="0" smtClean="0"/>
                        <a:t> Order Group ID Label for each Bulk Box.  The label should show the correct Order Group ID for each box based on Production Grouping (Proposal)</a:t>
                      </a:r>
                      <a:endParaRPr lang="en-US" sz="1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HP Packaging/Engineering Label</a:t>
                      </a:r>
                      <a:r>
                        <a:rPr lang="en-US" sz="1000" baseline="0" dirty="0" smtClean="0"/>
                        <a:t> Spec</a:t>
                      </a:r>
                      <a:endParaRPr lang="en-US" sz="1000" dirty="0" smtClean="0"/>
                    </a:p>
                    <a:p>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56</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63496836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3637" y="1249139"/>
            <a:ext cx="4506706" cy="2800767"/>
          </a:xfrm>
          <a:prstGeom prst="rect">
            <a:avLst/>
          </a:prstGeom>
          <a:ln>
            <a:solidFill>
              <a:schemeClr val="tx1"/>
            </a:solidFill>
          </a:ln>
        </p:spPr>
        <p:txBody>
          <a:bodyPr wrap="square">
            <a:spAutoFit/>
          </a:bodyPr>
          <a:lstStyle/>
          <a:p>
            <a:pPr defTabSz="914400" fontAlgn="base">
              <a:spcBef>
                <a:spcPct val="0"/>
              </a:spcBef>
              <a:spcAft>
                <a:spcPct val="0"/>
              </a:spcAft>
            </a:pPr>
            <a:endParaRPr lang="en-US" sz="1200" dirty="0" smtClean="0">
              <a:solidFill>
                <a:prstClr val="black"/>
              </a:solidFill>
              <a:latin typeface="Arial" charset="0"/>
            </a:endParaRPr>
          </a:p>
          <a:p>
            <a:pPr defTabSz="914400" fontAlgn="base">
              <a:spcBef>
                <a:spcPct val="0"/>
              </a:spcBef>
              <a:spcAft>
                <a:spcPct val="0"/>
              </a:spcAft>
            </a:pPr>
            <a:r>
              <a:rPr lang="en-US" sz="1200" b="1" dirty="0" smtClean="0">
                <a:solidFill>
                  <a:prstClr val="black"/>
                </a:solidFill>
                <a:latin typeface="Arial" charset="0"/>
              </a:rPr>
              <a:t>TDC  EEPROM Utility UI Spec 3.3 Page 8</a:t>
            </a:r>
          </a:p>
          <a:p>
            <a:pPr defTabSz="914400" fontAlgn="base">
              <a:spcBef>
                <a:spcPct val="0"/>
              </a:spcBef>
              <a:spcAft>
                <a:spcPct val="0"/>
              </a:spcAft>
            </a:pPr>
            <a:endParaRPr lang="en-US" sz="1200" dirty="0" smtClean="0">
              <a:solidFill>
                <a:prstClr val="black"/>
              </a:solidFill>
              <a:latin typeface="Arial" charset="0"/>
            </a:endParaRPr>
          </a:p>
          <a:p>
            <a:pPr defTabSz="914400" fontAlgn="base">
              <a:spcBef>
                <a:spcPct val="0"/>
              </a:spcBef>
              <a:spcAft>
                <a:spcPct val="0"/>
              </a:spcAft>
            </a:pPr>
            <a:r>
              <a:rPr lang="en-US" sz="1000" dirty="0" smtClean="0">
                <a:solidFill>
                  <a:prstClr val="black"/>
                </a:solidFill>
                <a:latin typeface="Arial" charset="0"/>
              </a:rPr>
              <a:t>Basic Menu Option: 4</a:t>
            </a:r>
          </a:p>
          <a:p>
            <a:pPr defTabSz="914400" fontAlgn="base">
              <a:spcBef>
                <a:spcPct val="0"/>
              </a:spcBef>
              <a:spcAft>
                <a:spcPct val="0"/>
              </a:spcAft>
            </a:pPr>
            <a:r>
              <a:rPr lang="en-US" sz="1000" dirty="0" smtClean="0">
                <a:solidFill>
                  <a:prstClr val="black"/>
                </a:solidFill>
                <a:latin typeface="Arial" charset="0"/>
              </a:rPr>
              <a:t>SKU Number</a:t>
            </a:r>
          </a:p>
          <a:p>
            <a:pPr defTabSz="914400" fontAlgn="base">
              <a:spcBef>
                <a:spcPct val="0"/>
              </a:spcBef>
              <a:spcAft>
                <a:spcPct val="0"/>
              </a:spcAft>
            </a:pPr>
            <a:r>
              <a:rPr lang="en-US" sz="1000" dirty="0" smtClean="0">
                <a:solidFill>
                  <a:prstClr val="black"/>
                </a:solidFill>
                <a:latin typeface="Arial" charset="0"/>
              </a:rPr>
              <a:t>Option to set SKU number (Product number)</a:t>
            </a:r>
          </a:p>
          <a:p>
            <a:pPr defTabSz="914400" fontAlgn="base">
              <a:spcBef>
                <a:spcPct val="0"/>
              </a:spcBef>
              <a:spcAft>
                <a:spcPct val="0"/>
              </a:spcAft>
            </a:pPr>
            <a:r>
              <a:rPr lang="en-US" sz="1000" dirty="0" smtClean="0">
                <a:solidFill>
                  <a:prstClr val="black"/>
                </a:solidFill>
                <a:latin typeface="Arial" charset="0"/>
              </a:rPr>
              <a:t>Notebook SKU information must be programmed into new motherboard</a:t>
            </a:r>
          </a:p>
          <a:p>
            <a:pPr defTabSz="914400" fontAlgn="base">
              <a:spcBef>
                <a:spcPct val="0"/>
              </a:spcBef>
              <a:spcAft>
                <a:spcPct val="0"/>
              </a:spcAft>
            </a:pPr>
            <a:r>
              <a:rPr lang="en-US" sz="1000" dirty="0" smtClean="0">
                <a:solidFill>
                  <a:prstClr val="black"/>
                </a:solidFill>
                <a:latin typeface="Arial" charset="0"/>
              </a:rPr>
              <a:t>whenever a motherboard replacement occurs</a:t>
            </a:r>
          </a:p>
          <a:p>
            <a:pPr defTabSz="914400" fontAlgn="base">
              <a:spcBef>
                <a:spcPct val="0"/>
              </a:spcBef>
              <a:spcAft>
                <a:spcPct val="0"/>
              </a:spcAft>
            </a:pPr>
            <a:r>
              <a:rPr lang="en-US" sz="1000" dirty="0" smtClean="0">
                <a:solidFill>
                  <a:prstClr val="black"/>
                </a:solidFill>
                <a:latin typeface="Arial" charset="0"/>
              </a:rPr>
              <a:t>Notebook SKU information </a:t>
            </a:r>
            <a:r>
              <a:rPr lang="en-US" sz="1000" b="1" dirty="0" smtClean="0">
                <a:solidFill>
                  <a:prstClr val="black"/>
                </a:solidFill>
                <a:latin typeface="Arial" charset="0"/>
              </a:rPr>
              <a:t>must be programmed exactly as on original</a:t>
            </a:r>
          </a:p>
          <a:p>
            <a:pPr defTabSz="914400" fontAlgn="base">
              <a:spcBef>
                <a:spcPct val="0"/>
              </a:spcBef>
              <a:spcAft>
                <a:spcPct val="0"/>
              </a:spcAft>
            </a:pPr>
            <a:r>
              <a:rPr lang="en-US" sz="1000" dirty="0" smtClean="0">
                <a:solidFill>
                  <a:prstClr val="black"/>
                </a:solidFill>
                <a:latin typeface="Arial" charset="0"/>
              </a:rPr>
              <a:t>board otherwise the recovery media the customer created will not work.</a:t>
            </a:r>
          </a:p>
          <a:p>
            <a:pPr defTabSz="914400" fontAlgn="base">
              <a:spcBef>
                <a:spcPct val="0"/>
              </a:spcBef>
              <a:spcAft>
                <a:spcPct val="0"/>
              </a:spcAft>
            </a:pPr>
            <a:r>
              <a:rPr lang="en-US" sz="1000" dirty="0" smtClean="0">
                <a:solidFill>
                  <a:srgbClr val="FF0000"/>
                </a:solidFill>
                <a:latin typeface="Arial" charset="0"/>
              </a:rPr>
              <a:t>Notebook SKU information to use can be found on the Service Tag on</a:t>
            </a:r>
          </a:p>
          <a:p>
            <a:pPr defTabSz="914400" fontAlgn="base">
              <a:spcBef>
                <a:spcPct val="0"/>
              </a:spcBef>
              <a:spcAft>
                <a:spcPct val="0"/>
              </a:spcAft>
            </a:pPr>
            <a:r>
              <a:rPr lang="en-US" sz="1000" dirty="0" smtClean="0">
                <a:solidFill>
                  <a:srgbClr val="FF0000"/>
                </a:solidFill>
                <a:latin typeface="Arial" charset="0"/>
              </a:rPr>
              <a:t>bottom of customer unit (</a:t>
            </a:r>
            <a:r>
              <a:rPr lang="en-US" sz="1000" dirty="0" err="1" smtClean="0">
                <a:solidFill>
                  <a:srgbClr val="FF0000"/>
                </a:solidFill>
                <a:latin typeface="Arial" charset="0"/>
              </a:rPr>
              <a:t>p/n</a:t>
            </a:r>
            <a:r>
              <a:rPr lang="en-US" sz="1000" dirty="0" smtClean="0">
                <a:solidFill>
                  <a:srgbClr val="FF0000"/>
                </a:solidFill>
                <a:latin typeface="Arial" charset="0"/>
              </a:rPr>
              <a:t>)</a:t>
            </a:r>
            <a:r>
              <a:rPr lang="en-US" sz="1000" dirty="0" smtClean="0">
                <a:solidFill>
                  <a:prstClr val="black"/>
                </a:solidFill>
                <a:latin typeface="Arial" charset="0"/>
              </a:rPr>
              <a:t> or by reading EEPROM information on original</a:t>
            </a:r>
          </a:p>
          <a:p>
            <a:pPr defTabSz="914400" fontAlgn="base">
              <a:spcBef>
                <a:spcPct val="0"/>
              </a:spcBef>
              <a:spcAft>
                <a:spcPct val="0"/>
              </a:spcAft>
            </a:pPr>
            <a:r>
              <a:rPr lang="en-US" sz="1000" dirty="0" smtClean="0">
                <a:solidFill>
                  <a:prstClr val="black"/>
                </a:solidFill>
                <a:latin typeface="Arial" charset="0"/>
              </a:rPr>
              <a:t>board</a:t>
            </a:r>
          </a:p>
          <a:p>
            <a:pPr defTabSz="914400" fontAlgn="base">
              <a:spcBef>
                <a:spcPct val="0"/>
              </a:spcBef>
              <a:spcAft>
                <a:spcPct val="0"/>
              </a:spcAft>
            </a:pPr>
            <a:r>
              <a:rPr lang="en-US" sz="1000" dirty="0" smtClean="0">
                <a:solidFill>
                  <a:prstClr val="black"/>
                </a:solidFill>
                <a:latin typeface="Arial" charset="0"/>
              </a:rPr>
              <a:t>BTO - Both the SKU number and the localization code is included.</a:t>
            </a:r>
          </a:p>
          <a:p>
            <a:pPr defTabSz="914400" fontAlgn="base">
              <a:spcBef>
                <a:spcPct val="0"/>
              </a:spcBef>
              <a:spcAft>
                <a:spcPct val="0"/>
              </a:spcAft>
            </a:pPr>
            <a:r>
              <a:rPr lang="en-US" sz="1000" dirty="0" smtClean="0">
                <a:solidFill>
                  <a:prstClr val="black"/>
                </a:solidFill>
                <a:latin typeface="Arial" charset="0"/>
              </a:rPr>
              <a:t>Example: GT461EA#ACB</a:t>
            </a:r>
          </a:p>
          <a:p>
            <a:pPr defTabSz="914400" fontAlgn="base">
              <a:spcBef>
                <a:spcPct val="0"/>
              </a:spcBef>
              <a:spcAft>
                <a:spcPct val="0"/>
              </a:spcAft>
            </a:pPr>
            <a:r>
              <a:rPr lang="en-US" sz="1000" dirty="0" smtClean="0">
                <a:solidFill>
                  <a:prstClr val="black"/>
                </a:solidFill>
                <a:latin typeface="Arial" charset="0"/>
              </a:rPr>
              <a:t>CTO - Only the SKU number is included.</a:t>
            </a:r>
          </a:p>
          <a:p>
            <a:pPr defTabSz="914400" fontAlgn="base">
              <a:spcBef>
                <a:spcPct val="0"/>
              </a:spcBef>
              <a:spcAft>
                <a:spcPct val="0"/>
              </a:spcAft>
            </a:pPr>
            <a:r>
              <a:rPr lang="en-US" sz="1000" dirty="0" smtClean="0">
                <a:solidFill>
                  <a:prstClr val="black"/>
                </a:solidFill>
                <a:latin typeface="Arial" charset="0"/>
              </a:rPr>
              <a:t>Example: RL675AV</a:t>
            </a:r>
            <a:endParaRPr lang="en-US" sz="1000" dirty="0">
              <a:solidFill>
                <a:prstClr val="black"/>
              </a:solidFill>
              <a:latin typeface="Arial" charset="0"/>
            </a:endParaRPr>
          </a:p>
        </p:txBody>
      </p:sp>
      <p:sp>
        <p:nvSpPr>
          <p:cNvPr id="5" name="Title 1"/>
          <p:cNvSpPr>
            <a:spLocks noGrp="1"/>
          </p:cNvSpPr>
          <p:nvPr>
            <p:ph type="title"/>
          </p:nvPr>
        </p:nvSpPr>
        <p:spPr>
          <a:xfrm>
            <a:off x="0" y="171459"/>
            <a:ext cx="8375650" cy="370283"/>
          </a:xfrm>
        </p:spPr>
        <p:txBody>
          <a:bodyPr/>
          <a:lstStyle/>
          <a:p>
            <a:r>
              <a:rPr lang="en-US" dirty="0" smtClean="0"/>
              <a:t>BIOS SKU PN Change Requirement  </a:t>
            </a:r>
            <a:endParaRPr lang="en-US" dirty="0"/>
          </a:p>
        </p:txBody>
      </p:sp>
      <p:sp>
        <p:nvSpPr>
          <p:cNvPr id="6" name="TextBox 5"/>
          <p:cNvSpPr txBox="1"/>
          <p:nvPr/>
        </p:nvSpPr>
        <p:spPr>
          <a:xfrm>
            <a:off x="0" y="841841"/>
            <a:ext cx="9144000" cy="430887"/>
          </a:xfrm>
          <a:prstGeom prst="rect">
            <a:avLst/>
          </a:prstGeom>
          <a:noFill/>
        </p:spPr>
        <p:txBody>
          <a:bodyPr wrap="square" rtlCol="0">
            <a:spAutoFit/>
          </a:bodyPr>
          <a:lstStyle/>
          <a:p>
            <a:pPr defTabSz="914400" fontAlgn="base">
              <a:spcBef>
                <a:spcPct val="0"/>
              </a:spcBef>
              <a:spcAft>
                <a:spcPct val="0"/>
              </a:spcAft>
            </a:pPr>
            <a:r>
              <a:rPr lang="en-US" sz="1100" b="1" dirty="0" smtClean="0">
                <a:solidFill>
                  <a:prstClr val="black"/>
                </a:solidFill>
              </a:rPr>
              <a:t>Description:</a:t>
            </a:r>
            <a:r>
              <a:rPr lang="en-US" sz="1100" dirty="0" smtClean="0">
                <a:solidFill>
                  <a:prstClr val="black"/>
                </a:solidFill>
              </a:rPr>
              <a:t> For BSaM Notebooks, the SKU Part Number in the BIOS will need to show the “C” Part number.  The BIOS SKU Part Number will need to be the same as the Product # showing on the Service Tag.  Both SKU number and Localization Code are required.</a:t>
            </a:r>
          </a:p>
        </p:txBody>
      </p:sp>
      <p:sp>
        <p:nvSpPr>
          <p:cNvPr id="7" name="Rounded Rectangle 6"/>
          <p:cNvSpPr/>
          <p:nvPr/>
        </p:nvSpPr>
        <p:spPr>
          <a:xfrm>
            <a:off x="424543" y="4137808"/>
            <a:ext cx="4550228" cy="849086"/>
          </a:xfrm>
          <a:prstGeom prst="roundRect">
            <a:avLst/>
          </a:prstGeom>
          <a:solidFill>
            <a:schemeClr val="bg1">
              <a:alpha val="61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400" b="1" dirty="0" smtClean="0">
                <a:solidFill>
                  <a:srgbClr val="FF0000"/>
                </a:solidFill>
              </a:rPr>
              <a:t>For BSaM Notebooks, the  registered SKU Number should be the BTO “C” FG Part Number and should be identical to the Product # showing on the Service Tag (Both SKU number and Localization Code  are required)</a:t>
            </a:r>
          </a:p>
        </p:txBody>
      </p:sp>
      <p:pic>
        <p:nvPicPr>
          <p:cNvPr id="1026" name="Picture 2" descr="image004"/>
          <p:cNvPicPr>
            <a:picLocks noChangeAspect="1" noChangeArrowheads="1"/>
          </p:cNvPicPr>
          <p:nvPr/>
        </p:nvPicPr>
        <p:blipFill>
          <a:blip r:embed="rId2" cstate="print"/>
          <a:srcRect/>
          <a:stretch>
            <a:fillRect/>
          </a:stretch>
        </p:blipFill>
        <p:spPr bwMode="auto">
          <a:xfrm>
            <a:off x="5148944" y="2114553"/>
            <a:ext cx="3392986" cy="1632857"/>
          </a:xfrm>
          <a:prstGeom prst="rect">
            <a:avLst/>
          </a:prstGeom>
          <a:noFill/>
          <a:ln w="9525">
            <a:noFill/>
            <a:miter lim="800000"/>
            <a:headEnd/>
            <a:tailEnd/>
          </a:ln>
        </p:spPr>
      </p:pic>
      <p:sp>
        <p:nvSpPr>
          <p:cNvPr id="8" name="Rounded Rectangle 7"/>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57</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299603866"/>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71459"/>
            <a:ext cx="8375650" cy="370283"/>
          </a:xfrm>
        </p:spPr>
        <p:txBody>
          <a:bodyPr/>
          <a:lstStyle/>
          <a:p>
            <a:r>
              <a:rPr lang="en-US" dirty="0" smtClean="0"/>
              <a:t>Product Label</a:t>
            </a:r>
            <a:endParaRPr lang="en-US" dirty="0"/>
          </a:p>
        </p:txBody>
      </p:sp>
      <p:sp>
        <p:nvSpPr>
          <p:cNvPr id="4" name="TextBox 3"/>
          <p:cNvSpPr txBox="1"/>
          <p:nvPr/>
        </p:nvSpPr>
        <p:spPr>
          <a:xfrm>
            <a:off x="0" y="759285"/>
            <a:ext cx="9144000" cy="261610"/>
          </a:xfrm>
          <a:prstGeom prst="rect">
            <a:avLst/>
          </a:prstGeom>
          <a:noFill/>
        </p:spPr>
        <p:txBody>
          <a:bodyPr wrap="square" rtlCol="0">
            <a:spAutoFit/>
          </a:bodyPr>
          <a:lstStyle/>
          <a:p>
            <a:pPr defTabSz="914400" fontAlgn="base">
              <a:spcBef>
                <a:spcPct val="0"/>
              </a:spcBef>
              <a:spcAft>
                <a:spcPct val="0"/>
              </a:spcAft>
            </a:pPr>
            <a:r>
              <a:rPr lang="en-US" sz="1100" b="1" dirty="0" smtClean="0">
                <a:solidFill>
                  <a:prstClr val="black"/>
                </a:solidFill>
              </a:rPr>
              <a:t>Description: </a:t>
            </a:r>
            <a:r>
              <a:rPr lang="en-US" sz="1100" dirty="0" smtClean="0">
                <a:solidFill>
                  <a:prstClr val="black"/>
                </a:solidFill>
              </a:rPr>
              <a:t>Product label on carton should show </a:t>
            </a:r>
            <a:r>
              <a:rPr lang="en-US" sz="1100" dirty="0" err="1" smtClean="0">
                <a:solidFill>
                  <a:prstClr val="black"/>
                </a:solidFill>
              </a:rPr>
              <a:t>p/n</a:t>
            </a:r>
            <a:r>
              <a:rPr lang="en-US" sz="1100" dirty="0" smtClean="0">
                <a:solidFill>
                  <a:prstClr val="black"/>
                </a:solidFill>
              </a:rPr>
              <a:t> "C" even for postponement orders.</a:t>
            </a:r>
          </a:p>
        </p:txBody>
      </p:sp>
      <p:sp>
        <p:nvSpPr>
          <p:cNvPr id="5" name="TextBox 4"/>
          <p:cNvSpPr txBox="1"/>
          <p:nvPr/>
        </p:nvSpPr>
        <p:spPr>
          <a:xfrm>
            <a:off x="-1975" y="1474949"/>
            <a:ext cx="9144000" cy="261610"/>
          </a:xfrm>
          <a:prstGeom prst="rect">
            <a:avLst/>
          </a:prstGeom>
          <a:noFill/>
        </p:spPr>
        <p:txBody>
          <a:bodyPr wrap="square" rtlCol="0">
            <a:spAutoFit/>
          </a:bodyPr>
          <a:lstStyle/>
          <a:p>
            <a:pPr defTabSz="914400" fontAlgn="base">
              <a:spcBef>
                <a:spcPct val="0"/>
              </a:spcBef>
              <a:spcAft>
                <a:spcPct val="0"/>
              </a:spcAft>
            </a:pPr>
            <a:r>
              <a:rPr lang="en-US" sz="1100" b="1" dirty="0" smtClean="0">
                <a:solidFill>
                  <a:prstClr val="black"/>
                </a:solidFill>
              </a:rPr>
              <a:t>Sample:</a:t>
            </a:r>
            <a:endParaRPr lang="en-US" sz="1100" dirty="0" smtClean="0">
              <a:solidFill>
                <a:prstClr val="black"/>
              </a:solidFill>
            </a:endParaRPr>
          </a:p>
        </p:txBody>
      </p:sp>
      <p:pic>
        <p:nvPicPr>
          <p:cNvPr id="94209" name="Picture 1"/>
          <p:cNvPicPr>
            <a:picLocks noChangeAspect="1" noChangeArrowheads="1"/>
          </p:cNvPicPr>
          <p:nvPr/>
        </p:nvPicPr>
        <p:blipFill>
          <a:blip r:embed="rId2" cstate="print"/>
          <a:srcRect/>
          <a:stretch>
            <a:fillRect/>
          </a:stretch>
        </p:blipFill>
        <p:spPr bwMode="auto">
          <a:xfrm>
            <a:off x="979166" y="2006709"/>
            <a:ext cx="2464609" cy="1397018"/>
          </a:xfrm>
          <a:prstGeom prst="rect">
            <a:avLst/>
          </a:prstGeom>
          <a:noFill/>
          <a:ln w="9525">
            <a:noFill/>
            <a:miter lim="800000"/>
            <a:headEnd/>
            <a:tailEnd/>
          </a:ln>
        </p:spPr>
      </p:pic>
      <p:grpSp>
        <p:nvGrpSpPr>
          <p:cNvPr id="6" name="Group 19"/>
          <p:cNvGrpSpPr/>
          <p:nvPr/>
        </p:nvGrpSpPr>
        <p:grpSpPr>
          <a:xfrm>
            <a:off x="1863303" y="2623515"/>
            <a:ext cx="1630392" cy="261610"/>
            <a:chOff x="3597129" y="3243534"/>
            <a:chExt cx="1630392" cy="348812"/>
          </a:xfrm>
        </p:grpSpPr>
        <p:sp>
          <p:nvSpPr>
            <p:cNvPr id="18" name="Rectangle 17"/>
            <p:cNvSpPr/>
            <p:nvPr/>
          </p:nvSpPr>
          <p:spPr>
            <a:xfrm>
              <a:off x="3700645" y="3303918"/>
              <a:ext cx="905774" cy="146649"/>
            </a:xfrm>
            <a:prstGeom prst="rect">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tlCol="0" anchor="ctr"/>
            <a:lstStyle/>
            <a:p>
              <a:pPr algn="ctr" defTabSz="914400" fontAlgn="base">
                <a:lnSpc>
                  <a:spcPct val="85000"/>
                </a:lnSpc>
                <a:spcBef>
                  <a:spcPct val="0"/>
                </a:spcBef>
                <a:spcAft>
                  <a:spcPct val="0"/>
                </a:spcAft>
              </a:pPr>
              <a:endParaRPr lang="en-US" sz="2000" b="1" dirty="0" smtClean="0">
                <a:solidFill>
                  <a:prstClr val="black"/>
                </a:solidFill>
              </a:endParaRPr>
            </a:p>
          </p:txBody>
        </p:sp>
        <p:sp>
          <p:nvSpPr>
            <p:cNvPr id="17" name="TextBox 16"/>
            <p:cNvSpPr txBox="1"/>
            <p:nvPr/>
          </p:nvSpPr>
          <p:spPr>
            <a:xfrm>
              <a:off x="3597129" y="3243534"/>
              <a:ext cx="1630392" cy="348812"/>
            </a:xfrm>
            <a:prstGeom prst="rect">
              <a:avLst/>
            </a:prstGeom>
            <a:noFill/>
          </p:spPr>
          <p:txBody>
            <a:bodyPr wrap="square" rtlCol="0">
              <a:spAutoFit/>
            </a:bodyPr>
            <a:lstStyle/>
            <a:p>
              <a:pPr defTabSz="914400" fontAlgn="base">
                <a:spcBef>
                  <a:spcPct val="0"/>
                </a:spcBef>
                <a:spcAft>
                  <a:spcPct val="0"/>
                </a:spcAft>
              </a:pPr>
              <a:r>
                <a:rPr lang="en-US" sz="1100" b="1" dirty="0" smtClean="0">
                  <a:solidFill>
                    <a:prstClr val="black"/>
                  </a:solidFill>
                  <a:latin typeface="Arial Narrow" pitchFamily="34" charset="0"/>
                </a:rPr>
                <a:t>CCCCCCC#ABA</a:t>
              </a:r>
            </a:p>
          </p:txBody>
        </p:sp>
      </p:grpSp>
      <p:sp>
        <p:nvSpPr>
          <p:cNvPr id="8" name="TextBox 7"/>
          <p:cNvSpPr txBox="1"/>
          <p:nvPr/>
        </p:nvSpPr>
        <p:spPr>
          <a:xfrm>
            <a:off x="736278" y="1694452"/>
            <a:ext cx="3265715" cy="400110"/>
          </a:xfrm>
          <a:prstGeom prst="rect">
            <a:avLst/>
          </a:prstGeom>
          <a:noFill/>
        </p:spPr>
        <p:txBody>
          <a:bodyPr wrap="square" rtlCol="0">
            <a:spAutoFit/>
          </a:bodyPr>
          <a:lstStyle/>
          <a:p>
            <a:pPr defTabSz="914400" fontAlgn="base">
              <a:spcBef>
                <a:spcPct val="0"/>
              </a:spcBef>
              <a:spcAft>
                <a:spcPct val="0"/>
              </a:spcAft>
            </a:pPr>
            <a:r>
              <a:rPr lang="en-US" sz="2000" dirty="0" smtClean="0">
                <a:solidFill>
                  <a:prstClr val="black"/>
                </a:solidFill>
              </a:rPr>
              <a:t>Commercial label samples</a:t>
            </a:r>
          </a:p>
        </p:txBody>
      </p:sp>
      <p:sp>
        <p:nvSpPr>
          <p:cNvPr id="10" name="TextBox 9"/>
          <p:cNvSpPr txBox="1"/>
          <p:nvPr/>
        </p:nvSpPr>
        <p:spPr>
          <a:xfrm>
            <a:off x="166254" y="914139"/>
            <a:ext cx="8597736" cy="646331"/>
          </a:xfrm>
          <a:prstGeom prst="rect">
            <a:avLst/>
          </a:prstGeom>
          <a:noFill/>
        </p:spPr>
        <p:txBody>
          <a:bodyPr wrap="square" rtlCol="0">
            <a:spAutoFit/>
          </a:bodyPr>
          <a:lstStyle/>
          <a:p>
            <a:pPr defTabSz="914400" fontAlgn="base">
              <a:spcBef>
                <a:spcPct val="0"/>
              </a:spcBef>
              <a:spcAft>
                <a:spcPct val="0"/>
              </a:spcAft>
            </a:pPr>
            <a:r>
              <a:rPr lang="en-US" sz="1200" dirty="0" smtClean="0">
                <a:solidFill>
                  <a:prstClr val="black"/>
                </a:solidFill>
              </a:rPr>
              <a:t>ODM will print only label #2 and apply to the </a:t>
            </a:r>
            <a:r>
              <a:rPr lang="en-US" sz="1200" dirty="0" err="1" smtClean="0">
                <a:solidFill>
                  <a:prstClr val="black"/>
                </a:solidFill>
              </a:rPr>
              <a:t>BSaM</a:t>
            </a:r>
            <a:r>
              <a:rPr lang="en-US" sz="1200" dirty="0" smtClean="0">
                <a:solidFill>
                  <a:prstClr val="black"/>
                </a:solidFill>
              </a:rPr>
              <a:t> NB Pouch.  PCC will print label #1.</a:t>
            </a:r>
          </a:p>
          <a:p>
            <a:pPr marL="228600" indent="-228600" defTabSz="914400" fontAlgn="base">
              <a:spcBef>
                <a:spcPct val="0"/>
              </a:spcBef>
              <a:spcAft>
                <a:spcPct val="0"/>
              </a:spcAft>
              <a:buFont typeface="+mj-lt"/>
              <a:buAutoNum type="arabicPeriod"/>
            </a:pPr>
            <a:r>
              <a:rPr lang="en-US" sz="1200" dirty="0" smtClean="0">
                <a:solidFill>
                  <a:prstClr val="black"/>
                </a:solidFill>
              </a:rPr>
              <a:t>Same as today, include battery and use “C” part number.  Printed and applied by PCC.</a:t>
            </a:r>
          </a:p>
          <a:p>
            <a:pPr marL="228600" indent="-228600" defTabSz="914400" fontAlgn="base">
              <a:spcBef>
                <a:spcPct val="0"/>
              </a:spcBef>
              <a:spcAft>
                <a:spcPct val="0"/>
              </a:spcAft>
              <a:buFont typeface="+mj-lt"/>
              <a:buAutoNum type="arabicPeriod"/>
            </a:pPr>
            <a:r>
              <a:rPr lang="en-US" sz="1200" dirty="0" smtClean="0">
                <a:solidFill>
                  <a:prstClr val="black"/>
                </a:solidFill>
              </a:rPr>
              <a:t>For the shipping carton, label #2 will be printed by ODM using </a:t>
            </a:r>
            <a:r>
              <a:rPr lang="en-US" sz="1200" dirty="0" err="1" smtClean="0">
                <a:solidFill>
                  <a:prstClr val="black"/>
                </a:solidFill>
              </a:rPr>
              <a:t>p/n</a:t>
            </a:r>
            <a:r>
              <a:rPr lang="en-US" sz="1200" dirty="0" smtClean="0">
                <a:solidFill>
                  <a:prstClr val="black"/>
                </a:solidFill>
              </a:rPr>
              <a:t> “A” instead of “C”.  Battery references removed.</a:t>
            </a:r>
          </a:p>
        </p:txBody>
      </p:sp>
      <p:pic>
        <p:nvPicPr>
          <p:cNvPr id="11" name="Picture 1"/>
          <p:cNvPicPr>
            <a:picLocks noChangeAspect="1" noChangeArrowheads="1"/>
          </p:cNvPicPr>
          <p:nvPr/>
        </p:nvPicPr>
        <p:blipFill>
          <a:blip r:embed="rId2" cstate="print"/>
          <a:srcRect/>
          <a:stretch>
            <a:fillRect/>
          </a:stretch>
        </p:blipFill>
        <p:spPr bwMode="auto">
          <a:xfrm>
            <a:off x="989067" y="3537103"/>
            <a:ext cx="2464609" cy="1397018"/>
          </a:xfrm>
          <a:prstGeom prst="rect">
            <a:avLst/>
          </a:prstGeom>
          <a:noFill/>
          <a:ln w="9525">
            <a:noFill/>
            <a:miter lim="800000"/>
            <a:headEnd/>
            <a:tailEnd/>
          </a:ln>
        </p:spPr>
      </p:pic>
      <p:sp>
        <p:nvSpPr>
          <p:cNvPr id="13" name="Rectangle 12"/>
          <p:cNvSpPr/>
          <p:nvPr/>
        </p:nvSpPr>
        <p:spPr>
          <a:xfrm>
            <a:off x="190321" y="2280430"/>
            <a:ext cx="569387" cy="923330"/>
          </a:xfrm>
          <a:prstGeom prst="rect">
            <a:avLst/>
          </a:prstGeom>
          <a:noFill/>
        </p:spPr>
        <p:txBody>
          <a:bodyPr wrap="none" lIns="91440" tIns="45720" rIns="91440" bIns="45720">
            <a:spAutoFit/>
          </a:bodyPr>
          <a:lstStyle/>
          <a:p>
            <a:pPr algn="ctr" defTabSz="914400" fontAlgn="base">
              <a:spcBef>
                <a:spcPct val="0"/>
              </a:spcBef>
              <a:spcAft>
                <a:spcPct val="0"/>
              </a:spcAft>
            </a:pPr>
            <a:r>
              <a:rPr lang="en-US" sz="5400" b="1" dirty="0" smtClean="0">
                <a:ln w="10541" cmpd="sng">
                  <a:solidFill>
                    <a:srgbClr val="4F81BD">
                      <a:shade val="88000"/>
                      <a:satMod val="110000"/>
                    </a:srgbClr>
                  </a:solidFill>
                  <a:prstDash val="solid"/>
                </a:ln>
                <a:gradFill>
                  <a:gsLst>
                    <a:gs pos="0">
                      <a:srgbClr val="4F81BD">
                        <a:tint val="40000"/>
                        <a:satMod val="250000"/>
                      </a:srgbClr>
                    </a:gs>
                    <a:gs pos="9000">
                      <a:srgbClr val="4F81BD">
                        <a:tint val="52000"/>
                        <a:satMod val="300000"/>
                      </a:srgbClr>
                    </a:gs>
                    <a:gs pos="50000">
                      <a:srgbClr val="4F81BD">
                        <a:shade val="20000"/>
                        <a:satMod val="300000"/>
                      </a:srgbClr>
                    </a:gs>
                    <a:gs pos="79000">
                      <a:srgbClr val="4F81BD">
                        <a:tint val="52000"/>
                        <a:satMod val="300000"/>
                      </a:srgbClr>
                    </a:gs>
                    <a:gs pos="100000">
                      <a:srgbClr val="4F81BD">
                        <a:tint val="40000"/>
                        <a:satMod val="250000"/>
                      </a:srgbClr>
                    </a:gs>
                  </a:gsLst>
                  <a:lin ang="5400000"/>
                </a:gradFill>
                <a:latin typeface="Arial" charset="0"/>
              </a:rPr>
              <a:t>1</a:t>
            </a:r>
            <a:endParaRPr lang="en-US" sz="5400" b="1" dirty="0">
              <a:ln w="10541" cmpd="sng">
                <a:solidFill>
                  <a:srgbClr val="4F81BD">
                    <a:shade val="88000"/>
                    <a:satMod val="110000"/>
                  </a:srgbClr>
                </a:solidFill>
                <a:prstDash val="solid"/>
              </a:ln>
              <a:gradFill>
                <a:gsLst>
                  <a:gs pos="0">
                    <a:srgbClr val="4F81BD">
                      <a:tint val="40000"/>
                      <a:satMod val="250000"/>
                    </a:srgbClr>
                  </a:gs>
                  <a:gs pos="9000">
                    <a:srgbClr val="4F81BD">
                      <a:tint val="52000"/>
                      <a:satMod val="300000"/>
                    </a:srgbClr>
                  </a:gs>
                  <a:gs pos="50000">
                    <a:srgbClr val="4F81BD">
                      <a:shade val="20000"/>
                      <a:satMod val="300000"/>
                    </a:srgbClr>
                  </a:gs>
                  <a:gs pos="79000">
                    <a:srgbClr val="4F81BD">
                      <a:tint val="52000"/>
                      <a:satMod val="300000"/>
                    </a:srgbClr>
                  </a:gs>
                  <a:gs pos="100000">
                    <a:srgbClr val="4F81BD">
                      <a:tint val="40000"/>
                      <a:satMod val="250000"/>
                    </a:srgbClr>
                  </a:gs>
                </a:gsLst>
                <a:lin ang="5400000"/>
              </a:gradFill>
              <a:latin typeface="Arial" charset="0"/>
            </a:endParaRPr>
          </a:p>
        </p:txBody>
      </p:sp>
      <p:sp>
        <p:nvSpPr>
          <p:cNvPr id="15" name="Rectangle 14"/>
          <p:cNvSpPr/>
          <p:nvPr/>
        </p:nvSpPr>
        <p:spPr>
          <a:xfrm>
            <a:off x="188348" y="3793012"/>
            <a:ext cx="569387" cy="923330"/>
          </a:xfrm>
          <a:prstGeom prst="rect">
            <a:avLst/>
          </a:prstGeom>
          <a:noFill/>
        </p:spPr>
        <p:txBody>
          <a:bodyPr wrap="none" lIns="91440" tIns="45720" rIns="91440" bIns="45720">
            <a:spAutoFit/>
          </a:bodyPr>
          <a:lstStyle/>
          <a:p>
            <a:pPr algn="ctr" defTabSz="914400" fontAlgn="base">
              <a:spcBef>
                <a:spcPct val="0"/>
              </a:spcBef>
              <a:spcAft>
                <a:spcPct val="0"/>
              </a:spcAft>
            </a:pPr>
            <a:r>
              <a:rPr lang="en-US" sz="5400" b="1" dirty="0" smtClean="0">
                <a:ln w="10541" cmpd="sng">
                  <a:solidFill>
                    <a:srgbClr val="4F81BD">
                      <a:shade val="88000"/>
                      <a:satMod val="110000"/>
                    </a:srgbClr>
                  </a:solidFill>
                  <a:prstDash val="solid"/>
                </a:ln>
                <a:gradFill>
                  <a:gsLst>
                    <a:gs pos="0">
                      <a:srgbClr val="4F81BD">
                        <a:tint val="40000"/>
                        <a:satMod val="250000"/>
                      </a:srgbClr>
                    </a:gs>
                    <a:gs pos="9000">
                      <a:srgbClr val="4F81BD">
                        <a:tint val="52000"/>
                        <a:satMod val="300000"/>
                      </a:srgbClr>
                    </a:gs>
                    <a:gs pos="50000">
                      <a:srgbClr val="4F81BD">
                        <a:shade val="20000"/>
                        <a:satMod val="300000"/>
                      </a:srgbClr>
                    </a:gs>
                    <a:gs pos="79000">
                      <a:srgbClr val="4F81BD">
                        <a:tint val="52000"/>
                        <a:satMod val="300000"/>
                      </a:srgbClr>
                    </a:gs>
                    <a:gs pos="100000">
                      <a:srgbClr val="4F81BD">
                        <a:tint val="40000"/>
                        <a:satMod val="250000"/>
                      </a:srgbClr>
                    </a:gs>
                  </a:gsLst>
                  <a:lin ang="5400000"/>
                </a:gradFill>
                <a:latin typeface="Arial" charset="0"/>
              </a:rPr>
              <a:t>2</a:t>
            </a:r>
            <a:endParaRPr lang="en-US" sz="5400" b="1" dirty="0">
              <a:ln w="10541" cmpd="sng">
                <a:solidFill>
                  <a:srgbClr val="4F81BD">
                    <a:shade val="88000"/>
                    <a:satMod val="110000"/>
                  </a:srgbClr>
                </a:solidFill>
                <a:prstDash val="solid"/>
              </a:ln>
              <a:gradFill>
                <a:gsLst>
                  <a:gs pos="0">
                    <a:srgbClr val="4F81BD">
                      <a:tint val="40000"/>
                      <a:satMod val="250000"/>
                    </a:srgbClr>
                  </a:gs>
                  <a:gs pos="9000">
                    <a:srgbClr val="4F81BD">
                      <a:tint val="52000"/>
                      <a:satMod val="300000"/>
                    </a:srgbClr>
                  </a:gs>
                  <a:gs pos="50000">
                    <a:srgbClr val="4F81BD">
                      <a:shade val="20000"/>
                      <a:satMod val="300000"/>
                    </a:srgbClr>
                  </a:gs>
                  <a:gs pos="79000">
                    <a:srgbClr val="4F81BD">
                      <a:tint val="52000"/>
                      <a:satMod val="300000"/>
                    </a:srgbClr>
                  </a:gs>
                  <a:gs pos="100000">
                    <a:srgbClr val="4F81BD">
                      <a:tint val="40000"/>
                      <a:satMod val="250000"/>
                    </a:srgbClr>
                  </a:gs>
                </a:gsLst>
                <a:lin ang="5400000"/>
              </a:gradFill>
              <a:latin typeface="Arial" charset="0"/>
            </a:endParaRPr>
          </a:p>
        </p:txBody>
      </p:sp>
      <p:grpSp>
        <p:nvGrpSpPr>
          <p:cNvPr id="19" name="Group 23"/>
          <p:cNvGrpSpPr/>
          <p:nvPr/>
        </p:nvGrpSpPr>
        <p:grpSpPr>
          <a:xfrm>
            <a:off x="1891887" y="4146082"/>
            <a:ext cx="1630392" cy="261610"/>
            <a:chOff x="3614381" y="3243534"/>
            <a:chExt cx="1630392" cy="348812"/>
          </a:xfrm>
        </p:grpSpPr>
        <p:sp>
          <p:nvSpPr>
            <p:cNvPr id="25" name="Rectangle 24"/>
            <p:cNvSpPr/>
            <p:nvPr/>
          </p:nvSpPr>
          <p:spPr>
            <a:xfrm>
              <a:off x="3700645" y="3303918"/>
              <a:ext cx="905774" cy="146649"/>
            </a:xfrm>
            <a:prstGeom prst="rect">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tlCol="0" anchor="ctr"/>
            <a:lstStyle/>
            <a:p>
              <a:pPr algn="ctr" defTabSz="914400" fontAlgn="base">
                <a:lnSpc>
                  <a:spcPct val="85000"/>
                </a:lnSpc>
                <a:spcBef>
                  <a:spcPct val="0"/>
                </a:spcBef>
                <a:spcAft>
                  <a:spcPct val="0"/>
                </a:spcAft>
              </a:pPr>
              <a:endParaRPr lang="en-US" sz="2000" b="1" dirty="0" smtClean="0">
                <a:solidFill>
                  <a:prstClr val="black"/>
                </a:solidFill>
              </a:endParaRPr>
            </a:p>
          </p:txBody>
        </p:sp>
        <p:sp>
          <p:nvSpPr>
            <p:cNvPr id="26" name="TextBox 25"/>
            <p:cNvSpPr txBox="1"/>
            <p:nvPr/>
          </p:nvSpPr>
          <p:spPr>
            <a:xfrm>
              <a:off x="3614381" y="3243534"/>
              <a:ext cx="1630392" cy="348812"/>
            </a:xfrm>
            <a:prstGeom prst="rect">
              <a:avLst/>
            </a:prstGeom>
            <a:noFill/>
          </p:spPr>
          <p:txBody>
            <a:bodyPr wrap="square" rtlCol="0">
              <a:spAutoFit/>
            </a:bodyPr>
            <a:lstStyle/>
            <a:p>
              <a:pPr defTabSz="914400" fontAlgn="base">
                <a:spcBef>
                  <a:spcPct val="0"/>
                </a:spcBef>
                <a:spcAft>
                  <a:spcPct val="0"/>
                </a:spcAft>
              </a:pPr>
              <a:r>
                <a:rPr lang="en-US" sz="1100" b="1" dirty="0" smtClean="0">
                  <a:solidFill>
                    <a:prstClr val="black"/>
                  </a:solidFill>
                  <a:latin typeface="Arial Narrow" pitchFamily="34" charset="0"/>
                </a:rPr>
                <a:t>AAAAAAA#ABA</a:t>
              </a:r>
            </a:p>
          </p:txBody>
        </p:sp>
      </p:grpSp>
      <p:sp>
        <p:nvSpPr>
          <p:cNvPr id="32" name="Rounded Rectangle 31"/>
          <p:cNvSpPr/>
          <p:nvPr/>
        </p:nvSpPr>
        <p:spPr>
          <a:xfrm>
            <a:off x="1915064" y="2632146"/>
            <a:ext cx="992038" cy="161746"/>
          </a:xfrm>
          <a:prstGeom prst="roundRect">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tlCol="0" anchor="ctr"/>
          <a:lstStyle/>
          <a:p>
            <a:pPr algn="ctr" defTabSz="914400" fontAlgn="base">
              <a:lnSpc>
                <a:spcPct val="85000"/>
              </a:lnSpc>
              <a:spcBef>
                <a:spcPct val="0"/>
              </a:spcBef>
              <a:spcAft>
                <a:spcPct val="0"/>
              </a:spcAft>
            </a:pPr>
            <a:endParaRPr lang="en-US" sz="2000" dirty="0" smtClean="0">
              <a:solidFill>
                <a:prstClr val="white"/>
              </a:solidFill>
            </a:endParaRPr>
          </a:p>
        </p:txBody>
      </p:sp>
      <p:sp>
        <p:nvSpPr>
          <p:cNvPr id="34" name="Rounded Rectangle 33"/>
          <p:cNvSpPr/>
          <p:nvPr/>
        </p:nvSpPr>
        <p:spPr>
          <a:xfrm>
            <a:off x="1920822" y="4156797"/>
            <a:ext cx="992038" cy="161746"/>
          </a:xfrm>
          <a:prstGeom prst="roundRect">
            <a:avLst/>
          </a:prstGeom>
          <a:no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tlCol="0" anchor="ctr"/>
          <a:lstStyle/>
          <a:p>
            <a:pPr algn="ctr" defTabSz="914400" fontAlgn="base">
              <a:lnSpc>
                <a:spcPct val="85000"/>
              </a:lnSpc>
              <a:spcBef>
                <a:spcPct val="0"/>
              </a:spcBef>
              <a:spcAft>
                <a:spcPct val="0"/>
              </a:spcAft>
            </a:pPr>
            <a:endParaRPr lang="en-US" sz="2000" dirty="0" smtClean="0">
              <a:solidFill>
                <a:prstClr val="white"/>
              </a:solidFill>
            </a:endParaRPr>
          </a:p>
        </p:txBody>
      </p:sp>
      <p:sp>
        <p:nvSpPr>
          <p:cNvPr id="38" name="Rounded Rectangle 37"/>
          <p:cNvSpPr/>
          <p:nvPr/>
        </p:nvSpPr>
        <p:spPr>
          <a:xfrm>
            <a:off x="2383662" y="4460265"/>
            <a:ext cx="804672" cy="193378"/>
          </a:xfrm>
          <a:prstGeom prst="roundRect">
            <a:avLst/>
          </a:prstGeom>
          <a:solidFill>
            <a:schemeClr val="bg1"/>
          </a:solidFill>
          <a:ln>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tlCol="0" anchor="ctr"/>
          <a:lstStyle/>
          <a:p>
            <a:pPr algn="ctr" defTabSz="914400" fontAlgn="base">
              <a:lnSpc>
                <a:spcPct val="85000"/>
              </a:lnSpc>
              <a:spcBef>
                <a:spcPct val="0"/>
              </a:spcBef>
              <a:spcAft>
                <a:spcPct val="0"/>
              </a:spcAft>
            </a:pPr>
            <a:endParaRPr lang="en-US" sz="2000" dirty="0" smtClean="0">
              <a:solidFill>
                <a:prstClr val="white"/>
              </a:solidFill>
            </a:endParaRPr>
          </a:p>
        </p:txBody>
      </p:sp>
      <p:sp>
        <p:nvSpPr>
          <p:cNvPr id="39" name="TextBox 38"/>
          <p:cNvSpPr txBox="1"/>
          <p:nvPr/>
        </p:nvSpPr>
        <p:spPr>
          <a:xfrm>
            <a:off x="3716126" y="4412538"/>
            <a:ext cx="1302105" cy="646331"/>
          </a:xfrm>
          <a:prstGeom prst="rect">
            <a:avLst/>
          </a:prstGeom>
          <a:noFill/>
        </p:spPr>
        <p:txBody>
          <a:bodyPr wrap="square" rtlCol="0">
            <a:spAutoFit/>
          </a:bodyPr>
          <a:lstStyle/>
          <a:p>
            <a:pPr algn="ctr" defTabSz="914400" fontAlgn="base">
              <a:spcBef>
                <a:spcPct val="0"/>
              </a:spcBef>
              <a:spcAft>
                <a:spcPct val="0"/>
              </a:spcAft>
            </a:pPr>
            <a:r>
              <a:rPr lang="en-US" sz="1200" dirty="0" smtClean="0">
                <a:solidFill>
                  <a:prstClr val="black"/>
                </a:solidFill>
              </a:rPr>
              <a:t>Remove Battery Reference for second label</a:t>
            </a:r>
          </a:p>
        </p:txBody>
      </p:sp>
      <p:cxnSp>
        <p:nvCxnSpPr>
          <p:cNvPr id="43" name="Straight Arrow Connector 42"/>
          <p:cNvCxnSpPr>
            <a:stCxn id="39" idx="1"/>
            <a:endCxn id="38" idx="3"/>
          </p:cNvCxnSpPr>
          <p:nvPr/>
        </p:nvCxnSpPr>
        <p:spPr>
          <a:xfrm flipH="1" flipV="1">
            <a:off x="3188334" y="4556954"/>
            <a:ext cx="527792" cy="178750"/>
          </a:xfrm>
          <a:prstGeom prst="straightConnector1">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714906" y="3478844"/>
            <a:ext cx="1302105" cy="1015663"/>
          </a:xfrm>
          <a:prstGeom prst="rect">
            <a:avLst/>
          </a:prstGeom>
          <a:noFill/>
        </p:spPr>
        <p:txBody>
          <a:bodyPr wrap="square" rtlCol="0">
            <a:spAutoFit/>
          </a:bodyPr>
          <a:lstStyle/>
          <a:p>
            <a:pPr algn="ctr" defTabSz="914400" fontAlgn="base">
              <a:spcBef>
                <a:spcPct val="0"/>
              </a:spcBef>
              <a:spcAft>
                <a:spcPct val="0"/>
              </a:spcAft>
            </a:pPr>
            <a:r>
              <a:rPr lang="en-US" sz="1200" dirty="0" smtClean="0">
                <a:solidFill>
                  <a:prstClr val="black"/>
                </a:solidFill>
              </a:rPr>
              <a:t>“A” </a:t>
            </a:r>
            <a:r>
              <a:rPr lang="en-US" sz="1200" dirty="0" err="1" smtClean="0">
                <a:solidFill>
                  <a:prstClr val="black"/>
                </a:solidFill>
              </a:rPr>
              <a:t>p/n</a:t>
            </a:r>
            <a:r>
              <a:rPr lang="en-US" sz="1200" dirty="0" smtClean="0">
                <a:solidFill>
                  <a:prstClr val="black"/>
                </a:solidFill>
              </a:rPr>
              <a:t> for second label. </a:t>
            </a:r>
            <a:r>
              <a:rPr lang="en-US" sz="1200" dirty="0" smtClean="0">
                <a:solidFill>
                  <a:prstClr val="black"/>
                </a:solidFill>
                <a:latin typeface="Arial" charset="0"/>
              </a:rPr>
              <a:t>This label goes on the </a:t>
            </a:r>
            <a:r>
              <a:rPr lang="en-US" sz="1200" dirty="0" smtClean="0">
                <a:solidFill>
                  <a:srgbClr val="0000FF"/>
                </a:solidFill>
                <a:latin typeface="Arial" charset="0"/>
              </a:rPr>
              <a:t>Pouch</a:t>
            </a:r>
            <a:r>
              <a:rPr lang="en-US" sz="1200" dirty="0" smtClean="0">
                <a:solidFill>
                  <a:prstClr val="black"/>
                </a:solidFill>
                <a:latin typeface="Arial" charset="0"/>
              </a:rPr>
              <a:t> from the ODM.</a:t>
            </a:r>
            <a:r>
              <a:rPr lang="en-US" sz="1200" dirty="0" smtClean="0">
                <a:solidFill>
                  <a:prstClr val="black"/>
                </a:solidFill>
              </a:rPr>
              <a:t>  </a:t>
            </a:r>
          </a:p>
        </p:txBody>
      </p:sp>
      <p:cxnSp>
        <p:nvCxnSpPr>
          <p:cNvPr id="46" name="Straight Arrow Connector 45"/>
          <p:cNvCxnSpPr>
            <a:stCxn id="44" idx="1"/>
            <a:endCxn id="34" idx="3"/>
          </p:cNvCxnSpPr>
          <p:nvPr/>
        </p:nvCxnSpPr>
        <p:spPr>
          <a:xfrm flipH="1">
            <a:off x="2912860" y="3986676"/>
            <a:ext cx="802046" cy="250994"/>
          </a:xfrm>
          <a:prstGeom prst="straightConnector1">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477163" y="2175824"/>
            <a:ext cx="1302105" cy="1200329"/>
          </a:xfrm>
          <a:prstGeom prst="rect">
            <a:avLst/>
          </a:prstGeom>
          <a:noFill/>
        </p:spPr>
        <p:txBody>
          <a:bodyPr wrap="square" rtlCol="0">
            <a:spAutoFit/>
          </a:bodyPr>
          <a:lstStyle/>
          <a:p>
            <a:pPr algn="ctr" defTabSz="914400" fontAlgn="base">
              <a:spcBef>
                <a:spcPct val="0"/>
              </a:spcBef>
              <a:spcAft>
                <a:spcPct val="0"/>
              </a:spcAft>
            </a:pPr>
            <a:r>
              <a:rPr lang="en-US" sz="1200" dirty="0" smtClean="0">
                <a:solidFill>
                  <a:prstClr val="black"/>
                </a:solidFill>
              </a:rPr>
              <a:t>First label as today with “C” </a:t>
            </a:r>
            <a:r>
              <a:rPr lang="en-US" sz="1200" dirty="0" err="1" smtClean="0">
                <a:solidFill>
                  <a:prstClr val="black"/>
                </a:solidFill>
              </a:rPr>
              <a:t>p/n</a:t>
            </a:r>
            <a:r>
              <a:rPr lang="en-US" sz="1200" dirty="0" smtClean="0">
                <a:solidFill>
                  <a:prstClr val="black"/>
                </a:solidFill>
              </a:rPr>
              <a:t> and battery references. </a:t>
            </a:r>
            <a:r>
              <a:rPr lang="en-US" sz="1200" dirty="0" smtClean="0">
                <a:solidFill>
                  <a:prstClr val="black"/>
                </a:solidFill>
                <a:latin typeface="Arial" charset="0"/>
              </a:rPr>
              <a:t>This label is printed by the PCC.</a:t>
            </a:r>
            <a:endParaRPr lang="en-US" sz="1200" dirty="0" smtClean="0">
              <a:solidFill>
                <a:prstClr val="black"/>
              </a:solidFill>
            </a:endParaRPr>
          </a:p>
        </p:txBody>
      </p:sp>
      <p:pic>
        <p:nvPicPr>
          <p:cNvPr id="1026" name="Picture 2"/>
          <p:cNvPicPr>
            <a:picLocks noChangeAspect="1" noChangeArrowheads="1"/>
          </p:cNvPicPr>
          <p:nvPr/>
        </p:nvPicPr>
        <p:blipFill>
          <a:blip r:embed="rId3" cstate="print"/>
          <a:srcRect/>
          <a:stretch>
            <a:fillRect/>
          </a:stretch>
        </p:blipFill>
        <p:spPr bwMode="auto">
          <a:xfrm>
            <a:off x="1113478" y="3131355"/>
            <a:ext cx="1412008" cy="248502"/>
          </a:xfrm>
          <a:prstGeom prst="rect">
            <a:avLst/>
          </a:prstGeom>
          <a:noFill/>
          <a:ln w="9525">
            <a:noFill/>
            <a:miter lim="800000"/>
            <a:headEnd/>
            <a:tailEnd/>
          </a:ln>
        </p:spPr>
      </p:pic>
      <p:pic>
        <p:nvPicPr>
          <p:cNvPr id="45" name="Picture 2"/>
          <p:cNvPicPr>
            <a:picLocks noChangeAspect="1" noChangeArrowheads="1"/>
          </p:cNvPicPr>
          <p:nvPr/>
        </p:nvPicPr>
        <p:blipFill>
          <a:blip r:embed="rId3" cstate="print"/>
          <a:srcRect/>
          <a:stretch>
            <a:fillRect/>
          </a:stretch>
        </p:blipFill>
        <p:spPr bwMode="auto">
          <a:xfrm>
            <a:off x="1124360" y="4658114"/>
            <a:ext cx="1412008" cy="248502"/>
          </a:xfrm>
          <a:prstGeom prst="rect">
            <a:avLst/>
          </a:prstGeom>
          <a:noFill/>
          <a:ln w="9525">
            <a:noFill/>
            <a:miter lim="800000"/>
            <a:headEnd/>
            <a:tailEnd/>
          </a:ln>
        </p:spPr>
      </p:pic>
      <p:sp>
        <p:nvSpPr>
          <p:cNvPr id="27" name="Rounded Rectangle 2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58</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138068871"/>
      </p:ext>
    </p:extLst>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1"/>
                </a:solidFill>
              </a:rPr>
              <a:t>Product Label 57.2 x 66 mm - Example</a:t>
            </a:r>
            <a:endParaRPr lang="en-US" dirty="0">
              <a:solidFill>
                <a:schemeClr val="tx1"/>
              </a:solidFill>
            </a:endParaRPr>
          </a:p>
        </p:txBody>
      </p:sp>
      <p:pic>
        <p:nvPicPr>
          <p:cNvPr id="4" name="Picture 3" descr="product label BNB 66x57.2.jpg"/>
          <p:cNvPicPr>
            <a:picLocks noChangeAspect="1"/>
          </p:cNvPicPr>
          <p:nvPr/>
        </p:nvPicPr>
        <p:blipFill>
          <a:blip r:embed="rId2" cstate="print"/>
          <a:stretch>
            <a:fillRect/>
          </a:stretch>
        </p:blipFill>
        <p:spPr>
          <a:xfrm>
            <a:off x="838200" y="1314450"/>
            <a:ext cx="4707514" cy="3086100"/>
          </a:xfrm>
          <a:prstGeom prst="rect">
            <a:avLst/>
          </a:prstGeom>
        </p:spPr>
      </p:pic>
      <p:sp>
        <p:nvSpPr>
          <p:cNvPr id="7" name="Rectangle 6"/>
          <p:cNvSpPr/>
          <p:nvPr/>
        </p:nvSpPr>
        <p:spPr>
          <a:xfrm>
            <a:off x="3200400" y="3086100"/>
            <a:ext cx="1905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a:solidFill>
                <a:prstClr val="white"/>
              </a:solidFill>
            </a:endParaRPr>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59</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4277027000"/>
      </p:ext>
    </p:extLst>
  </p:cSld>
  <p:clrMapOvr>
    <a:masterClrMapping/>
  </p:clrMapOvr>
  <p:transition spd="med">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0"/>
          </p:nvPr>
        </p:nvSpPr>
        <p:spPr>
          <a:xfrm>
            <a:off x="329184" y="819150"/>
            <a:ext cx="8119872" cy="3598547"/>
          </a:xfrm>
        </p:spPr>
        <p:txBody>
          <a:bodyPr/>
          <a:lstStyle/>
          <a:p>
            <a:pPr lvl="2" indent="0">
              <a:buNone/>
            </a:pPr>
            <a:r>
              <a:rPr lang="en-US" dirty="0"/>
              <a:t>Description: Product label on Bulk Pack should show Serial Number for all NBs inside Bulk Pack.</a:t>
            </a:r>
            <a:endParaRPr lang="en-US" dirty="0" smtClean="0"/>
          </a:p>
          <a:p>
            <a:pPr marL="455613" lvl="2" indent="-285750">
              <a:buFont typeface="Arial" pitchFamily="34" charset="0"/>
              <a:buChar char="•"/>
            </a:pPr>
            <a:r>
              <a:rPr lang="en-US" sz="1200" dirty="0" smtClean="0"/>
              <a:t>Bulk </a:t>
            </a:r>
            <a:r>
              <a:rPr lang="en-US" sz="1200" dirty="0"/>
              <a:t>Pack Product Label will NOT contain Box ID, PO number or MAC address.</a:t>
            </a:r>
          </a:p>
          <a:p>
            <a:pPr marL="455613" lvl="2" indent="-285750">
              <a:buFont typeface="Arial" pitchFamily="34" charset="0"/>
              <a:buChar char="•"/>
            </a:pPr>
            <a:r>
              <a:rPr lang="en-US" sz="1200" dirty="0" err="1"/>
              <a:t>Wistron</a:t>
            </a:r>
            <a:r>
              <a:rPr lang="en-US" sz="1200" dirty="0"/>
              <a:t> can position an Internal ID at the bottom of the label if approved by HP</a:t>
            </a:r>
            <a:r>
              <a:rPr lang="en-US" dirty="0"/>
              <a:t> </a:t>
            </a:r>
          </a:p>
        </p:txBody>
      </p:sp>
      <p:sp>
        <p:nvSpPr>
          <p:cNvPr id="6" name="Title 5"/>
          <p:cNvSpPr>
            <a:spLocks noGrp="1"/>
          </p:cNvSpPr>
          <p:nvPr>
            <p:ph type="title"/>
          </p:nvPr>
        </p:nvSpPr>
        <p:spPr/>
        <p:txBody>
          <a:bodyPr/>
          <a:lstStyle/>
          <a:p>
            <a:r>
              <a:rPr lang="en-US" dirty="0"/>
              <a:t>Bulk Pack Product Label</a:t>
            </a:r>
          </a:p>
        </p:txBody>
      </p:sp>
      <p:pic>
        <p:nvPicPr>
          <p:cNvPr id="10" name="Picture 9" descr="BSaM 66 x 57 v0.2.jpg"/>
          <p:cNvPicPr>
            <a:picLocks noChangeAspect="1"/>
          </p:cNvPicPr>
          <p:nvPr/>
        </p:nvPicPr>
        <p:blipFill>
          <a:blip r:embed="rId2" cstate="print"/>
          <a:stretch>
            <a:fillRect/>
          </a:stretch>
        </p:blipFill>
        <p:spPr>
          <a:xfrm>
            <a:off x="925286" y="1572987"/>
            <a:ext cx="2992664" cy="3386363"/>
          </a:xfrm>
          <a:prstGeom prst="rect">
            <a:avLst/>
          </a:prstGeom>
        </p:spPr>
      </p:pic>
      <p:sp>
        <p:nvSpPr>
          <p:cNvPr id="11" name="Rectangle 10"/>
          <p:cNvSpPr/>
          <p:nvPr/>
        </p:nvSpPr>
        <p:spPr>
          <a:xfrm>
            <a:off x="4090094" y="2957703"/>
            <a:ext cx="1582484" cy="369332"/>
          </a:xfrm>
          <a:prstGeom prst="rect">
            <a:avLst/>
          </a:prstGeom>
        </p:spPr>
        <p:txBody>
          <a:bodyPr wrap="none">
            <a:spAutoFit/>
          </a:bodyPr>
          <a:lstStyle/>
          <a:p>
            <a:pPr defTabSz="914400" fontAlgn="base">
              <a:spcBef>
                <a:spcPct val="0"/>
              </a:spcBef>
              <a:spcAft>
                <a:spcPct val="0"/>
              </a:spcAft>
            </a:pPr>
            <a:r>
              <a:rPr lang="en-US" dirty="0" smtClean="0">
                <a:solidFill>
                  <a:prstClr val="black"/>
                </a:solidFill>
                <a:latin typeface="Arial" charset="0"/>
              </a:rPr>
              <a:t>66 x 57.2 mm</a:t>
            </a:r>
            <a:endParaRPr lang="en-US" dirty="0">
              <a:solidFill>
                <a:prstClr val="black"/>
              </a:solidFill>
              <a:latin typeface="Arial" charset="0"/>
            </a:endParaRPr>
          </a:p>
        </p:txBody>
      </p:sp>
      <p:sp>
        <p:nvSpPr>
          <p:cNvPr id="12" name="TextBox 11"/>
          <p:cNvSpPr txBox="1"/>
          <p:nvPr/>
        </p:nvSpPr>
        <p:spPr>
          <a:xfrm>
            <a:off x="4097575" y="3234995"/>
            <a:ext cx="2410083" cy="461665"/>
          </a:xfrm>
          <a:prstGeom prst="rect">
            <a:avLst/>
          </a:prstGeom>
          <a:noFill/>
        </p:spPr>
        <p:txBody>
          <a:bodyPr wrap="none" rtlCol="0">
            <a:spAutoFit/>
          </a:bodyPr>
          <a:lstStyle/>
          <a:p>
            <a:pPr defTabSz="914400" fontAlgn="base">
              <a:spcBef>
                <a:spcPct val="0"/>
              </a:spcBef>
              <a:spcAft>
                <a:spcPct val="0"/>
              </a:spcAft>
            </a:pPr>
            <a:r>
              <a:rPr lang="en-US" sz="1200" dirty="0" smtClean="0">
                <a:solidFill>
                  <a:srgbClr val="FF0000"/>
                </a:solidFill>
                <a:latin typeface="Arial" charset="0"/>
              </a:rPr>
              <a:t>Note: width vs. length difference </a:t>
            </a:r>
          </a:p>
          <a:p>
            <a:pPr defTabSz="914400" fontAlgn="base">
              <a:spcBef>
                <a:spcPct val="0"/>
              </a:spcBef>
              <a:spcAft>
                <a:spcPct val="0"/>
              </a:spcAft>
            </a:pPr>
            <a:r>
              <a:rPr lang="en-US" sz="1200" dirty="0" smtClean="0">
                <a:solidFill>
                  <a:srgbClr val="FF0000"/>
                </a:solidFill>
                <a:latin typeface="Arial" charset="0"/>
              </a:rPr>
              <a:t>compared to Product Label</a:t>
            </a:r>
          </a:p>
        </p:txBody>
      </p:sp>
      <p:sp>
        <p:nvSpPr>
          <p:cNvPr id="13" name="Rounded Rectangle 12"/>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60</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3752300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0"/>
          </p:nvPr>
        </p:nvSpPr>
        <p:spPr>
          <a:xfrm>
            <a:off x="329184" y="819150"/>
            <a:ext cx="8119872" cy="3598547"/>
          </a:xfrm>
        </p:spPr>
        <p:txBody>
          <a:bodyPr/>
          <a:lstStyle/>
          <a:p>
            <a:pPr lvl="2" indent="0">
              <a:buNone/>
            </a:pPr>
            <a:r>
              <a:rPr lang="en-US" dirty="0"/>
              <a:t>Description: </a:t>
            </a:r>
            <a:r>
              <a:rPr lang="en-US" dirty="0" smtClean="0"/>
              <a:t>Production Group ID  </a:t>
            </a:r>
            <a:r>
              <a:rPr lang="en-US" dirty="0"/>
              <a:t>label </a:t>
            </a:r>
            <a:r>
              <a:rPr lang="en-US" dirty="0" smtClean="0"/>
              <a:t>should be placed on each Bulk Pack representing the Order Group </a:t>
            </a:r>
          </a:p>
          <a:p>
            <a:pPr lvl="2" indent="0">
              <a:buNone/>
            </a:pPr>
            <a:r>
              <a:rPr lang="en-US" dirty="0" smtClean="0"/>
              <a:t>ID of the Bulk Pack based on Production Grouping</a:t>
            </a:r>
          </a:p>
        </p:txBody>
      </p:sp>
      <p:sp>
        <p:nvSpPr>
          <p:cNvPr id="6" name="Title 5"/>
          <p:cNvSpPr>
            <a:spLocks noGrp="1"/>
          </p:cNvSpPr>
          <p:nvPr>
            <p:ph type="title"/>
          </p:nvPr>
        </p:nvSpPr>
        <p:spPr/>
        <p:txBody>
          <a:bodyPr/>
          <a:lstStyle/>
          <a:p>
            <a:r>
              <a:rPr lang="en-US" dirty="0" smtClean="0"/>
              <a:t>Order Group ID Label</a:t>
            </a:r>
            <a:endParaRPr lang="en-US" dirty="0"/>
          </a:p>
        </p:txBody>
      </p:sp>
      <p:sp>
        <p:nvSpPr>
          <p:cNvPr id="11" name="Rectangle 10"/>
          <p:cNvSpPr/>
          <p:nvPr/>
        </p:nvSpPr>
        <p:spPr>
          <a:xfrm>
            <a:off x="4090094" y="2957703"/>
            <a:ext cx="1582484" cy="369332"/>
          </a:xfrm>
          <a:prstGeom prst="rect">
            <a:avLst/>
          </a:prstGeom>
        </p:spPr>
        <p:txBody>
          <a:bodyPr wrap="none">
            <a:spAutoFit/>
          </a:bodyPr>
          <a:lstStyle/>
          <a:p>
            <a:pPr defTabSz="914400" fontAlgn="base">
              <a:spcBef>
                <a:spcPct val="0"/>
              </a:spcBef>
              <a:spcAft>
                <a:spcPct val="0"/>
              </a:spcAft>
            </a:pPr>
            <a:r>
              <a:rPr lang="en-US" dirty="0" smtClean="0">
                <a:solidFill>
                  <a:prstClr val="black"/>
                </a:solidFill>
                <a:latin typeface="Arial" charset="0"/>
              </a:rPr>
              <a:t>66 x 57.2 mm</a:t>
            </a:r>
            <a:endParaRPr lang="en-US" dirty="0">
              <a:solidFill>
                <a:prstClr val="black"/>
              </a:solidFill>
              <a:latin typeface="Arial" charset="0"/>
            </a:endParaRPr>
          </a:p>
        </p:txBody>
      </p:sp>
      <p:sp>
        <p:nvSpPr>
          <p:cNvPr id="13" name="Rounded Rectangle 12"/>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60.1</a:t>
            </a:r>
            <a:endParaRPr lang="en-US" sz="1000" dirty="0">
              <a:solidFill>
                <a:schemeClr val="tx1"/>
              </a:solidFill>
              <a:latin typeface="Arial Black" pitchFamily="34" charset="0"/>
              <a:cs typeface="Aharoni" pitchFamily="2" charset="-79"/>
            </a:endParaRPr>
          </a:p>
        </p:txBody>
      </p:sp>
      <p:sp>
        <p:nvSpPr>
          <p:cNvPr id="15" name="Rectangle 14"/>
          <p:cNvSpPr/>
          <p:nvPr/>
        </p:nvSpPr>
        <p:spPr>
          <a:xfrm>
            <a:off x="5772152" y="1627571"/>
            <a:ext cx="2780209" cy="1076197"/>
          </a:xfrm>
          <a:prstGeom prst="rect">
            <a:avLst/>
          </a:prstGeom>
          <a:solidFill>
            <a:srgbClr val="FF0000">
              <a:alpha val="83000"/>
            </a:srgbClr>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Optional</a:t>
            </a:r>
          </a:p>
          <a:p>
            <a:pPr algn="ctr"/>
            <a:r>
              <a:rPr lang="en-US" dirty="0" smtClean="0"/>
              <a:t>To be used if required by ODM</a:t>
            </a:r>
          </a:p>
        </p:txBody>
      </p:sp>
      <p:sp>
        <p:nvSpPr>
          <p:cNvPr id="4" name="Rounded Rectangle 3"/>
          <p:cNvSpPr/>
          <p:nvPr/>
        </p:nvSpPr>
        <p:spPr>
          <a:xfrm>
            <a:off x="794444" y="1449771"/>
            <a:ext cx="2740025" cy="3204779"/>
          </a:xfrm>
          <a:prstGeom prst="roundRect">
            <a:avLst>
              <a:gd name="adj" fmla="val 4153"/>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extBox 4"/>
          <p:cNvSpPr txBox="1"/>
          <p:nvPr/>
        </p:nvSpPr>
        <p:spPr>
          <a:xfrm>
            <a:off x="850900" y="1606550"/>
            <a:ext cx="1489510" cy="841256"/>
          </a:xfrm>
          <a:prstGeom prst="rect">
            <a:avLst/>
          </a:prstGeom>
          <a:noFill/>
        </p:spPr>
        <p:txBody>
          <a:bodyPr wrap="none" rtlCol="0">
            <a:spAutoFit/>
          </a:bodyPr>
          <a:lstStyle/>
          <a:p>
            <a:pPr marL="0" defTabSz="430213">
              <a:spcAft>
                <a:spcPts val="400"/>
              </a:spcAft>
              <a:buSzPct val="100000"/>
            </a:pPr>
            <a:r>
              <a:rPr lang="en-US" sz="1400" b="1" dirty="0" smtClean="0">
                <a:solidFill>
                  <a:srgbClr val="000000"/>
                </a:solidFill>
                <a:latin typeface="Arial" pitchFamily="34" charset="0"/>
                <a:cs typeface="Arial" pitchFamily="34" charset="0"/>
              </a:rPr>
              <a:t>Order Group ID</a:t>
            </a:r>
          </a:p>
          <a:p>
            <a:pPr marL="0" defTabSz="430213">
              <a:spcAft>
                <a:spcPts val="400"/>
              </a:spcAft>
              <a:buSzPct val="100000"/>
            </a:pPr>
            <a:r>
              <a:rPr lang="en-US" sz="1200" dirty="0" smtClean="0">
                <a:solidFill>
                  <a:srgbClr val="000000"/>
                </a:solidFill>
                <a:latin typeface="Arial" pitchFamily="34" charset="0"/>
                <a:cs typeface="Arial" pitchFamily="34" charset="0"/>
              </a:rPr>
              <a:t>OGINSH123456</a:t>
            </a:r>
          </a:p>
          <a:p>
            <a:pPr marL="0" defTabSz="430213">
              <a:spcAft>
                <a:spcPts val="400"/>
              </a:spcAft>
              <a:buSzPct val="100000"/>
            </a:pPr>
            <a:endParaRPr lang="en-US" sz="1400" b="1" dirty="0" smtClean="0">
              <a:solidFill>
                <a:srgbClr val="000000"/>
              </a:solidFill>
              <a:latin typeface="Arial" pitchFamily="34" charset="0"/>
              <a:cs typeface="Arial" pitchFamily="34" charset="0"/>
            </a:endParaRPr>
          </a:p>
        </p:txBody>
      </p:sp>
      <p:pic>
        <p:nvPicPr>
          <p:cNvPr id="18" name="Picture 17"/>
          <p:cNvPicPr>
            <a:picLocks noChangeAspect="1"/>
          </p:cNvPicPr>
          <p:nvPr/>
        </p:nvPicPr>
        <p:blipFill rotWithShape="1">
          <a:blip r:embed="rId2">
            <a:extLst>
              <a:ext uri="{28A0092B-C50C-407E-A947-70E740481C1C}">
                <a14:useLocalDpi xmlns:a14="http://schemas.microsoft.com/office/drawing/2010/main" xmlns="" val="0"/>
              </a:ext>
            </a:extLst>
          </a:blip>
          <a:srcRect l="7429" t="14360" r="47702" b="77114"/>
          <a:stretch/>
        </p:blipFill>
        <p:spPr>
          <a:xfrm>
            <a:off x="866775" y="2089150"/>
            <a:ext cx="2103120" cy="457200"/>
          </a:xfrm>
          <a:prstGeom prst="rect">
            <a:avLst/>
          </a:prstGeom>
        </p:spPr>
      </p:pic>
    </p:spTree>
    <p:extLst>
      <p:ext uri="{BB962C8B-B14F-4D97-AF65-F5344CB8AC3E}">
        <p14:creationId xmlns:p14="http://schemas.microsoft.com/office/powerpoint/2010/main" xmlns="" val="3211584109"/>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
          <p:cNvGrpSpPr/>
          <p:nvPr/>
        </p:nvGrpSpPr>
        <p:grpSpPr>
          <a:xfrm>
            <a:off x="3241329" y="3011370"/>
            <a:ext cx="3395991" cy="1855967"/>
            <a:chOff x="3756923" y="3866807"/>
            <a:chExt cx="3395991" cy="2474623"/>
          </a:xfrm>
        </p:grpSpPr>
        <p:sp>
          <p:nvSpPr>
            <p:cNvPr id="372745" name="AutoShape 9"/>
            <p:cNvSpPr>
              <a:spLocks noChangeArrowheads="1"/>
            </p:cNvSpPr>
            <p:nvPr/>
          </p:nvSpPr>
          <p:spPr bwMode="auto">
            <a:xfrm rot="5400000">
              <a:off x="5099822" y="3911301"/>
              <a:ext cx="1750945" cy="1663576"/>
            </a:xfrm>
            <a:prstGeom prst="parallelogram">
              <a:avLst>
                <a:gd name="adj" fmla="val 33687"/>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746" name="AutoShape 10"/>
            <p:cNvSpPr>
              <a:spLocks noChangeArrowheads="1"/>
            </p:cNvSpPr>
            <p:nvPr/>
          </p:nvSpPr>
          <p:spPr bwMode="auto">
            <a:xfrm rot="16200000" flipH="1">
              <a:off x="3629004" y="3995536"/>
              <a:ext cx="1648901" cy="1391443"/>
            </a:xfrm>
            <a:prstGeom prst="parallelogram">
              <a:avLst>
                <a:gd name="adj" fmla="val 33594"/>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747" name="Line 11"/>
            <p:cNvSpPr>
              <a:spLocks noChangeShapeType="1"/>
            </p:cNvSpPr>
            <p:nvPr/>
          </p:nvSpPr>
          <p:spPr bwMode="auto">
            <a:xfrm>
              <a:off x="4434016" y="4117058"/>
              <a:ext cx="0" cy="715927"/>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48" name="Line 12"/>
            <p:cNvSpPr>
              <a:spLocks noChangeShapeType="1"/>
            </p:cNvSpPr>
            <p:nvPr/>
          </p:nvSpPr>
          <p:spPr bwMode="auto">
            <a:xfrm>
              <a:off x="4401620" y="4131635"/>
              <a:ext cx="0" cy="715927"/>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pic>
          <p:nvPicPr>
            <p:cNvPr id="372804" name="Picture 68"/>
            <p:cNvPicPr>
              <a:picLocks noChangeAspect="1" noChangeArrowheads="1"/>
            </p:cNvPicPr>
            <p:nvPr/>
          </p:nvPicPr>
          <p:blipFill>
            <a:blip r:embed="rId2" cstate="print"/>
            <a:srcRect/>
            <a:stretch>
              <a:fillRect/>
            </a:stretch>
          </p:blipFill>
          <p:spPr bwMode="auto">
            <a:xfrm>
              <a:off x="3815236" y="3885434"/>
              <a:ext cx="1554480" cy="1671609"/>
            </a:xfrm>
            <a:prstGeom prst="rect">
              <a:avLst/>
            </a:prstGeom>
            <a:noFill/>
            <a:ln w="3175">
              <a:noFill/>
              <a:miter lim="800000"/>
              <a:headEnd/>
              <a:tailEnd/>
            </a:ln>
            <a:effectLst/>
          </p:spPr>
        </p:pic>
        <p:pic>
          <p:nvPicPr>
            <p:cNvPr id="372806" name="Picture 70"/>
            <p:cNvPicPr>
              <a:picLocks noChangeAspect="1" noChangeArrowheads="1"/>
            </p:cNvPicPr>
            <p:nvPr/>
          </p:nvPicPr>
          <p:blipFill>
            <a:blip r:embed="rId2" cstate="print"/>
            <a:srcRect/>
            <a:stretch>
              <a:fillRect/>
            </a:stretch>
          </p:blipFill>
          <p:spPr bwMode="auto">
            <a:xfrm>
              <a:off x="4026957" y="3956722"/>
              <a:ext cx="1554480" cy="1671609"/>
            </a:xfrm>
            <a:prstGeom prst="rect">
              <a:avLst/>
            </a:prstGeom>
            <a:noFill/>
            <a:ln w="3175">
              <a:noFill/>
              <a:miter lim="800000"/>
              <a:headEnd/>
              <a:tailEnd/>
            </a:ln>
            <a:effectLst/>
          </p:spPr>
        </p:pic>
        <p:pic>
          <p:nvPicPr>
            <p:cNvPr id="372808" name="Picture 72"/>
            <p:cNvPicPr>
              <a:picLocks noChangeAspect="1" noChangeArrowheads="1"/>
            </p:cNvPicPr>
            <p:nvPr/>
          </p:nvPicPr>
          <p:blipFill>
            <a:blip r:embed="rId2" cstate="print"/>
            <a:srcRect/>
            <a:stretch>
              <a:fillRect/>
            </a:stretch>
          </p:blipFill>
          <p:spPr bwMode="auto">
            <a:xfrm>
              <a:off x="4251636" y="4039884"/>
              <a:ext cx="1554480" cy="1671609"/>
            </a:xfrm>
            <a:prstGeom prst="rect">
              <a:avLst/>
            </a:prstGeom>
            <a:noFill/>
            <a:ln w="3175">
              <a:noFill/>
              <a:miter lim="800000"/>
              <a:headEnd/>
              <a:tailEnd/>
            </a:ln>
            <a:effectLst/>
          </p:spPr>
        </p:pic>
        <p:pic>
          <p:nvPicPr>
            <p:cNvPr id="372810" name="Picture 74"/>
            <p:cNvPicPr>
              <a:picLocks noChangeAspect="1" noChangeArrowheads="1"/>
            </p:cNvPicPr>
            <p:nvPr/>
          </p:nvPicPr>
          <p:blipFill>
            <a:blip r:embed="rId2" cstate="print"/>
            <a:srcRect/>
            <a:stretch>
              <a:fillRect/>
            </a:stretch>
          </p:blipFill>
          <p:spPr bwMode="auto">
            <a:xfrm>
              <a:off x="4488190" y="4116568"/>
              <a:ext cx="1554480" cy="1671609"/>
            </a:xfrm>
            <a:prstGeom prst="rect">
              <a:avLst/>
            </a:prstGeom>
            <a:noFill/>
            <a:ln w="3175">
              <a:noFill/>
              <a:miter lim="800000"/>
              <a:headEnd/>
              <a:tailEnd/>
            </a:ln>
            <a:effectLst/>
          </p:spPr>
        </p:pic>
        <p:sp>
          <p:nvSpPr>
            <p:cNvPr id="372814" name="Freeform 78"/>
            <p:cNvSpPr>
              <a:spLocks/>
            </p:cNvSpPr>
            <p:nvPr/>
          </p:nvSpPr>
          <p:spPr bwMode="auto">
            <a:xfrm>
              <a:off x="3756923" y="4334104"/>
              <a:ext cx="1665196" cy="1741226"/>
            </a:xfrm>
            <a:custGeom>
              <a:avLst/>
              <a:gdLst/>
              <a:ahLst/>
              <a:cxnLst>
                <a:cxn ang="0">
                  <a:pos x="1028" y="1075"/>
                </a:cxn>
                <a:cxn ang="0">
                  <a:pos x="0" y="726"/>
                </a:cxn>
                <a:cxn ang="0">
                  <a:pos x="0" y="0"/>
                </a:cxn>
                <a:cxn ang="0">
                  <a:pos x="109" y="35"/>
                </a:cxn>
                <a:cxn ang="0">
                  <a:pos x="128" y="121"/>
                </a:cxn>
                <a:cxn ang="0">
                  <a:pos x="125" y="210"/>
                </a:cxn>
                <a:cxn ang="0">
                  <a:pos x="180" y="267"/>
                </a:cxn>
                <a:cxn ang="0">
                  <a:pos x="177" y="397"/>
                </a:cxn>
                <a:cxn ang="0">
                  <a:pos x="289" y="497"/>
                </a:cxn>
                <a:cxn ang="0">
                  <a:pos x="310" y="639"/>
                </a:cxn>
                <a:cxn ang="0">
                  <a:pos x="459" y="667"/>
                </a:cxn>
                <a:cxn ang="0">
                  <a:pos x="518" y="731"/>
                </a:cxn>
                <a:cxn ang="0">
                  <a:pos x="672" y="802"/>
                </a:cxn>
                <a:cxn ang="0">
                  <a:pos x="722" y="854"/>
                </a:cxn>
                <a:cxn ang="0">
                  <a:pos x="913" y="908"/>
                </a:cxn>
                <a:cxn ang="0">
                  <a:pos x="1028" y="935"/>
                </a:cxn>
                <a:cxn ang="0">
                  <a:pos x="1028" y="1075"/>
                </a:cxn>
              </a:cxnLst>
              <a:rect l="0" t="0" r="r" b="b"/>
              <a:pathLst>
                <a:path w="1028" h="1075">
                  <a:moveTo>
                    <a:pt x="1028" y="1075"/>
                  </a:moveTo>
                  <a:lnTo>
                    <a:pt x="0" y="726"/>
                  </a:lnTo>
                  <a:lnTo>
                    <a:pt x="0" y="0"/>
                  </a:lnTo>
                  <a:lnTo>
                    <a:pt x="109" y="35"/>
                  </a:lnTo>
                  <a:lnTo>
                    <a:pt x="128" y="121"/>
                  </a:lnTo>
                  <a:lnTo>
                    <a:pt x="125" y="210"/>
                  </a:lnTo>
                  <a:lnTo>
                    <a:pt x="180" y="267"/>
                  </a:lnTo>
                  <a:lnTo>
                    <a:pt x="177" y="397"/>
                  </a:lnTo>
                  <a:lnTo>
                    <a:pt x="289" y="497"/>
                  </a:lnTo>
                  <a:lnTo>
                    <a:pt x="310" y="639"/>
                  </a:lnTo>
                  <a:lnTo>
                    <a:pt x="459" y="667"/>
                  </a:lnTo>
                  <a:lnTo>
                    <a:pt x="518" y="731"/>
                  </a:lnTo>
                  <a:lnTo>
                    <a:pt x="672" y="802"/>
                  </a:lnTo>
                  <a:lnTo>
                    <a:pt x="722" y="854"/>
                  </a:lnTo>
                  <a:lnTo>
                    <a:pt x="913" y="908"/>
                  </a:lnTo>
                  <a:lnTo>
                    <a:pt x="1028" y="935"/>
                  </a:lnTo>
                  <a:lnTo>
                    <a:pt x="1028" y="1075"/>
                  </a:lnTo>
                  <a:close/>
                </a:path>
              </a:pathLst>
            </a:custGeom>
            <a:solidFill>
              <a:srgbClr val="FFCC99"/>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15" name="Freeform 79"/>
            <p:cNvSpPr>
              <a:spLocks/>
            </p:cNvSpPr>
            <p:nvPr/>
          </p:nvSpPr>
          <p:spPr bwMode="auto">
            <a:xfrm flipH="1">
              <a:off x="4663739" y="4181377"/>
              <a:ext cx="1388203" cy="1644041"/>
            </a:xfrm>
            <a:custGeom>
              <a:avLst/>
              <a:gdLst/>
              <a:ahLst/>
              <a:cxnLst>
                <a:cxn ang="0">
                  <a:pos x="0" y="0"/>
                </a:cxn>
                <a:cxn ang="0">
                  <a:pos x="0" y="924"/>
                </a:cxn>
                <a:cxn ang="0">
                  <a:pos x="1086" y="1287"/>
                </a:cxn>
                <a:cxn ang="0">
                  <a:pos x="1086" y="1086"/>
                </a:cxn>
                <a:cxn ang="0">
                  <a:pos x="939" y="945"/>
                </a:cxn>
                <a:cxn ang="0">
                  <a:pos x="762" y="930"/>
                </a:cxn>
                <a:cxn ang="0">
                  <a:pos x="705" y="840"/>
                </a:cxn>
                <a:cxn ang="0">
                  <a:pos x="588" y="825"/>
                </a:cxn>
                <a:cxn ang="0">
                  <a:pos x="519" y="720"/>
                </a:cxn>
                <a:cxn ang="0">
                  <a:pos x="324" y="720"/>
                </a:cxn>
                <a:cxn ang="0">
                  <a:pos x="333" y="489"/>
                </a:cxn>
                <a:cxn ang="0">
                  <a:pos x="177" y="366"/>
                </a:cxn>
                <a:cxn ang="0">
                  <a:pos x="231" y="240"/>
                </a:cxn>
                <a:cxn ang="0">
                  <a:pos x="177" y="165"/>
                </a:cxn>
                <a:cxn ang="0">
                  <a:pos x="156" y="51"/>
                </a:cxn>
                <a:cxn ang="0">
                  <a:pos x="0" y="0"/>
                </a:cxn>
              </a:cxnLst>
              <a:rect l="0" t="0" r="r" b="b"/>
              <a:pathLst>
                <a:path w="1086" h="1287">
                  <a:moveTo>
                    <a:pt x="0" y="0"/>
                  </a:moveTo>
                  <a:lnTo>
                    <a:pt x="0" y="924"/>
                  </a:lnTo>
                  <a:lnTo>
                    <a:pt x="1086" y="1287"/>
                  </a:lnTo>
                  <a:lnTo>
                    <a:pt x="1086" y="1086"/>
                  </a:lnTo>
                  <a:lnTo>
                    <a:pt x="939" y="945"/>
                  </a:lnTo>
                  <a:lnTo>
                    <a:pt x="762" y="930"/>
                  </a:lnTo>
                  <a:lnTo>
                    <a:pt x="705" y="840"/>
                  </a:lnTo>
                  <a:lnTo>
                    <a:pt x="588" y="825"/>
                  </a:lnTo>
                  <a:lnTo>
                    <a:pt x="519" y="720"/>
                  </a:lnTo>
                  <a:lnTo>
                    <a:pt x="324" y="720"/>
                  </a:lnTo>
                  <a:lnTo>
                    <a:pt x="333" y="489"/>
                  </a:lnTo>
                  <a:lnTo>
                    <a:pt x="177" y="366"/>
                  </a:lnTo>
                  <a:lnTo>
                    <a:pt x="231" y="240"/>
                  </a:lnTo>
                  <a:lnTo>
                    <a:pt x="177" y="165"/>
                  </a:lnTo>
                  <a:lnTo>
                    <a:pt x="156" y="51"/>
                  </a:lnTo>
                  <a:lnTo>
                    <a:pt x="0" y="0"/>
                  </a:lnTo>
                  <a:close/>
                </a:path>
              </a:pathLst>
            </a:custGeom>
            <a:solidFill>
              <a:srgbClr val="FFCC99"/>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9" name="Rectangle 8"/>
            <p:cNvSpPr/>
            <p:nvPr/>
          </p:nvSpPr>
          <p:spPr>
            <a:xfrm rot="20494381">
              <a:off x="4010301" y="5825955"/>
              <a:ext cx="1493678" cy="5154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sp>
          <p:nvSpPr>
            <p:cNvPr id="76" name="Rectangle 75"/>
            <p:cNvSpPr/>
            <p:nvPr/>
          </p:nvSpPr>
          <p:spPr>
            <a:xfrm rot="16200000">
              <a:off x="5863708" y="4380424"/>
              <a:ext cx="1493678" cy="10847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sz="2400" b="1" dirty="0" smtClean="0">
                <a:solidFill>
                  <a:prstClr val="black"/>
                </a:solidFill>
              </a:endParaRPr>
            </a:p>
          </p:txBody>
        </p:sp>
      </p:grpSp>
      <p:sp>
        <p:nvSpPr>
          <p:cNvPr id="372738" name="Rectangle 2"/>
          <p:cNvSpPr>
            <a:spLocks noChangeArrowheads="1"/>
          </p:cNvSpPr>
          <p:nvPr/>
        </p:nvSpPr>
        <p:spPr bwMode="auto">
          <a:xfrm>
            <a:off x="492432" y="301310"/>
            <a:ext cx="8651568" cy="438546"/>
          </a:xfrm>
          <a:prstGeom prst="rect">
            <a:avLst/>
          </a:prstGeom>
          <a:noFill/>
          <a:ln w="9525">
            <a:noFill/>
            <a:miter lim="800000"/>
            <a:headEnd/>
            <a:tailEnd/>
          </a:ln>
          <a:effectLst/>
        </p:spPr>
        <p:txBody>
          <a:bodyPr lIns="91430" tIns="45716" rIns="91430" bIns="45716" anchor="b"/>
          <a:lstStyle/>
          <a:p>
            <a:pPr defTabSz="913526" fontAlgn="base">
              <a:spcBef>
                <a:spcPct val="0"/>
              </a:spcBef>
              <a:spcAft>
                <a:spcPct val="0"/>
              </a:spcAft>
            </a:pPr>
            <a:r>
              <a:rPr lang="de-DE" sz="3300" dirty="0" smtClean="0">
                <a:solidFill>
                  <a:prstClr val="black"/>
                </a:solidFill>
                <a:latin typeface="Futura Bk" pitchFamily="34" charset="0"/>
              </a:rPr>
              <a:t>BSaM – Bulk Packaging Concept</a:t>
            </a:r>
            <a:endParaRPr lang="en-US" sz="2400" dirty="0">
              <a:solidFill>
                <a:prstClr val="black"/>
              </a:solidFill>
              <a:latin typeface="Futura Bk" pitchFamily="34" charset="0"/>
            </a:endParaRPr>
          </a:p>
        </p:txBody>
      </p:sp>
      <p:grpSp>
        <p:nvGrpSpPr>
          <p:cNvPr id="3" name="Group 141"/>
          <p:cNvGrpSpPr>
            <a:grpSpLocks/>
          </p:cNvGrpSpPr>
          <p:nvPr/>
        </p:nvGrpSpPr>
        <p:grpSpPr bwMode="auto">
          <a:xfrm>
            <a:off x="5402987" y="3174325"/>
            <a:ext cx="3147351" cy="1678865"/>
            <a:chOff x="3340" y="2485"/>
            <a:chExt cx="1943" cy="1382"/>
          </a:xfrm>
        </p:grpSpPr>
        <p:sp>
          <p:nvSpPr>
            <p:cNvPr id="372857" name="Line 121"/>
            <p:cNvSpPr>
              <a:spLocks noChangeShapeType="1"/>
            </p:cNvSpPr>
            <p:nvPr/>
          </p:nvSpPr>
          <p:spPr bwMode="auto">
            <a:xfrm flipV="1">
              <a:off x="4419" y="3213"/>
              <a:ext cx="860" cy="287"/>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58" name="Line 122"/>
            <p:cNvSpPr>
              <a:spLocks noChangeShapeType="1"/>
            </p:cNvSpPr>
            <p:nvPr/>
          </p:nvSpPr>
          <p:spPr bwMode="auto">
            <a:xfrm flipV="1">
              <a:off x="4420" y="3213"/>
              <a:ext cx="859" cy="287"/>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59" name="Line 123"/>
            <p:cNvSpPr>
              <a:spLocks noChangeShapeType="1"/>
            </p:cNvSpPr>
            <p:nvPr/>
          </p:nvSpPr>
          <p:spPr bwMode="auto">
            <a:xfrm flipV="1">
              <a:off x="3346" y="2495"/>
              <a:ext cx="860" cy="286"/>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60" name="AutoShape 124"/>
            <p:cNvSpPr>
              <a:spLocks noChangeArrowheads="1"/>
            </p:cNvSpPr>
            <p:nvPr/>
          </p:nvSpPr>
          <p:spPr bwMode="auto">
            <a:xfrm rot="5400000">
              <a:off x="4193" y="2493"/>
              <a:ext cx="1085" cy="1077"/>
            </a:xfrm>
            <a:prstGeom prst="parallelogram">
              <a:avLst>
                <a:gd name="adj" fmla="val 33012"/>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61" name="AutoShape 125"/>
            <p:cNvSpPr>
              <a:spLocks noChangeArrowheads="1"/>
            </p:cNvSpPr>
            <p:nvPr/>
          </p:nvSpPr>
          <p:spPr bwMode="auto">
            <a:xfrm rot="16200000" flipH="1">
              <a:off x="3262" y="2567"/>
              <a:ext cx="1018" cy="862"/>
            </a:xfrm>
            <a:prstGeom prst="parallelogram">
              <a:avLst>
                <a:gd name="adj" fmla="val 33477"/>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62" name="AutoShape 126"/>
            <p:cNvSpPr>
              <a:spLocks noChangeArrowheads="1"/>
            </p:cNvSpPr>
            <p:nvPr/>
          </p:nvSpPr>
          <p:spPr bwMode="auto">
            <a:xfrm rot="16200000" flipH="1">
              <a:off x="4339" y="2927"/>
              <a:ext cx="1018" cy="862"/>
            </a:xfrm>
            <a:prstGeom prst="parallelogram">
              <a:avLst>
                <a:gd name="adj" fmla="val 33477"/>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64" name="AutoShape 128"/>
            <p:cNvSpPr>
              <a:spLocks noChangeArrowheads="1"/>
            </p:cNvSpPr>
            <p:nvPr/>
          </p:nvSpPr>
          <p:spPr bwMode="auto">
            <a:xfrm rot="5400000">
              <a:off x="3336" y="2781"/>
              <a:ext cx="1090" cy="1081"/>
            </a:xfrm>
            <a:prstGeom prst="parallelogram">
              <a:avLst>
                <a:gd name="adj" fmla="val 33653"/>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65" name="Freeform 129"/>
            <p:cNvSpPr>
              <a:spLocks/>
            </p:cNvSpPr>
            <p:nvPr/>
          </p:nvSpPr>
          <p:spPr bwMode="auto">
            <a:xfrm>
              <a:off x="3340" y="2485"/>
              <a:ext cx="1943" cy="657"/>
            </a:xfrm>
            <a:custGeom>
              <a:avLst/>
              <a:gdLst/>
              <a:ahLst/>
              <a:cxnLst>
                <a:cxn ang="0">
                  <a:pos x="1943" y="362"/>
                </a:cxn>
                <a:cxn ang="0">
                  <a:pos x="1080" y="657"/>
                </a:cxn>
                <a:cxn ang="0">
                  <a:pos x="0" y="293"/>
                </a:cxn>
                <a:cxn ang="0">
                  <a:pos x="857" y="0"/>
                </a:cxn>
                <a:cxn ang="0">
                  <a:pos x="1943" y="362"/>
                </a:cxn>
              </a:cxnLst>
              <a:rect l="0" t="0" r="r" b="b"/>
              <a:pathLst>
                <a:path w="1943" h="657">
                  <a:moveTo>
                    <a:pt x="1943" y="362"/>
                  </a:moveTo>
                  <a:lnTo>
                    <a:pt x="1080" y="657"/>
                  </a:lnTo>
                  <a:lnTo>
                    <a:pt x="0" y="293"/>
                  </a:lnTo>
                  <a:lnTo>
                    <a:pt x="857" y="0"/>
                  </a:lnTo>
                  <a:lnTo>
                    <a:pt x="1943" y="362"/>
                  </a:lnTo>
                  <a:close/>
                </a:path>
              </a:pathLst>
            </a:custGeom>
            <a:solidFill>
              <a:srgbClr val="FFCC99"/>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73" name="Line 137"/>
            <p:cNvSpPr>
              <a:spLocks noChangeShapeType="1"/>
            </p:cNvSpPr>
            <p:nvPr/>
          </p:nvSpPr>
          <p:spPr bwMode="auto">
            <a:xfrm>
              <a:off x="5014" y="2998"/>
              <a:ext cx="42" cy="21"/>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pic>
          <p:nvPicPr>
            <p:cNvPr id="372778" name="Picture 42"/>
            <p:cNvPicPr>
              <a:picLocks noChangeAspect="1" noChangeArrowheads="1"/>
            </p:cNvPicPr>
            <p:nvPr/>
          </p:nvPicPr>
          <p:blipFill>
            <a:blip r:embed="rId3" cstate="print">
              <a:lum bright="12000"/>
            </a:blip>
            <a:srcRect r="38737"/>
            <a:stretch>
              <a:fillRect/>
            </a:stretch>
          </p:blipFill>
          <p:spPr bwMode="auto">
            <a:xfrm>
              <a:off x="4667" y="3233"/>
              <a:ext cx="427" cy="507"/>
            </a:xfrm>
            <a:prstGeom prst="rect">
              <a:avLst/>
            </a:prstGeom>
            <a:noFill/>
            <a:ln w="3175">
              <a:noFill/>
              <a:miter lim="800000"/>
              <a:headEnd/>
              <a:tailEnd/>
            </a:ln>
            <a:effectLst/>
          </p:spPr>
        </p:pic>
        <p:sp>
          <p:nvSpPr>
            <p:cNvPr id="372773" name="Freeform 37"/>
            <p:cNvSpPr>
              <a:spLocks/>
            </p:cNvSpPr>
            <p:nvPr/>
          </p:nvSpPr>
          <p:spPr bwMode="auto">
            <a:xfrm>
              <a:off x="3680" y="2604"/>
              <a:ext cx="1260" cy="576"/>
            </a:xfrm>
            <a:custGeom>
              <a:avLst/>
              <a:gdLst/>
              <a:ahLst/>
              <a:cxnLst>
                <a:cxn ang="0">
                  <a:pos x="168" y="0"/>
                </a:cxn>
                <a:cxn ang="0">
                  <a:pos x="1258" y="361"/>
                </a:cxn>
                <a:cxn ang="0">
                  <a:pos x="1260" y="516"/>
                </a:cxn>
                <a:cxn ang="0">
                  <a:pos x="1096" y="576"/>
                </a:cxn>
                <a:cxn ang="0">
                  <a:pos x="1094" y="424"/>
                </a:cxn>
                <a:cxn ang="0">
                  <a:pos x="0" y="56"/>
                </a:cxn>
                <a:cxn ang="0">
                  <a:pos x="168" y="0"/>
                </a:cxn>
              </a:cxnLst>
              <a:rect l="0" t="0" r="r" b="b"/>
              <a:pathLst>
                <a:path w="1260" h="576">
                  <a:moveTo>
                    <a:pt x="168" y="0"/>
                  </a:moveTo>
                  <a:lnTo>
                    <a:pt x="1258" y="361"/>
                  </a:lnTo>
                  <a:lnTo>
                    <a:pt x="1260" y="516"/>
                  </a:lnTo>
                  <a:lnTo>
                    <a:pt x="1096" y="576"/>
                  </a:lnTo>
                  <a:lnTo>
                    <a:pt x="1094" y="424"/>
                  </a:lnTo>
                  <a:lnTo>
                    <a:pt x="0" y="56"/>
                  </a:lnTo>
                  <a:lnTo>
                    <a:pt x="168" y="0"/>
                  </a:lnTo>
                  <a:close/>
                </a:path>
              </a:pathLst>
            </a:custGeom>
            <a:solidFill>
              <a:srgbClr val="CCFFFF">
                <a:alpha val="50999"/>
              </a:srgbClr>
            </a:solidFill>
            <a:ln w="3175" cap="flat" cmpd="sng">
              <a:solidFill>
                <a:srgbClr val="969696"/>
              </a:solidFill>
              <a:prstDash val="sysDot"/>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74" name="Line 138"/>
            <p:cNvSpPr>
              <a:spLocks noChangeShapeType="1"/>
            </p:cNvSpPr>
            <p:nvPr/>
          </p:nvSpPr>
          <p:spPr bwMode="auto">
            <a:xfrm flipH="1" flipV="1">
              <a:off x="3768" y="2634"/>
              <a:ext cx="1068" cy="35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grpSp>
        <p:nvGrpSpPr>
          <p:cNvPr id="4" name="Group 81"/>
          <p:cNvGrpSpPr>
            <a:grpSpLocks/>
          </p:cNvGrpSpPr>
          <p:nvPr/>
        </p:nvGrpSpPr>
        <p:grpSpPr bwMode="auto">
          <a:xfrm>
            <a:off x="5248284" y="724028"/>
            <a:ext cx="3432442" cy="1983783"/>
            <a:chOff x="3516" y="874"/>
            <a:chExt cx="1503" cy="1158"/>
          </a:xfrm>
        </p:grpSpPr>
        <p:sp>
          <p:nvSpPr>
            <p:cNvPr id="372818" name="Freeform 82"/>
            <p:cNvSpPr>
              <a:spLocks/>
            </p:cNvSpPr>
            <p:nvPr/>
          </p:nvSpPr>
          <p:spPr bwMode="auto">
            <a:xfrm>
              <a:off x="4127" y="1055"/>
              <a:ext cx="892" cy="526"/>
            </a:xfrm>
            <a:custGeom>
              <a:avLst/>
              <a:gdLst/>
              <a:ahLst/>
              <a:cxnLst>
                <a:cxn ang="0">
                  <a:pos x="892" y="526"/>
                </a:cxn>
                <a:cxn ang="0">
                  <a:pos x="832" y="253"/>
                </a:cxn>
                <a:cxn ang="0">
                  <a:pos x="70" y="0"/>
                </a:cxn>
                <a:cxn ang="0">
                  <a:pos x="0" y="269"/>
                </a:cxn>
                <a:cxn ang="0">
                  <a:pos x="892" y="526"/>
                </a:cxn>
              </a:cxnLst>
              <a:rect l="0" t="0" r="r" b="b"/>
              <a:pathLst>
                <a:path w="892" h="526">
                  <a:moveTo>
                    <a:pt x="892" y="526"/>
                  </a:moveTo>
                  <a:lnTo>
                    <a:pt x="832" y="253"/>
                  </a:lnTo>
                  <a:lnTo>
                    <a:pt x="70" y="0"/>
                  </a:lnTo>
                  <a:lnTo>
                    <a:pt x="0" y="269"/>
                  </a:lnTo>
                  <a:lnTo>
                    <a:pt x="892" y="526"/>
                  </a:lnTo>
                  <a:close/>
                </a:path>
              </a:pathLst>
            </a:custGeom>
            <a:solidFill>
              <a:srgbClr val="FFCC99"/>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19" name="Line 83"/>
            <p:cNvSpPr>
              <a:spLocks noChangeShapeType="1"/>
            </p:cNvSpPr>
            <p:nvPr/>
          </p:nvSpPr>
          <p:spPr bwMode="auto">
            <a:xfrm flipV="1">
              <a:off x="4352" y="1568"/>
              <a:ext cx="610" cy="20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0" name="Line 84"/>
            <p:cNvSpPr>
              <a:spLocks noChangeShapeType="1"/>
            </p:cNvSpPr>
            <p:nvPr/>
          </p:nvSpPr>
          <p:spPr bwMode="auto">
            <a:xfrm flipV="1">
              <a:off x="4353" y="1568"/>
              <a:ext cx="609" cy="20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1" name="Line 85"/>
            <p:cNvSpPr>
              <a:spLocks noChangeShapeType="1"/>
            </p:cNvSpPr>
            <p:nvPr/>
          </p:nvSpPr>
          <p:spPr bwMode="auto">
            <a:xfrm flipV="1">
              <a:off x="3591" y="1059"/>
              <a:ext cx="610" cy="203"/>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2" name="AutoShape 86"/>
            <p:cNvSpPr>
              <a:spLocks noChangeArrowheads="1"/>
            </p:cNvSpPr>
            <p:nvPr/>
          </p:nvSpPr>
          <p:spPr bwMode="auto">
            <a:xfrm rot="5400000">
              <a:off x="4192" y="1058"/>
              <a:ext cx="769" cy="764"/>
            </a:xfrm>
            <a:prstGeom prst="parallelogram">
              <a:avLst>
                <a:gd name="adj" fmla="val 32983"/>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23" name="AutoShape 87"/>
            <p:cNvSpPr>
              <a:spLocks noChangeArrowheads="1"/>
            </p:cNvSpPr>
            <p:nvPr/>
          </p:nvSpPr>
          <p:spPr bwMode="auto">
            <a:xfrm rot="16200000" flipH="1">
              <a:off x="3532" y="1110"/>
              <a:ext cx="722" cy="611"/>
            </a:xfrm>
            <a:prstGeom prst="parallelogram">
              <a:avLst>
                <a:gd name="adj" fmla="val 33497"/>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24" name="AutoShape 88"/>
            <p:cNvSpPr>
              <a:spLocks noChangeArrowheads="1"/>
            </p:cNvSpPr>
            <p:nvPr/>
          </p:nvSpPr>
          <p:spPr bwMode="auto">
            <a:xfrm rot="16200000" flipH="1">
              <a:off x="4296" y="1365"/>
              <a:ext cx="722" cy="611"/>
            </a:xfrm>
            <a:prstGeom prst="parallelogram">
              <a:avLst>
                <a:gd name="adj" fmla="val 33497"/>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25" name="Line 89"/>
            <p:cNvSpPr>
              <a:spLocks noChangeShapeType="1"/>
            </p:cNvSpPr>
            <p:nvPr/>
          </p:nvSpPr>
          <p:spPr bwMode="auto">
            <a:xfrm>
              <a:off x="4086" y="1106"/>
              <a:ext cx="0" cy="409"/>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6" name="AutoShape 90"/>
            <p:cNvSpPr>
              <a:spLocks noChangeArrowheads="1"/>
            </p:cNvSpPr>
            <p:nvPr/>
          </p:nvSpPr>
          <p:spPr bwMode="auto">
            <a:xfrm rot="5400000">
              <a:off x="3584" y="1262"/>
              <a:ext cx="773" cy="767"/>
            </a:xfrm>
            <a:prstGeom prst="parallelogram">
              <a:avLst>
                <a:gd name="adj" fmla="val 33636"/>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27" name="Freeform 91"/>
            <p:cNvSpPr>
              <a:spLocks/>
            </p:cNvSpPr>
            <p:nvPr/>
          </p:nvSpPr>
          <p:spPr bwMode="auto">
            <a:xfrm>
              <a:off x="3516" y="1260"/>
              <a:ext cx="837" cy="534"/>
            </a:xfrm>
            <a:custGeom>
              <a:avLst/>
              <a:gdLst/>
              <a:ahLst/>
              <a:cxnLst>
                <a:cxn ang="0">
                  <a:pos x="774" y="534"/>
                </a:cxn>
                <a:cxn ang="0">
                  <a:pos x="837" y="258"/>
                </a:cxn>
                <a:cxn ang="0">
                  <a:pos x="71" y="0"/>
                </a:cxn>
                <a:cxn ang="0">
                  <a:pos x="0" y="269"/>
                </a:cxn>
                <a:cxn ang="0">
                  <a:pos x="774" y="534"/>
                </a:cxn>
              </a:cxnLst>
              <a:rect l="0" t="0" r="r" b="b"/>
              <a:pathLst>
                <a:path w="837" h="534">
                  <a:moveTo>
                    <a:pt x="774" y="534"/>
                  </a:moveTo>
                  <a:lnTo>
                    <a:pt x="837" y="258"/>
                  </a:lnTo>
                  <a:lnTo>
                    <a:pt x="71" y="0"/>
                  </a:lnTo>
                  <a:lnTo>
                    <a:pt x="0" y="269"/>
                  </a:lnTo>
                  <a:lnTo>
                    <a:pt x="774" y="534"/>
                  </a:lnTo>
                  <a:close/>
                </a:path>
              </a:pathLst>
            </a:custGeom>
            <a:solidFill>
              <a:srgbClr val="FFCC99"/>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8" name="Freeform 92"/>
            <p:cNvSpPr>
              <a:spLocks/>
            </p:cNvSpPr>
            <p:nvPr/>
          </p:nvSpPr>
          <p:spPr bwMode="auto">
            <a:xfrm>
              <a:off x="3886" y="1060"/>
              <a:ext cx="313" cy="109"/>
            </a:xfrm>
            <a:custGeom>
              <a:avLst/>
              <a:gdLst/>
              <a:ahLst/>
              <a:cxnLst>
                <a:cxn ang="0">
                  <a:pos x="0" y="116"/>
                </a:cxn>
                <a:cxn ang="0">
                  <a:pos x="330" y="0"/>
                </a:cxn>
              </a:cxnLst>
              <a:rect l="0" t="0" r="r" b="b"/>
              <a:pathLst>
                <a:path w="330" h="116">
                  <a:moveTo>
                    <a:pt x="0" y="116"/>
                  </a:moveTo>
                  <a:lnTo>
                    <a:pt x="330" y="0"/>
                  </a:lnTo>
                </a:path>
              </a:pathLst>
            </a:custGeom>
            <a:noFill/>
            <a:ln w="3175" cap="flat" cmpd="sng">
              <a:solidFill>
                <a:schemeClr val="tx1"/>
              </a:solidFill>
              <a:prstDash val="solid"/>
              <a:round/>
              <a:headEnd type="none" w="med" len="med"/>
              <a:tailEnd type="none" w="med" len="me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29" name="Freeform 93"/>
            <p:cNvSpPr>
              <a:spLocks/>
            </p:cNvSpPr>
            <p:nvPr/>
          </p:nvSpPr>
          <p:spPr bwMode="auto">
            <a:xfrm>
              <a:off x="4350" y="1341"/>
              <a:ext cx="475" cy="165"/>
            </a:xfrm>
            <a:custGeom>
              <a:avLst/>
              <a:gdLst/>
              <a:ahLst/>
              <a:cxnLst>
                <a:cxn ang="0">
                  <a:pos x="0" y="174"/>
                </a:cxn>
                <a:cxn ang="0">
                  <a:pos x="502" y="0"/>
                </a:cxn>
                <a:cxn ang="0">
                  <a:pos x="501" y="14"/>
                </a:cxn>
              </a:cxnLst>
              <a:rect l="0" t="0" r="r" b="b"/>
              <a:pathLst>
                <a:path w="502" h="174">
                  <a:moveTo>
                    <a:pt x="0" y="174"/>
                  </a:moveTo>
                  <a:lnTo>
                    <a:pt x="502" y="0"/>
                  </a:lnTo>
                  <a:lnTo>
                    <a:pt x="501" y="14"/>
                  </a:lnTo>
                </a:path>
              </a:pathLst>
            </a:custGeom>
            <a:no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30" name="Freeform 94"/>
            <p:cNvSpPr>
              <a:spLocks/>
            </p:cNvSpPr>
            <p:nvPr/>
          </p:nvSpPr>
          <p:spPr bwMode="auto">
            <a:xfrm>
              <a:off x="4454" y="1310"/>
              <a:ext cx="499" cy="173"/>
            </a:xfrm>
            <a:custGeom>
              <a:avLst/>
              <a:gdLst/>
              <a:ahLst/>
              <a:cxnLst>
                <a:cxn ang="0">
                  <a:pos x="0" y="183"/>
                </a:cxn>
                <a:cxn ang="0">
                  <a:pos x="0" y="174"/>
                </a:cxn>
                <a:cxn ang="0">
                  <a:pos x="527" y="0"/>
                </a:cxn>
              </a:cxnLst>
              <a:rect l="0" t="0" r="r" b="b"/>
              <a:pathLst>
                <a:path w="527" h="183">
                  <a:moveTo>
                    <a:pt x="0" y="183"/>
                  </a:moveTo>
                  <a:lnTo>
                    <a:pt x="0" y="174"/>
                  </a:lnTo>
                  <a:lnTo>
                    <a:pt x="527" y="0"/>
                  </a:lnTo>
                </a:path>
              </a:pathLst>
            </a:custGeom>
            <a:no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31" name="AutoShape 95"/>
            <p:cNvSpPr>
              <a:spLocks noChangeArrowheads="1"/>
            </p:cNvSpPr>
            <p:nvPr/>
          </p:nvSpPr>
          <p:spPr bwMode="auto">
            <a:xfrm rot="16200000" flipH="1">
              <a:off x="4462" y="1141"/>
              <a:ext cx="339" cy="287"/>
            </a:xfrm>
            <a:prstGeom prst="parallelogram">
              <a:avLst>
                <a:gd name="adj" fmla="val 33483"/>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32" name="AutoShape 96"/>
            <p:cNvSpPr>
              <a:spLocks noChangeArrowheads="1"/>
            </p:cNvSpPr>
            <p:nvPr/>
          </p:nvSpPr>
          <p:spPr bwMode="auto">
            <a:xfrm rot="16200000" flipH="1">
              <a:off x="3739" y="900"/>
              <a:ext cx="339" cy="287"/>
            </a:xfrm>
            <a:prstGeom prst="parallelogram">
              <a:avLst>
                <a:gd name="adj" fmla="val 32001"/>
              </a:avLst>
            </a:prstGeom>
            <a:solidFill>
              <a:srgbClr val="FFCC99"/>
            </a:solidFill>
            <a:ln w="3175">
              <a:solidFill>
                <a:schemeClr val="tx1"/>
              </a:solidFill>
              <a:miter lim="800000"/>
              <a:headEnd/>
              <a:tailEnd/>
            </a:ln>
            <a:effectLst/>
          </p:spPr>
          <p:txBody>
            <a:bodyPr wrap="none" anchor="ctr"/>
            <a:lstStyle/>
            <a:p>
              <a:pPr defTabSz="914400" fontAlgn="base">
                <a:spcBef>
                  <a:spcPct val="0"/>
                </a:spcBef>
                <a:spcAft>
                  <a:spcPct val="0"/>
                </a:spcAft>
              </a:pPr>
              <a:endParaRPr lang="en-US" dirty="0">
                <a:solidFill>
                  <a:prstClr val="black"/>
                </a:solidFill>
                <a:latin typeface="Arial" charset="0"/>
              </a:endParaRPr>
            </a:p>
          </p:txBody>
        </p:sp>
        <p:sp>
          <p:nvSpPr>
            <p:cNvPr id="372833" name="Freeform 97"/>
            <p:cNvSpPr>
              <a:spLocks/>
            </p:cNvSpPr>
            <p:nvPr/>
          </p:nvSpPr>
          <p:spPr bwMode="auto">
            <a:xfrm>
              <a:off x="3595" y="1105"/>
              <a:ext cx="492" cy="155"/>
            </a:xfrm>
            <a:custGeom>
              <a:avLst/>
              <a:gdLst/>
              <a:ahLst/>
              <a:cxnLst>
                <a:cxn ang="0">
                  <a:pos x="520" y="0"/>
                </a:cxn>
                <a:cxn ang="0">
                  <a:pos x="488" y="8"/>
                </a:cxn>
                <a:cxn ang="0">
                  <a:pos x="488" y="20"/>
                </a:cxn>
                <a:cxn ang="0">
                  <a:pos x="176" y="120"/>
                </a:cxn>
                <a:cxn ang="0">
                  <a:pos x="176" y="108"/>
                </a:cxn>
                <a:cxn ang="0">
                  <a:pos x="0" y="164"/>
                </a:cxn>
              </a:cxnLst>
              <a:rect l="0" t="0" r="r" b="b"/>
              <a:pathLst>
                <a:path w="520" h="164">
                  <a:moveTo>
                    <a:pt x="520" y="0"/>
                  </a:moveTo>
                  <a:lnTo>
                    <a:pt x="488" y="8"/>
                  </a:lnTo>
                  <a:lnTo>
                    <a:pt x="488" y="20"/>
                  </a:lnTo>
                  <a:lnTo>
                    <a:pt x="176" y="120"/>
                  </a:lnTo>
                  <a:lnTo>
                    <a:pt x="176" y="108"/>
                  </a:lnTo>
                  <a:lnTo>
                    <a:pt x="0" y="164"/>
                  </a:lnTo>
                </a:path>
              </a:pathLst>
            </a:custGeom>
            <a:no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34" name="Line 98"/>
            <p:cNvSpPr>
              <a:spLocks noChangeShapeType="1"/>
            </p:cNvSpPr>
            <p:nvPr/>
          </p:nvSpPr>
          <p:spPr bwMode="auto">
            <a:xfrm>
              <a:off x="4019" y="1169"/>
              <a:ext cx="30" cy="16"/>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35" name="Line 99"/>
            <p:cNvSpPr>
              <a:spLocks noChangeShapeType="1"/>
            </p:cNvSpPr>
            <p:nvPr/>
          </p:nvSpPr>
          <p:spPr bwMode="auto">
            <a:xfrm>
              <a:off x="4774" y="1416"/>
              <a:ext cx="30" cy="15"/>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grpSp>
        <p:nvGrpSpPr>
          <p:cNvPr id="5" name="Group 43"/>
          <p:cNvGrpSpPr>
            <a:grpSpLocks/>
          </p:cNvGrpSpPr>
          <p:nvPr/>
        </p:nvGrpSpPr>
        <p:grpSpPr bwMode="auto">
          <a:xfrm>
            <a:off x="3560171" y="734711"/>
            <a:ext cx="2152435" cy="1828323"/>
            <a:chOff x="393" y="697"/>
            <a:chExt cx="1735" cy="1865"/>
          </a:xfrm>
        </p:grpSpPr>
        <p:pic>
          <p:nvPicPr>
            <p:cNvPr id="372780" name="Picture 44"/>
            <p:cNvPicPr>
              <a:picLocks noChangeAspect="1" noChangeArrowheads="1"/>
            </p:cNvPicPr>
            <p:nvPr/>
          </p:nvPicPr>
          <p:blipFill>
            <a:blip r:embed="rId4" cstate="print"/>
            <a:srcRect/>
            <a:stretch>
              <a:fillRect/>
            </a:stretch>
          </p:blipFill>
          <p:spPr bwMode="auto">
            <a:xfrm>
              <a:off x="503" y="795"/>
              <a:ext cx="1484" cy="1557"/>
            </a:xfrm>
            <a:prstGeom prst="rect">
              <a:avLst/>
            </a:prstGeom>
            <a:noFill/>
            <a:ln w="3175">
              <a:noFill/>
              <a:miter lim="800000"/>
              <a:headEnd/>
              <a:tailEnd/>
            </a:ln>
            <a:effectLst/>
          </p:spPr>
        </p:pic>
        <p:grpSp>
          <p:nvGrpSpPr>
            <p:cNvPr id="6" name="Group 45"/>
            <p:cNvGrpSpPr>
              <a:grpSpLocks/>
            </p:cNvGrpSpPr>
            <p:nvPr/>
          </p:nvGrpSpPr>
          <p:grpSpPr bwMode="auto">
            <a:xfrm>
              <a:off x="393" y="1077"/>
              <a:ext cx="702" cy="1485"/>
              <a:chOff x="393" y="1077"/>
              <a:chExt cx="702" cy="1485"/>
            </a:xfrm>
          </p:grpSpPr>
          <p:sp>
            <p:nvSpPr>
              <p:cNvPr id="372782" name="Freeform 46"/>
              <p:cNvSpPr>
                <a:spLocks/>
              </p:cNvSpPr>
              <p:nvPr/>
            </p:nvSpPr>
            <p:spPr bwMode="auto">
              <a:xfrm>
                <a:off x="393" y="1077"/>
                <a:ext cx="548" cy="1480"/>
              </a:xfrm>
              <a:custGeom>
                <a:avLst/>
                <a:gdLst/>
                <a:ahLst/>
                <a:cxnLst>
                  <a:cxn ang="0">
                    <a:pos x="340" y="0"/>
                  </a:cxn>
                  <a:cxn ang="0">
                    <a:pos x="31" y="109"/>
                  </a:cxn>
                  <a:cxn ang="0">
                    <a:pos x="18" y="116"/>
                  </a:cxn>
                  <a:cxn ang="0">
                    <a:pos x="8" y="127"/>
                  </a:cxn>
                  <a:cxn ang="0">
                    <a:pos x="1" y="142"/>
                  </a:cxn>
                  <a:cxn ang="0">
                    <a:pos x="0" y="1390"/>
                  </a:cxn>
                  <a:cxn ang="0">
                    <a:pos x="5" y="1406"/>
                  </a:cxn>
                  <a:cxn ang="0">
                    <a:pos x="14" y="1416"/>
                  </a:cxn>
                  <a:cxn ang="0">
                    <a:pos x="62" y="1433"/>
                  </a:cxn>
                  <a:cxn ang="0">
                    <a:pos x="122" y="1416"/>
                  </a:cxn>
                  <a:cxn ang="0">
                    <a:pos x="125" y="1442"/>
                  </a:cxn>
                  <a:cxn ang="0">
                    <a:pos x="132" y="1457"/>
                  </a:cxn>
                  <a:cxn ang="0">
                    <a:pos x="205" y="1480"/>
                  </a:cxn>
                  <a:cxn ang="0">
                    <a:pos x="435" y="330"/>
                  </a:cxn>
                  <a:cxn ang="0">
                    <a:pos x="548" y="70"/>
                  </a:cxn>
                  <a:cxn ang="0">
                    <a:pos x="340" y="0"/>
                  </a:cxn>
                </a:cxnLst>
                <a:rect l="0" t="0" r="r" b="b"/>
                <a:pathLst>
                  <a:path w="548" h="1480">
                    <a:moveTo>
                      <a:pt x="340" y="0"/>
                    </a:moveTo>
                    <a:lnTo>
                      <a:pt x="31" y="109"/>
                    </a:lnTo>
                    <a:lnTo>
                      <a:pt x="18" y="116"/>
                    </a:lnTo>
                    <a:lnTo>
                      <a:pt x="8" y="127"/>
                    </a:lnTo>
                    <a:lnTo>
                      <a:pt x="1" y="142"/>
                    </a:lnTo>
                    <a:lnTo>
                      <a:pt x="0" y="1390"/>
                    </a:lnTo>
                    <a:lnTo>
                      <a:pt x="5" y="1406"/>
                    </a:lnTo>
                    <a:lnTo>
                      <a:pt x="14" y="1416"/>
                    </a:lnTo>
                    <a:lnTo>
                      <a:pt x="62" y="1433"/>
                    </a:lnTo>
                    <a:lnTo>
                      <a:pt x="122" y="1416"/>
                    </a:lnTo>
                    <a:lnTo>
                      <a:pt x="125" y="1442"/>
                    </a:lnTo>
                    <a:lnTo>
                      <a:pt x="132" y="1457"/>
                    </a:lnTo>
                    <a:lnTo>
                      <a:pt x="205" y="1480"/>
                    </a:lnTo>
                    <a:lnTo>
                      <a:pt x="435" y="330"/>
                    </a:lnTo>
                    <a:lnTo>
                      <a:pt x="548" y="70"/>
                    </a:lnTo>
                    <a:lnTo>
                      <a:pt x="340" y="0"/>
                    </a:lnTo>
                    <a:close/>
                  </a:path>
                </a:pathLst>
              </a:custGeom>
              <a:solidFill>
                <a:schemeClr val="bg1"/>
              </a:solid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nvGrpSpPr>
              <p:cNvPr id="7" name="Group 47"/>
              <p:cNvGrpSpPr>
                <a:grpSpLocks/>
              </p:cNvGrpSpPr>
              <p:nvPr/>
            </p:nvGrpSpPr>
            <p:grpSpPr bwMode="auto">
              <a:xfrm>
                <a:off x="410" y="1197"/>
                <a:ext cx="187" cy="91"/>
                <a:chOff x="3159" y="2887"/>
                <a:chExt cx="150" cy="77"/>
              </a:xfrm>
            </p:grpSpPr>
            <p:sp>
              <p:nvSpPr>
                <p:cNvPr id="372784" name="Line 48"/>
                <p:cNvSpPr>
                  <a:spLocks noChangeShapeType="1"/>
                </p:cNvSpPr>
                <p:nvPr/>
              </p:nvSpPr>
              <p:spPr bwMode="auto">
                <a:xfrm>
                  <a:off x="3178" y="2887"/>
                  <a:ext cx="131" cy="48"/>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85" name="Line 49"/>
                <p:cNvSpPr>
                  <a:spLocks noChangeShapeType="1"/>
                </p:cNvSpPr>
                <p:nvPr/>
              </p:nvSpPr>
              <p:spPr bwMode="auto">
                <a:xfrm>
                  <a:off x="3159" y="2916"/>
                  <a:ext cx="131" cy="48"/>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sp>
            <p:nvSpPr>
              <p:cNvPr id="372786" name="Freeform 50"/>
              <p:cNvSpPr>
                <a:spLocks/>
              </p:cNvSpPr>
              <p:nvPr/>
            </p:nvSpPr>
            <p:spPr bwMode="auto">
              <a:xfrm>
                <a:off x="593" y="1147"/>
                <a:ext cx="502" cy="1415"/>
              </a:xfrm>
              <a:custGeom>
                <a:avLst/>
                <a:gdLst/>
                <a:ahLst/>
                <a:cxnLst>
                  <a:cxn ang="0">
                    <a:pos x="345" y="0"/>
                  </a:cxn>
                  <a:cxn ang="0">
                    <a:pos x="42" y="100"/>
                  </a:cxn>
                  <a:cxn ang="0">
                    <a:pos x="21" y="115"/>
                  </a:cxn>
                  <a:cxn ang="0">
                    <a:pos x="7" y="127"/>
                  </a:cxn>
                  <a:cxn ang="0">
                    <a:pos x="3" y="140"/>
                  </a:cxn>
                  <a:cxn ang="0">
                    <a:pos x="0" y="1401"/>
                  </a:cxn>
                  <a:cxn ang="0">
                    <a:pos x="9" y="1413"/>
                  </a:cxn>
                  <a:cxn ang="0">
                    <a:pos x="28" y="1415"/>
                  </a:cxn>
                  <a:cxn ang="0">
                    <a:pos x="502" y="1259"/>
                  </a:cxn>
                  <a:cxn ang="0">
                    <a:pos x="502" y="1001"/>
                  </a:cxn>
                  <a:cxn ang="0">
                    <a:pos x="343" y="1053"/>
                  </a:cxn>
                  <a:cxn ang="0">
                    <a:pos x="258" y="988"/>
                  </a:cxn>
                  <a:cxn ang="0">
                    <a:pos x="258" y="266"/>
                  </a:cxn>
                  <a:cxn ang="0">
                    <a:pos x="345" y="139"/>
                  </a:cxn>
                  <a:cxn ang="0">
                    <a:pos x="345" y="0"/>
                  </a:cxn>
                </a:cxnLst>
                <a:rect l="0" t="0" r="r" b="b"/>
                <a:pathLst>
                  <a:path w="502" h="1415">
                    <a:moveTo>
                      <a:pt x="345" y="0"/>
                    </a:moveTo>
                    <a:lnTo>
                      <a:pt x="42" y="100"/>
                    </a:lnTo>
                    <a:lnTo>
                      <a:pt x="21" y="115"/>
                    </a:lnTo>
                    <a:lnTo>
                      <a:pt x="7" y="127"/>
                    </a:lnTo>
                    <a:lnTo>
                      <a:pt x="3" y="140"/>
                    </a:lnTo>
                    <a:lnTo>
                      <a:pt x="0" y="1401"/>
                    </a:lnTo>
                    <a:lnTo>
                      <a:pt x="9" y="1413"/>
                    </a:lnTo>
                    <a:lnTo>
                      <a:pt x="28" y="1415"/>
                    </a:lnTo>
                    <a:lnTo>
                      <a:pt x="502" y="1259"/>
                    </a:lnTo>
                    <a:lnTo>
                      <a:pt x="502" y="1001"/>
                    </a:lnTo>
                    <a:lnTo>
                      <a:pt x="343" y="1053"/>
                    </a:lnTo>
                    <a:lnTo>
                      <a:pt x="258" y="988"/>
                    </a:lnTo>
                    <a:lnTo>
                      <a:pt x="258" y="266"/>
                    </a:lnTo>
                    <a:lnTo>
                      <a:pt x="345" y="139"/>
                    </a:lnTo>
                    <a:lnTo>
                      <a:pt x="345" y="0"/>
                    </a:lnTo>
                    <a:close/>
                  </a:path>
                </a:pathLst>
              </a:custGeom>
              <a:solidFill>
                <a:schemeClr val="bg1"/>
              </a:solid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87" name="Freeform 51"/>
              <p:cNvSpPr>
                <a:spLocks/>
              </p:cNvSpPr>
              <p:nvPr/>
            </p:nvSpPr>
            <p:spPr bwMode="auto">
              <a:xfrm>
                <a:off x="456" y="2369"/>
                <a:ext cx="62" cy="145"/>
              </a:xfrm>
              <a:custGeom>
                <a:avLst/>
                <a:gdLst/>
                <a:ahLst/>
                <a:cxnLst>
                  <a:cxn ang="0">
                    <a:pos x="62" y="145"/>
                  </a:cxn>
                  <a:cxn ang="0">
                    <a:pos x="44" y="7"/>
                  </a:cxn>
                  <a:cxn ang="0">
                    <a:pos x="20" y="0"/>
                  </a:cxn>
                  <a:cxn ang="0">
                    <a:pos x="0" y="139"/>
                  </a:cxn>
                </a:cxnLst>
                <a:rect l="0" t="0" r="r" b="b"/>
                <a:pathLst>
                  <a:path w="62" h="145">
                    <a:moveTo>
                      <a:pt x="62" y="145"/>
                    </a:moveTo>
                    <a:lnTo>
                      <a:pt x="44" y="7"/>
                    </a:lnTo>
                    <a:lnTo>
                      <a:pt x="20" y="0"/>
                    </a:lnTo>
                    <a:lnTo>
                      <a:pt x="0" y="139"/>
                    </a:lnTo>
                  </a:path>
                </a:pathLst>
              </a:custGeom>
              <a:no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88" name="Freeform 52"/>
              <p:cNvSpPr>
                <a:spLocks/>
              </p:cNvSpPr>
              <p:nvPr/>
            </p:nvSpPr>
            <p:spPr bwMode="auto">
              <a:xfrm>
                <a:off x="909" y="2136"/>
                <a:ext cx="185" cy="65"/>
              </a:xfrm>
              <a:custGeom>
                <a:avLst/>
                <a:gdLst/>
                <a:ahLst/>
                <a:cxnLst>
                  <a:cxn ang="0">
                    <a:pos x="185" y="12"/>
                  </a:cxn>
                  <a:cxn ang="0">
                    <a:pos x="141" y="0"/>
                  </a:cxn>
                  <a:cxn ang="0">
                    <a:pos x="0" y="45"/>
                  </a:cxn>
                  <a:cxn ang="0">
                    <a:pos x="27" y="65"/>
                  </a:cxn>
                  <a:cxn ang="0">
                    <a:pos x="185" y="12"/>
                  </a:cxn>
                </a:cxnLst>
                <a:rect l="0" t="0" r="r" b="b"/>
                <a:pathLst>
                  <a:path w="185" h="65">
                    <a:moveTo>
                      <a:pt x="185" y="12"/>
                    </a:moveTo>
                    <a:lnTo>
                      <a:pt x="141" y="0"/>
                    </a:lnTo>
                    <a:lnTo>
                      <a:pt x="0" y="45"/>
                    </a:lnTo>
                    <a:lnTo>
                      <a:pt x="27" y="65"/>
                    </a:lnTo>
                    <a:lnTo>
                      <a:pt x="185" y="12"/>
                    </a:lnTo>
                    <a:close/>
                  </a:path>
                </a:pathLst>
              </a:custGeom>
              <a:solidFill>
                <a:schemeClr val="bg1"/>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grpSp>
          <p:nvGrpSpPr>
            <p:cNvPr id="8" name="Group 53"/>
            <p:cNvGrpSpPr>
              <a:grpSpLocks/>
            </p:cNvGrpSpPr>
            <p:nvPr/>
          </p:nvGrpSpPr>
          <p:grpSpPr bwMode="auto">
            <a:xfrm>
              <a:off x="1096" y="2038"/>
              <a:ext cx="508" cy="252"/>
              <a:chOff x="1096" y="2038"/>
              <a:chExt cx="508" cy="252"/>
            </a:xfrm>
          </p:grpSpPr>
          <p:sp>
            <p:nvSpPr>
              <p:cNvPr id="372790" name="Freeform 54"/>
              <p:cNvSpPr>
                <a:spLocks/>
              </p:cNvSpPr>
              <p:nvPr/>
            </p:nvSpPr>
            <p:spPr bwMode="auto">
              <a:xfrm>
                <a:off x="1096" y="2038"/>
                <a:ext cx="508" cy="252"/>
              </a:xfrm>
              <a:custGeom>
                <a:avLst/>
                <a:gdLst/>
                <a:ahLst/>
                <a:cxnLst>
                  <a:cxn ang="0">
                    <a:pos x="0" y="158"/>
                  </a:cxn>
                  <a:cxn ang="0">
                    <a:pos x="468" y="0"/>
                  </a:cxn>
                  <a:cxn ang="0">
                    <a:pos x="508" y="12"/>
                  </a:cxn>
                  <a:cxn ang="0">
                    <a:pos x="508" y="76"/>
                  </a:cxn>
                  <a:cxn ang="0">
                    <a:pos x="2" y="252"/>
                  </a:cxn>
                  <a:cxn ang="0">
                    <a:pos x="0" y="158"/>
                  </a:cxn>
                </a:cxnLst>
                <a:rect l="0" t="0" r="r" b="b"/>
                <a:pathLst>
                  <a:path w="508" h="252">
                    <a:moveTo>
                      <a:pt x="0" y="158"/>
                    </a:moveTo>
                    <a:lnTo>
                      <a:pt x="468" y="0"/>
                    </a:lnTo>
                    <a:lnTo>
                      <a:pt x="508" y="12"/>
                    </a:lnTo>
                    <a:lnTo>
                      <a:pt x="508" y="76"/>
                    </a:lnTo>
                    <a:lnTo>
                      <a:pt x="2" y="252"/>
                    </a:lnTo>
                    <a:lnTo>
                      <a:pt x="0" y="158"/>
                    </a:lnTo>
                    <a:close/>
                  </a:path>
                </a:pathLst>
              </a:custGeom>
              <a:solidFill>
                <a:srgbClr val="969696"/>
              </a:solid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1" name="Line 55"/>
              <p:cNvSpPr>
                <a:spLocks noChangeShapeType="1"/>
              </p:cNvSpPr>
              <p:nvPr/>
            </p:nvSpPr>
            <p:spPr bwMode="auto">
              <a:xfrm flipV="1">
                <a:off x="1096" y="2050"/>
                <a:ext cx="508" cy="170"/>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2" name="Line 56"/>
              <p:cNvSpPr>
                <a:spLocks noChangeShapeType="1"/>
              </p:cNvSpPr>
              <p:nvPr/>
            </p:nvSpPr>
            <p:spPr bwMode="auto">
              <a:xfrm flipV="1">
                <a:off x="1096" y="2054"/>
                <a:ext cx="508" cy="170"/>
              </a:xfrm>
              <a:prstGeom prst="line">
                <a:avLst/>
              </a:prstGeom>
              <a:noFill/>
              <a:ln w="9525">
                <a:solidFill>
                  <a:srgbClr val="EAEAEA"/>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3" name="Freeform 57"/>
              <p:cNvSpPr>
                <a:spLocks/>
              </p:cNvSpPr>
              <p:nvPr/>
            </p:nvSpPr>
            <p:spPr bwMode="auto">
              <a:xfrm>
                <a:off x="1098" y="2038"/>
                <a:ext cx="502" cy="178"/>
              </a:xfrm>
              <a:custGeom>
                <a:avLst/>
                <a:gdLst/>
                <a:ahLst/>
                <a:cxnLst>
                  <a:cxn ang="0">
                    <a:pos x="468" y="0"/>
                  </a:cxn>
                  <a:cxn ang="0">
                    <a:pos x="502" y="12"/>
                  </a:cxn>
                  <a:cxn ang="0">
                    <a:pos x="0" y="178"/>
                  </a:cxn>
                  <a:cxn ang="0">
                    <a:pos x="0" y="156"/>
                  </a:cxn>
                  <a:cxn ang="0">
                    <a:pos x="468" y="0"/>
                  </a:cxn>
                </a:cxnLst>
                <a:rect l="0" t="0" r="r" b="b"/>
                <a:pathLst>
                  <a:path w="502" h="178">
                    <a:moveTo>
                      <a:pt x="468" y="0"/>
                    </a:moveTo>
                    <a:lnTo>
                      <a:pt x="502" y="12"/>
                    </a:lnTo>
                    <a:lnTo>
                      <a:pt x="0" y="178"/>
                    </a:lnTo>
                    <a:lnTo>
                      <a:pt x="0" y="156"/>
                    </a:lnTo>
                    <a:lnTo>
                      <a:pt x="468" y="0"/>
                    </a:lnTo>
                    <a:close/>
                  </a:path>
                </a:pathLst>
              </a:custGeom>
              <a:solidFill>
                <a:srgbClr val="777777"/>
              </a:solidFill>
              <a:ln w="3175" cap="flat" cmpd="sng">
                <a:no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sp>
          <p:nvSpPr>
            <p:cNvPr id="372794" name="Freeform 58"/>
            <p:cNvSpPr>
              <a:spLocks/>
            </p:cNvSpPr>
            <p:nvPr/>
          </p:nvSpPr>
          <p:spPr bwMode="auto">
            <a:xfrm>
              <a:off x="1418" y="697"/>
              <a:ext cx="695" cy="1541"/>
            </a:xfrm>
            <a:custGeom>
              <a:avLst/>
              <a:gdLst/>
              <a:ahLst/>
              <a:cxnLst>
                <a:cxn ang="0">
                  <a:pos x="493" y="0"/>
                </a:cxn>
                <a:cxn ang="0">
                  <a:pos x="481" y="0"/>
                </a:cxn>
                <a:cxn ang="0">
                  <a:pos x="469" y="2"/>
                </a:cxn>
                <a:cxn ang="0">
                  <a:pos x="168" y="101"/>
                </a:cxn>
                <a:cxn ang="0">
                  <a:pos x="168" y="190"/>
                </a:cxn>
                <a:cxn ang="0">
                  <a:pos x="203" y="178"/>
                </a:cxn>
                <a:cxn ang="0">
                  <a:pos x="332" y="226"/>
                </a:cxn>
                <a:cxn ang="0">
                  <a:pos x="329" y="300"/>
                </a:cxn>
                <a:cxn ang="0">
                  <a:pos x="413" y="364"/>
                </a:cxn>
                <a:cxn ang="0">
                  <a:pos x="413" y="1084"/>
                </a:cxn>
                <a:cxn ang="0">
                  <a:pos x="330" y="1216"/>
                </a:cxn>
                <a:cxn ang="0">
                  <a:pos x="145" y="1277"/>
                </a:cxn>
                <a:cxn ang="0">
                  <a:pos x="146" y="1343"/>
                </a:cxn>
                <a:cxn ang="0">
                  <a:pos x="93" y="1358"/>
                </a:cxn>
                <a:cxn ang="0">
                  <a:pos x="136" y="1372"/>
                </a:cxn>
                <a:cxn ang="0">
                  <a:pos x="136" y="1435"/>
                </a:cxn>
                <a:cxn ang="0">
                  <a:pos x="0" y="1481"/>
                </a:cxn>
                <a:cxn ang="0">
                  <a:pos x="38" y="1491"/>
                </a:cxn>
                <a:cxn ang="0">
                  <a:pos x="96" y="1472"/>
                </a:cxn>
                <a:cxn ang="0">
                  <a:pos x="103" y="1516"/>
                </a:cxn>
                <a:cxn ang="0">
                  <a:pos x="186" y="1541"/>
                </a:cxn>
                <a:cxn ang="0">
                  <a:pos x="510" y="1113"/>
                </a:cxn>
                <a:cxn ang="0">
                  <a:pos x="695" y="70"/>
                </a:cxn>
                <a:cxn ang="0">
                  <a:pos x="493" y="0"/>
                </a:cxn>
              </a:cxnLst>
              <a:rect l="0" t="0" r="r" b="b"/>
              <a:pathLst>
                <a:path w="695" h="1541">
                  <a:moveTo>
                    <a:pt x="493" y="0"/>
                  </a:moveTo>
                  <a:lnTo>
                    <a:pt x="481" y="0"/>
                  </a:lnTo>
                  <a:lnTo>
                    <a:pt x="469" y="2"/>
                  </a:lnTo>
                  <a:lnTo>
                    <a:pt x="168" y="101"/>
                  </a:lnTo>
                  <a:lnTo>
                    <a:pt x="168" y="190"/>
                  </a:lnTo>
                  <a:lnTo>
                    <a:pt x="203" y="178"/>
                  </a:lnTo>
                  <a:lnTo>
                    <a:pt x="332" y="226"/>
                  </a:lnTo>
                  <a:lnTo>
                    <a:pt x="329" y="300"/>
                  </a:lnTo>
                  <a:lnTo>
                    <a:pt x="413" y="364"/>
                  </a:lnTo>
                  <a:lnTo>
                    <a:pt x="413" y="1084"/>
                  </a:lnTo>
                  <a:lnTo>
                    <a:pt x="330" y="1216"/>
                  </a:lnTo>
                  <a:lnTo>
                    <a:pt x="145" y="1277"/>
                  </a:lnTo>
                  <a:lnTo>
                    <a:pt x="146" y="1343"/>
                  </a:lnTo>
                  <a:lnTo>
                    <a:pt x="93" y="1358"/>
                  </a:lnTo>
                  <a:lnTo>
                    <a:pt x="136" y="1372"/>
                  </a:lnTo>
                  <a:lnTo>
                    <a:pt x="136" y="1435"/>
                  </a:lnTo>
                  <a:lnTo>
                    <a:pt x="0" y="1481"/>
                  </a:lnTo>
                  <a:lnTo>
                    <a:pt x="38" y="1491"/>
                  </a:lnTo>
                  <a:lnTo>
                    <a:pt x="96" y="1472"/>
                  </a:lnTo>
                  <a:lnTo>
                    <a:pt x="103" y="1516"/>
                  </a:lnTo>
                  <a:lnTo>
                    <a:pt x="186" y="1541"/>
                  </a:lnTo>
                  <a:lnTo>
                    <a:pt x="510" y="1113"/>
                  </a:lnTo>
                  <a:lnTo>
                    <a:pt x="695" y="70"/>
                  </a:lnTo>
                  <a:lnTo>
                    <a:pt x="493" y="0"/>
                  </a:lnTo>
                  <a:close/>
                </a:path>
              </a:pathLst>
            </a:custGeom>
            <a:solidFill>
              <a:schemeClr val="bg1"/>
            </a:solid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5" name="Freeform 59"/>
            <p:cNvSpPr>
              <a:spLocks/>
            </p:cNvSpPr>
            <p:nvPr/>
          </p:nvSpPr>
          <p:spPr bwMode="auto">
            <a:xfrm>
              <a:off x="1604" y="765"/>
              <a:ext cx="524" cy="1472"/>
            </a:xfrm>
            <a:custGeom>
              <a:avLst/>
              <a:gdLst/>
              <a:ahLst/>
              <a:cxnLst>
                <a:cxn ang="0">
                  <a:pos x="522" y="10"/>
                </a:cxn>
                <a:cxn ang="0">
                  <a:pos x="509" y="1"/>
                </a:cxn>
                <a:cxn ang="0">
                  <a:pos x="496" y="0"/>
                </a:cxn>
                <a:cxn ang="0">
                  <a:pos x="485" y="3"/>
                </a:cxn>
                <a:cxn ang="0">
                  <a:pos x="184" y="100"/>
                </a:cxn>
                <a:cxn ang="0">
                  <a:pos x="184" y="242"/>
                </a:cxn>
                <a:cxn ang="0">
                  <a:pos x="270" y="312"/>
                </a:cxn>
                <a:cxn ang="0">
                  <a:pos x="270" y="1030"/>
                </a:cxn>
                <a:cxn ang="0">
                  <a:pos x="184" y="1162"/>
                </a:cxn>
                <a:cxn ang="0">
                  <a:pos x="0" y="1221"/>
                </a:cxn>
                <a:cxn ang="0">
                  <a:pos x="0" y="1472"/>
                </a:cxn>
                <a:cxn ang="0">
                  <a:pos x="493" y="1308"/>
                </a:cxn>
                <a:cxn ang="0">
                  <a:pos x="509" y="1295"/>
                </a:cxn>
                <a:cxn ang="0">
                  <a:pos x="517" y="1283"/>
                </a:cxn>
                <a:cxn ang="0">
                  <a:pos x="523" y="1260"/>
                </a:cxn>
                <a:cxn ang="0">
                  <a:pos x="524" y="35"/>
                </a:cxn>
                <a:cxn ang="0">
                  <a:pos x="522" y="10"/>
                </a:cxn>
              </a:cxnLst>
              <a:rect l="0" t="0" r="r" b="b"/>
              <a:pathLst>
                <a:path w="524" h="1472">
                  <a:moveTo>
                    <a:pt x="522" y="10"/>
                  </a:moveTo>
                  <a:lnTo>
                    <a:pt x="509" y="1"/>
                  </a:lnTo>
                  <a:lnTo>
                    <a:pt x="496" y="0"/>
                  </a:lnTo>
                  <a:lnTo>
                    <a:pt x="485" y="3"/>
                  </a:lnTo>
                  <a:lnTo>
                    <a:pt x="184" y="100"/>
                  </a:lnTo>
                  <a:lnTo>
                    <a:pt x="184" y="242"/>
                  </a:lnTo>
                  <a:lnTo>
                    <a:pt x="270" y="312"/>
                  </a:lnTo>
                  <a:lnTo>
                    <a:pt x="270" y="1030"/>
                  </a:lnTo>
                  <a:lnTo>
                    <a:pt x="184" y="1162"/>
                  </a:lnTo>
                  <a:lnTo>
                    <a:pt x="0" y="1221"/>
                  </a:lnTo>
                  <a:lnTo>
                    <a:pt x="0" y="1472"/>
                  </a:lnTo>
                  <a:lnTo>
                    <a:pt x="493" y="1308"/>
                  </a:lnTo>
                  <a:lnTo>
                    <a:pt x="509" y="1295"/>
                  </a:lnTo>
                  <a:lnTo>
                    <a:pt x="517" y="1283"/>
                  </a:lnTo>
                  <a:lnTo>
                    <a:pt x="523" y="1260"/>
                  </a:lnTo>
                  <a:lnTo>
                    <a:pt x="524" y="35"/>
                  </a:lnTo>
                  <a:lnTo>
                    <a:pt x="522" y="10"/>
                  </a:lnTo>
                  <a:close/>
                </a:path>
              </a:pathLst>
            </a:custGeom>
            <a:solidFill>
              <a:schemeClr val="bg1"/>
            </a:solid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6" name="Line 60"/>
            <p:cNvSpPr>
              <a:spLocks noChangeShapeType="1"/>
            </p:cNvSpPr>
            <p:nvPr/>
          </p:nvSpPr>
          <p:spPr bwMode="auto">
            <a:xfrm flipH="1" flipV="1">
              <a:off x="1589" y="796"/>
              <a:ext cx="198" cy="71"/>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7" name="Line 61"/>
            <p:cNvSpPr>
              <a:spLocks noChangeShapeType="1"/>
            </p:cNvSpPr>
            <p:nvPr/>
          </p:nvSpPr>
          <p:spPr bwMode="auto">
            <a:xfrm flipH="1" flipV="1">
              <a:off x="1832" y="1781"/>
              <a:ext cx="37" cy="1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8" name="Line 62"/>
            <p:cNvSpPr>
              <a:spLocks noChangeShapeType="1"/>
            </p:cNvSpPr>
            <p:nvPr/>
          </p:nvSpPr>
          <p:spPr bwMode="auto">
            <a:xfrm flipH="1" flipV="1">
              <a:off x="1747" y="993"/>
              <a:ext cx="37" cy="1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799" name="Line 63"/>
            <p:cNvSpPr>
              <a:spLocks noChangeShapeType="1"/>
            </p:cNvSpPr>
            <p:nvPr/>
          </p:nvSpPr>
          <p:spPr bwMode="auto">
            <a:xfrm flipH="1" flipV="1">
              <a:off x="1832" y="1061"/>
              <a:ext cx="37" cy="1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00" name="Line 64"/>
            <p:cNvSpPr>
              <a:spLocks noChangeShapeType="1"/>
            </p:cNvSpPr>
            <p:nvPr/>
          </p:nvSpPr>
          <p:spPr bwMode="auto">
            <a:xfrm flipH="1" flipV="1">
              <a:off x="1744" y="1913"/>
              <a:ext cx="37" cy="1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01" name="Line 65"/>
            <p:cNvSpPr>
              <a:spLocks noChangeShapeType="1"/>
            </p:cNvSpPr>
            <p:nvPr/>
          </p:nvSpPr>
          <p:spPr bwMode="auto">
            <a:xfrm flipH="1" flipV="1">
              <a:off x="1564" y="1975"/>
              <a:ext cx="37" cy="14"/>
            </a:xfrm>
            <a:prstGeom prst="line">
              <a:avLst/>
            </a:prstGeom>
            <a:noFill/>
            <a:ln w="3175">
              <a:solidFill>
                <a:schemeClr val="tx1"/>
              </a:solidFill>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sp>
          <p:nvSpPr>
            <p:cNvPr id="372802" name="Freeform 66"/>
            <p:cNvSpPr>
              <a:spLocks/>
            </p:cNvSpPr>
            <p:nvPr/>
          </p:nvSpPr>
          <p:spPr bwMode="auto">
            <a:xfrm>
              <a:off x="1454" y="2148"/>
              <a:ext cx="60" cy="38"/>
            </a:xfrm>
            <a:custGeom>
              <a:avLst/>
              <a:gdLst/>
              <a:ahLst/>
              <a:cxnLst>
                <a:cxn ang="0">
                  <a:pos x="60" y="20"/>
                </a:cxn>
                <a:cxn ang="0">
                  <a:pos x="57" y="0"/>
                </a:cxn>
                <a:cxn ang="0">
                  <a:pos x="6" y="14"/>
                </a:cxn>
                <a:cxn ang="0">
                  <a:pos x="0" y="38"/>
                </a:cxn>
              </a:cxnLst>
              <a:rect l="0" t="0" r="r" b="b"/>
              <a:pathLst>
                <a:path w="60" h="38">
                  <a:moveTo>
                    <a:pt x="60" y="20"/>
                  </a:moveTo>
                  <a:lnTo>
                    <a:pt x="57" y="0"/>
                  </a:lnTo>
                  <a:lnTo>
                    <a:pt x="6" y="14"/>
                  </a:lnTo>
                  <a:lnTo>
                    <a:pt x="0" y="38"/>
                  </a:lnTo>
                </a:path>
              </a:pathLst>
            </a:custGeom>
            <a:noFill/>
            <a:ln w="3175" cap="flat" cmpd="sng">
              <a:solidFill>
                <a:schemeClr val="tx1"/>
              </a:solidFill>
              <a:prstDash val="solid"/>
              <a:round/>
              <a:headEnd/>
              <a:tailEnd/>
            </a:ln>
            <a:effectLst/>
          </p:spPr>
          <p:txBody>
            <a:bodyPr/>
            <a:lstStyle/>
            <a:p>
              <a:pPr defTabSz="914400" fontAlgn="base">
                <a:spcBef>
                  <a:spcPct val="0"/>
                </a:spcBef>
                <a:spcAft>
                  <a:spcPct val="0"/>
                </a:spcAft>
              </a:pPr>
              <a:endParaRPr lang="en-US" dirty="0">
                <a:solidFill>
                  <a:prstClr val="black"/>
                </a:solidFill>
                <a:latin typeface="Arial" charset="0"/>
              </a:endParaRPr>
            </a:p>
          </p:txBody>
        </p:sp>
      </p:grpSp>
      <p:sp>
        <p:nvSpPr>
          <p:cNvPr id="74" name="TextBox 73"/>
          <p:cNvSpPr txBox="1"/>
          <p:nvPr/>
        </p:nvSpPr>
        <p:spPr>
          <a:xfrm>
            <a:off x="218381" y="890540"/>
            <a:ext cx="3341789" cy="3139321"/>
          </a:xfrm>
          <a:prstGeom prst="rect">
            <a:avLst/>
          </a:prstGeom>
          <a:noFill/>
        </p:spPr>
        <p:txBody>
          <a:bodyPr wrap="square" rtlCol="0">
            <a:spAutoFit/>
          </a:bodyPr>
          <a:lstStyle/>
          <a:p>
            <a:pPr defTabSz="914400" fontAlgn="base">
              <a:spcBef>
                <a:spcPct val="0"/>
              </a:spcBef>
              <a:spcAft>
                <a:spcPct val="0"/>
              </a:spcAft>
            </a:pPr>
            <a:r>
              <a:rPr lang="en-US" u="sng" dirty="0" smtClean="0">
                <a:solidFill>
                  <a:prstClr val="black"/>
                </a:solidFill>
                <a:latin typeface="Arial" charset="0"/>
              </a:rPr>
              <a:t>Concept Description</a:t>
            </a:r>
          </a:p>
          <a:p>
            <a:pPr marL="285750" indent="-285750" defTabSz="914400" fontAlgn="base">
              <a:spcBef>
                <a:spcPct val="0"/>
              </a:spcBef>
              <a:spcAft>
                <a:spcPct val="0"/>
              </a:spcAft>
              <a:buFont typeface="Arial" pitchFamily="34" charset="0"/>
              <a:buChar char="•"/>
            </a:pPr>
            <a:r>
              <a:rPr lang="en-US" dirty="0" smtClean="0">
                <a:solidFill>
                  <a:prstClr val="black"/>
                </a:solidFill>
                <a:latin typeface="Arial" charset="0"/>
              </a:rPr>
              <a:t>Use same cushions as IDS notebooks.</a:t>
            </a:r>
          </a:p>
          <a:p>
            <a:pPr marL="285750" indent="-285750" defTabSz="914400" fontAlgn="base">
              <a:spcBef>
                <a:spcPct val="0"/>
              </a:spcBef>
              <a:spcAft>
                <a:spcPct val="0"/>
              </a:spcAft>
              <a:buFont typeface="Arial" pitchFamily="34" charset="0"/>
              <a:buChar char="•"/>
            </a:pPr>
            <a:r>
              <a:rPr lang="en-US" dirty="0" smtClean="0">
                <a:solidFill>
                  <a:prstClr val="black"/>
                </a:solidFill>
                <a:latin typeface="Arial" charset="0"/>
              </a:rPr>
              <a:t>NB wrapped in plastic (not shown)</a:t>
            </a:r>
          </a:p>
          <a:p>
            <a:pPr marL="285750" indent="-285750" defTabSz="914400" fontAlgn="base">
              <a:spcBef>
                <a:spcPct val="0"/>
              </a:spcBef>
              <a:spcAft>
                <a:spcPct val="0"/>
              </a:spcAft>
              <a:buFont typeface="Arial" pitchFamily="34" charset="0"/>
              <a:buChar char="•"/>
            </a:pPr>
            <a:r>
              <a:rPr lang="en-US" dirty="0" smtClean="0">
                <a:solidFill>
                  <a:prstClr val="black"/>
                </a:solidFill>
                <a:latin typeface="Arial" charset="0"/>
              </a:rPr>
              <a:t>If box ships less than completely full need spacer(s).</a:t>
            </a:r>
          </a:p>
          <a:p>
            <a:pPr marL="285750" indent="-285750" defTabSz="914400" fontAlgn="base">
              <a:spcBef>
                <a:spcPct val="0"/>
              </a:spcBef>
              <a:spcAft>
                <a:spcPct val="0"/>
              </a:spcAft>
              <a:buFont typeface="Arial" pitchFamily="34" charset="0"/>
              <a:buChar char="•"/>
            </a:pPr>
            <a:r>
              <a:rPr lang="en-US" dirty="0" smtClean="0">
                <a:solidFill>
                  <a:prstClr val="black"/>
                </a:solidFill>
                <a:latin typeface="Arial" charset="0"/>
              </a:rPr>
              <a:t>Current plan/design: 4 units per bulk pack, 24 bulk pack per standard pallet.</a:t>
            </a:r>
          </a:p>
        </p:txBody>
      </p:sp>
      <p:sp>
        <p:nvSpPr>
          <p:cNvPr id="10" name="TextBox 9"/>
          <p:cNvSpPr txBox="1"/>
          <p:nvPr/>
        </p:nvSpPr>
        <p:spPr>
          <a:xfrm>
            <a:off x="694288" y="4452375"/>
            <a:ext cx="1430841" cy="369332"/>
          </a:xfrm>
          <a:prstGeom prst="rect">
            <a:avLst/>
          </a:prstGeom>
          <a:noFill/>
        </p:spPr>
        <p:txBody>
          <a:bodyPr wrap="none" rtlCol="0">
            <a:spAutoFit/>
          </a:bodyPr>
          <a:lstStyle/>
          <a:p>
            <a:r>
              <a:rPr lang="en-US" dirty="0" smtClean="0">
                <a:solidFill>
                  <a:srgbClr val="FF0000"/>
                </a:solidFill>
              </a:rPr>
              <a:t>Example only</a:t>
            </a:r>
            <a:endParaRPr lang="en-US" dirty="0">
              <a:solidFill>
                <a:srgbClr val="FF0000"/>
              </a:solidFill>
            </a:endParaRPr>
          </a:p>
        </p:txBody>
      </p:sp>
      <p:sp>
        <p:nvSpPr>
          <p:cNvPr id="75" name="Rounded Rectangle 7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61</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41739951"/>
      </p:ext>
    </p:extLst>
  </p:cSld>
  <p:clrMapOvr>
    <a:masterClrMapping/>
  </p:clrMapOvr>
  <p:transition spd="med">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Service &amp; Warranty Requirements</a:t>
            </a:r>
            <a:endParaRPr lang="en-US" dirty="0"/>
          </a:p>
        </p:txBody>
      </p:sp>
      <p:sp>
        <p:nvSpPr>
          <p:cNvPr id="3" name="Title 2"/>
          <p:cNvSpPr>
            <a:spLocks noGrp="1"/>
          </p:cNvSpPr>
          <p:nvPr>
            <p:ph type="title"/>
          </p:nvPr>
        </p:nvSpPr>
        <p:spPr/>
        <p:txBody>
          <a:bodyPr/>
          <a:lstStyle/>
          <a:p>
            <a:r>
              <a:rPr lang="en-US" dirty="0" smtClean="0"/>
              <a:t>BSaM – A Part Service &amp; Warranty</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4092655295"/>
              </p:ext>
            </p:extLst>
          </p:nvPr>
        </p:nvGraphicFramePr>
        <p:xfrm>
          <a:off x="328613" y="1140048"/>
          <a:ext cx="8120064" cy="3765550"/>
        </p:xfrm>
        <a:graphic>
          <a:graphicData uri="http://schemas.openxmlformats.org/drawingml/2006/table">
            <a:tbl>
              <a:tblPr firstRow="1" bandRow="1">
                <a:tableStyleId>{073A0DAA-6AF3-43AB-8588-CEC1D06C72B9}</a:tableStyleId>
              </a:tblPr>
              <a:tblGrid>
                <a:gridCol w="681037"/>
                <a:gridCol w="1695450"/>
                <a:gridCol w="3943350"/>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982980">
                <a:tc>
                  <a:txBody>
                    <a:bodyPr/>
                    <a:lstStyle/>
                    <a:p>
                      <a:r>
                        <a:rPr lang="en-US" sz="800" dirty="0" smtClean="0"/>
                        <a:t>ASW-001</a:t>
                      </a:r>
                      <a:endParaRPr lang="en-US" sz="800" dirty="0"/>
                    </a:p>
                  </a:txBody>
                  <a:tcPr/>
                </a:tc>
                <a:tc>
                  <a:txBody>
                    <a:bodyPr/>
                    <a:lstStyle/>
                    <a:p>
                      <a:r>
                        <a:rPr lang="en-US" sz="1000" dirty="0" smtClean="0"/>
                        <a:t>BSaM Unique Service Tag</a:t>
                      </a:r>
                      <a:r>
                        <a:rPr lang="en-US" sz="1000" baseline="0" dirty="0" smtClean="0"/>
                        <a:t> Change</a:t>
                      </a:r>
                      <a:endParaRPr lang="en-US" sz="1000" dirty="0"/>
                    </a:p>
                  </a:txBody>
                  <a:tcPr/>
                </a:tc>
                <a:tc>
                  <a:txBody>
                    <a:bodyPr/>
                    <a:lstStyle/>
                    <a:p>
                      <a:r>
                        <a:rPr lang="en-US" sz="1000" dirty="0" smtClean="0"/>
                        <a:t>The ODM will need to support a unique Service Tag for BSaM.</a:t>
                      </a:r>
                      <a:r>
                        <a:rPr lang="en-US" sz="1000" baseline="0" dirty="0" smtClean="0"/>
                        <a:t>  The BSaM Service Tag will need to show the “C” Part Number as the main part number.  Also it will need to show the “A” Part number in a different location.  Details of the Service Tag spec will be provided by HP</a:t>
                      </a:r>
                      <a:endParaRPr lang="en-US" sz="1000" dirty="0" smtClean="0"/>
                    </a:p>
                    <a:p>
                      <a:endParaRPr lang="en-US" sz="1000" dirty="0"/>
                    </a:p>
                  </a:txBody>
                  <a:tcPr/>
                </a:tc>
                <a:tc>
                  <a:txBody>
                    <a:bodyPr/>
                    <a:lstStyle/>
                    <a:p>
                      <a:r>
                        <a:rPr lang="en-US" sz="1000" dirty="0" smtClean="0"/>
                        <a:t>HP Service Tag</a:t>
                      </a:r>
                      <a:r>
                        <a:rPr lang="en-US" sz="1000" baseline="0" dirty="0" smtClean="0"/>
                        <a:t> Label Spec</a:t>
                      </a:r>
                      <a:endParaRPr lang="en-US" sz="1000" dirty="0"/>
                    </a:p>
                  </a:txBody>
                  <a:tcPr/>
                </a:tc>
              </a:tr>
              <a:tr h="982980">
                <a:tc>
                  <a:txBody>
                    <a:bodyPr/>
                    <a:lstStyle/>
                    <a:p>
                      <a:r>
                        <a:rPr lang="en-US" sz="800" dirty="0" smtClean="0"/>
                        <a:t>ASW-002</a:t>
                      </a:r>
                      <a:endParaRPr lang="en-US" sz="800" dirty="0"/>
                    </a:p>
                  </a:txBody>
                  <a:tcPr/>
                </a:tc>
                <a:tc>
                  <a:txBody>
                    <a:bodyPr/>
                    <a:lstStyle/>
                    <a:p>
                      <a:r>
                        <a:rPr lang="en-US" sz="1000" dirty="0" smtClean="0"/>
                        <a:t>WPTR File Adjustments</a:t>
                      </a:r>
                      <a:endParaRPr lang="en-US" sz="1000" dirty="0"/>
                    </a:p>
                  </a:txBody>
                  <a:tcPr/>
                </a:tc>
                <a:tc>
                  <a:txBody>
                    <a:bodyPr/>
                    <a:lstStyle/>
                    <a:p>
                      <a:r>
                        <a:rPr lang="en-US" sz="1000" dirty="0" smtClean="0"/>
                        <a:t>The ODM will need to send back the WPTR file for BSaM as they do today</a:t>
                      </a:r>
                      <a:r>
                        <a:rPr lang="en-US" sz="1000" baseline="0" dirty="0" smtClean="0"/>
                        <a:t> for IDS.  The only difference in requirements are:</a:t>
                      </a:r>
                    </a:p>
                    <a:p>
                      <a:pPr marL="171450" indent="-171450">
                        <a:buFontTx/>
                        <a:buChar char="-"/>
                      </a:pPr>
                      <a:r>
                        <a:rPr lang="en-US" sz="1000" baseline="0" dirty="0" smtClean="0"/>
                        <a:t>No need to include data on Battery and AC Adapter</a:t>
                      </a:r>
                    </a:p>
                    <a:p>
                      <a:pPr marL="171450" indent="-171450">
                        <a:buFontTx/>
                        <a:buChar char="-"/>
                      </a:pPr>
                      <a:r>
                        <a:rPr lang="en-US" sz="1000" baseline="0" dirty="0" smtClean="0"/>
                        <a:t>The Part Number will need to show the “C” part number instead of the “A” Part Number.</a:t>
                      </a:r>
                      <a:endParaRPr lang="en-US" sz="1000" dirty="0"/>
                    </a:p>
                  </a:txBody>
                  <a:tcPr/>
                </a:tc>
                <a:tc>
                  <a:txBody>
                    <a:bodyPr/>
                    <a:lstStyle/>
                    <a:p>
                      <a:r>
                        <a:rPr lang="en-US" sz="1000" dirty="0" smtClean="0"/>
                        <a:t>ODM</a:t>
                      </a:r>
                      <a:endParaRPr lang="en-US" sz="1000" dirty="0"/>
                    </a:p>
                  </a:txBody>
                  <a:tcPr/>
                </a:tc>
              </a:tr>
              <a:tr h="1428750">
                <a:tc>
                  <a:txBody>
                    <a:bodyPr/>
                    <a:lstStyle/>
                    <a:p>
                      <a:r>
                        <a:rPr lang="en-US" sz="800" dirty="0" smtClean="0"/>
                        <a:t>ASW-003</a:t>
                      </a:r>
                      <a:endParaRPr lang="en-US" sz="800" dirty="0"/>
                    </a:p>
                  </a:txBody>
                  <a:tcPr/>
                </a:tc>
                <a:tc>
                  <a:txBody>
                    <a:bodyPr/>
                    <a:lstStyle/>
                    <a:p>
                      <a:r>
                        <a:rPr lang="en-US" sz="1000" dirty="0" smtClean="0"/>
                        <a:t>IQDC File Adjustments</a:t>
                      </a:r>
                      <a:endParaRPr lang="en-US" sz="1000" dirty="0"/>
                    </a:p>
                  </a:txBody>
                  <a:tcPr/>
                </a:tc>
                <a:tc>
                  <a:txBody>
                    <a:bodyPr/>
                    <a:lstStyle/>
                    <a:p>
                      <a:r>
                        <a:rPr lang="en-US" sz="1000" dirty="0" smtClean="0"/>
                        <a:t>The ODM will need to send back the </a:t>
                      </a:r>
                      <a:r>
                        <a:rPr lang="en-US" sz="1000" dirty="0" smtClean="0">
                          <a:solidFill>
                            <a:srgbClr val="0000FF"/>
                          </a:solidFill>
                        </a:rPr>
                        <a:t>IQDC file</a:t>
                      </a:r>
                      <a:r>
                        <a:rPr lang="en-US" sz="1000" dirty="0" smtClean="0"/>
                        <a:t> for BSaM as they do today</a:t>
                      </a:r>
                      <a:r>
                        <a:rPr lang="en-US" sz="1000" baseline="0" dirty="0" smtClean="0"/>
                        <a:t> for IDS.  The only difference in requirements are:</a:t>
                      </a:r>
                    </a:p>
                    <a:p>
                      <a:pPr marL="171450" indent="-171450">
                        <a:buFontTx/>
                        <a:buChar char="-"/>
                      </a:pPr>
                      <a:r>
                        <a:rPr lang="en-US" sz="1000" baseline="0" dirty="0" smtClean="0"/>
                        <a:t>No need to include data on Battery and AC Adapter</a:t>
                      </a:r>
                    </a:p>
                    <a:p>
                      <a:pPr marL="171450" indent="-171450">
                        <a:buFontTx/>
                        <a:buChar char="-"/>
                      </a:pPr>
                      <a:r>
                        <a:rPr lang="en-US" sz="1000" baseline="0" dirty="0" smtClean="0"/>
                        <a:t>The Part Number will need to show the “C” part number instead of the “A” Part Number</a:t>
                      </a:r>
                    </a:p>
                    <a:p>
                      <a:pPr marL="171450" indent="-171450">
                        <a:buFontTx/>
                        <a:buChar char="-"/>
                      </a:pPr>
                      <a:r>
                        <a:rPr lang="en-US" sz="1000" baseline="0" dirty="0" smtClean="0"/>
                        <a:t>The OPER_RESOURCE  field In the IQDC file will need to be populated with the text “BSAM”</a:t>
                      </a:r>
                      <a:endParaRPr lang="en-US" sz="1000" dirty="0" smtClean="0"/>
                    </a:p>
                    <a:p>
                      <a:endParaRPr lang="en-US" sz="1000" dirty="0"/>
                    </a:p>
                  </a:txBody>
                  <a:tcPr/>
                </a:tc>
                <a:tc>
                  <a:txBody>
                    <a:bodyPr/>
                    <a:lstStyle/>
                    <a:p>
                      <a:r>
                        <a:rPr lang="en-US" sz="1000" dirty="0" smtClean="0"/>
                        <a:t>ODM</a:t>
                      </a:r>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62</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86945804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4013"/>
            <a:ext cx="8375650" cy="370283"/>
          </a:xfrm>
        </p:spPr>
        <p:txBody>
          <a:bodyPr/>
          <a:lstStyle/>
          <a:p>
            <a:r>
              <a:rPr lang="en-US" dirty="0" smtClean="0"/>
              <a:t>Service Tag Label</a:t>
            </a:r>
            <a:endParaRPr lang="en-US" sz="1400" dirty="0"/>
          </a:p>
        </p:txBody>
      </p:sp>
      <p:sp>
        <p:nvSpPr>
          <p:cNvPr id="4" name="TextBox 3"/>
          <p:cNvSpPr txBox="1"/>
          <p:nvPr/>
        </p:nvSpPr>
        <p:spPr>
          <a:xfrm>
            <a:off x="0" y="841841"/>
            <a:ext cx="9144000" cy="430887"/>
          </a:xfrm>
          <a:prstGeom prst="rect">
            <a:avLst/>
          </a:prstGeom>
          <a:noFill/>
        </p:spPr>
        <p:txBody>
          <a:bodyPr wrap="square" rtlCol="0">
            <a:spAutoFit/>
          </a:bodyPr>
          <a:lstStyle/>
          <a:p>
            <a:pPr defTabSz="914400" fontAlgn="base">
              <a:spcBef>
                <a:spcPct val="0"/>
              </a:spcBef>
              <a:spcAft>
                <a:spcPct val="0"/>
              </a:spcAft>
            </a:pPr>
            <a:r>
              <a:rPr lang="en-US" sz="1100" b="1" dirty="0" smtClean="0">
                <a:solidFill>
                  <a:prstClr val="black"/>
                </a:solidFill>
              </a:rPr>
              <a:t>Description:</a:t>
            </a:r>
            <a:r>
              <a:rPr lang="en-US" sz="1100" dirty="0" smtClean="0">
                <a:solidFill>
                  <a:prstClr val="black"/>
                </a:solidFill>
              </a:rPr>
              <a:t> The service tag label today contains the "C" SKU number and the serial number of the unit.  We will need to add the "A" part to this label for postponed notebooks (only).  HP will provide the spec for the new label.</a:t>
            </a:r>
          </a:p>
        </p:txBody>
      </p:sp>
      <p:sp>
        <p:nvSpPr>
          <p:cNvPr id="5" name="TextBox 4"/>
          <p:cNvSpPr txBox="1"/>
          <p:nvPr/>
        </p:nvSpPr>
        <p:spPr>
          <a:xfrm>
            <a:off x="-1975" y="1143169"/>
            <a:ext cx="9144000" cy="261610"/>
          </a:xfrm>
          <a:prstGeom prst="rect">
            <a:avLst/>
          </a:prstGeom>
          <a:noFill/>
        </p:spPr>
        <p:txBody>
          <a:bodyPr wrap="square" rtlCol="0">
            <a:spAutoFit/>
          </a:bodyPr>
          <a:lstStyle/>
          <a:p>
            <a:pPr defTabSz="914400" fontAlgn="base">
              <a:spcBef>
                <a:spcPct val="0"/>
              </a:spcBef>
              <a:spcAft>
                <a:spcPct val="0"/>
              </a:spcAft>
            </a:pPr>
            <a:r>
              <a:rPr lang="en-US" sz="1100" b="1" dirty="0" smtClean="0">
                <a:solidFill>
                  <a:prstClr val="black"/>
                </a:solidFill>
              </a:rPr>
              <a:t>Sample:</a:t>
            </a:r>
            <a:r>
              <a:rPr lang="en-US" sz="1100" dirty="0" smtClean="0">
                <a:solidFill>
                  <a:prstClr val="black"/>
                </a:solidFill>
              </a:rPr>
              <a:t> </a:t>
            </a:r>
          </a:p>
        </p:txBody>
      </p:sp>
      <p:pic>
        <p:nvPicPr>
          <p:cNvPr id="6" name="Picture 11"/>
          <p:cNvPicPr>
            <a:picLocks noChangeAspect="1" noChangeArrowheads="1"/>
          </p:cNvPicPr>
          <p:nvPr/>
        </p:nvPicPr>
        <p:blipFill>
          <a:blip r:embed="rId2" cstate="print"/>
          <a:srcRect/>
          <a:stretch>
            <a:fillRect/>
          </a:stretch>
        </p:blipFill>
        <p:spPr bwMode="auto">
          <a:xfrm>
            <a:off x="3526166" y="3244677"/>
            <a:ext cx="4905317" cy="1227517"/>
          </a:xfrm>
          <a:prstGeom prst="rect">
            <a:avLst/>
          </a:prstGeom>
          <a:noFill/>
          <a:ln w="9525">
            <a:noFill/>
            <a:miter lim="800000"/>
            <a:headEnd/>
            <a:tailEnd/>
          </a:ln>
          <a:effectLst/>
        </p:spPr>
      </p:pic>
      <p:pic>
        <p:nvPicPr>
          <p:cNvPr id="7" name="Picture 10"/>
          <p:cNvPicPr>
            <a:picLocks noChangeAspect="1" noChangeArrowheads="1"/>
          </p:cNvPicPr>
          <p:nvPr/>
        </p:nvPicPr>
        <p:blipFill>
          <a:blip r:embed="rId3" cstate="print"/>
          <a:srcRect/>
          <a:stretch>
            <a:fillRect/>
          </a:stretch>
        </p:blipFill>
        <p:spPr bwMode="auto">
          <a:xfrm>
            <a:off x="3531253" y="1760646"/>
            <a:ext cx="4870302" cy="1218755"/>
          </a:xfrm>
          <a:prstGeom prst="rect">
            <a:avLst/>
          </a:prstGeom>
          <a:noFill/>
          <a:ln w="9525">
            <a:noFill/>
            <a:miter lim="800000"/>
            <a:headEnd/>
            <a:tailEnd/>
          </a:ln>
          <a:effectLst/>
        </p:spPr>
      </p:pic>
      <p:sp>
        <p:nvSpPr>
          <p:cNvPr id="8" name="Text Placeholder 16"/>
          <p:cNvSpPr txBox="1">
            <a:spLocks/>
          </p:cNvSpPr>
          <p:nvPr/>
        </p:nvSpPr>
        <p:spPr>
          <a:xfrm>
            <a:off x="365760" y="1597525"/>
            <a:ext cx="3137462" cy="3449574"/>
          </a:xfrm>
          <a:prstGeom prst="rect">
            <a:avLst/>
          </a:prstGeom>
        </p:spPr>
        <p:txBody>
          <a:bodyPr/>
          <a:lstStyle/>
          <a:p>
            <a:pPr defTabSz="914400">
              <a:lnSpc>
                <a:spcPct val="110000"/>
              </a:lnSpc>
              <a:spcBef>
                <a:spcPts val="1000"/>
              </a:spcBef>
              <a:buClr>
                <a:srgbClr val="000000"/>
              </a:buClr>
              <a:buSzPct val="100000"/>
              <a:buFont typeface="Futura Bk" pitchFamily="34" charset="0"/>
              <a:buNone/>
              <a:defRPr/>
            </a:pPr>
            <a:r>
              <a:rPr lang="en-US" sz="1600" dirty="0" smtClean="0">
                <a:solidFill>
                  <a:srgbClr val="000000"/>
                </a:solidFill>
              </a:rPr>
              <a:t>Bottom of unit on all notebooks</a:t>
            </a:r>
          </a:p>
          <a:p>
            <a:pPr defTabSz="914400">
              <a:lnSpc>
                <a:spcPct val="110000"/>
              </a:lnSpc>
              <a:spcBef>
                <a:spcPts val="1000"/>
              </a:spcBef>
              <a:buClr>
                <a:srgbClr val="000000"/>
              </a:buClr>
              <a:buSzPct val="100000"/>
              <a:buFont typeface="Futura Bk" pitchFamily="34" charset="0"/>
              <a:buNone/>
              <a:defRPr/>
            </a:pPr>
            <a:r>
              <a:rPr lang="en-US" sz="1600" dirty="0" smtClean="0">
                <a:solidFill>
                  <a:srgbClr val="000000"/>
                </a:solidFill>
              </a:rPr>
              <a:t>“C” part number listed as “Product” number (same as today) for all notebooks.</a:t>
            </a:r>
          </a:p>
          <a:p>
            <a:pPr defTabSz="914400">
              <a:lnSpc>
                <a:spcPct val="110000"/>
              </a:lnSpc>
              <a:spcBef>
                <a:spcPts val="1000"/>
              </a:spcBef>
              <a:buClr>
                <a:srgbClr val="000000"/>
              </a:buClr>
              <a:buSzPct val="100000"/>
              <a:buFont typeface="Futura Bk" pitchFamily="34" charset="0"/>
              <a:buNone/>
              <a:defRPr/>
            </a:pPr>
            <a:endParaRPr lang="en-US" sz="1600" dirty="0" smtClean="0">
              <a:solidFill>
                <a:srgbClr val="000000"/>
              </a:solidFill>
            </a:endParaRPr>
          </a:p>
          <a:p>
            <a:pPr defTabSz="914400">
              <a:lnSpc>
                <a:spcPct val="110000"/>
              </a:lnSpc>
              <a:spcBef>
                <a:spcPts val="1000"/>
              </a:spcBef>
              <a:buClr>
                <a:srgbClr val="000000"/>
              </a:buClr>
              <a:buSzPct val="100000"/>
              <a:buFont typeface="Futura Bk" pitchFamily="34" charset="0"/>
              <a:buNone/>
              <a:defRPr/>
            </a:pPr>
            <a:r>
              <a:rPr lang="en-US" sz="1600" dirty="0" smtClean="0">
                <a:solidFill>
                  <a:srgbClr val="000000"/>
                </a:solidFill>
              </a:rPr>
              <a:t>Location available for “A” part number (for postponed units only – leave this space blank for IDS)</a:t>
            </a:r>
          </a:p>
          <a:p>
            <a:pPr defTabSz="914400">
              <a:lnSpc>
                <a:spcPct val="110000"/>
              </a:lnSpc>
              <a:spcBef>
                <a:spcPts val="1000"/>
              </a:spcBef>
              <a:buClr>
                <a:srgbClr val="000000"/>
              </a:buClr>
              <a:buSzPct val="100000"/>
              <a:buFont typeface="Futura Bk" pitchFamily="34" charset="0"/>
              <a:buNone/>
              <a:defRPr/>
            </a:pPr>
            <a:endParaRPr lang="en-US" sz="1600" dirty="0" smtClean="0">
              <a:solidFill>
                <a:srgbClr val="000000"/>
              </a:solidFill>
            </a:endParaRPr>
          </a:p>
        </p:txBody>
      </p:sp>
      <p:sp>
        <p:nvSpPr>
          <p:cNvPr id="9" name="Oval 8"/>
          <p:cNvSpPr/>
          <p:nvPr/>
        </p:nvSpPr>
        <p:spPr>
          <a:xfrm>
            <a:off x="6733309" y="4107182"/>
            <a:ext cx="1615044" cy="302821"/>
          </a:xfrm>
          <a:prstGeom prst="ellipse">
            <a:avLst/>
          </a:prstGeom>
          <a:noFill/>
          <a:ln>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tlCol="0" anchor="ctr"/>
          <a:lstStyle/>
          <a:p>
            <a:pPr algn="ctr" defTabSz="914400" fontAlgn="base">
              <a:lnSpc>
                <a:spcPct val="85000"/>
              </a:lnSpc>
              <a:spcBef>
                <a:spcPct val="0"/>
              </a:spcBef>
              <a:spcAft>
                <a:spcPct val="0"/>
              </a:spcAft>
            </a:pPr>
            <a:endParaRPr lang="en-US" sz="2000" dirty="0" smtClean="0">
              <a:solidFill>
                <a:prstClr val="white"/>
              </a:solidFill>
            </a:endParaRPr>
          </a:p>
        </p:txBody>
      </p:sp>
      <p:sp>
        <p:nvSpPr>
          <p:cNvPr id="10" name="Oval 9"/>
          <p:cNvSpPr/>
          <p:nvPr/>
        </p:nvSpPr>
        <p:spPr>
          <a:xfrm>
            <a:off x="6671954" y="2621655"/>
            <a:ext cx="1615044" cy="302821"/>
          </a:xfrm>
          <a:prstGeom prst="ellipse">
            <a:avLst/>
          </a:prstGeom>
          <a:noFill/>
          <a:ln>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tlCol="0" anchor="ctr"/>
          <a:lstStyle/>
          <a:p>
            <a:pPr algn="ctr" defTabSz="914400" fontAlgn="base">
              <a:lnSpc>
                <a:spcPct val="85000"/>
              </a:lnSpc>
              <a:spcBef>
                <a:spcPct val="0"/>
              </a:spcBef>
              <a:spcAft>
                <a:spcPct val="0"/>
              </a:spcAft>
            </a:pPr>
            <a:endParaRPr lang="en-US" sz="2000" dirty="0" smtClean="0">
              <a:solidFill>
                <a:prstClr val="white"/>
              </a:solidFill>
            </a:endParaRPr>
          </a:p>
        </p:txBody>
      </p:sp>
      <p:sp>
        <p:nvSpPr>
          <p:cNvPr id="19" name="TextBox 18"/>
          <p:cNvSpPr txBox="1"/>
          <p:nvPr/>
        </p:nvSpPr>
        <p:spPr>
          <a:xfrm>
            <a:off x="4432967" y="2326255"/>
            <a:ext cx="1668979" cy="215240"/>
          </a:xfrm>
          <a:prstGeom prst="rect">
            <a:avLst/>
          </a:prstGeom>
          <a:solidFill>
            <a:schemeClr val="bg1"/>
          </a:solidFill>
        </p:spPr>
        <p:txBody>
          <a:bodyPr wrap="square" rtlCol="0" anchor="ctr">
            <a:noAutofit/>
          </a:bodyPr>
          <a:lstStyle/>
          <a:p>
            <a:pPr defTabSz="914400" fontAlgn="base">
              <a:spcBef>
                <a:spcPct val="0"/>
              </a:spcBef>
              <a:spcAft>
                <a:spcPct val="0"/>
              </a:spcAft>
            </a:pPr>
            <a:r>
              <a:rPr lang="en-US" sz="1400" b="1" dirty="0" smtClean="0">
                <a:solidFill>
                  <a:srgbClr val="000000"/>
                </a:solidFill>
                <a:latin typeface="HPFutura Heavy" pitchFamily="50" charset="0"/>
                <a:cs typeface="Arial" pitchFamily="34" charset="0"/>
              </a:rPr>
              <a:t>CCCCCCC#ABA</a:t>
            </a:r>
          </a:p>
        </p:txBody>
      </p:sp>
      <p:sp>
        <p:nvSpPr>
          <p:cNvPr id="11" name="Rounded Rectangle 10"/>
          <p:cNvSpPr/>
          <p:nvPr/>
        </p:nvSpPr>
        <p:spPr>
          <a:xfrm>
            <a:off x="4468091" y="2322544"/>
            <a:ext cx="1579418" cy="210416"/>
          </a:xfrm>
          <a:prstGeom prst="roundRect">
            <a:avLst/>
          </a:prstGeom>
          <a:noFill/>
          <a:ln w="28575">
            <a:solidFill>
              <a:srgbClr val="C00000"/>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tlCol="0" anchor="ctr"/>
          <a:lstStyle/>
          <a:p>
            <a:pPr algn="ctr" defTabSz="914400" fontAlgn="base">
              <a:lnSpc>
                <a:spcPct val="85000"/>
              </a:lnSpc>
              <a:spcBef>
                <a:spcPct val="0"/>
              </a:spcBef>
              <a:spcAft>
                <a:spcPct val="0"/>
              </a:spcAft>
            </a:pPr>
            <a:endParaRPr lang="en-US" sz="2000" dirty="0" smtClean="0">
              <a:solidFill>
                <a:prstClr val="white"/>
              </a:solidFill>
            </a:endParaRPr>
          </a:p>
        </p:txBody>
      </p:sp>
      <p:cxnSp>
        <p:nvCxnSpPr>
          <p:cNvPr id="12" name="Straight Arrow Connector 11"/>
          <p:cNvCxnSpPr>
            <a:stCxn id="13" idx="2"/>
            <a:endCxn id="11" idx="3"/>
          </p:cNvCxnSpPr>
          <p:nvPr/>
        </p:nvCxnSpPr>
        <p:spPr>
          <a:xfrm rot="5400000">
            <a:off x="6048347" y="1571335"/>
            <a:ext cx="855580" cy="85725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338459" y="1268238"/>
            <a:ext cx="1132609" cy="303935"/>
          </a:xfrm>
          <a:prstGeom prst="rect">
            <a:avLst/>
          </a:prstGeom>
          <a:noFill/>
          <a:ln w="19050">
            <a:solidFill>
              <a:srgbClr val="C00000"/>
            </a:solidFill>
          </a:ln>
        </p:spPr>
        <p:txBody>
          <a:bodyPr wrap="square" rtlCol="0">
            <a:noAutofit/>
          </a:bodyPr>
          <a:lstStyle/>
          <a:p>
            <a:pPr algn="ctr" defTabSz="914400" fontAlgn="base">
              <a:spcBef>
                <a:spcPct val="0"/>
              </a:spcBef>
              <a:spcAft>
                <a:spcPct val="0"/>
              </a:spcAft>
            </a:pPr>
            <a:r>
              <a:rPr lang="en-US" sz="1400" dirty="0" smtClean="0">
                <a:solidFill>
                  <a:srgbClr val="000000"/>
                </a:solidFill>
                <a:latin typeface="Futura Bk" pitchFamily="34" charset="0"/>
              </a:rPr>
              <a:t>“C” </a:t>
            </a:r>
            <a:r>
              <a:rPr lang="en-US" sz="1400" dirty="0" err="1" smtClean="0">
                <a:solidFill>
                  <a:srgbClr val="000000"/>
                </a:solidFill>
                <a:latin typeface="Futura Bk" pitchFamily="34" charset="0"/>
              </a:rPr>
              <a:t>p/n</a:t>
            </a:r>
            <a:endParaRPr lang="en-US" sz="1400" dirty="0" smtClean="0">
              <a:solidFill>
                <a:srgbClr val="000000"/>
              </a:solidFill>
              <a:latin typeface="Futura Bk" pitchFamily="34" charset="0"/>
            </a:endParaRPr>
          </a:p>
        </p:txBody>
      </p:sp>
      <p:sp>
        <p:nvSpPr>
          <p:cNvPr id="14" name="TextBox 13"/>
          <p:cNvSpPr txBox="1"/>
          <p:nvPr/>
        </p:nvSpPr>
        <p:spPr>
          <a:xfrm>
            <a:off x="7592295" y="1265641"/>
            <a:ext cx="1132609" cy="303935"/>
          </a:xfrm>
          <a:prstGeom prst="rect">
            <a:avLst/>
          </a:prstGeom>
          <a:noFill/>
          <a:ln w="19050">
            <a:solidFill>
              <a:srgbClr val="C00000"/>
            </a:solidFill>
          </a:ln>
        </p:spPr>
        <p:txBody>
          <a:bodyPr wrap="square" rtlCol="0">
            <a:noAutofit/>
          </a:bodyPr>
          <a:lstStyle/>
          <a:p>
            <a:pPr algn="ctr" defTabSz="914400" fontAlgn="base">
              <a:spcBef>
                <a:spcPct val="0"/>
              </a:spcBef>
              <a:spcAft>
                <a:spcPct val="0"/>
              </a:spcAft>
            </a:pPr>
            <a:r>
              <a:rPr lang="en-US" sz="1400" dirty="0" smtClean="0">
                <a:solidFill>
                  <a:srgbClr val="000000"/>
                </a:solidFill>
                <a:latin typeface="Futura Bk" pitchFamily="34" charset="0"/>
              </a:rPr>
              <a:t>“A” </a:t>
            </a:r>
            <a:r>
              <a:rPr lang="en-US" sz="1400" dirty="0" err="1" smtClean="0">
                <a:solidFill>
                  <a:srgbClr val="000000"/>
                </a:solidFill>
                <a:latin typeface="Futura Bk" pitchFamily="34" charset="0"/>
              </a:rPr>
              <a:t>p/n</a:t>
            </a:r>
            <a:endParaRPr lang="en-US" sz="1400" dirty="0" smtClean="0">
              <a:solidFill>
                <a:srgbClr val="000000"/>
              </a:solidFill>
              <a:latin typeface="Futura Bk" pitchFamily="34" charset="0"/>
            </a:endParaRPr>
          </a:p>
        </p:txBody>
      </p:sp>
      <p:cxnSp>
        <p:nvCxnSpPr>
          <p:cNvPr id="15" name="Straight Arrow Connector 14"/>
          <p:cNvCxnSpPr>
            <a:stCxn id="14" idx="2"/>
            <a:endCxn id="10" idx="7"/>
          </p:cNvCxnSpPr>
          <p:nvPr/>
        </p:nvCxnSpPr>
        <p:spPr>
          <a:xfrm rot="5400000">
            <a:off x="7556328" y="2063732"/>
            <a:ext cx="1096426" cy="10811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764486" y="2694392"/>
            <a:ext cx="1423555" cy="163657"/>
          </a:xfrm>
          <a:prstGeom prst="rect">
            <a:avLst/>
          </a:prstGeom>
          <a:noFill/>
        </p:spPr>
        <p:txBody>
          <a:bodyPr wrap="square" rtlCol="0" anchor="ctr">
            <a:noAutofit/>
          </a:bodyPr>
          <a:lstStyle/>
          <a:p>
            <a:pPr algn="ctr" defTabSz="914400" fontAlgn="base">
              <a:spcBef>
                <a:spcPct val="0"/>
              </a:spcBef>
              <a:spcAft>
                <a:spcPct val="0"/>
              </a:spcAft>
            </a:pPr>
            <a:r>
              <a:rPr lang="en-US" sz="1200" dirty="0" smtClean="0">
                <a:solidFill>
                  <a:srgbClr val="000000"/>
                </a:solidFill>
                <a:latin typeface="Futura Bk" pitchFamily="34" charset="0"/>
              </a:rPr>
              <a:t>AAAAAAA#ABA</a:t>
            </a:r>
          </a:p>
        </p:txBody>
      </p:sp>
      <p:sp>
        <p:nvSpPr>
          <p:cNvPr id="17" name="TextBox 16"/>
          <p:cNvSpPr txBox="1"/>
          <p:nvPr/>
        </p:nvSpPr>
        <p:spPr>
          <a:xfrm>
            <a:off x="6812974" y="4180289"/>
            <a:ext cx="1423555" cy="163657"/>
          </a:xfrm>
          <a:prstGeom prst="rect">
            <a:avLst/>
          </a:prstGeom>
          <a:noFill/>
        </p:spPr>
        <p:txBody>
          <a:bodyPr wrap="square" rtlCol="0" anchor="ctr">
            <a:noAutofit/>
          </a:bodyPr>
          <a:lstStyle/>
          <a:p>
            <a:pPr algn="ctr" defTabSz="914400" fontAlgn="base">
              <a:spcBef>
                <a:spcPct val="0"/>
              </a:spcBef>
              <a:spcAft>
                <a:spcPct val="0"/>
              </a:spcAft>
            </a:pPr>
            <a:r>
              <a:rPr lang="en-US" sz="1200" dirty="0" smtClean="0">
                <a:solidFill>
                  <a:srgbClr val="000000"/>
                </a:solidFill>
                <a:latin typeface="Futura Bk" pitchFamily="34" charset="0"/>
              </a:rPr>
              <a:t>AAAAAAA#ABA</a:t>
            </a:r>
          </a:p>
        </p:txBody>
      </p:sp>
      <p:sp>
        <p:nvSpPr>
          <p:cNvPr id="18" name="TextBox 17"/>
          <p:cNvSpPr txBox="1"/>
          <p:nvPr/>
        </p:nvSpPr>
        <p:spPr>
          <a:xfrm>
            <a:off x="4458694" y="3850750"/>
            <a:ext cx="1668979" cy="215240"/>
          </a:xfrm>
          <a:prstGeom prst="rect">
            <a:avLst/>
          </a:prstGeom>
          <a:solidFill>
            <a:schemeClr val="bg1"/>
          </a:solidFill>
        </p:spPr>
        <p:txBody>
          <a:bodyPr wrap="square" rtlCol="0" anchor="ctr">
            <a:noAutofit/>
          </a:bodyPr>
          <a:lstStyle/>
          <a:p>
            <a:pPr defTabSz="914400" fontAlgn="base">
              <a:spcBef>
                <a:spcPct val="0"/>
              </a:spcBef>
              <a:spcAft>
                <a:spcPct val="0"/>
              </a:spcAft>
            </a:pPr>
            <a:r>
              <a:rPr lang="en-US" sz="1400" b="1" dirty="0" smtClean="0">
                <a:solidFill>
                  <a:srgbClr val="000000"/>
                </a:solidFill>
                <a:latin typeface="HPFutura Heavy" pitchFamily="50" charset="0"/>
                <a:cs typeface="Arial" pitchFamily="34" charset="0"/>
              </a:rPr>
              <a:t>CCCCCCC#ABA</a:t>
            </a:r>
          </a:p>
        </p:txBody>
      </p:sp>
      <p:sp>
        <p:nvSpPr>
          <p:cNvPr id="20" name="Rounded Rectangle 19"/>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63</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553523936"/>
      </p:ext>
    </p:extLst>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Outbound Operations and Logistics</a:t>
            </a:r>
            <a:endParaRPr lang="en-US" dirty="0"/>
          </a:p>
        </p:txBody>
      </p:sp>
      <p:sp>
        <p:nvSpPr>
          <p:cNvPr id="3" name="Title 2"/>
          <p:cNvSpPr>
            <a:spLocks noGrp="1"/>
          </p:cNvSpPr>
          <p:nvPr>
            <p:ph type="title"/>
          </p:nvPr>
        </p:nvSpPr>
        <p:spPr/>
        <p:txBody>
          <a:bodyPr/>
          <a:lstStyle/>
          <a:p>
            <a:r>
              <a:rPr lang="en-US" dirty="0" err="1" smtClean="0"/>
              <a:t>BSaM</a:t>
            </a:r>
            <a:r>
              <a:rPr lang="en-US" dirty="0" smtClean="0"/>
              <a:t> – A Part Ops &amp; Logistics</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1194235935"/>
              </p:ext>
            </p:extLst>
          </p:nvPr>
        </p:nvGraphicFramePr>
        <p:xfrm>
          <a:off x="328613" y="1189040"/>
          <a:ext cx="8120064" cy="3632200"/>
        </p:xfrm>
        <a:graphic>
          <a:graphicData uri="http://schemas.openxmlformats.org/drawingml/2006/table">
            <a:tbl>
              <a:tblPr firstRow="1" bandRow="1">
                <a:tableStyleId>{073A0DAA-6AF3-43AB-8588-CEC1D06C72B9}</a:tableStyleId>
              </a:tblPr>
              <a:tblGrid>
                <a:gridCol w="681037"/>
                <a:gridCol w="1836917"/>
                <a:gridCol w="3801883"/>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1287229">
                <a:tc>
                  <a:txBody>
                    <a:bodyPr/>
                    <a:lstStyle/>
                    <a:p>
                      <a:r>
                        <a:rPr lang="en-US" sz="1000" dirty="0" smtClean="0"/>
                        <a:t>AOL-001</a:t>
                      </a:r>
                      <a:endParaRPr lang="en-US" sz="1000" dirty="0"/>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000" kern="1200" dirty="0" smtClean="0">
                          <a:solidFill>
                            <a:schemeClr val="dk1"/>
                          </a:solidFill>
                          <a:effectLst/>
                          <a:latin typeface="+mn-lt"/>
                          <a:ea typeface="+mn-ea"/>
                          <a:cs typeface="+mn-cs"/>
                        </a:rPr>
                        <a:t>Assignment of order to Notebook based on Production Grouping</a:t>
                      </a:r>
                      <a:endParaRPr lang="en-US" sz="1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When</a:t>
                      </a:r>
                      <a:r>
                        <a:rPr lang="en-US" sz="1000" baseline="0" dirty="0" smtClean="0"/>
                        <a:t> the physical production is completed, t</a:t>
                      </a:r>
                      <a:r>
                        <a:rPr lang="en-US" sz="1000" dirty="0" smtClean="0"/>
                        <a:t>he ODM will need to assign Notebook units</a:t>
                      </a:r>
                      <a:r>
                        <a:rPr lang="en-US" sz="1000" baseline="0" dirty="0" smtClean="0"/>
                        <a:t> to orders.  This should be conducted based on the </a:t>
                      </a:r>
                      <a:r>
                        <a:rPr lang="en-US" sz="1000" dirty="0" smtClean="0"/>
                        <a:t>Order Group ID.  The process should link the Notebook </a:t>
                      </a:r>
                      <a:r>
                        <a:rPr lang="en-US" sz="1000" kern="1200" baseline="0" dirty="0" smtClean="0">
                          <a:solidFill>
                            <a:schemeClr val="dk1"/>
                          </a:solidFill>
                          <a:effectLst/>
                          <a:latin typeface="+mn-lt"/>
                          <a:ea typeface="+mn-ea"/>
                          <a:cs typeface="+mn-cs"/>
                        </a:rPr>
                        <a:t>Serial Number to the appropriate order.  Notebooks of one Order Group ID cannot be linked to an order of another Order Group ID.</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000" kern="1200" baseline="0" dirty="0" smtClean="0">
                        <a:solidFill>
                          <a:schemeClr val="dk1"/>
                        </a:solidFill>
                        <a:effectLst/>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000" kern="1200" baseline="0" dirty="0" smtClean="0">
                          <a:solidFill>
                            <a:schemeClr val="dk1"/>
                          </a:solidFill>
                          <a:effectLst/>
                          <a:latin typeface="+mn-lt"/>
                          <a:ea typeface="+mn-ea"/>
                          <a:cs typeface="+mn-cs"/>
                        </a:rPr>
                        <a:t>The linkage process should be conducted based on scanning of NB serial number as well as Order Group ID.</a:t>
                      </a:r>
                    </a:p>
                    <a:p>
                      <a:endParaRPr lang="en-US" sz="1000" dirty="0"/>
                    </a:p>
                  </a:txBody>
                  <a:tcPr/>
                </a:tc>
                <a:tc>
                  <a:txBody>
                    <a:bodyPr/>
                    <a:lstStyle/>
                    <a:p>
                      <a:r>
                        <a:rPr lang="en-US" sz="1000" dirty="0" smtClean="0"/>
                        <a:t>ODM</a:t>
                      </a:r>
                      <a:endParaRPr lang="en-US" sz="1000" dirty="0"/>
                    </a:p>
                  </a:txBody>
                  <a:tcPr/>
                </a:tc>
              </a:tr>
              <a:tr h="537210">
                <a:tc>
                  <a:txBody>
                    <a:bodyPr/>
                    <a:lstStyle/>
                    <a:p>
                      <a:r>
                        <a:rPr lang="en-US" sz="1000" dirty="0" smtClean="0"/>
                        <a:t>AOL-002</a:t>
                      </a:r>
                      <a:endParaRPr lang="en-US" sz="1000" dirty="0"/>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000" dirty="0" smtClean="0"/>
                        <a:t>Bulk</a:t>
                      </a:r>
                      <a:r>
                        <a:rPr lang="en-US" sz="1000" baseline="0" dirty="0" smtClean="0"/>
                        <a:t> box shipping label</a:t>
                      </a:r>
                      <a:endParaRPr lang="en-US" sz="1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kern="1200" dirty="0" smtClean="0">
                          <a:solidFill>
                            <a:schemeClr val="dk1"/>
                          </a:solidFill>
                          <a:effectLst/>
                          <a:latin typeface="+mn-lt"/>
                          <a:ea typeface="+mn-ea"/>
                          <a:cs typeface="+mn-cs"/>
                        </a:rPr>
                        <a:t>ODM to apply bulk box shipping label</a:t>
                      </a:r>
                      <a:r>
                        <a:rPr lang="en-US" sz="1000" kern="1200" baseline="0" dirty="0" smtClean="0">
                          <a:solidFill>
                            <a:schemeClr val="dk1"/>
                          </a:solidFill>
                          <a:effectLst/>
                          <a:latin typeface="+mn-lt"/>
                          <a:ea typeface="+mn-ea"/>
                          <a:cs typeface="+mn-cs"/>
                        </a:rPr>
                        <a:t> to  bulk boxes </a:t>
                      </a:r>
                    </a:p>
                    <a:p>
                      <a:pPr marL="0" marR="0" indent="0" algn="l" defTabSz="457200" rtl="0" eaLnBrk="1" fontAlgn="auto" latinLnBrk="0" hangingPunct="1">
                        <a:lnSpc>
                          <a:spcPct val="100000"/>
                        </a:lnSpc>
                        <a:spcBef>
                          <a:spcPts val="0"/>
                        </a:spcBef>
                        <a:spcAft>
                          <a:spcPts val="0"/>
                        </a:spcAft>
                        <a:buClrTx/>
                        <a:buSzTx/>
                        <a:buFontTx/>
                        <a:buNone/>
                        <a:tabLst/>
                        <a:defRPr/>
                      </a:pPr>
                      <a:r>
                        <a:rPr lang="en-US" sz="1000" kern="1200" baseline="0" dirty="0" smtClean="0">
                          <a:solidFill>
                            <a:srgbClr val="0000FF"/>
                          </a:solidFill>
                          <a:effectLst/>
                          <a:latin typeface="+mn-lt"/>
                          <a:ea typeface="+mn-ea"/>
                          <a:cs typeface="+mn-cs"/>
                        </a:rPr>
                        <a:t>(EDITS requirements will be relayed to the ODM via the HP HVLS team)</a:t>
                      </a:r>
                      <a:endParaRPr lang="en-US" sz="1000" kern="1200" dirty="0" smtClean="0">
                        <a:solidFill>
                          <a:srgbClr val="0000FF"/>
                        </a:solidFill>
                        <a:effectLst/>
                        <a:latin typeface="+mn-lt"/>
                        <a:ea typeface="+mn-ea"/>
                        <a:cs typeface="+mn-cs"/>
                      </a:endParaRPr>
                    </a:p>
                  </a:txBody>
                  <a:tcPr/>
                </a:tc>
                <a:tc>
                  <a:txBody>
                    <a:bodyPr/>
                    <a:lstStyle/>
                    <a:p>
                      <a:r>
                        <a:rPr lang="en-US" sz="1000" dirty="0" smtClean="0"/>
                        <a:t>EDITS</a:t>
                      </a:r>
                      <a:endParaRPr lang="en-US" sz="1000" dirty="0"/>
                    </a:p>
                  </a:txBody>
                  <a:tcPr/>
                </a:tc>
              </a:tr>
              <a:tr h="537210">
                <a:tc>
                  <a:txBody>
                    <a:bodyPr/>
                    <a:lstStyle/>
                    <a:p>
                      <a:r>
                        <a:rPr lang="en-US" sz="1000" dirty="0" smtClean="0"/>
                        <a:t>AOL-003</a:t>
                      </a:r>
                      <a:endParaRPr lang="en-US" sz="1000" dirty="0"/>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000" dirty="0" smtClean="0"/>
                        <a:t>Pallet</a:t>
                      </a:r>
                      <a:r>
                        <a:rPr lang="en-US" sz="1000" baseline="0" dirty="0" smtClean="0"/>
                        <a:t> Label</a:t>
                      </a:r>
                      <a:endParaRPr lang="en-US" sz="1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kern="1200" dirty="0" smtClean="0">
                          <a:solidFill>
                            <a:schemeClr val="dk1"/>
                          </a:solidFill>
                          <a:effectLst/>
                          <a:latin typeface="+mn-lt"/>
                          <a:ea typeface="+mn-ea"/>
                          <a:cs typeface="+mn-cs"/>
                        </a:rPr>
                        <a:t>ODM to apply pallet label t</a:t>
                      </a:r>
                      <a:r>
                        <a:rPr lang="en-US" sz="1000" kern="1200" baseline="0" dirty="0" smtClean="0">
                          <a:solidFill>
                            <a:schemeClr val="dk1"/>
                          </a:solidFill>
                          <a:effectLst/>
                          <a:latin typeface="+mn-lt"/>
                          <a:ea typeface="+mn-ea"/>
                          <a:cs typeface="+mn-cs"/>
                        </a:rPr>
                        <a:t>o each outbound pallet to the PCC </a:t>
                      </a:r>
                    </a:p>
                    <a:p>
                      <a:pPr marL="0" marR="0" indent="0" algn="l" defTabSz="457200" rtl="0" eaLnBrk="1" fontAlgn="auto" latinLnBrk="0" hangingPunct="1">
                        <a:lnSpc>
                          <a:spcPct val="100000"/>
                        </a:lnSpc>
                        <a:spcBef>
                          <a:spcPts val="0"/>
                        </a:spcBef>
                        <a:spcAft>
                          <a:spcPts val="0"/>
                        </a:spcAft>
                        <a:buClrTx/>
                        <a:buSzTx/>
                        <a:buFontTx/>
                        <a:buNone/>
                        <a:tabLst/>
                        <a:defRPr/>
                      </a:pPr>
                      <a:r>
                        <a:rPr lang="en-US" sz="1000" kern="1200" baseline="0" dirty="0" smtClean="0">
                          <a:solidFill>
                            <a:srgbClr val="0000FF"/>
                          </a:solidFill>
                          <a:effectLst/>
                          <a:latin typeface="+mn-lt"/>
                          <a:ea typeface="+mn-ea"/>
                          <a:cs typeface="+mn-cs"/>
                        </a:rPr>
                        <a:t>(EDITS requirements will be relayed to the ODM via the HP HVLS team)</a:t>
                      </a:r>
                      <a:endParaRPr lang="en-US" sz="1000" kern="1200" dirty="0" smtClean="0">
                        <a:solidFill>
                          <a:schemeClr val="dk1"/>
                        </a:solidFill>
                        <a:effectLst/>
                        <a:latin typeface="+mn-lt"/>
                        <a:ea typeface="+mn-ea"/>
                        <a:cs typeface="+mn-cs"/>
                      </a:endParaRPr>
                    </a:p>
                  </a:txBody>
                  <a:tcPr/>
                </a:tc>
                <a:tc>
                  <a:txBody>
                    <a:bodyPr/>
                    <a:lstStyle/>
                    <a:p>
                      <a:r>
                        <a:rPr lang="en-US" sz="1000" dirty="0" smtClean="0"/>
                        <a:t>EDITS</a:t>
                      </a:r>
                      <a:endParaRPr lang="en-US" sz="1000" dirty="0"/>
                    </a:p>
                  </a:txBody>
                  <a:tcPr/>
                </a:tc>
              </a:tr>
              <a:tr h="685800">
                <a:tc>
                  <a:txBody>
                    <a:bodyPr/>
                    <a:lstStyle/>
                    <a:p>
                      <a:r>
                        <a:rPr lang="en-US" sz="1000" dirty="0" smtClean="0"/>
                        <a:t>AOL-004</a:t>
                      </a:r>
                      <a:endParaRPr lang="en-US" sz="1000" dirty="0"/>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000" dirty="0" smtClean="0"/>
                        <a:t>Packing List</a:t>
                      </a:r>
                      <a:r>
                        <a:rPr lang="en-US" sz="1000" baseline="0" dirty="0" smtClean="0"/>
                        <a:t> Documentation</a:t>
                      </a:r>
                      <a:endParaRPr lang="en-US" sz="1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kern="1200" dirty="0" smtClean="0">
                          <a:solidFill>
                            <a:schemeClr val="dk1"/>
                          </a:solidFill>
                          <a:effectLst/>
                          <a:latin typeface="+mn-lt"/>
                          <a:ea typeface="+mn-ea"/>
                          <a:cs typeface="+mn-cs"/>
                        </a:rPr>
                        <a:t>Packing list changes needed to reflect</a:t>
                      </a:r>
                      <a:r>
                        <a:rPr lang="en-US" sz="1000" kern="1200" baseline="0" dirty="0" smtClean="0">
                          <a:solidFill>
                            <a:schemeClr val="dk1"/>
                          </a:solidFill>
                          <a:effectLst/>
                          <a:latin typeface="+mn-lt"/>
                          <a:ea typeface="+mn-ea"/>
                          <a:cs typeface="+mn-cs"/>
                        </a:rPr>
                        <a:t> cart count and unit count (example, 1 box, 4 units)</a:t>
                      </a:r>
                    </a:p>
                    <a:p>
                      <a:pPr marL="0" marR="0" indent="0" algn="l" defTabSz="457200" rtl="0" eaLnBrk="1" fontAlgn="auto" latinLnBrk="0" hangingPunct="1">
                        <a:lnSpc>
                          <a:spcPct val="100000"/>
                        </a:lnSpc>
                        <a:spcBef>
                          <a:spcPts val="0"/>
                        </a:spcBef>
                        <a:spcAft>
                          <a:spcPts val="0"/>
                        </a:spcAft>
                        <a:buClrTx/>
                        <a:buSzTx/>
                        <a:buFontTx/>
                        <a:buNone/>
                        <a:tabLst/>
                        <a:defRPr/>
                      </a:pPr>
                      <a:r>
                        <a:rPr lang="en-US" sz="1000" kern="1200" baseline="0" dirty="0" smtClean="0">
                          <a:solidFill>
                            <a:srgbClr val="0000FF"/>
                          </a:solidFill>
                          <a:effectLst/>
                          <a:latin typeface="+mn-lt"/>
                          <a:ea typeface="+mn-ea"/>
                          <a:cs typeface="+mn-cs"/>
                        </a:rPr>
                        <a:t>(EDITS requirements will be relayed to the ODM via the HP HVLS team)</a:t>
                      </a:r>
                      <a:endParaRPr lang="en-US" sz="1000" kern="1200" dirty="0" smtClean="0">
                        <a:solidFill>
                          <a:schemeClr val="dk1"/>
                        </a:solidFill>
                        <a:effectLst/>
                        <a:latin typeface="+mn-lt"/>
                        <a:ea typeface="+mn-ea"/>
                        <a:cs typeface="+mn-cs"/>
                      </a:endParaRPr>
                    </a:p>
                  </a:txBody>
                  <a:tcPr/>
                </a:tc>
                <a:tc>
                  <a:txBody>
                    <a:bodyPr/>
                    <a:lstStyle/>
                    <a:p>
                      <a:r>
                        <a:rPr lang="en-US" sz="1000" dirty="0" smtClean="0"/>
                        <a:t>EDITS</a:t>
                      </a:r>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64</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400959138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ODM Outbound Operations and Logistics</a:t>
            </a:r>
          </a:p>
          <a:p>
            <a:endParaRPr lang="en-US" dirty="0"/>
          </a:p>
        </p:txBody>
      </p:sp>
      <p:sp>
        <p:nvSpPr>
          <p:cNvPr id="4" name="Title 3"/>
          <p:cNvSpPr>
            <a:spLocks noGrp="1"/>
          </p:cNvSpPr>
          <p:nvPr>
            <p:ph type="title"/>
          </p:nvPr>
        </p:nvSpPr>
        <p:spPr/>
        <p:txBody>
          <a:bodyPr/>
          <a:lstStyle/>
          <a:p>
            <a:r>
              <a:rPr lang="en-US" dirty="0"/>
              <a:t>BSaM – A Part Ops &amp; Logistics</a:t>
            </a:r>
          </a:p>
        </p:txBody>
      </p:sp>
      <p:graphicFrame>
        <p:nvGraphicFramePr>
          <p:cNvPr id="7" name="Content Placeholder 4"/>
          <p:cNvGraphicFramePr>
            <a:graphicFrameLocks noGrp="1"/>
          </p:cNvGraphicFramePr>
          <p:nvPr>
            <p:ph sz="quarter" idx="10"/>
            <p:extLst>
              <p:ext uri="{D42A27DB-BD31-4B8C-83A1-F6EECF244321}">
                <p14:modId xmlns:p14="http://schemas.microsoft.com/office/powerpoint/2010/main" xmlns="" val="2954243377"/>
              </p:ext>
            </p:extLst>
          </p:nvPr>
        </p:nvGraphicFramePr>
        <p:xfrm>
          <a:off x="328613" y="1189039"/>
          <a:ext cx="8120064" cy="2153920"/>
        </p:xfrm>
        <a:graphic>
          <a:graphicData uri="http://schemas.openxmlformats.org/drawingml/2006/table">
            <a:tbl>
              <a:tblPr firstRow="1" bandRow="1">
                <a:tableStyleId>{073A0DAA-6AF3-43AB-8588-CEC1D06C72B9}</a:tableStyleId>
              </a:tblPr>
              <a:tblGrid>
                <a:gridCol w="681037"/>
                <a:gridCol w="1836917"/>
                <a:gridCol w="3801883"/>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548640">
                <a:tc>
                  <a:txBody>
                    <a:bodyPr/>
                    <a:lstStyle/>
                    <a:p>
                      <a:r>
                        <a:rPr lang="en-US" sz="1000" dirty="0" smtClean="0"/>
                        <a:t>AOL-005</a:t>
                      </a:r>
                      <a:endParaRPr lang="en-US" sz="1000" dirty="0"/>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000" kern="1200" dirty="0" smtClean="0">
                          <a:solidFill>
                            <a:schemeClr val="dk1"/>
                          </a:solidFill>
                          <a:effectLst/>
                          <a:latin typeface="+mn-lt"/>
                          <a:ea typeface="+mn-ea"/>
                          <a:cs typeface="+mn-cs"/>
                        </a:rPr>
                        <a:t>Bulk</a:t>
                      </a:r>
                      <a:r>
                        <a:rPr lang="en-US" sz="1000" kern="1200" baseline="0" dirty="0" smtClean="0">
                          <a:solidFill>
                            <a:schemeClr val="dk1"/>
                          </a:solidFill>
                          <a:effectLst/>
                          <a:latin typeface="+mn-lt"/>
                          <a:ea typeface="+mn-ea"/>
                          <a:cs typeface="+mn-cs"/>
                        </a:rPr>
                        <a:t> Box Palletization</a:t>
                      </a:r>
                      <a:endParaRPr lang="en-US" sz="1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Palletization</a:t>
                      </a:r>
                      <a:r>
                        <a:rPr lang="en-US" sz="1000" baseline="0" dirty="0" smtClean="0"/>
                        <a:t> of the bulk box needs to adhere to the spec provided by HP.  </a:t>
                      </a:r>
                      <a:r>
                        <a:rPr lang="en-US" sz="1000" baseline="0" dirty="0" smtClean="0">
                          <a:solidFill>
                            <a:schemeClr val="tx1"/>
                          </a:solidFill>
                        </a:rPr>
                        <a:t> See Specs on slide 67</a:t>
                      </a:r>
                      <a:endParaRPr lang="en-US" sz="1000" kern="1200" baseline="0" dirty="0" smtClean="0">
                        <a:solidFill>
                          <a:schemeClr val="tx1"/>
                        </a:solidFill>
                        <a:effectLst/>
                        <a:latin typeface="+mn-lt"/>
                        <a:ea typeface="+mn-ea"/>
                        <a:cs typeface="+mn-cs"/>
                      </a:endParaRPr>
                    </a:p>
                    <a:p>
                      <a:endParaRPr lang="en-US" sz="1000" dirty="0"/>
                    </a:p>
                  </a:txBody>
                  <a:tcPr/>
                </a:tc>
                <a:tc>
                  <a:txBody>
                    <a:bodyPr/>
                    <a:lstStyle/>
                    <a:p>
                      <a:r>
                        <a:rPr lang="en-US" sz="1000" dirty="0" smtClean="0"/>
                        <a:t>HP Packaging</a:t>
                      </a:r>
                      <a:endParaRPr lang="en-US" sz="1000" dirty="0"/>
                    </a:p>
                  </a:txBody>
                  <a:tcPr/>
                </a:tc>
              </a:tr>
              <a:tr h="537210">
                <a:tc>
                  <a:txBody>
                    <a:bodyPr/>
                    <a:lstStyle/>
                    <a:p>
                      <a:r>
                        <a:rPr lang="en-US" sz="1000" dirty="0" smtClean="0">
                          <a:solidFill>
                            <a:schemeClr val="tx1"/>
                          </a:solidFill>
                        </a:rPr>
                        <a:t>AOL-006</a:t>
                      </a:r>
                      <a:endParaRPr lang="en-US" sz="1000" dirty="0">
                        <a:solidFill>
                          <a:schemeClr val="tx1"/>
                        </a:solidFill>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000" kern="1200" dirty="0" smtClean="0">
                          <a:solidFill>
                            <a:schemeClr val="tx1"/>
                          </a:solidFill>
                          <a:effectLst/>
                          <a:latin typeface="+mn-lt"/>
                          <a:ea typeface="+mn-ea"/>
                          <a:cs typeface="+mn-cs"/>
                        </a:rPr>
                        <a:t>Scanning of physical unit (serial number)</a:t>
                      </a:r>
                      <a:r>
                        <a:rPr lang="en-US" sz="1000" kern="1200" baseline="0" dirty="0" smtClean="0">
                          <a:solidFill>
                            <a:schemeClr val="tx1"/>
                          </a:solidFill>
                          <a:effectLst/>
                          <a:latin typeface="+mn-lt"/>
                          <a:ea typeface="+mn-ea"/>
                          <a:cs typeface="+mn-cs"/>
                        </a:rPr>
                        <a:t> to tie to </a:t>
                      </a:r>
                      <a:r>
                        <a:rPr lang="en-US" sz="1000" kern="1200" dirty="0" smtClean="0">
                          <a:solidFill>
                            <a:schemeClr val="tx1"/>
                          </a:solidFill>
                          <a:effectLst/>
                          <a:latin typeface="+mn-lt"/>
                          <a:ea typeface="+mn-ea"/>
                          <a:cs typeface="+mn-cs"/>
                        </a:rPr>
                        <a:t>PACK</a:t>
                      </a:r>
                      <a:r>
                        <a:rPr lang="en-US" sz="1000" kern="1200" baseline="0" dirty="0" smtClean="0">
                          <a:solidFill>
                            <a:schemeClr val="tx1"/>
                          </a:solidFill>
                          <a:effectLst/>
                          <a:latin typeface="+mn-lt"/>
                          <a:ea typeface="+mn-ea"/>
                          <a:cs typeface="+mn-cs"/>
                        </a:rPr>
                        <a:t> ID’s</a:t>
                      </a:r>
                      <a:endParaRPr lang="en-US" sz="1000" kern="1200" dirty="0" smtClean="0">
                        <a:solidFill>
                          <a:schemeClr val="tx1"/>
                        </a:solidFill>
                        <a:effectLst/>
                        <a:latin typeface="+mn-lt"/>
                        <a:ea typeface="+mn-ea"/>
                        <a:cs typeface="+mn-cs"/>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kern="1200" dirty="0" smtClean="0">
                          <a:solidFill>
                            <a:schemeClr val="tx1"/>
                          </a:solidFill>
                          <a:effectLst/>
                          <a:latin typeface="+mn-lt"/>
                          <a:ea typeface="+mn-ea"/>
                          <a:cs typeface="+mn-cs"/>
                        </a:rPr>
                        <a:t>Scanning</a:t>
                      </a:r>
                      <a:r>
                        <a:rPr lang="en-US" sz="1000" kern="1200" baseline="0" dirty="0" smtClean="0">
                          <a:solidFill>
                            <a:schemeClr val="tx1"/>
                          </a:solidFill>
                          <a:effectLst/>
                          <a:latin typeface="+mn-lt"/>
                          <a:ea typeface="+mn-ea"/>
                          <a:cs typeface="+mn-cs"/>
                        </a:rPr>
                        <a:t> of either individual serial numbers or BOX ID’s to tie physical unit to a PACK ID/Order.  </a:t>
                      </a:r>
                    </a:p>
                    <a:p>
                      <a:pPr marL="0" marR="0" indent="0" algn="l" defTabSz="457200" rtl="0" eaLnBrk="1" fontAlgn="auto" latinLnBrk="0" hangingPunct="1">
                        <a:lnSpc>
                          <a:spcPct val="100000"/>
                        </a:lnSpc>
                        <a:spcBef>
                          <a:spcPts val="0"/>
                        </a:spcBef>
                        <a:spcAft>
                          <a:spcPts val="0"/>
                        </a:spcAft>
                        <a:buClrTx/>
                        <a:buSzTx/>
                        <a:buFontTx/>
                        <a:buNone/>
                        <a:tabLst/>
                        <a:defRPr/>
                      </a:pPr>
                      <a:r>
                        <a:rPr lang="en-US" sz="1000" kern="1200" baseline="0" dirty="0" smtClean="0">
                          <a:solidFill>
                            <a:schemeClr val="tx1"/>
                          </a:solidFill>
                          <a:effectLst/>
                          <a:latin typeface="+mn-lt"/>
                          <a:ea typeface="+mn-ea"/>
                          <a:cs typeface="+mn-cs"/>
                        </a:rPr>
                        <a:t>Unique process required for BSaM bulk box processing.</a:t>
                      </a:r>
                      <a:endParaRPr lang="en-US" sz="1000" kern="1200" dirty="0" smtClean="0">
                        <a:solidFill>
                          <a:schemeClr val="tx1"/>
                        </a:solidFill>
                        <a:effectLst/>
                        <a:latin typeface="+mn-lt"/>
                        <a:ea typeface="+mn-ea"/>
                        <a:cs typeface="+mn-cs"/>
                      </a:endParaRPr>
                    </a:p>
                  </a:txBody>
                  <a:tcPr/>
                </a:tc>
                <a:tc>
                  <a:txBody>
                    <a:bodyPr/>
                    <a:lstStyle/>
                    <a:p>
                      <a:r>
                        <a:rPr lang="en-US" sz="1000" dirty="0" smtClean="0">
                          <a:solidFill>
                            <a:schemeClr val="tx1"/>
                          </a:solidFill>
                        </a:rPr>
                        <a:t>ODM</a:t>
                      </a:r>
                      <a:endParaRPr lang="en-US" sz="1000" dirty="0">
                        <a:solidFill>
                          <a:schemeClr val="tx1"/>
                        </a:solidFill>
                      </a:endParaRPr>
                    </a:p>
                  </a:txBody>
                  <a:tcPr/>
                </a:tc>
              </a:tr>
              <a:tr h="685800">
                <a:tc>
                  <a:txBody>
                    <a:bodyPr/>
                    <a:lstStyle/>
                    <a:p>
                      <a:endParaRPr lang="en-US" sz="1000" dirty="0"/>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endParaRPr lang="en-US" sz="10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000" kern="1200" dirty="0" smtClean="0">
                        <a:solidFill>
                          <a:schemeClr val="dk1"/>
                        </a:solidFill>
                        <a:effectLst/>
                        <a:latin typeface="+mn-lt"/>
                        <a:ea typeface="+mn-ea"/>
                        <a:cs typeface="+mn-cs"/>
                      </a:endParaRPr>
                    </a:p>
                  </a:txBody>
                  <a:tcPr/>
                </a:tc>
                <a:tc>
                  <a:txBody>
                    <a:bodyPr/>
                    <a:lstStyle/>
                    <a:p>
                      <a:endParaRPr lang="en-US" sz="1000" dirty="0"/>
                    </a:p>
                  </a:txBody>
                  <a:tcPr/>
                </a:tc>
              </a:tr>
            </a:tbl>
          </a:graphicData>
        </a:graphic>
      </p:graphicFrame>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64.1</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4352977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29184" y="824346"/>
            <a:ext cx="8119872" cy="3823854"/>
          </a:xfrm>
        </p:spPr>
        <p:txBody>
          <a:bodyPr/>
          <a:lstStyle/>
          <a:p>
            <a:pPr marL="285750" indent="-285750">
              <a:buFont typeface="Arial" pitchFamily="34" charset="0"/>
              <a:buChar char="•"/>
            </a:pPr>
            <a:r>
              <a:rPr lang="en-US" sz="1600" b="0" dirty="0" smtClean="0">
                <a:solidFill>
                  <a:schemeClr val="tx1"/>
                </a:solidFill>
              </a:rPr>
              <a:t>Bulk Box Specifications</a:t>
            </a:r>
          </a:p>
          <a:p>
            <a:pPr marL="285750" indent="-285750">
              <a:buFont typeface="Arial" pitchFamily="34" charset="0"/>
              <a:buChar char="•"/>
            </a:pPr>
            <a:endParaRPr lang="en-US" sz="1600" b="0" dirty="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sz="1600" b="0" dirty="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sz="1600" b="0" dirty="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dirty="0"/>
          </a:p>
        </p:txBody>
      </p:sp>
      <p:sp>
        <p:nvSpPr>
          <p:cNvPr id="4" name="Title 3"/>
          <p:cNvSpPr>
            <a:spLocks noGrp="1"/>
          </p:cNvSpPr>
          <p:nvPr>
            <p:ph type="title"/>
          </p:nvPr>
        </p:nvSpPr>
        <p:spPr/>
        <p:txBody>
          <a:bodyPr/>
          <a:lstStyle/>
          <a:p>
            <a:r>
              <a:rPr lang="en-US" dirty="0"/>
              <a:t>BSaM – A Part Ops &amp; </a:t>
            </a:r>
            <a:r>
              <a:rPr lang="en-US" dirty="0" smtClean="0"/>
              <a:t>Logistics</a:t>
            </a:r>
            <a:endParaRPr lang="en-US" dirty="0"/>
          </a:p>
        </p:txBody>
      </p:sp>
      <p:graphicFrame>
        <p:nvGraphicFramePr>
          <p:cNvPr id="8" name="Object 7"/>
          <p:cNvGraphicFramePr>
            <a:graphicFrameLocks noChangeAspect="1"/>
          </p:cNvGraphicFramePr>
          <p:nvPr>
            <p:extLst>
              <p:ext uri="{D42A27DB-BD31-4B8C-83A1-F6EECF244321}">
                <p14:modId xmlns:p14="http://schemas.microsoft.com/office/powerpoint/2010/main" xmlns="" val="1183778633"/>
              </p:ext>
            </p:extLst>
          </p:nvPr>
        </p:nvGraphicFramePr>
        <p:xfrm>
          <a:off x="667895" y="1432223"/>
          <a:ext cx="914400" cy="771525"/>
        </p:xfrm>
        <a:graphic>
          <a:graphicData uri="http://schemas.openxmlformats.org/presentationml/2006/ole">
            <p:oleObj spid="_x0000_s2068" name="Acrobat Document" showAsIcon="1" r:id="rId3" imgW="914400" imgH="771480" progId="AcroExch.Document.7">
              <p:embed/>
            </p:oleObj>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xmlns="" val="3417084746"/>
              </p:ext>
            </p:extLst>
          </p:nvPr>
        </p:nvGraphicFramePr>
        <p:xfrm>
          <a:off x="2524794" y="1420067"/>
          <a:ext cx="914400" cy="771525"/>
        </p:xfrm>
        <a:graphic>
          <a:graphicData uri="http://schemas.openxmlformats.org/presentationml/2006/ole">
            <p:oleObj spid="_x0000_s2069" name="Acrobat Document" showAsIcon="1" r:id="rId4" imgW="914400" imgH="771480" progId="AcroExch.Document.7">
              <p:embed/>
            </p:oleObj>
          </a:graphicData>
        </a:graphic>
      </p:graphicFrame>
      <p:sp>
        <p:nvSpPr>
          <p:cNvPr id="10" name="Rounded Rectangle 9"/>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64.2</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5518585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Ship Notice and Invoicing</a:t>
            </a:r>
            <a:endParaRPr lang="en-US" dirty="0"/>
          </a:p>
        </p:txBody>
      </p:sp>
      <p:sp>
        <p:nvSpPr>
          <p:cNvPr id="3" name="Title 2"/>
          <p:cNvSpPr>
            <a:spLocks noGrp="1"/>
          </p:cNvSpPr>
          <p:nvPr>
            <p:ph type="title"/>
          </p:nvPr>
        </p:nvSpPr>
        <p:spPr/>
        <p:txBody>
          <a:bodyPr/>
          <a:lstStyle/>
          <a:p>
            <a:r>
              <a:rPr lang="en-US" dirty="0" err="1" smtClean="0"/>
              <a:t>BSaM</a:t>
            </a:r>
            <a:r>
              <a:rPr lang="en-US" dirty="0" smtClean="0"/>
              <a:t> – A Part Ship Notice &amp; Invoicing</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2271515686"/>
              </p:ext>
            </p:extLst>
          </p:nvPr>
        </p:nvGraphicFramePr>
        <p:xfrm>
          <a:off x="328613" y="1189039"/>
          <a:ext cx="8082006" cy="4161790"/>
        </p:xfrm>
        <a:graphic>
          <a:graphicData uri="http://schemas.openxmlformats.org/drawingml/2006/table">
            <a:tbl>
              <a:tblPr firstRow="1" bandRow="1">
                <a:tableStyleId>{073A0DAA-6AF3-43AB-8588-CEC1D06C72B9}</a:tableStyleId>
              </a:tblPr>
              <a:tblGrid>
                <a:gridCol w="706755"/>
                <a:gridCol w="1631674"/>
                <a:gridCol w="3943350"/>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548640">
                <a:tc>
                  <a:txBody>
                    <a:bodyPr/>
                    <a:lstStyle/>
                    <a:p>
                      <a:r>
                        <a:rPr lang="en-US" sz="800" dirty="0" smtClean="0"/>
                        <a:t>ASNI-001</a:t>
                      </a:r>
                      <a:endParaRPr lang="en-US" sz="800" dirty="0"/>
                    </a:p>
                  </a:txBody>
                  <a:tcPr/>
                </a:tc>
                <a:tc>
                  <a:txBody>
                    <a:bodyPr/>
                    <a:lstStyle/>
                    <a:p>
                      <a:r>
                        <a:rPr lang="en-US" sz="1000" dirty="0" smtClean="0"/>
                        <a:t>Include Order</a:t>
                      </a:r>
                      <a:r>
                        <a:rPr lang="en-US" sz="1000" baseline="0" dirty="0" smtClean="0"/>
                        <a:t> Group ID in ODM EDI856</a:t>
                      </a:r>
                      <a:endParaRPr lang="en-US" sz="1000" dirty="0"/>
                    </a:p>
                  </a:txBody>
                  <a:tcPr/>
                </a:tc>
                <a:tc>
                  <a:txBody>
                    <a:bodyPr/>
                    <a:lstStyle/>
                    <a:p>
                      <a:r>
                        <a:rPr lang="en-US" sz="1000" dirty="0" smtClean="0">
                          <a:solidFill>
                            <a:schemeClr val="tx1"/>
                          </a:solidFill>
                        </a:rPr>
                        <a:t>The ODM will need to include</a:t>
                      </a:r>
                      <a:r>
                        <a:rPr lang="en-US" sz="1000" baseline="0" dirty="0" smtClean="0">
                          <a:solidFill>
                            <a:schemeClr val="tx1"/>
                          </a:solidFill>
                        </a:rPr>
                        <a:t> the Order Group ID in the EDI856 that they  send back to HP after the shipment is complete.  The Order Group ID will need to be positioned in the following EDI856 segment:</a:t>
                      </a:r>
                    </a:p>
                    <a:p>
                      <a:r>
                        <a:rPr lang="en-US" sz="1000" b="1" dirty="0" smtClean="0">
                          <a:solidFill>
                            <a:schemeClr val="tx1"/>
                          </a:solidFill>
                        </a:rPr>
                        <a:t>EDI856 Detail Level REF02 where REF01=P5 </a:t>
                      </a:r>
                    </a:p>
                    <a:p>
                      <a:r>
                        <a:rPr lang="en-US" sz="1000" b="0" dirty="0" smtClean="0">
                          <a:solidFill>
                            <a:schemeClr val="tx1"/>
                          </a:solidFill>
                        </a:rPr>
                        <a:t>(See sample EDI856 on Slide 65.1)</a:t>
                      </a:r>
                      <a:endParaRPr lang="en-US" sz="1000" b="0" dirty="0">
                        <a:solidFill>
                          <a:schemeClr val="tx1"/>
                        </a:solidFill>
                      </a:endParaRPr>
                    </a:p>
                  </a:txBody>
                  <a:tcPr/>
                </a:tc>
                <a:tc>
                  <a:txBody>
                    <a:bodyPr/>
                    <a:lstStyle/>
                    <a:p>
                      <a:r>
                        <a:rPr lang="en-US" sz="1000" dirty="0" smtClean="0"/>
                        <a:t>ODM</a:t>
                      </a:r>
                      <a:endParaRPr lang="en-US" sz="1000" dirty="0"/>
                    </a:p>
                  </a:txBody>
                  <a:tcPr/>
                </a:tc>
              </a:tr>
              <a:tr h="98298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ASNI-002</a:t>
                      </a:r>
                    </a:p>
                    <a:p>
                      <a:endParaRPr lang="en-US" sz="800" dirty="0"/>
                    </a:p>
                  </a:txBody>
                  <a:tcPr/>
                </a:tc>
                <a:tc>
                  <a:txBody>
                    <a:bodyPr/>
                    <a:lstStyle/>
                    <a:p>
                      <a:r>
                        <a:rPr lang="en-US" sz="1000" dirty="0" smtClean="0"/>
                        <a:t>Include both Box ID and Pallet ID in EDI856</a:t>
                      </a:r>
                    </a:p>
                    <a:p>
                      <a:endParaRPr lang="en-US" sz="1000" dirty="0"/>
                    </a:p>
                  </a:txBody>
                  <a:tcPr/>
                </a:tc>
                <a:tc>
                  <a:txBody>
                    <a:bodyPr/>
                    <a:lstStyle/>
                    <a:p>
                      <a:r>
                        <a:rPr lang="en-US" sz="1000" dirty="0" smtClean="0">
                          <a:solidFill>
                            <a:schemeClr val="tx1"/>
                          </a:solidFill>
                        </a:rPr>
                        <a:t>The ODM will need to include</a:t>
                      </a:r>
                      <a:r>
                        <a:rPr lang="en-US" sz="1000" baseline="0" dirty="0" smtClean="0">
                          <a:solidFill>
                            <a:schemeClr val="tx1"/>
                          </a:solidFill>
                        </a:rPr>
                        <a:t> both Box ID and Pallet ID in the EDI856 that will be sent back to HP (This should be a requirement currently supported today).  Note that the same Box ID and Pallet ID may show for the different orders based on the bulk packaging and order consolidation on pallets.  </a:t>
                      </a:r>
                    </a:p>
                    <a:p>
                      <a:pPr marL="0" marR="0" indent="0" algn="l" defTabSz="457200" rtl="0" eaLnBrk="1" fontAlgn="auto" latinLnBrk="0" hangingPunct="1">
                        <a:lnSpc>
                          <a:spcPct val="100000"/>
                        </a:lnSpc>
                        <a:spcBef>
                          <a:spcPts val="0"/>
                        </a:spcBef>
                        <a:spcAft>
                          <a:spcPts val="0"/>
                        </a:spcAft>
                        <a:buClrTx/>
                        <a:buSzTx/>
                        <a:buFontTx/>
                        <a:buNone/>
                        <a:tabLst/>
                        <a:defRPr/>
                      </a:pPr>
                      <a:r>
                        <a:rPr lang="en-US" sz="1000" b="0" dirty="0" smtClean="0">
                          <a:solidFill>
                            <a:schemeClr val="tx1"/>
                          </a:solidFill>
                        </a:rPr>
                        <a:t>(See sample EDI856 on Slide 65.1)</a:t>
                      </a:r>
                    </a:p>
                  </a:txBody>
                  <a:tcPr/>
                </a:tc>
                <a:tc>
                  <a:txBody>
                    <a:bodyPr/>
                    <a:lstStyle/>
                    <a:p>
                      <a:r>
                        <a:rPr lang="en-US" sz="1000" dirty="0" smtClean="0"/>
                        <a:t>ODM</a:t>
                      </a:r>
                      <a:endParaRPr lang="en-US" sz="1000" dirty="0"/>
                    </a:p>
                  </a:txBody>
                  <a:tcPr/>
                </a:tc>
              </a:tr>
              <a:tr h="982980">
                <a:tc>
                  <a:txBody>
                    <a:bodyPr/>
                    <a:lstStyle/>
                    <a:p>
                      <a:r>
                        <a:rPr lang="en-US" sz="800" dirty="0" smtClean="0"/>
                        <a:t>ASNI-003</a:t>
                      </a:r>
                      <a:endParaRPr lang="en-US" sz="800" dirty="0"/>
                    </a:p>
                  </a:txBody>
                  <a:tcPr/>
                </a:tc>
                <a:tc>
                  <a:txBody>
                    <a:bodyPr/>
                    <a:lstStyle/>
                    <a:p>
                      <a:r>
                        <a:rPr lang="en-US" sz="1000" dirty="0" smtClean="0"/>
                        <a:t>Generate Post Shipment Report  </a:t>
                      </a:r>
                    </a:p>
                    <a:p>
                      <a:endParaRPr lang="en-US" sz="1000" strike="sngStrike" dirty="0" smtClean="0"/>
                    </a:p>
                  </a:txBody>
                  <a:tcPr/>
                </a:tc>
                <a:tc>
                  <a:txBody>
                    <a:bodyPr/>
                    <a:lstStyle/>
                    <a:p>
                      <a:r>
                        <a:rPr lang="en-US" sz="1000" dirty="0" smtClean="0">
                          <a:solidFill>
                            <a:schemeClr val="tx1"/>
                          </a:solidFill>
                        </a:rPr>
                        <a:t>The post shipment report will be an additional step following the Pre-ship for air and the pre-ship REV for ocean. The Post Shipment Report will be sent to the Ryder PCC </a:t>
                      </a:r>
                      <a:r>
                        <a:rPr lang="en-US" sz="1000" baseline="0" dirty="0" smtClean="0">
                          <a:solidFill>
                            <a:schemeClr val="tx1"/>
                          </a:solidFill>
                        </a:rPr>
                        <a:t>and to HP within 24 hours after the freight pickup is conducted (contacts to be provided at later date).The final shipment report will have all the final shipment details from the ODM. </a:t>
                      </a:r>
                    </a:p>
                    <a:p>
                      <a:r>
                        <a:rPr lang="en-US" sz="1000" baseline="0" dirty="0" smtClean="0">
                          <a:solidFill>
                            <a:srgbClr val="0000FF"/>
                          </a:solidFill>
                        </a:rPr>
                        <a:t>The format of the post shipment report should follow the HVLS enhanced Pre-Ship File format/structure. The data populated in the report should be by PCC location (not by FF).  Detailed spec to be provided by HVLS team.</a:t>
                      </a:r>
                      <a:endParaRPr lang="en-US" sz="1000" b="0" dirty="0">
                        <a:solidFill>
                          <a:srgbClr val="FF0000"/>
                        </a:solidFill>
                      </a:endParaRPr>
                    </a:p>
                  </a:txBody>
                  <a:tcPr/>
                </a:tc>
                <a:tc>
                  <a:txBody>
                    <a:bodyPr/>
                    <a:lstStyle/>
                    <a:p>
                      <a:r>
                        <a:rPr lang="en-US" sz="1000" dirty="0" smtClean="0"/>
                        <a:t>ODM HVLS</a:t>
                      </a:r>
                      <a:r>
                        <a:rPr lang="en-US" sz="1000" baseline="0" dirty="0" smtClean="0"/>
                        <a:t> </a:t>
                      </a:r>
                      <a:endParaRPr lang="en-US" sz="1000" dirty="0"/>
                    </a:p>
                  </a:txBody>
                  <a:tcPr/>
                </a:tc>
              </a:tr>
              <a:tr h="46863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ASNI-004</a:t>
                      </a:r>
                    </a:p>
                    <a:p>
                      <a:endParaRPr lang="en-US" sz="800" dirty="0"/>
                    </a:p>
                  </a:txBody>
                  <a:tcPr/>
                </a:tc>
                <a:tc>
                  <a:txBody>
                    <a:bodyPr/>
                    <a:lstStyle/>
                    <a:p>
                      <a:r>
                        <a:rPr lang="en-US" sz="1000" dirty="0" smtClean="0"/>
                        <a:t>Invoicing</a:t>
                      </a:r>
                      <a:endParaRPr lang="en-US" sz="1000" dirty="0"/>
                    </a:p>
                  </a:txBody>
                  <a:tcPr/>
                </a:tc>
                <a:tc>
                  <a:txBody>
                    <a:bodyPr/>
                    <a:lstStyle/>
                    <a:p>
                      <a:r>
                        <a:rPr lang="en-US" sz="1000" dirty="0" smtClean="0"/>
                        <a:t>Invoicing</a:t>
                      </a:r>
                      <a:r>
                        <a:rPr lang="en-US" sz="1000" baseline="0" dirty="0" smtClean="0"/>
                        <a:t> for BSaM “A” Part orders should be conducted just as for all IDS orders (via GPS HP Tax Entity)</a:t>
                      </a:r>
                      <a:endParaRPr lang="en-US" sz="1000" dirty="0"/>
                    </a:p>
                  </a:txBody>
                  <a:tcPr/>
                </a:tc>
                <a:tc>
                  <a:txBody>
                    <a:bodyPr/>
                    <a:lstStyle/>
                    <a:p>
                      <a:r>
                        <a:rPr lang="en-US" sz="1000" dirty="0" smtClean="0"/>
                        <a:t>ODM / HP</a:t>
                      </a:r>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65</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37285935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10"/>
          </p:nvPr>
        </p:nvSpPr>
        <p:spPr>
          <a:xfrm>
            <a:off x="329184" y="824346"/>
            <a:ext cx="8119872" cy="3823854"/>
          </a:xfrm>
        </p:spPr>
        <p:txBody>
          <a:bodyPr/>
          <a:lstStyle/>
          <a:p>
            <a:pPr marL="285750" indent="-285750">
              <a:buFont typeface="Arial" pitchFamily="34" charset="0"/>
              <a:buChar char="•"/>
            </a:pPr>
            <a:r>
              <a:rPr lang="en-US" sz="1600" b="0" dirty="0" smtClean="0">
                <a:solidFill>
                  <a:schemeClr val="tx1"/>
                </a:solidFill>
              </a:rPr>
              <a:t>EDI 856 Sample and Spec</a:t>
            </a: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sz="1600" b="0" dirty="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sz="1600" b="0" dirty="0">
              <a:solidFill>
                <a:schemeClr val="tx1"/>
              </a:solidFill>
            </a:endParaRPr>
          </a:p>
          <a:p>
            <a:pPr marL="285750" indent="-285750">
              <a:buFont typeface="Arial" pitchFamily="34" charset="0"/>
              <a:buChar char="•"/>
            </a:pPr>
            <a:endParaRPr lang="en-US" sz="1600" b="0" dirty="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sz="1600" b="0" dirty="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sz="1600" b="0" dirty="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sz="1600" b="0" dirty="0" smtClean="0">
              <a:solidFill>
                <a:schemeClr val="tx1"/>
              </a:solidFill>
            </a:endParaRPr>
          </a:p>
          <a:p>
            <a:pPr marL="285750" indent="-285750">
              <a:buFont typeface="Arial" pitchFamily="34" charset="0"/>
              <a:buChar char="•"/>
            </a:pPr>
            <a:endParaRPr lang="en-US" dirty="0"/>
          </a:p>
        </p:txBody>
      </p:sp>
      <p:sp>
        <p:nvSpPr>
          <p:cNvPr id="4" name="Title 3"/>
          <p:cNvSpPr>
            <a:spLocks noGrp="1"/>
          </p:cNvSpPr>
          <p:nvPr>
            <p:ph type="title"/>
          </p:nvPr>
        </p:nvSpPr>
        <p:spPr/>
        <p:txBody>
          <a:bodyPr/>
          <a:lstStyle/>
          <a:p>
            <a:r>
              <a:rPr lang="en-US" dirty="0"/>
              <a:t>BSaM – A Part Ship Notice &amp; Invoicing </a:t>
            </a:r>
          </a:p>
        </p:txBody>
      </p:sp>
      <p:sp>
        <p:nvSpPr>
          <p:cNvPr id="10" name="Rounded Rectangle 9"/>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65.1</a:t>
            </a:r>
            <a:endParaRPr lang="en-US" sz="1000" dirty="0">
              <a:solidFill>
                <a:schemeClr val="tx1"/>
              </a:solidFill>
              <a:latin typeface="Arial Black" pitchFamily="34" charset="0"/>
              <a:cs typeface="Aharoni" pitchFamily="2" charset="-79"/>
            </a:endParaRPr>
          </a:p>
        </p:txBody>
      </p:sp>
      <p:graphicFrame>
        <p:nvGraphicFramePr>
          <p:cNvPr id="6" name="Object 5"/>
          <p:cNvGraphicFramePr>
            <a:graphicFrameLocks noChangeAspect="1"/>
          </p:cNvGraphicFramePr>
          <p:nvPr>
            <p:extLst>
              <p:ext uri="{D42A27DB-BD31-4B8C-83A1-F6EECF244321}">
                <p14:modId xmlns:p14="http://schemas.microsoft.com/office/powerpoint/2010/main" xmlns="" val="2174633212"/>
              </p:ext>
            </p:extLst>
          </p:nvPr>
        </p:nvGraphicFramePr>
        <p:xfrm>
          <a:off x="600365" y="1276507"/>
          <a:ext cx="1152236" cy="445498"/>
        </p:xfrm>
        <a:graphic>
          <a:graphicData uri="http://schemas.openxmlformats.org/presentationml/2006/ole">
            <p:oleObj spid="_x0000_s3088" name="Packager Shell Object" showAsIcon="1" r:id="rId3" imgW="2234160" imgH="863640" progId="Package">
              <p:embed/>
            </p:oleObj>
          </a:graphicData>
        </a:graphic>
      </p:graphicFrame>
    </p:spTree>
    <p:extLst>
      <p:ext uri="{BB962C8B-B14F-4D97-AF65-F5344CB8AC3E}">
        <p14:creationId xmlns:p14="http://schemas.microsoft.com/office/powerpoint/2010/main" xmlns="" val="3859421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0"/>
          </p:nvPr>
        </p:nvSpPr>
        <p:spPr/>
        <p:txBody>
          <a:bodyPr anchor="ctr"/>
          <a:lstStyle/>
          <a:p>
            <a:pPr algn="ctr"/>
            <a:r>
              <a:rPr lang="en-US" sz="4000" dirty="0" smtClean="0">
                <a:solidFill>
                  <a:schemeClr val="tx1"/>
                </a:solidFill>
              </a:rPr>
              <a:t>ODM Requirements</a:t>
            </a:r>
          </a:p>
          <a:p>
            <a:pPr algn="ctr"/>
            <a:r>
              <a:rPr lang="en-US" sz="4000" dirty="0" smtClean="0">
                <a:solidFill>
                  <a:schemeClr val="tx1"/>
                </a:solidFill>
              </a:rPr>
              <a:t>B Part</a:t>
            </a:r>
          </a:p>
          <a:p>
            <a:pPr algn="ctr"/>
            <a:endParaRPr lang="en-US" sz="4000" dirty="0">
              <a:solidFill>
                <a:schemeClr val="tx1"/>
              </a:solidFill>
            </a:endParaRPr>
          </a:p>
        </p:txBody>
      </p:sp>
      <p:sp>
        <p:nvSpPr>
          <p:cNvPr id="3" name="Rounded Rectangle 2"/>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66</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8819467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Planning/Forecasting Requirements</a:t>
            </a:r>
            <a:endParaRPr lang="en-US" dirty="0"/>
          </a:p>
        </p:txBody>
      </p:sp>
      <p:sp>
        <p:nvSpPr>
          <p:cNvPr id="3" name="Title 2"/>
          <p:cNvSpPr>
            <a:spLocks noGrp="1"/>
          </p:cNvSpPr>
          <p:nvPr>
            <p:ph type="title"/>
          </p:nvPr>
        </p:nvSpPr>
        <p:spPr/>
        <p:txBody>
          <a:bodyPr/>
          <a:lstStyle/>
          <a:p>
            <a:r>
              <a:rPr lang="en-US" dirty="0" smtClean="0"/>
              <a:t>BSaM – B Part Planning</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1503090719"/>
              </p:ext>
            </p:extLst>
          </p:nvPr>
        </p:nvGraphicFramePr>
        <p:xfrm>
          <a:off x="328613" y="1189041"/>
          <a:ext cx="8120064" cy="2317750"/>
        </p:xfrm>
        <a:graphic>
          <a:graphicData uri="http://schemas.openxmlformats.org/drawingml/2006/table">
            <a:tbl>
              <a:tblPr firstRow="1" bandRow="1">
                <a:tableStyleId>{073A0DAA-6AF3-43AB-8588-CEC1D06C72B9}</a:tableStyleId>
              </a:tblPr>
              <a:tblGrid>
                <a:gridCol w="681037"/>
                <a:gridCol w="1695450"/>
                <a:gridCol w="3943350"/>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834390">
                <a:tc>
                  <a:txBody>
                    <a:bodyPr/>
                    <a:lstStyle/>
                    <a:p>
                      <a:r>
                        <a:rPr lang="en-US" sz="800" dirty="0" smtClean="0"/>
                        <a:t>BPLN-001</a:t>
                      </a:r>
                      <a:endParaRPr lang="en-US" sz="800" dirty="0"/>
                    </a:p>
                  </a:txBody>
                  <a:tcPr/>
                </a:tc>
                <a:tc>
                  <a:txBody>
                    <a:bodyPr/>
                    <a:lstStyle/>
                    <a:p>
                      <a:r>
                        <a:rPr lang="en-US" sz="1000" dirty="0" smtClean="0"/>
                        <a:t>Recognize</a:t>
                      </a:r>
                      <a:r>
                        <a:rPr lang="en-US" sz="1000" baseline="0" dirty="0" smtClean="0"/>
                        <a:t> BSaM “B” Part Supply Planning Forecast based on SC Node – “BSAM”</a:t>
                      </a:r>
                      <a:endParaRPr lang="en-US" sz="1000" dirty="0"/>
                    </a:p>
                  </a:txBody>
                  <a:tcPr/>
                </a:tc>
                <a:tc>
                  <a:txBody>
                    <a:bodyPr/>
                    <a:lstStyle/>
                    <a:p>
                      <a:r>
                        <a:rPr lang="en-US" sz="1000" dirty="0" smtClean="0"/>
                        <a:t>BSaM “B” Part Supply</a:t>
                      </a:r>
                      <a:r>
                        <a:rPr lang="en-US" sz="1000" baseline="0" dirty="0" smtClean="0"/>
                        <a:t> Planning will be relayed to the ODM just like RCTO but with a unique BSaM SC Node instead of “RMFG “ (BSaM code TBD).  The ODM will need to systemically and operationally support this BSaM “B” Part Supply Planning Process.</a:t>
                      </a:r>
                      <a:endParaRPr lang="en-US" sz="1000" dirty="0"/>
                    </a:p>
                  </a:txBody>
                  <a:tcPr/>
                </a:tc>
                <a:tc>
                  <a:txBody>
                    <a:bodyPr/>
                    <a:lstStyle/>
                    <a:p>
                      <a:r>
                        <a:rPr lang="en-US" sz="1000" dirty="0" smtClean="0"/>
                        <a:t>SC</a:t>
                      </a:r>
                      <a:r>
                        <a:rPr lang="en-US" sz="1000" baseline="0" dirty="0" smtClean="0"/>
                        <a:t> Node in Forecast = BSaM Unique Code (Code TBD)</a:t>
                      </a:r>
                    </a:p>
                  </a:txBody>
                  <a:tcPr/>
                </a:tc>
              </a:tr>
              <a:tr h="370840">
                <a:tc>
                  <a:txBody>
                    <a:bodyPr/>
                    <a:lstStyle/>
                    <a:p>
                      <a:endParaRPr lang="en-US" sz="800" dirty="0"/>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tr>
              <a:tr h="370840">
                <a:tc>
                  <a:txBody>
                    <a:bodyPr/>
                    <a:lstStyle/>
                    <a:p>
                      <a:endParaRPr lang="en-US" sz="800" dirty="0"/>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tr>
              <a:tr h="370840">
                <a:tc>
                  <a:txBody>
                    <a:bodyPr/>
                    <a:lstStyle/>
                    <a:p>
                      <a:endParaRPr lang="en-US" sz="800" dirty="0"/>
                    </a:p>
                  </a:txBody>
                  <a:tcPr/>
                </a:tc>
                <a:tc>
                  <a:txBody>
                    <a:bodyPr/>
                    <a:lstStyle/>
                    <a:p>
                      <a:endParaRPr lang="en-US" sz="1000" dirty="0"/>
                    </a:p>
                  </a:txBody>
                  <a:tcPr/>
                </a:tc>
                <a:tc>
                  <a:txBody>
                    <a:bodyPr/>
                    <a:lstStyle/>
                    <a:p>
                      <a:endParaRPr lang="en-US" sz="1000" dirty="0"/>
                    </a:p>
                  </a:txBody>
                  <a:tcPr/>
                </a:tc>
                <a:tc>
                  <a:txBody>
                    <a:bodyPr/>
                    <a:lstStyle/>
                    <a:p>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67</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34071185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Order Management Requirements</a:t>
            </a:r>
            <a:endParaRPr lang="en-US" dirty="0"/>
          </a:p>
        </p:txBody>
      </p:sp>
      <p:sp>
        <p:nvSpPr>
          <p:cNvPr id="3" name="Title 2"/>
          <p:cNvSpPr>
            <a:spLocks noGrp="1"/>
          </p:cNvSpPr>
          <p:nvPr>
            <p:ph type="title"/>
          </p:nvPr>
        </p:nvSpPr>
        <p:spPr/>
        <p:txBody>
          <a:bodyPr/>
          <a:lstStyle/>
          <a:p>
            <a:r>
              <a:rPr lang="en-US" dirty="0" smtClean="0"/>
              <a:t>BSaM – B Part Order Processing</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3009565746"/>
              </p:ext>
            </p:extLst>
          </p:nvPr>
        </p:nvGraphicFramePr>
        <p:xfrm>
          <a:off x="328613" y="1189041"/>
          <a:ext cx="8120064" cy="3799840"/>
        </p:xfrm>
        <a:graphic>
          <a:graphicData uri="http://schemas.openxmlformats.org/drawingml/2006/table">
            <a:tbl>
              <a:tblPr firstRow="1" bandRow="1">
                <a:tableStyleId>{073A0DAA-6AF3-43AB-8588-CEC1D06C72B9}</a:tableStyleId>
              </a:tblPr>
              <a:tblGrid>
                <a:gridCol w="681037"/>
                <a:gridCol w="1695450"/>
                <a:gridCol w="3943350"/>
                <a:gridCol w="1800227"/>
              </a:tblGrid>
              <a:tr h="370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685800">
                <a:tc>
                  <a:txBody>
                    <a:bodyPr/>
                    <a:lstStyle/>
                    <a:p>
                      <a:r>
                        <a:rPr lang="en-US" sz="1000" dirty="0" smtClean="0"/>
                        <a:t>BOP-001</a:t>
                      </a:r>
                      <a:endParaRPr lang="en-US" sz="1000" dirty="0"/>
                    </a:p>
                  </a:txBody>
                  <a:tcPr/>
                </a:tc>
                <a:tc>
                  <a:txBody>
                    <a:bodyPr/>
                    <a:lstStyle/>
                    <a:p>
                      <a:r>
                        <a:rPr lang="en-US" sz="1000" dirty="0" smtClean="0"/>
                        <a:t>Support EDI850 process for B Parts</a:t>
                      </a:r>
                      <a:endParaRPr lang="en-US" sz="1000" dirty="0"/>
                    </a:p>
                  </a:txBody>
                  <a:tcPr/>
                </a:tc>
                <a:tc>
                  <a:txBody>
                    <a:bodyPr/>
                    <a:lstStyle/>
                    <a:p>
                      <a:r>
                        <a:rPr lang="en-US" sz="1000" dirty="0" smtClean="0"/>
                        <a:t>If we can implement EDI850 ordering</a:t>
                      </a:r>
                      <a:r>
                        <a:rPr lang="en-US" sz="1000" baseline="0" dirty="0" smtClean="0"/>
                        <a:t> process for B parts, ODM needs to support the EDI850 receipt. The title transfer of the items will be at the point of </a:t>
                      </a:r>
                      <a:r>
                        <a:rPr lang="en-US" sz="1000" baseline="0" dirty="0" err="1" smtClean="0"/>
                        <a:t>exworks</a:t>
                      </a:r>
                      <a:r>
                        <a:rPr lang="en-US" sz="1000" baseline="0" dirty="0" smtClean="0"/>
                        <a:t> (FCA Shipper’s Dock)</a:t>
                      </a:r>
                      <a:endParaRPr lang="en-US" sz="1000" dirty="0"/>
                    </a:p>
                  </a:txBody>
                  <a:tcPr/>
                </a:tc>
                <a:tc>
                  <a:txBody>
                    <a:bodyPr/>
                    <a:lstStyle/>
                    <a:p>
                      <a:r>
                        <a:rPr lang="en-US" sz="1000" dirty="0" smtClean="0"/>
                        <a:t>HP</a:t>
                      </a:r>
                      <a:r>
                        <a:rPr lang="en-US" sz="1000" baseline="0" dirty="0" smtClean="0"/>
                        <a:t> B2B</a:t>
                      </a:r>
                      <a:endParaRPr lang="en-US" sz="1000" dirty="0"/>
                    </a:p>
                  </a:txBody>
                  <a:tcPr/>
                </a:tc>
              </a:tr>
              <a:tr h="68580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BOP-002</a:t>
                      </a:r>
                    </a:p>
                  </a:txBody>
                  <a:tcPr/>
                </a:tc>
                <a:tc>
                  <a:txBody>
                    <a:bodyPr/>
                    <a:lstStyle/>
                    <a:p>
                      <a:r>
                        <a:rPr lang="en-US" sz="1000" dirty="0" smtClean="0"/>
                        <a:t>Support manual PO process for B parts</a:t>
                      </a:r>
                      <a:endParaRPr lang="en-US" sz="1000" dirty="0"/>
                    </a:p>
                  </a:txBody>
                  <a:tcPr/>
                </a:tc>
                <a:tc>
                  <a:txBody>
                    <a:bodyPr/>
                    <a:lstStyle/>
                    <a:p>
                      <a:r>
                        <a:rPr lang="en-US" sz="1000" dirty="0" smtClean="0"/>
                        <a:t>ODM to support manual PO process for ordering of B parts. Manual PO to be placed by HP procurement (similar to RCTO). </a:t>
                      </a:r>
                      <a:r>
                        <a:rPr lang="en-US" sz="1000" baseline="0" dirty="0" smtClean="0"/>
                        <a:t>The title transfer of the items will be at the point of </a:t>
                      </a:r>
                      <a:r>
                        <a:rPr lang="en-US" sz="1000" baseline="0" dirty="0" err="1" smtClean="0"/>
                        <a:t>exworks</a:t>
                      </a:r>
                      <a:r>
                        <a:rPr lang="en-US" sz="1000" baseline="0" dirty="0" smtClean="0"/>
                        <a:t> (FCA Shipper’s Dock) </a:t>
                      </a:r>
                      <a:endParaRPr lang="en-US" sz="1000" dirty="0"/>
                    </a:p>
                  </a:txBody>
                  <a:tcPr/>
                </a:tc>
                <a:tc>
                  <a:txBody>
                    <a:bodyPr/>
                    <a:lstStyle/>
                    <a:p>
                      <a:r>
                        <a:rPr lang="en-US" sz="1000" dirty="0" smtClean="0"/>
                        <a:t>HP (Excel Spreadsheet)</a:t>
                      </a:r>
                      <a:endParaRPr lang="en-US" sz="1000" dirty="0"/>
                    </a:p>
                  </a:txBody>
                  <a:tcPr/>
                </a:tc>
              </a:tr>
              <a:tr h="83439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BOP-003</a:t>
                      </a:r>
                    </a:p>
                  </a:txBody>
                  <a:tcPr/>
                </a:tc>
                <a:tc>
                  <a:txBody>
                    <a:bodyPr/>
                    <a:lstStyle/>
                    <a:p>
                      <a:r>
                        <a:rPr lang="en-US" sz="1000" dirty="0" smtClean="0"/>
                        <a:t>Support manual PO commit process for B parts</a:t>
                      </a:r>
                      <a:endParaRPr lang="en-US" sz="1000" dirty="0"/>
                    </a:p>
                  </a:txBody>
                  <a:tcPr/>
                </a:tc>
                <a:tc>
                  <a:txBody>
                    <a:bodyPr/>
                    <a:lstStyle/>
                    <a:p>
                      <a:r>
                        <a:rPr lang="en-US" sz="1000" dirty="0" smtClean="0"/>
                        <a:t>ODM will need to send back a PO commit confirmation against the manual</a:t>
                      </a:r>
                      <a:r>
                        <a:rPr lang="en-US" sz="1000" baseline="0" dirty="0" smtClean="0"/>
                        <a:t> PO received.  This will be to confirm on when the requested order can be supported.  The confirmation should be sent back in Excel Spreadsheet format.  HP to provide ODM with file spec.</a:t>
                      </a:r>
                      <a:endParaRPr lang="en-US" sz="1000" dirty="0"/>
                    </a:p>
                  </a:txBody>
                  <a:tcPr/>
                </a:tc>
                <a:tc>
                  <a:txBody>
                    <a:bodyPr/>
                    <a:lstStyle/>
                    <a:p>
                      <a:r>
                        <a:rPr lang="en-US" sz="1000" dirty="0" smtClean="0"/>
                        <a:t>ODM</a:t>
                      </a:r>
                    </a:p>
                    <a:p>
                      <a:r>
                        <a:rPr lang="en-US" sz="1000" dirty="0" smtClean="0"/>
                        <a:t>(HP to specify spreadsheet</a:t>
                      </a:r>
                      <a:r>
                        <a:rPr lang="en-US" sz="1000" baseline="0" dirty="0" smtClean="0"/>
                        <a:t> file format)</a:t>
                      </a:r>
                      <a:endParaRPr lang="en-US" sz="1000" dirty="0"/>
                    </a:p>
                  </a:txBody>
                  <a:tcPr/>
                </a:tc>
              </a:tr>
              <a:tr h="68580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BOP-004</a:t>
                      </a:r>
                    </a:p>
                  </a:txBody>
                  <a:tcPr/>
                </a:tc>
                <a:tc>
                  <a:txBody>
                    <a:bodyPr/>
                    <a:lstStyle/>
                    <a:p>
                      <a:r>
                        <a:rPr lang="en-US" sz="1000" dirty="0" smtClean="0"/>
                        <a:t>ODM to confirm</a:t>
                      </a:r>
                      <a:r>
                        <a:rPr lang="en-US" sz="1000" baseline="0" dirty="0" smtClean="0"/>
                        <a:t> order processing complete</a:t>
                      </a:r>
                      <a:endParaRPr lang="en-US" sz="1000" dirty="0"/>
                    </a:p>
                  </a:txBody>
                  <a:tcPr/>
                </a:tc>
                <a:tc>
                  <a:txBody>
                    <a:bodyPr/>
                    <a:lstStyle/>
                    <a:p>
                      <a:r>
                        <a:rPr lang="en-US" sz="1000" dirty="0" smtClean="0"/>
                        <a:t>ODM to communicate</a:t>
                      </a:r>
                      <a:r>
                        <a:rPr lang="en-US" sz="1000" baseline="0" dirty="0" smtClean="0"/>
                        <a:t> Final Pre-Ship report as confirmation of order completion</a:t>
                      </a:r>
                      <a:endParaRPr lang="en-US" sz="1000" dirty="0"/>
                    </a:p>
                  </a:txBody>
                  <a:tcPr/>
                </a:tc>
                <a:tc>
                  <a:txBody>
                    <a:bodyPr/>
                    <a:lstStyle/>
                    <a:p>
                      <a:r>
                        <a:rPr lang="en-US" sz="1000" dirty="0" smtClean="0"/>
                        <a:t>ODM</a:t>
                      </a:r>
                    </a:p>
                    <a:p>
                      <a:r>
                        <a:rPr lang="en-US" sz="1000" dirty="0" smtClean="0"/>
                        <a:t>(HP to specify spreadsheet</a:t>
                      </a:r>
                      <a:r>
                        <a:rPr lang="en-US" sz="1000" baseline="0" dirty="0" smtClean="0"/>
                        <a:t> file format)</a:t>
                      </a:r>
                      <a:endParaRPr lang="en-US" sz="1000" dirty="0"/>
                    </a:p>
                  </a:txBody>
                  <a:tcPr/>
                </a:tc>
              </a:tr>
              <a:tr h="53721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t>BOP-005</a:t>
                      </a:r>
                    </a:p>
                  </a:txBody>
                  <a:tcPr/>
                </a:tc>
                <a:tc>
                  <a:txBody>
                    <a:bodyPr/>
                    <a:lstStyle/>
                    <a:p>
                      <a:r>
                        <a:rPr lang="en-US" sz="1000" dirty="0" smtClean="0"/>
                        <a:t>ODM ordering</a:t>
                      </a:r>
                      <a:r>
                        <a:rPr lang="en-US" sz="1000" baseline="0" dirty="0" smtClean="0"/>
                        <a:t> of B parts</a:t>
                      </a:r>
                      <a:endParaRPr lang="en-US" sz="1000" dirty="0"/>
                    </a:p>
                  </a:txBody>
                  <a:tcPr/>
                </a:tc>
                <a:tc>
                  <a:txBody>
                    <a:bodyPr/>
                    <a:lstStyle/>
                    <a:p>
                      <a:r>
                        <a:rPr lang="en-US" sz="1000" dirty="0" smtClean="0"/>
                        <a:t>ODM to order B parts from BAX HUB (same process as for components for IDS),</a:t>
                      </a:r>
                      <a:r>
                        <a:rPr lang="en-US" sz="1000" baseline="0" dirty="0" smtClean="0"/>
                        <a:t> track inbound parts, receive parts and process for shipping</a:t>
                      </a:r>
                      <a:endParaRPr lang="en-US" sz="1000" dirty="0"/>
                    </a:p>
                  </a:txBody>
                  <a:tcPr/>
                </a:tc>
                <a:tc>
                  <a:txBody>
                    <a:bodyPr/>
                    <a:lstStyle/>
                    <a:p>
                      <a:r>
                        <a:rPr lang="en-US" sz="1000" dirty="0" smtClean="0"/>
                        <a:t>ODM</a:t>
                      </a:r>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68</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92665837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46335" y="1061359"/>
            <a:ext cx="8262257" cy="375557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endParaRPr lang="en-US" dirty="0">
              <a:solidFill>
                <a:prstClr val="white"/>
              </a:solidFill>
            </a:endParaRPr>
          </a:p>
        </p:txBody>
      </p:sp>
      <p:sp>
        <p:nvSpPr>
          <p:cNvPr id="22" name="AutoShape 22"/>
          <p:cNvSpPr>
            <a:spLocks noChangeArrowheads="1"/>
          </p:cNvSpPr>
          <p:nvPr/>
        </p:nvSpPr>
        <p:spPr bwMode="auto">
          <a:xfrm>
            <a:off x="1624870" y="1441539"/>
            <a:ext cx="1549569" cy="668183"/>
          </a:xfrm>
          <a:prstGeom prst="roundRect">
            <a:avLst>
              <a:gd name="adj" fmla="val 16667"/>
            </a:avLst>
          </a:prstGeom>
          <a:gradFill flip="none" rotWithShape="1">
            <a:gsLst>
              <a:gs pos="0">
                <a:srgbClr val="03D4A8"/>
              </a:gs>
              <a:gs pos="99000">
                <a:srgbClr val="21D6E0"/>
              </a:gs>
              <a:gs pos="75000">
                <a:srgbClr val="0087E6"/>
              </a:gs>
              <a:gs pos="100000">
                <a:srgbClr val="005CBF"/>
              </a:gs>
            </a:gsLst>
            <a:lin ang="5400000" scaled="0"/>
            <a:tileRect/>
          </a:gradFill>
          <a:ln w="15875">
            <a:noFill/>
            <a:round/>
            <a:headEnd/>
            <a:tailEnd/>
          </a:ln>
          <a:effectLst/>
        </p:spPr>
        <p:txBody>
          <a:bodyPr wrap="square" anchor="ctr"/>
          <a:lstStyle/>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HP Sends Manual PO to ODM</a:t>
            </a:r>
          </a:p>
        </p:txBody>
      </p:sp>
      <p:sp>
        <p:nvSpPr>
          <p:cNvPr id="26" name="AutoShape 26"/>
          <p:cNvSpPr>
            <a:spLocks noChangeArrowheads="1"/>
          </p:cNvSpPr>
          <p:nvPr/>
        </p:nvSpPr>
        <p:spPr bwMode="auto">
          <a:xfrm>
            <a:off x="5861375" y="1442799"/>
            <a:ext cx="1549569" cy="668183"/>
          </a:xfrm>
          <a:prstGeom prst="roundRect">
            <a:avLst>
              <a:gd name="adj" fmla="val 16667"/>
            </a:avLst>
          </a:prstGeom>
          <a:gradFill flip="none" rotWithShape="1">
            <a:gsLst>
              <a:gs pos="47000">
                <a:srgbClr val="9999FF"/>
              </a:gs>
              <a:gs pos="60001">
                <a:srgbClr val="2E6792"/>
              </a:gs>
              <a:gs pos="71001">
                <a:srgbClr val="3333CC"/>
              </a:gs>
              <a:gs pos="81000">
                <a:srgbClr val="1170FF"/>
              </a:gs>
              <a:gs pos="100000">
                <a:srgbClr val="006699"/>
              </a:gs>
            </a:gsLst>
            <a:lin ang="5400000" scaled="0"/>
            <a:tileRect/>
          </a:gradFill>
          <a:ln w="15875">
            <a:noFill/>
            <a:round/>
            <a:headEnd/>
            <a:tailEnd/>
          </a:ln>
          <a:effectLst/>
        </p:spPr>
        <p:txBody>
          <a:bodyPr wrap="none" anchor="ctr"/>
          <a:lstStyle/>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ODM receives</a:t>
            </a:r>
          </a:p>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PO &amp; re-confirms</a:t>
            </a:r>
          </a:p>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supply</a:t>
            </a:r>
          </a:p>
        </p:txBody>
      </p:sp>
      <p:sp>
        <p:nvSpPr>
          <p:cNvPr id="48" name="Oval 47"/>
          <p:cNvSpPr/>
          <p:nvPr/>
        </p:nvSpPr>
        <p:spPr>
          <a:xfrm>
            <a:off x="1371616" y="1509528"/>
            <a:ext cx="152400" cy="11430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prstClr val="black"/>
                </a:solidFill>
                <a:latin typeface="Futura Bk" pitchFamily="34" charset="0"/>
              </a:rPr>
              <a:t>1</a:t>
            </a:r>
            <a:endParaRPr lang="en-US" sz="1000" b="1" dirty="0">
              <a:solidFill>
                <a:prstClr val="black"/>
              </a:solidFill>
              <a:latin typeface="Futura Bk" pitchFamily="34" charset="0"/>
            </a:endParaRPr>
          </a:p>
        </p:txBody>
      </p:sp>
      <p:sp>
        <p:nvSpPr>
          <p:cNvPr id="63" name="Oval 62"/>
          <p:cNvSpPr/>
          <p:nvPr/>
        </p:nvSpPr>
        <p:spPr>
          <a:xfrm>
            <a:off x="5562674" y="1501364"/>
            <a:ext cx="152400" cy="11430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prstClr val="black"/>
                </a:solidFill>
                <a:latin typeface="Futura Bk" pitchFamily="34" charset="0"/>
              </a:rPr>
              <a:t>2</a:t>
            </a:r>
            <a:endParaRPr lang="en-US" sz="1000" b="1" dirty="0">
              <a:solidFill>
                <a:prstClr val="black"/>
              </a:solidFill>
              <a:latin typeface="Futura Bk" pitchFamily="34" charset="0"/>
            </a:endParaRPr>
          </a:p>
        </p:txBody>
      </p:sp>
      <p:sp>
        <p:nvSpPr>
          <p:cNvPr id="46" name="AutoShape 26"/>
          <p:cNvSpPr>
            <a:spLocks noChangeArrowheads="1"/>
          </p:cNvSpPr>
          <p:nvPr/>
        </p:nvSpPr>
        <p:spPr bwMode="auto">
          <a:xfrm>
            <a:off x="5861375" y="2352628"/>
            <a:ext cx="1549569" cy="668183"/>
          </a:xfrm>
          <a:prstGeom prst="roundRect">
            <a:avLst>
              <a:gd name="adj" fmla="val 16667"/>
            </a:avLst>
          </a:prstGeom>
          <a:gradFill flip="none" rotWithShape="1">
            <a:gsLst>
              <a:gs pos="47000">
                <a:srgbClr val="9999FF"/>
              </a:gs>
              <a:gs pos="60001">
                <a:srgbClr val="2E6792"/>
              </a:gs>
              <a:gs pos="71001">
                <a:srgbClr val="3333CC"/>
              </a:gs>
              <a:gs pos="81000">
                <a:srgbClr val="1170FF"/>
              </a:gs>
              <a:gs pos="100000">
                <a:srgbClr val="006699"/>
              </a:gs>
            </a:gsLst>
            <a:lin ang="5400000" scaled="0"/>
            <a:tileRect/>
          </a:gradFill>
          <a:ln w="15875">
            <a:noFill/>
            <a:round/>
            <a:headEnd/>
            <a:tailEnd/>
          </a:ln>
          <a:effectLst/>
        </p:spPr>
        <p:txBody>
          <a:bodyPr wrap="none" anchor="ctr"/>
          <a:lstStyle/>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ODM sends</a:t>
            </a:r>
          </a:p>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PO commit &amp; Price</a:t>
            </a:r>
          </a:p>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to HP</a:t>
            </a:r>
          </a:p>
        </p:txBody>
      </p:sp>
      <p:sp>
        <p:nvSpPr>
          <p:cNvPr id="47" name="Oval 46"/>
          <p:cNvSpPr/>
          <p:nvPr/>
        </p:nvSpPr>
        <p:spPr>
          <a:xfrm>
            <a:off x="5562670" y="2366798"/>
            <a:ext cx="152400" cy="11430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prstClr val="black"/>
                </a:solidFill>
                <a:latin typeface="Futura Bk" pitchFamily="34" charset="0"/>
              </a:rPr>
              <a:t>3</a:t>
            </a:r>
            <a:endParaRPr lang="en-US" sz="1000" b="1" dirty="0">
              <a:solidFill>
                <a:prstClr val="black"/>
              </a:solidFill>
              <a:latin typeface="Futura Bk" pitchFamily="34" charset="0"/>
            </a:endParaRPr>
          </a:p>
        </p:txBody>
      </p:sp>
      <p:sp>
        <p:nvSpPr>
          <p:cNvPr id="57" name="AutoShape 22"/>
          <p:cNvSpPr>
            <a:spLocks noChangeArrowheads="1"/>
          </p:cNvSpPr>
          <p:nvPr/>
        </p:nvSpPr>
        <p:spPr bwMode="auto">
          <a:xfrm>
            <a:off x="1613968" y="2306970"/>
            <a:ext cx="1549569" cy="668183"/>
          </a:xfrm>
          <a:prstGeom prst="roundRect">
            <a:avLst>
              <a:gd name="adj" fmla="val 16667"/>
            </a:avLst>
          </a:prstGeom>
          <a:gradFill flip="none" rotWithShape="1">
            <a:gsLst>
              <a:gs pos="0">
                <a:srgbClr val="03D4A8"/>
              </a:gs>
              <a:gs pos="99000">
                <a:srgbClr val="21D6E0"/>
              </a:gs>
              <a:gs pos="75000">
                <a:srgbClr val="0087E6"/>
              </a:gs>
              <a:gs pos="100000">
                <a:srgbClr val="005CBF"/>
              </a:gs>
            </a:gsLst>
            <a:lin ang="5400000" scaled="0"/>
            <a:tileRect/>
          </a:gradFill>
          <a:ln w="15875">
            <a:noFill/>
            <a:round/>
            <a:headEnd/>
            <a:tailEnd/>
          </a:ln>
          <a:effectLst/>
        </p:spPr>
        <p:txBody>
          <a:bodyPr wrap="square" anchor="ctr"/>
          <a:lstStyle/>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HP receives</a:t>
            </a:r>
          </a:p>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PO commit &amp; adjusts internally if needed</a:t>
            </a:r>
          </a:p>
        </p:txBody>
      </p:sp>
      <p:sp>
        <p:nvSpPr>
          <p:cNvPr id="58" name="Oval 57"/>
          <p:cNvSpPr/>
          <p:nvPr/>
        </p:nvSpPr>
        <p:spPr>
          <a:xfrm>
            <a:off x="1360726" y="2374962"/>
            <a:ext cx="152400" cy="11430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prstClr val="black"/>
                </a:solidFill>
                <a:latin typeface="Futura Bk" pitchFamily="34" charset="0"/>
              </a:rPr>
              <a:t>4</a:t>
            </a:r>
            <a:endParaRPr lang="en-US" sz="1000" b="1" dirty="0">
              <a:solidFill>
                <a:prstClr val="black"/>
              </a:solidFill>
              <a:latin typeface="Futura Bk" pitchFamily="34" charset="0"/>
            </a:endParaRPr>
          </a:p>
        </p:txBody>
      </p:sp>
      <p:sp>
        <p:nvSpPr>
          <p:cNvPr id="59" name="AutoShape 26"/>
          <p:cNvSpPr>
            <a:spLocks noChangeArrowheads="1"/>
          </p:cNvSpPr>
          <p:nvPr/>
        </p:nvSpPr>
        <p:spPr bwMode="auto">
          <a:xfrm>
            <a:off x="5861375" y="3149174"/>
            <a:ext cx="1549569" cy="668183"/>
          </a:xfrm>
          <a:prstGeom prst="roundRect">
            <a:avLst>
              <a:gd name="adj" fmla="val 16667"/>
            </a:avLst>
          </a:prstGeom>
          <a:gradFill flip="none" rotWithShape="1">
            <a:gsLst>
              <a:gs pos="47000">
                <a:srgbClr val="9999FF"/>
              </a:gs>
              <a:gs pos="60001">
                <a:srgbClr val="2E6792"/>
              </a:gs>
              <a:gs pos="71001">
                <a:srgbClr val="3333CC"/>
              </a:gs>
              <a:gs pos="81000">
                <a:srgbClr val="1170FF"/>
              </a:gs>
              <a:gs pos="100000">
                <a:srgbClr val="006699"/>
              </a:gs>
            </a:gsLst>
            <a:lin ang="5400000" scaled="0"/>
            <a:tileRect/>
          </a:gradFill>
          <a:ln w="15875">
            <a:noFill/>
            <a:round/>
            <a:headEnd/>
            <a:tailEnd/>
          </a:ln>
          <a:effectLst/>
        </p:spPr>
        <p:txBody>
          <a:bodyPr wrap="none" anchor="ctr"/>
          <a:lstStyle/>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ODM sends Post</a:t>
            </a:r>
          </a:p>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Shipment Report &amp;</a:t>
            </a:r>
          </a:p>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 Invoice to HP, </a:t>
            </a:r>
          </a:p>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updates SCITS files</a:t>
            </a:r>
          </a:p>
        </p:txBody>
      </p:sp>
      <p:sp>
        <p:nvSpPr>
          <p:cNvPr id="60" name="Oval 59"/>
          <p:cNvSpPr/>
          <p:nvPr/>
        </p:nvSpPr>
        <p:spPr>
          <a:xfrm>
            <a:off x="5562666" y="3207738"/>
            <a:ext cx="152400" cy="11430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prstClr val="black"/>
                </a:solidFill>
                <a:latin typeface="Futura Bk" pitchFamily="34" charset="0"/>
              </a:rPr>
              <a:t>5</a:t>
            </a:r>
            <a:endParaRPr lang="en-US" sz="1000" b="1" dirty="0">
              <a:solidFill>
                <a:prstClr val="black"/>
              </a:solidFill>
              <a:latin typeface="Futura Bk" pitchFamily="34" charset="0"/>
            </a:endParaRPr>
          </a:p>
        </p:txBody>
      </p:sp>
      <p:sp>
        <p:nvSpPr>
          <p:cNvPr id="61" name="AutoShape 22"/>
          <p:cNvSpPr>
            <a:spLocks noChangeArrowheads="1"/>
          </p:cNvSpPr>
          <p:nvPr/>
        </p:nvSpPr>
        <p:spPr bwMode="auto">
          <a:xfrm>
            <a:off x="1613968" y="3139749"/>
            <a:ext cx="1549569" cy="668183"/>
          </a:xfrm>
          <a:prstGeom prst="roundRect">
            <a:avLst>
              <a:gd name="adj" fmla="val 16667"/>
            </a:avLst>
          </a:prstGeom>
          <a:gradFill flip="none" rotWithShape="1">
            <a:gsLst>
              <a:gs pos="0">
                <a:srgbClr val="03D4A8"/>
              </a:gs>
              <a:gs pos="99000">
                <a:srgbClr val="21D6E0"/>
              </a:gs>
              <a:gs pos="75000">
                <a:srgbClr val="0087E6"/>
              </a:gs>
              <a:gs pos="100000">
                <a:srgbClr val="005CBF"/>
              </a:gs>
            </a:gsLst>
            <a:lin ang="5400000" scaled="0"/>
            <a:tileRect/>
          </a:gradFill>
          <a:ln w="15875">
            <a:noFill/>
            <a:round/>
            <a:headEnd/>
            <a:tailEnd/>
          </a:ln>
          <a:effectLst/>
        </p:spPr>
        <p:txBody>
          <a:bodyPr wrap="square" anchor="ctr"/>
          <a:lstStyle/>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HP received</a:t>
            </a:r>
          </a:p>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Ship Notices &amp; closed PO for Payment</a:t>
            </a:r>
          </a:p>
        </p:txBody>
      </p:sp>
      <p:sp>
        <p:nvSpPr>
          <p:cNvPr id="62" name="Oval 61"/>
          <p:cNvSpPr/>
          <p:nvPr/>
        </p:nvSpPr>
        <p:spPr>
          <a:xfrm>
            <a:off x="1360722" y="3207738"/>
            <a:ext cx="152400" cy="11430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prstClr val="black"/>
                </a:solidFill>
                <a:latin typeface="Futura Bk" pitchFamily="34" charset="0"/>
              </a:rPr>
              <a:t>6</a:t>
            </a:r>
            <a:endParaRPr lang="en-US" sz="1000" b="1" dirty="0">
              <a:solidFill>
                <a:prstClr val="black"/>
              </a:solidFill>
              <a:latin typeface="Futura Bk" pitchFamily="34" charset="0"/>
            </a:endParaRPr>
          </a:p>
        </p:txBody>
      </p:sp>
      <p:sp>
        <p:nvSpPr>
          <p:cNvPr id="74" name="AutoShape 22"/>
          <p:cNvSpPr>
            <a:spLocks noChangeArrowheads="1"/>
          </p:cNvSpPr>
          <p:nvPr/>
        </p:nvSpPr>
        <p:spPr bwMode="auto">
          <a:xfrm>
            <a:off x="1613968" y="3972525"/>
            <a:ext cx="1549569" cy="668183"/>
          </a:xfrm>
          <a:prstGeom prst="roundRect">
            <a:avLst>
              <a:gd name="adj" fmla="val 16667"/>
            </a:avLst>
          </a:prstGeom>
          <a:gradFill flip="none" rotWithShape="1">
            <a:gsLst>
              <a:gs pos="0">
                <a:srgbClr val="03D4A8"/>
              </a:gs>
              <a:gs pos="99000">
                <a:srgbClr val="21D6E0"/>
              </a:gs>
              <a:gs pos="75000">
                <a:srgbClr val="0087E6"/>
              </a:gs>
              <a:gs pos="100000">
                <a:srgbClr val="005CBF"/>
              </a:gs>
            </a:gsLst>
            <a:lin ang="5400000" scaled="0"/>
            <a:tileRect/>
          </a:gradFill>
          <a:ln w="15875">
            <a:noFill/>
            <a:round/>
            <a:headEnd/>
            <a:tailEnd/>
          </a:ln>
          <a:effectLst/>
        </p:spPr>
        <p:txBody>
          <a:bodyPr wrap="square" anchor="ctr"/>
          <a:lstStyle/>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HP conducts Payment to ODM</a:t>
            </a:r>
          </a:p>
        </p:txBody>
      </p:sp>
      <p:sp>
        <p:nvSpPr>
          <p:cNvPr id="75" name="Oval 74"/>
          <p:cNvSpPr/>
          <p:nvPr/>
        </p:nvSpPr>
        <p:spPr>
          <a:xfrm>
            <a:off x="1360718" y="4040514"/>
            <a:ext cx="152400" cy="11430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prstClr val="black"/>
                </a:solidFill>
                <a:latin typeface="Futura Bk" pitchFamily="34" charset="0"/>
              </a:rPr>
              <a:t>7</a:t>
            </a:r>
            <a:endParaRPr lang="en-US" sz="1000" b="1" dirty="0">
              <a:solidFill>
                <a:prstClr val="black"/>
              </a:solidFill>
              <a:latin typeface="Futura Bk" pitchFamily="34" charset="0"/>
            </a:endParaRPr>
          </a:p>
        </p:txBody>
      </p:sp>
      <p:sp>
        <p:nvSpPr>
          <p:cNvPr id="76" name="AutoShape 26"/>
          <p:cNvSpPr>
            <a:spLocks noChangeArrowheads="1"/>
          </p:cNvSpPr>
          <p:nvPr/>
        </p:nvSpPr>
        <p:spPr bwMode="auto">
          <a:xfrm>
            <a:off x="5850473" y="3981950"/>
            <a:ext cx="1549569" cy="668183"/>
          </a:xfrm>
          <a:prstGeom prst="roundRect">
            <a:avLst>
              <a:gd name="adj" fmla="val 16667"/>
            </a:avLst>
          </a:prstGeom>
          <a:gradFill flip="none" rotWithShape="1">
            <a:gsLst>
              <a:gs pos="47000">
                <a:srgbClr val="9999FF"/>
              </a:gs>
              <a:gs pos="60001">
                <a:srgbClr val="2E6792"/>
              </a:gs>
              <a:gs pos="71001">
                <a:srgbClr val="3333CC"/>
              </a:gs>
              <a:gs pos="81000">
                <a:srgbClr val="1170FF"/>
              </a:gs>
              <a:gs pos="100000">
                <a:srgbClr val="006699"/>
              </a:gs>
            </a:gsLst>
            <a:lin ang="5400000" scaled="0"/>
            <a:tileRect/>
          </a:gradFill>
          <a:ln w="15875">
            <a:noFill/>
            <a:round/>
            <a:headEnd/>
            <a:tailEnd/>
          </a:ln>
          <a:effectLst/>
        </p:spPr>
        <p:txBody>
          <a:bodyPr wrap="none" anchor="ctr"/>
          <a:lstStyle/>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ODM to </a:t>
            </a:r>
          </a:p>
          <a:p>
            <a:pPr algn="ctr" defTabSz="914400" fontAlgn="base">
              <a:lnSpc>
                <a:spcPct val="80000"/>
              </a:lnSpc>
              <a:spcBef>
                <a:spcPct val="0"/>
              </a:spcBef>
              <a:spcAft>
                <a:spcPct val="0"/>
              </a:spcAft>
              <a:defRPr/>
            </a:pPr>
            <a:r>
              <a:rPr lang="en-US" sz="1200" b="1" dirty="0" smtClean="0">
                <a:solidFill>
                  <a:prstClr val="white"/>
                </a:solidFill>
                <a:effectLst>
                  <a:outerShdw blurRad="38100" dist="38100" dir="2700000" algn="tl">
                    <a:srgbClr val="000000">
                      <a:alpha val="43137"/>
                    </a:srgbClr>
                  </a:outerShdw>
                </a:effectLst>
                <a:latin typeface="Arial" charset="0"/>
              </a:rPr>
              <a:t>Receive Payment</a:t>
            </a:r>
          </a:p>
        </p:txBody>
      </p:sp>
      <p:sp>
        <p:nvSpPr>
          <p:cNvPr id="77" name="Oval 76"/>
          <p:cNvSpPr/>
          <p:nvPr/>
        </p:nvSpPr>
        <p:spPr>
          <a:xfrm>
            <a:off x="5551776" y="4040514"/>
            <a:ext cx="152400" cy="114300"/>
          </a:xfrm>
          <a:prstGeom prst="ellipse">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fontAlgn="base">
              <a:spcBef>
                <a:spcPct val="0"/>
              </a:spcBef>
              <a:spcAft>
                <a:spcPct val="0"/>
              </a:spcAft>
            </a:pPr>
            <a:r>
              <a:rPr lang="en-US" sz="1000" b="1" dirty="0" smtClean="0">
                <a:solidFill>
                  <a:prstClr val="black"/>
                </a:solidFill>
                <a:latin typeface="Futura Bk" pitchFamily="34" charset="0"/>
              </a:rPr>
              <a:t>8</a:t>
            </a:r>
            <a:endParaRPr lang="en-US" sz="1000" b="1" dirty="0">
              <a:solidFill>
                <a:prstClr val="black"/>
              </a:solidFill>
              <a:latin typeface="Futura Bk" pitchFamily="34" charset="0"/>
            </a:endParaRPr>
          </a:p>
        </p:txBody>
      </p:sp>
      <p:cxnSp>
        <p:nvCxnSpPr>
          <p:cNvPr id="79" name="Straight Arrow Connector 78"/>
          <p:cNvCxnSpPr>
            <a:stCxn id="22" idx="3"/>
            <a:endCxn id="26" idx="1"/>
          </p:cNvCxnSpPr>
          <p:nvPr/>
        </p:nvCxnSpPr>
        <p:spPr>
          <a:xfrm>
            <a:off x="3174430" y="1775600"/>
            <a:ext cx="2686932" cy="126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26" idx="2"/>
            <a:endCxn id="46" idx="0"/>
          </p:cNvCxnSpPr>
          <p:nvPr/>
        </p:nvCxnSpPr>
        <p:spPr>
          <a:xfrm flipH="1">
            <a:off x="6636143" y="2110951"/>
            <a:ext cx="4" cy="241646"/>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46" idx="2"/>
            <a:endCxn id="59" idx="0"/>
          </p:cNvCxnSpPr>
          <p:nvPr/>
        </p:nvCxnSpPr>
        <p:spPr>
          <a:xfrm flipH="1">
            <a:off x="6636139" y="3020811"/>
            <a:ext cx="4" cy="12836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stCxn id="46" idx="1"/>
            <a:endCxn id="57" idx="3"/>
          </p:cNvCxnSpPr>
          <p:nvPr/>
        </p:nvCxnSpPr>
        <p:spPr>
          <a:xfrm flipH="1" flipV="1">
            <a:off x="3163599" y="2641037"/>
            <a:ext cx="2697821" cy="4565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a:stCxn id="59" idx="1"/>
            <a:endCxn id="61" idx="3"/>
          </p:cNvCxnSpPr>
          <p:nvPr/>
        </p:nvCxnSpPr>
        <p:spPr>
          <a:xfrm flipH="1" flipV="1">
            <a:off x="3163536" y="3473841"/>
            <a:ext cx="2697818" cy="942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61" idx="2"/>
            <a:endCxn id="74" idx="0"/>
          </p:cNvCxnSpPr>
          <p:nvPr/>
        </p:nvCxnSpPr>
        <p:spPr>
          <a:xfrm flipH="1">
            <a:off x="2388748" y="3807932"/>
            <a:ext cx="4" cy="16459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a:stCxn id="74" idx="3"/>
            <a:endCxn id="76" idx="1"/>
          </p:cNvCxnSpPr>
          <p:nvPr/>
        </p:nvCxnSpPr>
        <p:spPr>
          <a:xfrm>
            <a:off x="3163532" y="4306617"/>
            <a:ext cx="2686932" cy="942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3853544" y="1616540"/>
            <a:ext cx="1358064" cy="246221"/>
          </a:xfrm>
          <a:prstGeom prst="rect">
            <a:avLst/>
          </a:prstGeom>
          <a:noFill/>
        </p:spPr>
        <p:txBody>
          <a:bodyPr wrap="none" rtlCol="0">
            <a:spAutoFit/>
          </a:bodyPr>
          <a:lstStyle/>
          <a:p>
            <a:pPr defTabSz="914400" fontAlgn="base">
              <a:spcBef>
                <a:spcPct val="0"/>
              </a:spcBef>
              <a:spcAft>
                <a:spcPct val="0"/>
              </a:spcAft>
            </a:pPr>
            <a:r>
              <a:rPr lang="en-US" sz="1000" dirty="0" smtClean="0">
                <a:solidFill>
                  <a:prstClr val="white"/>
                </a:solidFill>
                <a:latin typeface="Arial" charset="0"/>
              </a:rPr>
              <a:t>Email with Excel File</a:t>
            </a:r>
            <a:endParaRPr lang="en-US" sz="1000" dirty="0">
              <a:solidFill>
                <a:prstClr val="white"/>
              </a:solidFill>
              <a:latin typeface="Arial" charset="0"/>
            </a:endParaRPr>
          </a:p>
        </p:txBody>
      </p:sp>
      <p:sp>
        <p:nvSpPr>
          <p:cNvPr id="101" name="TextBox 100"/>
          <p:cNvSpPr txBox="1"/>
          <p:nvPr/>
        </p:nvSpPr>
        <p:spPr>
          <a:xfrm>
            <a:off x="3853540" y="2498297"/>
            <a:ext cx="1358064" cy="246221"/>
          </a:xfrm>
          <a:prstGeom prst="rect">
            <a:avLst/>
          </a:prstGeom>
          <a:noFill/>
        </p:spPr>
        <p:txBody>
          <a:bodyPr wrap="none" rtlCol="0">
            <a:spAutoFit/>
          </a:bodyPr>
          <a:lstStyle/>
          <a:p>
            <a:pPr defTabSz="914400" fontAlgn="base">
              <a:spcBef>
                <a:spcPct val="0"/>
              </a:spcBef>
              <a:spcAft>
                <a:spcPct val="0"/>
              </a:spcAft>
            </a:pPr>
            <a:r>
              <a:rPr lang="en-US" sz="1000" dirty="0" smtClean="0">
                <a:solidFill>
                  <a:prstClr val="white"/>
                </a:solidFill>
                <a:latin typeface="Arial" charset="0"/>
              </a:rPr>
              <a:t>Email with Excel File</a:t>
            </a:r>
            <a:endParaRPr lang="en-US" sz="1000" dirty="0">
              <a:solidFill>
                <a:prstClr val="white"/>
              </a:solidFill>
              <a:latin typeface="Arial" charset="0"/>
            </a:endParaRPr>
          </a:p>
        </p:txBody>
      </p:sp>
      <p:sp>
        <p:nvSpPr>
          <p:cNvPr id="102" name="TextBox 101"/>
          <p:cNvSpPr txBox="1"/>
          <p:nvPr/>
        </p:nvSpPr>
        <p:spPr>
          <a:xfrm>
            <a:off x="3439868" y="3331102"/>
            <a:ext cx="2252540" cy="400110"/>
          </a:xfrm>
          <a:prstGeom prst="rect">
            <a:avLst/>
          </a:prstGeom>
          <a:noFill/>
        </p:spPr>
        <p:txBody>
          <a:bodyPr wrap="none" rtlCol="0">
            <a:spAutoFit/>
          </a:bodyPr>
          <a:lstStyle/>
          <a:p>
            <a:pPr defTabSz="914400" fontAlgn="base">
              <a:spcBef>
                <a:spcPct val="0"/>
              </a:spcBef>
              <a:spcAft>
                <a:spcPct val="0"/>
              </a:spcAft>
            </a:pPr>
            <a:r>
              <a:rPr lang="en-US" sz="1000" dirty="0" smtClean="0">
                <a:solidFill>
                  <a:prstClr val="white"/>
                </a:solidFill>
                <a:latin typeface="Arial" charset="0"/>
              </a:rPr>
              <a:t>Email with Final Pre-Ship Notice File</a:t>
            </a:r>
          </a:p>
          <a:p>
            <a:pPr defTabSz="914400" fontAlgn="base">
              <a:spcBef>
                <a:spcPct val="0"/>
              </a:spcBef>
              <a:spcAft>
                <a:spcPct val="0"/>
              </a:spcAft>
            </a:pPr>
            <a:r>
              <a:rPr lang="en-US" sz="1000" dirty="0" smtClean="0">
                <a:solidFill>
                  <a:prstClr val="white"/>
                </a:solidFill>
                <a:latin typeface="Arial" charset="0"/>
              </a:rPr>
              <a:t>and Invoice</a:t>
            </a:r>
            <a:endParaRPr lang="en-US" sz="1000" dirty="0">
              <a:solidFill>
                <a:prstClr val="white"/>
              </a:solidFill>
              <a:latin typeface="Arial" charset="0"/>
            </a:endParaRPr>
          </a:p>
        </p:txBody>
      </p:sp>
      <p:sp>
        <p:nvSpPr>
          <p:cNvPr id="103" name="TextBox 102"/>
          <p:cNvSpPr txBox="1"/>
          <p:nvPr/>
        </p:nvSpPr>
        <p:spPr>
          <a:xfrm>
            <a:off x="3712077" y="4163879"/>
            <a:ext cx="1630575" cy="246221"/>
          </a:xfrm>
          <a:prstGeom prst="rect">
            <a:avLst/>
          </a:prstGeom>
          <a:noFill/>
        </p:spPr>
        <p:txBody>
          <a:bodyPr wrap="none" rtlCol="0">
            <a:spAutoFit/>
          </a:bodyPr>
          <a:lstStyle/>
          <a:p>
            <a:pPr defTabSz="914400" fontAlgn="base">
              <a:spcBef>
                <a:spcPct val="0"/>
              </a:spcBef>
              <a:spcAft>
                <a:spcPct val="0"/>
              </a:spcAft>
            </a:pPr>
            <a:r>
              <a:rPr lang="en-US" sz="1000" dirty="0" smtClean="0">
                <a:solidFill>
                  <a:prstClr val="white"/>
                </a:solidFill>
                <a:latin typeface="Arial" charset="0"/>
              </a:rPr>
              <a:t>Vendor Payment Process</a:t>
            </a:r>
            <a:endParaRPr lang="en-US" sz="1000" dirty="0">
              <a:solidFill>
                <a:prstClr val="white"/>
              </a:solidFill>
              <a:latin typeface="Arial" charset="0"/>
            </a:endParaRPr>
          </a:p>
        </p:txBody>
      </p:sp>
      <p:sp>
        <p:nvSpPr>
          <p:cNvPr id="104" name="TextBox 103"/>
          <p:cNvSpPr txBox="1"/>
          <p:nvPr/>
        </p:nvSpPr>
        <p:spPr>
          <a:xfrm>
            <a:off x="2144495" y="1041458"/>
            <a:ext cx="468398" cy="338554"/>
          </a:xfrm>
          <a:prstGeom prst="rect">
            <a:avLst/>
          </a:prstGeom>
          <a:noFill/>
        </p:spPr>
        <p:txBody>
          <a:bodyPr wrap="none" rtlCol="0">
            <a:spAutoFit/>
          </a:bodyPr>
          <a:lstStyle/>
          <a:p>
            <a:pPr defTabSz="914400" fontAlgn="base">
              <a:spcBef>
                <a:spcPct val="0"/>
              </a:spcBef>
              <a:spcAft>
                <a:spcPct val="0"/>
              </a:spcAft>
            </a:pPr>
            <a:r>
              <a:rPr lang="en-US" sz="1600" b="1" dirty="0" smtClean="0">
                <a:solidFill>
                  <a:prstClr val="white"/>
                </a:solidFill>
                <a:latin typeface="Arial" charset="0"/>
              </a:rPr>
              <a:t>HP</a:t>
            </a:r>
            <a:endParaRPr lang="en-US" sz="1600" b="1" dirty="0">
              <a:solidFill>
                <a:prstClr val="white"/>
              </a:solidFill>
              <a:latin typeface="Arial" charset="0"/>
            </a:endParaRPr>
          </a:p>
        </p:txBody>
      </p:sp>
      <p:sp>
        <p:nvSpPr>
          <p:cNvPr id="105" name="TextBox 104"/>
          <p:cNvSpPr txBox="1"/>
          <p:nvPr/>
        </p:nvSpPr>
        <p:spPr>
          <a:xfrm>
            <a:off x="6286014" y="1041455"/>
            <a:ext cx="663964" cy="338554"/>
          </a:xfrm>
          <a:prstGeom prst="rect">
            <a:avLst/>
          </a:prstGeom>
          <a:noFill/>
        </p:spPr>
        <p:txBody>
          <a:bodyPr wrap="none" rtlCol="0">
            <a:spAutoFit/>
          </a:bodyPr>
          <a:lstStyle/>
          <a:p>
            <a:pPr defTabSz="914400" fontAlgn="base">
              <a:spcBef>
                <a:spcPct val="0"/>
              </a:spcBef>
              <a:spcAft>
                <a:spcPct val="0"/>
              </a:spcAft>
            </a:pPr>
            <a:r>
              <a:rPr lang="en-US" sz="1600" b="1" dirty="0" smtClean="0">
                <a:solidFill>
                  <a:prstClr val="white"/>
                </a:solidFill>
                <a:latin typeface="Arial" charset="0"/>
              </a:rPr>
              <a:t>ODM</a:t>
            </a:r>
            <a:endParaRPr lang="en-US" sz="1600" b="1" dirty="0">
              <a:solidFill>
                <a:prstClr val="white"/>
              </a:solidFill>
              <a:latin typeface="Arial" charset="0"/>
            </a:endParaRPr>
          </a:p>
        </p:txBody>
      </p:sp>
      <p:sp>
        <p:nvSpPr>
          <p:cNvPr id="2" name="Subtitle 1"/>
          <p:cNvSpPr>
            <a:spLocks noGrp="1"/>
          </p:cNvSpPr>
          <p:nvPr>
            <p:ph type="subTitle" idx="1"/>
          </p:nvPr>
        </p:nvSpPr>
        <p:spPr/>
        <p:txBody>
          <a:bodyPr/>
          <a:lstStyle/>
          <a:p>
            <a:r>
              <a:rPr lang="en-US" dirty="0" smtClean="0"/>
              <a:t> </a:t>
            </a:r>
            <a:endParaRPr lang="en-US" dirty="0"/>
          </a:p>
        </p:txBody>
      </p:sp>
      <p:sp>
        <p:nvSpPr>
          <p:cNvPr id="106" name="Title 105"/>
          <p:cNvSpPr>
            <a:spLocks noGrp="1"/>
          </p:cNvSpPr>
          <p:nvPr>
            <p:ph type="title"/>
          </p:nvPr>
        </p:nvSpPr>
        <p:spPr/>
        <p:txBody>
          <a:bodyPr/>
          <a:lstStyle/>
          <a:p>
            <a:r>
              <a:rPr lang="en-US" dirty="0" smtClean="0">
                <a:solidFill>
                  <a:schemeClr val="tx1"/>
                </a:solidFill>
              </a:rPr>
              <a:t>B Part Manual PO Process</a:t>
            </a:r>
            <a:endParaRPr lang="en-US" dirty="0">
              <a:solidFill>
                <a:schemeClr val="tx1"/>
              </a:solidFill>
            </a:endParaRPr>
          </a:p>
        </p:txBody>
      </p:sp>
      <p:sp>
        <p:nvSpPr>
          <p:cNvPr id="34" name="Rounded Rectangle 33"/>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69</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161908955"/>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Outbound Operations and Logistics</a:t>
            </a:r>
            <a:endParaRPr lang="en-US" dirty="0"/>
          </a:p>
        </p:txBody>
      </p:sp>
      <p:sp>
        <p:nvSpPr>
          <p:cNvPr id="3" name="Title 2"/>
          <p:cNvSpPr>
            <a:spLocks noGrp="1"/>
          </p:cNvSpPr>
          <p:nvPr>
            <p:ph type="title"/>
          </p:nvPr>
        </p:nvSpPr>
        <p:spPr/>
        <p:txBody>
          <a:bodyPr/>
          <a:lstStyle/>
          <a:p>
            <a:r>
              <a:rPr lang="en-US" dirty="0" err="1" smtClean="0"/>
              <a:t>BSaM</a:t>
            </a:r>
            <a:r>
              <a:rPr lang="en-US" dirty="0" smtClean="0"/>
              <a:t> – B Part Ops &amp; Logistics</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7807530"/>
              </p:ext>
            </p:extLst>
          </p:nvPr>
        </p:nvGraphicFramePr>
        <p:xfrm>
          <a:off x="328613" y="1154531"/>
          <a:ext cx="8120064" cy="3766029"/>
        </p:xfrm>
        <a:graphic>
          <a:graphicData uri="http://schemas.openxmlformats.org/drawingml/2006/table">
            <a:tbl>
              <a:tblPr firstRow="1" bandRow="1">
                <a:tableStyleId>{073A0DAA-6AF3-43AB-8588-CEC1D06C72B9}</a:tableStyleId>
              </a:tblPr>
              <a:tblGrid>
                <a:gridCol w="681037"/>
                <a:gridCol w="1543769"/>
                <a:gridCol w="4416724"/>
                <a:gridCol w="1478534"/>
              </a:tblGrid>
              <a:tr h="327448">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447754">
                <a:tc>
                  <a:txBody>
                    <a:bodyPr/>
                    <a:lstStyle/>
                    <a:p>
                      <a:r>
                        <a:rPr lang="en-US" sz="900" dirty="0" smtClean="0"/>
                        <a:t>BOL-001</a:t>
                      </a:r>
                      <a:endParaRPr lang="en-US" sz="900" dirty="0"/>
                    </a:p>
                  </a:txBody>
                  <a:tcPr/>
                </a:tc>
                <a:tc>
                  <a:txBody>
                    <a:bodyPr/>
                    <a:lstStyle/>
                    <a:p>
                      <a:r>
                        <a:rPr lang="en-US" sz="900" dirty="0" smtClean="0"/>
                        <a:t>B Part Packaging </a:t>
                      </a:r>
                      <a:endParaRPr lang="en-US" sz="900" dirty="0"/>
                    </a:p>
                  </a:txBody>
                  <a:tcPr/>
                </a:tc>
                <a:tc>
                  <a:txBody>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lang="en-US" sz="900" kern="1200" dirty="0" smtClean="0">
                          <a:solidFill>
                            <a:schemeClr val="dk1"/>
                          </a:solidFill>
                          <a:effectLst/>
                          <a:latin typeface="+mn-lt"/>
                          <a:ea typeface="+mn-ea"/>
                          <a:cs typeface="+mn-cs"/>
                        </a:rPr>
                        <a:t>ODM is to ship in same packaging as received from Supplier via Buy Sell HUB</a:t>
                      </a:r>
                      <a:endParaRPr lang="en-US" sz="900" dirty="0"/>
                    </a:p>
                  </a:txBody>
                  <a:tcPr/>
                </a:tc>
                <a:tc>
                  <a:txBody>
                    <a:bodyPr/>
                    <a:lstStyle/>
                    <a:p>
                      <a:r>
                        <a:rPr lang="en-US" sz="900" dirty="0" smtClean="0"/>
                        <a:t>ODM</a:t>
                      </a:r>
                      <a:endParaRPr lang="en-US" sz="900" dirty="0"/>
                    </a:p>
                  </a:txBody>
                  <a:tcPr/>
                </a:tc>
              </a:tr>
              <a:tr h="1055922">
                <a:tc>
                  <a:txBody>
                    <a:bodyPr/>
                    <a:lstStyle/>
                    <a:p>
                      <a:r>
                        <a:rPr lang="en-US" sz="900" dirty="0" smtClean="0"/>
                        <a:t>BOL-002</a:t>
                      </a:r>
                      <a:endParaRPr lang="en-US" sz="900" dirty="0"/>
                    </a:p>
                  </a:txBody>
                  <a:tcPr/>
                </a:tc>
                <a:tc>
                  <a:txBody>
                    <a:bodyPr/>
                    <a:lstStyle/>
                    <a:p>
                      <a:r>
                        <a:rPr lang="en-US" sz="900" dirty="0" smtClean="0"/>
                        <a:t>B Part Packaging labeling</a:t>
                      </a:r>
                      <a:endParaRPr lang="en-US" sz="900" dirty="0"/>
                    </a:p>
                  </a:txBody>
                  <a:tcPr/>
                </a:tc>
                <a:tc>
                  <a:txBody>
                    <a:bodyPr/>
                    <a:lstStyle/>
                    <a:p>
                      <a:pPr lvl="0"/>
                      <a:r>
                        <a:rPr lang="en-US" sz="900" kern="1200" dirty="0" smtClean="0">
                          <a:solidFill>
                            <a:schemeClr val="dk1"/>
                          </a:solidFill>
                          <a:effectLst/>
                          <a:latin typeface="+mn-lt"/>
                          <a:ea typeface="+mn-ea"/>
                          <a:cs typeface="+mn-cs"/>
                        </a:rPr>
                        <a:t>The ODM will need to support the following labels and</a:t>
                      </a:r>
                      <a:r>
                        <a:rPr lang="en-US" sz="900" kern="1200" baseline="0" dirty="0" smtClean="0">
                          <a:solidFill>
                            <a:schemeClr val="dk1"/>
                          </a:solidFill>
                          <a:effectLst/>
                          <a:latin typeface="+mn-lt"/>
                          <a:ea typeface="+mn-ea"/>
                          <a:cs typeface="+mn-cs"/>
                        </a:rPr>
                        <a:t> documentation.  HP will specify the specific adjustment required for each if any.</a:t>
                      </a:r>
                      <a:endParaRPr lang="en-US" sz="900" kern="1200" dirty="0" smtClean="0">
                        <a:solidFill>
                          <a:schemeClr val="dk1"/>
                        </a:solidFill>
                        <a:effectLst/>
                        <a:latin typeface="+mn-lt"/>
                        <a:ea typeface="+mn-ea"/>
                        <a:cs typeface="+mn-cs"/>
                      </a:endParaRPr>
                    </a:p>
                    <a:p>
                      <a:pPr marL="171450" lvl="0" indent="-171450">
                        <a:buFont typeface="Arial" pitchFamily="34" charset="0"/>
                        <a:buChar char="•"/>
                      </a:pPr>
                      <a:r>
                        <a:rPr lang="en-US" sz="900" kern="1200" dirty="0" smtClean="0">
                          <a:solidFill>
                            <a:schemeClr val="dk1"/>
                          </a:solidFill>
                          <a:effectLst/>
                          <a:latin typeface="+mn-lt"/>
                          <a:ea typeface="+mn-ea"/>
                          <a:cs typeface="+mn-cs"/>
                        </a:rPr>
                        <a:t>IATA Label (Use current label template or print on box) for Battery only</a:t>
                      </a:r>
                    </a:p>
                    <a:p>
                      <a:pPr marL="171450" lvl="0" indent="-171450">
                        <a:buFont typeface="Arial" pitchFamily="34" charset="0"/>
                        <a:buChar char="•"/>
                      </a:pPr>
                      <a:r>
                        <a:rPr lang="en-US" sz="900" kern="1200" dirty="0" smtClean="0">
                          <a:solidFill>
                            <a:schemeClr val="dk1"/>
                          </a:solidFill>
                          <a:effectLst/>
                          <a:latin typeface="+mn-lt"/>
                          <a:ea typeface="+mn-ea"/>
                          <a:cs typeface="+mn-cs"/>
                        </a:rPr>
                        <a:t>POD Label (Use RCTO format – requirement</a:t>
                      </a:r>
                      <a:r>
                        <a:rPr lang="en-US" sz="900" kern="1200" baseline="0" dirty="0" smtClean="0">
                          <a:solidFill>
                            <a:schemeClr val="dk1"/>
                          </a:solidFill>
                          <a:effectLst/>
                          <a:latin typeface="+mn-lt"/>
                          <a:ea typeface="+mn-ea"/>
                          <a:cs typeface="+mn-cs"/>
                        </a:rPr>
                        <a:t> is to </a:t>
                      </a:r>
                      <a:r>
                        <a:rPr lang="en-US" sz="900" kern="1200" dirty="0" smtClean="0">
                          <a:solidFill>
                            <a:schemeClr val="dk1"/>
                          </a:solidFill>
                          <a:effectLst/>
                          <a:latin typeface="+mn-lt"/>
                          <a:ea typeface="+mn-ea"/>
                          <a:cs typeface="+mn-cs"/>
                        </a:rPr>
                        <a:t>show HP PN that is shown on HP submitted PO</a:t>
                      </a:r>
                    </a:p>
                    <a:p>
                      <a:pPr marL="171450" lvl="0" indent="-171450">
                        <a:buFont typeface="Arial" pitchFamily="34" charset="0"/>
                        <a:buChar char="•"/>
                      </a:pPr>
                      <a:r>
                        <a:rPr lang="en-US" sz="900" kern="1200" dirty="0" smtClean="0">
                          <a:solidFill>
                            <a:schemeClr val="dk1"/>
                          </a:solidFill>
                          <a:effectLst/>
                          <a:latin typeface="+mn-lt"/>
                          <a:ea typeface="+mn-ea"/>
                          <a:cs typeface="+mn-cs"/>
                        </a:rPr>
                        <a:t>Pallet Label – (Use RCTO format )</a:t>
                      </a:r>
                    </a:p>
                    <a:p>
                      <a:pPr marL="171450" indent="-171450">
                        <a:buFont typeface="Arial" pitchFamily="34" charset="0"/>
                        <a:buChar char="•"/>
                      </a:pPr>
                      <a:r>
                        <a:rPr lang="en-US" sz="900" kern="1200" dirty="0" smtClean="0">
                          <a:solidFill>
                            <a:schemeClr val="dk1"/>
                          </a:solidFill>
                          <a:effectLst/>
                          <a:latin typeface="+mn-lt"/>
                          <a:ea typeface="+mn-ea"/>
                          <a:cs typeface="+mn-cs"/>
                        </a:rPr>
                        <a:t>Packing List (Use RCTO format – show HP PN that is shown on PO</a:t>
                      </a:r>
                      <a:endParaRPr lang="en-US" sz="900" dirty="0"/>
                    </a:p>
                  </a:txBody>
                  <a:tcPr/>
                </a:tc>
                <a:tc>
                  <a:txBody>
                    <a:bodyPr/>
                    <a:lstStyle/>
                    <a:p>
                      <a:r>
                        <a:rPr lang="en-US" sz="900" dirty="0" smtClean="0"/>
                        <a:t>ODM template</a:t>
                      </a:r>
                      <a:endParaRPr lang="en-US" sz="900" dirty="0"/>
                    </a:p>
                  </a:txBody>
                  <a:tcPr/>
                </a:tc>
              </a:tr>
              <a:tr h="777240">
                <a:tc>
                  <a:txBody>
                    <a:bodyPr/>
                    <a:lstStyle/>
                    <a:p>
                      <a:r>
                        <a:rPr lang="en-US" sz="900" dirty="0" smtClean="0"/>
                        <a:t>BOL-003</a:t>
                      </a:r>
                      <a:endParaRPr lang="en-US" sz="900" dirty="0"/>
                    </a:p>
                  </a:txBody>
                  <a:tcPr/>
                </a:tc>
                <a:tc>
                  <a:txBody>
                    <a:bodyPr/>
                    <a:lstStyle/>
                    <a:p>
                      <a:r>
                        <a:rPr lang="en-US" sz="900" dirty="0" smtClean="0"/>
                        <a:t>Commercial Invoice</a:t>
                      </a:r>
                      <a:r>
                        <a:rPr lang="en-US" sz="900" baseline="0" dirty="0" smtClean="0"/>
                        <a:t> for B part shipment – Manual process</a:t>
                      </a:r>
                      <a:endParaRPr lang="en-US" sz="900" dirty="0"/>
                    </a:p>
                  </a:txBody>
                  <a:tcPr/>
                </a:tc>
                <a:tc>
                  <a:txBody>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lang="en-US" sz="900" kern="1200" dirty="0" smtClean="0">
                          <a:solidFill>
                            <a:schemeClr val="dk1"/>
                          </a:solidFill>
                          <a:effectLst/>
                          <a:latin typeface="+mn-lt"/>
                          <a:ea typeface="+mn-ea"/>
                          <a:cs typeface="+mn-cs"/>
                        </a:rPr>
                        <a:t>The ODM will need to general a Manual HP Commercial Invoice for the purpose of import clearance at destination region. </a:t>
                      </a:r>
                    </a:p>
                    <a:p>
                      <a:pPr marL="0" marR="0" lvl="2" indent="0" algn="l" defTabSz="457200" rtl="0" eaLnBrk="1" fontAlgn="auto" latinLnBrk="0" hangingPunct="1">
                        <a:lnSpc>
                          <a:spcPct val="100000"/>
                        </a:lnSpc>
                        <a:spcBef>
                          <a:spcPts val="0"/>
                        </a:spcBef>
                        <a:spcAft>
                          <a:spcPts val="0"/>
                        </a:spcAft>
                        <a:buClrTx/>
                        <a:buSzTx/>
                        <a:buFontTx/>
                        <a:buNone/>
                        <a:tabLst/>
                        <a:defRPr/>
                      </a:pPr>
                      <a:endParaRPr lang="en-US" sz="900" kern="1200" dirty="0" smtClean="0">
                        <a:solidFill>
                          <a:schemeClr val="dk1"/>
                        </a:solidFill>
                        <a:effectLst/>
                        <a:latin typeface="+mn-lt"/>
                        <a:ea typeface="+mn-ea"/>
                        <a:cs typeface="+mn-cs"/>
                      </a:endParaRPr>
                    </a:p>
                    <a:p>
                      <a:pPr marL="0" marR="0" lvl="2" indent="0" algn="l" defTabSz="457200" rtl="0" eaLnBrk="1" fontAlgn="auto" latinLnBrk="0" hangingPunct="1">
                        <a:lnSpc>
                          <a:spcPct val="100000"/>
                        </a:lnSpc>
                        <a:spcBef>
                          <a:spcPts val="0"/>
                        </a:spcBef>
                        <a:spcAft>
                          <a:spcPts val="0"/>
                        </a:spcAft>
                        <a:buClrTx/>
                        <a:buSzTx/>
                        <a:buFontTx/>
                        <a:buNone/>
                        <a:tabLst/>
                        <a:defRPr/>
                      </a:pPr>
                      <a:r>
                        <a:rPr lang="en-US" sz="900" kern="1200" dirty="0" smtClean="0">
                          <a:solidFill>
                            <a:schemeClr val="dk1"/>
                          </a:solidFill>
                          <a:effectLst/>
                          <a:latin typeface="+mn-lt"/>
                          <a:ea typeface="+mn-ea"/>
                          <a:cs typeface="+mn-cs"/>
                        </a:rPr>
                        <a:t>See following</a:t>
                      </a:r>
                      <a:r>
                        <a:rPr lang="en-US" sz="900" kern="1200" baseline="0" dirty="0" smtClean="0">
                          <a:solidFill>
                            <a:schemeClr val="dk1"/>
                          </a:solidFill>
                          <a:effectLst/>
                          <a:latin typeface="+mn-lt"/>
                          <a:ea typeface="+mn-ea"/>
                          <a:cs typeface="+mn-cs"/>
                        </a:rPr>
                        <a:t> page for </a:t>
                      </a:r>
                      <a:r>
                        <a:rPr lang="en-US" sz="900" kern="1200" dirty="0" smtClean="0">
                          <a:solidFill>
                            <a:schemeClr val="dk1"/>
                          </a:solidFill>
                          <a:effectLst/>
                          <a:latin typeface="+mn-lt"/>
                          <a:ea typeface="+mn-ea"/>
                          <a:cs typeface="+mn-cs"/>
                        </a:rPr>
                        <a:t>details on required</a:t>
                      </a:r>
                      <a:r>
                        <a:rPr lang="en-US" sz="900" kern="1200" baseline="0" dirty="0" smtClean="0">
                          <a:solidFill>
                            <a:schemeClr val="dk1"/>
                          </a:solidFill>
                          <a:effectLst/>
                          <a:latin typeface="+mn-lt"/>
                          <a:ea typeface="+mn-ea"/>
                          <a:cs typeface="+mn-cs"/>
                        </a:rPr>
                        <a:t> fields for commercial invoice.</a:t>
                      </a:r>
                      <a:endParaRPr lang="en-US" sz="900" dirty="0"/>
                    </a:p>
                  </a:txBody>
                  <a:tcPr/>
                </a:tc>
                <a:tc>
                  <a:txBody>
                    <a:bodyPr/>
                    <a:lstStyle/>
                    <a:p>
                      <a:r>
                        <a:rPr lang="en-US" sz="900" dirty="0" smtClean="0"/>
                        <a:t>HP Diagram</a:t>
                      </a:r>
                      <a:r>
                        <a:rPr lang="en-US" sz="900" baseline="0" dirty="0" smtClean="0"/>
                        <a:t> A</a:t>
                      </a:r>
                      <a:endParaRPr lang="en-US" sz="900" dirty="0"/>
                    </a:p>
                  </a:txBody>
                  <a:tcPr/>
                </a:tc>
              </a:tr>
              <a:tr h="640080">
                <a:tc>
                  <a:txBody>
                    <a:bodyPr/>
                    <a:lstStyle/>
                    <a:p>
                      <a:r>
                        <a:rPr lang="en-US" sz="900" dirty="0" smtClean="0"/>
                        <a:t>BOL-004</a:t>
                      </a:r>
                      <a:endParaRPr lang="en-US" sz="9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900" dirty="0" smtClean="0"/>
                        <a:t>Documentation</a:t>
                      </a:r>
                      <a:r>
                        <a:rPr lang="en-US" sz="900" baseline="0" dirty="0" smtClean="0"/>
                        <a:t> for</a:t>
                      </a:r>
                      <a:r>
                        <a:rPr lang="en-US" sz="900" dirty="0" smtClean="0"/>
                        <a:t> bulk shipments of batteries via ocean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900" dirty="0" smtClean="0"/>
                        <a:t>ODM to produce the following</a:t>
                      </a:r>
                      <a:r>
                        <a:rPr lang="en-US" sz="900" baseline="0" dirty="0" smtClean="0"/>
                        <a:t> additional documents for B part shipments via ocean mode (</a:t>
                      </a:r>
                      <a:r>
                        <a:rPr lang="en-US" sz="900" dirty="0" smtClean="0">
                          <a:solidFill>
                            <a:srgbClr val="000000"/>
                          </a:solidFill>
                          <a:latin typeface="Calibri"/>
                          <a:ea typeface="Calibri"/>
                          <a:cs typeface="Times New Roman"/>
                        </a:rPr>
                        <a:t>MSDS, MDGF, DG Packing Cert</a:t>
                      </a:r>
                      <a:r>
                        <a:rPr lang="en-US" sz="900" dirty="0" smtClean="0">
                          <a:solidFill>
                            <a:schemeClr val="dk1"/>
                          </a:solidFill>
                          <a:latin typeface="+mn-lt"/>
                          <a:ea typeface="+mn-ea"/>
                          <a:cs typeface="+mn-cs"/>
                        </a:rPr>
                        <a:t>).</a:t>
                      </a:r>
                      <a:r>
                        <a:rPr lang="en-US" sz="900" baseline="0" dirty="0" smtClean="0">
                          <a:solidFill>
                            <a:schemeClr val="dk1"/>
                          </a:solidFill>
                          <a:latin typeface="+mn-lt"/>
                          <a:ea typeface="+mn-ea"/>
                          <a:cs typeface="+mn-cs"/>
                        </a:rPr>
                        <a:t> Requirements differ by ocean provider. (Details to be provided by  Freight Forwarder and HP Asia Ops)</a:t>
                      </a:r>
                      <a:endParaRPr lang="en-US" sz="900" dirty="0" smtClean="0">
                        <a:latin typeface="Calibri"/>
                        <a:ea typeface="Calibri"/>
                        <a:cs typeface="Times New Roman"/>
                      </a:endParaRPr>
                    </a:p>
                  </a:txBody>
                  <a:tcPr/>
                </a:tc>
                <a:tc>
                  <a:txBody>
                    <a:bodyPr/>
                    <a:lstStyle/>
                    <a:p>
                      <a:r>
                        <a:rPr lang="en-US" sz="900" dirty="0" smtClean="0"/>
                        <a:t>ODM</a:t>
                      </a:r>
                      <a:endParaRPr lang="en-US" sz="900" dirty="0"/>
                    </a:p>
                  </a:txBody>
                  <a:tcPr/>
                </a:tc>
              </a:tr>
              <a:tr h="517585">
                <a:tc>
                  <a:txBody>
                    <a:bodyPr/>
                    <a:lstStyle/>
                    <a:p>
                      <a:r>
                        <a:rPr lang="en-US" sz="900" dirty="0" smtClean="0"/>
                        <a:t>BOL-005</a:t>
                      </a:r>
                      <a:endParaRPr lang="en-US" sz="900" dirty="0"/>
                    </a:p>
                  </a:txBody>
                  <a:tcPr/>
                </a:tc>
                <a:tc>
                  <a:txBody>
                    <a:bodyPr/>
                    <a:lstStyle/>
                    <a:p>
                      <a:r>
                        <a:rPr lang="en-US" sz="900" dirty="0" smtClean="0"/>
                        <a:t>B Part Palletization</a:t>
                      </a:r>
                      <a:endParaRPr lang="en-US" sz="900" dirty="0"/>
                    </a:p>
                  </a:txBody>
                  <a:tcPr/>
                </a:tc>
                <a:tc>
                  <a:txBody>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lang="en-US" sz="900" kern="1200" dirty="0" smtClean="0">
                          <a:solidFill>
                            <a:schemeClr val="dk1"/>
                          </a:solidFill>
                          <a:effectLst/>
                          <a:latin typeface="+mn-lt"/>
                          <a:ea typeface="+mn-ea"/>
                          <a:cs typeface="+mn-cs"/>
                        </a:rPr>
                        <a:t>Airfreight shipments of B parts will have a max pallet per AWB of 20 pallets</a:t>
                      </a:r>
                      <a:r>
                        <a:rPr lang="en-US" sz="900" kern="1200" baseline="0" dirty="0" smtClean="0">
                          <a:solidFill>
                            <a:schemeClr val="dk1"/>
                          </a:solidFill>
                          <a:effectLst/>
                          <a:latin typeface="+mn-lt"/>
                          <a:ea typeface="+mn-ea"/>
                          <a:cs typeface="+mn-cs"/>
                        </a:rPr>
                        <a:t>. </a:t>
                      </a:r>
                      <a:endParaRPr lang="en-US" sz="900" dirty="0"/>
                    </a:p>
                  </a:txBody>
                  <a:tcPr/>
                </a:tc>
                <a:tc>
                  <a:txBody>
                    <a:bodyPr/>
                    <a:lstStyle/>
                    <a:p>
                      <a:r>
                        <a:rPr lang="en-US" sz="900" dirty="0" smtClean="0"/>
                        <a:t>ODM</a:t>
                      </a:r>
                      <a:endParaRPr lang="en-US" sz="9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70</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09005565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56544" y="-59129"/>
            <a:ext cx="8117206" cy="430887"/>
          </a:xfrm>
        </p:spPr>
        <p:txBody>
          <a:bodyPr/>
          <a:lstStyle/>
          <a:p>
            <a:r>
              <a:rPr lang="en-US" dirty="0" smtClean="0"/>
              <a:t>DIAGRAM A – B </a:t>
            </a:r>
            <a:r>
              <a:rPr lang="en-US" dirty="0"/>
              <a:t>Part Commercial </a:t>
            </a:r>
            <a:r>
              <a:rPr lang="en-US" dirty="0" smtClean="0"/>
              <a:t>Invoice</a:t>
            </a:r>
            <a:endParaRPr lang="en-US" dirty="0"/>
          </a:p>
        </p:txBody>
      </p:sp>
      <p:pic>
        <p:nvPicPr>
          <p:cNvPr id="5" name="Picture 2"/>
          <p:cNvPicPr>
            <a:picLocks noChangeAspect="1" noChangeArrowheads="1"/>
          </p:cNvPicPr>
          <p:nvPr/>
        </p:nvPicPr>
        <p:blipFill>
          <a:blip r:embed="rId2" cstate="print"/>
          <a:srcRect/>
          <a:stretch>
            <a:fillRect/>
          </a:stretch>
        </p:blipFill>
        <p:spPr bwMode="auto">
          <a:xfrm>
            <a:off x="0" y="357817"/>
            <a:ext cx="9144000" cy="4091606"/>
          </a:xfrm>
          <a:prstGeom prst="rect">
            <a:avLst/>
          </a:prstGeom>
          <a:noFill/>
          <a:ln w="9525">
            <a:noFill/>
            <a:miter lim="800000"/>
            <a:headEnd/>
            <a:tailEnd/>
          </a:ln>
        </p:spPr>
      </p:pic>
      <p:sp>
        <p:nvSpPr>
          <p:cNvPr id="7" name="TextBox 6"/>
          <p:cNvSpPr txBox="1"/>
          <p:nvPr/>
        </p:nvSpPr>
        <p:spPr>
          <a:xfrm>
            <a:off x="456129" y="4337379"/>
            <a:ext cx="7311617" cy="430887"/>
          </a:xfrm>
          <a:prstGeom prst="rect">
            <a:avLst/>
          </a:prstGeom>
          <a:noFill/>
        </p:spPr>
        <p:txBody>
          <a:bodyPr wrap="none" rtlCol="0">
            <a:spAutoFit/>
          </a:bodyPr>
          <a:lstStyle/>
          <a:p>
            <a:r>
              <a:rPr lang="en-US" sz="1100" dirty="0" smtClean="0">
                <a:solidFill>
                  <a:prstClr val="black"/>
                </a:solidFill>
              </a:rPr>
              <a:t>Mandatory fields : part number, serial number if available, qty, value, total value for Customs,  HTS code, country of origin, </a:t>
            </a:r>
          </a:p>
          <a:p>
            <a:r>
              <a:rPr lang="en-US" sz="1100" dirty="0" smtClean="0">
                <a:solidFill>
                  <a:prstClr val="black"/>
                </a:solidFill>
              </a:rPr>
              <a:t>ship to, invoice number, invoice to, terms of delivery, carrier name and bill of lading, ship date</a:t>
            </a:r>
            <a:endParaRPr lang="en-US" sz="1100" dirty="0">
              <a:solidFill>
                <a:prstClr val="black"/>
              </a:solidFill>
            </a:endParaRPr>
          </a:p>
        </p:txBody>
      </p:sp>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71</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397161803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31470" y="570245"/>
            <a:ext cx="8117206" cy="276999"/>
          </a:xfrm>
        </p:spPr>
        <p:txBody>
          <a:bodyPr/>
          <a:lstStyle/>
          <a:p>
            <a:r>
              <a:rPr lang="en-US" dirty="0"/>
              <a:t>ODM to provide</a:t>
            </a:r>
          </a:p>
          <a:p>
            <a:endParaRPr lang="en-US" dirty="0"/>
          </a:p>
        </p:txBody>
      </p:sp>
      <p:sp>
        <p:nvSpPr>
          <p:cNvPr id="3" name="Title 2"/>
          <p:cNvSpPr>
            <a:spLocks noGrp="1"/>
          </p:cNvSpPr>
          <p:nvPr>
            <p:ph type="title"/>
          </p:nvPr>
        </p:nvSpPr>
        <p:spPr>
          <a:xfrm>
            <a:off x="331470" y="131552"/>
            <a:ext cx="8117206" cy="430887"/>
          </a:xfrm>
        </p:spPr>
        <p:txBody>
          <a:bodyPr/>
          <a:lstStyle/>
          <a:p>
            <a:r>
              <a:rPr lang="en-US" dirty="0"/>
              <a:t>Bulk Battery Shipment Documents for Ocean</a:t>
            </a:r>
          </a:p>
        </p:txBody>
      </p:sp>
      <p:graphicFrame>
        <p:nvGraphicFramePr>
          <p:cNvPr id="5" name="Table 4"/>
          <p:cNvGraphicFramePr>
            <a:graphicFrameLocks noGrp="1"/>
          </p:cNvGraphicFramePr>
          <p:nvPr>
            <p:extLst>
              <p:ext uri="{D42A27DB-BD31-4B8C-83A1-F6EECF244321}">
                <p14:modId xmlns:p14="http://schemas.microsoft.com/office/powerpoint/2010/main" xmlns="" val="2712503808"/>
              </p:ext>
            </p:extLst>
          </p:nvPr>
        </p:nvGraphicFramePr>
        <p:xfrm>
          <a:off x="354483" y="996878"/>
          <a:ext cx="8343568" cy="2408926"/>
        </p:xfrm>
        <a:graphic>
          <a:graphicData uri="http://schemas.openxmlformats.org/drawingml/2006/table">
            <a:tbl>
              <a:tblPr/>
              <a:tblGrid>
                <a:gridCol w="882034"/>
                <a:gridCol w="90675"/>
                <a:gridCol w="1923701"/>
                <a:gridCol w="2014376"/>
                <a:gridCol w="1716391"/>
                <a:gridCol w="1716391"/>
              </a:tblGrid>
              <a:tr h="172528">
                <a:tc gridSpan="6">
                  <a:txBody>
                    <a:bodyPr/>
                    <a:lstStyle/>
                    <a:p>
                      <a:pPr marL="0" marR="0" algn="ctr">
                        <a:spcBef>
                          <a:spcPts val="0"/>
                        </a:spcBef>
                        <a:spcAft>
                          <a:spcPts val="0"/>
                        </a:spcAft>
                      </a:pPr>
                      <a:r>
                        <a:rPr lang="en-US" sz="1100" dirty="0">
                          <a:solidFill>
                            <a:srgbClr val="FF0000"/>
                          </a:solidFill>
                          <a:latin typeface="Calibri"/>
                          <a:ea typeface="Calibri"/>
                          <a:cs typeface="Times New Roman"/>
                        </a:rPr>
                        <a:t>Dangerous </a:t>
                      </a:r>
                      <a:r>
                        <a:rPr lang="en-US" sz="1100" dirty="0" smtClean="0">
                          <a:solidFill>
                            <a:srgbClr val="FF0000"/>
                          </a:solidFill>
                          <a:latin typeface="Calibri"/>
                          <a:ea typeface="Calibri"/>
                          <a:cs typeface="Times New Roman"/>
                        </a:rPr>
                        <a:t>Goods – Batteries</a:t>
                      </a:r>
                      <a:r>
                        <a:rPr lang="en-US" sz="1100" baseline="0" dirty="0" smtClean="0">
                          <a:solidFill>
                            <a:srgbClr val="FF0000"/>
                          </a:solidFill>
                          <a:latin typeface="Calibri"/>
                          <a:ea typeface="Calibri"/>
                          <a:cs typeface="Times New Roman"/>
                        </a:rPr>
                        <a:t> shipped Bulk via Ocean</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45057">
                <a:tc gridSpan="3">
                  <a:txBody>
                    <a:bodyPr/>
                    <a:lstStyle/>
                    <a:p>
                      <a:pPr marL="0" marR="0" algn="ctr">
                        <a:spcBef>
                          <a:spcPts val="0"/>
                        </a:spcBef>
                        <a:spcAft>
                          <a:spcPts val="0"/>
                        </a:spcAft>
                      </a:pPr>
                      <a:r>
                        <a:rPr lang="en-US" sz="1100" dirty="0">
                          <a:solidFill>
                            <a:srgbClr val="000000"/>
                          </a:solidFill>
                          <a:latin typeface="Calibri"/>
                          <a:ea typeface="Calibri"/>
                          <a:cs typeface="Times New Roman"/>
                        </a:rPr>
                        <a:t> </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100" b="1" dirty="0">
                          <a:solidFill>
                            <a:srgbClr val="0000FF"/>
                          </a:solidFill>
                          <a:latin typeface="Calibri"/>
                          <a:ea typeface="Calibri"/>
                          <a:cs typeface="Times New Roman"/>
                        </a:rPr>
                        <a:t>Mandatory Documents</a:t>
                      </a: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E8FE"/>
                    </a:solidFill>
                  </a:tcPr>
                </a:tc>
                <a:tc>
                  <a:txBody>
                    <a:bodyPr/>
                    <a:lstStyle/>
                    <a:p>
                      <a:pPr marL="0" marR="0">
                        <a:spcBef>
                          <a:spcPts val="0"/>
                        </a:spcBef>
                        <a:spcAft>
                          <a:spcPts val="0"/>
                        </a:spcAft>
                      </a:pPr>
                      <a:r>
                        <a:rPr lang="en-US" sz="1100" b="1" dirty="0">
                          <a:solidFill>
                            <a:srgbClr val="0000FF"/>
                          </a:solidFill>
                          <a:latin typeface="Calibri"/>
                          <a:ea typeface="Calibri"/>
                          <a:cs typeface="Times New Roman"/>
                        </a:rPr>
                        <a:t>Which Party to provide doc</a:t>
                      </a: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E8FE"/>
                    </a:solidFill>
                  </a:tcPr>
                </a:tc>
                <a:tc>
                  <a:txBody>
                    <a:bodyPr/>
                    <a:lstStyle/>
                    <a:p>
                      <a:pPr marL="0" marR="0">
                        <a:spcBef>
                          <a:spcPts val="0"/>
                        </a:spcBef>
                        <a:spcAft>
                          <a:spcPts val="0"/>
                        </a:spcAft>
                      </a:pPr>
                      <a:r>
                        <a:rPr lang="en-US" sz="1100" b="1" dirty="0">
                          <a:solidFill>
                            <a:srgbClr val="0000FF"/>
                          </a:solidFill>
                          <a:latin typeface="Calibri"/>
                          <a:ea typeface="Calibri"/>
                          <a:cs typeface="Times New Roman"/>
                        </a:rPr>
                        <a:t>Comments</a:t>
                      </a: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1E8FE"/>
                    </a:solidFill>
                  </a:tcPr>
                </a:tc>
              </a:tr>
              <a:tr h="514350">
                <a:tc rowSpan="3" gridSpan="2">
                  <a:txBody>
                    <a:bodyPr/>
                    <a:lstStyle/>
                    <a:p>
                      <a:pPr marL="0" marR="0" algn="ctr">
                        <a:spcBef>
                          <a:spcPts val="0"/>
                        </a:spcBef>
                        <a:spcAft>
                          <a:spcPts val="0"/>
                        </a:spcAft>
                      </a:pPr>
                      <a:r>
                        <a:rPr lang="en-US" sz="1100" dirty="0">
                          <a:solidFill>
                            <a:srgbClr val="000000"/>
                          </a:solidFill>
                          <a:latin typeface="Calibri"/>
                          <a:ea typeface="Calibri"/>
                          <a:cs typeface="Times New Roman"/>
                        </a:rPr>
                        <a:t>Carrier Requirements</a:t>
                      </a:r>
                      <a:endParaRPr lang="en-US" sz="1100" dirty="0">
                        <a:latin typeface="Calibri"/>
                        <a:ea typeface="Calibri"/>
                        <a:cs typeface="Times New Roman"/>
                      </a:endParaRPr>
                    </a:p>
                  </a:txBody>
                  <a:tcPr marL="62110" marR="621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hMerge="1">
                  <a:txBody>
                    <a:bodyPr/>
                    <a:lstStyle/>
                    <a:p>
                      <a:pPr marL="0" marR="0">
                        <a:spcBef>
                          <a:spcPts val="0"/>
                        </a:spcBef>
                        <a:spcAft>
                          <a:spcPts val="0"/>
                        </a:spcAft>
                      </a:pP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Maersk</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MSDS, MDGF, DG Packing Cert</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ODM</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MSDS could be provided either by ODM or HP</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2528">
                <a:tc gridSpan="2" vMerge="1">
                  <a:txBody>
                    <a:bodyPr/>
                    <a:lstStyle/>
                    <a:p>
                      <a:endParaRPr lang="en-US"/>
                    </a:p>
                  </a:txBody>
                  <a:tcPr/>
                </a:tc>
                <a:tc hMerge="1" vMerge="1">
                  <a:txBody>
                    <a:bodyPr/>
                    <a:lstStyle/>
                    <a:p>
                      <a:pPr marL="0" marR="0">
                        <a:spcBef>
                          <a:spcPts val="0"/>
                        </a:spcBef>
                        <a:spcAft>
                          <a:spcPts val="0"/>
                        </a:spcAft>
                      </a:pPr>
                      <a:endParaRPr lang="en-US" sz="110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Hanjin</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MSDS</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Either ODM or HP</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 </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4350">
                <a:tc gridSpan="2" vMerge="1">
                  <a:txBody>
                    <a:bodyPr/>
                    <a:lstStyle/>
                    <a:p>
                      <a:endParaRPr lang="en-US"/>
                    </a:p>
                  </a:txBody>
                  <a:tcPr/>
                </a:tc>
                <a:tc hMerge="1" vMerge="1">
                  <a:txBody>
                    <a:bodyPr/>
                    <a:lstStyle/>
                    <a:p>
                      <a:pPr marL="0" marR="0">
                        <a:spcBef>
                          <a:spcPts val="0"/>
                        </a:spcBef>
                        <a:spcAft>
                          <a:spcPts val="0"/>
                        </a:spcAft>
                      </a:pPr>
                      <a:endParaRPr lang="en-US" sz="110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APL</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MSDS, DG Packing Cert</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ODM</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MSDS could be provided either by ODM or HP</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7585">
                <a:tc gridSpan="3">
                  <a:txBody>
                    <a:bodyPr/>
                    <a:lstStyle/>
                    <a:p>
                      <a:pPr marL="0" marR="0" algn="ctr">
                        <a:spcBef>
                          <a:spcPts val="0"/>
                        </a:spcBef>
                        <a:spcAft>
                          <a:spcPts val="0"/>
                        </a:spcAft>
                      </a:pPr>
                      <a:r>
                        <a:rPr lang="en-US" sz="1100" dirty="0">
                          <a:solidFill>
                            <a:srgbClr val="000000"/>
                          </a:solidFill>
                          <a:latin typeface="Calibri"/>
                          <a:ea typeface="Calibri"/>
                          <a:cs typeface="Times New Roman"/>
                        </a:rPr>
                        <a:t>Export Customs Clearance Req</a:t>
                      </a:r>
                      <a:endParaRPr lang="en-US" sz="1100" dirty="0">
                        <a:latin typeface="Calibri"/>
                        <a:ea typeface="Calibri"/>
                        <a:cs typeface="Times New Roman"/>
                      </a:endParaRPr>
                    </a:p>
                  </a:txBody>
                  <a:tcPr marL="62110" marR="6211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a:txBody>
                    <a:bodyPr/>
                    <a:lstStyle/>
                    <a:p>
                      <a:pPr marL="0" marR="0">
                        <a:spcBef>
                          <a:spcPts val="0"/>
                        </a:spcBef>
                        <a:spcAft>
                          <a:spcPts val="0"/>
                        </a:spcAft>
                      </a:pPr>
                      <a:r>
                        <a:rPr lang="en-US" sz="1100" dirty="0">
                          <a:solidFill>
                            <a:srgbClr val="000000"/>
                          </a:solidFill>
                          <a:latin typeface="Calibri"/>
                          <a:ea typeface="Calibri"/>
                          <a:cs typeface="Times New Roman"/>
                        </a:rPr>
                        <a:t> Quarantine Inspection Cert</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 ODM</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100" dirty="0">
                          <a:solidFill>
                            <a:srgbClr val="000000"/>
                          </a:solidFill>
                          <a:latin typeface="Calibri"/>
                          <a:ea typeface="Calibri"/>
                          <a:cs typeface="Times New Roman"/>
                        </a:rPr>
                        <a:t> </a:t>
                      </a:r>
                      <a:endParaRPr lang="en-US" sz="1100" dirty="0">
                        <a:latin typeface="Calibri"/>
                        <a:ea typeface="Calibri"/>
                        <a:cs typeface="Times New Roman"/>
                      </a:endParaRPr>
                    </a:p>
                  </a:txBody>
                  <a:tcPr marL="62110" marR="6211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72528">
                <a:tc>
                  <a:txBody>
                    <a:bodyPr/>
                    <a:lstStyle/>
                    <a:p>
                      <a:endParaRPr lang="en-US" sz="1000" dirty="0">
                        <a:latin typeface="Calibri"/>
                        <a:ea typeface="Times New Roman"/>
                        <a:cs typeface="Times New Roman"/>
                      </a:endParaRPr>
                    </a:p>
                  </a:txBody>
                  <a:tcPr marL="62110" marR="62110" marT="0" marB="0" anchor="b">
                    <a:lnL>
                      <a:noFill/>
                    </a:lnL>
                    <a:lnR>
                      <a:noFill/>
                    </a:lnR>
                    <a:lnT w="12700" cap="flat" cmpd="sng" algn="ctr">
                      <a:solidFill>
                        <a:srgbClr val="000000"/>
                      </a:solidFill>
                      <a:prstDash val="solid"/>
                      <a:round/>
                      <a:headEnd type="none" w="med" len="med"/>
                      <a:tailEnd type="none" w="med" len="med"/>
                    </a:lnT>
                    <a:lnB>
                      <a:noFill/>
                    </a:lnB>
                  </a:tcPr>
                </a:tc>
                <a:tc gridSpan="2">
                  <a:txBody>
                    <a:bodyPr/>
                    <a:lstStyle/>
                    <a:p>
                      <a:endParaRPr lang="en-US" sz="1000" dirty="0">
                        <a:latin typeface="Calibri"/>
                        <a:ea typeface="Times New Roman"/>
                        <a:cs typeface="Times New Roman"/>
                      </a:endParaRPr>
                    </a:p>
                  </a:txBody>
                  <a:tcPr marL="62110" marR="62110" marT="0" marB="0" anchor="b">
                    <a:lnL>
                      <a:noFill/>
                    </a:lnL>
                    <a:lnR>
                      <a:noFill/>
                    </a:lnR>
                    <a:lnT w="12700" cap="flat" cmpd="sng" algn="ctr">
                      <a:solidFill>
                        <a:srgbClr val="000000"/>
                      </a:solidFill>
                      <a:prstDash val="solid"/>
                      <a:round/>
                      <a:headEnd type="none" w="med" len="med"/>
                      <a:tailEnd type="none" w="med" len="med"/>
                    </a:lnT>
                    <a:lnB>
                      <a:noFill/>
                    </a:lnB>
                  </a:tcPr>
                </a:tc>
                <a:tc hMerge="1">
                  <a:txBody>
                    <a:bodyPr/>
                    <a:lstStyle/>
                    <a:p>
                      <a:endParaRPr lang="en-US"/>
                    </a:p>
                  </a:txBody>
                  <a:tcPr/>
                </a:tc>
                <a:tc>
                  <a:txBody>
                    <a:bodyPr/>
                    <a:lstStyle/>
                    <a:p>
                      <a:endParaRPr lang="en-US" sz="1000" dirty="0">
                        <a:latin typeface="Calibri"/>
                        <a:ea typeface="Times New Roman"/>
                        <a:cs typeface="Times New Roman"/>
                      </a:endParaRPr>
                    </a:p>
                  </a:txBody>
                  <a:tcPr marL="62110" marR="6211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endParaRPr lang="en-US" sz="1000" dirty="0">
                        <a:latin typeface="Calibri"/>
                        <a:ea typeface="Times New Roman"/>
                        <a:cs typeface="Times New Roman"/>
                      </a:endParaRPr>
                    </a:p>
                  </a:txBody>
                  <a:tcPr marL="62110" marR="6211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endParaRPr lang="en-US" sz="1000" dirty="0">
                        <a:latin typeface="Calibri"/>
                        <a:ea typeface="Times New Roman"/>
                        <a:cs typeface="Times New Roman"/>
                      </a:endParaRPr>
                    </a:p>
                  </a:txBody>
                  <a:tcPr marL="62110" marR="62110" marT="0" marB="0" anchor="b">
                    <a:lnL>
                      <a:noFill/>
                    </a:lnL>
                    <a:lnR>
                      <a:noFill/>
                    </a:lnR>
                    <a:lnT w="12700" cap="flat" cmpd="sng" algn="ctr">
                      <a:solidFill>
                        <a:srgbClr val="000000"/>
                      </a:solidFill>
                      <a:prstDash val="solid"/>
                      <a:round/>
                      <a:headEnd type="none" w="med" len="med"/>
                      <a:tailEnd type="none" w="med" len="med"/>
                    </a:lnT>
                    <a:lnB>
                      <a:noFill/>
                    </a:lnB>
                  </a:tcPr>
                </a:tc>
              </a:tr>
            </a:tbl>
          </a:graphicData>
        </a:graphic>
      </p:graphicFrame>
      <p:sp>
        <p:nvSpPr>
          <p:cNvPr id="6" name="Text Placeholder 3"/>
          <p:cNvSpPr txBox="1">
            <a:spLocks/>
          </p:cNvSpPr>
          <p:nvPr/>
        </p:nvSpPr>
        <p:spPr bwMode="black">
          <a:xfrm>
            <a:off x="357809" y="3380802"/>
            <a:ext cx="8348472" cy="765127"/>
          </a:xfrm>
          <a:prstGeom prst="rect">
            <a:avLst/>
          </a:prstGeom>
        </p:spPr>
        <p:txBody>
          <a:bodyPr vert="horz" wrap="square" lIns="0" tIns="0" rIns="0" bIns="0" rtlCol="0">
            <a:noAutofit/>
          </a:bodyPr>
          <a:lstStyle>
            <a:lvl1pPr marL="171450" indent="-171450" algn="l" defTabSz="457200" rtl="0" eaLnBrk="1" latinLnBrk="0" hangingPunct="1">
              <a:lnSpc>
                <a:spcPct val="100000"/>
              </a:lnSpc>
              <a:spcBef>
                <a:spcPts val="0"/>
              </a:spcBef>
              <a:spcAft>
                <a:spcPts val="400"/>
              </a:spcAft>
              <a:buSzPct val="100000"/>
              <a:buFont typeface="HP Simplified" pitchFamily="34" charset="0"/>
              <a:buChar char="•"/>
              <a:defRPr sz="1400" b="0" i="0" kern="1200">
                <a:solidFill>
                  <a:schemeClr val="tx1"/>
                </a:solidFill>
                <a:latin typeface="HP Simplified" pitchFamily="34" charset="0"/>
                <a:ea typeface="+mn-ea"/>
                <a:cs typeface="HP Simplified" pitchFamily="34" charset="0"/>
              </a:defRPr>
            </a:lvl1pPr>
            <a:lvl2pPr marL="342900" indent="-171450" algn="l" defTabSz="430213" rtl="0" eaLnBrk="1" latinLnBrk="0" hangingPunct="1">
              <a:lnSpc>
                <a:spcPct val="100000"/>
              </a:lnSpc>
              <a:spcBef>
                <a:spcPts val="0"/>
              </a:spcBef>
              <a:spcAft>
                <a:spcPts val="400"/>
              </a:spcAft>
              <a:buSzPct val="80000"/>
              <a:buFont typeface="HP Simplified" pitchFamily="34" charset="0"/>
              <a:buChar char="–"/>
              <a:defRPr sz="1400" b="0" i="0" kern="1200">
                <a:solidFill>
                  <a:srgbClr val="000000"/>
                </a:solidFill>
                <a:latin typeface="HP Simplified" pitchFamily="34" charset="0"/>
                <a:ea typeface="+mn-ea"/>
                <a:cs typeface="HP Simplified" pitchFamily="34" charset="0"/>
              </a:defRPr>
            </a:lvl2pPr>
            <a:lvl3pPr marL="5127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69056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a:solidFill>
                  <a:srgbClr val="000000"/>
                </a:solidFill>
                <a:latin typeface="HP Simplified" pitchFamily="34" charset="0"/>
                <a:ea typeface="+mn-ea"/>
                <a:cs typeface="HP Simplified" pitchFamily="34" charset="0"/>
              </a:defRPr>
            </a:lvl4pPr>
            <a:lvl5pPr marL="833438"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itchFamily="34" charset="0"/>
              <a:buChar char="•"/>
            </a:pPr>
            <a:r>
              <a:rPr lang="en-US" dirty="0" smtClean="0"/>
              <a:t>The above documents are required for each of the ocean carriers listed</a:t>
            </a:r>
          </a:p>
          <a:p>
            <a:pPr>
              <a:buFont typeface="Arial" pitchFamily="34" charset="0"/>
              <a:buChar char="•"/>
            </a:pPr>
            <a:r>
              <a:rPr lang="en-US" dirty="0" smtClean="0"/>
              <a:t>It is expected that ODM will provide the documentation required or that is mandatory</a:t>
            </a:r>
          </a:p>
          <a:p>
            <a:pPr>
              <a:buFont typeface="Arial" pitchFamily="34" charset="0"/>
              <a:buChar char="•"/>
            </a:pPr>
            <a:r>
              <a:rPr lang="en-US" dirty="0" smtClean="0"/>
              <a:t>This process is for OCEAN mode only</a:t>
            </a:r>
            <a:endParaRPr lang="en-US" dirty="0"/>
          </a:p>
        </p:txBody>
      </p:sp>
      <p:sp>
        <p:nvSpPr>
          <p:cNvPr id="7" name="Rounded Rectangle 6"/>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72</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16781908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ODM Ship Notice and Invoicing</a:t>
            </a:r>
            <a:endParaRPr lang="en-US" dirty="0"/>
          </a:p>
        </p:txBody>
      </p:sp>
      <p:sp>
        <p:nvSpPr>
          <p:cNvPr id="3" name="Title 2"/>
          <p:cNvSpPr>
            <a:spLocks noGrp="1"/>
          </p:cNvSpPr>
          <p:nvPr>
            <p:ph type="title"/>
          </p:nvPr>
        </p:nvSpPr>
        <p:spPr/>
        <p:txBody>
          <a:bodyPr/>
          <a:lstStyle/>
          <a:p>
            <a:r>
              <a:rPr lang="en-US" dirty="0" smtClean="0"/>
              <a:t>BSaM – B Part Ship Notice &amp; Invoicing</a:t>
            </a:r>
            <a:endParaRPr lang="en-US" dirty="0"/>
          </a:p>
        </p:txBody>
      </p:sp>
      <p:graphicFrame>
        <p:nvGraphicFramePr>
          <p:cNvPr id="5" name="Content Placeholder 4"/>
          <p:cNvGraphicFramePr>
            <a:graphicFrameLocks noGrp="1"/>
          </p:cNvGraphicFramePr>
          <p:nvPr>
            <p:ph sz="quarter" idx="10"/>
            <p:extLst>
              <p:ext uri="{D42A27DB-BD31-4B8C-83A1-F6EECF244321}">
                <p14:modId xmlns:p14="http://schemas.microsoft.com/office/powerpoint/2010/main" xmlns="" val="883919321"/>
              </p:ext>
            </p:extLst>
          </p:nvPr>
        </p:nvGraphicFramePr>
        <p:xfrm>
          <a:off x="328613" y="1189048"/>
          <a:ext cx="8120064" cy="3501390"/>
        </p:xfrm>
        <a:graphic>
          <a:graphicData uri="http://schemas.openxmlformats.org/drawingml/2006/table">
            <a:tbl>
              <a:tblPr firstRow="1" bandRow="1">
                <a:tableStyleId>{073A0DAA-6AF3-43AB-8588-CEC1D06C72B9}</a:tableStyleId>
              </a:tblPr>
              <a:tblGrid>
                <a:gridCol w="681037"/>
                <a:gridCol w="1695450"/>
                <a:gridCol w="3943350"/>
                <a:gridCol w="1800227"/>
              </a:tblGrid>
              <a:tr h="243840">
                <a:tc>
                  <a:txBody>
                    <a:bodyPr/>
                    <a:lstStyle/>
                    <a:p>
                      <a:r>
                        <a:rPr lang="en-US" sz="1000" dirty="0" smtClean="0"/>
                        <a:t>Req #</a:t>
                      </a:r>
                      <a:endParaRPr lang="en-US" sz="1000" dirty="0"/>
                    </a:p>
                  </a:txBody>
                  <a:tcPr/>
                </a:tc>
                <a:tc>
                  <a:txBody>
                    <a:bodyPr/>
                    <a:lstStyle/>
                    <a:p>
                      <a:r>
                        <a:rPr lang="en-US" sz="1000" dirty="0" smtClean="0"/>
                        <a:t>Requirement</a:t>
                      </a:r>
                      <a:endParaRPr lang="en-US" sz="1000" dirty="0"/>
                    </a:p>
                  </a:txBody>
                  <a:tcPr/>
                </a:tc>
                <a:tc>
                  <a:txBody>
                    <a:bodyPr/>
                    <a:lstStyle/>
                    <a:p>
                      <a:r>
                        <a:rPr lang="en-US" sz="1000" dirty="0" smtClean="0"/>
                        <a:t>Description</a:t>
                      </a:r>
                      <a:endParaRPr lang="en-US" sz="1000" dirty="0"/>
                    </a:p>
                  </a:txBody>
                  <a:tcPr/>
                </a:tc>
                <a:tc>
                  <a:txBody>
                    <a:bodyPr/>
                    <a:lstStyle/>
                    <a:p>
                      <a:r>
                        <a:rPr lang="en-US" sz="1000" dirty="0" smtClean="0"/>
                        <a:t>Data</a:t>
                      </a:r>
                      <a:r>
                        <a:rPr lang="en-US" sz="1000" baseline="0" dirty="0" smtClean="0"/>
                        <a:t> Source</a:t>
                      </a:r>
                      <a:endParaRPr lang="en-US" sz="1000" dirty="0"/>
                    </a:p>
                  </a:txBody>
                  <a:tcPr/>
                </a:tc>
              </a:tr>
              <a:tr h="5486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BSNI-001</a:t>
                      </a:r>
                    </a:p>
                    <a:p>
                      <a:endParaRPr lang="en-US" sz="800" dirty="0"/>
                    </a:p>
                  </a:txBody>
                  <a:tcPr/>
                </a:tc>
                <a:tc>
                  <a:txBody>
                    <a:bodyPr/>
                    <a:lstStyle/>
                    <a:p>
                      <a:r>
                        <a:rPr lang="en-US" sz="1000" dirty="0" smtClean="0"/>
                        <a:t>EDI856</a:t>
                      </a:r>
                      <a:endParaRPr lang="en-US" sz="1000" dirty="0"/>
                    </a:p>
                  </a:txBody>
                  <a:tcPr/>
                </a:tc>
                <a:tc>
                  <a:txBody>
                    <a:bodyPr/>
                    <a:lstStyle/>
                    <a:p>
                      <a:pPr marL="0" marR="0" lvl="2" indent="0" algn="l" defTabSz="457200" rtl="0" eaLnBrk="1" fontAlgn="auto" latinLnBrk="0" hangingPunct="1">
                        <a:lnSpc>
                          <a:spcPct val="100000"/>
                        </a:lnSpc>
                        <a:spcBef>
                          <a:spcPts val="0"/>
                        </a:spcBef>
                        <a:spcAft>
                          <a:spcPts val="0"/>
                        </a:spcAft>
                        <a:buClrTx/>
                        <a:buSzTx/>
                        <a:buFontTx/>
                        <a:buNone/>
                        <a:tabLst/>
                        <a:defRPr/>
                      </a:pPr>
                      <a:r>
                        <a:rPr lang="en-US" sz="1000" dirty="0" smtClean="0"/>
                        <a:t>If we have</a:t>
                      </a:r>
                      <a:r>
                        <a:rPr lang="en-US" sz="1000" baseline="0" dirty="0" smtClean="0"/>
                        <a:t> and EDI850 model, ODM may be requested to support EDI856 for shipment of the B parts. </a:t>
                      </a:r>
                      <a:endParaRPr lang="en-US" sz="1000" dirty="0"/>
                    </a:p>
                  </a:txBody>
                  <a:tcPr/>
                </a:tc>
                <a:tc>
                  <a:txBody>
                    <a:bodyPr/>
                    <a:lstStyle/>
                    <a:p>
                      <a:r>
                        <a:rPr lang="en-US" sz="1000" dirty="0" smtClean="0"/>
                        <a:t>ODM</a:t>
                      </a:r>
                    </a:p>
                    <a:p>
                      <a:r>
                        <a:rPr lang="en-US" sz="1000" dirty="0" smtClean="0"/>
                        <a:t>EDI spec to be provided by HP IT B2B</a:t>
                      </a:r>
                      <a:endParaRPr lang="en-US" sz="1000" dirty="0"/>
                    </a:p>
                  </a:txBody>
                  <a:tcPr/>
                </a:tc>
              </a:tr>
              <a:tr h="1428750">
                <a:tc>
                  <a:txBody>
                    <a:bodyPr/>
                    <a:lstStyle/>
                    <a:p>
                      <a:r>
                        <a:rPr lang="en-US" sz="800" dirty="0" smtClean="0"/>
                        <a:t>BSNI-001</a:t>
                      </a:r>
                      <a:endParaRPr lang="en-US" sz="800" dirty="0"/>
                    </a:p>
                  </a:txBody>
                  <a:tcPr/>
                </a:tc>
                <a:tc>
                  <a:txBody>
                    <a:bodyPr/>
                    <a:lstStyle/>
                    <a:p>
                      <a:r>
                        <a:rPr lang="en-US" sz="1000" dirty="0" smtClean="0"/>
                        <a:t>Generate Final Shipment</a:t>
                      </a:r>
                      <a:r>
                        <a:rPr lang="en-US" sz="1000" baseline="0" dirty="0" smtClean="0"/>
                        <a:t> Report</a:t>
                      </a:r>
                      <a:endParaRPr lang="en-US" sz="1000" dirty="0"/>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000" dirty="0" smtClean="0"/>
                        <a:t>The final shipment report will be an additional step following the Pre-ship for air and the pre-ship REV for ocean. The Final Shipment Report will be sent to Ryder PCC in Indianapolis</a:t>
                      </a:r>
                      <a:r>
                        <a:rPr lang="en-US" sz="1000" baseline="0" dirty="0" smtClean="0"/>
                        <a:t> and to HP. The final shipment report will have all the final shipment details from the ODM. </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000" baseline="0" dirty="0" smtClean="0"/>
                    </a:p>
                    <a:p>
                      <a:pPr marL="0" marR="0" lvl="1" indent="0" algn="l" defTabSz="457200" rtl="0" eaLnBrk="1" fontAlgn="auto" latinLnBrk="0" hangingPunct="1">
                        <a:lnSpc>
                          <a:spcPct val="100000"/>
                        </a:lnSpc>
                        <a:spcBef>
                          <a:spcPts val="0"/>
                        </a:spcBef>
                        <a:spcAft>
                          <a:spcPts val="0"/>
                        </a:spcAft>
                        <a:buClrTx/>
                        <a:buSzTx/>
                        <a:buFontTx/>
                        <a:buNone/>
                        <a:tabLst/>
                        <a:defRPr/>
                      </a:pPr>
                      <a:r>
                        <a:rPr lang="en-US" sz="1000" dirty="0" smtClean="0"/>
                        <a:t>ODM to email shipment information (Final</a:t>
                      </a:r>
                      <a:r>
                        <a:rPr lang="en-US" sz="1000" baseline="0" dirty="0" smtClean="0"/>
                        <a:t> Ship report</a:t>
                      </a:r>
                      <a:r>
                        <a:rPr lang="en-US" sz="1000" dirty="0" smtClean="0"/>
                        <a:t>) to HP Operations. Contact information:</a:t>
                      </a:r>
                      <a:r>
                        <a:rPr lang="en-US" sz="1000" baseline="0" dirty="0" smtClean="0"/>
                        <a:t> </a:t>
                      </a:r>
                      <a:r>
                        <a:rPr lang="en-US" sz="1000" dirty="0" smtClean="0">
                          <a:hlinkClick r:id="rId2"/>
                        </a:rPr>
                        <a:t>Brian.Popovitz@hp.com</a:t>
                      </a:r>
                      <a:r>
                        <a:rPr lang="en-US" sz="1000" dirty="0" smtClean="0"/>
                        <a:t> and  </a:t>
                      </a:r>
                      <a:r>
                        <a:rPr lang="en-US" sz="1000" dirty="0" smtClean="0">
                          <a:hlinkClick r:id="rId3"/>
                        </a:rPr>
                        <a:t>Indyops@hp.com</a:t>
                      </a:r>
                      <a:endParaRPr lang="en-US" sz="1000" dirty="0"/>
                    </a:p>
                  </a:txBody>
                  <a:tcPr/>
                </a:tc>
                <a:tc>
                  <a:txBody>
                    <a:bodyPr/>
                    <a:lstStyle/>
                    <a:p>
                      <a:r>
                        <a:rPr lang="en-US" sz="1000" dirty="0" smtClean="0"/>
                        <a:t>HVLS</a:t>
                      </a:r>
                      <a:r>
                        <a:rPr lang="en-US" sz="1000" baseline="0" dirty="0" smtClean="0"/>
                        <a:t> ODM</a:t>
                      </a:r>
                      <a:endParaRPr lang="en-US" sz="1000" dirty="0"/>
                    </a:p>
                  </a:txBody>
                  <a:tcPr/>
                </a:tc>
              </a:tr>
              <a:tr h="128016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800" dirty="0" smtClean="0"/>
                        <a:t>BSNI-002</a:t>
                      </a:r>
                    </a:p>
                    <a:p>
                      <a:endParaRPr lang="en-US" sz="800" dirty="0"/>
                    </a:p>
                  </a:txBody>
                  <a:tcPr/>
                </a:tc>
                <a:tc>
                  <a:txBody>
                    <a:bodyPr/>
                    <a:lstStyle/>
                    <a:p>
                      <a:r>
                        <a:rPr lang="en-US" sz="1000" dirty="0" smtClean="0"/>
                        <a:t>Invoicing </a:t>
                      </a:r>
                      <a:endParaRPr lang="en-US" sz="1000" dirty="0"/>
                    </a:p>
                  </a:txBody>
                  <a:tcPr/>
                </a:tc>
                <a:tc>
                  <a:txBody>
                    <a:bodyPr/>
                    <a:lstStyle/>
                    <a:p>
                      <a:pPr lvl="0"/>
                      <a:r>
                        <a:rPr lang="en-US" sz="1000" kern="1200" dirty="0" smtClean="0">
                          <a:solidFill>
                            <a:schemeClr val="dk1"/>
                          </a:solidFill>
                          <a:effectLst/>
                          <a:latin typeface="+mn-lt"/>
                          <a:ea typeface="+mn-ea"/>
                          <a:cs typeface="+mn-cs"/>
                        </a:rPr>
                        <a:t>For EDI Process – The order will be recognized as closed based on the EDI ship complete signal sent from ODM to HP (TBD)</a:t>
                      </a:r>
                    </a:p>
                    <a:p>
                      <a:pPr lvl="0"/>
                      <a:endParaRPr lang="en-US" sz="1000" kern="1200" dirty="0" smtClean="0">
                        <a:solidFill>
                          <a:schemeClr val="dk1"/>
                        </a:solidFill>
                        <a:effectLst/>
                        <a:latin typeface="+mn-lt"/>
                        <a:ea typeface="+mn-ea"/>
                        <a:cs typeface="+mn-cs"/>
                      </a:endParaRPr>
                    </a:p>
                    <a:p>
                      <a:pPr lvl="0"/>
                      <a:r>
                        <a:rPr lang="en-US" sz="1000" kern="1200" dirty="0" smtClean="0">
                          <a:solidFill>
                            <a:schemeClr val="dk1"/>
                          </a:solidFill>
                          <a:effectLst/>
                          <a:latin typeface="+mn-lt"/>
                          <a:ea typeface="+mn-ea"/>
                          <a:cs typeface="+mn-cs"/>
                        </a:rPr>
                        <a:t>For Manual Process - The Final Pre-Shipment Report will be used as the indicator that an order has been completed by ODM.  To leverage RCTO</a:t>
                      </a:r>
                      <a:r>
                        <a:rPr lang="en-US" sz="1000" kern="1200" baseline="0" dirty="0" smtClean="0">
                          <a:solidFill>
                            <a:schemeClr val="dk1"/>
                          </a:solidFill>
                          <a:effectLst/>
                          <a:latin typeface="+mn-lt"/>
                          <a:ea typeface="+mn-ea"/>
                          <a:cs typeface="+mn-cs"/>
                        </a:rPr>
                        <a:t> payment process.</a:t>
                      </a:r>
                      <a:endParaRPr lang="en-US" sz="1000" dirty="0"/>
                    </a:p>
                  </a:txBody>
                  <a:tcPr/>
                </a:tc>
                <a:tc>
                  <a:txBody>
                    <a:bodyPr/>
                    <a:lstStyle/>
                    <a:p>
                      <a:r>
                        <a:rPr lang="en-US" sz="1000" dirty="0" smtClean="0"/>
                        <a:t>ODM / HP</a:t>
                      </a:r>
                      <a:endParaRPr lang="en-US" sz="1000" dirty="0"/>
                    </a:p>
                  </a:txBody>
                  <a:tcPr/>
                </a:tc>
              </a:tr>
            </a:tbl>
          </a:graphicData>
        </a:graphic>
      </p:graphicFrame>
      <p:sp>
        <p:nvSpPr>
          <p:cNvPr id="6" name="Rounded Rectangle 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73</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95401365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quarter" idx="10"/>
          </p:nvPr>
        </p:nvSpPr>
        <p:spPr/>
        <p:txBody>
          <a:bodyPr anchor="ctr"/>
          <a:lstStyle/>
          <a:p>
            <a:pPr algn="ctr"/>
            <a:r>
              <a:rPr lang="en-US" sz="4000" dirty="0" smtClean="0">
                <a:solidFill>
                  <a:schemeClr val="tx1"/>
                </a:solidFill>
              </a:rPr>
              <a:t>Design Concepts and Requirement Details</a:t>
            </a:r>
          </a:p>
          <a:p>
            <a:pPr algn="ctr"/>
            <a:endParaRPr lang="en-US" sz="4000" dirty="0">
              <a:solidFill>
                <a:schemeClr val="tx1"/>
              </a:solidFill>
            </a:endParaRPr>
          </a:p>
        </p:txBody>
      </p:sp>
      <p:sp>
        <p:nvSpPr>
          <p:cNvPr id="3" name="Rounded Rectangle 2"/>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74</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94560776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 </a:t>
            </a:r>
            <a:endParaRPr lang="en-US" dirty="0"/>
          </a:p>
        </p:txBody>
      </p:sp>
      <p:sp>
        <p:nvSpPr>
          <p:cNvPr id="3" name="Title 2"/>
          <p:cNvSpPr>
            <a:spLocks noGrp="1"/>
          </p:cNvSpPr>
          <p:nvPr>
            <p:ph type="title"/>
          </p:nvPr>
        </p:nvSpPr>
        <p:spPr/>
        <p:txBody>
          <a:bodyPr/>
          <a:lstStyle/>
          <a:p>
            <a:r>
              <a:rPr lang="en-US" dirty="0" smtClean="0"/>
              <a:t>Production Grouping</a:t>
            </a:r>
            <a:endParaRPr lang="en-US" dirty="0"/>
          </a:p>
        </p:txBody>
      </p:sp>
      <p:sp>
        <p:nvSpPr>
          <p:cNvPr id="4" name="Content Placeholder 3"/>
          <p:cNvSpPr>
            <a:spLocks noGrp="1"/>
          </p:cNvSpPr>
          <p:nvPr>
            <p:ph sz="quarter" idx="10"/>
          </p:nvPr>
        </p:nvSpPr>
        <p:spPr/>
        <p:txBody>
          <a:bodyPr/>
          <a:lstStyle/>
          <a:p>
            <a:pPr marL="285750" indent="-285750">
              <a:buFont typeface="Arial" pitchFamily="34" charset="0"/>
              <a:buChar char="•"/>
            </a:pPr>
            <a:r>
              <a:rPr lang="en-US" dirty="0" smtClean="0"/>
              <a:t>Production Grouping</a:t>
            </a:r>
          </a:p>
          <a:p>
            <a:pPr marL="455613" lvl="2" indent="-285750">
              <a:buFont typeface="Arial" pitchFamily="34" charset="0"/>
              <a:buChar char="•"/>
            </a:pPr>
            <a:r>
              <a:rPr lang="en-US" dirty="0" smtClean="0"/>
              <a:t>Production Grouping is a process conducted to enable the most efficient method of bulk packaging on the production line.</a:t>
            </a:r>
          </a:p>
          <a:p>
            <a:pPr marL="455613" lvl="2" indent="-285750">
              <a:buFont typeface="Arial" pitchFamily="34" charset="0"/>
              <a:buChar char="•"/>
            </a:pPr>
            <a:r>
              <a:rPr lang="en-US" dirty="0" smtClean="0"/>
              <a:t>Production Grouping is required for BSaM orders and may also be required for IDS and RCTO orders in the future.</a:t>
            </a:r>
          </a:p>
          <a:p>
            <a:pPr marL="455613" lvl="2" indent="-285750">
              <a:buFont typeface="Arial" pitchFamily="34" charset="0"/>
              <a:buChar char="•"/>
            </a:pPr>
            <a:r>
              <a:rPr lang="en-US" dirty="0" smtClean="0"/>
              <a:t>Production Grouping will group orders in advance, prior to the build, based on HP conditions and ODM build capacity.    The grouped orders will be referred to as “Order Group” and each will be assigned an “Order Group ID”</a:t>
            </a:r>
          </a:p>
          <a:p>
            <a:pPr marL="455613" lvl="2" indent="-285750">
              <a:buFont typeface="Arial" pitchFamily="34" charset="0"/>
              <a:buChar char="•"/>
            </a:pPr>
            <a:r>
              <a:rPr lang="en-US" dirty="0" smtClean="0"/>
              <a:t>The production by the ODM should be conducted by “Order Group” for orders that require Production Grouping.</a:t>
            </a:r>
            <a:endParaRPr lang="en-US" dirty="0"/>
          </a:p>
          <a:p>
            <a:pPr marL="455613" lvl="2" indent="-285750">
              <a:buFont typeface="Arial" pitchFamily="34" charset="0"/>
              <a:buChar char="•"/>
            </a:pPr>
            <a:r>
              <a:rPr lang="en-US" dirty="0" smtClean="0"/>
              <a:t>The grouped orders will need to be produced and placed into bulk boxes at the time of packaging on the production line.  Orders of the same Order Group ID can be placed into the same bulk boxes to maximize the bulk box fill rate.</a:t>
            </a:r>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75</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95566729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Points for Consideration</a:t>
            </a:r>
            <a:endParaRPr lang="en-US" dirty="0"/>
          </a:p>
        </p:txBody>
      </p:sp>
      <p:sp>
        <p:nvSpPr>
          <p:cNvPr id="3" name="Title 2"/>
          <p:cNvSpPr>
            <a:spLocks noGrp="1"/>
          </p:cNvSpPr>
          <p:nvPr>
            <p:ph type="title"/>
          </p:nvPr>
        </p:nvSpPr>
        <p:spPr/>
        <p:txBody>
          <a:bodyPr/>
          <a:lstStyle/>
          <a:p>
            <a:r>
              <a:rPr lang="en-US" dirty="0" smtClean="0"/>
              <a:t>Design Concepts – Production Grouping</a:t>
            </a:r>
            <a:endParaRPr lang="en-US" dirty="0"/>
          </a:p>
        </p:txBody>
      </p:sp>
      <p:sp>
        <p:nvSpPr>
          <p:cNvPr id="4" name="Content Placeholder 3"/>
          <p:cNvSpPr>
            <a:spLocks noGrp="1"/>
          </p:cNvSpPr>
          <p:nvPr>
            <p:ph sz="quarter" idx="10"/>
          </p:nvPr>
        </p:nvSpPr>
        <p:spPr/>
        <p:txBody>
          <a:bodyPr/>
          <a:lstStyle/>
          <a:p>
            <a:pPr marL="285750" indent="-285750">
              <a:buFont typeface="Arial" pitchFamily="34" charset="0"/>
              <a:buChar char="•"/>
            </a:pPr>
            <a:r>
              <a:rPr lang="en-US" dirty="0" smtClean="0"/>
              <a:t>Bulk Packaging to become a requirement for other SC models</a:t>
            </a:r>
          </a:p>
          <a:p>
            <a:pPr marL="627063" lvl="3" indent="-285750">
              <a:buFont typeface="Arial" pitchFamily="34" charset="0"/>
              <a:buChar char="•"/>
            </a:pPr>
            <a:r>
              <a:rPr lang="en-US" dirty="0" smtClean="0"/>
              <a:t>Bulk Packaging will most likely become a requirement for both IDS and RCTO in addition to BSaM</a:t>
            </a:r>
          </a:p>
          <a:p>
            <a:pPr marL="627063" lvl="3" indent="-285750">
              <a:buFont typeface="Arial" pitchFamily="34" charset="0"/>
              <a:buChar char="•"/>
            </a:pPr>
            <a:r>
              <a:rPr lang="en-US" dirty="0" smtClean="0"/>
              <a:t>HP is receiving requests from specific Customers asking for Bulk Packaging for IDS (</a:t>
            </a:r>
            <a:r>
              <a:rPr lang="en-US" dirty="0" err="1" smtClean="0"/>
              <a:t>Lockhead</a:t>
            </a:r>
            <a:r>
              <a:rPr lang="en-US" dirty="0" smtClean="0"/>
              <a:t>)</a:t>
            </a:r>
          </a:p>
          <a:p>
            <a:pPr marL="285750" indent="-285750">
              <a:buFont typeface="Arial" pitchFamily="34" charset="0"/>
              <a:buChar char="•"/>
            </a:pPr>
            <a:endParaRPr lang="en-US" dirty="0" smtClean="0"/>
          </a:p>
          <a:p>
            <a:pPr marL="285750" indent="-285750">
              <a:buFont typeface="Arial" pitchFamily="34" charset="0"/>
              <a:buChar char="•"/>
            </a:pPr>
            <a:r>
              <a:rPr lang="en-US" dirty="0" smtClean="0"/>
              <a:t>Flexible Design for Production Grouping</a:t>
            </a:r>
            <a:endParaRPr lang="en-US" dirty="0"/>
          </a:p>
          <a:p>
            <a:pPr marL="627063" lvl="3" indent="-285750">
              <a:buFont typeface="Arial" pitchFamily="34" charset="0"/>
              <a:buChar char="•"/>
            </a:pPr>
            <a:r>
              <a:rPr lang="en-US" dirty="0" smtClean="0"/>
              <a:t>Best to develop a flexible Production Grouping process that will enable bulk packaging to be supported for other SC models and not just BSaM.</a:t>
            </a:r>
          </a:p>
          <a:p>
            <a:pPr marL="627063" lvl="3" indent="-285750">
              <a:buFont typeface="Arial" pitchFamily="34" charset="0"/>
              <a:buChar char="•"/>
            </a:pPr>
            <a:r>
              <a:rPr lang="en-US" dirty="0" smtClean="0"/>
              <a:t>Condition Table Flexibility while meeting current timeline</a:t>
            </a:r>
          </a:p>
          <a:p>
            <a:pPr marL="627063" lvl="3" indent="-285750">
              <a:buFont typeface="Arial" pitchFamily="34" charset="0"/>
              <a:buChar char="•"/>
            </a:pPr>
            <a:endParaRPr lang="en-US" dirty="0"/>
          </a:p>
          <a:p>
            <a:pPr marL="285750" indent="-285750">
              <a:buFont typeface="Arial" pitchFamily="34" charset="0"/>
              <a:buChar char="•"/>
            </a:pPr>
            <a:r>
              <a:rPr lang="en-US" dirty="0" smtClean="0"/>
              <a:t>Production Grouping vs. HVLS ACE</a:t>
            </a:r>
            <a:endParaRPr lang="en-US" dirty="0"/>
          </a:p>
          <a:p>
            <a:pPr marL="627063" lvl="3" indent="-285750">
              <a:buFont typeface="Arial" pitchFamily="34" charset="0"/>
              <a:buChar char="•"/>
            </a:pPr>
            <a:r>
              <a:rPr lang="en-US" dirty="0" smtClean="0"/>
              <a:t>Based on the learning from ACE, it would be best to keep the condition table simple and to give ownership and responsibility of the CT to ODM.</a:t>
            </a:r>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76</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81961546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BSaM and HVLS</a:t>
            </a:r>
            <a:endParaRPr lang="en-US" dirty="0"/>
          </a:p>
        </p:txBody>
      </p:sp>
      <p:sp>
        <p:nvSpPr>
          <p:cNvPr id="4" name="Content Placeholder 3"/>
          <p:cNvSpPr>
            <a:spLocks noGrp="1"/>
          </p:cNvSpPr>
          <p:nvPr>
            <p:ph sz="quarter" idx="10"/>
          </p:nvPr>
        </p:nvSpPr>
        <p:spPr>
          <a:xfrm>
            <a:off x="329184" y="1188722"/>
            <a:ext cx="4404741" cy="3228975"/>
          </a:xfrm>
        </p:spPr>
        <p:txBody>
          <a:bodyPr/>
          <a:lstStyle/>
          <a:p>
            <a:r>
              <a:rPr lang="en-US" dirty="0" smtClean="0"/>
              <a:t>Processing Sequence</a:t>
            </a:r>
          </a:p>
          <a:p>
            <a:pPr marL="455613" lvl="2" indent="-285750">
              <a:buFont typeface="Arial" pitchFamily="34" charset="0"/>
              <a:buChar char="•"/>
            </a:pPr>
            <a:r>
              <a:rPr lang="en-US" dirty="0" smtClean="0"/>
              <a:t>BSaM Production Grouping should be conducted prior to HVLS ACE processing</a:t>
            </a:r>
          </a:p>
          <a:p>
            <a:pPr marL="455613" lvl="2" indent="-285750">
              <a:buFont typeface="Arial" pitchFamily="34" charset="0"/>
              <a:buChar char="•"/>
            </a:pPr>
            <a:endParaRPr lang="en-US" dirty="0"/>
          </a:p>
          <a:p>
            <a:pPr lvl="2" indent="0">
              <a:buNone/>
            </a:pPr>
            <a:r>
              <a:rPr lang="en-US" dirty="0" smtClean="0"/>
              <a:t> </a:t>
            </a:r>
          </a:p>
          <a:p>
            <a:endParaRPr lang="en-US" dirty="0"/>
          </a:p>
          <a:p>
            <a:endParaRPr lang="en-US" dirty="0" smtClean="0"/>
          </a:p>
        </p:txBody>
      </p:sp>
      <p:sp>
        <p:nvSpPr>
          <p:cNvPr id="7" name="Rounded Rectangle 6"/>
          <p:cNvSpPr/>
          <p:nvPr/>
        </p:nvSpPr>
        <p:spPr>
          <a:xfrm>
            <a:off x="5312641" y="2950498"/>
            <a:ext cx="2229388" cy="613227"/>
          </a:xfrm>
          <a:prstGeom prst="roundRect">
            <a:avLst/>
          </a:prstGeom>
          <a:gradFill>
            <a:gsLst>
              <a:gs pos="6000">
                <a:srgbClr val="FFFFFF"/>
              </a:gs>
              <a:gs pos="31000">
                <a:srgbClr val="7D8496"/>
              </a:gs>
              <a:gs pos="81000">
                <a:srgbClr val="E6E6E6"/>
              </a:gs>
              <a:gs pos="100000">
                <a:srgbClr val="E6E6E6"/>
              </a:gs>
            </a:gsLst>
            <a:lin ang="5400000" scaled="0"/>
          </a:gradFill>
          <a:ln>
            <a:solidFill>
              <a:schemeClr val="tx1">
                <a:lumMod val="85000"/>
                <a:lumOff val="15000"/>
              </a:schemeClr>
            </a:solidFill>
          </a:ln>
          <a:effectLst>
            <a:glow rad="63500">
              <a:schemeClr val="accent4">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solidFill>
                  <a:prstClr val="black"/>
                </a:solidFill>
                <a:latin typeface="Calibri" pitchFamily="34" charset="0"/>
                <a:cs typeface="Calibri" pitchFamily="34" charset="0"/>
              </a:rPr>
              <a:t>BSaM Production</a:t>
            </a:r>
          </a:p>
          <a:p>
            <a:pPr algn="ctr"/>
            <a:r>
              <a:rPr lang="en-US" sz="1400" b="1" dirty="0" smtClean="0">
                <a:solidFill>
                  <a:prstClr val="black"/>
                </a:solidFill>
                <a:latin typeface="Calibri" pitchFamily="34" charset="0"/>
                <a:cs typeface="Calibri" pitchFamily="34" charset="0"/>
              </a:rPr>
              <a:t>Grouping</a:t>
            </a:r>
            <a:endParaRPr lang="en-US" sz="1400" b="1" dirty="0">
              <a:solidFill>
                <a:prstClr val="black"/>
              </a:solidFill>
              <a:latin typeface="Calibri" pitchFamily="34" charset="0"/>
              <a:cs typeface="Calibri" pitchFamily="34" charset="0"/>
            </a:endParaRPr>
          </a:p>
        </p:txBody>
      </p:sp>
      <p:sp>
        <p:nvSpPr>
          <p:cNvPr id="11" name="Right Arrow 10"/>
          <p:cNvSpPr/>
          <p:nvPr/>
        </p:nvSpPr>
        <p:spPr>
          <a:xfrm rot="5400000">
            <a:off x="6321266" y="1875258"/>
            <a:ext cx="173167" cy="332509"/>
          </a:xfrm>
          <a:prstGeom prst="rightArrow">
            <a:avLst/>
          </a:prstGeom>
          <a:solidFill>
            <a:srgbClr val="0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ounded Rectangle 21"/>
          <p:cNvSpPr/>
          <p:nvPr/>
        </p:nvSpPr>
        <p:spPr>
          <a:xfrm>
            <a:off x="5311767" y="3774052"/>
            <a:ext cx="2231136" cy="616526"/>
          </a:xfrm>
          <a:prstGeom prst="roundRect">
            <a:avLst/>
          </a:prstGeom>
          <a:gradFill>
            <a:gsLst>
              <a:gs pos="0">
                <a:srgbClr val="FBE4AE"/>
              </a:gs>
              <a:gs pos="13000">
                <a:srgbClr val="BD922A"/>
              </a:gs>
              <a:gs pos="21001">
                <a:srgbClr val="BD922A"/>
              </a:gs>
              <a:gs pos="63000">
                <a:srgbClr val="FBE4AE"/>
              </a:gs>
              <a:gs pos="67000">
                <a:srgbClr val="BD922A"/>
              </a:gs>
              <a:gs pos="69000">
                <a:srgbClr val="835E17"/>
              </a:gs>
              <a:gs pos="82001">
                <a:srgbClr val="A28949"/>
              </a:gs>
              <a:gs pos="100000">
                <a:srgbClr val="FAE3B7"/>
              </a:gs>
            </a:gsLst>
            <a:lin ang="5400000" scaled="0"/>
          </a:gradFill>
          <a:ln>
            <a:solidFill>
              <a:schemeClr val="tx1">
                <a:lumMod val="85000"/>
                <a:lumOff val="15000"/>
              </a:schemeClr>
            </a:solidFill>
          </a:ln>
          <a:effectLst>
            <a:glow rad="63500">
              <a:schemeClr val="accent4">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solidFill>
                  <a:prstClr val="black"/>
                </a:solidFill>
                <a:latin typeface="Calibri" pitchFamily="34" charset="0"/>
                <a:cs typeface="Calibri" pitchFamily="34" charset="0"/>
              </a:rPr>
              <a:t>HVLS </a:t>
            </a:r>
          </a:p>
          <a:p>
            <a:pPr algn="ctr"/>
            <a:r>
              <a:rPr lang="en-US" sz="1400" b="1" dirty="0" smtClean="0">
                <a:solidFill>
                  <a:prstClr val="black"/>
                </a:solidFill>
                <a:latin typeface="Calibri" pitchFamily="34" charset="0"/>
                <a:cs typeface="Calibri" pitchFamily="34" charset="0"/>
              </a:rPr>
              <a:t>ACE </a:t>
            </a:r>
          </a:p>
        </p:txBody>
      </p:sp>
      <p:sp>
        <p:nvSpPr>
          <p:cNvPr id="12" name="Rounded Rectangle 11"/>
          <p:cNvSpPr/>
          <p:nvPr/>
        </p:nvSpPr>
        <p:spPr>
          <a:xfrm>
            <a:off x="5312641" y="2126942"/>
            <a:ext cx="2229388" cy="613227"/>
          </a:xfrm>
          <a:prstGeom prst="roundRect">
            <a:avLst/>
          </a:prstGeom>
          <a:gradFill>
            <a:gsLst>
              <a:gs pos="0">
                <a:srgbClr val="DDEBCF"/>
              </a:gs>
              <a:gs pos="50000">
                <a:srgbClr val="9CB86E"/>
              </a:gs>
              <a:gs pos="100000">
                <a:srgbClr val="156B13"/>
              </a:gs>
            </a:gsLst>
            <a:lin ang="5400000" scaled="0"/>
          </a:gradFill>
          <a:ln>
            <a:solidFill>
              <a:schemeClr val="tx1">
                <a:lumMod val="85000"/>
                <a:lumOff val="15000"/>
              </a:schemeClr>
            </a:solidFill>
          </a:ln>
          <a:effectLst>
            <a:glow rad="63500">
              <a:schemeClr val="accent4">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solidFill>
                  <a:prstClr val="black"/>
                </a:solidFill>
                <a:latin typeface="Calibri" pitchFamily="34" charset="0"/>
                <a:cs typeface="Calibri" pitchFamily="34" charset="0"/>
              </a:rPr>
              <a:t>Determine Build Plan for Orders</a:t>
            </a:r>
            <a:endParaRPr lang="en-US" sz="1400" b="1" dirty="0">
              <a:solidFill>
                <a:prstClr val="black"/>
              </a:solidFill>
              <a:latin typeface="Calibri" pitchFamily="34" charset="0"/>
              <a:cs typeface="Calibri" pitchFamily="34" charset="0"/>
            </a:endParaRPr>
          </a:p>
        </p:txBody>
      </p:sp>
      <p:sp>
        <p:nvSpPr>
          <p:cNvPr id="13" name="Rounded Rectangle 12"/>
          <p:cNvSpPr/>
          <p:nvPr/>
        </p:nvSpPr>
        <p:spPr>
          <a:xfrm>
            <a:off x="5312641" y="1303388"/>
            <a:ext cx="2229388" cy="613227"/>
          </a:xfrm>
          <a:prstGeom prst="roundRect">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a:ln>
            <a:solidFill>
              <a:schemeClr val="tx1">
                <a:lumMod val="85000"/>
                <a:lumOff val="15000"/>
              </a:schemeClr>
            </a:solidFill>
          </a:ln>
          <a:effectLst>
            <a:glow rad="63500">
              <a:schemeClr val="accent4">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smtClean="0">
                <a:solidFill>
                  <a:prstClr val="black"/>
                </a:solidFill>
                <a:latin typeface="Calibri" pitchFamily="34" charset="0"/>
                <a:cs typeface="Calibri" pitchFamily="34" charset="0"/>
              </a:rPr>
              <a:t>Receive EDI850 </a:t>
            </a:r>
          </a:p>
          <a:p>
            <a:pPr algn="ctr"/>
            <a:r>
              <a:rPr lang="en-US" sz="1400" b="1" dirty="0" smtClean="0">
                <a:solidFill>
                  <a:prstClr val="black"/>
                </a:solidFill>
                <a:latin typeface="Calibri" pitchFamily="34" charset="0"/>
                <a:cs typeface="Calibri" pitchFamily="34" charset="0"/>
              </a:rPr>
              <a:t>Orders</a:t>
            </a:r>
            <a:endParaRPr lang="en-US" sz="1400" b="1" dirty="0">
              <a:solidFill>
                <a:prstClr val="black"/>
              </a:solidFill>
              <a:latin typeface="Calibri" pitchFamily="34" charset="0"/>
              <a:cs typeface="Calibri" pitchFamily="34" charset="0"/>
            </a:endParaRPr>
          </a:p>
        </p:txBody>
      </p:sp>
      <p:sp>
        <p:nvSpPr>
          <p:cNvPr id="14" name="Right Arrow 13"/>
          <p:cNvSpPr/>
          <p:nvPr/>
        </p:nvSpPr>
        <p:spPr>
          <a:xfrm rot="5400000">
            <a:off x="6321266" y="2688377"/>
            <a:ext cx="173167" cy="332509"/>
          </a:xfrm>
          <a:prstGeom prst="rightArrow">
            <a:avLst/>
          </a:prstGeom>
          <a:solidFill>
            <a:srgbClr val="0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ight Arrow 14"/>
          <p:cNvSpPr/>
          <p:nvPr/>
        </p:nvSpPr>
        <p:spPr>
          <a:xfrm rot="5400000">
            <a:off x="6330791" y="3526577"/>
            <a:ext cx="173167" cy="332509"/>
          </a:xfrm>
          <a:prstGeom prst="rightArrow">
            <a:avLst/>
          </a:prstGeom>
          <a:solidFill>
            <a:srgbClr val="00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ounded Rectangle 15"/>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77</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47627025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 </a:t>
            </a:r>
            <a:endParaRPr lang="en-US" dirty="0"/>
          </a:p>
        </p:txBody>
      </p:sp>
      <p:sp>
        <p:nvSpPr>
          <p:cNvPr id="3" name="Title 2"/>
          <p:cNvSpPr>
            <a:spLocks noGrp="1"/>
          </p:cNvSpPr>
          <p:nvPr>
            <p:ph type="title"/>
          </p:nvPr>
        </p:nvSpPr>
        <p:spPr/>
        <p:txBody>
          <a:bodyPr/>
          <a:lstStyle/>
          <a:p>
            <a:r>
              <a:rPr lang="en-US" dirty="0" smtClean="0"/>
              <a:t>Production Grouping</a:t>
            </a:r>
            <a:endParaRPr lang="en-US" dirty="0"/>
          </a:p>
        </p:txBody>
      </p:sp>
      <p:sp>
        <p:nvSpPr>
          <p:cNvPr id="4" name="Content Placeholder 3"/>
          <p:cNvSpPr>
            <a:spLocks noGrp="1"/>
          </p:cNvSpPr>
          <p:nvPr>
            <p:ph sz="quarter" idx="10"/>
          </p:nvPr>
        </p:nvSpPr>
        <p:spPr/>
        <p:txBody>
          <a:bodyPr/>
          <a:lstStyle/>
          <a:p>
            <a:r>
              <a:rPr lang="en-US" dirty="0" smtClean="0"/>
              <a:t>Production Grouping Process</a:t>
            </a:r>
            <a:endParaRPr lang="en-US" dirty="0"/>
          </a:p>
          <a:p>
            <a:endParaRPr lang="en-US" dirty="0" smtClean="0"/>
          </a:p>
          <a:p>
            <a:endParaRPr lang="en-US" dirty="0" smtClean="0"/>
          </a:p>
          <a:p>
            <a:endParaRPr lang="en-US" dirty="0"/>
          </a:p>
          <a:p>
            <a:endParaRPr lang="en-US" dirty="0" smtClean="0"/>
          </a:p>
        </p:txBody>
      </p:sp>
      <p:sp>
        <p:nvSpPr>
          <p:cNvPr id="5" name="Rounded Rectangle 4"/>
          <p:cNvSpPr/>
          <p:nvPr/>
        </p:nvSpPr>
        <p:spPr>
          <a:xfrm>
            <a:off x="450289" y="1593284"/>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BSaM Orders Received</a:t>
            </a:r>
            <a:endParaRPr lang="en-US" sz="1100" dirty="0">
              <a:solidFill>
                <a:prstClr val="black"/>
              </a:solidFill>
              <a:latin typeface="Calibri" pitchFamily="34" charset="0"/>
              <a:cs typeface="Calibri" pitchFamily="34" charset="0"/>
            </a:endParaRPr>
          </a:p>
        </p:txBody>
      </p:sp>
      <p:sp>
        <p:nvSpPr>
          <p:cNvPr id="6" name="Rounded Rectangle 5"/>
          <p:cNvSpPr/>
          <p:nvPr/>
        </p:nvSpPr>
        <p:spPr>
          <a:xfrm>
            <a:off x="1835744" y="1593284"/>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Conduct Production Grouping</a:t>
            </a:r>
            <a:endParaRPr lang="en-US" sz="1100" dirty="0">
              <a:solidFill>
                <a:prstClr val="black"/>
              </a:solidFill>
              <a:latin typeface="Calibri" pitchFamily="34" charset="0"/>
              <a:cs typeface="Calibri" pitchFamily="34" charset="0"/>
            </a:endParaRPr>
          </a:p>
        </p:txBody>
      </p:sp>
      <p:sp>
        <p:nvSpPr>
          <p:cNvPr id="7" name="Rounded Rectangle 6"/>
          <p:cNvSpPr/>
          <p:nvPr/>
        </p:nvSpPr>
        <p:spPr>
          <a:xfrm>
            <a:off x="3235004" y="1593290"/>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Conduct Production based on Order Group ID</a:t>
            </a:r>
            <a:endParaRPr lang="en-US" sz="1100" dirty="0">
              <a:solidFill>
                <a:prstClr val="black"/>
              </a:solidFill>
              <a:latin typeface="Calibri" pitchFamily="34" charset="0"/>
              <a:cs typeface="Calibri" pitchFamily="34" charset="0"/>
            </a:endParaRPr>
          </a:p>
        </p:txBody>
      </p:sp>
      <p:sp>
        <p:nvSpPr>
          <p:cNvPr id="8" name="Rounded Rectangle 7"/>
          <p:cNvSpPr/>
          <p:nvPr/>
        </p:nvSpPr>
        <p:spPr>
          <a:xfrm>
            <a:off x="4620410" y="1593296"/>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Link Production Units to Orders of Order Group</a:t>
            </a:r>
            <a:endParaRPr lang="en-US" sz="1100" dirty="0">
              <a:solidFill>
                <a:prstClr val="black"/>
              </a:solidFill>
              <a:latin typeface="Calibri" pitchFamily="34" charset="0"/>
              <a:cs typeface="Calibri" pitchFamily="34" charset="0"/>
            </a:endParaRPr>
          </a:p>
        </p:txBody>
      </p:sp>
      <p:sp>
        <p:nvSpPr>
          <p:cNvPr id="9" name="Rounded Rectangle 8"/>
          <p:cNvSpPr/>
          <p:nvPr/>
        </p:nvSpPr>
        <p:spPr>
          <a:xfrm>
            <a:off x="6019670" y="1586375"/>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Physically ship BSaM orders</a:t>
            </a:r>
            <a:endParaRPr lang="en-US" sz="1100" dirty="0">
              <a:solidFill>
                <a:prstClr val="black"/>
              </a:solidFill>
              <a:latin typeface="Calibri" pitchFamily="34" charset="0"/>
              <a:cs typeface="Calibri" pitchFamily="34" charset="0"/>
            </a:endParaRPr>
          </a:p>
        </p:txBody>
      </p:sp>
      <p:sp>
        <p:nvSpPr>
          <p:cNvPr id="10" name="Rounded Rectangle 9"/>
          <p:cNvSpPr/>
          <p:nvPr/>
        </p:nvSpPr>
        <p:spPr>
          <a:xfrm>
            <a:off x="7411908" y="1586372"/>
            <a:ext cx="1163782" cy="782781"/>
          </a:xfrm>
          <a:prstGeom prst="roundRect">
            <a:avLst/>
          </a:prstGeom>
          <a:gradFill>
            <a:gsLst>
              <a:gs pos="6000">
                <a:srgbClr val="FFFFFF"/>
              </a:gs>
              <a:gs pos="31000">
                <a:srgbClr val="7D8496"/>
              </a:gs>
              <a:gs pos="81000">
                <a:srgbClr val="E6E6E6"/>
              </a:gs>
              <a:gs pos="100000">
                <a:srgbClr val="E6E6E6"/>
              </a:gs>
            </a:gsLst>
            <a:lin ang="5400000" scaled="0"/>
          </a:gradFill>
          <a:ln>
            <a:noFill/>
          </a:ln>
          <a:effectLst>
            <a:glow rad="63500">
              <a:schemeClr val="accent1">
                <a:satMod val="175000"/>
                <a:alpha val="40000"/>
              </a:scheme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smtClean="0">
                <a:solidFill>
                  <a:prstClr val="black"/>
                </a:solidFill>
                <a:latin typeface="Calibri" pitchFamily="34" charset="0"/>
                <a:cs typeface="Calibri" pitchFamily="34" charset="0"/>
              </a:rPr>
              <a:t>Send EDI856 with Order Group ID</a:t>
            </a:r>
            <a:endParaRPr lang="en-US" sz="1100" dirty="0">
              <a:solidFill>
                <a:prstClr val="black"/>
              </a:solidFill>
              <a:latin typeface="Calibri" pitchFamily="34" charset="0"/>
              <a:cs typeface="Calibri" pitchFamily="34" charset="0"/>
            </a:endParaRPr>
          </a:p>
        </p:txBody>
      </p:sp>
      <p:sp>
        <p:nvSpPr>
          <p:cNvPr id="11" name="Right Arrow 10"/>
          <p:cNvSpPr/>
          <p:nvPr/>
        </p:nvSpPr>
        <p:spPr>
          <a:xfrm>
            <a:off x="1648728" y="1801142"/>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ight Arrow 11"/>
          <p:cNvSpPr/>
          <p:nvPr/>
        </p:nvSpPr>
        <p:spPr>
          <a:xfrm>
            <a:off x="3034150" y="1801148"/>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ight Arrow 12"/>
          <p:cNvSpPr/>
          <p:nvPr/>
        </p:nvSpPr>
        <p:spPr>
          <a:xfrm>
            <a:off x="4433448" y="1801154"/>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ight Arrow 13"/>
          <p:cNvSpPr/>
          <p:nvPr/>
        </p:nvSpPr>
        <p:spPr>
          <a:xfrm>
            <a:off x="5825729" y="1815014"/>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ight Arrow 14"/>
          <p:cNvSpPr/>
          <p:nvPr/>
        </p:nvSpPr>
        <p:spPr>
          <a:xfrm>
            <a:off x="7224987" y="1808093"/>
            <a:ext cx="173167" cy="332509"/>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TextBox 17"/>
          <p:cNvSpPr txBox="1"/>
          <p:nvPr/>
        </p:nvSpPr>
        <p:spPr>
          <a:xfrm>
            <a:off x="1717311" y="2486901"/>
            <a:ext cx="1620957" cy="1962076"/>
          </a:xfrm>
          <a:prstGeom prst="rect">
            <a:avLst/>
          </a:prstGeom>
          <a:noFill/>
        </p:spPr>
        <p:txBody>
          <a:bodyPr wrap="none" rtlCol="0">
            <a:spAutoFit/>
          </a:bodyPr>
          <a:lstStyle/>
          <a:p>
            <a:pPr defTabSz="430213">
              <a:lnSpc>
                <a:spcPct val="90000"/>
              </a:lnSpc>
              <a:buSzPct val="100000"/>
            </a:pPr>
            <a:r>
              <a:rPr lang="en-US" sz="900" dirty="0" smtClean="0">
                <a:solidFill>
                  <a:srgbClr val="000000"/>
                </a:solidFill>
                <a:latin typeface="Calibri" pitchFamily="34" charset="0"/>
                <a:cs typeface="Calibri" pitchFamily="34" charset="0"/>
              </a:rPr>
              <a:t>Group BSaM orders </a:t>
            </a:r>
          </a:p>
          <a:p>
            <a:pPr defTabSz="430213">
              <a:lnSpc>
                <a:spcPct val="90000"/>
              </a:lnSpc>
              <a:buSzPct val="100000"/>
            </a:pPr>
            <a:r>
              <a:rPr lang="en-US" sz="900" dirty="0" smtClean="0">
                <a:solidFill>
                  <a:srgbClr val="000000"/>
                </a:solidFill>
                <a:latin typeface="Calibri" pitchFamily="34" charset="0"/>
                <a:cs typeface="Calibri" pitchFamily="34" charset="0"/>
              </a:rPr>
              <a:t>based on PCC Ship-to </a:t>
            </a:r>
          </a:p>
          <a:p>
            <a:pPr defTabSz="430213">
              <a:lnSpc>
                <a:spcPct val="90000"/>
              </a:lnSpc>
              <a:buSzPct val="100000"/>
            </a:pPr>
            <a:r>
              <a:rPr lang="en-US" sz="900" dirty="0" smtClean="0">
                <a:solidFill>
                  <a:srgbClr val="000000"/>
                </a:solidFill>
                <a:latin typeface="Calibri" pitchFamily="34" charset="0"/>
                <a:cs typeface="Calibri" pitchFamily="34" charset="0"/>
              </a:rPr>
              <a:t>Location, Ship Mode,</a:t>
            </a:r>
          </a:p>
          <a:p>
            <a:pPr defTabSz="430213">
              <a:lnSpc>
                <a:spcPct val="90000"/>
              </a:lnSpc>
              <a:buSzPct val="100000"/>
            </a:pPr>
            <a:r>
              <a:rPr lang="en-US" sz="900" dirty="0" smtClean="0">
                <a:solidFill>
                  <a:srgbClr val="000000"/>
                </a:solidFill>
                <a:latin typeface="Calibri" pitchFamily="34" charset="0"/>
                <a:cs typeface="Calibri" pitchFamily="34" charset="0"/>
              </a:rPr>
              <a:t>“C” SKU PN, and </a:t>
            </a:r>
          </a:p>
          <a:p>
            <a:pPr defTabSz="430213">
              <a:lnSpc>
                <a:spcPct val="90000"/>
              </a:lnSpc>
              <a:buSzPct val="100000"/>
            </a:pPr>
            <a:r>
              <a:rPr lang="en-US" sz="900" dirty="0" smtClean="0">
                <a:solidFill>
                  <a:srgbClr val="000000"/>
                </a:solidFill>
                <a:latin typeface="Calibri" pitchFamily="34" charset="0"/>
                <a:cs typeface="Calibri" pitchFamily="34" charset="0"/>
              </a:rPr>
              <a:t>Production Schedule</a:t>
            </a:r>
          </a:p>
          <a:p>
            <a:pPr defTabSz="430213">
              <a:lnSpc>
                <a:spcPct val="90000"/>
              </a:lnSpc>
              <a:buSzPct val="100000"/>
            </a:pPr>
            <a:endParaRPr lang="en-US" sz="900" dirty="0" smtClean="0">
              <a:latin typeface="Calibri" pitchFamily="34" charset="0"/>
              <a:cs typeface="Calibri" pitchFamily="34" charset="0"/>
            </a:endParaRPr>
          </a:p>
          <a:p>
            <a:pPr defTabSz="430213">
              <a:lnSpc>
                <a:spcPct val="90000"/>
              </a:lnSpc>
              <a:buSzPct val="100000"/>
            </a:pPr>
            <a:r>
              <a:rPr lang="en-US" sz="900" dirty="0" smtClean="0">
                <a:latin typeface="Calibri" pitchFamily="34" charset="0"/>
                <a:cs typeface="Calibri" pitchFamily="34" charset="0"/>
              </a:rPr>
              <a:t>Max unit </a:t>
            </a:r>
            <a:r>
              <a:rPr lang="en-US" sz="900" dirty="0" err="1" smtClean="0">
                <a:latin typeface="Calibri" pitchFamily="34" charset="0"/>
                <a:cs typeface="Calibri" pitchFamily="34" charset="0"/>
              </a:rPr>
              <a:t>qty</a:t>
            </a:r>
            <a:r>
              <a:rPr lang="en-US" sz="900" dirty="0" smtClean="0">
                <a:latin typeface="Calibri" pitchFamily="34" charset="0"/>
                <a:cs typeface="Calibri" pitchFamily="34" charset="0"/>
              </a:rPr>
              <a:t> per grouping</a:t>
            </a:r>
          </a:p>
          <a:p>
            <a:pPr defTabSz="430213">
              <a:lnSpc>
                <a:spcPct val="90000"/>
              </a:lnSpc>
              <a:buSzPct val="100000"/>
            </a:pPr>
            <a:r>
              <a:rPr lang="en-US" sz="900" dirty="0" smtClean="0">
                <a:latin typeface="Calibri" pitchFamily="34" charset="0"/>
                <a:cs typeface="Calibri" pitchFamily="34" charset="0"/>
              </a:rPr>
              <a:t>Will be determined based </a:t>
            </a:r>
          </a:p>
          <a:p>
            <a:pPr defTabSz="430213">
              <a:lnSpc>
                <a:spcPct val="90000"/>
              </a:lnSpc>
              <a:buSzPct val="100000"/>
            </a:pPr>
            <a:r>
              <a:rPr lang="en-US" sz="900" dirty="0" smtClean="0">
                <a:latin typeface="Calibri" pitchFamily="34" charset="0"/>
                <a:cs typeface="Calibri" pitchFamily="34" charset="0"/>
              </a:rPr>
              <a:t>on ODM/HP agreement.  </a:t>
            </a:r>
          </a:p>
          <a:p>
            <a:pPr defTabSz="430213">
              <a:lnSpc>
                <a:spcPct val="90000"/>
              </a:lnSpc>
              <a:buSzPct val="100000"/>
            </a:pPr>
            <a:r>
              <a:rPr lang="en-US" sz="900" dirty="0" smtClean="0">
                <a:latin typeface="Calibri" pitchFamily="34" charset="0"/>
                <a:cs typeface="Calibri" pitchFamily="34" charset="0"/>
              </a:rPr>
              <a:t>Should not exceed Production </a:t>
            </a:r>
          </a:p>
          <a:p>
            <a:pPr defTabSz="430213">
              <a:lnSpc>
                <a:spcPct val="90000"/>
              </a:lnSpc>
              <a:buSzPct val="100000"/>
            </a:pPr>
            <a:r>
              <a:rPr lang="en-US" sz="900" dirty="0" smtClean="0">
                <a:latin typeface="Calibri" pitchFamily="34" charset="0"/>
                <a:cs typeface="Calibri" pitchFamily="34" charset="0"/>
              </a:rPr>
              <a:t>Capacity as well as Max Pallet </a:t>
            </a:r>
          </a:p>
          <a:p>
            <a:pPr defTabSz="430213">
              <a:lnSpc>
                <a:spcPct val="90000"/>
              </a:lnSpc>
              <a:buSzPct val="100000"/>
            </a:pPr>
            <a:r>
              <a:rPr lang="en-US" sz="900" dirty="0" err="1" smtClean="0">
                <a:latin typeface="Calibri" pitchFamily="34" charset="0"/>
                <a:cs typeface="Calibri" pitchFamily="34" charset="0"/>
              </a:rPr>
              <a:t>Qty</a:t>
            </a:r>
            <a:r>
              <a:rPr lang="en-US" sz="900" dirty="0" smtClean="0">
                <a:latin typeface="Calibri" pitchFamily="34" charset="0"/>
                <a:cs typeface="Calibri" pitchFamily="34" charset="0"/>
              </a:rPr>
              <a:t> per Waybill (ACE CT)</a:t>
            </a:r>
            <a:endParaRPr lang="en-US" sz="900" dirty="0">
              <a:latin typeface="Calibri" pitchFamily="34" charset="0"/>
              <a:cs typeface="Calibri" pitchFamily="34" charset="0"/>
            </a:endParaRPr>
          </a:p>
          <a:p>
            <a:pPr defTabSz="430213">
              <a:lnSpc>
                <a:spcPct val="90000"/>
              </a:lnSpc>
              <a:buSzPct val="100000"/>
            </a:pPr>
            <a:endParaRPr lang="en-US" sz="900" dirty="0">
              <a:solidFill>
                <a:srgbClr val="000000"/>
              </a:solidFill>
              <a:latin typeface="Calibri" pitchFamily="34" charset="0"/>
              <a:cs typeface="Calibri" pitchFamily="34" charset="0"/>
            </a:endParaRPr>
          </a:p>
          <a:p>
            <a:pPr defTabSz="430213">
              <a:lnSpc>
                <a:spcPct val="90000"/>
              </a:lnSpc>
              <a:buSzPct val="100000"/>
            </a:pPr>
            <a:r>
              <a:rPr lang="en-US" sz="900" dirty="0" smtClean="0">
                <a:solidFill>
                  <a:srgbClr val="000000"/>
                </a:solidFill>
                <a:latin typeface="Calibri" pitchFamily="34" charset="0"/>
                <a:cs typeface="Calibri" pitchFamily="34" charset="0"/>
              </a:rPr>
              <a:t>Assign Order Group ID to</a:t>
            </a:r>
          </a:p>
          <a:p>
            <a:pPr defTabSz="430213">
              <a:lnSpc>
                <a:spcPct val="90000"/>
              </a:lnSpc>
              <a:buSzPct val="100000"/>
            </a:pPr>
            <a:r>
              <a:rPr lang="en-US" sz="900" dirty="0" smtClean="0">
                <a:solidFill>
                  <a:srgbClr val="000000"/>
                </a:solidFill>
                <a:latin typeface="Calibri" pitchFamily="34" charset="0"/>
                <a:cs typeface="Calibri" pitchFamily="34" charset="0"/>
              </a:rPr>
              <a:t>determined order group.</a:t>
            </a:r>
          </a:p>
        </p:txBody>
      </p:sp>
      <p:sp>
        <p:nvSpPr>
          <p:cNvPr id="19" name="TextBox 18"/>
          <p:cNvSpPr txBox="1"/>
          <p:nvPr/>
        </p:nvSpPr>
        <p:spPr>
          <a:xfrm>
            <a:off x="7328187" y="2493835"/>
            <a:ext cx="1406154" cy="1089529"/>
          </a:xfrm>
          <a:prstGeom prst="rect">
            <a:avLst/>
          </a:prstGeom>
          <a:noFill/>
        </p:spPr>
        <p:txBody>
          <a:bodyPr wrap="none" rtlCol="0">
            <a:spAutoFit/>
          </a:bodyPr>
          <a:lstStyle/>
          <a:p>
            <a:pPr defTabSz="430213">
              <a:lnSpc>
                <a:spcPct val="90000"/>
              </a:lnSpc>
              <a:buSzPct val="100000"/>
            </a:pPr>
            <a:r>
              <a:rPr lang="en-US" sz="900" dirty="0" smtClean="0">
                <a:solidFill>
                  <a:srgbClr val="000000"/>
                </a:solidFill>
                <a:latin typeface="Calibri" pitchFamily="34" charset="0"/>
                <a:cs typeface="Calibri" pitchFamily="34" charset="0"/>
              </a:rPr>
              <a:t>The Order Group ID will</a:t>
            </a:r>
          </a:p>
          <a:p>
            <a:pPr defTabSz="430213">
              <a:lnSpc>
                <a:spcPct val="90000"/>
              </a:lnSpc>
              <a:buSzPct val="100000"/>
            </a:pPr>
            <a:r>
              <a:rPr lang="en-US" sz="900" dirty="0" smtClean="0">
                <a:solidFill>
                  <a:srgbClr val="000000"/>
                </a:solidFill>
                <a:latin typeface="Calibri" pitchFamily="34" charset="0"/>
                <a:cs typeface="Calibri" pitchFamily="34" charset="0"/>
              </a:rPr>
              <a:t>be sent in the EDI856</a:t>
            </a:r>
          </a:p>
          <a:p>
            <a:pPr defTabSz="430213">
              <a:lnSpc>
                <a:spcPct val="90000"/>
              </a:lnSpc>
              <a:buSzPct val="100000"/>
            </a:pPr>
            <a:r>
              <a:rPr lang="en-US" sz="900" dirty="0" smtClean="0">
                <a:solidFill>
                  <a:srgbClr val="000000"/>
                </a:solidFill>
                <a:latin typeface="Calibri" pitchFamily="34" charset="0"/>
                <a:cs typeface="Calibri" pitchFamily="34" charset="0"/>
              </a:rPr>
              <a:t>back to HP.</a:t>
            </a:r>
          </a:p>
          <a:p>
            <a:pPr defTabSz="430213">
              <a:lnSpc>
                <a:spcPct val="90000"/>
              </a:lnSpc>
              <a:buSzPct val="100000"/>
            </a:pPr>
            <a:endParaRPr lang="en-US" sz="900" dirty="0">
              <a:solidFill>
                <a:srgbClr val="000000"/>
              </a:solidFill>
              <a:latin typeface="Calibri" pitchFamily="34" charset="0"/>
              <a:cs typeface="Calibri" pitchFamily="34" charset="0"/>
            </a:endParaRPr>
          </a:p>
          <a:p>
            <a:pPr defTabSz="430213">
              <a:lnSpc>
                <a:spcPct val="90000"/>
              </a:lnSpc>
              <a:buSzPct val="100000"/>
            </a:pPr>
            <a:r>
              <a:rPr lang="en-US" sz="900" dirty="0" smtClean="0">
                <a:solidFill>
                  <a:srgbClr val="000000"/>
                </a:solidFill>
                <a:latin typeface="Calibri" pitchFamily="34" charset="0"/>
                <a:cs typeface="Calibri" pitchFamily="34" charset="0"/>
              </a:rPr>
              <a:t>The Order Group ID is </a:t>
            </a:r>
          </a:p>
          <a:p>
            <a:pPr defTabSz="430213">
              <a:lnSpc>
                <a:spcPct val="90000"/>
              </a:lnSpc>
              <a:buSzPct val="100000"/>
            </a:pPr>
            <a:r>
              <a:rPr lang="en-US" sz="900" dirty="0" smtClean="0">
                <a:solidFill>
                  <a:srgbClr val="000000"/>
                </a:solidFill>
                <a:latin typeface="Calibri" pitchFamily="34" charset="0"/>
                <a:cs typeface="Calibri" pitchFamily="34" charset="0"/>
              </a:rPr>
              <a:t>required by Ryder to be </a:t>
            </a:r>
          </a:p>
          <a:p>
            <a:pPr defTabSz="430213">
              <a:lnSpc>
                <a:spcPct val="90000"/>
              </a:lnSpc>
              <a:buSzPct val="100000"/>
            </a:pPr>
            <a:r>
              <a:rPr lang="en-US" sz="900" dirty="0" smtClean="0">
                <a:solidFill>
                  <a:srgbClr val="000000"/>
                </a:solidFill>
                <a:latin typeface="Calibri" pitchFamily="34" charset="0"/>
                <a:cs typeface="Calibri" pitchFamily="34" charset="0"/>
              </a:rPr>
              <a:t>able to process the orders</a:t>
            </a:r>
          </a:p>
          <a:p>
            <a:pPr defTabSz="430213">
              <a:lnSpc>
                <a:spcPct val="90000"/>
              </a:lnSpc>
              <a:buSzPct val="100000"/>
            </a:pPr>
            <a:r>
              <a:rPr lang="en-US" sz="900" dirty="0" smtClean="0">
                <a:solidFill>
                  <a:srgbClr val="000000"/>
                </a:solidFill>
                <a:latin typeface="Calibri" pitchFamily="34" charset="0"/>
                <a:cs typeface="Calibri" pitchFamily="34" charset="0"/>
              </a:rPr>
              <a:t>correctly.</a:t>
            </a:r>
          </a:p>
        </p:txBody>
      </p:sp>
      <p:sp>
        <p:nvSpPr>
          <p:cNvPr id="20" name="TextBox 19"/>
          <p:cNvSpPr txBox="1"/>
          <p:nvPr/>
        </p:nvSpPr>
        <p:spPr>
          <a:xfrm>
            <a:off x="4558058" y="2486945"/>
            <a:ext cx="1452642" cy="1962076"/>
          </a:xfrm>
          <a:prstGeom prst="rect">
            <a:avLst/>
          </a:prstGeom>
          <a:noFill/>
        </p:spPr>
        <p:txBody>
          <a:bodyPr wrap="none" rtlCol="0">
            <a:spAutoFit/>
          </a:bodyPr>
          <a:lstStyle/>
          <a:p>
            <a:pPr defTabSz="430213">
              <a:lnSpc>
                <a:spcPct val="90000"/>
              </a:lnSpc>
              <a:buSzPct val="100000"/>
            </a:pPr>
            <a:r>
              <a:rPr lang="en-US" sz="900" dirty="0" smtClean="0">
                <a:solidFill>
                  <a:srgbClr val="000000"/>
                </a:solidFill>
                <a:latin typeface="Calibri" pitchFamily="34" charset="0"/>
                <a:cs typeface="Calibri" pitchFamily="34" charset="0"/>
              </a:rPr>
              <a:t>When the physical NBs</a:t>
            </a:r>
          </a:p>
          <a:p>
            <a:pPr defTabSz="430213">
              <a:lnSpc>
                <a:spcPct val="90000"/>
              </a:lnSpc>
              <a:buSzPct val="100000"/>
            </a:pPr>
            <a:r>
              <a:rPr lang="en-US" sz="900" dirty="0" smtClean="0">
                <a:solidFill>
                  <a:srgbClr val="000000"/>
                </a:solidFill>
                <a:latin typeface="Calibri" pitchFamily="34" charset="0"/>
                <a:cs typeface="Calibri" pitchFamily="34" charset="0"/>
              </a:rPr>
              <a:t>in bulk boxes are received</a:t>
            </a:r>
          </a:p>
          <a:p>
            <a:pPr defTabSz="430213">
              <a:lnSpc>
                <a:spcPct val="90000"/>
              </a:lnSpc>
              <a:buSzPct val="100000"/>
            </a:pPr>
            <a:r>
              <a:rPr lang="en-US" sz="900" dirty="0" smtClean="0">
                <a:solidFill>
                  <a:srgbClr val="000000"/>
                </a:solidFill>
                <a:latin typeface="Calibri" pitchFamily="34" charset="0"/>
                <a:cs typeface="Calibri" pitchFamily="34" charset="0"/>
              </a:rPr>
              <a:t>by Outbound Ops, there</a:t>
            </a:r>
          </a:p>
          <a:p>
            <a:pPr defTabSz="430213">
              <a:lnSpc>
                <a:spcPct val="90000"/>
              </a:lnSpc>
              <a:buSzPct val="100000"/>
            </a:pPr>
            <a:r>
              <a:rPr lang="en-US" sz="900" dirty="0" smtClean="0">
                <a:solidFill>
                  <a:srgbClr val="000000"/>
                </a:solidFill>
                <a:latin typeface="Calibri" pitchFamily="34" charset="0"/>
                <a:cs typeface="Calibri" pitchFamily="34" charset="0"/>
              </a:rPr>
              <a:t>will be a need to scan </a:t>
            </a:r>
          </a:p>
          <a:p>
            <a:pPr defTabSz="430213">
              <a:lnSpc>
                <a:spcPct val="90000"/>
              </a:lnSpc>
              <a:buSzPct val="100000"/>
            </a:pPr>
            <a:r>
              <a:rPr lang="en-US" sz="900" dirty="0" smtClean="0">
                <a:solidFill>
                  <a:srgbClr val="000000"/>
                </a:solidFill>
                <a:latin typeface="Calibri" pitchFamily="34" charset="0"/>
                <a:cs typeface="Calibri" pitchFamily="34" charset="0"/>
              </a:rPr>
              <a:t>and systemically link</a:t>
            </a:r>
          </a:p>
          <a:p>
            <a:pPr defTabSz="430213">
              <a:lnSpc>
                <a:spcPct val="90000"/>
              </a:lnSpc>
              <a:buSzPct val="100000"/>
            </a:pPr>
            <a:r>
              <a:rPr lang="en-US" sz="900" dirty="0" smtClean="0">
                <a:solidFill>
                  <a:srgbClr val="000000"/>
                </a:solidFill>
                <a:latin typeface="Calibri" pitchFamily="34" charset="0"/>
                <a:cs typeface="Calibri" pitchFamily="34" charset="0"/>
              </a:rPr>
              <a:t>each NB unit to an order.</a:t>
            </a:r>
          </a:p>
          <a:p>
            <a:pPr defTabSz="430213">
              <a:lnSpc>
                <a:spcPct val="90000"/>
              </a:lnSpc>
              <a:buSzPct val="100000"/>
            </a:pPr>
            <a:endParaRPr lang="en-US" sz="900" dirty="0">
              <a:solidFill>
                <a:srgbClr val="000000"/>
              </a:solidFill>
              <a:latin typeface="Calibri" pitchFamily="34" charset="0"/>
              <a:cs typeface="Calibri" pitchFamily="34" charset="0"/>
            </a:endParaRPr>
          </a:p>
          <a:p>
            <a:pPr defTabSz="430213">
              <a:lnSpc>
                <a:spcPct val="90000"/>
              </a:lnSpc>
              <a:buSzPct val="100000"/>
            </a:pPr>
            <a:r>
              <a:rPr lang="en-US" sz="900" dirty="0" smtClean="0">
                <a:solidFill>
                  <a:srgbClr val="000000"/>
                </a:solidFill>
                <a:latin typeface="Calibri" pitchFamily="34" charset="0"/>
                <a:cs typeface="Calibri" pitchFamily="34" charset="0"/>
              </a:rPr>
              <a:t>The order linkage to unit</a:t>
            </a:r>
          </a:p>
          <a:p>
            <a:pPr defTabSz="430213">
              <a:lnSpc>
                <a:spcPct val="90000"/>
              </a:lnSpc>
              <a:buSzPct val="100000"/>
            </a:pPr>
            <a:r>
              <a:rPr lang="en-US" sz="900" dirty="0" smtClean="0">
                <a:solidFill>
                  <a:srgbClr val="000000"/>
                </a:solidFill>
                <a:latin typeface="Calibri" pitchFamily="34" charset="0"/>
                <a:cs typeface="Calibri" pitchFamily="34" charset="0"/>
              </a:rPr>
              <a:t>should be based on the</a:t>
            </a:r>
          </a:p>
          <a:p>
            <a:pPr defTabSz="430213">
              <a:lnSpc>
                <a:spcPct val="90000"/>
              </a:lnSpc>
              <a:buSzPct val="100000"/>
            </a:pPr>
            <a:r>
              <a:rPr lang="en-US" sz="900" dirty="0" smtClean="0">
                <a:solidFill>
                  <a:srgbClr val="000000"/>
                </a:solidFill>
                <a:latin typeface="Calibri" pitchFamily="34" charset="0"/>
                <a:cs typeface="Calibri" pitchFamily="34" charset="0"/>
              </a:rPr>
              <a:t>Order Group ID.</a:t>
            </a:r>
          </a:p>
          <a:p>
            <a:pPr defTabSz="430213">
              <a:lnSpc>
                <a:spcPct val="90000"/>
              </a:lnSpc>
              <a:buSzPct val="100000"/>
            </a:pPr>
            <a:endParaRPr lang="en-US" sz="900" dirty="0">
              <a:solidFill>
                <a:srgbClr val="000000"/>
              </a:solidFill>
              <a:latin typeface="Calibri" pitchFamily="34" charset="0"/>
              <a:cs typeface="Calibri" pitchFamily="34" charset="0"/>
            </a:endParaRPr>
          </a:p>
          <a:p>
            <a:pPr defTabSz="430213">
              <a:lnSpc>
                <a:spcPct val="90000"/>
              </a:lnSpc>
              <a:buSzPct val="100000"/>
            </a:pPr>
            <a:r>
              <a:rPr lang="en-US" sz="900" dirty="0" smtClean="0">
                <a:solidFill>
                  <a:srgbClr val="000000"/>
                </a:solidFill>
                <a:latin typeface="Calibri" pitchFamily="34" charset="0"/>
                <a:cs typeface="Calibri" pitchFamily="34" charset="0"/>
              </a:rPr>
              <a:t>There will be cases where</a:t>
            </a:r>
          </a:p>
          <a:p>
            <a:pPr defTabSz="430213">
              <a:lnSpc>
                <a:spcPct val="90000"/>
              </a:lnSpc>
              <a:buSzPct val="100000"/>
            </a:pPr>
            <a:r>
              <a:rPr lang="en-US" sz="900" dirty="0" smtClean="0">
                <a:solidFill>
                  <a:srgbClr val="000000"/>
                </a:solidFill>
                <a:latin typeface="Calibri" pitchFamily="34" charset="0"/>
                <a:cs typeface="Calibri" pitchFamily="34" charset="0"/>
              </a:rPr>
              <a:t>There are 2 or more orders</a:t>
            </a:r>
          </a:p>
          <a:p>
            <a:pPr defTabSz="430213">
              <a:lnSpc>
                <a:spcPct val="90000"/>
              </a:lnSpc>
              <a:buSzPct val="100000"/>
            </a:pPr>
            <a:r>
              <a:rPr lang="en-US" sz="900" dirty="0" smtClean="0">
                <a:solidFill>
                  <a:srgbClr val="000000"/>
                </a:solidFill>
                <a:latin typeface="Calibri" pitchFamily="34" charset="0"/>
                <a:cs typeface="Calibri" pitchFamily="34" charset="0"/>
              </a:rPr>
              <a:t>within one bulk box.</a:t>
            </a:r>
          </a:p>
          <a:p>
            <a:pPr defTabSz="430213">
              <a:lnSpc>
                <a:spcPct val="90000"/>
              </a:lnSpc>
              <a:buSzPct val="100000"/>
            </a:pPr>
            <a:endParaRPr lang="en-US" sz="900" dirty="0" smtClean="0">
              <a:solidFill>
                <a:srgbClr val="000000"/>
              </a:solidFill>
              <a:latin typeface="Calibri" pitchFamily="34" charset="0"/>
              <a:cs typeface="Calibri" pitchFamily="34" charset="0"/>
            </a:endParaRPr>
          </a:p>
        </p:txBody>
      </p:sp>
      <p:sp>
        <p:nvSpPr>
          <p:cNvPr id="21" name="Rounded Rectangle 20"/>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78</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68124603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able 19"/>
          <p:cNvGraphicFramePr>
            <a:graphicFrameLocks noGrp="1"/>
          </p:cNvGraphicFramePr>
          <p:nvPr>
            <p:extLst>
              <p:ext uri="{D42A27DB-BD31-4B8C-83A1-F6EECF244321}">
                <p14:modId xmlns:p14="http://schemas.microsoft.com/office/powerpoint/2010/main" xmlns="" val="1913083398"/>
              </p:ext>
            </p:extLst>
          </p:nvPr>
        </p:nvGraphicFramePr>
        <p:xfrm>
          <a:off x="373380" y="1105989"/>
          <a:ext cx="8382000" cy="3787141"/>
        </p:xfrm>
        <a:graphic>
          <a:graphicData uri="http://schemas.openxmlformats.org/drawingml/2006/table">
            <a:tbl>
              <a:tblPr firstRow="1" bandRow="1">
                <a:tableStyleId>{073A0DAA-6AF3-43AB-8588-CEC1D06C72B9}</a:tableStyleId>
              </a:tblPr>
              <a:tblGrid>
                <a:gridCol w="4191000"/>
                <a:gridCol w="4191000"/>
              </a:tblGrid>
              <a:tr h="315741">
                <a:tc>
                  <a:txBody>
                    <a:bodyPr/>
                    <a:lstStyle/>
                    <a:p>
                      <a:pPr algn="ctr"/>
                      <a:r>
                        <a:rPr lang="en-US" sz="900" dirty="0" smtClean="0"/>
                        <a:t>Data Preparation Process</a:t>
                      </a:r>
                      <a:endParaRPr lang="en-US" sz="900" dirty="0"/>
                    </a:p>
                  </a:txBody>
                  <a:tcPr/>
                </a:tc>
                <a:tc>
                  <a:txBody>
                    <a:bodyPr/>
                    <a:lstStyle/>
                    <a:p>
                      <a:pPr algn="ctr"/>
                      <a:r>
                        <a:rPr lang="en-US" sz="900" dirty="0" smtClean="0"/>
                        <a:t>Grouping Process</a:t>
                      </a:r>
                      <a:endParaRPr lang="en-US" sz="900" dirty="0"/>
                    </a:p>
                  </a:txBody>
                  <a:tcPr/>
                </a:tc>
              </a:tr>
              <a:tr h="3471400">
                <a:tc>
                  <a:txBody>
                    <a:bodyPr/>
                    <a:lstStyle/>
                    <a:p>
                      <a:endParaRPr lang="en-US" sz="900" dirty="0"/>
                    </a:p>
                  </a:txBody>
                  <a:tcPr/>
                </a:tc>
                <a:tc>
                  <a:txBody>
                    <a:bodyPr/>
                    <a:lstStyle/>
                    <a:p>
                      <a:endParaRPr lang="en-US" sz="900" dirty="0"/>
                    </a:p>
                  </a:txBody>
                  <a:tcPr/>
                </a:tc>
              </a:tr>
            </a:tbl>
          </a:graphicData>
        </a:graphic>
      </p:graphicFrame>
      <p:sp>
        <p:nvSpPr>
          <p:cNvPr id="2" name="Subtitle 1"/>
          <p:cNvSpPr>
            <a:spLocks noGrp="1"/>
          </p:cNvSpPr>
          <p:nvPr>
            <p:ph type="subTitle" idx="1"/>
          </p:nvPr>
        </p:nvSpPr>
        <p:spPr/>
        <p:txBody>
          <a:bodyPr/>
          <a:lstStyle/>
          <a:p>
            <a:r>
              <a:rPr lang="en-US" dirty="0" smtClean="0"/>
              <a:t>Order Processing Process Flow</a:t>
            </a:r>
            <a:endParaRPr lang="en-US" dirty="0"/>
          </a:p>
        </p:txBody>
      </p:sp>
      <p:sp>
        <p:nvSpPr>
          <p:cNvPr id="3" name="Title 2"/>
          <p:cNvSpPr>
            <a:spLocks noGrp="1"/>
          </p:cNvSpPr>
          <p:nvPr>
            <p:ph type="title"/>
          </p:nvPr>
        </p:nvSpPr>
        <p:spPr/>
        <p:txBody>
          <a:bodyPr/>
          <a:lstStyle/>
          <a:p>
            <a:r>
              <a:rPr lang="en-US" dirty="0" smtClean="0"/>
              <a:t>Production Grouping</a:t>
            </a:r>
            <a:endParaRPr lang="en-US" dirty="0"/>
          </a:p>
        </p:txBody>
      </p:sp>
      <p:sp>
        <p:nvSpPr>
          <p:cNvPr id="6" name="Flowchart: Direct Access Storage 5"/>
          <p:cNvSpPr/>
          <p:nvPr/>
        </p:nvSpPr>
        <p:spPr>
          <a:xfrm>
            <a:off x="1264287" y="1602389"/>
            <a:ext cx="708025" cy="400050"/>
          </a:xfrm>
          <a:prstGeom prst="flowChartMagneticDrum">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Open Orders</a:t>
            </a:r>
            <a:endParaRPr lang="en-US" sz="700" dirty="0">
              <a:solidFill>
                <a:schemeClr val="tx1"/>
              </a:solidFill>
              <a:latin typeface="Arial" pitchFamily="34" charset="0"/>
              <a:cs typeface="Arial" pitchFamily="34" charset="0"/>
            </a:endParaRPr>
          </a:p>
        </p:txBody>
      </p:sp>
      <p:sp>
        <p:nvSpPr>
          <p:cNvPr id="9" name="Flowchart: Terminator 8"/>
          <p:cNvSpPr/>
          <p:nvPr/>
        </p:nvSpPr>
        <p:spPr>
          <a:xfrm>
            <a:off x="566420" y="1701450"/>
            <a:ext cx="469900" cy="203200"/>
          </a:xfrm>
          <a:prstGeom prst="flowChartTerminator">
            <a:avLst/>
          </a:prstGeom>
          <a:solidFill>
            <a:schemeClr val="bg1">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START</a:t>
            </a:r>
            <a:endParaRPr lang="en-US" sz="700" dirty="0">
              <a:solidFill>
                <a:schemeClr val="tx1"/>
              </a:solidFill>
              <a:latin typeface="Arial" pitchFamily="34" charset="0"/>
              <a:cs typeface="Arial" pitchFamily="34" charset="0"/>
            </a:endParaRPr>
          </a:p>
        </p:txBody>
      </p:sp>
      <p:sp>
        <p:nvSpPr>
          <p:cNvPr id="10" name="Rectangle 9"/>
          <p:cNvSpPr/>
          <p:nvPr/>
        </p:nvSpPr>
        <p:spPr>
          <a:xfrm>
            <a:off x="1215072" y="2221515"/>
            <a:ext cx="806450" cy="425450"/>
          </a:xfrm>
          <a:prstGeom prst="rect">
            <a:avLst/>
          </a:prstGeom>
          <a:gradFill>
            <a:gsLst>
              <a:gs pos="0">
                <a:srgbClr val="8488C4"/>
              </a:gs>
              <a:gs pos="53000">
                <a:srgbClr val="D4DEFF"/>
              </a:gs>
              <a:gs pos="83000">
                <a:srgbClr val="D4DEFF"/>
              </a:gs>
              <a:gs pos="100000">
                <a:srgbClr val="96AB94"/>
              </a:gs>
            </a:gsLst>
            <a:lin ang="54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Determine Build Commit Date for Order</a:t>
            </a:r>
            <a:endParaRPr lang="en-US" sz="700" dirty="0">
              <a:solidFill>
                <a:schemeClr val="tx1"/>
              </a:solidFill>
              <a:latin typeface="Arial" pitchFamily="34" charset="0"/>
              <a:cs typeface="Arial" pitchFamily="34" charset="0"/>
            </a:endParaRPr>
          </a:p>
        </p:txBody>
      </p:sp>
      <p:sp>
        <p:nvSpPr>
          <p:cNvPr id="11" name="Rectangle 10"/>
          <p:cNvSpPr/>
          <p:nvPr/>
        </p:nvSpPr>
        <p:spPr>
          <a:xfrm>
            <a:off x="1213802" y="2786665"/>
            <a:ext cx="806450" cy="425450"/>
          </a:xfrm>
          <a:prstGeom prst="rect">
            <a:avLst/>
          </a:prstGeom>
          <a:gradFill>
            <a:gsLst>
              <a:gs pos="0">
                <a:srgbClr val="8488C4"/>
              </a:gs>
              <a:gs pos="53000">
                <a:srgbClr val="D4DEFF"/>
              </a:gs>
              <a:gs pos="83000">
                <a:srgbClr val="D4DEFF"/>
              </a:gs>
              <a:gs pos="100000">
                <a:srgbClr val="96AB94"/>
              </a:gs>
            </a:gsLst>
            <a:lin ang="54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Identify Orders that Require Production Grouping</a:t>
            </a:r>
            <a:endParaRPr lang="en-US" sz="700" dirty="0">
              <a:solidFill>
                <a:schemeClr val="tx1"/>
              </a:solidFill>
              <a:latin typeface="Arial" pitchFamily="34" charset="0"/>
              <a:cs typeface="Arial" pitchFamily="34" charset="0"/>
            </a:endParaRPr>
          </a:p>
        </p:txBody>
      </p:sp>
      <p:sp>
        <p:nvSpPr>
          <p:cNvPr id="12" name="Rectangle 11"/>
          <p:cNvSpPr/>
          <p:nvPr/>
        </p:nvSpPr>
        <p:spPr>
          <a:xfrm>
            <a:off x="5440362" y="2122183"/>
            <a:ext cx="806450" cy="425450"/>
          </a:xfrm>
          <a:prstGeom prst="rect">
            <a:avLst/>
          </a:prstGeom>
          <a:gradFill>
            <a:gsLst>
              <a:gs pos="0">
                <a:srgbClr val="8488C4"/>
              </a:gs>
              <a:gs pos="53000">
                <a:srgbClr val="D4DEFF"/>
              </a:gs>
              <a:gs pos="83000">
                <a:srgbClr val="D4DEFF"/>
              </a:gs>
              <a:gs pos="100000">
                <a:srgbClr val="96AB94"/>
              </a:gs>
            </a:gsLst>
            <a:lin ang="54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Conduct Order Sortation</a:t>
            </a:r>
            <a:endParaRPr lang="en-US" sz="700" dirty="0">
              <a:solidFill>
                <a:schemeClr val="tx1"/>
              </a:solidFill>
              <a:latin typeface="Arial" pitchFamily="34" charset="0"/>
              <a:cs typeface="Arial" pitchFamily="34" charset="0"/>
            </a:endParaRPr>
          </a:p>
        </p:txBody>
      </p:sp>
      <p:sp>
        <p:nvSpPr>
          <p:cNvPr id="13" name="Rectangle 12"/>
          <p:cNvSpPr/>
          <p:nvPr/>
        </p:nvSpPr>
        <p:spPr>
          <a:xfrm>
            <a:off x="5440362" y="2674633"/>
            <a:ext cx="806450" cy="425450"/>
          </a:xfrm>
          <a:prstGeom prst="rect">
            <a:avLst/>
          </a:prstGeom>
          <a:gradFill>
            <a:gsLst>
              <a:gs pos="0">
                <a:srgbClr val="8488C4"/>
              </a:gs>
              <a:gs pos="53000">
                <a:srgbClr val="D4DEFF"/>
              </a:gs>
              <a:gs pos="83000">
                <a:srgbClr val="D4DEFF"/>
              </a:gs>
              <a:gs pos="100000">
                <a:srgbClr val="96AB94"/>
              </a:gs>
            </a:gsLst>
            <a:lin ang="54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Conduct Order Consolidation</a:t>
            </a:r>
            <a:endParaRPr lang="en-US" sz="700" dirty="0">
              <a:solidFill>
                <a:schemeClr val="tx1"/>
              </a:solidFill>
              <a:latin typeface="Arial" pitchFamily="34" charset="0"/>
              <a:cs typeface="Arial" pitchFamily="34" charset="0"/>
            </a:endParaRPr>
          </a:p>
        </p:txBody>
      </p:sp>
      <p:sp>
        <p:nvSpPr>
          <p:cNvPr id="14" name="Rectangle 13"/>
          <p:cNvSpPr/>
          <p:nvPr/>
        </p:nvSpPr>
        <p:spPr>
          <a:xfrm>
            <a:off x="5440362" y="3239782"/>
            <a:ext cx="806450" cy="425450"/>
          </a:xfrm>
          <a:prstGeom prst="rect">
            <a:avLst/>
          </a:prstGeom>
          <a:gradFill>
            <a:gsLst>
              <a:gs pos="0">
                <a:srgbClr val="8488C4"/>
              </a:gs>
              <a:gs pos="53000">
                <a:srgbClr val="D4DEFF"/>
              </a:gs>
              <a:gs pos="83000">
                <a:srgbClr val="D4DEFF"/>
              </a:gs>
              <a:gs pos="100000">
                <a:srgbClr val="96AB94"/>
              </a:gs>
            </a:gsLst>
            <a:lin ang="54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Assign ID to each Order Group</a:t>
            </a:r>
            <a:endParaRPr lang="en-US" sz="700" dirty="0">
              <a:solidFill>
                <a:schemeClr val="tx1"/>
              </a:solidFill>
              <a:latin typeface="Arial" pitchFamily="34" charset="0"/>
              <a:cs typeface="Arial" pitchFamily="34" charset="0"/>
            </a:endParaRPr>
          </a:p>
        </p:txBody>
      </p:sp>
      <p:sp>
        <p:nvSpPr>
          <p:cNvPr id="15" name="Rectangle 14"/>
          <p:cNvSpPr/>
          <p:nvPr/>
        </p:nvSpPr>
        <p:spPr>
          <a:xfrm>
            <a:off x="5440362" y="3804933"/>
            <a:ext cx="806450" cy="425450"/>
          </a:xfrm>
          <a:prstGeom prst="rect">
            <a:avLst/>
          </a:prstGeom>
          <a:gradFill>
            <a:gsLst>
              <a:gs pos="0">
                <a:srgbClr val="8488C4"/>
              </a:gs>
              <a:gs pos="53000">
                <a:srgbClr val="D4DEFF"/>
              </a:gs>
              <a:gs pos="83000">
                <a:srgbClr val="D4DEFF"/>
              </a:gs>
              <a:gs pos="100000">
                <a:srgbClr val="96AB94"/>
              </a:gs>
            </a:gsLst>
            <a:lin ang="54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Communicate </a:t>
            </a:r>
          </a:p>
          <a:p>
            <a:pPr algn="ctr"/>
            <a:r>
              <a:rPr lang="en-US" sz="700" dirty="0" smtClean="0">
                <a:solidFill>
                  <a:schemeClr val="tx1"/>
                </a:solidFill>
                <a:latin typeface="Arial" pitchFamily="34" charset="0"/>
                <a:cs typeface="Arial" pitchFamily="34" charset="0"/>
              </a:rPr>
              <a:t>Order Group to Production</a:t>
            </a:r>
            <a:endParaRPr lang="en-US" sz="700" dirty="0">
              <a:solidFill>
                <a:schemeClr val="tx1"/>
              </a:solidFill>
              <a:latin typeface="Arial" pitchFamily="34" charset="0"/>
              <a:cs typeface="Arial" pitchFamily="34" charset="0"/>
            </a:endParaRPr>
          </a:p>
        </p:txBody>
      </p:sp>
      <p:sp>
        <p:nvSpPr>
          <p:cNvPr id="16" name="Rectangle 15"/>
          <p:cNvSpPr/>
          <p:nvPr/>
        </p:nvSpPr>
        <p:spPr>
          <a:xfrm>
            <a:off x="5440362" y="4389133"/>
            <a:ext cx="806450" cy="425450"/>
          </a:xfrm>
          <a:prstGeom prst="rect">
            <a:avLst/>
          </a:prstGeom>
          <a:gradFill>
            <a:gsLst>
              <a:gs pos="0">
                <a:srgbClr val="8488C4"/>
              </a:gs>
              <a:gs pos="53000">
                <a:srgbClr val="D4DEFF"/>
              </a:gs>
              <a:gs pos="83000">
                <a:srgbClr val="D4DEFF"/>
              </a:gs>
              <a:gs pos="100000">
                <a:srgbClr val="96AB94"/>
              </a:gs>
            </a:gsLst>
            <a:lin ang="5400000" scaled="0"/>
          </a:gra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Data feed to HVLS</a:t>
            </a:r>
          </a:p>
          <a:p>
            <a:pPr algn="ctr"/>
            <a:r>
              <a:rPr lang="en-US" sz="700" dirty="0" smtClean="0">
                <a:solidFill>
                  <a:schemeClr val="tx1"/>
                </a:solidFill>
                <a:latin typeface="Arial" pitchFamily="34" charset="0"/>
                <a:cs typeface="Arial" pitchFamily="34" charset="0"/>
              </a:rPr>
              <a:t>Process Orders</a:t>
            </a:r>
            <a:endParaRPr lang="en-US" sz="700" dirty="0">
              <a:solidFill>
                <a:schemeClr val="tx1"/>
              </a:solidFill>
              <a:latin typeface="Arial" pitchFamily="34" charset="0"/>
              <a:cs typeface="Arial" pitchFamily="34" charset="0"/>
            </a:endParaRPr>
          </a:p>
        </p:txBody>
      </p:sp>
      <p:sp>
        <p:nvSpPr>
          <p:cNvPr id="18" name="Flowchart: Decision 17"/>
          <p:cNvSpPr/>
          <p:nvPr/>
        </p:nvSpPr>
        <p:spPr>
          <a:xfrm>
            <a:off x="1160462" y="3336574"/>
            <a:ext cx="912178" cy="509270"/>
          </a:xfrm>
          <a:prstGeom prst="flowChartDecision">
            <a:avLst/>
          </a:prstGeom>
          <a:solidFill>
            <a:schemeClr val="bg1">
              <a:lumMod val="7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Production Grouping? </a:t>
            </a:r>
            <a:endParaRPr lang="en-US" sz="700" dirty="0">
              <a:solidFill>
                <a:schemeClr val="tx1"/>
              </a:solidFill>
              <a:latin typeface="Arial" pitchFamily="34" charset="0"/>
              <a:cs typeface="Arial" pitchFamily="34" charset="0"/>
            </a:endParaRPr>
          </a:p>
        </p:txBody>
      </p:sp>
      <p:cxnSp>
        <p:nvCxnSpPr>
          <p:cNvPr id="22" name="Elbow Connector 21"/>
          <p:cNvCxnSpPr>
            <a:stCxn id="9" idx="3"/>
            <a:endCxn id="6" idx="1"/>
          </p:cNvCxnSpPr>
          <p:nvPr/>
        </p:nvCxnSpPr>
        <p:spPr>
          <a:xfrm flipV="1">
            <a:off x="1036322" y="1802415"/>
            <a:ext cx="227965" cy="635"/>
          </a:xfrm>
          <a:prstGeom prst="bentConnector3">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8" name="Elbow Connector 27"/>
          <p:cNvCxnSpPr>
            <a:stCxn id="10" idx="2"/>
            <a:endCxn id="11" idx="0"/>
          </p:cNvCxnSpPr>
          <p:nvPr/>
        </p:nvCxnSpPr>
        <p:spPr>
          <a:xfrm rot="5400000">
            <a:off x="1547812" y="2716179"/>
            <a:ext cx="139700" cy="1270"/>
          </a:xfrm>
          <a:prstGeom prst="bentConnector3">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0" name="Elbow Connector 29"/>
          <p:cNvCxnSpPr>
            <a:stCxn id="11" idx="2"/>
            <a:endCxn id="18" idx="0"/>
          </p:cNvCxnSpPr>
          <p:nvPr/>
        </p:nvCxnSpPr>
        <p:spPr>
          <a:xfrm rot="5400000">
            <a:off x="1554560" y="3274106"/>
            <a:ext cx="124460" cy="476"/>
          </a:xfrm>
          <a:prstGeom prst="bentConnector3">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35" name="Elbow Connector 34"/>
          <p:cNvCxnSpPr>
            <a:stCxn id="18" idx="3"/>
            <a:endCxn id="98" idx="1"/>
          </p:cNvCxnSpPr>
          <p:nvPr/>
        </p:nvCxnSpPr>
        <p:spPr>
          <a:xfrm flipV="1">
            <a:off x="2072640" y="1747805"/>
            <a:ext cx="3311048" cy="1843405"/>
          </a:xfrm>
          <a:prstGeom prst="bentConnector3">
            <a:avLst>
              <a:gd name="adj1" fmla="val 50000"/>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a:stCxn id="12" idx="2"/>
            <a:endCxn id="13" idx="0"/>
          </p:cNvCxnSpPr>
          <p:nvPr/>
        </p:nvCxnSpPr>
        <p:spPr>
          <a:xfrm>
            <a:off x="5843587" y="2547633"/>
            <a:ext cx="0" cy="127000"/>
          </a:xfrm>
          <a:prstGeom prst="straightConnector1">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a:stCxn id="13" idx="2"/>
            <a:endCxn id="14" idx="0"/>
          </p:cNvCxnSpPr>
          <p:nvPr/>
        </p:nvCxnSpPr>
        <p:spPr>
          <a:xfrm>
            <a:off x="5843587" y="3100083"/>
            <a:ext cx="0" cy="139700"/>
          </a:xfrm>
          <a:prstGeom prst="straightConnector1">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a:stCxn id="14" idx="2"/>
            <a:endCxn id="15" idx="0"/>
          </p:cNvCxnSpPr>
          <p:nvPr/>
        </p:nvCxnSpPr>
        <p:spPr>
          <a:xfrm>
            <a:off x="5843587" y="3665233"/>
            <a:ext cx="0" cy="139700"/>
          </a:xfrm>
          <a:prstGeom prst="straightConnector1">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p:cNvCxnSpPr>
            <a:stCxn id="15" idx="2"/>
            <a:endCxn id="16" idx="0"/>
          </p:cNvCxnSpPr>
          <p:nvPr/>
        </p:nvCxnSpPr>
        <p:spPr>
          <a:xfrm>
            <a:off x="5843587" y="4230382"/>
            <a:ext cx="0" cy="158750"/>
          </a:xfrm>
          <a:prstGeom prst="straightConnector1">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a:stCxn id="6" idx="2"/>
            <a:endCxn id="10" idx="0"/>
          </p:cNvCxnSpPr>
          <p:nvPr/>
        </p:nvCxnSpPr>
        <p:spPr>
          <a:xfrm flipH="1">
            <a:off x="1618299" y="2002439"/>
            <a:ext cx="1" cy="219075"/>
          </a:xfrm>
          <a:prstGeom prst="straightConnector1">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2" name="Flowchart: Terminator 71"/>
          <p:cNvSpPr/>
          <p:nvPr/>
        </p:nvSpPr>
        <p:spPr>
          <a:xfrm>
            <a:off x="6689634" y="4499441"/>
            <a:ext cx="469900" cy="203200"/>
          </a:xfrm>
          <a:prstGeom prst="flowChartTerminator">
            <a:avLst/>
          </a:prstGeom>
          <a:solidFill>
            <a:schemeClr val="bg1">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700" dirty="0" smtClean="0">
                <a:solidFill>
                  <a:schemeClr val="tx1"/>
                </a:solidFill>
                <a:latin typeface="Arial" pitchFamily="34" charset="0"/>
                <a:cs typeface="Arial" pitchFamily="34" charset="0"/>
              </a:rPr>
              <a:t>END</a:t>
            </a:r>
            <a:endParaRPr lang="en-US" sz="700" dirty="0">
              <a:solidFill>
                <a:schemeClr val="tx1"/>
              </a:solidFill>
              <a:latin typeface="Arial" pitchFamily="34" charset="0"/>
              <a:cs typeface="Arial" pitchFamily="34" charset="0"/>
            </a:endParaRPr>
          </a:p>
        </p:txBody>
      </p:sp>
      <p:cxnSp>
        <p:nvCxnSpPr>
          <p:cNvPr id="73" name="Straight Arrow Connector 72"/>
          <p:cNvCxnSpPr>
            <a:endCxn id="72" idx="1"/>
          </p:cNvCxnSpPr>
          <p:nvPr/>
        </p:nvCxnSpPr>
        <p:spPr>
          <a:xfrm>
            <a:off x="6254797" y="4601040"/>
            <a:ext cx="434839" cy="0"/>
          </a:xfrm>
          <a:prstGeom prst="straightConnector1">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77" name="Flowchart: Stored Data 76"/>
          <p:cNvSpPr/>
          <p:nvPr/>
        </p:nvSpPr>
        <p:spPr>
          <a:xfrm>
            <a:off x="2237673" y="2814331"/>
            <a:ext cx="848429" cy="377915"/>
          </a:xfrm>
          <a:prstGeom prst="flowChartOnlineStorage">
            <a:avLst/>
          </a:prstGeom>
          <a:solidFill>
            <a:schemeClr val="bg1">
              <a:lumMod val="9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n-US" sz="600" dirty="0" smtClean="0">
                <a:solidFill>
                  <a:schemeClr val="tx1"/>
                </a:solidFill>
                <a:latin typeface="Arial" pitchFamily="34" charset="0"/>
                <a:cs typeface="Arial" pitchFamily="34" charset="0"/>
              </a:rPr>
              <a:t>PROD_ID</a:t>
            </a:r>
          </a:p>
          <a:p>
            <a:pPr algn="ctr"/>
            <a:r>
              <a:rPr lang="en-US" sz="600" dirty="0" smtClean="0">
                <a:solidFill>
                  <a:schemeClr val="tx1"/>
                </a:solidFill>
                <a:latin typeface="Arial" pitchFamily="34" charset="0"/>
                <a:cs typeface="Arial" pitchFamily="34" charset="0"/>
              </a:rPr>
              <a:t>Condition Table</a:t>
            </a:r>
            <a:endParaRPr lang="en-US" sz="600" dirty="0">
              <a:solidFill>
                <a:schemeClr val="tx1"/>
              </a:solidFill>
              <a:latin typeface="Arial" pitchFamily="34" charset="0"/>
              <a:cs typeface="Arial" pitchFamily="34" charset="0"/>
            </a:endParaRPr>
          </a:p>
        </p:txBody>
      </p:sp>
      <p:sp>
        <p:nvSpPr>
          <p:cNvPr id="81" name="Left Arrow 80"/>
          <p:cNvSpPr/>
          <p:nvPr/>
        </p:nvSpPr>
        <p:spPr>
          <a:xfrm>
            <a:off x="2043788" y="2957596"/>
            <a:ext cx="166000" cy="134353"/>
          </a:xfrm>
          <a:prstGeom prst="leftArrow">
            <a:avLst/>
          </a:prstGeom>
          <a:noFill/>
          <a:ln cmpd="thickThi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 name="TextBox 85"/>
          <p:cNvSpPr txBox="1"/>
          <p:nvPr/>
        </p:nvSpPr>
        <p:spPr>
          <a:xfrm>
            <a:off x="2042056" y="1692240"/>
            <a:ext cx="1534394" cy="208262"/>
          </a:xfrm>
          <a:prstGeom prst="rect">
            <a:avLst/>
          </a:prstGeom>
          <a:noFill/>
        </p:spPr>
        <p:txBody>
          <a:bodyPr wrap="none" tIns="0" bIns="0" rtlCol="0">
            <a:spAutoFit/>
          </a:bodyPr>
          <a:lstStyle/>
          <a:p>
            <a:pPr marL="0" defTabSz="430213">
              <a:lnSpc>
                <a:spcPct val="85000"/>
              </a:lnSpc>
              <a:spcAft>
                <a:spcPts val="400"/>
              </a:spcAft>
              <a:buSzPct val="100000"/>
            </a:pPr>
            <a:r>
              <a:rPr lang="en-US" sz="600" dirty="0" smtClean="0">
                <a:solidFill>
                  <a:srgbClr val="0000FF"/>
                </a:solidFill>
                <a:latin typeface="Arial" pitchFamily="34" charset="0"/>
                <a:cs typeface="Arial" pitchFamily="34" charset="0"/>
              </a:rPr>
              <a:t>ACE ID Assignment will need to be </a:t>
            </a:r>
          </a:p>
          <a:p>
            <a:pPr marL="0" defTabSz="430213">
              <a:lnSpc>
                <a:spcPct val="85000"/>
              </a:lnSpc>
              <a:spcAft>
                <a:spcPts val="400"/>
              </a:spcAft>
              <a:buSzPct val="100000"/>
            </a:pPr>
            <a:r>
              <a:rPr lang="en-US" sz="600" dirty="0" smtClean="0">
                <a:solidFill>
                  <a:srgbClr val="0000FF"/>
                </a:solidFill>
                <a:latin typeface="Arial" pitchFamily="34" charset="0"/>
                <a:cs typeface="Arial" pitchFamily="34" charset="0"/>
              </a:rPr>
              <a:t>conducted prior to Production Grouping</a:t>
            </a:r>
          </a:p>
        </p:txBody>
      </p:sp>
      <p:sp>
        <p:nvSpPr>
          <p:cNvPr id="96" name="TextBox 95"/>
          <p:cNvSpPr txBox="1"/>
          <p:nvPr/>
        </p:nvSpPr>
        <p:spPr>
          <a:xfrm>
            <a:off x="2085230" y="3396962"/>
            <a:ext cx="338554" cy="200055"/>
          </a:xfrm>
          <a:prstGeom prst="rect">
            <a:avLst/>
          </a:prstGeom>
          <a:noFill/>
        </p:spPr>
        <p:txBody>
          <a:bodyPr wrap="none" rtlCol="0">
            <a:spAutoFit/>
          </a:bodyPr>
          <a:lstStyle/>
          <a:p>
            <a:pPr marL="0" defTabSz="430213">
              <a:spcAft>
                <a:spcPts val="400"/>
              </a:spcAft>
              <a:buSzPct val="100000"/>
            </a:pPr>
            <a:r>
              <a:rPr lang="en-US" sz="700" dirty="0" smtClean="0">
                <a:solidFill>
                  <a:srgbClr val="000000"/>
                </a:solidFill>
                <a:latin typeface="Arial" pitchFamily="34" charset="0"/>
                <a:cs typeface="Arial" pitchFamily="34" charset="0"/>
              </a:rPr>
              <a:t>Yes</a:t>
            </a:r>
          </a:p>
        </p:txBody>
      </p:sp>
      <p:sp>
        <p:nvSpPr>
          <p:cNvPr id="97" name="TextBox 96"/>
          <p:cNvSpPr txBox="1"/>
          <p:nvPr/>
        </p:nvSpPr>
        <p:spPr>
          <a:xfrm>
            <a:off x="1655762" y="3764099"/>
            <a:ext cx="298480" cy="200055"/>
          </a:xfrm>
          <a:prstGeom prst="rect">
            <a:avLst/>
          </a:prstGeom>
          <a:noFill/>
        </p:spPr>
        <p:txBody>
          <a:bodyPr wrap="none" rtlCol="0">
            <a:spAutoFit/>
          </a:bodyPr>
          <a:lstStyle/>
          <a:p>
            <a:pPr marL="0" defTabSz="430213">
              <a:spcAft>
                <a:spcPts val="400"/>
              </a:spcAft>
              <a:buSzPct val="100000"/>
            </a:pPr>
            <a:r>
              <a:rPr lang="en-US" sz="700" dirty="0" smtClean="0">
                <a:solidFill>
                  <a:srgbClr val="000000"/>
                </a:solidFill>
                <a:latin typeface="Arial" pitchFamily="34" charset="0"/>
                <a:cs typeface="Arial" pitchFamily="34" charset="0"/>
              </a:rPr>
              <a:t>No</a:t>
            </a:r>
          </a:p>
        </p:txBody>
      </p:sp>
      <p:sp>
        <p:nvSpPr>
          <p:cNvPr id="98" name="Flowchart: Decision 97"/>
          <p:cNvSpPr/>
          <p:nvPr/>
        </p:nvSpPr>
        <p:spPr>
          <a:xfrm>
            <a:off x="5383688" y="1493169"/>
            <a:ext cx="912178" cy="509270"/>
          </a:xfrm>
          <a:prstGeom prst="flowChartDecision">
            <a:avLst/>
          </a:prstGeom>
          <a:solidFill>
            <a:schemeClr val="bg1">
              <a:lumMod val="7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lang="en-US" sz="700" dirty="0" smtClean="0">
                <a:solidFill>
                  <a:schemeClr val="tx1"/>
                </a:solidFill>
                <a:latin typeface="Arial" pitchFamily="34" charset="0"/>
                <a:cs typeface="Arial" pitchFamily="34" charset="0"/>
              </a:rPr>
              <a:t>Is Order </a:t>
            </a:r>
          </a:p>
          <a:p>
            <a:pPr algn="ctr"/>
            <a:r>
              <a:rPr lang="en-US" sz="700" dirty="0" smtClean="0">
                <a:solidFill>
                  <a:schemeClr val="tx1"/>
                </a:solidFill>
                <a:latin typeface="Arial" pitchFamily="34" charset="0"/>
                <a:cs typeface="Arial" pitchFamily="34" charset="0"/>
              </a:rPr>
              <a:t>Consolidation</a:t>
            </a:r>
          </a:p>
          <a:p>
            <a:pPr algn="ctr"/>
            <a:r>
              <a:rPr lang="en-US" sz="700" dirty="0" smtClean="0">
                <a:solidFill>
                  <a:schemeClr val="tx1"/>
                </a:solidFill>
                <a:latin typeface="Arial" pitchFamily="34" charset="0"/>
                <a:cs typeface="Arial" pitchFamily="34" charset="0"/>
              </a:rPr>
              <a:t>Required? </a:t>
            </a:r>
            <a:endParaRPr lang="en-US" sz="700" dirty="0">
              <a:solidFill>
                <a:schemeClr val="tx1"/>
              </a:solidFill>
              <a:latin typeface="Arial" pitchFamily="34" charset="0"/>
              <a:cs typeface="Arial" pitchFamily="34" charset="0"/>
            </a:endParaRPr>
          </a:p>
        </p:txBody>
      </p:sp>
      <p:cxnSp>
        <p:nvCxnSpPr>
          <p:cNvPr id="102" name="Elbow Connector 101"/>
          <p:cNvCxnSpPr>
            <a:stCxn id="98" idx="3"/>
            <a:endCxn id="14" idx="3"/>
          </p:cNvCxnSpPr>
          <p:nvPr/>
        </p:nvCxnSpPr>
        <p:spPr>
          <a:xfrm flipH="1">
            <a:off x="6246812" y="1747805"/>
            <a:ext cx="49054" cy="1704703"/>
          </a:xfrm>
          <a:prstGeom prst="bentConnector3">
            <a:avLst>
              <a:gd name="adj1" fmla="val -3968206"/>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07" name="Straight Arrow Connector 106"/>
          <p:cNvCxnSpPr>
            <a:stCxn id="98" idx="2"/>
            <a:endCxn id="12" idx="0"/>
          </p:cNvCxnSpPr>
          <p:nvPr/>
        </p:nvCxnSpPr>
        <p:spPr>
          <a:xfrm>
            <a:off x="5839777" y="2002440"/>
            <a:ext cx="3810" cy="119743"/>
          </a:xfrm>
          <a:prstGeom prst="straightConnector1">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08" name="TextBox 107"/>
          <p:cNvSpPr txBox="1"/>
          <p:nvPr/>
        </p:nvSpPr>
        <p:spPr>
          <a:xfrm>
            <a:off x="5846480" y="1958246"/>
            <a:ext cx="338554" cy="200055"/>
          </a:xfrm>
          <a:prstGeom prst="rect">
            <a:avLst/>
          </a:prstGeom>
          <a:noFill/>
        </p:spPr>
        <p:txBody>
          <a:bodyPr wrap="none" rtlCol="0">
            <a:spAutoFit/>
          </a:bodyPr>
          <a:lstStyle/>
          <a:p>
            <a:pPr marL="0" defTabSz="430213">
              <a:spcAft>
                <a:spcPts val="400"/>
              </a:spcAft>
              <a:buSzPct val="100000"/>
            </a:pPr>
            <a:r>
              <a:rPr lang="en-US" sz="700" dirty="0" smtClean="0">
                <a:solidFill>
                  <a:srgbClr val="000000"/>
                </a:solidFill>
                <a:latin typeface="Arial" pitchFamily="34" charset="0"/>
                <a:cs typeface="Arial" pitchFamily="34" charset="0"/>
              </a:rPr>
              <a:t>Yes</a:t>
            </a:r>
          </a:p>
        </p:txBody>
      </p:sp>
      <p:sp>
        <p:nvSpPr>
          <p:cNvPr id="109" name="TextBox 108"/>
          <p:cNvSpPr txBox="1"/>
          <p:nvPr/>
        </p:nvSpPr>
        <p:spPr>
          <a:xfrm>
            <a:off x="6254795" y="1592213"/>
            <a:ext cx="298480" cy="200055"/>
          </a:xfrm>
          <a:prstGeom prst="rect">
            <a:avLst/>
          </a:prstGeom>
          <a:noFill/>
        </p:spPr>
        <p:txBody>
          <a:bodyPr wrap="none" rtlCol="0">
            <a:spAutoFit/>
          </a:bodyPr>
          <a:lstStyle/>
          <a:p>
            <a:pPr marL="0" defTabSz="430213">
              <a:spcAft>
                <a:spcPts val="400"/>
              </a:spcAft>
              <a:buSzPct val="100000"/>
            </a:pPr>
            <a:r>
              <a:rPr lang="en-US" sz="700" dirty="0" smtClean="0">
                <a:solidFill>
                  <a:srgbClr val="000000"/>
                </a:solidFill>
                <a:latin typeface="Arial" pitchFamily="34" charset="0"/>
                <a:cs typeface="Arial" pitchFamily="34" charset="0"/>
              </a:rPr>
              <a:t>No</a:t>
            </a:r>
          </a:p>
        </p:txBody>
      </p:sp>
      <p:sp>
        <p:nvSpPr>
          <p:cNvPr id="111" name="TextBox 110"/>
          <p:cNvSpPr txBox="1"/>
          <p:nvPr/>
        </p:nvSpPr>
        <p:spPr>
          <a:xfrm>
            <a:off x="1960544" y="3644509"/>
            <a:ext cx="1638590" cy="208262"/>
          </a:xfrm>
          <a:prstGeom prst="rect">
            <a:avLst/>
          </a:prstGeom>
          <a:noFill/>
        </p:spPr>
        <p:txBody>
          <a:bodyPr wrap="none" tIns="0" bIns="0" rtlCol="0">
            <a:spAutoFit/>
          </a:bodyPr>
          <a:lstStyle/>
          <a:p>
            <a:pPr marL="0" defTabSz="430213">
              <a:lnSpc>
                <a:spcPct val="85000"/>
              </a:lnSpc>
              <a:spcAft>
                <a:spcPts val="400"/>
              </a:spcAft>
              <a:buSzPct val="100000"/>
            </a:pPr>
            <a:r>
              <a:rPr lang="en-US" sz="600" dirty="0" smtClean="0">
                <a:solidFill>
                  <a:srgbClr val="FF0000"/>
                </a:solidFill>
                <a:latin typeface="Arial" pitchFamily="34" charset="0"/>
                <a:cs typeface="Arial" pitchFamily="34" charset="0"/>
              </a:rPr>
              <a:t>Production Grouping is required If </a:t>
            </a:r>
          </a:p>
          <a:p>
            <a:pPr marL="0" defTabSz="430213">
              <a:lnSpc>
                <a:spcPct val="85000"/>
              </a:lnSpc>
              <a:spcAft>
                <a:spcPts val="400"/>
              </a:spcAft>
              <a:buSzPct val="100000"/>
            </a:pPr>
            <a:r>
              <a:rPr lang="en-US" sz="600" dirty="0" smtClean="0">
                <a:solidFill>
                  <a:srgbClr val="FF0000"/>
                </a:solidFill>
                <a:latin typeface="Arial" pitchFamily="34" charset="0"/>
                <a:cs typeface="Arial" pitchFamily="34" charset="0"/>
              </a:rPr>
              <a:t>Production Grouping Category is assigned</a:t>
            </a:r>
          </a:p>
        </p:txBody>
      </p:sp>
      <p:sp>
        <p:nvSpPr>
          <p:cNvPr id="112" name="TextBox 111"/>
          <p:cNvSpPr txBox="1"/>
          <p:nvPr/>
        </p:nvSpPr>
        <p:spPr>
          <a:xfrm>
            <a:off x="6300136" y="2698612"/>
            <a:ext cx="1457450" cy="467820"/>
          </a:xfrm>
          <a:prstGeom prst="rect">
            <a:avLst/>
          </a:prstGeom>
          <a:noFill/>
        </p:spPr>
        <p:txBody>
          <a:bodyPr wrap="none" tIns="0" bIns="0" rtlCol="0">
            <a:spAutoFit/>
          </a:bodyPr>
          <a:lstStyle/>
          <a:p>
            <a:pPr marL="0" defTabSz="430213">
              <a:lnSpc>
                <a:spcPct val="85000"/>
              </a:lnSpc>
              <a:spcAft>
                <a:spcPts val="400"/>
              </a:spcAft>
              <a:buSzPct val="100000"/>
            </a:pPr>
            <a:r>
              <a:rPr lang="en-US" sz="600" dirty="0" smtClean="0">
                <a:solidFill>
                  <a:srgbClr val="FF0000"/>
                </a:solidFill>
                <a:latin typeface="Arial" pitchFamily="34" charset="0"/>
                <a:cs typeface="Arial" pitchFamily="34" charset="0"/>
              </a:rPr>
              <a:t>Conduct Consolidation based </a:t>
            </a:r>
            <a:endParaRPr lang="en-US" sz="600" dirty="0">
              <a:solidFill>
                <a:srgbClr val="FF0000"/>
              </a:solidFill>
              <a:latin typeface="Arial" pitchFamily="34" charset="0"/>
              <a:cs typeface="Arial" pitchFamily="34" charset="0"/>
            </a:endParaRPr>
          </a:p>
          <a:p>
            <a:pPr marL="0" defTabSz="430213">
              <a:lnSpc>
                <a:spcPct val="85000"/>
              </a:lnSpc>
              <a:spcAft>
                <a:spcPts val="400"/>
              </a:spcAft>
              <a:buSzPct val="100000"/>
            </a:pPr>
            <a:r>
              <a:rPr lang="en-US" sz="600" dirty="0" smtClean="0">
                <a:solidFill>
                  <a:srgbClr val="FF0000"/>
                </a:solidFill>
                <a:latin typeface="Arial" pitchFamily="34" charset="0"/>
                <a:cs typeface="Arial" pitchFamily="34" charset="0"/>
              </a:rPr>
              <a:t>on Order Consolidation Condition.</a:t>
            </a:r>
          </a:p>
          <a:p>
            <a:pPr marL="0" defTabSz="430213">
              <a:lnSpc>
                <a:spcPct val="85000"/>
              </a:lnSpc>
              <a:spcAft>
                <a:spcPts val="400"/>
              </a:spcAft>
              <a:buSzPct val="100000"/>
            </a:pPr>
            <a:r>
              <a:rPr lang="en-US" sz="600" b="1" dirty="0" smtClean="0">
                <a:solidFill>
                  <a:srgbClr val="FF0000"/>
                </a:solidFill>
                <a:latin typeface="Arial" pitchFamily="34" charset="0"/>
                <a:cs typeface="Arial" pitchFamily="34" charset="0"/>
              </a:rPr>
              <a:t>What should be used to determine </a:t>
            </a:r>
          </a:p>
          <a:p>
            <a:pPr marL="0" defTabSz="430213">
              <a:lnSpc>
                <a:spcPct val="85000"/>
              </a:lnSpc>
              <a:spcAft>
                <a:spcPts val="400"/>
              </a:spcAft>
              <a:buSzPct val="100000"/>
            </a:pPr>
            <a:r>
              <a:rPr lang="en-US" sz="600" b="1" dirty="0" smtClean="0">
                <a:solidFill>
                  <a:srgbClr val="FF0000"/>
                </a:solidFill>
                <a:latin typeface="Arial" pitchFamily="34" charset="0"/>
                <a:cs typeface="Arial" pitchFamily="34" charset="0"/>
              </a:rPr>
              <a:t>Maximum Limit of group?</a:t>
            </a:r>
          </a:p>
        </p:txBody>
      </p:sp>
      <p:sp>
        <p:nvSpPr>
          <p:cNvPr id="113" name="TextBox 112"/>
          <p:cNvSpPr txBox="1"/>
          <p:nvPr/>
        </p:nvSpPr>
        <p:spPr>
          <a:xfrm>
            <a:off x="6320037" y="2225289"/>
            <a:ext cx="1056700" cy="208262"/>
          </a:xfrm>
          <a:prstGeom prst="rect">
            <a:avLst/>
          </a:prstGeom>
          <a:noFill/>
        </p:spPr>
        <p:txBody>
          <a:bodyPr wrap="none" tIns="0" bIns="0" rtlCol="0">
            <a:spAutoFit/>
          </a:bodyPr>
          <a:lstStyle/>
          <a:p>
            <a:pPr marL="0" defTabSz="430213">
              <a:lnSpc>
                <a:spcPct val="85000"/>
              </a:lnSpc>
              <a:spcAft>
                <a:spcPts val="400"/>
              </a:spcAft>
              <a:buSzPct val="100000"/>
            </a:pPr>
            <a:r>
              <a:rPr lang="en-US" sz="600" dirty="0" smtClean="0">
                <a:solidFill>
                  <a:srgbClr val="FF0000"/>
                </a:solidFill>
                <a:latin typeface="Arial" pitchFamily="34" charset="0"/>
                <a:cs typeface="Arial" pitchFamily="34" charset="0"/>
              </a:rPr>
              <a:t>Conduct Sortation based </a:t>
            </a:r>
          </a:p>
          <a:p>
            <a:pPr marL="0" defTabSz="430213">
              <a:lnSpc>
                <a:spcPct val="85000"/>
              </a:lnSpc>
              <a:spcAft>
                <a:spcPts val="400"/>
              </a:spcAft>
              <a:buSzPct val="100000"/>
            </a:pPr>
            <a:r>
              <a:rPr lang="en-US" sz="600" dirty="0" smtClean="0">
                <a:solidFill>
                  <a:srgbClr val="FF0000"/>
                </a:solidFill>
                <a:latin typeface="Arial" pitchFamily="34" charset="0"/>
                <a:cs typeface="Arial" pitchFamily="34" charset="0"/>
              </a:rPr>
              <a:t>on Grouping Category</a:t>
            </a:r>
          </a:p>
        </p:txBody>
      </p:sp>
      <p:cxnSp>
        <p:nvCxnSpPr>
          <p:cNvPr id="48" name="Elbow Connector 47"/>
          <p:cNvCxnSpPr>
            <a:endCxn id="16" idx="1"/>
          </p:cNvCxnSpPr>
          <p:nvPr/>
        </p:nvCxnSpPr>
        <p:spPr>
          <a:xfrm>
            <a:off x="1618298" y="3852771"/>
            <a:ext cx="3822064" cy="749086"/>
          </a:xfrm>
          <a:prstGeom prst="bentConnector3">
            <a:avLst>
              <a:gd name="adj1" fmla="val -341"/>
            </a:avLst>
          </a:prstGeom>
          <a:ln w="12700" cmpd="sng">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79</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42075072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 PROD-ID Condition Table Sample</a:t>
            </a:r>
            <a:endParaRPr lang="en-US" dirty="0"/>
          </a:p>
        </p:txBody>
      </p:sp>
      <p:sp>
        <p:nvSpPr>
          <p:cNvPr id="3" name="Title 2"/>
          <p:cNvSpPr>
            <a:spLocks noGrp="1"/>
          </p:cNvSpPr>
          <p:nvPr>
            <p:ph type="title"/>
          </p:nvPr>
        </p:nvSpPr>
        <p:spPr/>
        <p:txBody>
          <a:bodyPr/>
          <a:lstStyle/>
          <a:p>
            <a:r>
              <a:rPr lang="en-US" dirty="0" smtClean="0"/>
              <a:t>Production Grouping</a:t>
            </a:r>
            <a:endParaRPr lang="en-US" dirty="0"/>
          </a:p>
        </p:txBody>
      </p:sp>
      <p:sp>
        <p:nvSpPr>
          <p:cNvPr id="6" name="Rectangle 1"/>
          <p:cNvSpPr>
            <a:spLocks noChangeArrowheads="1"/>
          </p:cNvSpPr>
          <p:nvPr/>
        </p:nvSpPr>
        <p:spPr bwMode="auto">
          <a:xfrm>
            <a:off x="3100389" y="1232973"/>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12" name="Object 11"/>
          <p:cNvGraphicFramePr>
            <a:graphicFrameLocks noChangeAspect="1"/>
          </p:cNvGraphicFramePr>
          <p:nvPr>
            <p:extLst>
              <p:ext uri="{D42A27DB-BD31-4B8C-83A1-F6EECF244321}">
                <p14:modId xmlns:p14="http://schemas.microsoft.com/office/powerpoint/2010/main" xmlns="" val="770551750"/>
              </p:ext>
            </p:extLst>
          </p:nvPr>
        </p:nvGraphicFramePr>
        <p:xfrm>
          <a:off x="412750" y="1284288"/>
          <a:ext cx="7951073" cy="2792412"/>
        </p:xfrm>
        <a:graphic>
          <a:graphicData uri="http://schemas.openxmlformats.org/presentationml/2006/ole">
            <p:oleObj spid="_x0000_s1080" name="Worksheet" r:id="rId3" imgW="9250648" imgH="3246048" progId="Excel.Sheet.12">
              <p:embed/>
            </p:oleObj>
          </a:graphicData>
        </a:graphic>
      </p:graphicFrame>
      <p:pic>
        <p:nvPicPr>
          <p:cNvPr id="1028"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6887845" y="718561"/>
            <a:ext cx="617537" cy="190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3" name="TextBox 12"/>
          <p:cNvSpPr txBox="1"/>
          <p:nvPr/>
        </p:nvSpPr>
        <p:spPr>
          <a:xfrm>
            <a:off x="7467581" y="716833"/>
            <a:ext cx="830677" cy="215444"/>
          </a:xfrm>
          <a:prstGeom prst="rect">
            <a:avLst/>
          </a:prstGeom>
          <a:noFill/>
        </p:spPr>
        <p:txBody>
          <a:bodyPr wrap="none" rtlCol="0">
            <a:spAutoFit/>
          </a:bodyPr>
          <a:lstStyle/>
          <a:p>
            <a:pPr marL="0" defTabSz="430213">
              <a:spcAft>
                <a:spcPts val="400"/>
              </a:spcAft>
              <a:buSzPct val="100000"/>
            </a:pPr>
            <a:r>
              <a:rPr lang="en-US" sz="800" dirty="0" smtClean="0">
                <a:solidFill>
                  <a:srgbClr val="000000"/>
                </a:solidFill>
                <a:latin typeface="Arial" pitchFamily="34" charset="0"/>
                <a:cs typeface="Arial" pitchFamily="34" charset="0"/>
              </a:rPr>
              <a:t>= Output Data</a:t>
            </a:r>
          </a:p>
        </p:txBody>
      </p:sp>
      <p:sp>
        <p:nvSpPr>
          <p:cNvPr id="8" name="Rounded Rectangle 7"/>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80</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22639604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Prod-ID Condition Table Spec</a:t>
            </a:r>
            <a:endParaRPr lang="en-US" dirty="0"/>
          </a:p>
        </p:txBody>
      </p:sp>
      <p:sp>
        <p:nvSpPr>
          <p:cNvPr id="6" name="Rectangle 1"/>
          <p:cNvSpPr>
            <a:spLocks noChangeArrowheads="1"/>
          </p:cNvSpPr>
          <p:nvPr/>
        </p:nvSpPr>
        <p:spPr bwMode="auto">
          <a:xfrm>
            <a:off x="3100389" y="1232973"/>
            <a:ext cx="18473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8" name="Rounded Rectangle 7"/>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80.1</a:t>
            </a:r>
            <a:endParaRPr lang="en-US" sz="1000" dirty="0">
              <a:solidFill>
                <a:schemeClr val="tx1"/>
              </a:solidFill>
              <a:latin typeface="Arial Black" pitchFamily="34" charset="0"/>
              <a:cs typeface="Aharoni" pitchFamily="2" charset="-79"/>
            </a:endParaRPr>
          </a:p>
        </p:txBody>
      </p:sp>
      <p:graphicFrame>
        <p:nvGraphicFramePr>
          <p:cNvPr id="4" name="Table 3"/>
          <p:cNvGraphicFramePr>
            <a:graphicFrameLocks noGrp="1"/>
          </p:cNvGraphicFramePr>
          <p:nvPr>
            <p:extLst>
              <p:ext uri="{D42A27DB-BD31-4B8C-83A1-F6EECF244321}">
                <p14:modId xmlns:p14="http://schemas.microsoft.com/office/powerpoint/2010/main" xmlns="" val="574639127"/>
              </p:ext>
            </p:extLst>
          </p:nvPr>
        </p:nvGraphicFramePr>
        <p:xfrm>
          <a:off x="361950" y="736600"/>
          <a:ext cx="8337552" cy="4058920"/>
        </p:xfrm>
        <a:graphic>
          <a:graphicData uri="http://schemas.openxmlformats.org/drawingml/2006/table">
            <a:tbl>
              <a:tblPr firstRow="1" bandRow="1">
                <a:tableStyleId>{5C22544A-7EE6-4342-B048-85BDC9FD1C3A}</a:tableStyleId>
              </a:tblPr>
              <a:tblGrid>
                <a:gridCol w="1447800"/>
                <a:gridCol w="3829050"/>
                <a:gridCol w="2228850"/>
                <a:gridCol w="831852"/>
              </a:tblGrid>
              <a:tr h="184150">
                <a:tc>
                  <a:txBody>
                    <a:bodyPr/>
                    <a:lstStyle/>
                    <a:p>
                      <a:pPr algn="ctr"/>
                      <a:r>
                        <a:rPr lang="en-US" sz="1000" dirty="0" smtClean="0"/>
                        <a:t>Field Name</a:t>
                      </a:r>
                      <a:endParaRPr lang="en-US" sz="1000" dirty="0"/>
                    </a:p>
                  </a:txBody>
                  <a:tcPr/>
                </a:tc>
                <a:tc>
                  <a:txBody>
                    <a:bodyPr/>
                    <a:lstStyle/>
                    <a:p>
                      <a:pPr algn="ctr"/>
                      <a:r>
                        <a:rPr lang="en-US" sz="1000" dirty="0" smtClean="0"/>
                        <a:t>Description</a:t>
                      </a:r>
                      <a:endParaRPr lang="en-US" sz="1000" dirty="0"/>
                    </a:p>
                  </a:txBody>
                  <a:tcPr/>
                </a:tc>
                <a:tc>
                  <a:txBody>
                    <a:bodyPr/>
                    <a:lstStyle/>
                    <a:p>
                      <a:pPr algn="ctr"/>
                      <a:r>
                        <a:rPr lang="en-US" sz="1000" dirty="0" smtClean="0"/>
                        <a:t>Source</a:t>
                      </a:r>
                      <a:endParaRPr lang="en-US" sz="1000" dirty="0"/>
                    </a:p>
                  </a:txBody>
                  <a:tcPr/>
                </a:tc>
                <a:tc>
                  <a:txBody>
                    <a:bodyPr/>
                    <a:lstStyle/>
                    <a:p>
                      <a:pPr algn="ctr"/>
                      <a:r>
                        <a:rPr lang="en-US" sz="1000" dirty="0" smtClean="0"/>
                        <a:t>Data Type</a:t>
                      </a:r>
                      <a:endParaRPr lang="en-US" sz="1000" dirty="0"/>
                    </a:p>
                  </a:txBody>
                  <a:tcPr/>
                </a:tc>
              </a:tr>
              <a:tr h="162560">
                <a:tc>
                  <a:txBody>
                    <a:bodyPr/>
                    <a:lstStyle/>
                    <a:p>
                      <a:pPr algn="ctr"/>
                      <a:r>
                        <a:rPr lang="en-US" sz="900" kern="1200" dirty="0" smtClean="0">
                          <a:latin typeface="Arial Narrow" pitchFamily="34" charset="0"/>
                        </a:rPr>
                        <a:t>COND_PRIORITY</a:t>
                      </a:r>
                      <a:endParaRPr lang="en-US" sz="900" kern="1200" dirty="0">
                        <a:solidFill>
                          <a:schemeClr val="dk1"/>
                        </a:solidFill>
                        <a:latin typeface="Arial Narrow" pitchFamily="34" charset="0"/>
                        <a:ea typeface="+mn-ea"/>
                        <a:cs typeface="+mn-cs"/>
                      </a:endParaRPr>
                    </a:p>
                  </a:txBody>
                  <a:tcPr/>
                </a:tc>
                <a:tc>
                  <a:txBody>
                    <a:bodyPr/>
                    <a:lstStyle/>
                    <a:p>
                      <a:pPr algn="ctr"/>
                      <a:r>
                        <a:rPr lang="en-US" sz="900" kern="1200" dirty="0" smtClean="0">
                          <a:latin typeface="Arial Narrow" pitchFamily="34" charset="0"/>
                        </a:rPr>
                        <a:t>Identifies the sequence of use for each of the conditions specified within a condition table.</a:t>
                      </a:r>
                      <a:endParaRPr lang="en-US" sz="900" kern="1200" dirty="0">
                        <a:solidFill>
                          <a:schemeClr val="dk1"/>
                        </a:solidFill>
                        <a:latin typeface="Arial Narrow" pitchFamily="34" charset="0"/>
                        <a:ea typeface="+mn-ea"/>
                        <a:cs typeface="+mn-cs"/>
                      </a:endParaRPr>
                    </a:p>
                  </a:txBody>
                  <a:tcPr/>
                </a:tc>
                <a:tc>
                  <a:txBody>
                    <a:bodyPr/>
                    <a:lstStyle/>
                    <a:p>
                      <a:pPr algn="ctr"/>
                      <a:r>
                        <a:rPr lang="en-US" sz="900" kern="1200" dirty="0" smtClean="0">
                          <a:latin typeface="Arial Narrow" pitchFamily="34" charset="0"/>
                        </a:rPr>
                        <a:t>Condition Table</a:t>
                      </a:r>
                      <a:endParaRPr lang="en-US" sz="900" kern="1200" dirty="0">
                        <a:solidFill>
                          <a:schemeClr val="dk1"/>
                        </a:solidFill>
                        <a:latin typeface="Arial Narrow" pitchFamily="34" charset="0"/>
                        <a:ea typeface="+mn-ea"/>
                        <a:cs typeface="+mn-cs"/>
                      </a:endParaRPr>
                    </a:p>
                  </a:txBody>
                  <a:tcPr/>
                </a:tc>
                <a:tc>
                  <a:txBody>
                    <a:bodyPr/>
                    <a:lstStyle/>
                    <a:p>
                      <a:pPr algn="ctr"/>
                      <a:r>
                        <a:rPr lang="en-US" sz="900" kern="1200" dirty="0" smtClean="0">
                          <a:latin typeface="Arial Narrow" pitchFamily="34" charset="0"/>
                        </a:rPr>
                        <a:t>Numeric</a:t>
                      </a:r>
                      <a:endParaRPr lang="en-US" sz="900" kern="1200" dirty="0">
                        <a:solidFill>
                          <a:schemeClr val="dk1"/>
                        </a:solidFill>
                        <a:latin typeface="Arial Narrow" pitchFamily="34" charset="0"/>
                        <a:ea typeface="+mn-ea"/>
                        <a:cs typeface="+mn-cs"/>
                      </a:endParaRPr>
                    </a:p>
                  </a:txBody>
                  <a:tcPr/>
                </a:tc>
              </a:tr>
              <a:tr h="208280">
                <a:tc>
                  <a:txBody>
                    <a:bodyPr/>
                    <a:lstStyle/>
                    <a:p>
                      <a:pPr algn="ctr"/>
                      <a:r>
                        <a:rPr lang="en-US" sz="900" kern="1200" dirty="0" smtClean="0">
                          <a:latin typeface="Arial Narrow" pitchFamily="34" charset="0"/>
                        </a:rPr>
                        <a:t>REGION</a:t>
                      </a:r>
                      <a:endParaRPr lang="en-US" sz="900" kern="1200" dirty="0">
                        <a:solidFill>
                          <a:schemeClr val="dk1"/>
                        </a:solidFill>
                        <a:latin typeface="Arial Narrow" pitchFamily="34" charset="0"/>
                        <a:ea typeface="+mn-ea"/>
                        <a:cs typeface="+mn-cs"/>
                      </a:endParaRP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900" kern="1200" dirty="0" smtClean="0">
                          <a:latin typeface="Arial Narrow" pitchFamily="34" charset="0"/>
                        </a:rPr>
                        <a:t>HP Region where the order is to be shipped (destination)</a:t>
                      </a:r>
                      <a:endParaRPr lang="en-US" sz="900" kern="1200" dirty="0">
                        <a:solidFill>
                          <a:schemeClr val="dk1"/>
                        </a:solidFill>
                        <a:latin typeface="Arial Narrow" pitchFamily="34" charset="0"/>
                        <a:ea typeface="+mn-ea"/>
                        <a:cs typeface="+mn-cs"/>
                      </a:endParaRPr>
                    </a:p>
                  </a:txBody>
                  <a:tcPr/>
                </a:tc>
                <a:tc>
                  <a:txBody>
                    <a:bodyPr/>
                    <a:lstStyle/>
                    <a:p>
                      <a:pPr algn="ctr"/>
                      <a:r>
                        <a:rPr lang="en-US" sz="900" kern="1200" dirty="0" smtClean="0">
                          <a:latin typeface="Arial Narrow" pitchFamily="34" charset="0"/>
                        </a:rPr>
                        <a:t>EDI850 GS02</a:t>
                      </a:r>
                      <a:endParaRPr lang="en-US" sz="900" kern="1200" dirty="0">
                        <a:solidFill>
                          <a:schemeClr val="dk1"/>
                        </a:solidFill>
                        <a:latin typeface="Arial Narrow" pitchFamily="34" charset="0"/>
                        <a:ea typeface="+mn-ea"/>
                        <a:cs typeface="+mn-cs"/>
                      </a:endParaRPr>
                    </a:p>
                  </a:txBody>
                  <a:tcPr/>
                </a:tc>
                <a:tc>
                  <a:txBody>
                    <a:bodyPr/>
                    <a:lstStyle/>
                    <a:p>
                      <a:pPr algn="ctr"/>
                      <a:r>
                        <a:rPr lang="en-US" sz="900" kern="1200" dirty="0" smtClean="0">
                          <a:latin typeface="Arial Narrow" pitchFamily="34" charset="0"/>
                        </a:rPr>
                        <a:t>Text</a:t>
                      </a:r>
                      <a:endParaRPr lang="en-US" sz="900" kern="1200" dirty="0">
                        <a:solidFill>
                          <a:schemeClr val="dk1"/>
                        </a:solidFill>
                        <a:latin typeface="Arial Narrow" pitchFamily="34" charset="0"/>
                        <a:ea typeface="+mn-ea"/>
                        <a:cs typeface="+mn-cs"/>
                      </a:endParaRPr>
                    </a:p>
                  </a:txBody>
                  <a:tcPr/>
                </a:tc>
              </a:tr>
              <a:tr h="279400">
                <a:tc>
                  <a:txBody>
                    <a:bodyPr/>
                    <a:lstStyle/>
                    <a:p>
                      <a:pPr marL="0" marR="0" algn="ctr" defTabSz="457200" rtl="0" eaLnBrk="1" latinLnBrk="0" hangingPunct="1">
                        <a:spcBef>
                          <a:spcPts val="0"/>
                        </a:spcBef>
                        <a:spcAft>
                          <a:spcPts val="0"/>
                        </a:spcAft>
                      </a:pPr>
                      <a:r>
                        <a:rPr lang="en-US" sz="900" kern="1200" dirty="0" smtClean="0">
                          <a:latin typeface="Arial Narrow" pitchFamily="34" charset="0"/>
                        </a:rPr>
                        <a:t>EDI_PHC</a:t>
                      </a:r>
                      <a:endParaRPr lang="en-US" sz="900" kern="1200" dirty="0">
                        <a:solidFill>
                          <a:schemeClr val="dk1"/>
                        </a:solidFill>
                        <a:latin typeface="Arial Narrow" pitchFamily="34" charset="0"/>
                        <a:ea typeface="+mn-ea"/>
                        <a:cs typeface="+mn-cs"/>
                      </a:endParaRPr>
                    </a:p>
                  </a:txBody>
                  <a:tcPr marL="68580" marR="68580" marT="0" marB="0" anchor="ctr"/>
                </a:tc>
                <a:tc>
                  <a:txBody>
                    <a:bodyPr/>
                    <a:lstStyle/>
                    <a:p>
                      <a:pPr marL="0" marR="0" algn="ctr" defTabSz="457200" rtl="0" eaLnBrk="1" latinLnBrk="0" hangingPunct="1">
                        <a:spcBef>
                          <a:spcPts val="0"/>
                        </a:spcBef>
                        <a:spcAft>
                          <a:spcPts val="0"/>
                        </a:spcAft>
                      </a:pPr>
                      <a:r>
                        <a:rPr lang="en-US" sz="900" kern="1200" dirty="0">
                          <a:latin typeface="Arial Narrow" pitchFamily="34" charset="0"/>
                        </a:rPr>
                        <a:t>A code sent in the EDI850 that indicates the production type or supply chain model type of the order</a:t>
                      </a:r>
                      <a:r>
                        <a:rPr lang="en-US" sz="900" kern="1200" dirty="0" smtClean="0">
                          <a:latin typeface="Arial Narrow" pitchFamily="34" charset="0"/>
                        </a:rPr>
                        <a:t>. (EDI Process Handling Code)</a:t>
                      </a:r>
                      <a:endParaRPr lang="en-US" sz="900" kern="1200" dirty="0">
                        <a:solidFill>
                          <a:schemeClr val="dk1"/>
                        </a:solidFill>
                        <a:latin typeface="Arial Narrow" pitchFamily="34" charset="0"/>
                        <a:ea typeface="+mn-ea"/>
                        <a:cs typeface="+mn-cs"/>
                      </a:endParaRPr>
                    </a:p>
                  </a:txBody>
                  <a:tcPr marL="68580" marR="68580" marT="0" marB="0" anchor="ctr"/>
                </a:tc>
                <a:tc>
                  <a:txBody>
                    <a:bodyPr/>
                    <a:lstStyle/>
                    <a:p>
                      <a:pPr marL="0" marR="0" algn="ctr" defTabSz="457200" rtl="0" eaLnBrk="1" latinLnBrk="0" hangingPunct="1">
                        <a:spcBef>
                          <a:spcPts val="0"/>
                        </a:spcBef>
                        <a:spcAft>
                          <a:spcPts val="0"/>
                        </a:spcAft>
                      </a:pPr>
                      <a:r>
                        <a:rPr lang="en-US" sz="900" kern="1200" dirty="0">
                          <a:latin typeface="Arial Narrow" pitchFamily="34" charset="0"/>
                        </a:rPr>
                        <a:t>EDI850 Header level REF02 where REF01 = "PHC".</a:t>
                      </a:r>
                      <a:endParaRPr lang="en-US" sz="900" kern="1200" dirty="0">
                        <a:solidFill>
                          <a:schemeClr val="dk1"/>
                        </a:solidFill>
                        <a:latin typeface="Arial Narrow" pitchFamily="34" charset="0"/>
                        <a:ea typeface="+mn-ea"/>
                        <a:cs typeface="+mn-cs"/>
                      </a:endParaRPr>
                    </a:p>
                  </a:txBody>
                  <a:tcPr marL="68580" marR="68580" marT="0" marB="0" anchor="ctr"/>
                </a:tc>
                <a:tc>
                  <a:txBody>
                    <a:bodyPr/>
                    <a:lstStyle/>
                    <a:p>
                      <a:pPr marL="0" marR="0" algn="ctr" defTabSz="457200" rtl="0" eaLnBrk="1" latinLnBrk="0" hangingPunct="1">
                        <a:spcBef>
                          <a:spcPts val="0"/>
                        </a:spcBef>
                        <a:spcAft>
                          <a:spcPts val="0"/>
                        </a:spcAft>
                      </a:pPr>
                      <a:r>
                        <a:rPr lang="en-US" sz="900" kern="1200" dirty="0">
                          <a:latin typeface="Arial Narrow" pitchFamily="34" charset="0"/>
                        </a:rPr>
                        <a:t>Text</a:t>
                      </a:r>
                      <a:endParaRPr lang="en-US" sz="900" kern="1200" dirty="0">
                        <a:solidFill>
                          <a:schemeClr val="dk1"/>
                        </a:solidFill>
                        <a:latin typeface="Arial Narrow" pitchFamily="34" charset="0"/>
                        <a:ea typeface="+mn-ea"/>
                        <a:cs typeface="+mn-cs"/>
                      </a:endParaRPr>
                    </a:p>
                  </a:txBody>
                  <a:tcPr marL="68580" marR="68580" marT="0" marB="0" anchor="ctr"/>
                </a:tc>
              </a:tr>
              <a:tr h="0">
                <a:tc>
                  <a:txBody>
                    <a:bodyPr/>
                    <a:lstStyle/>
                    <a:p>
                      <a:pPr marL="0" marR="0" algn="ctr">
                        <a:spcBef>
                          <a:spcPts val="0"/>
                        </a:spcBef>
                        <a:spcAft>
                          <a:spcPts val="0"/>
                        </a:spcAft>
                      </a:pPr>
                      <a:r>
                        <a:rPr lang="en-US" sz="900" kern="1200" dirty="0" smtClean="0">
                          <a:latin typeface="Arial Narrow" pitchFamily="34" charset="0"/>
                        </a:rPr>
                        <a:t>EDI_MFG_CODE</a:t>
                      </a:r>
                      <a:endParaRPr lang="en-US" sz="900" kern="1200" dirty="0">
                        <a:solidFill>
                          <a:schemeClr val="dk1"/>
                        </a:solidFill>
                        <a:latin typeface="Arial Narrow" pitchFamily="34" charset="0"/>
                        <a:ea typeface="+mn-ea"/>
                        <a:cs typeface="+mn-cs"/>
                      </a:endParaRPr>
                    </a:p>
                  </a:txBody>
                  <a:tcPr marL="68580" marR="68580" marT="0" marB="0" anchor="ctr"/>
                </a:tc>
                <a:tc>
                  <a:txBody>
                    <a:bodyPr/>
                    <a:lstStyle/>
                    <a:p>
                      <a:pPr marL="0" marR="0" algn="ctr">
                        <a:spcBef>
                          <a:spcPts val="0"/>
                        </a:spcBef>
                        <a:spcAft>
                          <a:spcPts val="0"/>
                        </a:spcAft>
                      </a:pPr>
                      <a:r>
                        <a:rPr lang="en-US" sz="900" kern="1200" dirty="0">
                          <a:latin typeface="Arial Narrow" pitchFamily="34" charset="0"/>
                        </a:rPr>
                        <a:t>Code within EDI850 indicating the Manufacturing Process of an order.</a:t>
                      </a:r>
                      <a:endParaRPr lang="en-US" sz="900" kern="1200" dirty="0">
                        <a:solidFill>
                          <a:schemeClr val="dk1"/>
                        </a:solidFill>
                        <a:latin typeface="Arial Narrow" pitchFamily="34" charset="0"/>
                        <a:ea typeface="+mn-ea"/>
                        <a:cs typeface="+mn-cs"/>
                      </a:endParaRPr>
                    </a:p>
                  </a:txBody>
                  <a:tcPr marL="68580" marR="68580" marT="0" marB="0" anchor="ctr"/>
                </a:tc>
                <a:tc>
                  <a:txBody>
                    <a:bodyPr/>
                    <a:lstStyle/>
                    <a:p>
                      <a:pPr marL="0" marR="0" algn="ctr">
                        <a:spcBef>
                          <a:spcPts val="0"/>
                        </a:spcBef>
                        <a:spcAft>
                          <a:spcPts val="0"/>
                        </a:spcAft>
                      </a:pPr>
                      <a:r>
                        <a:rPr lang="en-US" sz="900" kern="1200">
                          <a:latin typeface="Arial Narrow" pitchFamily="34" charset="0"/>
                        </a:rPr>
                        <a:t>EDI850 Header Level REF02 where REF01 = "MO"</a:t>
                      </a:r>
                      <a:endParaRPr lang="en-US" sz="900" kern="1200">
                        <a:solidFill>
                          <a:schemeClr val="dk1"/>
                        </a:solidFill>
                        <a:latin typeface="Arial Narrow" pitchFamily="34" charset="0"/>
                        <a:ea typeface="+mn-ea"/>
                        <a:cs typeface="+mn-cs"/>
                      </a:endParaRPr>
                    </a:p>
                  </a:txBody>
                  <a:tcPr marL="68580" marR="68580" marT="0" marB="0" anchor="ctr"/>
                </a:tc>
                <a:tc>
                  <a:txBody>
                    <a:bodyPr/>
                    <a:lstStyle/>
                    <a:p>
                      <a:pPr marL="0" marR="0" algn="ctr">
                        <a:spcBef>
                          <a:spcPts val="0"/>
                        </a:spcBef>
                        <a:spcAft>
                          <a:spcPts val="0"/>
                        </a:spcAft>
                      </a:pPr>
                      <a:r>
                        <a:rPr lang="en-US" sz="900" kern="1200" dirty="0">
                          <a:latin typeface="Arial Narrow" pitchFamily="34" charset="0"/>
                        </a:rPr>
                        <a:t>Text</a:t>
                      </a:r>
                      <a:endParaRPr lang="en-US" sz="900" kern="1200" dirty="0">
                        <a:solidFill>
                          <a:schemeClr val="dk1"/>
                        </a:solidFill>
                        <a:latin typeface="Arial Narrow" pitchFamily="34" charset="0"/>
                        <a:ea typeface="+mn-ea"/>
                        <a:cs typeface="+mn-cs"/>
                      </a:endParaRPr>
                    </a:p>
                  </a:txBody>
                  <a:tcPr marL="68580" marR="68580" marT="0" marB="0" anchor="ctr"/>
                </a:tc>
              </a:tr>
              <a:tr h="0">
                <a:tc>
                  <a:txBody>
                    <a:bodyPr/>
                    <a:lstStyle/>
                    <a:p>
                      <a:pPr marL="0" marR="0" algn="ctr">
                        <a:spcBef>
                          <a:spcPts val="0"/>
                        </a:spcBef>
                        <a:spcAft>
                          <a:spcPts val="0"/>
                        </a:spcAft>
                      </a:pPr>
                      <a:r>
                        <a:rPr lang="en-US" sz="900" kern="1200" dirty="0" smtClean="0">
                          <a:latin typeface="Arial Narrow" pitchFamily="34" charset="0"/>
                        </a:rPr>
                        <a:t>SUB_REGION</a:t>
                      </a:r>
                      <a:endParaRPr lang="en-US" sz="900" kern="1200" dirty="0">
                        <a:solidFill>
                          <a:schemeClr val="dk1"/>
                        </a:solidFill>
                        <a:latin typeface="Arial Narrow" pitchFamily="34" charset="0"/>
                        <a:ea typeface="+mn-ea"/>
                        <a:cs typeface="+mn-cs"/>
                      </a:endParaRPr>
                    </a:p>
                  </a:txBody>
                  <a:tcPr marL="68580" marR="68580" marT="0" marB="0" anchor="ctr"/>
                </a:tc>
                <a:tc>
                  <a:txBody>
                    <a:bodyPr/>
                    <a:lstStyle/>
                    <a:p>
                      <a:pPr marL="0" marR="0" algn="ctr">
                        <a:spcBef>
                          <a:spcPts val="0"/>
                        </a:spcBef>
                        <a:spcAft>
                          <a:spcPts val="0"/>
                        </a:spcAft>
                      </a:pPr>
                      <a:r>
                        <a:rPr lang="en-US" sz="900" kern="1200" dirty="0">
                          <a:latin typeface="Arial Narrow" pitchFamily="34" charset="0"/>
                        </a:rPr>
                        <a:t>Code defining which specific sub-region group the order falls under.  There can be multiple sub-regions under a single individual region.  A sub-region can be defining areas/zones expanding over more than one country (aka "box sort code").</a:t>
                      </a:r>
                      <a:endParaRPr lang="en-US" sz="900" kern="1200" dirty="0">
                        <a:solidFill>
                          <a:schemeClr val="dk1"/>
                        </a:solidFill>
                        <a:latin typeface="Arial Narrow" pitchFamily="34" charset="0"/>
                        <a:ea typeface="+mn-ea"/>
                        <a:cs typeface="+mn-cs"/>
                      </a:endParaRPr>
                    </a:p>
                  </a:txBody>
                  <a:tcPr marL="68580" marR="68580" marT="0" marB="0" anchor="ctr"/>
                </a:tc>
                <a:tc>
                  <a:txBody>
                    <a:bodyPr/>
                    <a:lstStyle/>
                    <a:p>
                      <a:pPr marL="0" marR="0" algn="ctr">
                        <a:spcBef>
                          <a:spcPts val="0"/>
                        </a:spcBef>
                        <a:spcAft>
                          <a:spcPts val="0"/>
                        </a:spcAft>
                      </a:pPr>
                      <a:r>
                        <a:rPr lang="en-US" sz="900" kern="1200">
                          <a:latin typeface="Arial Narrow" pitchFamily="34" charset="0"/>
                        </a:rPr>
                        <a:t>EDI850 Header level REF02 where REF01 = "9H".</a:t>
                      </a:r>
                      <a:endParaRPr lang="en-US" sz="900" kern="1200">
                        <a:solidFill>
                          <a:schemeClr val="dk1"/>
                        </a:solidFill>
                        <a:latin typeface="Arial Narrow" pitchFamily="34" charset="0"/>
                        <a:ea typeface="+mn-ea"/>
                        <a:cs typeface="+mn-cs"/>
                      </a:endParaRPr>
                    </a:p>
                  </a:txBody>
                  <a:tcPr marL="68580" marR="68580" marT="0" marB="0" anchor="ctr"/>
                </a:tc>
                <a:tc>
                  <a:txBody>
                    <a:bodyPr/>
                    <a:lstStyle/>
                    <a:p>
                      <a:pPr marL="0" marR="0" algn="ctr">
                        <a:spcBef>
                          <a:spcPts val="0"/>
                        </a:spcBef>
                        <a:spcAft>
                          <a:spcPts val="0"/>
                        </a:spcAft>
                      </a:pPr>
                      <a:r>
                        <a:rPr lang="en-US" sz="900" kern="1200" dirty="0">
                          <a:latin typeface="Arial Narrow" pitchFamily="34" charset="0"/>
                        </a:rPr>
                        <a:t>Text</a:t>
                      </a:r>
                      <a:endParaRPr lang="en-US" sz="900" kern="1200" dirty="0">
                        <a:solidFill>
                          <a:schemeClr val="dk1"/>
                        </a:solidFill>
                        <a:latin typeface="Arial Narrow" pitchFamily="34" charset="0"/>
                        <a:ea typeface="+mn-ea"/>
                        <a:cs typeface="+mn-cs"/>
                      </a:endParaRPr>
                    </a:p>
                  </a:txBody>
                  <a:tcPr marL="68580" marR="68580" marT="0" marB="0" anchor="ctr"/>
                </a:tc>
              </a:tr>
              <a:tr h="0">
                <a:tc>
                  <a:txBody>
                    <a:bodyPr/>
                    <a:lstStyle/>
                    <a:p>
                      <a:pPr marL="0" marR="0" algn="ctr">
                        <a:spcBef>
                          <a:spcPts val="0"/>
                        </a:spcBef>
                        <a:spcAft>
                          <a:spcPts val="0"/>
                        </a:spcAft>
                      </a:pPr>
                      <a:r>
                        <a:rPr lang="en-US" sz="900" kern="0" dirty="0" smtClean="0">
                          <a:effectLst/>
                          <a:latin typeface="Arial Narrow" pitchFamily="34" charset="0"/>
                        </a:rPr>
                        <a:t>CUSTOMER_ID</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ID # assigned to each unique HP Customer</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smtClean="0">
                          <a:effectLst/>
                          <a:latin typeface="Arial Narrow" pitchFamily="34" charset="0"/>
                        </a:rPr>
                        <a:t>EDI850 Header level N104 where N101="SO".</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Text</a:t>
                      </a:r>
                      <a:endParaRPr lang="en-US" sz="900" kern="1600" dirty="0">
                        <a:effectLst/>
                        <a:latin typeface="Arial Narrow" pitchFamily="34" charset="0"/>
                        <a:ea typeface="Times New Roman"/>
                        <a:cs typeface="Arial"/>
                      </a:endParaRPr>
                    </a:p>
                  </a:txBody>
                  <a:tcPr marL="68580" marR="68580" marT="0" marB="0" anchor="ctr"/>
                </a:tc>
              </a:tr>
              <a:tr h="0">
                <a:tc>
                  <a:txBody>
                    <a:bodyPr/>
                    <a:lstStyle/>
                    <a:p>
                      <a:pPr marL="0" marR="0" algn="ctr">
                        <a:spcBef>
                          <a:spcPts val="0"/>
                        </a:spcBef>
                        <a:spcAft>
                          <a:spcPts val="0"/>
                        </a:spcAft>
                      </a:pPr>
                      <a:r>
                        <a:rPr lang="en-US" sz="900" kern="0" dirty="0" smtClean="0">
                          <a:effectLst/>
                          <a:latin typeface="Arial Narrow" pitchFamily="34" charset="0"/>
                        </a:rPr>
                        <a:t>SHIP_TO_ID</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ID # assigned to each unique Ship To address or Region.  </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EDI850 Header level N104 where N101="ST".</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Text</a:t>
                      </a:r>
                      <a:endParaRPr lang="en-US" sz="900" kern="1600" dirty="0">
                        <a:effectLst/>
                        <a:latin typeface="Arial Narrow" pitchFamily="34" charset="0"/>
                        <a:ea typeface="Times New Roman"/>
                        <a:cs typeface="Arial"/>
                      </a:endParaRPr>
                    </a:p>
                  </a:txBody>
                  <a:tcPr marL="68580" marR="68580" marT="0" marB="0" anchor="ctr"/>
                </a:tc>
              </a:tr>
              <a:tr h="0">
                <a:tc>
                  <a:txBody>
                    <a:bodyPr/>
                    <a:lstStyle/>
                    <a:p>
                      <a:pPr marL="0" marR="0" algn="ctr">
                        <a:spcBef>
                          <a:spcPts val="0"/>
                        </a:spcBef>
                        <a:spcAft>
                          <a:spcPts val="0"/>
                        </a:spcAft>
                      </a:pPr>
                      <a:r>
                        <a:rPr lang="en-US" sz="900" kern="0" dirty="0" smtClean="0">
                          <a:effectLst/>
                          <a:latin typeface="Arial Narrow" pitchFamily="34" charset="0"/>
                        </a:rPr>
                        <a:t>HP_PN</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HP part number assigned to product being shipped.  For CTO orders this will be the base unit part number.</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EDI850 PO107 where PO106=VP, and PO122 does not equal "AC".</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Text</a:t>
                      </a:r>
                      <a:endParaRPr lang="en-US" sz="900" kern="1600" dirty="0">
                        <a:effectLst/>
                        <a:latin typeface="Arial Narrow" pitchFamily="34" charset="0"/>
                        <a:ea typeface="Times New Roman"/>
                        <a:cs typeface="Arial"/>
                      </a:endParaRPr>
                    </a:p>
                  </a:txBody>
                  <a:tcPr marL="68580" marR="68580" marT="0" marB="0" anchor="ctr"/>
                </a:tc>
              </a:tr>
              <a:tr h="0">
                <a:tc>
                  <a:txBody>
                    <a:bodyPr/>
                    <a:lstStyle/>
                    <a:p>
                      <a:pPr marL="0" marR="0" algn="ctr">
                        <a:spcBef>
                          <a:spcPts val="0"/>
                        </a:spcBef>
                        <a:spcAft>
                          <a:spcPts val="0"/>
                        </a:spcAft>
                      </a:pPr>
                      <a:r>
                        <a:rPr lang="en-US" sz="1000" kern="1600" dirty="0" err="1" smtClean="0">
                          <a:solidFill>
                            <a:schemeClr val="tx1"/>
                          </a:solidFill>
                          <a:effectLst/>
                          <a:latin typeface="Arial Narrow" pitchFamily="34" charset="0"/>
                          <a:ea typeface="Times New Roman"/>
                          <a:cs typeface="Arial"/>
                        </a:rPr>
                        <a:t>Customer_PN</a:t>
                      </a:r>
                      <a:endParaRPr lang="en-US" sz="1000" kern="1600" dirty="0">
                        <a:solidFill>
                          <a:schemeClr val="tx1"/>
                        </a:solidFill>
                        <a:effectLst/>
                        <a:latin typeface="Arial Narrow" pitchFamily="34" charset="0"/>
                        <a:ea typeface="Times New Roman"/>
                        <a:cs typeface="Arial"/>
                      </a:endParaRPr>
                    </a:p>
                  </a:txBody>
                  <a:tcPr marL="0" marR="0" marT="0" marB="0" anchor="ctr"/>
                </a:tc>
                <a:tc>
                  <a:txBody>
                    <a:bodyPr/>
                    <a:lstStyle/>
                    <a:p>
                      <a:pPr marL="0" marR="0" algn="ctr">
                        <a:spcBef>
                          <a:spcPts val="0"/>
                        </a:spcBef>
                        <a:spcAft>
                          <a:spcPts val="0"/>
                        </a:spcAft>
                      </a:pPr>
                      <a:r>
                        <a:rPr lang="en-US" sz="1000" kern="1600" dirty="0">
                          <a:solidFill>
                            <a:schemeClr val="tx1"/>
                          </a:solidFill>
                          <a:effectLst/>
                          <a:latin typeface="Arial Narrow" pitchFamily="34" charset="0"/>
                          <a:ea typeface="Times New Roman"/>
                          <a:cs typeface="Arial"/>
                        </a:rPr>
                        <a:t>Reseller's SKU number required for specific U.S. consumer </a:t>
                      </a:r>
                      <a:r>
                        <a:rPr lang="en-US" sz="1000" kern="1600" dirty="0" smtClean="0">
                          <a:solidFill>
                            <a:schemeClr val="tx1"/>
                          </a:solidFill>
                          <a:effectLst/>
                          <a:latin typeface="Arial Narrow" pitchFamily="34" charset="0"/>
                          <a:ea typeface="Times New Roman"/>
                          <a:cs typeface="Arial"/>
                        </a:rPr>
                        <a:t>shipments.  In the case of BSaM, this will be the “C” Part Number.</a:t>
                      </a:r>
                      <a:endParaRPr lang="en-US" sz="1000" kern="1600" dirty="0">
                        <a:solidFill>
                          <a:schemeClr val="tx1"/>
                        </a:solidFill>
                        <a:effectLst/>
                        <a:latin typeface="Arial Narrow" pitchFamily="34" charset="0"/>
                        <a:ea typeface="Times New Roman"/>
                        <a:cs typeface="Arial"/>
                      </a:endParaRPr>
                    </a:p>
                  </a:txBody>
                  <a:tcPr marL="0" marR="0" marT="0" marB="0"/>
                </a:tc>
                <a:tc>
                  <a:txBody>
                    <a:bodyPr/>
                    <a:lstStyle/>
                    <a:p>
                      <a:pPr marL="0" marR="0" algn="ctr">
                        <a:spcBef>
                          <a:spcPts val="0"/>
                        </a:spcBef>
                        <a:spcAft>
                          <a:spcPts val="0"/>
                        </a:spcAft>
                      </a:pPr>
                      <a:r>
                        <a:rPr lang="it-IT" sz="1000" kern="1600" dirty="0">
                          <a:solidFill>
                            <a:schemeClr val="tx1"/>
                          </a:solidFill>
                          <a:effectLst/>
                          <a:latin typeface="Arial Narrow" pitchFamily="34" charset="0"/>
                          <a:ea typeface="Times New Roman"/>
                          <a:cs typeface="Arial"/>
                        </a:rPr>
                        <a:t>EDI850 PO111 where PO110 = BP</a:t>
                      </a:r>
                      <a:endParaRPr lang="en-US" sz="1000" kern="1600" dirty="0">
                        <a:solidFill>
                          <a:schemeClr val="tx1"/>
                        </a:solidFill>
                        <a:effectLst/>
                        <a:latin typeface="Arial Narrow" pitchFamily="34" charset="0"/>
                        <a:ea typeface="Times New Roman"/>
                        <a:cs typeface="Arial"/>
                      </a:endParaRPr>
                    </a:p>
                  </a:txBody>
                  <a:tcPr marL="0" marR="0" marT="0" marB="0"/>
                </a:tc>
                <a:tc>
                  <a:txBody>
                    <a:bodyPr/>
                    <a:lstStyle/>
                    <a:p>
                      <a:pPr marL="0" marR="0" algn="ctr">
                        <a:spcBef>
                          <a:spcPts val="0"/>
                        </a:spcBef>
                        <a:spcAft>
                          <a:spcPts val="0"/>
                        </a:spcAft>
                      </a:pPr>
                      <a:r>
                        <a:rPr lang="en-US" sz="900" kern="1200" dirty="0" smtClean="0">
                          <a:solidFill>
                            <a:schemeClr val="tx1"/>
                          </a:solidFill>
                          <a:latin typeface="Arial Narrow" pitchFamily="34" charset="0"/>
                          <a:ea typeface="+mn-ea"/>
                          <a:cs typeface="+mn-cs"/>
                        </a:rPr>
                        <a:t>Text</a:t>
                      </a:r>
                      <a:endParaRPr lang="en-US" sz="900" kern="1200" dirty="0">
                        <a:solidFill>
                          <a:schemeClr val="tx1"/>
                        </a:solidFill>
                        <a:latin typeface="Arial Narrow" pitchFamily="34" charset="0"/>
                        <a:ea typeface="+mn-ea"/>
                        <a:cs typeface="+mn-cs"/>
                      </a:endParaRPr>
                    </a:p>
                  </a:txBody>
                  <a:tcPr marL="68580" marR="68580" marT="0" marB="0" anchor="ctr"/>
                </a:tc>
              </a:tr>
              <a:tr h="0">
                <a:tc>
                  <a:txBody>
                    <a:bodyPr/>
                    <a:lstStyle/>
                    <a:p>
                      <a:pPr marL="0" marR="0" algn="ctr">
                        <a:spcBef>
                          <a:spcPts val="0"/>
                        </a:spcBef>
                        <a:spcAft>
                          <a:spcPts val="0"/>
                        </a:spcAft>
                      </a:pPr>
                      <a:r>
                        <a:rPr lang="en-US" sz="900" kern="0" dirty="0" smtClean="0">
                          <a:effectLst/>
                          <a:latin typeface="Arial Narrow" pitchFamily="34" charset="0"/>
                        </a:rPr>
                        <a:t>EDI_SHIP_MODE</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Mode of transportation used for shipment (AIR/OCEAN/TRUCK), and sent in EDI850.</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850 Header level TD504 where TD501 = "Z".</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Text</a:t>
                      </a:r>
                      <a:endParaRPr lang="en-US" sz="900" kern="1600" dirty="0">
                        <a:effectLst/>
                        <a:latin typeface="Arial Narrow" pitchFamily="34" charset="0"/>
                        <a:ea typeface="Times New Roman"/>
                        <a:cs typeface="Arial"/>
                      </a:endParaRPr>
                    </a:p>
                  </a:txBody>
                  <a:tcPr marL="68580" marR="68580" marT="0" marB="0" anchor="ctr"/>
                </a:tc>
              </a:tr>
              <a:tr h="0">
                <a:tc>
                  <a:txBody>
                    <a:bodyPr/>
                    <a:lstStyle/>
                    <a:p>
                      <a:pPr marL="0" marR="0" algn="ctr">
                        <a:spcBef>
                          <a:spcPts val="0"/>
                        </a:spcBef>
                        <a:spcAft>
                          <a:spcPts val="0"/>
                        </a:spcAft>
                      </a:pPr>
                      <a:r>
                        <a:rPr lang="en-US" sz="900" kern="0" dirty="0" smtClean="0">
                          <a:effectLst/>
                          <a:latin typeface="Arial Narrow" pitchFamily="34" charset="0"/>
                        </a:rPr>
                        <a:t>DUTY_CODE</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Duty Paid vs. Duty Free - EU vs. Non-EU  (T2L)</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EDI850 Header level REF02 where REF01 = ZZ</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Text</a:t>
                      </a:r>
                      <a:endParaRPr lang="en-US" sz="900" kern="1600" dirty="0">
                        <a:effectLst/>
                        <a:latin typeface="Arial Narrow" pitchFamily="34" charset="0"/>
                        <a:ea typeface="Times New Roman"/>
                        <a:cs typeface="Arial"/>
                      </a:endParaRPr>
                    </a:p>
                  </a:txBody>
                  <a:tcPr marL="68580" marR="68580" marT="0" marB="0" anchor="ctr"/>
                </a:tc>
              </a:tr>
              <a:tr h="0">
                <a:tc>
                  <a:txBody>
                    <a:bodyPr/>
                    <a:lstStyle/>
                    <a:p>
                      <a:pPr marL="0" marR="0" algn="ctr">
                        <a:spcBef>
                          <a:spcPts val="0"/>
                        </a:spcBef>
                        <a:spcAft>
                          <a:spcPts val="0"/>
                        </a:spcAft>
                      </a:pPr>
                      <a:r>
                        <a:rPr lang="en-US" sz="900" kern="0" dirty="0" smtClean="0">
                          <a:effectLst/>
                          <a:latin typeface="Arial Narrow" pitchFamily="34" charset="0"/>
                        </a:rPr>
                        <a:t>SHIP_TO_COUNTRY_CODE</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Country Code of receiving party at </a:t>
                      </a:r>
                      <a:r>
                        <a:rPr lang="en-US" sz="900" kern="0" dirty="0" smtClean="0">
                          <a:effectLst/>
                          <a:latin typeface="Arial Narrow" pitchFamily="34" charset="0"/>
                        </a:rPr>
                        <a:t>Ship-to </a:t>
                      </a:r>
                      <a:r>
                        <a:rPr lang="en-US" sz="900" kern="0" dirty="0">
                          <a:effectLst/>
                          <a:latin typeface="Arial Narrow" pitchFamily="34" charset="0"/>
                        </a:rPr>
                        <a:t>Destination of shipment</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EDI850 Header level N404 where N101 = "ST".</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Text</a:t>
                      </a:r>
                      <a:endParaRPr lang="en-US" sz="900" kern="1600" dirty="0">
                        <a:effectLst/>
                        <a:latin typeface="Arial Narrow" pitchFamily="34" charset="0"/>
                        <a:ea typeface="Times New Roman"/>
                        <a:cs typeface="Arial"/>
                      </a:endParaRPr>
                    </a:p>
                  </a:txBody>
                  <a:tcPr marL="68580" marR="68580" marT="0" marB="0" anchor="ctr"/>
                </a:tc>
              </a:tr>
              <a:tr h="0">
                <a:tc>
                  <a:txBody>
                    <a:bodyPr/>
                    <a:lstStyle/>
                    <a:p>
                      <a:pPr marL="0" marR="0" algn="ctr">
                        <a:spcBef>
                          <a:spcPts val="0"/>
                        </a:spcBef>
                        <a:spcAft>
                          <a:spcPts val="0"/>
                        </a:spcAft>
                      </a:pPr>
                      <a:r>
                        <a:rPr lang="en-US" sz="900" kern="0" dirty="0" smtClean="0">
                          <a:effectLst/>
                          <a:latin typeface="Arial Narrow" pitchFamily="34" charset="0"/>
                        </a:rPr>
                        <a:t>SHIP_TO_STATE</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State or Province name of receiving party at ship-to destination of shipment</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EDI850 Header level N402  where N101="ST".</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Text</a:t>
                      </a:r>
                      <a:endParaRPr lang="en-US" sz="900" kern="1600">
                        <a:effectLst/>
                        <a:latin typeface="Arial Narrow" pitchFamily="34" charset="0"/>
                        <a:ea typeface="Times New Roman"/>
                        <a:cs typeface="Arial"/>
                      </a:endParaRPr>
                    </a:p>
                  </a:txBody>
                  <a:tcPr marL="68580" marR="68580" marT="0" marB="0" anchor="ctr"/>
                </a:tc>
              </a:tr>
              <a:tr h="0">
                <a:tc>
                  <a:txBody>
                    <a:bodyPr/>
                    <a:lstStyle/>
                    <a:p>
                      <a:pPr marL="0" marR="0" algn="ctr">
                        <a:spcBef>
                          <a:spcPts val="0"/>
                        </a:spcBef>
                        <a:spcAft>
                          <a:spcPts val="0"/>
                        </a:spcAft>
                      </a:pPr>
                      <a:r>
                        <a:rPr lang="en-US" sz="900" kern="0" dirty="0" smtClean="0">
                          <a:effectLst/>
                          <a:latin typeface="Arial Narrow" pitchFamily="34" charset="0"/>
                        </a:rPr>
                        <a:t>SHIP_TO_ZIP</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Postal code or ZIP code of receiving party at ship-to destination of shipment.</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EDI850 Header level N403 where N101="ST".</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Text</a:t>
                      </a:r>
                      <a:endParaRPr lang="en-US" sz="900" kern="1600" dirty="0">
                        <a:effectLst/>
                        <a:latin typeface="Arial Narrow" pitchFamily="34" charset="0"/>
                        <a:ea typeface="Times New Roman"/>
                        <a:cs typeface="Arial"/>
                      </a:endParaRPr>
                    </a:p>
                  </a:txBody>
                  <a:tcPr marL="68580" marR="68580" marT="0" marB="0" anchor="ctr"/>
                </a:tc>
              </a:tr>
              <a:tr h="0">
                <a:tc>
                  <a:txBody>
                    <a:bodyPr/>
                    <a:lstStyle/>
                    <a:p>
                      <a:pPr marL="0" marR="0" algn="ctr">
                        <a:spcBef>
                          <a:spcPts val="0"/>
                        </a:spcBef>
                        <a:spcAft>
                          <a:spcPts val="0"/>
                        </a:spcAft>
                      </a:pPr>
                      <a:r>
                        <a:rPr lang="en-US" sz="900" kern="0" dirty="0" smtClean="0">
                          <a:effectLst/>
                          <a:latin typeface="Arial Narrow" pitchFamily="34" charset="0"/>
                        </a:rPr>
                        <a:t>EDI_TRANS_SERV_LEVEL</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Specific service level to be used for transportation that is provided in EDI850.</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EDI850 TD512 where TD501=Z </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Text</a:t>
                      </a:r>
                      <a:endParaRPr lang="en-US" sz="900" kern="1600" dirty="0">
                        <a:effectLst/>
                        <a:latin typeface="Arial Narrow" pitchFamily="34" charset="0"/>
                        <a:ea typeface="Times New Roman"/>
                        <a:cs typeface="Arial"/>
                      </a:endParaRPr>
                    </a:p>
                  </a:txBody>
                  <a:tcPr marL="68580" marR="68580" marT="0" marB="0" anchor="ctr"/>
                </a:tc>
              </a:tr>
              <a:tr h="0">
                <a:tc>
                  <a:txBody>
                    <a:bodyPr/>
                    <a:lstStyle/>
                    <a:p>
                      <a:pPr marL="0" marR="0" algn="ctr">
                        <a:spcBef>
                          <a:spcPts val="0"/>
                        </a:spcBef>
                        <a:spcAft>
                          <a:spcPts val="0"/>
                        </a:spcAft>
                      </a:pPr>
                      <a:r>
                        <a:rPr lang="en-US" sz="900" kern="0" dirty="0" smtClean="0">
                          <a:effectLst/>
                          <a:latin typeface="Arial Narrow" pitchFamily="34" charset="0"/>
                        </a:rPr>
                        <a:t>SHIP_REF</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HP Ship Reference Number that is sent to the ODM in the EDI850.  Printed on China to China box shipping label. (AP ShipRef #).</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a:effectLst/>
                          <a:latin typeface="Arial Narrow" pitchFamily="34" charset="0"/>
                        </a:rPr>
                        <a:t>EDI850 Detail level REF02 where REF01=TN</a:t>
                      </a:r>
                      <a:endParaRPr lang="en-US" sz="900" kern="160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900" kern="0" dirty="0">
                          <a:effectLst/>
                          <a:latin typeface="Arial Narrow" pitchFamily="34" charset="0"/>
                        </a:rPr>
                        <a:t>Text</a:t>
                      </a:r>
                      <a:endParaRPr lang="en-US" sz="900" kern="1600" dirty="0">
                        <a:effectLst/>
                        <a:latin typeface="Arial Narrow" pitchFamily="34" charset="0"/>
                        <a:ea typeface="Times New Roman"/>
                        <a:cs typeface="Arial"/>
                      </a:endParaRPr>
                    </a:p>
                  </a:txBody>
                  <a:tcPr marL="68580" marR="68580" marT="0" marB="0" anchor="ctr"/>
                </a:tc>
              </a:tr>
              <a:tr h="0">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000" kern="0" dirty="0" smtClean="0">
                          <a:effectLst/>
                          <a:latin typeface="Arial Narrow" pitchFamily="34" charset="0"/>
                        </a:rPr>
                        <a:t>GROUP_CAT</a:t>
                      </a:r>
                      <a:endParaRPr lang="en-US" sz="1000" kern="1600" dirty="0">
                        <a:effectLst/>
                        <a:latin typeface="Futura Bk"/>
                        <a:ea typeface="Times New Roman"/>
                        <a:cs typeface="Arial"/>
                      </a:endParaRPr>
                    </a:p>
                  </a:txBody>
                  <a:tcPr marL="68580" marR="68580" marT="0" marB="0" anchor="ctr">
                    <a:solidFill>
                      <a:srgbClr val="FFFF00"/>
                    </a:solidFill>
                  </a:tcPr>
                </a:tc>
                <a:tc>
                  <a:txBody>
                    <a:bodyPr/>
                    <a:lstStyle/>
                    <a:p>
                      <a:pPr marL="0" marR="0" algn="ctr">
                        <a:spcBef>
                          <a:spcPts val="0"/>
                        </a:spcBef>
                        <a:spcAft>
                          <a:spcPts val="0"/>
                        </a:spcAft>
                      </a:pPr>
                      <a:r>
                        <a:rPr lang="en-US" sz="900" kern="1600" dirty="0" smtClean="0">
                          <a:effectLst/>
                          <a:latin typeface="Arial Narrow" pitchFamily="34" charset="0"/>
                          <a:ea typeface="Times New Roman"/>
                          <a:cs typeface="Arial"/>
                        </a:rPr>
                        <a:t>Defines which Group</a:t>
                      </a:r>
                      <a:r>
                        <a:rPr lang="en-US" sz="900" kern="1600" baseline="0" dirty="0" smtClean="0">
                          <a:effectLst/>
                          <a:latin typeface="Arial Narrow" pitchFamily="34" charset="0"/>
                          <a:ea typeface="Times New Roman"/>
                          <a:cs typeface="Arial"/>
                        </a:rPr>
                        <a:t> an Order should be sorted under.</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800" kern="1600" dirty="0" smtClean="0">
                          <a:effectLst/>
                          <a:latin typeface="Arial Narrow" pitchFamily="34" charset="0"/>
                          <a:ea typeface="Times New Roman"/>
                          <a:cs typeface="Arial"/>
                        </a:rPr>
                        <a:t>Output</a:t>
                      </a:r>
                      <a:r>
                        <a:rPr lang="en-US" sz="800" kern="1600" baseline="0" dirty="0" smtClean="0">
                          <a:effectLst/>
                          <a:latin typeface="Arial Narrow" pitchFamily="34" charset="0"/>
                          <a:ea typeface="Times New Roman"/>
                          <a:cs typeface="Arial"/>
                        </a:rPr>
                        <a:t> of Production </a:t>
                      </a:r>
                      <a:r>
                        <a:rPr lang="en-US" sz="800" kern="1600" baseline="0" dirty="0" err="1" smtClean="0">
                          <a:effectLst/>
                          <a:latin typeface="Arial Narrow" pitchFamily="34" charset="0"/>
                          <a:ea typeface="Times New Roman"/>
                          <a:cs typeface="Arial"/>
                        </a:rPr>
                        <a:t>Conditon</a:t>
                      </a:r>
                      <a:r>
                        <a:rPr lang="en-US" sz="800" kern="1600" baseline="0" dirty="0" smtClean="0">
                          <a:effectLst/>
                          <a:latin typeface="Arial Narrow" pitchFamily="34" charset="0"/>
                          <a:ea typeface="Times New Roman"/>
                          <a:cs typeface="Arial"/>
                        </a:rPr>
                        <a:t> Table</a:t>
                      </a:r>
                      <a:endParaRPr lang="en-US" sz="8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800" kern="1600" dirty="0" smtClean="0">
                          <a:effectLst/>
                          <a:latin typeface="Arial Narrow" pitchFamily="34" charset="0"/>
                          <a:ea typeface="Times New Roman"/>
                          <a:cs typeface="Arial"/>
                        </a:rPr>
                        <a:t>Text</a:t>
                      </a:r>
                      <a:endParaRPr lang="en-US" sz="800" kern="1600" dirty="0">
                        <a:effectLst/>
                        <a:latin typeface="Arial Narrow" pitchFamily="34" charset="0"/>
                        <a:ea typeface="Times New Roman"/>
                        <a:cs typeface="Arial"/>
                      </a:endParaRPr>
                    </a:p>
                  </a:txBody>
                  <a:tcPr marL="68580" marR="68580" marT="0" marB="0" anchor="ctr"/>
                </a:tc>
              </a:tr>
              <a:tr h="0">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000" kern="0" dirty="0" smtClean="0">
                          <a:effectLst/>
                          <a:latin typeface="Arial Narrow" pitchFamily="34" charset="0"/>
                        </a:rPr>
                        <a:t>CONSOLI_COND</a:t>
                      </a:r>
                      <a:endParaRPr lang="en-US" sz="1000" kern="1600" dirty="0">
                        <a:effectLst/>
                        <a:latin typeface="Futura Bk"/>
                        <a:ea typeface="Times New Roman"/>
                        <a:cs typeface="Arial"/>
                      </a:endParaRPr>
                    </a:p>
                  </a:txBody>
                  <a:tcPr marL="68580" marR="68580" marT="0" marB="0" anchor="ctr">
                    <a:solidFill>
                      <a:srgbClr val="FFFF00"/>
                    </a:solidFill>
                  </a:tcPr>
                </a:tc>
                <a:tc>
                  <a:txBody>
                    <a:bodyPr/>
                    <a:lstStyle/>
                    <a:p>
                      <a:pPr marL="0" marR="0" algn="ctr">
                        <a:spcBef>
                          <a:spcPts val="0"/>
                        </a:spcBef>
                        <a:spcAft>
                          <a:spcPts val="0"/>
                        </a:spcAft>
                      </a:pPr>
                      <a:r>
                        <a:rPr lang="en-US" sz="900" kern="1600" dirty="0" smtClean="0">
                          <a:effectLst/>
                          <a:latin typeface="Arial Narrow" pitchFamily="34" charset="0"/>
                          <a:ea typeface="Times New Roman"/>
                          <a:cs typeface="Arial"/>
                        </a:rPr>
                        <a:t>Defines</a:t>
                      </a:r>
                      <a:r>
                        <a:rPr lang="en-US" sz="900" kern="1600" baseline="0" dirty="0" smtClean="0">
                          <a:effectLst/>
                          <a:latin typeface="Arial Narrow" pitchFamily="34" charset="0"/>
                          <a:ea typeface="Times New Roman"/>
                          <a:cs typeface="Arial"/>
                        </a:rPr>
                        <a:t> the condition which the orders within a sorted group should be consolidated,</a:t>
                      </a:r>
                      <a:endParaRPr lang="en-US" sz="9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800" kern="1600" dirty="0" smtClean="0">
                          <a:effectLst/>
                          <a:latin typeface="Arial Narrow" pitchFamily="34" charset="0"/>
                          <a:ea typeface="Times New Roman"/>
                          <a:cs typeface="Arial"/>
                        </a:rPr>
                        <a:t>Output</a:t>
                      </a:r>
                      <a:r>
                        <a:rPr lang="en-US" sz="800" kern="1600" baseline="0" dirty="0" smtClean="0">
                          <a:effectLst/>
                          <a:latin typeface="Arial Narrow" pitchFamily="34" charset="0"/>
                          <a:ea typeface="Times New Roman"/>
                          <a:cs typeface="Arial"/>
                        </a:rPr>
                        <a:t> of Production Condition Table</a:t>
                      </a:r>
                      <a:endParaRPr lang="en-US" sz="800" kern="1600" dirty="0">
                        <a:effectLst/>
                        <a:latin typeface="Arial Narrow" pitchFamily="34" charset="0"/>
                        <a:ea typeface="Times New Roman"/>
                        <a:cs typeface="Arial"/>
                      </a:endParaRPr>
                    </a:p>
                  </a:txBody>
                  <a:tcPr marL="68580" marR="68580" marT="0" marB="0" anchor="ctr"/>
                </a:tc>
                <a:tc>
                  <a:txBody>
                    <a:bodyPr/>
                    <a:lstStyle/>
                    <a:p>
                      <a:pPr marL="0" marR="0" algn="ctr">
                        <a:spcBef>
                          <a:spcPts val="0"/>
                        </a:spcBef>
                        <a:spcAft>
                          <a:spcPts val="0"/>
                        </a:spcAft>
                      </a:pPr>
                      <a:r>
                        <a:rPr lang="en-US" sz="800" kern="1600" dirty="0" smtClean="0">
                          <a:effectLst/>
                          <a:latin typeface="Arial Narrow" pitchFamily="34" charset="0"/>
                          <a:ea typeface="Times New Roman"/>
                          <a:cs typeface="Arial"/>
                        </a:rPr>
                        <a:t>Text</a:t>
                      </a:r>
                      <a:endParaRPr lang="en-US" sz="800" kern="1600" dirty="0">
                        <a:effectLst/>
                        <a:latin typeface="Arial Narrow" pitchFamily="34" charset="0"/>
                        <a:ea typeface="Times New Roman"/>
                        <a:cs typeface="Arial"/>
                      </a:endParaRPr>
                    </a:p>
                  </a:txBody>
                  <a:tcPr marL="68580" marR="68580" marT="0" marB="0" anchor="ctr"/>
                </a:tc>
              </a:tr>
            </a:tbl>
          </a:graphicData>
        </a:graphic>
      </p:graphicFrame>
    </p:spTree>
    <p:extLst>
      <p:ext uri="{BB962C8B-B14F-4D97-AF65-F5344CB8AC3E}">
        <p14:creationId xmlns:p14="http://schemas.microsoft.com/office/powerpoint/2010/main" xmlns="" val="203992949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 </a:t>
            </a:r>
            <a:endParaRPr lang="en-US" dirty="0"/>
          </a:p>
        </p:txBody>
      </p:sp>
      <p:sp>
        <p:nvSpPr>
          <p:cNvPr id="3" name="Title 2"/>
          <p:cNvSpPr>
            <a:spLocks noGrp="1"/>
          </p:cNvSpPr>
          <p:nvPr>
            <p:ph type="title"/>
          </p:nvPr>
        </p:nvSpPr>
        <p:spPr/>
        <p:txBody>
          <a:bodyPr/>
          <a:lstStyle/>
          <a:p>
            <a:r>
              <a:rPr lang="en-US" dirty="0" smtClean="0"/>
              <a:t>Order Group ID – ID Format</a:t>
            </a:r>
            <a:endParaRPr lang="en-US" dirty="0"/>
          </a:p>
        </p:txBody>
      </p:sp>
      <p:sp>
        <p:nvSpPr>
          <p:cNvPr id="4" name="Content Placeholder 3"/>
          <p:cNvSpPr>
            <a:spLocks noGrp="1"/>
          </p:cNvSpPr>
          <p:nvPr>
            <p:ph sz="quarter" idx="10"/>
          </p:nvPr>
        </p:nvSpPr>
        <p:spPr/>
        <p:txBody>
          <a:bodyPr/>
          <a:lstStyle/>
          <a:p>
            <a:pPr marL="285750" indent="-285750">
              <a:buFont typeface="Arial" pitchFamily="34" charset="0"/>
              <a:buChar char="•"/>
            </a:pPr>
            <a:r>
              <a:rPr lang="en-US" b="0" dirty="0" smtClean="0">
                <a:solidFill>
                  <a:schemeClr val="tx1"/>
                </a:solidFill>
              </a:rPr>
              <a:t>The Order Group ID will need to follow the following format:</a:t>
            </a:r>
          </a:p>
          <a:p>
            <a:pPr marL="627063" lvl="3" indent="-285750"/>
            <a:r>
              <a:rPr lang="en-US" dirty="0" smtClean="0">
                <a:solidFill>
                  <a:schemeClr val="tx1"/>
                </a:solidFill>
              </a:rPr>
              <a:t>First 2 characters will be “OG” to identify ID type (Order Group)</a:t>
            </a:r>
          </a:p>
          <a:p>
            <a:pPr marL="627063" lvl="3" indent="-285750"/>
            <a:r>
              <a:rPr lang="en-US" dirty="0" smtClean="0">
                <a:solidFill>
                  <a:schemeClr val="tx1"/>
                </a:solidFill>
              </a:rPr>
              <a:t>Next 2 characters will be used to identify ODM site; ODM code to be determined by HP BSaM Team </a:t>
            </a:r>
          </a:p>
          <a:p>
            <a:pPr marL="627063" lvl="3" indent="-285750"/>
            <a:r>
              <a:rPr lang="en-US" dirty="0" smtClean="0">
                <a:solidFill>
                  <a:schemeClr val="tx1"/>
                </a:solidFill>
              </a:rPr>
              <a:t>Next 2 characters will be used to identify Destination Region;  NA, LA, EMEA, AP</a:t>
            </a:r>
          </a:p>
          <a:p>
            <a:pPr marL="627063" lvl="3" indent="-285750"/>
            <a:r>
              <a:rPr lang="en-US" dirty="0" smtClean="0">
                <a:solidFill>
                  <a:schemeClr val="tx1"/>
                </a:solidFill>
              </a:rPr>
              <a:t>Next 6 characters/digits will be alpha numeric to represent unique Order Group</a:t>
            </a:r>
          </a:p>
          <a:p>
            <a:pPr marL="627063" lvl="3" indent="-285750">
              <a:buFont typeface="Arial" pitchFamily="34" charset="0"/>
              <a:buChar char="•"/>
            </a:pPr>
            <a:endParaRPr lang="en-US" dirty="0">
              <a:solidFill>
                <a:schemeClr val="tx1"/>
              </a:solidFill>
            </a:endParaRPr>
          </a:p>
          <a:p>
            <a:pPr lvl="3" indent="0">
              <a:buNone/>
            </a:pPr>
            <a:r>
              <a:rPr lang="en-US" dirty="0" smtClean="0">
                <a:solidFill>
                  <a:schemeClr val="tx1"/>
                </a:solidFill>
              </a:rPr>
              <a:t>Examples:</a:t>
            </a:r>
          </a:p>
          <a:p>
            <a:pPr marL="627063" lvl="3" indent="-285750"/>
            <a:r>
              <a:rPr lang="en-US" dirty="0" smtClean="0">
                <a:solidFill>
                  <a:schemeClr val="tx1"/>
                </a:solidFill>
              </a:rPr>
              <a:t>OGOENA000001 (Order Group + OEM Code + Region + 000001)</a:t>
            </a:r>
          </a:p>
          <a:p>
            <a:pPr marL="627063" lvl="3" indent="-285750"/>
            <a:r>
              <a:rPr lang="en-US" dirty="0" smtClean="0">
                <a:solidFill>
                  <a:schemeClr val="tx1"/>
                </a:solidFill>
              </a:rPr>
              <a:t>OGOENA00000A (Order Group + OEM Code + Region + 00000A) </a:t>
            </a:r>
            <a:endParaRPr lang="en-US" dirty="0">
              <a:solidFill>
                <a:schemeClr val="tx1"/>
              </a:solidFill>
            </a:endParaRPr>
          </a:p>
          <a:p>
            <a:pPr lvl="3" indent="0">
              <a:buNone/>
            </a:pPr>
            <a:r>
              <a:rPr lang="en-US" dirty="0" smtClean="0">
                <a:solidFill>
                  <a:schemeClr val="tx1"/>
                </a:solidFill>
              </a:rPr>
              <a:t>  </a:t>
            </a:r>
            <a:endParaRPr lang="en-US" b="0" dirty="0">
              <a:solidFill>
                <a:schemeClr val="tx1"/>
              </a:solidFill>
            </a:endParaRPr>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81</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1503413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 </a:t>
            </a:r>
            <a:endParaRPr lang="en-US" dirty="0"/>
          </a:p>
        </p:txBody>
      </p:sp>
      <p:sp>
        <p:nvSpPr>
          <p:cNvPr id="3" name="Title 2"/>
          <p:cNvSpPr>
            <a:spLocks noGrp="1"/>
          </p:cNvSpPr>
          <p:nvPr>
            <p:ph type="title"/>
          </p:nvPr>
        </p:nvSpPr>
        <p:spPr/>
        <p:txBody>
          <a:bodyPr/>
          <a:lstStyle/>
          <a:p>
            <a:r>
              <a:rPr lang="en-US" dirty="0" smtClean="0"/>
              <a:t>Design Concept Points</a:t>
            </a:r>
            <a:endParaRPr lang="en-US" dirty="0"/>
          </a:p>
        </p:txBody>
      </p:sp>
      <p:sp>
        <p:nvSpPr>
          <p:cNvPr id="4" name="Content Placeholder 3"/>
          <p:cNvSpPr>
            <a:spLocks noGrp="1"/>
          </p:cNvSpPr>
          <p:nvPr>
            <p:ph sz="quarter" idx="10"/>
          </p:nvPr>
        </p:nvSpPr>
        <p:spPr/>
        <p:txBody>
          <a:bodyPr/>
          <a:lstStyle/>
          <a:p>
            <a:pPr marL="285750" indent="-285750">
              <a:buFont typeface="Arial" pitchFamily="34" charset="0"/>
              <a:buChar char="•"/>
            </a:pPr>
            <a:r>
              <a:rPr lang="en-US" sz="1600" b="0" dirty="0" smtClean="0">
                <a:solidFill>
                  <a:schemeClr val="tx1"/>
                </a:solidFill>
              </a:rPr>
              <a:t>The BSaM Prod Grouping should generally be run only one time for a set of orders (Unlike HVLS which may be conducted multiple times)</a:t>
            </a:r>
          </a:p>
          <a:p>
            <a:pPr marL="285750" indent="-285750">
              <a:buFont typeface="Arial" pitchFamily="34" charset="0"/>
              <a:buChar char="•"/>
            </a:pPr>
            <a:endParaRPr lang="en-US" sz="1600" b="0" dirty="0">
              <a:solidFill>
                <a:schemeClr val="tx1"/>
              </a:solidFill>
            </a:endParaRPr>
          </a:p>
          <a:p>
            <a:pPr marL="285750" indent="-285750">
              <a:buFont typeface="Arial" pitchFamily="34" charset="0"/>
              <a:buChar char="•"/>
            </a:pPr>
            <a:r>
              <a:rPr lang="en-US" sz="1600" b="0" dirty="0" smtClean="0">
                <a:solidFill>
                  <a:schemeClr val="tx1"/>
                </a:solidFill>
              </a:rPr>
              <a:t>The BSaM Prod Grouping has been designed to simplify the grouping process and to conduct this off of one single Condition Table (unlike HVLS which has &gt;16)</a:t>
            </a:r>
          </a:p>
          <a:p>
            <a:pPr marL="285750" indent="-285750">
              <a:buFont typeface="Arial" pitchFamily="34" charset="0"/>
              <a:buChar char="•"/>
            </a:pPr>
            <a:endParaRPr lang="en-US" sz="1600" b="0" dirty="0">
              <a:solidFill>
                <a:schemeClr val="tx1"/>
              </a:solidFill>
            </a:endParaRPr>
          </a:p>
          <a:p>
            <a:pPr marL="285750" indent="-285750">
              <a:buFont typeface="Arial" pitchFamily="34" charset="0"/>
              <a:buChar char="•"/>
            </a:pPr>
            <a:r>
              <a:rPr lang="en-US" sz="1600" b="0" dirty="0" smtClean="0">
                <a:solidFill>
                  <a:schemeClr val="tx1"/>
                </a:solidFill>
              </a:rPr>
              <a:t>The management of the condition table will be positioned under the ODM.  (Unlike HVLS where the CTs are mainly managed on the HP side).  This should enable the ODM to conduct independent internal testing vs. joint testing.  Currently HVLS joint testing consumes a lot of time and resources.</a:t>
            </a:r>
            <a:endParaRPr lang="en-US" sz="1600" b="0" dirty="0">
              <a:solidFill>
                <a:schemeClr val="tx1"/>
              </a:solidFill>
            </a:endParaRPr>
          </a:p>
        </p:txBody>
      </p:sp>
      <p:sp>
        <p:nvSpPr>
          <p:cNvPr id="5" name="Rounded Rectangle 4"/>
          <p:cNvSpPr/>
          <p:nvPr/>
        </p:nvSpPr>
        <p:spPr>
          <a:xfrm>
            <a:off x="361950" y="88900"/>
            <a:ext cx="958850" cy="158750"/>
          </a:xfrm>
          <a:prstGeom prst="roundRect">
            <a:avLst/>
          </a:prstGeom>
          <a:solidFill>
            <a:srgbClr val="3399FF">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chemeClr val="tx1"/>
                </a:solidFill>
                <a:latin typeface="Arial Black" pitchFamily="34" charset="0"/>
                <a:cs typeface="Aharoni" pitchFamily="2" charset="-79"/>
              </a:rPr>
              <a:t>Slide 82</a:t>
            </a:r>
            <a:endParaRPr lang="en-US" sz="1000" dirty="0">
              <a:solidFill>
                <a:schemeClr val="tx1"/>
              </a:solidFill>
              <a:latin typeface="Arial Black" pitchFamily="34" charset="0"/>
              <a:cs typeface="Aharoni" pitchFamily="2" charset="-79"/>
            </a:endParaRPr>
          </a:p>
        </p:txBody>
      </p:sp>
    </p:spTree>
    <p:extLst>
      <p:ext uri="{BB962C8B-B14F-4D97-AF65-F5344CB8AC3E}">
        <p14:creationId xmlns:p14="http://schemas.microsoft.com/office/powerpoint/2010/main" xmlns="" val="111071929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5" name="Rectangle 14"/>
          <p:cNvSpPr/>
          <p:nvPr/>
        </p:nvSpPr>
        <p:spPr>
          <a:xfrm>
            <a:off x="-12820" y="0"/>
            <a:ext cx="9144000" cy="51435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Oval 2"/>
          <p:cNvSpPr/>
          <p:nvPr/>
        </p:nvSpPr>
        <p:spPr>
          <a:xfrm>
            <a:off x="3522858" y="1537278"/>
            <a:ext cx="2088121" cy="2084832"/>
          </a:xfrm>
          <a:prstGeom prst="ellipse">
            <a:avLst/>
          </a:prstGeom>
          <a:gradFill flip="none" rotWithShape="1">
            <a:gsLst>
              <a:gs pos="27000">
                <a:srgbClr val="5E9EFF"/>
              </a:gs>
              <a:gs pos="71000">
                <a:srgbClr val="85C2FF"/>
              </a:gs>
              <a:gs pos="33000">
                <a:schemeClr val="tx1"/>
              </a:gs>
              <a:gs pos="100000">
                <a:schemeClr val="bg1">
                  <a:alpha val="7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p:cNvPicPr>
            <a:picLocks noChangeAspect="1" noChangeArrowheads="1"/>
          </p:cNvPicPr>
          <p:nvPr/>
        </p:nvPicPr>
        <p:blipFill>
          <a:blip r:embed="rId2" cstate="print"/>
          <a:stretch>
            <a:fillRect/>
          </a:stretch>
        </p:blipFill>
        <p:spPr bwMode="auto">
          <a:xfrm>
            <a:off x="6463004" y="2258745"/>
            <a:ext cx="529938" cy="440665"/>
          </a:xfrm>
          <a:prstGeom prst="rect">
            <a:avLst/>
          </a:prstGeom>
          <a:noFill/>
          <a:ln w="9525">
            <a:noFill/>
            <a:miter lim="800000"/>
            <a:headEnd/>
            <a:tailEnd/>
          </a:ln>
          <a:effectLst/>
        </p:spPr>
      </p:pic>
      <p:sp>
        <p:nvSpPr>
          <p:cNvPr id="5" name="Oval 4"/>
          <p:cNvSpPr/>
          <p:nvPr/>
        </p:nvSpPr>
        <p:spPr>
          <a:xfrm>
            <a:off x="3804916" y="1793363"/>
            <a:ext cx="1524000" cy="1527048"/>
          </a:xfrm>
          <a:prstGeom prst="ellipse">
            <a:avLst/>
          </a:prstGeom>
          <a:gradFill flip="none" rotWithShape="1">
            <a:gsLst>
              <a:gs pos="0">
                <a:schemeClr val="bg1"/>
              </a:gs>
              <a:gs pos="68000">
                <a:schemeClr val="bg1">
                  <a:lumMod val="50000"/>
                </a:schemeClr>
              </a:gs>
              <a:gs pos="100000">
                <a:schemeClr val="bg1">
                  <a:lumMod val="9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ffectLst>
                <a:glow rad="228600">
                  <a:srgbClr val="83DAEF">
                    <a:alpha val="40000"/>
                  </a:srgbClr>
                </a:glow>
              </a:effectLst>
            </a:endParaRPr>
          </a:p>
        </p:txBody>
      </p:sp>
      <p:sp>
        <p:nvSpPr>
          <p:cNvPr id="6" name="Rectangle 5"/>
          <p:cNvSpPr/>
          <p:nvPr/>
        </p:nvSpPr>
        <p:spPr>
          <a:xfrm>
            <a:off x="3804916" y="2228447"/>
            <a:ext cx="1524000" cy="707886"/>
          </a:xfrm>
          <a:prstGeom prst="rect">
            <a:avLst/>
          </a:prstGeom>
          <a:noFill/>
          <a:effectLst>
            <a:glow rad="228600">
              <a:schemeClr val="accent1">
                <a:satMod val="175000"/>
                <a:alpha val="40000"/>
              </a:schemeClr>
            </a:glow>
          </a:effectLst>
        </p:spPr>
        <p:txBody>
          <a:bodyPr wrap="square" lIns="91440" tIns="45720" rIns="91440" bIns="45720">
            <a:spAutoFit/>
            <a:scene3d>
              <a:camera prst="orthographicFront"/>
              <a:lightRig rig="threePt" dir="t"/>
            </a:scene3d>
            <a:sp3d extrusionH="57150">
              <a:bevelT w="38100" h="38100" prst="angle"/>
            </a:sp3d>
          </a:bodyPr>
          <a:lstStyle/>
          <a:p>
            <a:pPr algn="ctr"/>
            <a:r>
              <a:rPr lang="en-US" sz="4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glow rad="139700">
                    <a:srgbClr val="79EFFB"/>
                  </a:glow>
                  <a:outerShdw blurRad="50800" algn="tl" rotWithShape="0">
                    <a:srgbClr val="000000"/>
                  </a:outerShdw>
                </a:effectLst>
                <a:latin typeface="Calibri" pitchFamily="34" charset="0"/>
              </a:rPr>
              <a:t>BSaM</a:t>
            </a:r>
            <a:endParaRPr lang="en-US" sz="4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glow rad="139700">
                  <a:srgbClr val="79EFFB"/>
                </a:glow>
                <a:outerShdw blurRad="50800" algn="tl" rotWithShape="0">
                  <a:srgbClr val="000000"/>
                </a:outerShdw>
              </a:effectLst>
              <a:latin typeface="Calibri" pitchFamily="34" charset="0"/>
            </a:endParaRPr>
          </a:p>
        </p:txBody>
      </p:sp>
      <p:pic>
        <p:nvPicPr>
          <p:cNvPr id="7" name="Picture 2"/>
          <p:cNvPicPr>
            <a:picLocks noChangeArrowheads="1"/>
          </p:cNvPicPr>
          <p:nvPr/>
        </p:nvPicPr>
        <p:blipFill>
          <a:blip r:embed="rId3" cstate="print"/>
          <a:srcRect/>
          <a:stretch>
            <a:fillRect/>
          </a:stretch>
        </p:blipFill>
        <p:spPr bwMode="auto">
          <a:xfrm>
            <a:off x="4388608" y="1914365"/>
            <a:ext cx="356616" cy="356616"/>
          </a:xfrm>
          <a:prstGeom prst="rect">
            <a:avLst/>
          </a:prstGeom>
          <a:noFill/>
          <a:ln w="9525">
            <a:noFill/>
            <a:miter lim="800000"/>
            <a:headEnd/>
            <a:tailEnd/>
          </a:ln>
          <a:effectLst/>
        </p:spPr>
      </p:pic>
      <p:sp>
        <p:nvSpPr>
          <p:cNvPr id="8" name="Oval 7"/>
          <p:cNvSpPr/>
          <p:nvPr/>
        </p:nvSpPr>
        <p:spPr>
          <a:xfrm>
            <a:off x="4338316" y="1863384"/>
            <a:ext cx="457200" cy="457200"/>
          </a:xfrm>
          <a:prstGeom prst="ellipse">
            <a:avLst/>
          </a:prstGeom>
          <a:solidFill>
            <a:schemeClr val="tx1">
              <a:alpha val="1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noChangeArrowheads="1"/>
          </p:cNvPicPr>
          <p:nvPr/>
        </p:nvPicPr>
        <p:blipFill>
          <a:blip r:embed="rId4" cstate="print"/>
          <a:stretch>
            <a:fillRect/>
          </a:stretch>
        </p:blipFill>
        <p:spPr bwMode="auto">
          <a:xfrm rot="10800000" flipH="1">
            <a:off x="2021689" y="2295639"/>
            <a:ext cx="385491" cy="438912"/>
          </a:xfrm>
          <a:prstGeom prst="rect">
            <a:avLst/>
          </a:prstGeom>
          <a:noFill/>
          <a:ln w="9525">
            <a:noFill/>
            <a:miter lim="800000"/>
            <a:headEnd/>
            <a:tailEnd/>
          </a:ln>
          <a:effectLst/>
        </p:spPr>
      </p:pic>
      <p:cxnSp>
        <p:nvCxnSpPr>
          <p:cNvPr id="10" name="Curved Connector 9"/>
          <p:cNvCxnSpPr/>
          <p:nvPr/>
        </p:nvCxnSpPr>
        <p:spPr>
          <a:xfrm flipH="1">
            <a:off x="3804916" y="2337707"/>
            <a:ext cx="1524000" cy="16933"/>
          </a:xfrm>
          <a:prstGeom prst="curvedConnector5">
            <a:avLst>
              <a:gd name="adj1" fmla="val -73031"/>
              <a:gd name="adj2" fmla="val 1771567"/>
              <a:gd name="adj3" fmla="val 173276"/>
            </a:avLst>
          </a:prstGeom>
          <a:ln w="19050">
            <a:solidFill>
              <a:srgbClr val="CCECFF">
                <a:alpha val="80000"/>
              </a:srgbClr>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6534971" y="2232481"/>
            <a:ext cx="415778" cy="5148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025316" y="2241717"/>
            <a:ext cx="415778" cy="5148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a:spLocks noChangeAspect="1"/>
          </p:cNvSpPr>
          <p:nvPr/>
        </p:nvSpPr>
        <p:spPr>
          <a:xfrm>
            <a:off x="1413826" y="1195882"/>
            <a:ext cx="6290713" cy="2400657"/>
          </a:xfrm>
          <a:prstGeom prst="rect">
            <a:avLst/>
          </a:prstGeom>
          <a:noFill/>
          <a:effectLst>
            <a:glow rad="228600">
              <a:schemeClr val="accent1">
                <a:satMod val="175000"/>
                <a:alpha val="40000"/>
              </a:schemeClr>
            </a:glow>
          </a:effectLst>
        </p:spPr>
        <p:txBody>
          <a:bodyPr wrap="square" lIns="91440" tIns="45720" rIns="91440" bIns="45720">
            <a:spAutoFit/>
            <a:scene3d>
              <a:camera prst="orthographicFront"/>
              <a:lightRig rig="threePt" dir="t"/>
            </a:scene3d>
            <a:sp3d extrusionH="57150">
              <a:bevelT w="38100" h="38100" prst="angle"/>
            </a:sp3d>
          </a:bodyPr>
          <a:lstStyle/>
          <a:p>
            <a:pPr algn="ctr"/>
            <a:r>
              <a:rPr lang="en-US" sz="15000" b="1"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glow rad="139700">
                    <a:srgbClr val="79EFFB"/>
                  </a:glow>
                  <a:outerShdw blurRad="50800" algn="tl" rotWithShape="0">
                    <a:srgbClr val="000000"/>
                  </a:outerShdw>
                </a:effectLst>
                <a:latin typeface="Calibri" pitchFamily="34" charset="0"/>
              </a:rPr>
              <a:t>BSaM</a:t>
            </a:r>
            <a:endParaRPr lang="en-US" sz="150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glow rad="139700">
                  <a:srgbClr val="79EFFB"/>
                </a:glow>
                <a:outerShdw blurRad="50800" algn="tl" rotWithShape="0">
                  <a:srgbClr val="000000"/>
                </a:outerShdw>
              </a:effectLst>
              <a:latin typeface="Calibri" pitchFamily="34" charset="0"/>
            </a:endParaRPr>
          </a:p>
        </p:txBody>
      </p:sp>
      <p:sp>
        <p:nvSpPr>
          <p:cNvPr id="14" name="TextBox 13"/>
          <p:cNvSpPr txBox="1"/>
          <p:nvPr/>
        </p:nvSpPr>
        <p:spPr>
          <a:xfrm>
            <a:off x="2179616" y="3584173"/>
            <a:ext cx="4710905" cy="492443"/>
          </a:xfrm>
          <a:prstGeom prst="rect">
            <a:avLst/>
          </a:prstGeom>
          <a:noFill/>
        </p:spPr>
        <p:txBody>
          <a:bodyPr wrap="none" rtlCol="0">
            <a:spAutoFit/>
            <a:scene3d>
              <a:camera prst="orthographicFront"/>
              <a:lightRig rig="threePt" dir="t"/>
            </a:scene3d>
            <a:sp3d extrusionH="57150">
              <a:bevelT w="38100" h="38100"/>
            </a:sp3d>
          </a:bodyPr>
          <a:lstStyle/>
          <a:p>
            <a:pPr algn="ctr"/>
            <a:r>
              <a:rPr lang="en-US" sz="2600" b="1" dirty="0" smtClean="0">
                <a:solidFill>
                  <a:schemeClr val="bg1"/>
                </a:solidFill>
                <a:latin typeface="Arial Black" pitchFamily="34" charset="0"/>
              </a:rPr>
              <a:t>The New Hybrid Solution</a:t>
            </a:r>
            <a:endParaRPr lang="en-US" sz="2600" b="1" dirty="0">
              <a:solidFill>
                <a:schemeClr val="bg1"/>
              </a:solidFill>
              <a:latin typeface="Arial Black" pitchFamily="34" charset="0"/>
            </a:endParaRPr>
          </a:p>
        </p:txBody>
      </p:sp>
    </p:spTree>
    <p:extLst>
      <p:ext uri="{BB962C8B-B14F-4D97-AF65-F5344CB8AC3E}">
        <p14:creationId xmlns:p14="http://schemas.microsoft.com/office/powerpoint/2010/main" xmlns="" val="18980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1" nodeType="withEffect">
                                  <p:stCondLst>
                                    <p:cond delay="1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par>
                                <p:cTn id="8" presetID="6" presetClass="emph" presetSubtype="0" repeatCount="indefinite" autoRev="1" fill="hold" grpId="0" nodeType="withEffect">
                                  <p:stCondLst>
                                    <p:cond delay="1000"/>
                                  </p:stCondLst>
                                  <p:childTnLst>
                                    <p:animScale>
                                      <p:cBhvr>
                                        <p:cTn id="9" dur="1000" fill="hold"/>
                                        <p:tgtEl>
                                          <p:spTgt spid="3"/>
                                        </p:tgtEl>
                                      </p:cBhvr>
                                      <p:by x="103000" y="103000"/>
                                    </p:animScale>
                                  </p:childTnLst>
                                </p:cTn>
                              </p:par>
                              <p:par>
                                <p:cTn id="10" presetID="10" presetClass="entr" presetSubtype="0" fill="hold" grpId="0" nodeType="withEffect">
                                  <p:stCondLst>
                                    <p:cond delay="40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childTnLst>
                                </p:cTn>
                              </p:par>
                              <p:par>
                                <p:cTn id="13" presetID="10" presetClass="entr" presetSubtype="0" fill="hold" grpId="0" nodeType="withEffect">
                                  <p:stCondLst>
                                    <p:cond delay="40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childTnLst>
                                </p:cTn>
                              </p:par>
                              <p:par>
                                <p:cTn id="16" presetID="10" presetClass="entr" presetSubtype="0" fill="hold" nodeType="withEffect">
                                  <p:stCondLst>
                                    <p:cond delay="40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childTnLst>
                                </p:cTn>
                              </p:par>
                              <p:par>
                                <p:cTn id="19" presetID="10" presetClass="entr" presetSubtype="0" fill="hold" grpId="0" nodeType="withEffect">
                                  <p:stCondLst>
                                    <p:cond delay="40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childTnLst>
                                </p:cTn>
                              </p:par>
                              <p:par>
                                <p:cTn id="22" presetID="10" presetClass="entr" presetSubtype="0" fill="hold" nodeType="withEffect">
                                  <p:stCondLst>
                                    <p:cond delay="40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3000"/>
                                        <p:tgtEl>
                                          <p:spTgt spid="10"/>
                                        </p:tgtEl>
                                      </p:cBhvr>
                                    </p:animEffect>
                                  </p:childTnLst>
                                </p:cTn>
                              </p:par>
                              <p:par>
                                <p:cTn id="25" presetID="0" presetClass="path" presetSubtype="0" repeatCount="indefinite" fill="hold" nodeType="withEffect">
                                  <p:stCondLst>
                                    <p:cond delay="3000"/>
                                  </p:stCondLst>
                                  <p:childTnLst>
                                    <p:animMotion origin="layout" path="M 0.04514 1.97409E-6 C 0.04722 0.00123 0.04948 0.00216 0.0526 0.00339 C 0.05573 0.00462 0.06059 0.00586 0.06406 0.00648 C 0.06753 0.0074 0.06962 0.00771 0.07344 0.00833 C 0.07726 0.00894 0.08021 0.00925 0.08698 0.01018 C 0.09375 0.01079 0.10486 0.01234 0.11337 0.01326 C 0.12187 0.01419 0.13055 0.0145 0.1375 0.01511 C 0.14462 0.01542 0.1493 0.01635 0.15555 0.01665 C 0.1618 0.01696 0.16719 0.01696 0.17448 0.01727 C 0.18194 0.01758 0.19184 0.0182 0.20052 0.01851 C 0.20903 0.01881 0.21753 0.01912 0.22604 0.01943 C 0.2342 0.01974 0.24201 0.01943 0.25052 0.01943 C 0.25885 0.01943 0.26857 0.01974 0.27691 0.01943 C 0.28559 0.01912 0.29288 0.01881 0.30104 0.01851 C 0.30937 0.0182 0.31632 0.01851 0.32656 0.01789 C 0.3368 0.01727 0.35226 0.01604 0.36232 0.01542 C 0.37239 0.01511 0.3809 0.0145 0.38819 0.01388 C 0.39566 0.01326 0.40226 0.01172 0.40729 0.0111 C 0.4125 0.01079 0.41406 0.01079 0.41875 0.01018 C 0.42378 0.00956 0.43212 0.00802 0.4368 0.00709 C 0.44149 0.00617 0.44392 0.00555 0.44705 0.00462 C 0.45035 0.0037 0.45382 0.00277 0.45625 0.00185 C 0.45868 0.00061 0.46042 -0.00216 0.46146 -0.00247 " pathEditMode="relative" rAng="0" ptsTypes="aaaaaaaaaaaaaaaaaaaaaaA">
                                      <p:cBhvr>
                                        <p:cTn id="26" dur="1250" fill="hold"/>
                                        <p:tgtEl>
                                          <p:spTgt spid="9"/>
                                        </p:tgtEl>
                                        <p:attrNameLst>
                                          <p:attrName>ppt_x</p:attrName>
                                          <p:attrName>ppt_y</p:attrName>
                                        </p:attrNameLst>
                                      </p:cBhvr>
                                      <p:rCtr x="20800" y="900"/>
                                    </p:animMotion>
                                  </p:childTnLst>
                                  <p:subTnLst>
                                    <p:set>
                                      <p:cBhvr override="childStyle">
                                        <p:cTn dur="1" fill="hold" display="0" masterRel="sameClick" afterEffect="1">
                                          <p:stCondLst>
                                            <p:cond evt="end" delay="0">
                                              <p:tn val="25"/>
                                            </p:cond>
                                          </p:stCondLst>
                                        </p:cTn>
                                        <p:tgtEl>
                                          <p:spTgt spid="9"/>
                                        </p:tgtEl>
                                        <p:attrNameLst>
                                          <p:attrName>style.visibility</p:attrName>
                                        </p:attrNameLst>
                                      </p:cBhvr>
                                      <p:to>
                                        <p:strVal val="hidden"/>
                                      </p:to>
                                    </p:set>
                                  </p:subTnLst>
                                </p:cTn>
                              </p:par>
                              <p:par>
                                <p:cTn id="27" presetID="0" presetClass="path" presetSubtype="0" repeatCount="indefinite" fill="hold" nodeType="withEffect">
                                  <p:stCondLst>
                                    <p:cond delay="3000"/>
                                  </p:stCondLst>
                                  <p:childTnLst>
                                    <p:animMotion origin="layout" path="M -0.03263 -4.34917E-6 C -0.03472 -0.00123 -0.03697 -0.00215 -0.0401 -0.00339 C -0.04322 -0.00462 -0.04809 -0.00586 -0.05156 -0.00647 C -0.05503 -0.0074 -0.05711 -0.00771 -0.06093 -0.00832 C -0.06475 -0.00894 -0.0677 -0.00925 -0.07447 -0.01017 C -0.08125 -0.01079 -0.09236 -0.01233 -0.10086 -0.01326 C -0.10937 -0.01418 -0.11805 -0.01449 -0.125 -0.01511 C -0.13211 -0.01542 -0.1368 -0.01634 -0.14305 -0.01665 C -0.1493 -0.01696 -0.15468 -0.01696 -0.16197 -0.01727 C -0.16944 -0.01758 -0.17934 -0.01819 -0.18802 -0.0185 C -0.19652 -0.01881 -0.20503 -0.01912 -0.21354 -0.01943 C -0.2217 -0.01974 -0.22951 -0.01943 -0.23802 -0.01943 C -0.24635 -0.01943 -0.25607 -0.01974 -0.2644 -0.01943 C -0.27309 -0.01912 -0.28038 -0.01881 -0.28854 -0.0185 C -0.29687 -0.01819 -0.30381 -0.0185 -0.31406 -0.01789 C -0.3243 -0.01727 -0.33975 -0.01604 -0.34982 -0.01542 C -0.35989 -0.01511 -0.3684 -0.01449 -0.37569 -0.01388 C -0.38315 -0.01326 -0.38975 -0.01172 -0.39479 -0.0111 C -0.4 -0.01079 -0.40156 -0.01079 -0.40625 -0.01017 C -0.41128 -0.00956 -0.41961 -0.00802 -0.4243 -0.00709 C -0.42899 -0.00616 -0.43142 -0.00555 -0.43454 -0.00462 C -0.43784 -0.0037 -0.44131 -0.00277 -0.44375 -0.00185 C -0.44618 -0.00061 -0.44791 0.00216 -0.44895 0.00247 " pathEditMode="relative" rAng="10800000" ptsTypes="aaaaaaaaaaaaaaaaaaaaaaA">
                                      <p:cBhvr>
                                        <p:cTn id="28" dur="1250" fill="hold"/>
                                        <p:tgtEl>
                                          <p:spTgt spid="4"/>
                                        </p:tgtEl>
                                        <p:attrNameLst>
                                          <p:attrName>ppt_x</p:attrName>
                                          <p:attrName>ppt_y</p:attrName>
                                        </p:attrNameLst>
                                      </p:cBhvr>
                                      <p:rCtr x="-20800" y="-900"/>
                                    </p:animMotion>
                                  </p:childTnLst>
                                  <p:subTnLst>
                                    <p:set>
                                      <p:cBhvr override="childStyle">
                                        <p:cTn dur="1" fill="hold" display="0" masterRel="sameClick" afterEffect="1">
                                          <p:stCondLst>
                                            <p:cond evt="end" delay="0">
                                              <p:tn val="27"/>
                                            </p:cond>
                                          </p:stCondLst>
                                        </p:cTn>
                                        <p:tgtEl>
                                          <p:spTgt spid="4"/>
                                        </p:tgtEl>
                                        <p:attrNameLst>
                                          <p:attrName>style.visibility</p:attrName>
                                        </p:attrNameLst>
                                      </p:cBhvr>
                                      <p:to>
                                        <p:strVal val="hidden"/>
                                      </p:to>
                                    </p:set>
                                  </p:subTnLst>
                                </p:cTn>
                              </p:par>
                            </p:childTnLst>
                          </p:cTn>
                        </p:par>
                        <p:par>
                          <p:cTn id="29" fill="hold">
                            <p:stCondLst>
                              <p:cond delay="7000"/>
                            </p:stCondLst>
                            <p:childTnLst>
                              <p:par>
                                <p:cTn id="30" presetID="10" presetClass="exit" presetSubtype="0" fill="hold" grpId="2" nodeType="afterEffect">
                                  <p:stCondLst>
                                    <p:cond delay="0"/>
                                  </p:stCondLst>
                                  <p:childTnLst>
                                    <p:animEffect transition="out" filter="fade">
                                      <p:cBhvr>
                                        <p:cTn id="31" dur="2000"/>
                                        <p:tgtEl>
                                          <p:spTgt spid="3"/>
                                        </p:tgtEl>
                                      </p:cBhvr>
                                    </p:animEffect>
                                    <p:set>
                                      <p:cBhvr>
                                        <p:cTn id="32" dur="1" fill="hold">
                                          <p:stCondLst>
                                            <p:cond delay="1999"/>
                                          </p:stCondLst>
                                        </p:cTn>
                                        <p:tgtEl>
                                          <p:spTgt spid="3"/>
                                        </p:tgtEl>
                                        <p:attrNameLst>
                                          <p:attrName>style.visibility</p:attrName>
                                        </p:attrNameLst>
                                      </p:cBhvr>
                                      <p:to>
                                        <p:strVal val="hidden"/>
                                      </p:to>
                                    </p:set>
                                  </p:childTnLst>
                                </p:cTn>
                              </p:par>
                              <p:par>
                                <p:cTn id="33" presetID="10" presetClass="exit" presetSubtype="0" fill="hold" nodeType="withEffect">
                                  <p:stCondLst>
                                    <p:cond delay="0"/>
                                  </p:stCondLst>
                                  <p:childTnLst>
                                    <p:animEffect transition="out" filter="fade">
                                      <p:cBhvr>
                                        <p:cTn id="34" dur="2000"/>
                                        <p:tgtEl>
                                          <p:spTgt spid="4"/>
                                        </p:tgtEl>
                                      </p:cBhvr>
                                    </p:animEffect>
                                    <p:set>
                                      <p:cBhvr>
                                        <p:cTn id="35" dur="1" fill="hold">
                                          <p:stCondLst>
                                            <p:cond delay="1999"/>
                                          </p:stCondLst>
                                        </p:cTn>
                                        <p:tgtEl>
                                          <p:spTgt spid="4"/>
                                        </p:tgtEl>
                                        <p:attrNameLst>
                                          <p:attrName>style.visibility</p:attrName>
                                        </p:attrNameLst>
                                      </p:cBhvr>
                                      <p:to>
                                        <p:strVal val="hidden"/>
                                      </p:to>
                                    </p:set>
                                  </p:childTnLst>
                                </p:cTn>
                              </p:par>
                              <p:par>
                                <p:cTn id="36" presetID="10" presetClass="exit" presetSubtype="0" fill="hold" grpId="1" nodeType="withEffect">
                                  <p:stCondLst>
                                    <p:cond delay="0"/>
                                  </p:stCondLst>
                                  <p:childTnLst>
                                    <p:animEffect transition="out" filter="fade">
                                      <p:cBhvr>
                                        <p:cTn id="37" dur="2000"/>
                                        <p:tgtEl>
                                          <p:spTgt spid="5"/>
                                        </p:tgtEl>
                                      </p:cBhvr>
                                    </p:animEffect>
                                    <p:set>
                                      <p:cBhvr>
                                        <p:cTn id="38" dur="1" fill="hold">
                                          <p:stCondLst>
                                            <p:cond delay="1999"/>
                                          </p:stCondLst>
                                        </p:cTn>
                                        <p:tgtEl>
                                          <p:spTgt spid="5"/>
                                        </p:tgtEl>
                                        <p:attrNameLst>
                                          <p:attrName>style.visibility</p:attrName>
                                        </p:attrNameLst>
                                      </p:cBhvr>
                                      <p:to>
                                        <p:strVal val="hidden"/>
                                      </p:to>
                                    </p:set>
                                  </p:childTnLst>
                                </p:cTn>
                              </p:par>
                              <p:par>
                                <p:cTn id="39" presetID="10" presetClass="exit" presetSubtype="0" fill="hold" nodeType="withEffect">
                                  <p:stCondLst>
                                    <p:cond delay="0"/>
                                  </p:stCondLst>
                                  <p:childTnLst>
                                    <p:animEffect transition="out" filter="fade">
                                      <p:cBhvr>
                                        <p:cTn id="40" dur="2000"/>
                                        <p:tgtEl>
                                          <p:spTgt spid="7"/>
                                        </p:tgtEl>
                                      </p:cBhvr>
                                    </p:animEffect>
                                    <p:set>
                                      <p:cBhvr>
                                        <p:cTn id="41" dur="1" fill="hold">
                                          <p:stCondLst>
                                            <p:cond delay="1999"/>
                                          </p:stCondLst>
                                        </p:cTn>
                                        <p:tgtEl>
                                          <p:spTgt spid="7"/>
                                        </p:tgtEl>
                                        <p:attrNameLst>
                                          <p:attrName>style.visibility</p:attrName>
                                        </p:attrNameLst>
                                      </p:cBhvr>
                                      <p:to>
                                        <p:strVal val="hidden"/>
                                      </p:to>
                                    </p:set>
                                  </p:childTnLst>
                                </p:cTn>
                              </p:par>
                              <p:par>
                                <p:cTn id="42" presetID="10" presetClass="exit" presetSubtype="0" fill="hold" grpId="1" nodeType="withEffect">
                                  <p:stCondLst>
                                    <p:cond delay="0"/>
                                  </p:stCondLst>
                                  <p:childTnLst>
                                    <p:animEffect transition="out" filter="fade">
                                      <p:cBhvr>
                                        <p:cTn id="43" dur="2000"/>
                                        <p:tgtEl>
                                          <p:spTgt spid="8"/>
                                        </p:tgtEl>
                                      </p:cBhvr>
                                    </p:animEffect>
                                    <p:set>
                                      <p:cBhvr>
                                        <p:cTn id="44" dur="1" fill="hold">
                                          <p:stCondLst>
                                            <p:cond delay="1999"/>
                                          </p:stCondLst>
                                        </p:cTn>
                                        <p:tgtEl>
                                          <p:spTgt spid="8"/>
                                        </p:tgtEl>
                                        <p:attrNameLst>
                                          <p:attrName>style.visibility</p:attrName>
                                        </p:attrNameLst>
                                      </p:cBhvr>
                                      <p:to>
                                        <p:strVal val="hidden"/>
                                      </p:to>
                                    </p:set>
                                  </p:childTnLst>
                                </p:cTn>
                              </p:par>
                              <p:par>
                                <p:cTn id="45" presetID="10" presetClass="exit" presetSubtype="0" fill="hold" nodeType="withEffect">
                                  <p:stCondLst>
                                    <p:cond delay="0"/>
                                  </p:stCondLst>
                                  <p:childTnLst>
                                    <p:animEffect transition="out" filter="fade">
                                      <p:cBhvr>
                                        <p:cTn id="46" dur="2000"/>
                                        <p:tgtEl>
                                          <p:spTgt spid="9"/>
                                        </p:tgtEl>
                                      </p:cBhvr>
                                    </p:animEffect>
                                    <p:set>
                                      <p:cBhvr>
                                        <p:cTn id="47" dur="1" fill="hold">
                                          <p:stCondLst>
                                            <p:cond delay="1999"/>
                                          </p:stCondLst>
                                        </p:cTn>
                                        <p:tgtEl>
                                          <p:spTgt spid="9"/>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2000"/>
                                        <p:tgtEl>
                                          <p:spTgt spid="10"/>
                                        </p:tgtEl>
                                      </p:cBhvr>
                                    </p:animEffect>
                                    <p:set>
                                      <p:cBhvr>
                                        <p:cTn id="50" dur="1" fill="hold">
                                          <p:stCondLst>
                                            <p:cond delay="1999"/>
                                          </p:stCondLst>
                                        </p:cTn>
                                        <p:tgtEl>
                                          <p:spTgt spid="10"/>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52" dur="2000"/>
                                        <p:tgtEl>
                                          <p:spTgt spid="11"/>
                                        </p:tgtEl>
                                      </p:cBhvr>
                                    </p:animEffect>
                                    <p:set>
                                      <p:cBhvr>
                                        <p:cTn id="53" dur="1" fill="hold">
                                          <p:stCondLst>
                                            <p:cond delay="1999"/>
                                          </p:stCondLst>
                                        </p:cTn>
                                        <p:tgtEl>
                                          <p:spTgt spid="11"/>
                                        </p:tgtEl>
                                        <p:attrNameLst>
                                          <p:attrName>style.visibility</p:attrName>
                                        </p:attrNameLst>
                                      </p:cBhvr>
                                      <p:to>
                                        <p:strVal val="hidden"/>
                                      </p:to>
                                    </p:set>
                                  </p:childTnLst>
                                </p:cTn>
                              </p:par>
                              <p:par>
                                <p:cTn id="54" presetID="10" presetClass="exit" presetSubtype="0" fill="hold" grpId="0" nodeType="withEffect">
                                  <p:stCondLst>
                                    <p:cond delay="0"/>
                                  </p:stCondLst>
                                  <p:childTnLst>
                                    <p:animEffect transition="out" filter="fade">
                                      <p:cBhvr>
                                        <p:cTn id="55" dur="2000"/>
                                        <p:tgtEl>
                                          <p:spTgt spid="12"/>
                                        </p:tgtEl>
                                      </p:cBhvr>
                                    </p:animEffect>
                                    <p:set>
                                      <p:cBhvr>
                                        <p:cTn id="56" dur="1" fill="hold">
                                          <p:stCondLst>
                                            <p:cond delay="1999"/>
                                          </p:stCondLst>
                                        </p:cTn>
                                        <p:tgtEl>
                                          <p:spTgt spid="12"/>
                                        </p:tgtEl>
                                        <p:attrNameLst>
                                          <p:attrName>style.visibility</p:attrName>
                                        </p:attrNameLst>
                                      </p:cBhvr>
                                      <p:to>
                                        <p:strVal val="hidden"/>
                                      </p:to>
                                    </p:set>
                                  </p:childTnLst>
                                </p:cTn>
                              </p:par>
                              <p:par>
                                <p:cTn id="57" presetID="6" presetClass="emph" presetSubtype="0" fill="hold" grpId="1" nodeType="withEffect">
                                  <p:stCondLst>
                                    <p:cond delay="0"/>
                                  </p:stCondLst>
                                  <p:childTnLst>
                                    <p:animScale>
                                      <p:cBhvr>
                                        <p:cTn id="58" dur="2000" fill="hold"/>
                                        <p:tgtEl>
                                          <p:spTgt spid="6"/>
                                        </p:tgtEl>
                                      </p:cBhvr>
                                      <p:by x="360000" y="360000"/>
                                    </p:animScale>
                                  </p:childTnLst>
                                </p:cTn>
                              </p:par>
                              <p:par>
                                <p:cTn id="59" presetID="10" presetClass="entr" presetSubtype="0" fill="hold" grpId="0" nodeType="withEffect">
                                  <p:stCondLst>
                                    <p:cond delay="180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1000"/>
                                        <p:tgtEl>
                                          <p:spTgt spid="13"/>
                                        </p:tgtEl>
                                      </p:cBhvr>
                                    </p:animEffect>
                                  </p:childTnLst>
                                </p:cTn>
                              </p:par>
                              <p:par>
                                <p:cTn id="62" presetID="10" presetClass="exit" presetSubtype="0" fill="hold" grpId="2" nodeType="withEffect">
                                  <p:stCondLst>
                                    <p:cond delay="2000"/>
                                  </p:stCondLst>
                                  <p:childTnLst>
                                    <p:animEffect transition="out" filter="fade">
                                      <p:cBhvr>
                                        <p:cTn id="63" dur="2000"/>
                                        <p:tgtEl>
                                          <p:spTgt spid="6"/>
                                        </p:tgtEl>
                                      </p:cBhvr>
                                    </p:animEffect>
                                    <p:set>
                                      <p:cBhvr>
                                        <p:cTn id="64" dur="1" fill="hold">
                                          <p:stCondLst>
                                            <p:cond delay="1999"/>
                                          </p:stCondLst>
                                        </p:cTn>
                                        <p:tgtEl>
                                          <p:spTgt spid="6"/>
                                        </p:tgtEl>
                                        <p:attrNameLst>
                                          <p:attrName>style.visibility</p:attrName>
                                        </p:attrNameLst>
                                      </p:cBhvr>
                                      <p:to>
                                        <p:strVal val="hidden"/>
                                      </p:to>
                                    </p:set>
                                  </p:childTnLst>
                                </p:cTn>
                              </p:par>
                              <p:par>
                                <p:cTn id="65" presetID="10" presetClass="entr" presetSubtype="0" fill="hold" grpId="0" nodeType="withEffect">
                                  <p:stCondLst>
                                    <p:cond delay="200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1000"/>
                                        <p:tgtEl>
                                          <p:spTgt spid="14"/>
                                        </p:tgtEl>
                                      </p:cBhvr>
                                    </p:animEffect>
                                  </p:childTnLst>
                                </p:cTn>
                              </p:par>
                            </p:childTnLst>
                          </p:cTn>
                        </p:par>
                        <p:par>
                          <p:cTn id="68" fill="hold">
                            <p:stCondLst>
                              <p:cond delay="11000"/>
                            </p:stCondLst>
                            <p:childTnLst>
                              <p:par>
                                <p:cTn id="69" presetID="10" presetClass="exit" presetSubtype="0" fill="hold" grpId="1" nodeType="afterEffect">
                                  <p:stCondLst>
                                    <p:cond delay="2000"/>
                                  </p:stCondLst>
                                  <p:childTnLst>
                                    <p:animEffect transition="out" filter="fade">
                                      <p:cBhvr>
                                        <p:cTn id="70" dur="1000"/>
                                        <p:tgtEl>
                                          <p:spTgt spid="13"/>
                                        </p:tgtEl>
                                      </p:cBhvr>
                                    </p:animEffect>
                                    <p:set>
                                      <p:cBhvr>
                                        <p:cTn id="71" dur="1" fill="hold">
                                          <p:stCondLst>
                                            <p:cond delay="999"/>
                                          </p:stCondLst>
                                        </p:cTn>
                                        <p:tgtEl>
                                          <p:spTgt spid="13"/>
                                        </p:tgtEl>
                                        <p:attrNameLst>
                                          <p:attrName>style.visibility</p:attrName>
                                        </p:attrNameLst>
                                      </p:cBhvr>
                                      <p:to>
                                        <p:strVal val="hidden"/>
                                      </p:to>
                                    </p:set>
                                  </p:childTnLst>
                                </p:cTn>
                              </p:par>
                              <p:par>
                                <p:cTn id="72" presetID="10" presetClass="exit" presetSubtype="0" fill="hold" grpId="1" nodeType="withEffect">
                                  <p:stCondLst>
                                    <p:cond delay="2000"/>
                                  </p:stCondLst>
                                  <p:childTnLst>
                                    <p:animEffect transition="out" filter="fade">
                                      <p:cBhvr>
                                        <p:cTn id="73" dur="1000"/>
                                        <p:tgtEl>
                                          <p:spTgt spid="14"/>
                                        </p:tgtEl>
                                      </p:cBhvr>
                                    </p:animEffect>
                                    <p:set>
                                      <p:cBhvr>
                                        <p:cTn id="74" dur="1" fill="hold">
                                          <p:stCondLst>
                                            <p:cond delay="9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3" grpId="2" animBg="1"/>
      <p:bldP spid="5" grpId="0" animBg="1"/>
      <p:bldP spid="5" grpId="1" animBg="1"/>
      <p:bldP spid="6" grpId="0"/>
      <p:bldP spid="6" grpId="1"/>
      <p:bldP spid="6" grpId="2"/>
      <p:bldP spid="8" grpId="0" animBg="1"/>
      <p:bldP spid="8" grpId="1" animBg="1"/>
      <p:bldP spid="11" grpId="0" animBg="1"/>
      <p:bldP spid="12" grpId="0" animBg="1"/>
      <p:bldP spid="13" grpId="0"/>
      <p:bldP spid="13" grpId="1"/>
      <p:bldP spid="14" grpId="0"/>
      <p:bldP spid="14" grpId="1"/>
    </p:bldLst>
  </p:timing>
</p:sld>
</file>

<file path=ppt/theme/theme1.xml><?xml version="1.0" encoding="utf-8"?>
<a:theme xmlns:a="http://schemas.openxmlformats.org/drawingml/2006/main" name="HP PPT Template 120705">
  <a:themeElements>
    <a:clrScheme name="Custom 171">
      <a:dk1>
        <a:sysClr val="windowText" lastClr="000000"/>
      </a:dk1>
      <a:lt1>
        <a:sysClr val="window" lastClr="FFFFFF"/>
      </a:lt1>
      <a:dk2>
        <a:srgbClr val="000000"/>
      </a:dk2>
      <a:lt2>
        <a:srgbClr val="FFFFFF"/>
      </a:lt2>
      <a:accent1>
        <a:srgbClr val="0096D6"/>
      </a:accent1>
      <a:accent2>
        <a:srgbClr val="F05332"/>
      </a:accent2>
      <a:accent3>
        <a:srgbClr val="822980"/>
      </a:accent3>
      <a:accent4>
        <a:srgbClr val="87898B"/>
      </a:accent4>
      <a:accent5>
        <a:srgbClr val="B9B8BB"/>
      </a:accent5>
      <a:accent6>
        <a:srgbClr val="E5E8E8"/>
      </a:accent6>
      <a:hlink>
        <a:srgbClr val="0096D6"/>
      </a:hlink>
      <a:folHlink>
        <a:srgbClr val="0096D6"/>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marL="0" defTabSz="430213">
          <a:spcAft>
            <a:spcPts val="400"/>
          </a:spcAft>
          <a:buSzPct val="100000"/>
          <a:defRPr sz="1600" dirty="0" smtClean="0">
            <a:solidFill>
              <a:srgbClr val="000000"/>
            </a:solidFill>
            <a:latin typeface="HP Simplified" pitchFamily="34" charset="0"/>
            <a:cs typeface="HP Simplified" pitchFamily="34" charset="0"/>
          </a:defRPr>
        </a:defPPr>
      </a:lstStyle>
    </a:txDef>
  </a:objectDefaults>
  <a:extraClrSchemeLst/>
</a:theme>
</file>

<file path=ppt/theme/theme2.xml><?xml version="1.0" encoding="utf-8"?>
<a:theme xmlns:a="http://schemas.openxmlformats.org/drawingml/2006/main" name="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1000"/>
          </a:schemeClr>
        </a:solidFill>
        <a:ln>
          <a:solidFill>
            <a:schemeClr val="tx1"/>
          </a:solidFill>
        </a:ln>
      </a:spPr>
      <a:bodyPr rtlCol="0" anchor="ctr"/>
      <a:lstStyle>
        <a:defPPr algn="ctr">
          <a:defRPr sz="2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1_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1000"/>
          </a:schemeClr>
        </a:solidFill>
        <a:ln>
          <a:solidFill>
            <a:schemeClr val="tx1"/>
          </a:solidFill>
        </a:ln>
      </a:spPr>
      <a:bodyPr rtlCol="0" anchor="ctr"/>
      <a:lstStyle>
        <a:defPPr algn="ctr">
          <a:defRPr sz="2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2_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1000"/>
          </a:schemeClr>
        </a:solidFill>
        <a:ln>
          <a:solidFill>
            <a:schemeClr val="tx1"/>
          </a:solidFill>
        </a:ln>
      </a:spPr>
      <a:bodyPr rtlCol="0" anchor="ctr"/>
      <a:lstStyle>
        <a:defPPr algn="ctr">
          <a:defRPr sz="2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5.xml><?xml version="1.0" encoding="utf-8"?>
<a:theme xmlns:a="http://schemas.openxmlformats.org/drawingml/2006/main" name="3_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1000"/>
          </a:schemeClr>
        </a:solidFill>
        <a:ln>
          <a:solidFill>
            <a:schemeClr val="tx1"/>
          </a:solidFill>
        </a:ln>
      </a:spPr>
      <a:bodyPr rtlCol="0" anchor="ctr"/>
      <a:lstStyle>
        <a:defPPr algn="ctr">
          <a:defRPr sz="2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6.xml><?xml version="1.0" encoding="utf-8"?>
<a:theme xmlns:a="http://schemas.openxmlformats.org/drawingml/2006/main" name="4_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1000"/>
          </a:schemeClr>
        </a:solidFill>
        <a:ln>
          <a:solidFill>
            <a:schemeClr val="tx1"/>
          </a:solidFill>
        </a:ln>
      </a:spPr>
      <a:bodyPr rtlCol="0" anchor="ctr"/>
      <a:lstStyle>
        <a:defPPr algn="ctr">
          <a:defRPr sz="2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7.xml><?xml version="1.0" encoding="utf-8"?>
<a:theme xmlns:a="http://schemas.openxmlformats.org/drawingml/2006/main" name="5_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1000"/>
          </a:schemeClr>
        </a:solidFill>
        <a:ln>
          <a:solidFill>
            <a:schemeClr val="tx1"/>
          </a:solidFill>
        </a:ln>
      </a:spPr>
      <a:bodyPr rtlCol="0" anchor="ctr"/>
      <a:lstStyle>
        <a:defPPr algn="ctr">
          <a:defRPr sz="2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8.xml><?xml version="1.0" encoding="utf-8"?>
<a:theme xmlns:a="http://schemas.openxmlformats.org/drawingml/2006/main" name="6_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1000"/>
          </a:schemeClr>
        </a:solidFill>
        <a:ln>
          <a:solidFill>
            <a:schemeClr val="tx1"/>
          </a:solidFill>
        </a:ln>
      </a:spPr>
      <a:bodyPr rtlCol="0" anchor="ctr"/>
      <a:lstStyle>
        <a:defPPr algn="ctr">
          <a:defRPr sz="2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9.xml><?xml version="1.0" encoding="utf-8"?>
<a:theme xmlns:a="http://schemas.openxmlformats.org/drawingml/2006/main" name="1_HP PPT Template 120705">
  <a:themeElements>
    <a:clrScheme name="Custom 171">
      <a:dk1>
        <a:sysClr val="windowText" lastClr="000000"/>
      </a:dk1>
      <a:lt1>
        <a:sysClr val="window" lastClr="FFFFFF"/>
      </a:lt1>
      <a:dk2>
        <a:srgbClr val="000000"/>
      </a:dk2>
      <a:lt2>
        <a:srgbClr val="FFFFFF"/>
      </a:lt2>
      <a:accent1>
        <a:srgbClr val="0096D6"/>
      </a:accent1>
      <a:accent2>
        <a:srgbClr val="F05332"/>
      </a:accent2>
      <a:accent3>
        <a:srgbClr val="822980"/>
      </a:accent3>
      <a:accent4>
        <a:srgbClr val="87898B"/>
      </a:accent4>
      <a:accent5>
        <a:srgbClr val="B9B8BB"/>
      </a:accent5>
      <a:accent6>
        <a:srgbClr val="E5E8E8"/>
      </a:accent6>
      <a:hlink>
        <a:srgbClr val="0096D6"/>
      </a:hlink>
      <a:folHlink>
        <a:srgbClr val="0096D6"/>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marL="0" defTabSz="430213">
          <a:spcAft>
            <a:spcPts val="400"/>
          </a:spcAft>
          <a:buSzPct val="100000"/>
          <a:defRPr sz="1600" dirty="0" smtClean="0">
            <a:solidFill>
              <a:srgbClr val="000000"/>
            </a:solidFill>
            <a:latin typeface="HP Simplified" pitchFamily="34" charset="0"/>
            <a:cs typeface="HP Simplified" pitchFamily="34" charset="0"/>
          </a:defRPr>
        </a:defPPr>
      </a:lstStyle>
    </a:txDef>
  </a:objectDefaults>
  <a:extraClrSchemeLst/>
</a:theme>
</file>

<file path=ppt/theme/theme10.xml><?xml version="1.0" encoding="utf-8"?>
<a:theme xmlns:a="http://schemas.openxmlformats.org/drawingml/2006/main" name="2_HP PPT Template 120705">
  <a:themeElements>
    <a:clrScheme name="Custom 171">
      <a:dk1>
        <a:sysClr val="windowText" lastClr="000000"/>
      </a:dk1>
      <a:lt1>
        <a:sysClr val="window" lastClr="FFFFFF"/>
      </a:lt1>
      <a:dk2>
        <a:srgbClr val="000000"/>
      </a:dk2>
      <a:lt2>
        <a:srgbClr val="FFFFFF"/>
      </a:lt2>
      <a:accent1>
        <a:srgbClr val="0096D6"/>
      </a:accent1>
      <a:accent2>
        <a:srgbClr val="F05332"/>
      </a:accent2>
      <a:accent3>
        <a:srgbClr val="822980"/>
      </a:accent3>
      <a:accent4>
        <a:srgbClr val="87898B"/>
      </a:accent4>
      <a:accent5>
        <a:srgbClr val="B9B8BB"/>
      </a:accent5>
      <a:accent6>
        <a:srgbClr val="E5E8E8"/>
      </a:accent6>
      <a:hlink>
        <a:srgbClr val="0096D6"/>
      </a:hlink>
      <a:folHlink>
        <a:srgbClr val="0096D6"/>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marL="0" defTabSz="430213">
          <a:spcAft>
            <a:spcPts val="400"/>
          </a:spcAft>
          <a:buSzPct val="100000"/>
          <a:defRPr sz="1600" dirty="0" smtClean="0">
            <a:solidFill>
              <a:srgbClr val="000000"/>
            </a:solidFill>
            <a:latin typeface="HP Simplified" pitchFamily="34" charset="0"/>
            <a:cs typeface="HP Simplified" pitchFamily="34" charset="0"/>
          </a:defRPr>
        </a:defPPr>
      </a:lstStyle>
    </a:txDef>
  </a:objectDefaults>
  <a:extraClrSchemeLst/>
</a:theme>
</file>

<file path=ppt/theme/theme11.xml><?xml version="1.0" encoding="utf-8"?>
<a:theme xmlns:a="http://schemas.openxmlformats.org/drawingml/2006/main" name="3_HP PPT Template 120705">
  <a:themeElements>
    <a:clrScheme name="Custom 171">
      <a:dk1>
        <a:sysClr val="windowText" lastClr="000000"/>
      </a:dk1>
      <a:lt1>
        <a:sysClr val="window" lastClr="FFFFFF"/>
      </a:lt1>
      <a:dk2>
        <a:srgbClr val="000000"/>
      </a:dk2>
      <a:lt2>
        <a:srgbClr val="FFFFFF"/>
      </a:lt2>
      <a:accent1>
        <a:srgbClr val="0096D6"/>
      </a:accent1>
      <a:accent2>
        <a:srgbClr val="F05332"/>
      </a:accent2>
      <a:accent3>
        <a:srgbClr val="822980"/>
      </a:accent3>
      <a:accent4>
        <a:srgbClr val="87898B"/>
      </a:accent4>
      <a:accent5>
        <a:srgbClr val="B9B8BB"/>
      </a:accent5>
      <a:accent6>
        <a:srgbClr val="E5E8E8"/>
      </a:accent6>
      <a:hlink>
        <a:srgbClr val="0096D6"/>
      </a:hlink>
      <a:folHlink>
        <a:srgbClr val="0096D6"/>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marL="0" defTabSz="430213">
          <a:spcAft>
            <a:spcPts val="400"/>
          </a:spcAft>
          <a:buSzPct val="100000"/>
          <a:defRPr sz="1600" dirty="0" smtClean="0">
            <a:solidFill>
              <a:srgbClr val="000000"/>
            </a:solidFill>
            <a:latin typeface="HP Simplified" pitchFamily="34" charset="0"/>
            <a:cs typeface="HP Simplified" pitchFamily="34" charset="0"/>
          </a:defRPr>
        </a:defPPr>
      </a:lstStyle>
    </a:txDef>
  </a:objectDefaults>
  <a:extraClrSchemeLst/>
</a:theme>
</file>

<file path=ppt/theme/theme12.xml><?xml version="1.0" encoding="utf-8"?>
<a:theme xmlns:a="http://schemas.openxmlformats.org/drawingml/2006/main" name="4_HP PPT Template 120705">
  <a:themeElements>
    <a:clrScheme name="Custom 171">
      <a:dk1>
        <a:sysClr val="windowText" lastClr="000000"/>
      </a:dk1>
      <a:lt1>
        <a:sysClr val="window" lastClr="FFFFFF"/>
      </a:lt1>
      <a:dk2>
        <a:srgbClr val="000000"/>
      </a:dk2>
      <a:lt2>
        <a:srgbClr val="FFFFFF"/>
      </a:lt2>
      <a:accent1>
        <a:srgbClr val="0096D6"/>
      </a:accent1>
      <a:accent2>
        <a:srgbClr val="F05332"/>
      </a:accent2>
      <a:accent3>
        <a:srgbClr val="822980"/>
      </a:accent3>
      <a:accent4>
        <a:srgbClr val="87898B"/>
      </a:accent4>
      <a:accent5>
        <a:srgbClr val="B9B8BB"/>
      </a:accent5>
      <a:accent6>
        <a:srgbClr val="E5E8E8"/>
      </a:accent6>
      <a:hlink>
        <a:srgbClr val="0096D6"/>
      </a:hlink>
      <a:folHlink>
        <a:srgbClr val="0096D6"/>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marL="0" defTabSz="430213">
          <a:spcAft>
            <a:spcPts val="400"/>
          </a:spcAft>
          <a:buSzPct val="100000"/>
          <a:defRPr sz="1600" dirty="0" smtClean="0">
            <a:solidFill>
              <a:srgbClr val="000000"/>
            </a:solidFill>
            <a:latin typeface="HP Simplified" pitchFamily="34" charset="0"/>
            <a:cs typeface="HP Simplified" pitchFamily="34" charset="0"/>
          </a:defRPr>
        </a:defPPr>
      </a:lstStyle>
    </a:txDef>
  </a:objectDefaults>
  <a:extraClrSchemeLst/>
</a:theme>
</file>

<file path=ppt/theme/theme13.xml><?xml version="1.0" encoding="utf-8"?>
<a:theme xmlns:a="http://schemas.openxmlformats.org/drawingml/2006/main" name="7_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1000"/>
          </a:schemeClr>
        </a:solidFill>
        <a:ln>
          <a:solidFill>
            <a:schemeClr val="tx1"/>
          </a:solidFill>
        </a:ln>
      </a:spPr>
      <a:bodyPr rtlCol="0" anchor="ctr"/>
      <a:lstStyle>
        <a:defPPr algn="ctr">
          <a:defRPr sz="2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14.xml><?xml version="1.0" encoding="utf-8"?>
<a:theme xmlns:a="http://schemas.openxmlformats.org/drawingml/2006/main" name="8_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1000"/>
          </a:schemeClr>
        </a:solidFill>
        <a:ln>
          <a:solidFill>
            <a:schemeClr val="tx1"/>
          </a:solidFill>
        </a:ln>
      </a:spPr>
      <a:bodyPr rtlCol="0" anchor="ctr"/>
      <a:lstStyle>
        <a:defPPr algn="ctr">
          <a:defRPr sz="2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15.xml><?xml version="1.0" encoding="utf-8"?>
<a:theme xmlns:a="http://schemas.openxmlformats.org/drawingml/2006/main" name="9_Blac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61000"/>
          </a:schemeClr>
        </a:solidFill>
        <a:ln>
          <a:solidFill>
            <a:schemeClr val="tx1"/>
          </a:solidFill>
        </a:ln>
      </a:spPr>
      <a:bodyPr rtlCol="0" anchor="ctr"/>
      <a:lstStyle>
        <a:defPPr algn="ctr">
          <a:defRPr sz="2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16.xml><?xml version="1.0" encoding="utf-8"?>
<a:theme xmlns:a="http://schemas.openxmlformats.org/drawingml/2006/main" name="Office Theme">
  <a:themeElements>
    <a:clrScheme name="HP Theme colors">
      <a:dk1>
        <a:sysClr val="windowText" lastClr="000000"/>
      </a:dk1>
      <a:lt1>
        <a:sysClr val="window" lastClr="FFFFFF"/>
      </a:lt1>
      <a:dk2>
        <a:srgbClr val="000000"/>
      </a:dk2>
      <a:lt2>
        <a:srgbClr val="EEECE1"/>
      </a:lt2>
      <a:accent1>
        <a:srgbClr val="0096D6"/>
      </a:accent1>
      <a:accent2>
        <a:srgbClr val="F05332"/>
      </a:accent2>
      <a:accent3>
        <a:srgbClr val="B7CA34"/>
      </a:accent3>
      <a:accent4>
        <a:srgbClr val="87898B"/>
      </a:accent4>
      <a:accent5>
        <a:srgbClr val="B9B8BB"/>
      </a:accent5>
      <a:accent6>
        <a:srgbClr val="E5E8E8"/>
      </a:accent6>
      <a:hlink>
        <a:srgbClr val="0096D6"/>
      </a:hlink>
      <a:folHlink>
        <a:srgbClr val="0096D6"/>
      </a:folHlink>
    </a:clrScheme>
    <a:fontScheme name="HP Simplified">
      <a:majorFont>
        <a:latin typeface="HP Simplified"/>
        <a:ea typeface=""/>
        <a:cs typeface=""/>
      </a:majorFont>
      <a:minorFont>
        <a:latin typeface="HP Simplifie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HP PPT Template 120705</Template>
  <TotalTime>36418</TotalTime>
  <Words>11525</Words>
  <Application>Microsoft Office PowerPoint</Application>
  <PresentationFormat>如螢幕大小 (16:9)</PresentationFormat>
  <Paragraphs>2074</Paragraphs>
  <Slides>89</Slides>
  <Notes>0</Notes>
  <HiddenSlides>0</HiddenSlides>
  <MMClips>0</MMClips>
  <ScaleCrop>false</ScaleCrop>
  <HeadingPairs>
    <vt:vector size="6" baseType="variant">
      <vt:variant>
        <vt:lpstr>佈景主題</vt:lpstr>
      </vt:variant>
      <vt:variant>
        <vt:i4>15</vt:i4>
      </vt:variant>
      <vt:variant>
        <vt:lpstr>內嵌 OLE 伺服程式</vt:lpstr>
      </vt:variant>
      <vt:variant>
        <vt:i4>3</vt:i4>
      </vt:variant>
      <vt:variant>
        <vt:lpstr>投影片標題</vt:lpstr>
      </vt:variant>
      <vt:variant>
        <vt:i4>89</vt:i4>
      </vt:variant>
    </vt:vector>
  </HeadingPairs>
  <TitlesOfParts>
    <vt:vector size="107" baseType="lpstr">
      <vt:lpstr>HP PPT Template 120705</vt:lpstr>
      <vt:lpstr>Black</vt:lpstr>
      <vt:lpstr>1_Black</vt:lpstr>
      <vt:lpstr>2_Black</vt:lpstr>
      <vt:lpstr>3_Black</vt:lpstr>
      <vt:lpstr>4_Black</vt:lpstr>
      <vt:lpstr>5_Black</vt:lpstr>
      <vt:lpstr>6_Black</vt:lpstr>
      <vt:lpstr>1_HP PPT Template 120705</vt:lpstr>
      <vt:lpstr>2_HP PPT Template 120705</vt:lpstr>
      <vt:lpstr>3_HP PPT Template 120705</vt:lpstr>
      <vt:lpstr>4_HP PPT Template 120705</vt:lpstr>
      <vt:lpstr>7_Black</vt:lpstr>
      <vt:lpstr>8_Black</vt:lpstr>
      <vt:lpstr>9_Black</vt:lpstr>
      <vt:lpstr>Acrobat Document</vt:lpstr>
      <vt:lpstr>Packager Shell Object</vt:lpstr>
      <vt:lpstr>Worksheet</vt:lpstr>
      <vt:lpstr>BSaM – ODM Requirements</vt:lpstr>
      <vt:lpstr>Revisions</vt:lpstr>
      <vt:lpstr>Revisions</vt:lpstr>
      <vt:lpstr>Contents</vt:lpstr>
      <vt:lpstr>投影片 5</vt:lpstr>
      <vt:lpstr>BSaM Overview</vt:lpstr>
      <vt:lpstr>BSaM (Bulk, Ship and Merge) Concept</vt:lpstr>
      <vt:lpstr>BSaM Bulk Packaging Concept</vt:lpstr>
      <vt:lpstr>BSaM Terminology: A + B = C</vt:lpstr>
      <vt:lpstr>BSaM Overview</vt:lpstr>
      <vt:lpstr>LT BSaM Project Schedule </vt:lpstr>
      <vt:lpstr>Place Holder</vt:lpstr>
      <vt:lpstr>投影片 13</vt:lpstr>
      <vt:lpstr>BSaM High Level Process Flows</vt:lpstr>
      <vt:lpstr>IDS Process</vt:lpstr>
      <vt:lpstr>BSaM Postponement Parts Positioning</vt:lpstr>
      <vt:lpstr>BSaM BTO Process</vt:lpstr>
      <vt:lpstr>BSaM Build Trigger/Stocking</vt:lpstr>
      <vt:lpstr>BSaM High Level Process Flows</vt:lpstr>
      <vt:lpstr>PDM BOM Related Processes</vt:lpstr>
      <vt:lpstr>BSaM Terminology: A + B = C</vt:lpstr>
      <vt:lpstr>2 SKU Process – A SKU and C SKU</vt:lpstr>
      <vt:lpstr>BSaM Cost Adjustment – Proposal E</vt:lpstr>
      <vt:lpstr>PDM/BOM ODM Discussion Points </vt:lpstr>
      <vt:lpstr>Unique AVs – BSaM/IDS SA    Proposal</vt:lpstr>
      <vt:lpstr>BSaM High Level Process Flows</vt:lpstr>
      <vt:lpstr>Planning Process</vt:lpstr>
      <vt:lpstr>BSaM High Level Process Flows</vt:lpstr>
      <vt:lpstr>Production Grouping</vt:lpstr>
      <vt:lpstr>Production Grouping</vt:lpstr>
      <vt:lpstr>Production Grouping</vt:lpstr>
      <vt:lpstr>Production Grouping Max Unit Qty </vt:lpstr>
      <vt:lpstr>BSaM High Level Process Flows</vt:lpstr>
      <vt:lpstr>ODM Build Trigger Process</vt:lpstr>
      <vt:lpstr>BSaM Build Trigger/Stocking</vt:lpstr>
      <vt:lpstr>ODM Build Trigger Process</vt:lpstr>
      <vt:lpstr>BSaM High Level Process Flows</vt:lpstr>
      <vt:lpstr>Full Unit Test Process</vt:lpstr>
      <vt:lpstr>Full Unit Testing using Temporary Battery</vt:lpstr>
      <vt:lpstr>BSaM High Level Process Flows</vt:lpstr>
      <vt:lpstr>B Part Process</vt:lpstr>
      <vt:lpstr>BSaM Postponement Parts Positioning</vt:lpstr>
      <vt:lpstr>BSaM High Level Process Flows</vt:lpstr>
      <vt:lpstr>Outbound Operations and Logistics</vt:lpstr>
      <vt:lpstr>Air Communications Flow</vt:lpstr>
      <vt:lpstr>Ocean Communications Flow</vt:lpstr>
      <vt:lpstr>BSaM and HVLS</vt:lpstr>
      <vt:lpstr>投影片 48</vt:lpstr>
      <vt:lpstr>BSaM – A Part PDM</vt:lpstr>
      <vt:lpstr>BSaM – A Part PDM</vt:lpstr>
      <vt:lpstr>BSaM – A Part Planning</vt:lpstr>
      <vt:lpstr>BSaM – A Part Order Processing</vt:lpstr>
      <vt:lpstr>BSaM – A Part Order Processing</vt:lpstr>
      <vt:lpstr>BSaM – A Part Order Processing</vt:lpstr>
      <vt:lpstr>BSaM – A Part Production</vt:lpstr>
      <vt:lpstr>BSaM – A Part Production</vt:lpstr>
      <vt:lpstr>BSaM – A Part Production</vt:lpstr>
      <vt:lpstr>BIOS SKU PN Change Requirement  </vt:lpstr>
      <vt:lpstr>Product Label</vt:lpstr>
      <vt:lpstr>Product Label 57.2 x 66 mm - Example</vt:lpstr>
      <vt:lpstr>Bulk Pack Product Label</vt:lpstr>
      <vt:lpstr>Order Group ID Label</vt:lpstr>
      <vt:lpstr>投影片 63</vt:lpstr>
      <vt:lpstr>BSaM – A Part Service &amp; Warranty</vt:lpstr>
      <vt:lpstr>Service Tag Label</vt:lpstr>
      <vt:lpstr>BSaM – A Part Ops &amp; Logistics</vt:lpstr>
      <vt:lpstr>BSaM – A Part Ops &amp; Logistics</vt:lpstr>
      <vt:lpstr>BSaM – A Part Ops &amp; Logistics</vt:lpstr>
      <vt:lpstr>BSaM – A Part Ship Notice &amp; Invoicing</vt:lpstr>
      <vt:lpstr>BSaM – A Part Ship Notice &amp; Invoicing </vt:lpstr>
      <vt:lpstr>投影片 71</vt:lpstr>
      <vt:lpstr>BSaM – B Part Planning</vt:lpstr>
      <vt:lpstr>BSaM – B Part Order Processing</vt:lpstr>
      <vt:lpstr>B Part Manual PO Process</vt:lpstr>
      <vt:lpstr>BSaM – B Part Ops &amp; Logistics</vt:lpstr>
      <vt:lpstr>DIAGRAM A – B Part Commercial Invoice</vt:lpstr>
      <vt:lpstr>Bulk Battery Shipment Documents for Ocean</vt:lpstr>
      <vt:lpstr>BSaM – B Part Ship Notice &amp; Invoicing</vt:lpstr>
      <vt:lpstr>投影片 79</vt:lpstr>
      <vt:lpstr>Production Grouping</vt:lpstr>
      <vt:lpstr>Design Concepts – Production Grouping</vt:lpstr>
      <vt:lpstr>BSaM and HVLS</vt:lpstr>
      <vt:lpstr>Production Grouping</vt:lpstr>
      <vt:lpstr>Production Grouping</vt:lpstr>
      <vt:lpstr>Production Grouping</vt:lpstr>
      <vt:lpstr>Prod-ID Condition Table Spec</vt:lpstr>
      <vt:lpstr>Order Group ID – ID Format</vt:lpstr>
      <vt:lpstr>Design Concept Points</vt:lpstr>
      <vt:lpstr>投影片 89</vt:lpstr>
    </vt:vector>
  </TitlesOfParts>
  <Company>HP</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(46 pt. HP Simplified bold)</dc:title>
  <dc:creator>Terry Berkstresser</dc:creator>
  <cp:lastModifiedBy>IEC891501</cp:lastModifiedBy>
  <cp:revision>394</cp:revision>
  <cp:lastPrinted>2012-04-13T15:38:33Z</cp:lastPrinted>
  <dcterms:created xsi:type="dcterms:W3CDTF">2012-07-05T15:56:49Z</dcterms:created>
  <dcterms:modified xsi:type="dcterms:W3CDTF">2012-11-16T02:24:07Z</dcterms:modified>
</cp:coreProperties>
</file>