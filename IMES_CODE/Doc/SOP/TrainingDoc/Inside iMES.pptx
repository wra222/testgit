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88" r:id="rId3"/>
    <p:sldId id="258" r:id="rId4"/>
    <p:sldId id="259" r:id="rId5"/>
    <p:sldId id="261" r:id="rId6"/>
    <p:sldId id="262" r:id="rId7"/>
    <p:sldId id="284" r:id="rId8"/>
    <p:sldId id="287" r:id="rId9"/>
    <p:sldId id="285" r:id="rId10"/>
    <p:sldId id="286" r:id="rId11"/>
    <p:sldId id="283" r:id="rId12"/>
    <p:sldId id="292" r:id="rId13"/>
    <p:sldId id="263" r:id="rId14"/>
    <p:sldId id="264" r:id="rId15"/>
    <p:sldId id="282" r:id="rId16"/>
    <p:sldId id="267" r:id="rId17"/>
    <p:sldId id="268" r:id="rId18"/>
    <p:sldId id="270" r:id="rId19"/>
    <p:sldId id="291" r:id="rId20"/>
    <p:sldId id="271" r:id="rId21"/>
    <p:sldId id="269" r:id="rId22"/>
    <p:sldId id="272" r:id="rId23"/>
    <p:sldId id="293" r:id="rId24"/>
    <p:sldId id="273" r:id="rId25"/>
    <p:sldId id="290" r:id="rId26"/>
    <p:sldId id="277" r:id="rId27"/>
    <p:sldId id="278" r:id="rId28"/>
    <p:sldId id="295" r:id="rId29"/>
    <p:sldId id="279" r:id="rId30"/>
    <p:sldId id="280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59" autoAdjust="0"/>
    <p:restoredTop sz="58864" autoAdjust="0"/>
  </p:normalViewPr>
  <p:slideViewPr>
    <p:cSldViewPr>
      <p:cViewPr varScale="1">
        <p:scale>
          <a:sx n="76" d="100"/>
          <a:sy n="76" d="100"/>
        </p:scale>
        <p:origin x="-7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8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313B3D-F55E-4400-A8BB-8F0E7C35718F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E02F92D5-AB92-4D1A-A218-4944B27B1A95}">
      <dgm:prSet phldrT="[文本]"/>
      <dgm:spPr/>
      <dgm:t>
        <a:bodyPr/>
        <a:lstStyle/>
        <a:p>
          <a:r>
            <a:rPr lang="en-US" altLang="zh-CN" dirty="0" smtClean="0"/>
            <a:t>User Interface</a:t>
          </a:r>
          <a:endParaRPr lang="zh-CN" altLang="en-US" dirty="0"/>
        </a:p>
      </dgm:t>
    </dgm:pt>
    <dgm:pt modelId="{3AB1F052-5EB3-4F2F-8874-7AB0FF882302}" type="parTrans" cxnId="{91F25D68-A4E6-4CD5-8727-559270742E5A}">
      <dgm:prSet/>
      <dgm:spPr/>
      <dgm:t>
        <a:bodyPr/>
        <a:lstStyle/>
        <a:p>
          <a:endParaRPr lang="zh-CN" altLang="en-US"/>
        </a:p>
      </dgm:t>
    </dgm:pt>
    <dgm:pt modelId="{B6810610-D911-4D53-A047-6BEC2F87F34C}" type="sibTrans" cxnId="{91F25D68-A4E6-4CD5-8727-559270742E5A}">
      <dgm:prSet/>
      <dgm:spPr/>
      <dgm:t>
        <a:bodyPr/>
        <a:lstStyle/>
        <a:p>
          <a:endParaRPr lang="zh-CN" altLang="en-US"/>
        </a:p>
      </dgm:t>
    </dgm:pt>
    <dgm:pt modelId="{D24D8B1A-E595-4D97-97D1-A0E63191D546}">
      <dgm:prSet phldrT="[文本]"/>
      <dgm:spPr/>
      <dgm:t>
        <a:bodyPr/>
        <a:lstStyle/>
        <a:p>
          <a:r>
            <a:rPr lang="en-US" altLang="zh-CN" dirty="0" smtClean="0"/>
            <a:t>Business Process</a:t>
          </a:r>
          <a:endParaRPr lang="zh-CN" altLang="en-US" dirty="0"/>
        </a:p>
      </dgm:t>
    </dgm:pt>
    <dgm:pt modelId="{6F204CEA-6135-46F9-BF34-429DDE1C712C}" type="parTrans" cxnId="{E7736B2E-2EBF-4B42-8B1E-AEECE6B98763}">
      <dgm:prSet/>
      <dgm:spPr/>
      <dgm:t>
        <a:bodyPr/>
        <a:lstStyle/>
        <a:p>
          <a:endParaRPr lang="zh-CN" altLang="en-US"/>
        </a:p>
      </dgm:t>
    </dgm:pt>
    <dgm:pt modelId="{579A229F-03E3-4B36-9AD6-66F32980F898}" type="sibTrans" cxnId="{E7736B2E-2EBF-4B42-8B1E-AEECE6B98763}">
      <dgm:prSet/>
      <dgm:spPr/>
      <dgm:t>
        <a:bodyPr/>
        <a:lstStyle/>
        <a:p>
          <a:endParaRPr lang="zh-CN" altLang="en-US"/>
        </a:p>
      </dgm:t>
    </dgm:pt>
    <dgm:pt modelId="{F08062C5-F1F6-486A-B503-6764294BA7F3}">
      <dgm:prSet phldrT="[文本]"/>
      <dgm:spPr/>
      <dgm:t>
        <a:bodyPr/>
        <a:lstStyle/>
        <a:p>
          <a:r>
            <a:rPr lang="en-US" altLang="zh-CN" dirty="0" smtClean="0"/>
            <a:t>Database</a:t>
          </a:r>
          <a:endParaRPr lang="zh-CN" altLang="en-US" dirty="0"/>
        </a:p>
      </dgm:t>
    </dgm:pt>
    <dgm:pt modelId="{71BBD16A-F979-493B-AE83-7D913C73805C}" type="parTrans" cxnId="{C4319198-6EDA-4A22-A661-AECDDD2A7796}">
      <dgm:prSet/>
      <dgm:spPr/>
      <dgm:t>
        <a:bodyPr/>
        <a:lstStyle/>
        <a:p>
          <a:endParaRPr lang="zh-CN" altLang="en-US"/>
        </a:p>
      </dgm:t>
    </dgm:pt>
    <dgm:pt modelId="{DDB62427-E2DD-4FAF-A806-B7982FF6CCF3}" type="sibTrans" cxnId="{C4319198-6EDA-4A22-A661-AECDDD2A7796}">
      <dgm:prSet/>
      <dgm:spPr/>
      <dgm:t>
        <a:bodyPr/>
        <a:lstStyle/>
        <a:p>
          <a:endParaRPr lang="zh-CN" altLang="en-US"/>
        </a:p>
      </dgm:t>
    </dgm:pt>
    <dgm:pt modelId="{50671C07-FC03-4EC3-B330-54BC7437AD74}" type="pres">
      <dgm:prSet presAssocID="{F6313B3D-F55E-4400-A8BB-8F0E7C35718F}" presName="Name0" presStyleCnt="0">
        <dgm:presLayoutVars>
          <dgm:dir/>
          <dgm:resizeHandles val="exact"/>
        </dgm:presLayoutVars>
      </dgm:prSet>
      <dgm:spPr/>
    </dgm:pt>
    <dgm:pt modelId="{0DB4841D-0188-4ED4-B8AB-DAE86E3222E1}" type="pres">
      <dgm:prSet presAssocID="{E02F92D5-AB92-4D1A-A218-4944B27B1A95}" presName="node" presStyleLbl="node1" presStyleIdx="0" presStyleCnt="3">
        <dgm:presLayoutVars>
          <dgm:bulletEnabled val="1"/>
        </dgm:presLayoutVars>
      </dgm:prSet>
      <dgm:spPr>
        <a:prstGeom prst="flowChartDocument">
          <a:avLst/>
        </a:prstGeom>
      </dgm:spPr>
      <dgm:t>
        <a:bodyPr/>
        <a:lstStyle/>
        <a:p>
          <a:endParaRPr lang="zh-CN" altLang="en-US"/>
        </a:p>
      </dgm:t>
    </dgm:pt>
    <dgm:pt modelId="{C927D138-16E2-499F-AAE3-CA80061F2216}" type="pres">
      <dgm:prSet presAssocID="{B6810610-D911-4D53-A047-6BEC2F87F34C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8EC9A312-3757-4A27-A9BE-D6A1F73B28F3}" type="pres">
      <dgm:prSet presAssocID="{B6810610-D911-4D53-A047-6BEC2F87F34C}" presName="connectorText" presStyleLbl="sibTrans2D1" presStyleIdx="0" presStyleCnt="2"/>
      <dgm:spPr/>
      <dgm:t>
        <a:bodyPr/>
        <a:lstStyle/>
        <a:p>
          <a:endParaRPr lang="zh-CN" altLang="en-US"/>
        </a:p>
      </dgm:t>
    </dgm:pt>
    <dgm:pt modelId="{66B28B68-3ECC-4D05-BFFC-3C49BA5EB67A}" type="pres">
      <dgm:prSet presAssocID="{D24D8B1A-E595-4D97-97D1-A0E63191D546}" presName="node" presStyleLbl="node1" presStyleIdx="1" presStyleCnt="3">
        <dgm:presLayoutVars>
          <dgm:bulletEnabled val="1"/>
        </dgm:presLayoutVars>
      </dgm:prSet>
      <dgm:spPr>
        <a:prstGeom prst="flowChartPredefinedProcess">
          <a:avLst/>
        </a:prstGeom>
      </dgm:spPr>
      <dgm:t>
        <a:bodyPr/>
        <a:lstStyle/>
        <a:p>
          <a:endParaRPr lang="zh-CN" altLang="en-US"/>
        </a:p>
      </dgm:t>
    </dgm:pt>
    <dgm:pt modelId="{F60E2295-1833-4636-B7F7-3890C7F1C3DB}" type="pres">
      <dgm:prSet presAssocID="{579A229F-03E3-4B36-9AD6-66F32980F898}" presName="sibTrans" presStyleLbl="sibTrans2D1" presStyleIdx="1" presStyleCnt="2"/>
      <dgm:spPr/>
      <dgm:t>
        <a:bodyPr/>
        <a:lstStyle/>
        <a:p>
          <a:endParaRPr lang="zh-CN" altLang="en-US"/>
        </a:p>
      </dgm:t>
    </dgm:pt>
    <dgm:pt modelId="{927F8D50-E220-4683-B7AC-5B0FA1AB41AD}" type="pres">
      <dgm:prSet presAssocID="{579A229F-03E3-4B36-9AD6-66F32980F898}" presName="connectorText" presStyleLbl="sibTrans2D1" presStyleIdx="1" presStyleCnt="2"/>
      <dgm:spPr/>
      <dgm:t>
        <a:bodyPr/>
        <a:lstStyle/>
        <a:p>
          <a:endParaRPr lang="zh-CN" altLang="en-US"/>
        </a:p>
      </dgm:t>
    </dgm:pt>
    <dgm:pt modelId="{A2385336-1FC6-4E31-B827-EFBCDCABF090}" type="pres">
      <dgm:prSet presAssocID="{F08062C5-F1F6-486A-B503-6764294BA7F3}" presName="node" presStyleLbl="node1" presStyleIdx="2" presStyleCnt="3">
        <dgm:presLayoutVars>
          <dgm:bulletEnabled val="1"/>
        </dgm:presLayoutVars>
      </dgm:prSet>
      <dgm:spPr>
        <a:prstGeom prst="flowChartMagneticDisk">
          <a:avLst/>
        </a:prstGeom>
      </dgm:spPr>
      <dgm:t>
        <a:bodyPr/>
        <a:lstStyle/>
        <a:p>
          <a:endParaRPr lang="zh-CN" altLang="en-US"/>
        </a:p>
      </dgm:t>
    </dgm:pt>
  </dgm:ptLst>
  <dgm:cxnLst>
    <dgm:cxn modelId="{8ED97112-0966-4F13-B34B-EB605612952C}" type="presOf" srcId="{D24D8B1A-E595-4D97-97D1-A0E63191D546}" destId="{66B28B68-3ECC-4D05-BFFC-3C49BA5EB67A}" srcOrd="0" destOrd="0" presId="urn:microsoft.com/office/officeart/2005/8/layout/process1"/>
    <dgm:cxn modelId="{E7736B2E-2EBF-4B42-8B1E-AEECE6B98763}" srcId="{F6313B3D-F55E-4400-A8BB-8F0E7C35718F}" destId="{D24D8B1A-E595-4D97-97D1-A0E63191D546}" srcOrd="1" destOrd="0" parTransId="{6F204CEA-6135-46F9-BF34-429DDE1C712C}" sibTransId="{579A229F-03E3-4B36-9AD6-66F32980F898}"/>
    <dgm:cxn modelId="{C9C7DABC-FD02-4F95-B4C5-59DEB1EE4179}" type="presOf" srcId="{F08062C5-F1F6-486A-B503-6764294BA7F3}" destId="{A2385336-1FC6-4E31-B827-EFBCDCABF090}" srcOrd="0" destOrd="0" presId="urn:microsoft.com/office/officeart/2005/8/layout/process1"/>
    <dgm:cxn modelId="{91F25D68-A4E6-4CD5-8727-559270742E5A}" srcId="{F6313B3D-F55E-4400-A8BB-8F0E7C35718F}" destId="{E02F92D5-AB92-4D1A-A218-4944B27B1A95}" srcOrd="0" destOrd="0" parTransId="{3AB1F052-5EB3-4F2F-8874-7AB0FF882302}" sibTransId="{B6810610-D911-4D53-A047-6BEC2F87F34C}"/>
    <dgm:cxn modelId="{465F1C53-6733-452F-9933-46AE058D306E}" type="presOf" srcId="{E02F92D5-AB92-4D1A-A218-4944B27B1A95}" destId="{0DB4841D-0188-4ED4-B8AB-DAE86E3222E1}" srcOrd="0" destOrd="0" presId="urn:microsoft.com/office/officeart/2005/8/layout/process1"/>
    <dgm:cxn modelId="{5B159040-C831-49AA-A2BE-9E065F3C6F24}" type="presOf" srcId="{579A229F-03E3-4B36-9AD6-66F32980F898}" destId="{F60E2295-1833-4636-B7F7-3890C7F1C3DB}" srcOrd="0" destOrd="0" presId="urn:microsoft.com/office/officeart/2005/8/layout/process1"/>
    <dgm:cxn modelId="{085CAE51-6056-4FEB-BCBF-E66CB5374ADA}" type="presOf" srcId="{B6810610-D911-4D53-A047-6BEC2F87F34C}" destId="{C927D138-16E2-499F-AAE3-CA80061F2216}" srcOrd="0" destOrd="0" presId="urn:microsoft.com/office/officeart/2005/8/layout/process1"/>
    <dgm:cxn modelId="{9A89E819-FED0-4789-80A2-00D6A3415850}" type="presOf" srcId="{B6810610-D911-4D53-A047-6BEC2F87F34C}" destId="{8EC9A312-3757-4A27-A9BE-D6A1F73B28F3}" srcOrd="1" destOrd="0" presId="urn:microsoft.com/office/officeart/2005/8/layout/process1"/>
    <dgm:cxn modelId="{C4319198-6EDA-4A22-A661-AECDDD2A7796}" srcId="{F6313B3D-F55E-4400-A8BB-8F0E7C35718F}" destId="{F08062C5-F1F6-486A-B503-6764294BA7F3}" srcOrd="2" destOrd="0" parTransId="{71BBD16A-F979-493B-AE83-7D913C73805C}" sibTransId="{DDB62427-E2DD-4FAF-A806-B7982FF6CCF3}"/>
    <dgm:cxn modelId="{6954E3E7-45B9-4718-9091-8B9CA1BF9919}" type="presOf" srcId="{F6313B3D-F55E-4400-A8BB-8F0E7C35718F}" destId="{50671C07-FC03-4EC3-B330-54BC7437AD74}" srcOrd="0" destOrd="0" presId="urn:microsoft.com/office/officeart/2005/8/layout/process1"/>
    <dgm:cxn modelId="{5981A5AA-8419-4E2D-9DF1-31D9647B247F}" type="presOf" srcId="{579A229F-03E3-4B36-9AD6-66F32980F898}" destId="{927F8D50-E220-4683-B7AC-5B0FA1AB41AD}" srcOrd="1" destOrd="0" presId="urn:microsoft.com/office/officeart/2005/8/layout/process1"/>
    <dgm:cxn modelId="{4C826531-1A41-4A2D-B2D3-762CAD3C9BAC}" type="presParOf" srcId="{50671C07-FC03-4EC3-B330-54BC7437AD74}" destId="{0DB4841D-0188-4ED4-B8AB-DAE86E3222E1}" srcOrd="0" destOrd="0" presId="urn:microsoft.com/office/officeart/2005/8/layout/process1"/>
    <dgm:cxn modelId="{FF851496-8CCB-4C0B-81EC-F6062877749C}" type="presParOf" srcId="{50671C07-FC03-4EC3-B330-54BC7437AD74}" destId="{C927D138-16E2-499F-AAE3-CA80061F2216}" srcOrd="1" destOrd="0" presId="urn:microsoft.com/office/officeart/2005/8/layout/process1"/>
    <dgm:cxn modelId="{E7760455-A4CB-4DAD-8A19-AD5BFEAF6E0B}" type="presParOf" srcId="{C927D138-16E2-499F-AAE3-CA80061F2216}" destId="{8EC9A312-3757-4A27-A9BE-D6A1F73B28F3}" srcOrd="0" destOrd="0" presId="urn:microsoft.com/office/officeart/2005/8/layout/process1"/>
    <dgm:cxn modelId="{D0BBBD02-86B8-4641-834F-4840FAEAB65E}" type="presParOf" srcId="{50671C07-FC03-4EC3-B330-54BC7437AD74}" destId="{66B28B68-3ECC-4D05-BFFC-3C49BA5EB67A}" srcOrd="2" destOrd="0" presId="urn:microsoft.com/office/officeart/2005/8/layout/process1"/>
    <dgm:cxn modelId="{2BA50839-AB91-40AE-854A-F2B8C50522DA}" type="presParOf" srcId="{50671C07-FC03-4EC3-B330-54BC7437AD74}" destId="{F60E2295-1833-4636-B7F7-3890C7F1C3DB}" srcOrd="3" destOrd="0" presId="urn:microsoft.com/office/officeart/2005/8/layout/process1"/>
    <dgm:cxn modelId="{23DA500B-7CF5-44CF-8363-A392F0380994}" type="presParOf" srcId="{F60E2295-1833-4636-B7F7-3890C7F1C3DB}" destId="{927F8D50-E220-4683-B7AC-5B0FA1AB41AD}" srcOrd="0" destOrd="0" presId="urn:microsoft.com/office/officeart/2005/8/layout/process1"/>
    <dgm:cxn modelId="{45E88C15-D4B4-45EC-8628-2FDE1F1151AA}" type="presParOf" srcId="{50671C07-FC03-4EC3-B330-54BC7437AD74}" destId="{A2385336-1FC6-4E31-B827-EFBCDCABF090}" srcOrd="4" destOrd="0" presId="urn:microsoft.com/office/officeart/2005/8/layout/process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D357F-3B1A-4EB9-A2CF-E025D2AACABD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26FC8-3C17-490D-BDA2-0B3825B3E28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Understand how to develop </a:t>
            </a:r>
            <a:r>
              <a:rPr lang="en-US" dirty="0" err="1" smtClean="0"/>
              <a:t>iMES</a:t>
            </a:r>
            <a:r>
              <a:rPr lang="en-US" dirty="0" smtClean="0"/>
              <a:t> GUI and business service. </a:t>
            </a:r>
            <a:endParaRPr lang="zh-CN" altLang="en-US" dirty="0" smtClean="0"/>
          </a:p>
          <a:p>
            <a:r>
              <a:rPr lang="en-US" dirty="0" smtClean="0"/>
              <a:t>Go through current system coding rule and concept</a:t>
            </a:r>
            <a:endParaRPr lang="zh-CN" altLang="en-US" dirty="0" smtClean="0"/>
          </a:p>
          <a:p>
            <a:pPr lvl="0"/>
            <a:r>
              <a:rPr lang="en-US" dirty="0" smtClean="0"/>
              <a:t>ICT Input</a:t>
            </a:r>
            <a:endParaRPr lang="zh-CN" altLang="en-US" dirty="0" smtClean="0"/>
          </a:p>
          <a:p>
            <a:pPr lvl="0"/>
            <a:r>
              <a:rPr lang="en-US" dirty="0" smtClean="0"/>
              <a:t>PCA Shipping Label</a:t>
            </a:r>
          </a:p>
          <a:p>
            <a:r>
              <a:rPr lang="zh-CN" altLang="en-US" dirty="0" smtClean="0"/>
              <a:t>重点是前后台的数据流的控制方式</a:t>
            </a:r>
          </a:p>
          <a:p>
            <a:r>
              <a:rPr lang="zh-CN" altLang="en-US" dirty="0" smtClean="0"/>
              <a:t>以及</a:t>
            </a:r>
            <a:r>
              <a:rPr lang="en-US" dirty="0" smtClean="0"/>
              <a:t>Workflow</a:t>
            </a:r>
            <a:r>
              <a:rPr lang="zh-CN" altLang="en-US" dirty="0" smtClean="0"/>
              <a:t>在整个控制过程中的应用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26FC8-3C17-490D-BDA2-0B3825B3E28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42148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>
              <a:latin typeface="+mj-lt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 flipV="1">
            <a:off x="0" y="3571875"/>
            <a:ext cx="9144000" cy="32861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>
              <a:latin typeface="+mj-lt"/>
              <a:ea typeface="微軟正黑體" pitchFamily="34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72063"/>
            <a:ext cx="9144000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內容版面配置區 5" descr="Inventec Logo_Min.wmf"/>
          <p:cNvPicPr>
            <a:picLocks noChangeAspect="1"/>
          </p:cNvPicPr>
          <p:nvPr/>
        </p:nvPicPr>
        <p:blipFill>
          <a:blip r:embed="rId3"/>
          <a:srcRect t="28120" b="31445"/>
          <a:stretch>
            <a:fillRect/>
          </a:stretch>
        </p:blipFill>
        <p:spPr bwMode="auto">
          <a:xfrm>
            <a:off x="0" y="2714625"/>
            <a:ext cx="437197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286248" y="2786058"/>
            <a:ext cx="4857752" cy="655633"/>
          </a:xfrm>
          <a:effectLst/>
        </p:spPr>
        <p:txBody>
          <a:bodyPr>
            <a:noAutofit/>
          </a:bodyPr>
          <a:lstStyle>
            <a:lvl1pPr algn="l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7158" y="3714752"/>
            <a:ext cx="4857752" cy="78581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ckground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-10000"/>
            <a:grayscl/>
          </a:blip>
          <a:srcRect l="3947" t="1276" r="1305"/>
          <a:stretch>
            <a:fillRect/>
          </a:stretch>
        </p:blipFill>
        <p:spPr bwMode="auto">
          <a:xfrm>
            <a:off x="280988" y="819150"/>
            <a:ext cx="8637587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6561" y="3308345"/>
            <a:ext cx="7786742" cy="714380"/>
          </a:xfrm>
          <a:effectLst/>
        </p:spPr>
        <p:txBody>
          <a:bodyPr anchor="t"/>
          <a:lstStyle>
            <a:lvl1pPr algn="l">
              <a:defRPr sz="40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28596" y="4071942"/>
            <a:ext cx="7786742" cy="450849"/>
          </a:xfrm>
        </p:spPr>
        <p:txBody>
          <a:bodyPr anchor="b"/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215063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143644"/>
              <a:ext cx="9144000" cy="71435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85875"/>
            <a:ext cx="8229600" cy="484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fld id="{23D8F561-97D4-4A97-99B6-0F38CB5E9910}" type="datetimeFigureOut">
              <a:rPr lang="zh-CN" altLang="en-US" smtClean="0"/>
              <a:pPr/>
              <a:t>2010-9-9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fld id="{DE7FD418-BF4D-4356-826A-612F86801E0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32" name="內容版面配置區 5" descr="Inventec Logo_Min.wmf"/>
          <p:cNvPicPr>
            <a:picLocks noChangeAspect="1"/>
          </p:cNvPicPr>
          <p:nvPr/>
        </p:nvPicPr>
        <p:blipFill>
          <a:blip r:embed="rId13"/>
          <a:srcRect t="28120" b="31445"/>
          <a:stretch>
            <a:fillRect/>
          </a:stretch>
        </p:blipFill>
        <p:spPr bwMode="auto">
          <a:xfrm>
            <a:off x="8143875" y="6572250"/>
            <a:ext cx="979488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微軟正黑體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j-lt"/>
          <a:ea typeface="微軟正黑體" pitchFamily="34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262626"/>
          </a:solidFill>
          <a:latin typeface="+mj-lt"/>
          <a:ea typeface="微軟正黑體" pitchFamily="34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04040"/>
          </a:solidFill>
          <a:latin typeface="+mj-lt"/>
          <a:ea typeface="微軟正黑體" pitchFamily="34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595959"/>
          </a:solidFill>
          <a:latin typeface="+mj-lt"/>
          <a:ea typeface="微軟正黑體" pitchFamily="34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7F7F7F"/>
          </a:solidFill>
          <a:latin typeface="+mj-lt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Inside </a:t>
            </a:r>
            <a:r>
              <a:rPr lang="en-US" altLang="zh-CN" dirty="0" err="1" smtClean="0"/>
              <a:t>iMES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smtClean="0"/>
              <a:t>He</a:t>
            </a:r>
            <a:r>
              <a:rPr lang="zh-CN" altLang="en-US" dirty="0" smtClean="0"/>
              <a:t> </a:t>
            </a:r>
            <a:r>
              <a:rPr lang="en-US" altLang="zh-CN" dirty="0" smtClean="0"/>
              <a:t>Jiang</a:t>
            </a:r>
          </a:p>
          <a:p>
            <a:r>
              <a:rPr lang="en-US" altLang="zh-CN" dirty="0" err="1" smtClean="0"/>
              <a:t>eB</a:t>
            </a:r>
            <a:r>
              <a:rPr lang="en-US" altLang="zh-CN" dirty="0" smtClean="0"/>
              <a:t> Department</a:t>
            </a:r>
          </a:p>
          <a:p>
            <a:r>
              <a:rPr lang="en-US" altLang="zh-CN" dirty="0" err="1" smtClean="0"/>
              <a:t>Inventec</a:t>
            </a:r>
            <a:r>
              <a:rPr lang="en-US" altLang="zh-CN" dirty="0" smtClean="0"/>
              <a:t> Tianjin Corporation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Application Development Model</a:t>
            </a:r>
          </a:p>
          <a:p>
            <a:r>
              <a:rPr lang="en-US" altLang="zh-CN" dirty="0" smtClean="0"/>
              <a:t>Windows Workflow Foundation</a:t>
            </a:r>
          </a:p>
          <a:p>
            <a:pPr lvl="1"/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</a:t>
            </a:r>
          </a:p>
          <a:p>
            <a:r>
              <a:rPr lang="en-US" altLang="zh-CN" dirty="0" smtClean="0"/>
              <a:t>Windows .NET </a:t>
            </a:r>
            <a:r>
              <a:rPr lang="en-US" altLang="zh-CN" dirty="0" err="1" smtClean="0"/>
              <a:t>Remoting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iMES</a:t>
            </a:r>
            <a:r>
              <a:rPr lang="en-US" altLang="zh-CN" dirty="0" smtClean="0"/>
              <a:t>: .NET </a:t>
            </a:r>
            <a:r>
              <a:rPr lang="en-US" altLang="zh-CN" dirty="0" err="1" smtClean="0"/>
              <a:t>Remoting</a:t>
            </a:r>
            <a:r>
              <a:rPr lang="en-US" altLang="zh-CN" dirty="0" smtClean="0"/>
              <a:t> in Action</a:t>
            </a:r>
          </a:p>
          <a:p>
            <a:r>
              <a:rPr lang="en-US" altLang="zh-CN" dirty="0" smtClean="0"/>
              <a:t>Windows ADO.NET</a:t>
            </a:r>
          </a:p>
          <a:p>
            <a:pPr lvl="1"/>
            <a:r>
              <a:rPr lang="en-US" altLang="zh-CN" dirty="0" err="1" smtClean="0"/>
              <a:t>iMES</a:t>
            </a:r>
            <a:r>
              <a:rPr lang="en-US" altLang="zh-CN" dirty="0" smtClean="0"/>
              <a:t>: ADO.NET in Action</a:t>
            </a:r>
          </a:p>
          <a:p>
            <a:r>
              <a:rPr lang="en-US" altLang="zh-CN" dirty="0" smtClean="0"/>
              <a:t>Windows Web Service and Ajax</a:t>
            </a:r>
          </a:p>
          <a:p>
            <a:pPr lvl="1"/>
            <a:r>
              <a:rPr lang="en-US" altLang="zh-CN" dirty="0" err="1" smtClean="0"/>
              <a:t>iMES</a:t>
            </a:r>
            <a:r>
              <a:rPr lang="en-US" altLang="zh-CN" dirty="0" smtClean="0"/>
              <a:t>: Web Service and Ajax in Action</a:t>
            </a:r>
          </a:p>
          <a:p>
            <a:r>
              <a:rPr lang="en-US" altLang="zh-CN" dirty="0" smtClean="0"/>
              <a:t>Summary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 Development Model</a:t>
            </a:r>
            <a:endParaRPr lang="zh-CN" altLang="en-US" dirty="0"/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idx="1"/>
          </p:nvPr>
        </p:nvGraphicFramePr>
        <p:xfrm>
          <a:off x="457200" y="1285875"/>
          <a:ext cx="8229600" cy="4840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流程图: 磁盘 39"/>
          <p:cNvSpPr/>
          <p:nvPr/>
        </p:nvSpPr>
        <p:spPr>
          <a:xfrm>
            <a:off x="6500826" y="2928934"/>
            <a:ext cx="857256" cy="1071570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</a:t>
            </a:r>
            <a:endParaRPr lang="zh-CN" altLang="en-US" dirty="0"/>
          </a:p>
        </p:txBody>
      </p:sp>
      <p:grpSp>
        <p:nvGrpSpPr>
          <p:cNvPr id="64" name="组合 63"/>
          <p:cNvGrpSpPr/>
          <p:nvPr/>
        </p:nvGrpSpPr>
        <p:grpSpPr>
          <a:xfrm>
            <a:off x="1500166" y="2928934"/>
            <a:ext cx="1214446" cy="928694"/>
            <a:chOff x="1285852" y="2714620"/>
            <a:chExt cx="1214446" cy="9286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4" name="组合 53"/>
            <p:cNvGrpSpPr/>
            <p:nvPr/>
          </p:nvGrpSpPr>
          <p:grpSpPr>
            <a:xfrm>
              <a:off x="1571604" y="2714620"/>
              <a:ext cx="928694" cy="642942"/>
              <a:chOff x="1571604" y="2714620"/>
              <a:chExt cx="928694" cy="642942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1428728" y="2857496"/>
              <a:ext cx="928694" cy="642942"/>
              <a:chOff x="1571604" y="2714620"/>
              <a:chExt cx="928694" cy="642942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1285852" y="3000372"/>
              <a:ext cx="928694" cy="642942"/>
              <a:chOff x="1571604" y="2714620"/>
              <a:chExt cx="928694" cy="642942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2" name="矩形 31"/>
          <p:cNvSpPr/>
          <p:nvPr/>
        </p:nvSpPr>
        <p:spPr>
          <a:xfrm>
            <a:off x="0" y="1764592"/>
            <a:ext cx="9144000" cy="4357718"/>
          </a:xfrm>
          <a:prstGeom prst="rect">
            <a:avLst/>
          </a:prstGeom>
          <a:gradFill>
            <a:gsLst>
              <a:gs pos="0">
                <a:srgbClr val="FFEFD1">
                  <a:alpha val="25000"/>
                </a:srgbClr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内容占位符 6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User Interface </a:t>
            </a:r>
            <a:r>
              <a:rPr lang="en-US" altLang="zh-CN" dirty="0" smtClean="0">
                <a:sym typeface="Wingdings" pitchFamily="2" charset="2"/>
              </a:rPr>
              <a:t> </a:t>
            </a:r>
            <a:r>
              <a:rPr lang="en-US" altLang="zh-CN" dirty="0" smtClean="0"/>
              <a:t>Business Process </a:t>
            </a:r>
            <a:r>
              <a:rPr lang="en-US" altLang="zh-CN" dirty="0" smtClean="0">
                <a:sym typeface="Wingdings" pitchFamily="2" charset="2"/>
              </a:rPr>
              <a:t> </a:t>
            </a:r>
            <a:r>
              <a:rPr lang="en-US" altLang="zh-CN" dirty="0" smtClean="0"/>
              <a:t>Database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     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Web pages    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Wingdings" pitchFamily="2" charset="2"/>
              </a:rPr>
              <a:t>    </a:t>
            </a:r>
            <a:r>
              <a:rPr lang="en-US" altLang="zh-CN" dirty="0" smtClean="0">
                <a:sym typeface="Wingdings" pitchFamily="2" charset="2"/>
              </a:rPr>
              <a:t>Workflow   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Wingdings" pitchFamily="2" charset="2"/>
              </a:rPr>
              <a:t>   SQL Server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 Development Model (Cont’)</a:t>
            </a:r>
            <a:endParaRPr lang="zh-CN" altLang="en-US" dirty="0"/>
          </a:p>
        </p:txBody>
      </p:sp>
      <p:grpSp>
        <p:nvGrpSpPr>
          <p:cNvPr id="70" name="组合 69"/>
          <p:cNvGrpSpPr/>
          <p:nvPr/>
        </p:nvGrpSpPr>
        <p:grpSpPr>
          <a:xfrm>
            <a:off x="4143372" y="1928802"/>
            <a:ext cx="928694" cy="3143272"/>
            <a:chOff x="4143372" y="1928802"/>
            <a:chExt cx="928694" cy="314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流程图: 联系 3"/>
            <p:cNvSpPr/>
            <p:nvPr/>
          </p:nvSpPr>
          <p:spPr>
            <a:xfrm>
              <a:off x="4500562" y="1928802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决策 5"/>
            <p:cNvSpPr/>
            <p:nvPr/>
          </p:nvSpPr>
          <p:spPr>
            <a:xfrm>
              <a:off x="4143372" y="3000372"/>
              <a:ext cx="928694" cy="35719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流程图: 可选过程 7"/>
            <p:cNvSpPr/>
            <p:nvPr/>
          </p:nvSpPr>
          <p:spPr>
            <a:xfrm>
              <a:off x="4214810" y="3643314"/>
              <a:ext cx="785818" cy="35719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过程 8"/>
            <p:cNvSpPr/>
            <p:nvPr/>
          </p:nvSpPr>
          <p:spPr>
            <a:xfrm>
              <a:off x="4214810" y="4286256"/>
              <a:ext cx="785818" cy="35719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流程图: 联系 9"/>
            <p:cNvSpPr/>
            <p:nvPr/>
          </p:nvSpPr>
          <p:spPr>
            <a:xfrm>
              <a:off x="4500562" y="4857760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肘形连接符 15"/>
            <p:cNvCxnSpPr>
              <a:stCxn id="6" idx="2"/>
              <a:endCxn id="8" idx="0"/>
            </p:cNvCxnSpPr>
            <p:nvPr/>
          </p:nvCxnSpPr>
          <p:spPr>
            <a:xfrm rot="5400000">
              <a:off x="4464843" y="3500438"/>
              <a:ext cx="285752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6" idx="3"/>
              <a:endCxn id="9" idx="3"/>
            </p:cNvCxnSpPr>
            <p:nvPr/>
          </p:nvCxnSpPr>
          <p:spPr>
            <a:xfrm flipH="1">
              <a:off x="5000628" y="3178967"/>
              <a:ext cx="71438" cy="1285884"/>
            </a:xfrm>
            <a:prstGeom prst="bentConnector3">
              <a:avLst>
                <a:gd name="adj1" fmla="val -319998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4" idx="4"/>
              <a:endCxn id="67" idx="0"/>
            </p:cNvCxnSpPr>
            <p:nvPr/>
          </p:nvCxnSpPr>
          <p:spPr>
            <a:xfrm rot="5400000">
              <a:off x="4482703" y="2268132"/>
              <a:ext cx="25003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9" idx="2"/>
              <a:endCxn id="10" idx="0"/>
            </p:cNvCxnSpPr>
            <p:nvPr/>
          </p:nvCxnSpPr>
          <p:spPr>
            <a:xfrm rot="5400000">
              <a:off x="4500562" y="4750603"/>
              <a:ext cx="2143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8" idx="2"/>
              <a:endCxn id="9" idx="0"/>
            </p:cNvCxnSpPr>
            <p:nvPr/>
          </p:nvCxnSpPr>
          <p:spPr>
            <a:xfrm rot="5400000">
              <a:off x="4464843" y="4143380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67" idx="2"/>
              <a:endCxn id="6" idx="0"/>
            </p:cNvCxnSpPr>
            <p:nvPr/>
          </p:nvCxnSpPr>
          <p:spPr>
            <a:xfrm rot="5400000">
              <a:off x="4464843" y="2857496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流程图: 手动输入 66"/>
            <p:cNvSpPr/>
            <p:nvPr/>
          </p:nvSpPr>
          <p:spPr>
            <a:xfrm>
              <a:off x="4214810" y="2357430"/>
              <a:ext cx="785818" cy="357190"/>
            </a:xfrm>
            <a:prstGeom prst="flowChartManualIn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Windows Workflow Foundation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Workflow - Provides a way of describing the order of execution and dependent relationships between pieces of short- or long-running work</a:t>
            </a:r>
          </a:p>
          <a:p>
            <a:r>
              <a:rPr lang="en-US" altLang="zh-CN" dirty="0" smtClean="0"/>
              <a:t>Activity - T</a:t>
            </a:r>
            <a:r>
              <a:rPr lang="en-US" dirty="0" smtClean="0"/>
              <a:t>he elemental unit of a workflow</a:t>
            </a:r>
            <a:endParaRPr lang="en-US" altLang="zh-CN" dirty="0" smtClean="0"/>
          </a:p>
          <a:p>
            <a:r>
              <a:rPr lang="en-US" altLang="zh-CN" dirty="0" smtClean="0"/>
              <a:t>Rule - </a:t>
            </a:r>
            <a:r>
              <a:rPr lang="en-US" dirty="0" smtClean="0"/>
              <a:t>A rule consists of conditions and resulting actions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</a:t>
            </a:r>
            <a:endParaRPr lang="zh-CN" alt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2910" y="1142984"/>
            <a:ext cx="2082740" cy="484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7554" y="1142984"/>
            <a:ext cx="5176837" cy="4932558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</p:spPr>
      </p:pic>
      <p:sp>
        <p:nvSpPr>
          <p:cNvPr id="10" name="右箭头标注 9"/>
          <p:cNvSpPr/>
          <p:nvPr/>
        </p:nvSpPr>
        <p:spPr>
          <a:xfrm>
            <a:off x="785786" y="1214422"/>
            <a:ext cx="2500330" cy="142876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7412"/>
            </a:avLst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/>
              <a:t>Workflow Graphical Editor: ICT Input workflow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 (Cont’)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Workflow Editing: Drag,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drop and bind properties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00034" y="1142984"/>
            <a:ext cx="8190377" cy="4840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 (Cont’)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Workflow Editing: Setup Condition Rule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85786" y="1000108"/>
            <a:ext cx="7348567" cy="511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 (Cont’)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sz="2400" dirty="0" smtClean="0"/>
              <a:t>System activities</a:t>
            </a:r>
          </a:p>
          <a:p>
            <a:pPr lvl="1"/>
            <a:r>
              <a:rPr lang="en-US" altLang="zh-CN" sz="2000" dirty="0" err="1" smtClean="0"/>
              <a:t>IfElseActivity</a:t>
            </a:r>
            <a:r>
              <a:rPr lang="en-US" altLang="zh-CN" sz="2000" dirty="0" smtClean="0"/>
              <a:t> </a:t>
            </a:r>
          </a:p>
          <a:p>
            <a:pPr lvl="1"/>
            <a:r>
              <a:rPr lang="en-US" sz="2000" dirty="0" err="1" smtClean="0"/>
              <a:t>InvokeWorkflowActivity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SequenceActivity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PolicyActivity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SuspendActivity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TerminateActivity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WhileActivity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TransactionScopeActivity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err="1" smtClean="0"/>
              <a:t>SynchronizationScopeActivity</a:t>
            </a:r>
            <a:r>
              <a:rPr lang="en-US" sz="2000" dirty="0" smtClean="0"/>
              <a:t> </a:t>
            </a:r>
          </a:p>
          <a:p>
            <a:pPr lvl="1"/>
            <a:r>
              <a:rPr lang="en-US" altLang="zh-CN" sz="2000" dirty="0" err="1" smtClean="0"/>
              <a:t>InvokeWebServiceActivity</a:t>
            </a:r>
            <a:r>
              <a:rPr lang="en-US" altLang="zh-CN" sz="2000" dirty="0" smtClean="0"/>
              <a:t> </a:t>
            </a:r>
          </a:p>
          <a:p>
            <a:pPr lvl="1"/>
            <a:r>
              <a:rPr lang="en-US" altLang="zh-CN" sz="2000" dirty="0" smtClean="0"/>
              <a:t>… … … …</a:t>
            </a:r>
            <a:endParaRPr lang="zh-CN" altLang="en-US" sz="2000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Activities in Workflow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 smtClean="0"/>
              <a:t>Business activities</a:t>
            </a:r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2143116"/>
            <a:ext cx="2714644" cy="3770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 (Cont’)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Workflow Activity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Details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00034" y="1071546"/>
            <a:ext cx="8081932" cy="505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 (Cont’)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/>
              <a:t>Workflow Text Representation: .</a:t>
            </a:r>
            <a:r>
              <a:rPr lang="en-US" altLang="zh-CN" sz="2800" b="1" dirty="0" err="1" smtClean="0"/>
              <a:t>xoml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71472" y="1000108"/>
            <a:ext cx="7929618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in Action (Cont’)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/>
              <a:t>Workflow Text Representation: .rule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706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94981" y="1089027"/>
            <a:ext cx="8248985" cy="505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benefit of Workflow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Easy to change business process</a:t>
            </a:r>
          </a:p>
          <a:p>
            <a:pPr lvl="1"/>
            <a:r>
              <a:rPr lang="en-US" altLang="zh-CN" sz="2000" dirty="0" smtClean="0"/>
              <a:t>By drag and drop, you can reassemble workflow to reflect your business change easily</a:t>
            </a:r>
          </a:p>
          <a:p>
            <a:pPr lvl="1"/>
            <a:r>
              <a:rPr lang="en-US" altLang="zh-CN" sz="2000" dirty="0" smtClean="0"/>
              <a:t>By  copying  several files, you can distribute your change easily without redistributing the whole application</a:t>
            </a:r>
          </a:p>
          <a:p>
            <a:r>
              <a:rPr lang="en-US" altLang="zh-CN" sz="2400" dirty="0" smtClean="0"/>
              <a:t>Easy to share business modules among similar processes</a:t>
            </a:r>
          </a:p>
          <a:p>
            <a:pPr lvl="1"/>
            <a:r>
              <a:rPr lang="en-US" altLang="zh-CN" sz="2000" dirty="0" smtClean="0"/>
              <a:t>By  standardizing business modules as activities, you can share them easily to minimize coding and speed up development</a:t>
            </a:r>
          </a:p>
          <a:p>
            <a:r>
              <a:rPr lang="en-US" altLang="zh-CN" sz="2400" dirty="0" smtClean="0"/>
              <a:t>Easy to modify business logic</a:t>
            </a:r>
          </a:p>
          <a:p>
            <a:pPr lvl="1"/>
            <a:r>
              <a:rPr lang="en-US" altLang="zh-CN" sz="2000" dirty="0" smtClean="0"/>
              <a:t>By coding business logic with </a:t>
            </a:r>
            <a:r>
              <a:rPr lang="en-US" altLang="zh-CN" sz="2000" dirty="0" err="1" smtClean="0"/>
              <a:t>rulesets</a:t>
            </a:r>
            <a:r>
              <a:rPr lang="en-US" altLang="zh-CN" sz="2000" dirty="0" smtClean="0"/>
              <a:t>, you can modify them later easily and take effect immediately</a:t>
            </a:r>
          </a:p>
          <a:p>
            <a:pPr lvl="1"/>
            <a:endParaRPr lang="en-US" altLang="zh-CN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take a break: q &amp; a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内容占位符 6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User Interface </a:t>
            </a:r>
            <a:r>
              <a:rPr lang="en-US" altLang="zh-CN" dirty="0" smtClean="0">
                <a:sym typeface="Wingdings" pitchFamily="2" charset="2"/>
              </a:rPr>
              <a:t> </a:t>
            </a:r>
            <a:r>
              <a:rPr lang="en-US" altLang="zh-CN" dirty="0" smtClean="0"/>
              <a:t>Business Process </a:t>
            </a:r>
            <a:r>
              <a:rPr lang="en-US" altLang="zh-CN" dirty="0" smtClean="0">
                <a:sym typeface="Wingdings" pitchFamily="2" charset="2"/>
              </a:rPr>
              <a:t> </a:t>
            </a:r>
            <a:r>
              <a:rPr lang="en-US" altLang="zh-CN" dirty="0" smtClean="0"/>
              <a:t>Database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     Web pages    </a:t>
            </a:r>
            <a:r>
              <a:rPr lang="en-US" altLang="zh-CN" dirty="0" smtClean="0">
                <a:sym typeface="Wingdings" pitchFamily="2" charset="2"/>
              </a:rPr>
              <a:t>    Workflow      SQL Server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Revisit: Application Development Model</a:t>
            </a:r>
            <a:endParaRPr lang="zh-CN" altLang="en-US" dirty="0"/>
          </a:p>
        </p:txBody>
      </p:sp>
      <p:sp>
        <p:nvSpPr>
          <p:cNvPr id="40" name="流程图: 磁盘 39"/>
          <p:cNvSpPr/>
          <p:nvPr/>
        </p:nvSpPr>
        <p:spPr>
          <a:xfrm>
            <a:off x="6500826" y="2928934"/>
            <a:ext cx="857256" cy="1071570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</a:t>
            </a:r>
            <a:endParaRPr lang="zh-CN" altLang="en-US" dirty="0"/>
          </a:p>
        </p:txBody>
      </p:sp>
      <p:grpSp>
        <p:nvGrpSpPr>
          <p:cNvPr id="3" name="组合 63"/>
          <p:cNvGrpSpPr/>
          <p:nvPr/>
        </p:nvGrpSpPr>
        <p:grpSpPr>
          <a:xfrm>
            <a:off x="1500166" y="2928934"/>
            <a:ext cx="1214446" cy="928694"/>
            <a:chOff x="1285852" y="2714620"/>
            <a:chExt cx="1214446" cy="9286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" name="组合 53"/>
            <p:cNvGrpSpPr/>
            <p:nvPr/>
          </p:nvGrpSpPr>
          <p:grpSpPr>
            <a:xfrm>
              <a:off x="1571604" y="2714620"/>
              <a:ext cx="928694" cy="642942"/>
              <a:chOff x="1571604" y="2714620"/>
              <a:chExt cx="928694" cy="642942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57"/>
            <p:cNvGrpSpPr/>
            <p:nvPr/>
          </p:nvGrpSpPr>
          <p:grpSpPr>
            <a:xfrm>
              <a:off x="1428728" y="2857496"/>
              <a:ext cx="928694" cy="642942"/>
              <a:chOff x="1571604" y="2714620"/>
              <a:chExt cx="928694" cy="642942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60"/>
            <p:cNvGrpSpPr/>
            <p:nvPr/>
          </p:nvGrpSpPr>
          <p:grpSpPr>
            <a:xfrm>
              <a:off x="1285852" y="3000372"/>
              <a:ext cx="928694" cy="642942"/>
              <a:chOff x="1571604" y="2714620"/>
              <a:chExt cx="928694" cy="642942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" name="组合 69"/>
          <p:cNvGrpSpPr/>
          <p:nvPr/>
        </p:nvGrpSpPr>
        <p:grpSpPr>
          <a:xfrm>
            <a:off x="4143372" y="1928802"/>
            <a:ext cx="928694" cy="3143272"/>
            <a:chOff x="4143372" y="1928802"/>
            <a:chExt cx="928694" cy="314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流程图: 联系 3"/>
            <p:cNvSpPr/>
            <p:nvPr/>
          </p:nvSpPr>
          <p:spPr>
            <a:xfrm>
              <a:off x="4500562" y="1928802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决策 5"/>
            <p:cNvSpPr/>
            <p:nvPr/>
          </p:nvSpPr>
          <p:spPr>
            <a:xfrm>
              <a:off x="4143372" y="3000372"/>
              <a:ext cx="928694" cy="35719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流程图: 可选过程 7"/>
            <p:cNvSpPr/>
            <p:nvPr/>
          </p:nvSpPr>
          <p:spPr>
            <a:xfrm>
              <a:off x="4214810" y="3643314"/>
              <a:ext cx="785818" cy="35719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过程 8"/>
            <p:cNvSpPr/>
            <p:nvPr/>
          </p:nvSpPr>
          <p:spPr>
            <a:xfrm>
              <a:off x="4214810" y="4286256"/>
              <a:ext cx="785818" cy="35719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流程图: 联系 9"/>
            <p:cNvSpPr/>
            <p:nvPr/>
          </p:nvSpPr>
          <p:spPr>
            <a:xfrm>
              <a:off x="4500562" y="4857760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肘形连接符 15"/>
            <p:cNvCxnSpPr>
              <a:stCxn id="6" idx="2"/>
              <a:endCxn id="8" idx="0"/>
            </p:cNvCxnSpPr>
            <p:nvPr/>
          </p:nvCxnSpPr>
          <p:spPr>
            <a:xfrm rot="5400000">
              <a:off x="4464843" y="3500438"/>
              <a:ext cx="285752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6" idx="3"/>
              <a:endCxn id="9" idx="3"/>
            </p:cNvCxnSpPr>
            <p:nvPr/>
          </p:nvCxnSpPr>
          <p:spPr>
            <a:xfrm flipH="1">
              <a:off x="5000628" y="3178967"/>
              <a:ext cx="71438" cy="1285884"/>
            </a:xfrm>
            <a:prstGeom prst="bentConnector3">
              <a:avLst>
                <a:gd name="adj1" fmla="val -319998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4" idx="4"/>
              <a:endCxn id="67" idx="0"/>
            </p:cNvCxnSpPr>
            <p:nvPr/>
          </p:nvCxnSpPr>
          <p:spPr>
            <a:xfrm rot="5400000">
              <a:off x="4482703" y="2268132"/>
              <a:ext cx="25003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9" idx="2"/>
              <a:endCxn id="10" idx="0"/>
            </p:cNvCxnSpPr>
            <p:nvPr/>
          </p:nvCxnSpPr>
          <p:spPr>
            <a:xfrm rot="5400000">
              <a:off x="4500562" y="4750603"/>
              <a:ext cx="2143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8" idx="2"/>
              <a:endCxn id="9" idx="0"/>
            </p:cNvCxnSpPr>
            <p:nvPr/>
          </p:nvCxnSpPr>
          <p:spPr>
            <a:xfrm rot="5400000">
              <a:off x="4464843" y="4143380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67" idx="2"/>
              <a:endCxn id="6" idx="0"/>
            </p:cNvCxnSpPr>
            <p:nvPr/>
          </p:nvCxnSpPr>
          <p:spPr>
            <a:xfrm rot="5400000">
              <a:off x="4464843" y="2857496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流程图: 手动输入 66"/>
            <p:cNvSpPr/>
            <p:nvPr/>
          </p:nvSpPr>
          <p:spPr>
            <a:xfrm>
              <a:off x="4214810" y="2357430"/>
              <a:ext cx="785818" cy="357190"/>
            </a:xfrm>
            <a:prstGeom prst="flowChartManualIn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磁盘 4"/>
          <p:cNvSpPr/>
          <p:nvPr/>
        </p:nvSpPr>
        <p:spPr>
          <a:xfrm>
            <a:off x="7072330" y="3000372"/>
            <a:ext cx="857256" cy="1071570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</a:t>
            </a:r>
            <a:endParaRPr lang="zh-CN" altLang="en-US" dirty="0"/>
          </a:p>
        </p:txBody>
      </p:sp>
      <p:grpSp>
        <p:nvGrpSpPr>
          <p:cNvPr id="16" name="组合 69"/>
          <p:cNvGrpSpPr/>
          <p:nvPr/>
        </p:nvGrpSpPr>
        <p:grpSpPr>
          <a:xfrm>
            <a:off x="4143372" y="1928802"/>
            <a:ext cx="928694" cy="3143272"/>
            <a:chOff x="4143372" y="1928802"/>
            <a:chExt cx="928694" cy="314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流程图: 联系 3"/>
            <p:cNvSpPr/>
            <p:nvPr/>
          </p:nvSpPr>
          <p:spPr>
            <a:xfrm>
              <a:off x="4500562" y="1928802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决策 5"/>
            <p:cNvSpPr/>
            <p:nvPr/>
          </p:nvSpPr>
          <p:spPr>
            <a:xfrm>
              <a:off x="4143372" y="3000372"/>
              <a:ext cx="928694" cy="35719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可选过程 18"/>
            <p:cNvSpPr/>
            <p:nvPr/>
          </p:nvSpPr>
          <p:spPr>
            <a:xfrm>
              <a:off x="4214810" y="3643314"/>
              <a:ext cx="785818" cy="35719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过程 19"/>
            <p:cNvSpPr/>
            <p:nvPr/>
          </p:nvSpPr>
          <p:spPr>
            <a:xfrm>
              <a:off x="4214810" y="4286256"/>
              <a:ext cx="785818" cy="35719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流程图: 联系 20"/>
            <p:cNvSpPr/>
            <p:nvPr/>
          </p:nvSpPr>
          <p:spPr>
            <a:xfrm>
              <a:off x="4500562" y="4857760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肘形连接符 21"/>
            <p:cNvCxnSpPr>
              <a:endCxn id="19" idx="0"/>
            </p:cNvCxnSpPr>
            <p:nvPr/>
          </p:nvCxnSpPr>
          <p:spPr>
            <a:xfrm rot="5400000">
              <a:off x="4464843" y="3500438"/>
              <a:ext cx="285752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endCxn id="20" idx="3"/>
            </p:cNvCxnSpPr>
            <p:nvPr/>
          </p:nvCxnSpPr>
          <p:spPr>
            <a:xfrm flipH="1">
              <a:off x="5000628" y="3178967"/>
              <a:ext cx="71438" cy="1285884"/>
            </a:xfrm>
            <a:prstGeom prst="bentConnector3">
              <a:avLst>
                <a:gd name="adj1" fmla="val -319998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28" idx="0"/>
            </p:cNvCxnSpPr>
            <p:nvPr/>
          </p:nvCxnSpPr>
          <p:spPr>
            <a:xfrm rot="5400000">
              <a:off x="4482703" y="2268132"/>
              <a:ext cx="25003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20" idx="2"/>
              <a:endCxn id="21" idx="0"/>
            </p:cNvCxnSpPr>
            <p:nvPr/>
          </p:nvCxnSpPr>
          <p:spPr>
            <a:xfrm rot="5400000">
              <a:off x="4500562" y="4750603"/>
              <a:ext cx="2143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9" idx="2"/>
              <a:endCxn id="20" idx="0"/>
            </p:cNvCxnSpPr>
            <p:nvPr/>
          </p:nvCxnSpPr>
          <p:spPr>
            <a:xfrm rot="5400000">
              <a:off x="4464843" y="4143380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28" idx="2"/>
            </p:cNvCxnSpPr>
            <p:nvPr/>
          </p:nvCxnSpPr>
          <p:spPr>
            <a:xfrm rot="5400000">
              <a:off x="4464843" y="2857496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流程图: 手动输入 27"/>
            <p:cNvSpPr/>
            <p:nvPr/>
          </p:nvSpPr>
          <p:spPr>
            <a:xfrm>
              <a:off x="4214810" y="2357430"/>
              <a:ext cx="785818" cy="357190"/>
            </a:xfrm>
            <a:prstGeom prst="flowChartManualIn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63"/>
          <p:cNvGrpSpPr/>
          <p:nvPr/>
        </p:nvGrpSpPr>
        <p:grpSpPr>
          <a:xfrm>
            <a:off x="1071538" y="3071810"/>
            <a:ext cx="1214446" cy="928694"/>
            <a:chOff x="1285852" y="2714620"/>
            <a:chExt cx="1214446" cy="9286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" name="组合 53"/>
            <p:cNvGrpSpPr/>
            <p:nvPr/>
          </p:nvGrpSpPr>
          <p:grpSpPr>
            <a:xfrm>
              <a:off x="1571604" y="2714620"/>
              <a:ext cx="928694" cy="642942"/>
              <a:chOff x="1571604" y="2714620"/>
              <a:chExt cx="928694" cy="642942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57"/>
            <p:cNvGrpSpPr/>
            <p:nvPr/>
          </p:nvGrpSpPr>
          <p:grpSpPr>
            <a:xfrm>
              <a:off x="1428728" y="2857496"/>
              <a:ext cx="928694" cy="642942"/>
              <a:chOff x="1571604" y="2714620"/>
              <a:chExt cx="928694" cy="64294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60"/>
            <p:cNvGrpSpPr/>
            <p:nvPr/>
          </p:nvGrpSpPr>
          <p:grpSpPr>
            <a:xfrm>
              <a:off x="1285852" y="3000372"/>
              <a:ext cx="928694" cy="642942"/>
              <a:chOff x="1571604" y="2714620"/>
              <a:chExt cx="928694" cy="64294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0" name="矩形 29"/>
          <p:cNvSpPr/>
          <p:nvPr/>
        </p:nvSpPr>
        <p:spPr>
          <a:xfrm>
            <a:off x="0" y="1764592"/>
            <a:ext cx="9144000" cy="4357718"/>
          </a:xfrm>
          <a:prstGeom prst="rect">
            <a:avLst/>
          </a:prstGeom>
          <a:gradFill>
            <a:gsLst>
              <a:gs pos="0">
                <a:srgbClr val="FFEFD1">
                  <a:alpha val="25000"/>
                </a:srgbClr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Interaction and Interface Model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Web page </a:t>
            </a:r>
            <a:r>
              <a:rPr lang="en-US" altLang="zh-CN" dirty="0" smtClean="0">
                <a:sym typeface="Wingdings" pitchFamily="2" charset="2"/>
              </a:rPr>
              <a:t> BLL  Workflow  DAL  Database</a:t>
            </a:r>
          </a:p>
          <a:p>
            <a:endParaRPr lang="zh-CN" altLang="en-US" dirty="0"/>
          </a:p>
        </p:txBody>
      </p:sp>
      <p:sp>
        <p:nvSpPr>
          <p:cNvPr id="29" name="双波形 28"/>
          <p:cNvSpPr/>
          <p:nvPr/>
        </p:nvSpPr>
        <p:spPr>
          <a:xfrm>
            <a:off x="2571736" y="3143248"/>
            <a:ext cx="1285884" cy="785818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.NET </a:t>
            </a:r>
            <a:r>
              <a:rPr lang="en-US" altLang="zh-CN" dirty="0" err="1" smtClean="0"/>
              <a:t>Remoting</a:t>
            </a:r>
            <a:endParaRPr lang="zh-CN" altLang="en-US" dirty="0"/>
          </a:p>
        </p:txBody>
      </p:sp>
      <p:sp>
        <p:nvSpPr>
          <p:cNvPr id="31" name="双波形 30"/>
          <p:cNvSpPr/>
          <p:nvPr/>
        </p:nvSpPr>
        <p:spPr>
          <a:xfrm>
            <a:off x="5500694" y="3130722"/>
            <a:ext cx="1285884" cy="785818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ADO.NET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Windows .NET </a:t>
            </a:r>
            <a:r>
              <a:rPr lang="en-US" altLang="zh-CN" dirty="0" err="1" smtClean="0"/>
              <a:t>Remoting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 smtClean="0"/>
              <a:t>.NET </a:t>
            </a:r>
            <a:r>
              <a:rPr lang="en-US" altLang="zh-CN" dirty="0" err="1" smtClean="0"/>
              <a:t>Remoting</a:t>
            </a:r>
            <a:r>
              <a:rPr lang="en-US" altLang="zh-CN" dirty="0" smtClean="0"/>
              <a:t> Arch.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sz="2400" dirty="0" smtClean="0"/>
              <a:t>Benefit</a:t>
            </a:r>
          </a:p>
          <a:p>
            <a:pPr lvl="1"/>
            <a:r>
              <a:rPr lang="en-US" sz="2000" dirty="0" smtClean="0"/>
              <a:t>Security requirements</a:t>
            </a:r>
          </a:p>
          <a:p>
            <a:pPr lvl="1"/>
            <a:r>
              <a:rPr lang="en-US" sz="2000" dirty="0" smtClean="0"/>
              <a:t>Speed</a:t>
            </a:r>
          </a:p>
          <a:p>
            <a:pPr lvl="1"/>
            <a:r>
              <a:rPr lang="en-US" sz="2000" dirty="0" smtClean="0"/>
              <a:t>Scalability</a:t>
            </a:r>
          </a:p>
          <a:p>
            <a:pPr lvl="1"/>
            <a:r>
              <a:rPr lang="en-US" sz="2000" dirty="0" smtClean="0"/>
              <a:t>Use of common language runtime features</a:t>
            </a:r>
          </a:p>
          <a:p>
            <a:pPr lvl="1"/>
            <a:r>
              <a:rPr lang="en-US" sz="2000" dirty="0" smtClean="0"/>
              <a:t>Object-oriented application design</a:t>
            </a:r>
          </a:p>
          <a:p>
            <a:pPr lvl="1"/>
            <a:r>
              <a:rPr lang="en-US" sz="2000" dirty="0" smtClean="0"/>
              <a:t>Custom transports or wire formats</a:t>
            </a:r>
          </a:p>
          <a:p>
            <a:pPr lvl="1"/>
            <a:r>
              <a:rPr lang="en-US" sz="2000" dirty="0" smtClean="0"/>
              <a:t>Cross-application domain communications</a:t>
            </a:r>
          </a:p>
          <a:p>
            <a:endParaRPr lang="zh-CN" altLang="en-US" sz="2400" dirty="0"/>
          </a:p>
        </p:txBody>
      </p:sp>
      <p:pic>
        <p:nvPicPr>
          <p:cNvPr id="35842" name="Picture 2" descr=".NET Remoting Architectur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162179"/>
            <a:ext cx="3495675" cy="1838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.NET </a:t>
            </a:r>
            <a:r>
              <a:rPr lang="en-US" altLang="zh-CN" dirty="0" err="1" smtClean="0"/>
              <a:t>Remoting</a:t>
            </a:r>
            <a:r>
              <a:rPr lang="en-US" altLang="zh-CN" dirty="0" smtClean="0"/>
              <a:t> in Action</a:t>
            </a:r>
            <a:endParaRPr lang="zh-CN" altLang="en-US" dirty="0"/>
          </a:p>
        </p:txBody>
      </p:sp>
      <p:pic>
        <p:nvPicPr>
          <p:cNvPr id="3379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71472" y="1000108"/>
            <a:ext cx="7770882" cy="5126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BLL Interface: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ICT Input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.NET </a:t>
            </a:r>
            <a:r>
              <a:rPr lang="en-US" altLang="zh-CN" dirty="0" err="1" smtClean="0"/>
              <a:t>Remoting</a:t>
            </a:r>
            <a:r>
              <a:rPr lang="en-US" altLang="zh-CN" dirty="0" smtClean="0"/>
              <a:t> in Action (Cont’)</a:t>
            </a:r>
            <a:endParaRPr lang="zh-CN" alt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BLL Implementation: ICT Input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696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00034" y="928670"/>
            <a:ext cx="8100348" cy="519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benefit of BLL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Separate business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process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(WF)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UI</a:t>
            </a:r>
          </a:p>
          <a:p>
            <a:pPr lvl="1"/>
            <a:r>
              <a:rPr lang="en-US" altLang="zh-CN" dirty="0" smtClean="0"/>
              <a:t>UI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can</a:t>
            </a:r>
            <a:r>
              <a:rPr lang="zh-CN" altLang="en-US" dirty="0" smtClean="0"/>
              <a:t> </a:t>
            </a:r>
            <a:r>
              <a:rPr lang="en-US" altLang="zh-CN" dirty="0" smtClean="0"/>
              <a:t>change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independently</a:t>
            </a:r>
          </a:p>
          <a:p>
            <a:pPr lvl="1"/>
            <a:r>
              <a:rPr lang="en-US" altLang="zh-CN" dirty="0" smtClean="0"/>
              <a:t>UI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can</a:t>
            </a:r>
            <a:r>
              <a:rPr lang="zh-CN" altLang="en-US" dirty="0" smtClean="0"/>
              <a:t> </a:t>
            </a:r>
            <a:r>
              <a:rPr lang="en-US" altLang="zh-CN" dirty="0" smtClean="0"/>
              <a:t>upgrade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independently</a:t>
            </a:r>
          </a:p>
          <a:p>
            <a:pPr lvl="1"/>
            <a:r>
              <a:rPr lang="en-US" altLang="zh-CN" dirty="0" smtClean="0"/>
              <a:t>UI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can</a:t>
            </a:r>
            <a:r>
              <a:rPr lang="zh-CN" altLang="en-US" dirty="0" smtClean="0"/>
              <a:t> </a:t>
            </a:r>
            <a:r>
              <a:rPr lang="en-US" altLang="zh-CN" dirty="0" smtClean="0"/>
              <a:t>distribute</a:t>
            </a:r>
            <a:r>
              <a:rPr lang="zh-CN" altLang="en-US" dirty="0" smtClean="0"/>
              <a:t> </a:t>
            </a:r>
            <a:r>
              <a:rPr lang="en-US" altLang="zh-CN" dirty="0" smtClean="0"/>
              <a:t>onto</a:t>
            </a:r>
            <a:r>
              <a:rPr lang="zh-CN" altLang="en-US" dirty="0" smtClean="0"/>
              <a:t> </a:t>
            </a:r>
            <a:r>
              <a:rPr lang="en-US" altLang="zh-CN" dirty="0" smtClean="0"/>
              <a:t>two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computers</a:t>
            </a:r>
            <a:r>
              <a:rPr lang="zh-CN" altLang="en-US" dirty="0" smtClean="0"/>
              <a:t> </a:t>
            </a:r>
            <a:r>
              <a:rPr lang="en-US" altLang="zh-CN" dirty="0" smtClean="0"/>
              <a:t>separately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better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performance</a:t>
            </a:r>
          </a:p>
          <a:p>
            <a:pPr lvl="1"/>
            <a:r>
              <a:rPr lang="en-US" altLang="zh-CN" dirty="0" smtClean="0"/>
              <a:t>Debug and test business process(WF) directly thro the interface of BLL instead of 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Windows ADO.NET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 consistent access to data sources such as SQL Server, XML, etc.</a:t>
            </a:r>
          </a:p>
          <a:p>
            <a:r>
              <a:rPr lang="en-US" dirty="0" smtClean="0"/>
              <a:t>Separate data access from data manipulation into discrete components </a:t>
            </a:r>
            <a:endParaRPr lang="zh-CN" altLang="en-US" dirty="0"/>
          </a:p>
        </p:txBody>
      </p:sp>
      <p:pic>
        <p:nvPicPr>
          <p:cNvPr id="29698" name="Picture 2" descr="Data provider graphic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85918" y="3114694"/>
            <a:ext cx="5505450" cy="30289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ADO.NET in Action</a:t>
            </a: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DAL Interface: FIS</a:t>
            </a:r>
            <a:r>
              <a:rPr kumimoji="0" lang="en-US" altLang="zh-CN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Objects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27649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08984" y="1024370"/>
            <a:ext cx="8920535" cy="5022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ADO.NET in Action</a:t>
            </a: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DAL Interface: Data</a:t>
            </a:r>
            <a:r>
              <a:rPr kumimoji="0" lang="en-US" altLang="zh-CN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Repositories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7680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07815" y="914833"/>
            <a:ext cx="8136151" cy="5211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benefit of DAL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Separate business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process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(WF)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Database schema</a:t>
            </a:r>
          </a:p>
          <a:p>
            <a:pPr lvl="1"/>
            <a:r>
              <a:rPr lang="en-US" altLang="zh-CN" dirty="0" smtClean="0"/>
              <a:t>Database 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Workflow</a:t>
            </a:r>
            <a:r>
              <a:rPr lang="zh-CN" altLang="en-US" dirty="0" smtClean="0"/>
              <a:t> </a:t>
            </a:r>
            <a:r>
              <a:rPr lang="en-US" altLang="zh-CN" dirty="0" smtClean="0"/>
              <a:t>can</a:t>
            </a:r>
            <a:r>
              <a:rPr lang="zh-CN" altLang="en-US" dirty="0" smtClean="0"/>
              <a:t> </a:t>
            </a:r>
            <a:r>
              <a:rPr lang="en-US" altLang="zh-CN" dirty="0" smtClean="0"/>
              <a:t>change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independently</a:t>
            </a:r>
          </a:p>
          <a:p>
            <a:pPr lvl="1"/>
            <a:r>
              <a:rPr lang="en-US" dirty="0" smtClean="0"/>
              <a:t>Consistent access to data sources</a:t>
            </a:r>
          </a:p>
          <a:p>
            <a:pPr lvl="1"/>
            <a:r>
              <a:rPr lang="en-US" dirty="0" smtClean="0"/>
              <a:t>Separating data access from data manipulation into discrete components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磁盘 4"/>
          <p:cNvSpPr/>
          <p:nvPr/>
        </p:nvSpPr>
        <p:spPr>
          <a:xfrm>
            <a:off x="7072330" y="3000372"/>
            <a:ext cx="857256" cy="1071570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</a:t>
            </a:r>
            <a:endParaRPr lang="zh-CN" altLang="en-US" dirty="0"/>
          </a:p>
        </p:txBody>
      </p:sp>
      <p:grpSp>
        <p:nvGrpSpPr>
          <p:cNvPr id="4" name="组合 69"/>
          <p:cNvGrpSpPr/>
          <p:nvPr/>
        </p:nvGrpSpPr>
        <p:grpSpPr>
          <a:xfrm>
            <a:off x="4143372" y="1928802"/>
            <a:ext cx="928694" cy="3143272"/>
            <a:chOff x="4143372" y="1928802"/>
            <a:chExt cx="928694" cy="31432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流程图: 联系 3"/>
            <p:cNvSpPr/>
            <p:nvPr/>
          </p:nvSpPr>
          <p:spPr>
            <a:xfrm>
              <a:off x="4500562" y="1928802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决策 5"/>
            <p:cNvSpPr/>
            <p:nvPr/>
          </p:nvSpPr>
          <p:spPr>
            <a:xfrm>
              <a:off x="4143372" y="3000372"/>
              <a:ext cx="928694" cy="35719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可选过程 18"/>
            <p:cNvSpPr/>
            <p:nvPr/>
          </p:nvSpPr>
          <p:spPr>
            <a:xfrm>
              <a:off x="4214810" y="3643314"/>
              <a:ext cx="785818" cy="35719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过程 19"/>
            <p:cNvSpPr/>
            <p:nvPr/>
          </p:nvSpPr>
          <p:spPr>
            <a:xfrm>
              <a:off x="4214810" y="4286256"/>
              <a:ext cx="785818" cy="35719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流程图: 联系 20"/>
            <p:cNvSpPr/>
            <p:nvPr/>
          </p:nvSpPr>
          <p:spPr>
            <a:xfrm>
              <a:off x="4500562" y="4857760"/>
              <a:ext cx="214314" cy="21431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肘形连接符 21"/>
            <p:cNvCxnSpPr>
              <a:endCxn id="19" idx="0"/>
            </p:cNvCxnSpPr>
            <p:nvPr/>
          </p:nvCxnSpPr>
          <p:spPr>
            <a:xfrm rot="5400000">
              <a:off x="4464843" y="3500438"/>
              <a:ext cx="285752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endCxn id="20" idx="3"/>
            </p:cNvCxnSpPr>
            <p:nvPr/>
          </p:nvCxnSpPr>
          <p:spPr>
            <a:xfrm flipH="1">
              <a:off x="5000628" y="3178967"/>
              <a:ext cx="71438" cy="1285884"/>
            </a:xfrm>
            <a:prstGeom prst="bentConnector3">
              <a:avLst>
                <a:gd name="adj1" fmla="val -319998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28" idx="0"/>
            </p:cNvCxnSpPr>
            <p:nvPr/>
          </p:nvCxnSpPr>
          <p:spPr>
            <a:xfrm rot="5400000">
              <a:off x="4482703" y="2268132"/>
              <a:ext cx="25003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20" idx="2"/>
              <a:endCxn id="21" idx="0"/>
            </p:cNvCxnSpPr>
            <p:nvPr/>
          </p:nvCxnSpPr>
          <p:spPr>
            <a:xfrm rot="5400000">
              <a:off x="4500562" y="4750603"/>
              <a:ext cx="2143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9" idx="2"/>
              <a:endCxn id="20" idx="0"/>
            </p:cNvCxnSpPr>
            <p:nvPr/>
          </p:nvCxnSpPr>
          <p:spPr>
            <a:xfrm rot="5400000">
              <a:off x="4464843" y="4143380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28" idx="2"/>
            </p:cNvCxnSpPr>
            <p:nvPr/>
          </p:nvCxnSpPr>
          <p:spPr>
            <a:xfrm rot="5400000">
              <a:off x="4464843" y="2857496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流程图: 手动输入 27"/>
            <p:cNvSpPr/>
            <p:nvPr/>
          </p:nvSpPr>
          <p:spPr>
            <a:xfrm>
              <a:off x="4214810" y="2357430"/>
              <a:ext cx="785818" cy="357190"/>
            </a:xfrm>
            <a:prstGeom prst="flowChartManualIn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Revisit: Interaction and Interface Model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Web page </a:t>
            </a:r>
            <a:r>
              <a:rPr lang="en-US" altLang="zh-CN" dirty="0" smtClean="0">
                <a:sym typeface="Wingdings" pitchFamily="2" charset="2"/>
              </a:rPr>
              <a:t> BLL  Workflow  DAL  Database</a:t>
            </a:r>
          </a:p>
          <a:p>
            <a:endParaRPr lang="zh-CN" altLang="en-US" dirty="0"/>
          </a:p>
        </p:txBody>
      </p:sp>
      <p:sp>
        <p:nvSpPr>
          <p:cNvPr id="29" name="双波形 28"/>
          <p:cNvSpPr/>
          <p:nvPr/>
        </p:nvSpPr>
        <p:spPr>
          <a:xfrm>
            <a:off x="2571736" y="3143248"/>
            <a:ext cx="1285884" cy="785818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.NET </a:t>
            </a:r>
            <a:r>
              <a:rPr lang="en-US" altLang="zh-CN" dirty="0" err="1" smtClean="0"/>
              <a:t>Remoting</a:t>
            </a:r>
            <a:endParaRPr lang="zh-CN" altLang="en-US" dirty="0"/>
          </a:p>
        </p:txBody>
      </p:sp>
      <p:sp>
        <p:nvSpPr>
          <p:cNvPr id="31" name="双波形 30"/>
          <p:cNvSpPr/>
          <p:nvPr/>
        </p:nvSpPr>
        <p:spPr>
          <a:xfrm>
            <a:off x="5500694" y="3130722"/>
            <a:ext cx="1285884" cy="785818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ADO.NET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0" y="1764592"/>
            <a:ext cx="9144000" cy="4357718"/>
          </a:xfrm>
          <a:prstGeom prst="rect">
            <a:avLst/>
          </a:prstGeom>
          <a:gradFill>
            <a:gsLst>
              <a:gs pos="0">
                <a:srgbClr val="FFEFD1">
                  <a:alpha val="25000"/>
                </a:srgbClr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63"/>
          <p:cNvGrpSpPr/>
          <p:nvPr/>
        </p:nvGrpSpPr>
        <p:grpSpPr>
          <a:xfrm>
            <a:off x="1071538" y="3071810"/>
            <a:ext cx="1214446" cy="928694"/>
            <a:chOff x="1285852" y="2714620"/>
            <a:chExt cx="1214446" cy="9286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" name="组合 53"/>
            <p:cNvGrpSpPr/>
            <p:nvPr/>
          </p:nvGrpSpPr>
          <p:grpSpPr>
            <a:xfrm>
              <a:off x="1571604" y="2714620"/>
              <a:ext cx="928694" cy="642942"/>
              <a:chOff x="1571604" y="2714620"/>
              <a:chExt cx="928694" cy="642942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57"/>
            <p:cNvGrpSpPr/>
            <p:nvPr/>
          </p:nvGrpSpPr>
          <p:grpSpPr>
            <a:xfrm>
              <a:off x="1428728" y="2857496"/>
              <a:ext cx="928694" cy="642942"/>
              <a:chOff x="1571604" y="2714620"/>
              <a:chExt cx="928694" cy="64294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60"/>
            <p:cNvGrpSpPr/>
            <p:nvPr/>
          </p:nvGrpSpPr>
          <p:grpSpPr>
            <a:xfrm>
              <a:off x="1285852" y="3000372"/>
              <a:ext cx="928694" cy="642942"/>
              <a:chOff x="1571604" y="2714620"/>
              <a:chExt cx="928694" cy="64294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571604" y="2714620"/>
                <a:ext cx="928694" cy="6429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571604" y="2857496"/>
                <a:ext cx="928694" cy="50006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Web Service and Ajax 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half" idx="1"/>
          </p:nvPr>
        </p:nvSpPr>
        <p:spPr>
          <a:xfrm>
            <a:off x="457200" y="1071546"/>
            <a:ext cx="4038600" cy="5054617"/>
          </a:xfrm>
        </p:spPr>
        <p:txBody>
          <a:bodyPr/>
          <a:lstStyle/>
          <a:p>
            <a:r>
              <a:rPr lang="en-US" b="1" dirty="0" smtClean="0"/>
              <a:t>Benefit:</a:t>
            </a:r>
          </a:p>
          <a:p>
            <a:r>
              <a:rPr lang="en-US" sz="2000" b="1" dirty="0" smtClean="0"/>
              <a:t>Improved efficiency, because significant parts of a Web page's processing are performed in the browser.</a:t>
            </a:r>
          </a:p>
          <a:p>
            <a:r>
              <a:rPr lang="en-US" sz="2000" b="1" dirty="0" smtClean="0"/>
              <a:t>Familiar UI elements such as progress indicators, tooltips, and pop-up windows</a:t>
            </a:r>
          </a:p>
          <a:p>
            <a:r>
              <a:rPr lang="en-US" sz="2000" b="1" dirty="0" smtClean="0"/>
              <a:t>Partial-page updates that refresh only the parts of the Web page that have changed.</a:t>
            </a:r>
          </a:p>
          <a:p>
            <a:r>
              <a:rPr lang="en-US" sz="2000" b="1" dirty="0" smtClean="0"/>
              <a:t>Client integration with ASP.NET application services for forms authentication, roles, and user profiles.</a:t>
            </a:r>
          </a:p>
        </p:txBody>
      </p:sp>
      <p:pic>
        <p:nvPicPr>
          <p:cNvPr id="21510" name="Picture 6" descr="Web Services Client Server Communication in AJAX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86314" y="1071546"/>
            <a:ext cx="4071966" cy="50781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Web Service in Action</a:t>
            </a:r>
            <a:endParaRPr lang="zh-CN" alt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85720" y="928670"/>
            <a:ext cx="8502258" cy="519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smtClean="0">
                <a:latin typeface="+mj-lt"/>
                <a:ea typeface="微軟正黑體" pitchFamily="34" charset="-120"/>
                <a:cs typeface="+mj-cs"/>
              </a:rPr>
              <a:t>Web service for ICT Input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iMES</a:t>
            </a:r>
            <a:r>
              <a:rPr lang="en-US" altLang="zh-CN" dirty="0" smtClean="0"/>
              <a:t>: Ajax in Action</a:t>
            </a:r>
            <a:endParaRPr lang="zh-CN" altLang="en-US" dirty="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428596" y="606107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smtClean="0">
                <a:latin typeface="+mj-lt"/>
                <a:ea typeface="微軟正黑體" pitchFamily="34" charset="-120"/>
                <a:cs typeface="+mj-cs"/>
              </a:rPr>
              <a:t>Web page and Ajax Usage for ICT Input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pic>
        <p:nvPicPr>
          <p:cNvPr id="778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42844" y="1071546"/>
            <a:ext cx="8892097" cy="503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Implement business process with Workflow</a:t>
            </a:r>
          </a:p>
          <a:p>
            <a:pPr lvl="1"/>
            <a:r>
              <a:rPr lang="en-US" altLang="zh-CN" dirty="0" smtClean="0"/>
              <a:t>Easy to customize business logic and redistribute modification</a:t>
            </a:r>
          </a:p>
          <a:p>
            <a:r>
              <a:rPr lang="en-US" altLang="zh-CN" dirty="0" smtClean="0"/>
              <a:t>Isolate UI and Business process with .NET </a:t>
            </a:r>
            <a:r>
              <a:rPr lang="en-US" altLang="zh-CN" dirty="0" err="1" smtClean="0"/>
              <a:t>Remoting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Easy to change UI without affection to business logic</a:t>
            </a:r>
          </a:p>
          <a:p>
            <a:r>
              <a:rPr lang="en-US" altLang="zh-CN" dirty="0" smtClean="0"/>
              <a:t>Encapsulate Database access with ADO.NET</a:t>
            </a:r>
          </a:p>
          <a:p>
            <a:pPr lvl="1"/>
            <a:r>
              <a:rPr lang="en-US" altLang="zh-CN" dirty="0" smtClean="0"/>
              <a:t>Easy to change Database  without affection to business </a:t>
            </a:r>
            <a:r>
              <a:rPr lang="en-US" altLang="zh-CN" dirty="0" err="1" smtClean="0"/>
              <a:t>loigc</a:t>
            </a:r>
            <a:endParaRPr lang="en-US" altLang="zh-CN" dirty="0" smtClean="0"/>
          </a:p>
          <a:p>
            <a:r>
              <a:rPr lang="en-US" altLang="zh-CN" dirty="0" smtClean="0"/>
              <a:t>Present Friendly UI with Web Service and Ajax</a:t>
            </a:r>
          </a:p>
          <a:p>
            <a:pPr lvl="1"/>
            <a:r>
              <a:rPr lang="en-US" altLang="zh-CN" dirty="0" smtClean="0"/>
              <a:t>Efficiency and Friendly Operation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end: Q &amp; 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Inventec_Corporate_Presentation_200903_SC_c</Template>
  <TotalTime>627</TotalTime>
  <Words>810</Words>
  <Application>Microsoft Office PowerPoint</Application>
  <PresentationFormat>全屏显示(4:3)</PresentationFormat>
  <Paragraphs>180</Paragraphs>
  <Slides>30</Slides>
  <Notes>30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佈景主題</vt:lpstr>
      <vt:lpstr>Inside iMES</vt:lpstr>
      <vt:lpstr>Overview</vt:lpstr>
      <vt:lpstr>Application Development Model</vt:lpstr>
      <vt:lpstr>Application Development Model (Cont’)</vt:lpstr>
      <vt:lpstr>Windows Workflow Foundation</vt:lpstr>
      <vt:lpstr>iMES: Workflow in Action</vt:lpstr>
      <vt:lpstr>iMES: Workflow in Action (Cont’)</vt:lpstr>
      <vt:lpstr>iMES: Workflow in Action (Cont’)</vt:lpstr>
      <vt:lpstr>iMES: Workflow in Action (Cont’)</vt:lpstr>
      <vt:lpstr>iMES: Workflow in Action (Cont’)</vt:lpstr>
      <vt:lpstr>iMES: Workflow in Action (Cont’)</vt:lpstr>
      <vt:lpstr>iMES: Workflow in Action (Cont’)</vt:lpstr>
      <vt:lpstr>The benefit of Workflow</vt:lpstr>
      <vt:lpstr>take a break: q &amp; a</vt:lpstr>
      <vt:lpstr>Revisit: Application Development Model</vt:lpstr>
      <vt:lpstr>Interaction and Interface Model</vt:lpstr>
      <vt:lpstr>Windows .NET Remoting</vt:lpstr>
      <vt:lpstr>iMES: .NET Remoting in Action</vt:lpstr>
      <vt:lpstr>iMES: .NET Remoting in Action (Cont’)</vt:lpstr>
      <vt:lpstr>The benefit of BLL</vt:lpstr>
      <vt:lpstr>Windows ADO.NET</vt:lpstr>
      <vt:lpstr>iMES: ADO.NET in Action</vt:lpstr>
      <vt:lpstr>iMES: ADO.NET in Action</vt:lpstr>
      <vt:lpstr>The benefit of DAL</vt:lpstr>
      <vt:lpstr>Revisit: Interaction and Interface Model</vt:lpstr>
      <vt:lpstr>Web Service and Ajax </vt:lpstr>
      <vt:lpstr>iMES: Web Service in Action</vt:lpstr>
      <vt:lpstr>iMES: Ajax in Action</vt:lpstr>
      <vt:lpstr>Summary</vt:lpstr>
      <vt:lpstr>The end: Q &amp; A</vt:lpstr>
    </vt:vector>
  </TitlesOfParts>
  <Company>itc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He, Jiang (何江 ITC)</dc:creator>
  <cp:lastModifiedBy>He, Jiang (何江 ITC)</cp:lastModifiedBy>
  <cp:revision>154</cp:revision>
  <dcterms:created xsi:type="dcterms:W3CDTF">2010-09-07T02:55:28Z</dcterms:created>
  <dcterms:modified xsi:type="dcterms:W3CDTF">2010-09-09T09:21:15Z</dcterms:modified>
</cp:coreProperties>
</file>